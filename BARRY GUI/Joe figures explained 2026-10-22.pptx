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E3A997-5D63-4569-9E30-8042C60A385F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DA8A4-F809-455B-B376-A69D6FC0E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96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From Jarvis, tabs 8 and 9 (the Monolith page). Every number on these slides is the tab's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547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newest note is the big red one; older ones shrink and stay on the right until the topic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211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Coherence is computed the way Dickson et al. 2022 and Jeremy’s MATLAB do it (mscohere).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76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Theta (5–12 Hz) was measured too; no main comparison passed in theta, so this deck is gamma.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97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Coherence in each window is the mean over the session’s trials (12 to 16 a session), per rat and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69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Per rat: the mean over its pairs of (Precon4 cue − baseline) − (Precon1 cue − baseline). A one-sample t-test of these 8 numbers: t(7) = 2.77, P = 0.028.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28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Mixed model, rat as the unit, Day × Phase: comparison 1 F(1, 7) = 9.57, P = 0.017; comparison 2 F(1, 7) = 6.83, P = 0.035.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60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light passes if either its Day × factor term or its Day × factor × Pair term has P &lt; 0.05: about 24 × (1 − 0.95²) ≈ 2.3 expected by chance alone; 3 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77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(20 s) → both cues, gamma 30–90 Hz: the connectome of the change from Baseline (20 s) to Cue 1 + Cue 2 (20 s). a–c, Precon1; d–f, Precon4; g–i, Precon4 − Precon1. Each ring holds the 12 regions (open, a region no pair reaches with at least 4 rats); each edge is one of the 44 pairs tested, curving toward the centre, its width the mean change in coherence from Baseline (20 s) to Cue 1 + Cue 2 (20 s) over the rats (Dickson 2022: 59–61 Hz notch, hanning(1024), 512 overlap, 2,048 points, averaged over 30–90 Hz without 59–61 Hz), orange for an increase and purple for a decrease. Left column, the increases; middle, the decreases; right, both. Under each ring, its statistic (the summed increases, the summed decreases, or the sum of all) against every way of flipping the sign of each rat’s change (256 sign patterns; the rat is the unit, as in the mixed model that lit tab 8’s light), the vertical line the observed value, with its rank among them and its exact P (the share at least as extreme; with 8 rats P moves in steps of 1/256, so the smallest possible is 1/256 for the increases or the decreases and 2/256 for both; increases one-sided upward, decreases downward, both two-sided; *P &lt; 0.05, **P &lt; 0.01, ***P &lt; 0.001; uncorrected). n = 8 rats, 12–16 trials per session. Significant: Precon4 − Precon1, increases: P = 0.012; Precon4 − Precon1, both: P = 0.023.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21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Exact sign-flip test, the rat as the unit (as the mixed model behind tab 8's light). P is the share of the 256 patterns at least as extreme, the real one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49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Rank 254 of 256.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69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Trial-to-trial noise inside a session is about 1.7 times wider than the spread between rats.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37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(20 s) → both cues, gamma, R ACC – R RSC: not volume conduction. a, the pair on the ring of regions. Then, for each measure: its value for each rat at Baseline (20 s) and Cue 1 + Cue 2 (20 s) on Precon1 (grey) and Precon4 (black), each rat's two windows joined, the mean ± s.e.m. beside them; each rat's change between the days, (Precon4 Cue 1 + Cue 2 (20 s) − Baseline (20 s)) − (Precon1 Cue 1 + Cue 2 (20 s) − Baseline (20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Imaginary coherence: t(5) = 3.52, P = 0.017 (one-sample t-test of each rat's change, uncorrected); within-session shuffles P = 0.091, rank 9,519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07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(20 s) → both cues, gamma, R ACC – R RSC: not volume conduction. a, the pair on the ring of regions. Then, for each measure: its value for each rat at Baseline (20 s) and Cue 1 + Cue 2 (20 s) on Precon1 (grey) and Precon4 (black), each rat's two windows joined, the mean ± s.e.m. beside them; each rat's change between the days, (Precon4 Cue 1 + Cue 2 (20 s) − Baseline (20 s)) − (Precon1 Cue 1 + Cue 2 (20 s) − Baseline (20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Imaginary coherence: t(5) = 3.52, P = 0.017 (one-sample t-test of each rat's change, uncorrected); within-session shuffles P = 0.091, rank 9,519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12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t(5) = 3.52, P = 0.017; mean change 0.01195. Shuffles: rank 9519 of 10001, P = 0.091.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610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(20 s) → both cues, gamma, R ACC – R RSC: direction. a, the pair on the ring of regions (the arrow, the direction measured). Then, for each measure: its value for each rat at Baseline (20 s) and Cue 1 + Cue 2 (20 s) on Precon1 (grey) and Precon4 (black), each rat's two windows joined, the mean ± s.e.m. beside them; each rat's change between the days, (Precon4 Cue 1 + Cue 2 (20 s) − Baseline (20 s)) − (Precon1 Cue 1 + Cue 2 (20 s) − Baseline (20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Granger R RSC → R ACC: t(5) = 2.68, P = 0.044 (one-sample t-test of each rat's change, uncorrected); within-session shuffles P = 0.002, rank 9,990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095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t(5) = 2.68, P = 0.044; mean change 0.01122. Shuffles: rank 9990 of 10001, P = 0.002.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38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(20 s) → both cues, gamma, R ACC – R RSC: phase–amplitude coupling. a, the pair on the ring of regions (the arrow, the direction measured). Then, for each measure: its value for each rat at Baseline (20 s) and Cue 1 + Cue 2 (20 s) on Precon1 (grey) and Precon4 (black), each rat's values as dots (PAC is never drawn as lines), the mean ± s.e.m. beside them; each rat's change between the days, (Precon4 Cue 1 + Cue 2 (20 s) − Baseline (20 s)) − (Precon1 Cue 1 + Cue 2 (20 s) − Baseline (20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PAC R RSC θ → R ACC γ: t(5) = −3.74, P = 0.013 (one-sample t-test of each rat's change, uncorrected); within-session shuffles P = 0.025, rank 114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363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t(5) = -3.74, P = 0.013; mean change -0.0001204. Shuffles: rank 114 of 10001, P = 0.025.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823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Mean over rats of each rat's normalised gamma amplitude in 18 theta-phase bins, read from the recordings (the VACC's copies) through tab 8's own wires; the four roses share one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971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(20 s) → both cues, gamma, R DHC – L RSC: amplitudes together. a, the pair on the ring of regions. Then, for each measure: its value for each rat at Baseline (20 s) and Cue 1 + Cue 2 (20 s) on Precon1 (grey) and Precon4 (black), each rat's two windows joined, the mean ± s.e.m. beside them; each rat's change between the days, (Precon4 Cue 1 + Cue 2 (20 s) − Baseline (20 s)) − (Precon1 Cue 1 + Cue 2 (20 s) − Baseline (20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Amplitude cross-correlation peak: t(6) = 2.54, P = 0.044 (one-sample t-test of each rat's change, uncorrected); within-session shuffles P = 0.014, rank 9,937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640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t(6) = 2.54, P = 0.044; mean change 0.03468. Shuffles: rank 9937 of 10001, P = 0.014.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907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(20 s) → both cues, gamma, R RSC – L POR-SUB: direction. a, the pair on the ring of regions (the arrow, the direction measured). Then, for each measure: its value for each rat at Baseline (20 s) and Cue 1 + Cue 2 (20 s) on Precon1 (grey) and Precon4 (black), each rat's two windows joined, the mean ± s.e.m. beside them; each rat's change between the days, (Precon4 Cue 1 + Cue 2 (20 s) − Baseline (20 s)) − (Precon1 Cue 1 + Cue 2 (20 s) − Baseline (20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Granger R RSC → L POR-SUB: t(3) = 3.42, P = 0.042 (one-sample t-test of each rat's change, uncorrected); within-session shuffles P = 0.028, rank 9,881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573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t(3) = 3.42, P = 0.042; mean change 0.009354. Shuffles: rank 9881 of 10001, P = 0.028.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063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(20 s) → both cues, gamma, R PER – L DHC: amplitudes together. a, the pair on the ring of regions. Then, for each measure: its value for each rat at Baseline (20 s) and Cue 1 + Cue 2 (20 s) on Precon1 (grey) and Precon4 (black), each rat's two windows joined, the mean ± s.e.m. beside them; each rat's change between the days, (Precon4 Cue 1 + Cue 2 (20 s) − Baseline (20 s)) − (Precon1 Cue 1 + Cue 2 (20 s) − Baseline (20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Amplitude cross-correlation peak: t(3) = −8.63, P = 0.003 (one-sample t-test of each rat's change, uncorrected); within-session shuffles P = 0.259, rank 1,288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845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t(3) = -8.63, P = 0.003; mean change -0.01971. Shuffles: rank 1288 of 10001, P = 0.259.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865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(20 s) → both cues, gamma, R PER – L DHC: phase–amplitude coupling. a, the pair on the ring of regions. Then, for each measure: its value for each rat at Baseline (20 s) and Cue 1 + Cue 2 (20 s) on Precon1 (grey) and Precon4 (black), each rat's values as dots (PAC is never drawn as lines), the mean ± s.e.m. beside them; each rat's change between the days, (Precon4 Cue 1 + Cue 2 (20 s) − Baseline (20 s)) − (Precon1 Cue 1 + Cue 2 (20 s) − Baseline (20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PAC within R PER: t(4) = 3.89, P = 0.018 (one-sample t-test of each rat's change, uncorrected); within-session shuffles P = 0.546, rank 7,280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191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t(4) = 3.89, P = 0.018; mean change 5.763e-05. Shuffles: rank 7280 of 10001, P = 0.546.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291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(10 s) → cue 1, gamma, R ACC – R OFC: amplitudes together. a, the pair on the ring of regions. Then, for each measure: its value for each rat at Baseline (10 s) and Cue 1 on Precon1 (grey) and Precon4 (black), each rat's two windows joined, the mean ± s.e.m. beside them; each rat's change between the days, (Precon4 Cue 1 − Baseline (10 s)) − (Precon1 Cue 1 − Baseline (10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Amplitude cross-correlation peak: t(7) = 3.17, P = 0.016 (one-sample t-test of each rat's change, uncorrected); within-session shuffles P = 0.004, rank 9,980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920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t(7) = 3.17, P = 0.016; mean change 0.03322. Shuffles: rank 9980 of 10001, P = 0.004.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837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(10 s) → cue 1, gamma, R ACC – R RSC: not volume conduction. a, the pair on the ring of regions. Then, for each measure: its value for each rat at Baseline (10 s) and Cue 1 on Precon1 (grey) and Precon4 (black), each rat's two windows joined, the mean ± s.e.m. beside them; each rat's change between the days, (Precon4 Cue 1 − Baseline (10 s)) − (Precon1 Cue 1 − Baseline (10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Imaginary coherence: t(5) = 7.13, P &lt; 0.001 (one-sample t-test of each rat's change, uncorrected); within-session shuffles P = 0.058, rank 9,721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204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t(5) = 7.13, P &lt; 0.001; mean change 0.01537. Shuffles: rank 9721 of 10001, P = 0.058.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268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(10 s) → cue 1, gamma, R ACC – L RSC: amplitudes together. a, the pair on the ring of regions. Then, for each measure: its value for each rat at Baseline (10 s) and Cue 1 on Precon1 (grey) and Precon4 (black), each rat's two windows joined, the mean ± s.e.m. beside them; each rat's change between the days, (Precon4 Cue 1 − Baseline (10 s)) − (Precon1 Cue 1 − Baseline (10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Amplitude cross-correlation peak: t(6) = 3.72, P = 0.010 (one-sample t-test of each rat's change, uncorrected); within-session shuffles P = 0.001, rank 9,993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125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t(6) = 3.72, P = 0.010; mean change 0.04523. Shuffles: rank 9993 of 10001, P = 0.001.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965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(10 s) → cue 1, gamma, R ACC – L OFC: not volume conduction. a, the pair on the ring of regions. Then, for each measure: its value for each rat at Baseline (10 s) and Cue 1 on Precon1 (grey) and Precon4 (black), each rat's two windows joined, the mean ± s.e.m. beside them; each rat's change between the days, (Precon4 Cue 1 − Baseline (10 s)) − (Precon1 Cue 1 − Baseline (10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PLI: t(7) = 2.65, P = 0.033 (one-sample t-test of each rat's change, uncorrected); within-session shuffles P = 0.027, rank 9,869 of 10,001; Imaginary coherence: t(7) = 3.14, P = 0.016 (one-sample t-test of each rat's change, uncorrected); within-session shuffles P = 0.012, rank 9,942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339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t(7) = 2.65, P = 0.033; mean change 0.01533. Shuffles: rank 9869 of 10001, P = 0.027.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0770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t(7) = 3.14, P = 0.016; mean change 0.0163. Shuffles: rank 9942 of 10001, P = 0.012.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4458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(10 s) → cue 1, gamma, R ACC – L OFC: phase–amplitude coupling. a, the pair on the ring of regions (the arrow, the direction measured). Then, for each measure: its value for each rat at Baseline (10 s) and Cue 1 on Precon1 (grey) and Precon4 (black), each rat's values as dots (PAC is never drawn as lines), the mean ± s.e.m. beside them; each rat's change between the days, (Precon4 Cue 1 − Baseline (10 s)) − (Precon1 Cue 1 − Baseline (10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PAC R ACC θ → L OFC γ: t(7) = 3.53, P = 0.010 (one-sample t-test of each rat's change, uncorrected); within-session shuffles P = 0.187, rank 9,004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7140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t(7) = 3.53, P = 0.010; mean change 9.734e-05. Shuffles: rank 9004 of 10001, P = 0.187.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708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(10 s) → cue 1, gamma, R ACC – L ACC: not volume conduction. a, the pair on the ring of regions. Then, for each measure: its value for each rat at Baseline (10 s) and Cue 1 on Precon1 (grey) and Precon4 (black), each rat's two windows joined, the mean ± s.e.m. beside them; each rat's change between the days, (Precon4 Cue 1 − Baseline (10 s)) − (Precon1 Cue 1 − Baseline (10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Imaginary coherence: t(7) = 2.78, P = 0.027 (one-sample t-test of each rat's change, uncorrected); within-session shuffles P = 0.077, rank 9,635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318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t(7) = 2.78, P = 0.027; mean change 0.01397. Shuffles: rank 9635 of 10001, P = 0.077.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9208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(10 s) → cue 1, gamma, R ACC – L ACC: amplitudes together. a, the pair on the ring of regions. Then, for each measure: its value for each rat at Baseline (10 s) and Cue 1 on Precon1 (grey) and Precon4 (black), each rat's two windows joined, the mean ± s.e.m. beside them; each rat's change between the days, (Precon4 Cue 1 − Baseline (10 s)) − (Precon1 Cue 1 − Baseline (10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Amplitude cross-correlation peak: t(7) = 2.89, P = 0.023 (one-sample t-test of each rat's change, uncorrected); within-session shuffles P = 0.027, rank 9,856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1853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t(7) = 2.89, P = 0.023; mean change 0.03769. Shuffles: rank 9856 of 10001, P = 0.027.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696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(10 s) → cue 1, gamma, R OFC – L RSC: phase–amplitude coupling. a, the pair on the ring of regions (the arrow, the direction measured). Then, for each measure: its value for each rat at Baseline (10 s) and Cue 1 on Precon1 (grey) and Precon4 (black), each rat's values as dots (PAC is never drawn as lines), the mean ± s.e.m. beside them; each rat's change between the days, (Precon4 Cue 1 − Baseline (10 s)) − (Precon1 Cue 1 − Baseline (10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PAC L RSC θ → R OFC γ: t(6) = 3.13, P = 0.020 (one-sample t-test of each rat's change, uncorrected); within-session shuffles P = 0.135, rank 9,285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28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t(6) = 3.13, P = 0.020; mean change 9.774e-05. Shuffles: rank 9285 of 10001, P = 0.135.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9389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(10 s) → cue 1, gamma, R DHC – L RSC: direction. a, the pair on the ring of regions. Then, for each measure: its value for each rat at Baseline (10 s) and Cue 1 on Precon1 (grey) and Precon4 (black), each rat's two windows joined, the mean ± s.e.m. beside them; each rat's change between the days, (Precon4 Cue 1 − Baseline (10 s)) − (Precon1 Cue 1 − Baseline (10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Amplitude lag: t(6) = −3.47, P = 0.013 (one-sample t-test of each rat's change, uncorrected); within-session shuffles P = 0.020, rank 98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0357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t(6) = -3.47, P = 0.013; mean change -27.44. Shuffles: rank 98 of 10001, P = 0.020.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6900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(10 s) → cue 1, gamma, R DHC – L OFC: amplitudes together. a, the pair on the ring of regions. Then, for each measure: its value for each rat at Baseline (10 s) and Cue 1 on Precon1 (grey) and Precon4 (black), each rat's two windows joined, the mean ± s.e.m. beside them; each rat's change between the days, (Precon4 Cue 1 − Baseline (10 s)) − (Precon1 Cue 1 − Baseline (10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Amplitude cross-correlation peak: t(7) = 3.09, P = 0.018 (one-sample t-test of each rat's change, uncorrected); within-session shuffles P = 0.082, rank 9,567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1009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t(7) = 3.09, P = 0.018; mean change 0.03085. Shuffles: rank 9567 of 10001, P = 0.082.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4550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(10 s) → cue 1, gamma, R DHC – L OFC: phase–amplitude coupling. a, the pair on the ring of regions (the arrow, the direction measured). Then, for each measure: its value for each rat at Baseline (10 s) and Cue 1 on Precon1 (grey) and Precon4 (black), each rat's values as dots (PAC is never drawn as lines), the mean ± s.e.m. beside them; each rat's change between the days, (Precon4 Cue 1 − Baseline (10 s)) − (Precon1 Cue 1 − Baseline (10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PAC R DHC θ → L OFC γ: t(7) = 2.54, P = 0.039 (one-sample t-test of each rat's change, uncorrected); within-session shuffles P = 0.103, rank 9,485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844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t(7) = 2.54, P = 0.039; mean change 0.00015. Shuffles: rank 9485 of 10001, P = 0.103.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3322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(10 s) → cue 1, gamma, L RSC – L ACC: direction. a, the pair on the ring of regions (the arrow, the direction measured). Then, for each measure: its value for each rat at Baseline (10 s) and Cue 1 on Precon1 (grey) and Precon4 (black), each rat's two windows joined, the mean ± s.e.m. beside them; each rat's change between the days, (Precon4 Cue 1 − Baseline (10 s)) − (Precon1 Cue 1 − Baseline (10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Granger L ACC → L RSC: t(6) = 2.82, P = 0.030 (one-sample t-test of each rat's change, uncorrected); within-session shuffles P = 0.008, rank 9,955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74588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t(6) = 2.82, P = 0.030; mean change 0.008396. Shuffles: rank 9955 of 10001, P = 0.008.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2441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(10 s) → cue 1, gamma, L OFC – L ACC: amplitudes together. a, the pair on the ring of regions. Then, for each measure: its value for each rat at Baseline (10 s) and Cue 1 on Precon1 (grey) and Precon4 (black), each rat's two windows joined, the mean ± s.e.m. beside them; each rat's change between the days, (Precon4 Cue 1 − Baseline (10 s)) − (Precon1 Cue 1 − Baseline (10 s)), with the mean ± 95% confidence interval; and that mean against 10,000 shuffles in which each session's trials had their two windows swapped at random. The pair was followed up because its own change in coherence had P &lt; 0.05 (uncorrected; no pair survives correction on its own), and of the measures run on it these are the ones whose t-test had P &lt; 0.05: they are leads, chosen by that test. Amplitude cross-correlation peak: t(7) = 5.07, P = 0.001 (one-sample t-test of each rat's change, uncorrected); within-session shuffles P = 0.020, rank 9,903 of 10,001.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3566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t(7) = 5.07, P = 0.001; mean change 0.04594. Shuffles: rank 9903 of 10001, P = 0.020.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5070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Monolith page, tabs 8 (Joe's data) and 9 (Joe's figures). Questions to Shahriar.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DA8A4-F809-455B-B376-A69D6FC0E0A7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45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47E9E-C60F-D9BA-5114-80DF1E22F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99260-6000-B702-190E-70AEAA58D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F7118-678C-5291-7CBD-1AD00F16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1D4C-176A-42A0-8CB7-08268D840E6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5C4A3-CE51-2373-2F53-3082F5D88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2AF9E-9976-20B4-4A7D-968B57D4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3BF9-E61F-4A42-B21D-89C05730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03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748C5-3937-4418-D2D7-1D9844CBD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87B34-473C-9CD3-2B23-F3A48EB74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0B73F-1CA5-23B4-EE38-0AD632EBE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1D4C-176A-42A0-8CB7-08268D840E6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B1825-E43E-64E4-16FE-1E370C9BE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6A673-EC95-460A-59BD-E0F10D72A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3BF9-E61F-4A42-B21D-89C05730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72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0358-B057-667E-172F-652B8ACC3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942C0-67B0-C757-8FAC-D10ED0C70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2CC16-E36B-0D7E-A882-95CAD6C0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1D4C-176A-42A0-8CB7-08268D840E6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FE733-D8B5-A78F-BA0F-01325564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44FDF-EC27-CA1D-AB01-44993BF2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3BF9-E61F-4A42-B21D-89C05730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99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BA515-E0E2-8541-C8EE-1F687E368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0442B-EC91-51EF-5DA9-AFA1B69DC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0C0CB-CB5B-2166-E822-FB41BEE14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8E639-E7A5-2029-5EF9-6C08D9881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1D4C-176A-42A0-8CB7-08268D840E6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209E8-C37E-7465-7B18-D4404A952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7020F-9840-07D2-DF05-E9598AAAC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3BF9-E61F-4A42-B21D-89C05730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3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37E4-A7AD-B1CC-31CA-6C8FA9BDB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21782-0DC5-0E15-0B73-657E30E28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37D79-47FF-BCF6-E8C5-A0BD8B517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B7CB2E-B4A1-4FE2-5928-65CA9B1A67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28EAE-35CA-7704-AE1A-BEDB0A898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A9AF63-89FC-52FB-5AAB-B83C5B93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1D4C-176A-42A0-8CB7-08268D840E6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BF57F0-8E59-91D5-08E7-1D56EDEE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A9303-AFCD-35B1-C45A-34E82BB51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3BF9-E61F-4A42-B21D-89C05730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9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C860-1A41-A8C0-EE4E-209E069FC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FCA4B-8F57-E015-7158-CEB77007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1D4C-176A-42A0-8CB7-08268D840E6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8AD3B4-C347-7348-D057-14700B6EF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BF78B-4132-1DEF-58C8-922DE2EC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3BF9-E61F-4A42-B21D-89C05730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8CB824-1423-3DF9-91F2-4E528F506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1D4C-176A-42A0-8CB7-08268D840E6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92046B-450F-3C2B-0FB9-99349D254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2F5E3-C28A-9D2B-1EB7-B57B442F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3BF9-E61F-4A42-B21D-89C05730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8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6D1F-405B-E536-0AED-F91C0352E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03CDA-462E-0334-9875-B87E53BF7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9EBE1-26D6-FD40-7078-B7C8587F0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56BBB-1FC5-2B4E-642E-DFD4AF7B8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1D4C-176A-42A0-8CB7-08268D840E6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7F307-A2D7-6FAA-51C8-71C8BC01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0A46F-1299-7554-5811-CF7114A9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3BF9-E61F-4A42-B21D-89C05730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8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BA6A1-432C-007C-3D9B-DED4E8754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D88987-E006-F11A-A0F7-DC812F96A9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AB935-CE9C-E1AA-F47B-96A713864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A6AFD-E4E9-ADFC-664B-FEBFD750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1D4C-176A-42A0-8CB7-08268D840E6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7C13-3343-7ADC-76FE-AF20C132B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B7BF1-6DF9-185B-0F1B-8ACFA0A3B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3BF9-E61F-4A42-B21D-89C05730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50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84BD5-ADE3-26E4-7107-B9EB16CD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7A1CC-2D92-DAC0-F145-C14778A4B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91CF2-1FE0-DBB1-24EB-D28B7B360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1D4C-176A-42A0-8CB7-08268D840E6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239CB-883B-E107-F349-8DF4B4367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6A7D2-7D84-696C-1A5B-12E042466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3BF9-E61F-4A42-B21D-89C05730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1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BDAE59-FC13-86A2-C578-29C3A3C76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FDF09-2FAB-003A-4E8F-589A16F8A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0E03A-5460-D8FD-E1B9-B4F16E70B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1D4C-176A-42A0-8CB7-08268D840E6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D9406-2F9B-8BAE-117F-D46B0602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74276-E918-1EBE-5E60-4F909B8CB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3BF9-E61F-4A42-B21D-89C05730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5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F79928-2B62-BAD4-DC87-3E8D5D575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81C82-22CC-2081-3E24-FE5503F12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2CB3C-FCED-DA12-5EA5-56D4A47E4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31D4C-176A-42A0-8CB7-08268D840E6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11DC5-AFAC-95CC-086A-038D27EBA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01A39-FFC4-F575-332C-2FCD8DE26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73BF9-E61F-4A42-B21D-89C05730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71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D70E852E-43D8-24C8-AF04-2B0D161CE2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!!D1">
            <a:extLst>
              <a:ext uri="{FF2B5EF4-FFF2-40B4-BE49-F238E27FC236}">
                <a16:creationId xmlns:a16="http://schemas.microsoft.com/office/drawing/2014/main" id="{834BFD47-BFC9-6214-E23A-74A57A902705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!!D2">
            <a:extLst>
              <a:ext uri="{FF2B5EF4-FFF2-40B4-BE49-F238E27FC236}">
                <a16:creationId xmlns:a16="http://schemas.microsoft.com/office/drawing/2014/main" id="{2A5A0D16-2B3B-CB9B-EDED-186A1774CC07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D3">
            <a:extLst>
              <a:ext uri="{FF2B5EF4-FFF2-40B4-BE49-F238E27FC236}">
                <a16:creationId xmlns:a16="http://schemas.microsoft.com/office/drawing/2014/main" id="{F6B0DC8F-9110-7D4F-65D9-9FB5AD4CED5A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4">
            <a:extLst>
              <a:ext uri="{FF2B5EF4-FFF2-40B4-BE49-F238E27FC236}">
                <a16:creationId xmlns:a16="http://schemas.microsoft.com/office/drawing/2014/main" id="{9A58C6F7-900D-6B9D-809A-6E7F179B95AE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Rail">
            <a:extLst>
              <a:ext uri="{FF2B5EF4-FFF2-40B4-BE49-F238E27FC236}">
                <a16:creationId xmlns:a16="http://schemas.microsoft.com/office/drawing/2014/main" id="{2425C422-0816-9986-750B-27AAF7C1CA92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N1">
            <a:extLst>
              <a:ext uri="{FF2B5EF4-FFF2-40B4-BE49-F238E27FC236}">
                <a16:creationId xmlns:a16="http://schemas.microsoft.com/office/drawing/2014/main" id="{2793808B-BACC-D2EB-04CD-F6C098FEBFB6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One idea per slide. The blue box is where to look; the black boxes say what it means.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30687EEE-2D1F-5E0C-F816-612D8D27E863}"/>
              </a:ext>
            </a:extLst>
          </p:cNvPr>
          <p:cNvSpPr/>
          <p:nvPr/>
        </p:nvSpPr>
        <p:spPr>
          <a:xfrm>
            <a:off x="1905000" y="1905000"/>
            <a:ext cx="8382000" cy="3048000"/>
          </a:xfrm>
          <a:prstGeom prst="snip2DiagRect">
            <a:avLst>
              <a:gd name="adj1" fmla="val 0"/>
              <a:gd name="adj2" fmla="val 16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T">
            <a:extLst>
              <a:ext uri="{FF2B5EF4-FFF2-40B4-BE49-F238E27FC236}">
                <a16:creationId xmlns:a16="http://schemas.microsoft.com/office/drawing/2014/main" id="{67926DDE-3A6A-FF3C-1B8C-26F9F233400F}"/>
              </a:ext>
            </a:extLst>
          </p:cNvPr>
          <p:cNvSpPr txBox="1"/>
          <p:nvPr/>
        </p:nvSpPr>
        <p:spPr>
          <a:xfrm>
            <a:off x="2286000" y="2032000"/>
            <a:ext cx="7620000" cy="2794000"/>
          </a:xfrm>
          <a:prstGeom prst="rect">
            <a:avLst/>
          </a:prstGeom>
          <a:noFill/>
        </p:spPr>
        <p:txBody>
          <a:bodyPr vert="horz" wrap="square" lIns="76200" tIns="50800" rIns="76200" bIns="5080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4000" b="1">
                <a:solidFill>
                  <a:srgbClr val="FFFFFF"/>
                </a:solidFill>
                <a:latin typeface="Aptos Display" panose="020B0004020202020204" pitchFamily="34" charset="0"/>
              </a:rPr>
              <a:t>Did the cues change how the regions </a:t>
            </a:r>
            <a:r>
              <a:rPr lang="en-US" sz="4000" b="1">
                <a:solidFill>
                  <a:srgbClr val="FF0000"/>
                </a:solidFill>
                <a:latin typeface="Aptos Display" panose="020B0004020202020204" pitchFamily="34" charset="0"/>
              </a:rPr>
              <a:t>talk?</a:t>
            </a:r>
          </a:p>
          <a:p>
            <a:pPr algn="ctr">
              <a:lnSpc>
                <a:spcPct val="95000"/>
              </a:lnSpc>
            </a:pPr>
            <a:r>
              <a:rPr lang="en-US" sz="2000">
                <a:solidFill>
                  <a:srgbClr val="FFFFFF"/>
                </a:solidFill>
                <a:latin typeface="Aptos Display" panose="020B0004020202020204" pitchFamily="34" charset="0"/>
              </a:rPr>
              <a:t>Precon1 → Precon4 · 8 rats · gamma coherence</a:t>
            </a:r>
          </a:p>
          <a:p>
            <a:pPr algn="ctr">
              <a:lnSpc>
                <a:spcPct val="95000"/>
              </a:lnSpc>
            </a:pPr>
            <a:r>
              <a:rPr lang="en-US" sz="2000">
                <a:solidFill>
                  <a:srgbClr val="FFFFFF"/>
                </a:solidFill>
                <a:latin typeface="Aptos Display" panose="020B0004020202020204" pitchFamily="34" charset="0"/>
              </a:rPr>
              <a:t>Shahriar ·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4215089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EC2D7BFE-C412-D075-D7EC-EFAA2117E794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coherence">
            <a:extLst>
              <a:ext uri="{FF2B5EF4-FFF2-40B4-BE49-F238E27FC236}">
                <a16:creationId xmlns:a16="http://schemas.microsoft.com/office/drawing/2014/main" id="{BE99C627-7C3E-5B5B-A3F8-F58BBA63C42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790893"/>
            <a:ext cx="7120382" cy="3987414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3CFB2428-C0EA-7545-84EA-5B010F7695F2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E3C07D7C-BDDA-0597-3FE5-71FC95AE32AD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D7006D92-B4D1-CB92-535C-F48AE27BD25A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FACD996E-14AA-9325-3168-03A66D4060EB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3C7FD476-C0F4-D7BD-32C1-841421BD5D48}"/>
              </a:ext>
            </a:extLst>
          </p:cNvPr>
          <p:cNvSpPr/>
          <p:nvPr/>
        </p:nvSpPr>
        <p:spPr>
          <a:xfrm>
            <a:off x="382847" y="1980770"/>
            <a:ext cx="6930505" cy="1803830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F1B5EA17-FEE4-1DF6-BCB6-1B661485B009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1">
            <a:extLst>
              <a:ext uri="{FF2B5EF4-FFF2-40B4-BE49-F238E27FC236}">
                <a16:creationId xmlns:a16="http://schemas.microsoft.com/office/drawing/2014/main" id="{54600333-AE29-726F-A238-99710FD2BFE6}"/>
              </a:ext>
            </a:extLst>
          </p:cNvPr>
          <p:cNvSpPr/>
          <p:nvPr/>
        </p:nvSpPr>
        <p:spPr>
          <a:xfrm>
            <a:off x="77978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One idea per slide. The blue box is where to look; the black boxes say what it means.</a:t>
            </a:r>
          </a:p>
        </p:txBody>
      </p:sp>
      <p:sp>
        <p:nvSpPr>
          <p:cNvPr id="12" name="!!N2">
            <a:extLst>
              <a:ext uri="{FF2B5EF4-FFF2-40B4-BE49-F238E27FC236}">
                <a16:creationId xmlns:a16="http://schemas.microsoft.com/office/drawing/2014/main" id="{AE8EDDC5-7D48-0AE9-3AE4-1AAC45322C59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Coherence: how much two regions’ rhythms rise and fall together. In step, it is near 1.</a:t>
            </a:r>
          </a:p>
        </p:txBody>
      </p:sp>
      <p:sp>
        <p:nvSpPr>
          <p:cNvPr id="13" name="!!T-BG">
            <a:extLst>
              <a:ext uri="{FF2B5EF4-FFF2-40B4-BE49-F238E27FC236}">
                <a16:creationId xmlns:a16="http://schemas.microsoft.com/office/drawing/2014/main" id="{5268A874-1D3C-A540-2587-E786786C8BE2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T">
            <a:extLst>
              <a:ext uri="{FF2B5EF4-FFF2-40B4-BE49-F238E27FC236}">
                <a16:creationId xmlns:a16="http://schemas.microsoft.com/office/drawing/2014/main" id="{3FE82435-8D6F-AC6E-9245-60D50F6FF2BC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How to read this deck</a:t>
            </a:r>
          </a:p>
        </p:txBody>
      </p:sp>
    </p:spTree>
    <p:extLst>
      <p:ext uri="{BB962C8B-B14F-4D97-AF65-F5344CB8AC3E}">
        <p14:creationId xmlns:p14="http://schemas.microsoft.com/office/powerpoint/2010/main" val="2721716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184D4E9E-668D-1926-9934-7099C3A7D86F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coherence">
            <a:extLst>
              <a:ext uri="{FF2B5EF4-FFF2-40B4-BE49-F238E27FC236}">
                <a16:creationId xmlns:a16="http://schemas.microsoft.com/office/drawing/2014/main" id="{E292940E-D067-8309-9BE7-2A15DC81B1F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790893"/>
            <a:ext cx="7120382" cy="3987414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E13E2FCF-A5C6-83EF-98FA-5972B2C0F557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4F43F986-EB59-5362-7C29-7F751C725380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D32D6177-17D0-4C2B-0B67-E8988D7A7316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5834F047-5F10-727F-C566-9A95AAFE45F5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6709C254-87C7-2D3D-0D77-4A9542888C21}"/>
              </a:ext>
            </a:extLst>
          </p:cNvPr>
          <p:cNvSpPr/>
          <p:nvPr/>
        </p:nvSpPr>
        <p:spPr>
          <a:xfrm>
            <a:off x="382847" y="1980770"/>
            <a:ext cx="6930505" cy="1803830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1800EEB0-D7DA-CB74-F3FF-591FCE585D7C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2">
            <a:extLst>
              <a:ext uri="{FF2B5EF4-FFF2-40B4-BE49-F238E27FC236}">
                <a16:creationId xmlns:a16="http://schemas.microsoft.com/office/drawing/2014/main" id="{47ACDEF6-8EE3-64C9-7286-2A07EB370688}"/>
              </a:ext>
            </a:extLst>
          </p:cNvPr>
          <p:cNvSpPr/>
          <p:nvPr/>
        </p:nvSpPr>
        <p:spPr>
          <a:xfrm>
            <a:off x="77978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Coherence: how much two regions’ rhythms rise and fall together. In step, it is near 1.</a:t>
            </a:r>
          </a:p>
        </p:txBody>
      </p:sp>
      <p:sp>
        <p:nvSpPr>
          <p:cNvPr id="12" name="!!N3">
            <a:extLst>
              <a:ext uri="{FF2B5EF4-FFF2-40B4-BE49-F238E27FC236}">
                <a16:creationId xmlns:a16="http://schemas.microsoft.com/office/drawing/2014/main" id="{C343E6D6-1FF2-18B4-C1F2-7D5602B37963}"/>
              </a:ext>
            </a:extLst>
          </p:cNvPr>
          <p:cNvSpPr/>
          <p:nvPr/>
        </p:nvSpPr>
        <p:spPr>
          <a:xfrm>
            <a:off x="12573000" y="1559052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When B’s timing drifts against A’s, it is near 0. In step, B’s peaks keep the same distance from A’s (the dotted lines).</a:t>
            </a:r>
          </a:p>
        </p:txBody>
      </p:sp>
      <p:sp>
        <p:nvSpPr>
          <p:cNvPr id="13" name="!!N1">
            <a:extLst>
              <a:ext uri="{FF2B5EF4-FFF2-40B4-BE49-F238E27FC236}">
                <a16:creationId xmlns:a16="http://schemas.microsoft.com/office/drawing/2014/main" id="{0C9EA0C1-1A1E-3284-51C0-9BBFD7B91BB0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One idea per slide. The blue box is where to look; the black boxes say what it means.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8F8C7735-C247-2248-E00B-757B8399B96C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12DB28B2-2F47-9F49-E87D-48ADCEAF7FCD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What was measured</a:t>
            </a:r>
          </a:p>
        </p:txBody>
      </p:sp>
    </p:spTree>
    <p:extLst>
      <p:ext uri="{BB962C8B-B14F-4D97-AF65-F5344CB8AC3E}">
        <p14:creationId xmlns:p14="http://schemas.microsoft.com/office/powerpoint/2010/main" val="30252904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9ED2324C-E971-4219-D977-EE26AF3A815F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coherence">
            <a:extLst>
              <a:ext uri="{FF2B5EF4-FFF2-40B4-BE49-F238E27FC236}">
                <a16:creationId xmlns:a16="http://schemas.microsoft.com/office/drawing/2014/main" id="{5B58F7B1-0DE1-A407-9B34-7713466215E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790893"/>
            <a:ext cx="7120382" cy="3987414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17BAB935-E322-2A60-CB93-A20B24AFDA69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AFFAEC75-C392-6822-8B9F-3FF1562FA6AE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15F6E28F-6AAE-FBDF-59C5-72135F4F44F6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E2CF1DB4-A66A-E42B-BB6C-AC7CD9488590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63C6FBB5-710D-88C7-E900-8263CCD0473A}"/>
              </a:ext>
            </a:extLst>
          </p:cNvPr>
          <p:cNvSpPr/>
          <p:nvPr/>
        </p:nvSpPr>
        <p:spPr>
          <a:xfrm>
            <a:off x="382847" y="3879538"/>
            <a:ext cx="6930505" cy="1803831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E8D99757-73DB-8C36-F88E-4C4D23CAE87C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2">
            <a:extLst>
              <a:ext uri="{FF2B5EF4-FFF2-40B4-BE49-F238E27FC236}">
                <a16:creationId xmlns:a16="http://schemas.microsoft.com/office/drawing/2014/main" id="{8D92584E-EEF1-C483-5FA9-789182AC13EC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Coherence: how much two regions’ rhythms rise and fall together. In step, it is near 1.</a:t>
            </a:r>
          </a:p>
        </p:txBody>
      </p:sp>
      <p:sp>
        <p:nvSpPr>
          <p:cNvPr id="12" name="!!N3">
            <a:extLst>
              <a:ext uri="{FF2B5EF4-FFF2-40B4-BE49-F238E27FC236}">
                <a16:creationId xmlns:a16="http://schemas.microsoft.com/office/drawing/2014/main" id="{CED00436-BA54-CA53-F1A0-126D05E73443}"/>
              </a:ext>
            </a:extLst>
          </p:cNvPr>
          <p:cNvSpPr/>
          <p:nvPr/>
        </p:nvSpPr>
        <p:spPr>
          <a:xfrm>
            <a:off x="7797800" y="1559052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When B’s timing drifts against A’s, it is near 0. In step, B’s peaks keep the same distance from A’s (the dotted lines).</a:t>
            </a:r>
          </a:p>
        </p:txBody>
      </p:sp>
      <p:sp>
        <p:nvSpPr>
          <p:cNvPr id="13" name="!!N4">
            <a:extLst>
              <a:ext uri="{FF2B5EF4-FFF2-40B4-BE49-F238E27FC236}">
                <a16:creationId xmlns:a16="http://schemas.microsoft.com/office/drawing/2014/main" id="{C3A6A7E0-1607-24D6-9825-65E28D510258}"/>
              </a:ext>
            </a:extLst>
          </p:cNvPr>
          <p:cNvSpPr/>
          <p:nvPr/>
        </p:nvSpPr>
        <p:spPr>
          <a:xfrm>
            <a:off x="12573000" y="246888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Here: gamma (30–90 Hz), between every pair of 12 regions. 44 pairs had at least 4 rats on both days.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9E87D7AA-A7A7-4620-77A5-A5D909A462B1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D3576D27-B4F6-F47B-D0A1-45289EF6776A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What was measured</a:t>
            </a:r>
          </a:p>
        </p:txBody>
      </p:sp>
    </p:spTree>
    <p:extLst>
      <p:ext uri="{BB962C8B-B14F-4D97-AF65-F5344CB8AC3E}">
        <p14:creationId xmlns:p14="http://schemas.microsoft.com/office/powerpoint/2010/main" val="18576407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D15AD367-F7A5-6486-6CBC-3488E2E1C5BE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coherence">
            <a:extLst>
              <a:ext uri="{FF2B5EF4-FFF2-40B4-BE49-F238E27FC236}">
                <a16:creationId xmlns:a16="http://schemas.microsoft.com/office/drawing/2014/main" id="{3F0E45B4-CB83-3CE8-59AF-9AD6D22F354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790893"/>
            <a:ext cx="7120382" cy="3987414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E2A0076C-0A2C-8C3B-B086-52A9503CA893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FC1B2F18-3B31-4431-B2EA-5D5C35ACA1F3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E978F365-9FA1-5F14-F956-C482C1ADC3C6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8EDBC88D-824F-DE71-1405-515A1A2BE9AA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Rail">
            <a:extLst>
              <a:ext uri="{FF2B5EF4-FFF2-40B4-BE49-F238E27FC236}">
                <a16:creationId xmlns:a16="http://schemas.microsoft.com/office/drawing/2014/main" id="{5B96BA3C-E299-3DA4-1D04-166CA24D9F15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N2">
            <a:extLst>
              <a:ext uri="{FF2B5EF4-FFF2-40B4-BE49-F238E27FC236}">
                <a16:creationId xmlns:a16="http://schemas.microsoft.com/office/drawing/2014/main" id="{B80F66B7-0716-9260-3F76-CE35C6FB5CC0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Coherence: how much two regions’ rhythms rise and fall together. In step, it is near 1.</a:t>
            </a:r>
          </a:p>
        </p:txBody>
      </p:sp>
      <p:sp>
        <p:nvSpPr>
          <p:cNvPr id="11" name="!!N3">
            <a:extLst>
              <a:ext uri="{FF2B5EF4-FFF2-40B4-BE49-F238E27FC236}">
                <a16:creationId xmlns:a16="http://schemas.microsoft.com/office/drawing/2014/main" id="{4B1E8B26-EB44-5B08-3A00-5261C8F35474}"/>
              </a:ext>
            </a:extLst>
          </p:cNvPr>
          <p:cNvSpPr/>
          <p:nvPr/>
        </p:nvSpPr>
        <p:spPr>
          <a:xfrm>
            <a:off x="7797800" y="155905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When B’s timing drifts against A’s, it is near 0. In step, B’s peaks keep the same distance from A’s (the dotted lines).</a:t>
            </a:r>
          </a:p>
        </p:txBody>
      </p:sp>
      <p:sp>
        <p:nvSpPr>
          <p:cNvPr id="12" name="!!N4">
            <a:extLst>
              <a:ext uri="{FF2B5EF4-FFF2-40B4-BE49-F238E27FC236}">
                <a16:creationId xmlns:a16="http://schemas.microsoft.com/office/drawing/2014/main" id="{88C54103-70C0-CF6F-8A29-D93409F1D723}"/>
              </a:ext>
            </a:extLst>
          </p:cNvPr>
          <p:cNvSpPr/>
          <p:nvPr/>
        </p:nvSpPr>
        <p:spPr>
          <a:xfrm>
            <a:off x="7797800" y="246888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Here: gamma (30–90 Hz), between every pair of 12 regions. 44 pairs had at least 4 rats on both days.</a:t>
            </a:r>
          </a:p>
        </p:txBody>
      </p:sp>
      <p:sp>
        <p:nvSpPr>
          <p:cNvPr id="13" name="!!N5">
            <a:extLst>
              <a:ext uri="{FF2B5EF4-FFF2-40B4-BE49-F238E27FC236}">
                <a16:creationId xmlns:a16="http://schemas.microsoft.com/office/drawing/2014/main" id="{6F3578B7-5CE3-1B8B-7862-292C837EB98E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Each trial: a baseline before cue 1, then cue 1 and cue 2.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56DFEA8D-A398-6212-E874-AB6969A66B5A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7C4DF889-8485-FA31-2EA7-A56C2AEA67DA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What was measured</a:t>
            </a:r>
          </a:p>
        </p:txBody>
      </p:sp>
    </p:spTree>
    <p:extLst>
      <p:ext uri="{BB962C8B-B14F-4D97-AF65-F5344CB8AC3E}">
        <p14:creationId xmlns:p14="http://schemas.microsoft.com/office/powerpoint/2010/main" val="11611985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AEFC8BF1-CC55-1DB1-4C4B-CF0F503AC330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timeline">
            <a:extLst>
              <a:ext uri="{FF2B5EF4-FFF2-40B4-BE49-F238E27FC236}">
                <a16:creationId xmlns:a16="http://schemas.microsoft.com/office/drawing/2014/main" id="{0E103F47-27C2-9391-AF33-CAC194F10A0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123178"/>
            <a:ext cx="7120382" cy="3322845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3C34E5C3-2FA9-B632-396C-EE60C848E059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B8A73AE7-14C0-923E-D3D0-AA1BCCA04E46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F53EBD75-3794-7987-B7D0-749F15B68A00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ED734C4E-A117-E1C0-FF62-48EF6888C803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E06CBB30-B7B3-2EAA-0C4C-50A170B063E4}"/>
              </a:ext>
            </a:extLst>
          </p:cNvPr>
          <p:cNvSpPr/>
          <p:nvPr/>
        </p:nvSpPr>
        <p:spPr>
          <a:xfrm>
            <a:off x="990857" y="2518121"/>
            <a:ext cx="5798112" cy="104622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7A5285BF-9B08-BEA6-081F-0C9BFB4AA636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5">
            <a:extLst>
              <a:ext uri="{FF2B5EF4-FFF2-40B4-BE49-F238E27FC236}">
                <a16:creationId xmlns:a16="http://schemas.microsoft.com/office/drawing/2014/main" id="{46B675FB-E45E-BB87-DA42-6F37D47DB259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Each trial: a baseline before cue 1, then cue 1 and cue 2.</a:t>
            </a:r>
          </a:p>
        </p:txBody>
      </p:sp>
      <p:sp>
        <p:nvSpPr>
          <p:cNvPr id="12" name="!!N6">
            <a:extLst>
              <a:ext uri="{FF2B5EF4-FFF2-40B4-BE49-F238E27FC236}">
                <a16:creationId xmlns:a16="http://schemas.microsoft.com/office/drawing/2014/main" id="{C71C35D8-F426-AB1E-C850-6CD03C7FAAF0}"/>
              </a:ext>
            </a:extLst>
          </p:cNvPr>
          <p:cNvSpPr/>
          <p:nvPr/>
        </p:nvSpPr>
        <p:spPr>
          <a:xfrm>
            <a:off x="12573000" y="1370076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Comparison 1: the 20 s baseline against both cues (20 s).</a:t>
            </a:r>
          </a:p>
        </p:txBody>
      </p:sp>
      <p:sp>
        <p:nvSpPr>
          <p:cNvPr id="13" name="!!N2">
            <a:extLst>
              <a:ext uri="{FF2B5EF4-FFF2-40B4-BE49-F238E27FC236}">
                <a16:creationId xmlns:a16="http://schemas.microsoft.com/office/drawing/2014/main" id="{F75FA80C-7305-41D3-E4C1-2E3A2A76F7DB}"/>
              </a:ext>
            </a:extLst>
          </p:cNvPr>
          <p:cNvSpPr/>
          <p:nvPr/>
        </p:nvSpPr>
        <p:spPr>
          <a:xfrm>
            <a:off x="125730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Coherence: how much two regions’ rhythms rise and fall together. In step, it is near 1.</a:t>
            </a:r>
          </a:p>
        </p:txBody>
      </p:sp>
      <p:sp>
        <p:nvSpPr>
          <p:cNvPr id="14" name="!!N3">
            <a:extLst>
              <a:ext uri="{FF2B5EF4-FFF2-40B4-BE49-F238E27FC236}">
                <a16:creationId xmlns:a16="http://schemas.microsoft.com/office/drawing/2014/main" id="{ABC66403-8815-B8D3-FB19-E0ED8559215D}"/>
              </a:ext>
            </a:extLst>
          </p:cNvPr>
          <p:cNvSpPr/>
          <p:nvPr/>
        </p:nvSpPr>
        <p:spPr>
          <a:xfrm>
            <a:off x="12573000" y="155905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When B’s timing drifts against A’s, it is near 0. In step, B’s peaks keep the same distance from A’s (the dotted lines).</a:t>
            </a:r>
          </a:p>
        </p:txBody>
      </p:sp>
      <p:sp>
        <p:nvSpPr>
          <p:cNvPr id="15" name="!!N4">
            <a:extLst>
              <a:ext uri="{FF2B5EF4-FFF2-40B4-BE49-F238E27FC236}">
                <a16:creationId xmlns:a16="http://schemas.microsoft.com/office/drawing/2014/main" id="{6D80C2CB-B17D-1730-70F4-3B3AE30A5E68}"/>
              </a:ext>
            </a:extLst>
          </p:cNvPr>
          <p:cNvSpPr/>
          <p:nvPr/>
        </p:nvSpPr>
        <p:spPr>
          <a:xfrm>
            <a:off x="12573000" y="246888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Here: gamma (30–90 Hz), between every pair of 12 regions. 44 pairs had at least 4 rats on both days.</a:t>
            </a:r>
          </a:p>
        </p:txBody>
      </p:sp>
      <p:sp>
        <p:nvSpPr>
          <p:cNvPr id="16" name="!!T-BG">
            <a:extLst>
              <a:ext uri="{FF2B5EF4-FFF2-40B4-BE49-F238E27FC236}">
                <a16:creationId xmlns:a16="http://schemas.microsoft.com/office/drawing/2014/main" id="{0DF61D97-560F-CFC7-887C-48AE26A5B0B3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T">
            <a:extLst>
              <a:ext uri="{FF2B5EF4-FFF2-40B4-BE49-F238E27FC236}">
                <a16:creationId xmlns:a16="http://schemas.microsoft.com/office/drawing/2014/main" id="{AA7A79C9-CF04-E6DD-4807-888C40D6A874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What was measured</a:t>
            </a:r>
          </a:p>
        </p:txBody>
      </p:sp>
    </p:spTree>
    <p:extLst>
      <p:ext uri="{BB962C8B-B14F-4D97-AF65-F5344CB8AC3E}">
        <p14:creationId xmlns:p14="http://schemas.microsoft.com/office/powerpoint/2010/main" val="25162245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A257E6D9-506F-9EE9-6060-299C5334075F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timeline">
            <a:extLst>
              <a:ext uri="{FF2B5EF4-FFF2-40B4-BE49-F238E27FC236}">
                <a16:creationId xmlns:a16="http://schemas.microsoft.com/office/drawing/2014/main" id="{C0EF964A-D9CB-FA1C-2BB2-B65C53C929E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123178"/>
            <a:ext cx="7120382" cy="3322845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2AB63EEC-8EE6-2BB9-6AFE-5AF258099861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0B9AAC09-A305-F8A5-EEA1-D8F949C2D9C5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7B43594F-38B4-8CD1-DF9A-FF69F4EC15C6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841ABCAE-D250-9641-5C29-C9C48D9F8C4B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39B27F4B-FA00-DB02-A907-6B7CBEB138B2}"/>
              </a:ext>
            </a:extLst>
          </p:cNvPr>
          <p:cNvSpPr/>
          <p:nvPr/>
        </p:nvSpPr>
        <p:spPr>
          <a:xfrm>
            <a:off x="572724" y="3977325"/>
            <a:ext cx="6271996" cy="550643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9A4D4004-3B0F-1AFD-21BC-4FB16AB6D4A0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5">
            <a:extLst>
              <a:ext uri="{FF2B5EF4-FFF2-40B4-BE49-F238E27FC236}">
                <a16:creationId xmlns:a16="http://schemas.microsoft.com/office/drawing/2014/main" id="{DCB7C3C5-3CB7-90D8-4CA4-35B42DE74A69}"/>
              </a:ext>
            </a:extLst>
          </p:cNvPr>
          <p:cNvSpPr/>
          <p:nvPr/>
        </p:nvSpPr>
        <p:spPr>
          <a:xfrm>
            <a:off x="7797800" y="838200"/>
            <a:ext cx="4241800" cy="41757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Each trial: a baseline before cue 1, then cue 1 and cue 2.</a:t>
            </a:r>
          </a:p>
        </p:txBody>
      </p:sp>
      <p:sp>
        <p:nvSpPr>
          <p:cNvPr id="12" name="!!N6">
            <a:extLst>
              <a:ext uri="{FF2B5EF4-FFF2-40B4-BE49-F238E27FC236}">
                <a16:creationId xmlns:a16="http://schemas.microsoft.com/office/drawing/2014/main" id="{D0399412-7A42-3344-AA1C-9D81A814C669}"/>
              </a:ext>
            </a:extLst>
          </p:cNvPr>
          <p:cNvSpPr/>
          <p:nvPr/>
        </p:nvSpPr>
        <p:spPr>
          <a:xfrm>
            <a:off x="7797800" y="1370076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Comparison 1: the 20 s baseline against both cues (20 s).</a:t>
            </a:r>
          </a:p>
        </p:txBody>
      </p:sp>
      <p:sp>
        <p:nvSpPr>
          <p:cNvPr id="13" name="!!N7">
            <a:extLst>
              <a:ext uri="{FF2B5EF4-FFF2-40B4-BE49-F238E27FC236}">
                <a16:creationId xmlns:a16="http://schemas.microsoft.com/office/drawing/2014/main" id="{E2728CFF-3861-8593-A215-F151D4B1DDB6}"/>
              </a:ext>
            </a:extLst>
          </p:cNvPr>
          <p:cNvSpPr/>
          <p:nvPr/>
        </p:nvSpPr>
        <p:spPr>
          <a:xfrm>
            <a:off x="12573000" y="20909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Comparison 2: the 10 s baseline against cue 1.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CAEB89FE-41E3-3D81-0F20-FF253B9EBCA5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C52933AB-DB49-05A9-16F6-F66C4ADE4765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What was measured</a:t>
            </a:r>
          </a:p>
        </p:txBody>
      </p:sp>
    </p:spTree>
    <p:extLst>
      <p:ext uri="{BB962C8B-B14F-4D97-AF65-F5344CB8AC3E}">
        <p14:creationId xmlns:p14="http://schemas.microsoft.com/office/powerpoint/2010/main" val="9385837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1A77A316-977A-8BB1-E7B4-1A91E3907BEF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timeline">
            <a:extLst>
              <a:ext uri="{FF2B5EF4-FFF2-40B4-BE49-F238E27FC236}">
                <a16:creationId xmlns:a16="http://schemas.microsoft.com/office/drawing/2014/main" id="{89E3AD1B-1D57-B3D4-5B98-17A12B63837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123178"/>
            <a:ext cx="7120382" cy="3322845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3A0A61DC-2802-A6EC-2601-12BB37BF3A58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5F2D45B5-2E14-06D1-1062-18D96CBC5631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66FF6DD4-1B16-674B-82E6-4C5ED8093117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2E973979-A932-31C2-278C-01FC4FE7986A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CF476F34-3B26-A780-B3A8-4E447262C26C}"/>
              </a:ext>
            </a:extLst>
          </p:cNvPr>
          <p:cNvSpPr/>
          <p:nvPr/>
        </p:nvSpPr>
        <p:spPr>
          <a:xfrm>
            <a:off x="572724" y="4693161"/>
            <a:ext cx="6271996" cy="550643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55AFF17F-36F4-6A48-4BF8-9AFB8B111310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5">
            <a:extLst>
              <a:ext uri="{FF2B5EF4-FFF2-40B4-BE49-F238E27FC236}">
                <a16:creationId xmlns:a16="http://schemas.microsoft.com/office/drawing/2014/main" id="{9B287949-97C5-898D-5401-C055D5924EC8}"/>
              </a:ext>
            </a:extLst>
          </p:cNvPr>
          <p:cNvSpPr/>
          <p:nvPr/>
        </p:nvSpPr>
        <p:spPr>
          <a:xfrm>
            <a:off x="7797800" y="838200"/>
            <a:ext cx="4241800" cy="41757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Each trial: a baseline before cue 1, then cue 1 and cue 2.</a:t>
            </a:r>
          </a:p>
        </p:txBody>
      </p:sp>
      <p:sp>
        <p:nvSpPr>
          <p:cNvPr id="12" name="!!N6">
            <a:extLst>
              <a:ext uri="{FF2B5EF4-FFF2-40B4-BE49-F238E27FC236}">
                <a16:creationId xmlns:a16="http://schemas.microsoft.com/office/drawing/2014/main" id="{140B2D16-61E3-5252-537B-28C334F10DD8}"/>
              </a:ext>
            </a:extLst>
          </p:cNvPr>
          <p:cNvSpPr/>
          <p:nvPr/>
        </p:nvSpPr>
        <p:spPr>
          <a:xfrm>
            <a:off x="7797800" y="1370076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Comparison 1: the 20 s baseline against both cues (20 s).</a:t>
            </a:r>
          </a:p>
        </p:txBody>
      </p:sp>
      <p:sp>
        <p:nvSpPr>
          <p:cNvPr id="13" name="!!N7">
            <a:extLst>
              <a:ext uri="{FF2B5EF4-FFF2-40B4-BE49-F238E27FC236}">
                <a16:creationId xmlns:a16="http://schemas.microsoft.com/office/drawing/2014/main" id="{A533F2EB-2BA7-7680-8657-E47CBCDCE2B8}"/>
              </a:ext>
            </a:extLst>
          </p:cNvPr>
          <p:cNvSpPr/>
          <p:nvPr/>
        </p:nvSpPr>
        <p:spPr>
          <a:xfrm>
            <a:off x="7797800" y="20909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Comparison 2: the 10 s baseline against cue 1.</a:t>
            </a:r>
          </a:p>
        </p:txBody>
      </p:sp>
      <p:sp>
        <p:nvSpPr>
          <p:cNvPr id="14" name="!!N8">
            <a:extLst>
              <a:ext uri="{FF2B5EF4-FFF2-40B4-BE49-F238E27FC236}">
                <a16:creationId xmlns:a16="http://schemas.microsoft.com/office/drawing/2014/main" id="{4BB1EFF3-FAB8-C6EA-8EBD-3F72BE7D3E5B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question: did the cues’ effect on coherence change from Precon1 to Precon4?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9ADA6C07-8337-ED54-A6ED-25476AAF4A0B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D5F7190D-756C-884B-B122-572C3DAB31C6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What was measured</a:t>
            </a:r>
          </a:p>
        </p:txBody>
      </p:sp>
    </p:spTree>
    <p:extLst>
      <p:ext uri="{BB962C8B-B14F-4D97-AF65-F5344CB8AC3E}">
        <p14:creationId xmlns:p14="http://schemas.microsoft.com/office/powerpoint/2010/main" val="18226644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3F915A17-5A5F-A401-3EE0-5CD764C5E4D6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rats_m1">
            <a:extLst>
              <a:ext uri="{FF2B5EF4-FFF2-40B4-BE49-F238E27FC236}">
                <a16:creationId xmlns:a16="http://schemas.microsoft.com/office/drawing/2014/main" id="{EB15FF15-3ECC-FCD6-4870-0D4A30B698D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411139"/>
            <a:ext cx="7120382" cy="474692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30AE5DCC-22A7-C086-E207-572AB7F8F64A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63BF9BDF-D550-39FA-791D-068BB9105F7E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2AF72B91-BEAA-A698-5357-75FECB6C232B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B132442B-133F-A6CE-7930-6EFAA06842BA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Rail">
            <a:extLst>
              <a:ext uri="{FF2B5EF4-FFF2-40B4-BE49-F238E27FC236}">
                <a16:creationId xmlns:a16="http://schemas.microsoft.com/office/drawing/2014/main" id="{CCE83F0F-FB58-AD51-B6F8-11A6B10A0EBB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N8">
            <a:extLst>
              <a:ext uri="{FF2B5EF4-FFF2-40B4-BE49-F238E27FC236}">
                <a16:creationId xmlns:a16="http://schemas.microsoft.com/office/drawing/2014/main" id="{9686FC67-EA80-7AFA-9FD9-0DB3150FDBE7}"/>
              </a:ext>
            </a:extLst>
          </p:cNvPr>
          <p:cNvSpPr/>
          <p:nvPr/>
        </p:nvSpPr>
        <p:spPr>
          <a:xfrm>
            <a:off x="77978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question: did the cues’ effect on coherence change from Precon1 to Precon4?</a:t>
            </a:r>
          </a:p>
        </p:txBody>
      </p:sp>
      <p:sp>
        <p:nvSpPr>
          <p:cNvPr id="11" name="!!N9">
            <a:extLst>
              <a:ext uri="{FF2B5EF4-FFF2-40B4-BE49-F238E27FC236}">
                <a16:creationId xmlns:a16="http://schemas.microsoft.com/office/drawing/2014/main" id="{1C2C00AE-CBE6-BBA6-3591-430229B5B15B}"/>
              </a:ext>
            </a:extLst>
          </p:cNvPr>
          <p:cNvSpPr/>
          <p:nvPr/>
        </p:nvSpPr>
        <p:spPr>
          <a:xfrm>
            <a:off x="12573000" y="1559052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Each dot is one rat (comparison 1): cue − baseline on Precon4, minus the same on Precon1, averaged over its pairs. 7 of 8 are above 0.</a:t>
            </a:r>
          </a:p>
        </p:txBody>
      </p:sp>
      <p:sp>
        <p:nvSpPr>
          <p:cNvPr id="12" name="!!N5">
            <a:extLst>
              <a:ext uri="{FF2B5EF4-FFF2-40B4-BE49-F238E27FC236}">
                <a16:creationId xmlns:a16="http://schemas.microsoft.com/office/drawing/2014/main" id="{A13579AB-105B-784A-E036-E21B34479FE7}"/>
              </a:ext>
            </a:extLst>
          </p:cNvPr>
          <p:cNvSpPr/>
          <p:nvPr/>
        </p:nvSpPr>
        <p:spPr>
          <a:xfrm>
            <a:off x="12573000" y="838200"/>
            <a:ext cx="4241800" cy="41757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Each trial: a baseline before cue 1, then cue 1 and cue 2.</a:t>
            </a:r>
          </a:p>
        </p:txBody>
      </p:sp>
      <p:sp>
        <p:nvSpPr>
          <p:cNvPr id="13" name="!!N6">
            <a:extLst>
              <a:ext uri="{FF2B5EF4-FFF2-40B4-BE49-F238E27FC236}">
                <a16:creationId xmlns:a16="http://schemas.microsoft.com/office/drawing/2014/main" id="{8D1708E0-493A-6A0A-EAF2-E6F841325FB6}"/>
              </a:ext>
            </a:extLst>
          </p:cNvPr>
          <p:cNvSpPr/>
          <p:nvPr/>
        </p:nvSpPr>
        <p:spPr>
          <a:xfrm>
            <a:off x="12573000" y="1370076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Comparison 1: the 20 s baseline against both cues (20 s).</a:t>
            </a:r>
          </a:p>
        </p:txBody>
      </p:sp>
      <p:sp>
        <p:nvSpPr>
          <p:cNvPr id="14" name="!!N7">
            <a:extLst>
              <a:ext uri="{FF2B5EF4-FFF2-40B4-BE49-F238E27FC236}">
                <a16:creationId xmlns:a16="http://schemas.microsoft.com/office/drawing/2014/main" id="{7A46DBFD-7C4D-67D0-2EF9-C79B802B7685}"/>
              </a:ext>
            </a:extLst>
          </p:cNvPr>
          <p:cNvSpPr/>
          <p:nvPr/>
        </p:nvSpPr>
        <p:spPr>
          <a:xfrm>
            <a:off x="12573000" y="20909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Comparison 2: the 10 s baseline against cue 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35828D2C-236F-1EDC-4F35-BCF67CA04148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0A60645B-5600-A46C-59FE-B2BCA74FCE83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What was measured</a:t>
            </a:r>
          </a:p>
        </p:txBody>
      </p:sp>
    </p:spTree>
    <p:extLst>
      <p:ext uri="{BB962C8B-B14F-4D97-AF65-F5344CB8AC3E}">
        <p14:creationId xmlns:p14="http://schemas.microsoft.com/office/powerpoint/2010/main" val="20480705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82E3B35A-EE09-ED08-F915-A70E8E395EFE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rats_m1">
            <a:extLst>
              <a:ext uri="{FF2B5EF4-FFF2-40B4-BE49-F238E27FC236}">
                <a16:creationId xmlns:a16="http://schemas.microsoft.com/office/drawing/2014/main" id="{DA8BAB4A-1F50-83F8-69D4-CBAA7D5FD7B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411139"/>
            <a:ext cx="7120382" cy="474692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1C759498-F196-01FA-14D0-676596BCDE58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A8893B31-D7DF-F705-B9E5-E6BF89022479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683E53B1-5FFF-2AC6-D8F0-22A5A5F9AE58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D3098060-8C55-8265-8E0D-EF4889466E2D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0FA2CC2D-8658-DFF8-A02F-BDCE8DC83D1C}"/>
              </a:ext>
            </a:extLst>
          </p:cNvPr>
          <p:cNvSpPr/>
          <p:nvPr/>
        </p:nvSpPr>
        <p:spPr>
          <a:xfrm>
            <a:off x="1474639" y="1648485"/>
            <a:ext cx="5696306" cy="3797538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ACBA6085-9365-A86C-121A-FCA8D488B611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8">
            <a:extLst>
              <a:ext uri="{FF2B5EF4-FFF2-40B4-BE49-F238E27FC236}">
                <a16:creationId xmlns:a16="http://schemas.microsoft.com/office/drawing/2014/main" id="{456DABB8-C333-C25A-DB62-BCF230161650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question: did the cues’ effect on coherence </a:t>
            </a:r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change</a:t>
            </a: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 from Precon1 to Precon4?</a:t>
            </a:r>
          </a:p>
        </p:txBody>
      </p:sp>
      <p:sp>
        <p:nvSpPr>
          <p:cNvPr id="12" name="!!N9">
            <a:extLst>
              <a:ext uri="{FF2B5EF4-FFF2-40B4-BE49-F238E27FC236}">
                <a16:creationId xmlns:a16="http://schemas.microsoft.com/office/drawing/2014/main" id="{E0FEE129-2296-E45A-489A-98B549B19938}"/>
              </a:ext>
            </a:extLst>
          </p:cNvPr>
          <p:cNvSpPr/>
          <p:nvPr/>
        </p:nvSpPr>
        <p:spPr>
          <a:xfrm>
            <a:off x="7797800" y="1559052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Each dot is one rat (comparison 1): cue − baseline on Precon4, minus the same on Precon1, averaged over its pairs. 7 of 8 are above 0.</a:t>
            </a:r>
          </a:p>
        </p:txBody>
      </p:sp>
      <p:sp>
        <p:nvSpPr>
          <p:cNvPr id="13" name="!!N10">
            <a:extLst>
              <a:ext uri="{FF2B5EF4-FFF2-40B4-BE49-F238E27FC236}">
                <a16:creationId xmlns:a16="http://schemas.microsoft.com/office/drawing/2014/main" id="{6A141DFF-CE5E-1D1C-0CC9-54C85758E6FB}"/>
              </a:ext>
            </a:extLst>
          </p:cNvPr>
          <p:cNvSpPr/>
          <p:nvPr/>
        </p:nvSpPr>
        <p:spPr>
          <a:xfrm>
            <a:off x="12573000" y="838200"/>
            <a:ext cx="4241800" cy="192938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12 comparisons, each in theta and gamma. Green: unlikely to be chance (P &lt; 0.05). Amber: a check that lit. Grey: not clear of chance, which is not the same as no change.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E5D57A3F-91C6-751C-FCFD-7B41EEB698CE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5D4A0148-029D-46E5-BCD7-11011F48AEE7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What was measured</a:t>
            </a:r>
          </a:p>
        </p:txBody>
      </p:sp>
    </p:spTree>
    <p:extLst>
      <p:ext uri="{BB962C8B-B14F-4D97-AF65-F5344CB8AC3E}">
        <p14:creationId xmlns:p14="http://schemas.microsoft.com/office/powerpoint/2010/main" val="26054182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BDF53581-FD24-7B75-385A-98533A265A5D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lights">
            <a:extLst>
              <a:ext uri="{FF2B5EF4-FFF2-40B4-BE49-F238E27FC236}">
                <a16:creationId xmlns:a16="http://schemas.microsoft.com/office/drawing/2014/main" id="{2B9CAA4C-6983-ED0B-5959-258A4377BF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676967"/>
            <a:ext cx="7120382" cy="4215266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0DD4367B-0D9F-165B-7B4A-EE92B41AB992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F4FEACBF-24E2-A94A-B09E-38AB883275A0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C8ED01BF-4F1F-9E52-D881-B8B0FEC505D3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8217A76A-A4DF-F057-7319-A1569177B714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Rail">
            <a:extLst>
              <a:ext uri="{FF2B5EF4-FFF2-40B4-BE49-F238E27FC236}">
                <a16:creationId xmlns:a16="http://schemas.microsoft.com/office/drawing/2014/main" id="{DC7BEA53-7070-DDF2-7ED4-B62C5330D97E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N10">
            <a:extLst>
              <a:ext uri="{FF2B5EF4-FFF2-40B4-BE49-F238E27FC236}">
                <a16:creationId xmlns:a16="http://schemas.microsoft.com/office/drawing/2014/main" id="{F8F8CAF8-85ED-D2C3-4720-81C490CFC11B}"/>
              </a:ext>
            </a:extLst>
          </p:cNvPr>
          <p:cNvSpPr/>
          <p:nvPr/>
        </p:nvSpPr>
        <p:spPr>
          <a:xfrm>
            <a:off x="7797800" y="838200"/>
            <a:ext cx="4241800" cy="192938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12 comparisons, each in theta and gamma. Green: unlikely to be chance (P &lt; 0.05). Amber: a check that lit. Grey: not clear of chance, which is not the same as no change.</a:t>
            </a:r>
          </a:p>
        </p:txBody>
      </p:sp>
      <p:sp>
        <p:nvSpPr>
          <p:cNvPr id="11" name="!!N11">
            <a:extLst>
              <a:ext uri="{FF2B5EF4-FFF2-40B4-BE49-F238E27FC236}">
                <a16:creationId xmlns:a16="http://schemas.microsoft.com/office/drawing/2014/main" id="{3857D725-ECFC-984F-F7E2-213FCBAB0095}"/>
              </a:ext>
            </a:extLst>
          </p:cNvPr>
          <p:cNvSpPr/>
          <p:nvPr/>
        </p:nvSpPr>
        <p:spPr>
          <a:xfrm>
            <a:off x="12573000" y="1937004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Two lit, both in gamma: comparison 1 (P = 0.017, 7 of 8 rats the same way) and comparison 2 (P = 0.035, 6 of 8).</a:t>
            </a:r>
          </a:p>
        </p:txBody>
      </p:sp>
      <p:sp>
        <p:nvSpPr>
          <p:cNvPr id="12" name="!!N8">
            <a:extLst>
              <a:ext uri="{FF2B5EF4-FFF2-40B4-BE49-F238E27FC236}">
                <a16:creationId xmlns:a16="http://schemas.microsoft.com/office/drawing/2014/main" id="{B21FFA8B-F908-C1AB-F6BF-397D7F747D94}"/>
              </a:ext>
            </a:extLst>
          </p:cNvPr>
          <p:cNvSpPr/>
          <p:nvPr/>
        </p:nvSpPr>
        <p:spPr>
          <a:xfrm>
            <a:off x="125730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question: did the cues’ effect on coherence </a:t>
            </a:r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change</a:t>
            </a: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 from Precon1 to Precon4?</a:t>
            </a:r>
          </a:p>
        </p:txBody>
      </p:sp>
      <p:sp>
        <p:nvSpPr>
          <p:cNvPr id="13" name="!!N9">
            <a:extLst>
              <a:ext uri="{FF2B5EF4-FFF2-40B4-BE49-F238E27FC236}">
                <a16:creationId xmlns:a16="http://schemas.microsoft.com/office/drawing/2014/main" id="{C609C385-496A-B38C-CFAB-EB38548276CA}"/>
              </a:ext>
            </a:extLst>
          </p:cNvPr>
          <p:cNvSpPr/>
          <p:nvPr/>
        </p:nvSpPr>
        <p:spPr>
          <a:xfrm>
            <a:off x="12573000" y="1559052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Each dot is one rat (comparison 1): cue − baseline on Precon4, minus the same on Precon1, averaged over its pairs. 7 of 8 are above 0.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593A2127-4A16-1CB3-A834-8D5C8071A104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A5F962CC-6511-8D0D-BA72-51FCF6E5CE40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Tab 8: what lit up</a:t>
            </a:r>
          </a:p>
        </p:txBody>
      </p:sp>
    </p:spTree>
    <p:extLst>
      <p:ext uri="{BB962C8B-B14F-4D97-AF65-F5344CB8AC3E}">
        <p14:creationId xmlns:p14="http://schemas.microsoft.com/office/powerpoint/2010/main" val="23578335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FCF857FC-EF33-F332-40CC-88D6B1D38004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lights">
            <a:extLst>
              <a:ext uri="{FF2B5EF4-FFF2-40B4-BE49-F238E27FC236}">
                <a16:creationId xmlns:a16="http://schemas.microsoft.com/office/drawing/2014/main" id="{B16AE1C9-54EC-B59B-4A75-A4C335E78D8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676967"/>
            <a:ext cx="7120382" cy="4215266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BF668CC0-0F2C-ECD4-D06A-D202CBED2BEE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7D62680E-701E-675E-99C3-107B202D84BB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0C7847D7-19C4-9F91-34CD-1389635E1791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3EFE6BD2-28E5-D91C-8ECC-0010DB875D47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FB57E680-871A-2F5B-72EE-1DE0900CC927}"/>
              </a:ext>
            </a:extLst>
          </p:cNvPr>
          <p:cNvSpPr/>
          <p:nvPr/>
        </p:nvSpPr>
        <p:spPr>
          <a:xfrm>
            <a:off x="6458907" y="1999758"/>
            <a:ext cx="379754" cy="303803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B1BDA146-E7E8-F55B-57F5-06BD38845528}"/>
              </a:ext>
            </a:extLst>
          </p:cNvPr>
          <p:cNvSpPr/>
          <p:nvPr/>
        </p:nvSpPr>
        <p:spPr>
          <a:xfrm>
            <a:off x="6458907" y="2303561"/>
            <a:ext cx="379754" cy="303803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274BA7F4-2A8E-BF91-206D-F19BCEB643ED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10">
            <a:extLst>
              <a:ext uri="{FF2B5EF4-FFF2-40B4-BE49-F238E27FC236}">
                <a16:creationId xmlns:a16="http://schemas.microsoft.com/office/drawing/2014/main" id="{587D0C3C-C550-7C17-C354-A48CFE62D576}"/>
              </a:ext>
            </a:extLst>
          </p:cNvPr>
          <p:cNvSpPr/>
          <p:nvPr/>
        </p:nvSpPr>
        <p:spPr>
          <a:xfrm>
            <a:off x="7797800" y="838200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12 comparisons, each in theta and gamma. Green: unlikely to be chance (P &lt; 0.05). Amber: a check that lit. Grey: not clear of chance, which is not the same as no change.</a:t>
            </a:r>
          </a:p>
        </p:txBody>
      </p:sp>
      <p:sp>
        <p:nvSpPr>
          <p:cNvPr id="13" name="!!N11">
            <a:extLst>
              <a:ext uri="{FF2B5EF4-FFF2-40B4-BE49-F238E27FC236}">
                <a16:creationId xmlns:a16="http://schemas.microsoft.com/office/drawing/2014/main" id="{A81BDE22-F5A6-0730-740F-DAB6866A7E6F}"/>
              </a:ext>
            </a:extLst>
          </p:cNvPr>
          <p:cNvSpPr/>
          <p:nvPr/>
        </p:nvSpPr>
        <p:spPr>
          <a:xfrm>
            <a:off x="7797800" y="1937004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Two lit, both in gamma: comparison 1 (P = 0.017, 7 of 8 rats the same way) and comparison 2 (P = 0.035, 6 of 8).</a:t>
            </a:r>
          </a:p>
        </p:txBody>
      </p:sp>
      <p:sp>
        <p:nvSpPr>
          <p:cNvPr id="14" name="!!N12">
            <a:extLst>
              <a:ext uri="{FF2B5EF4-FFF2-40B4-BE49-F238E27FC236}">
                <a16:creationId xmlns:a16="http://schemas.microsoft.com/office/drawing/2014/main" id="{36228F43-DC44-0B13-AB34-0D35F8192F1F}"/>
              </a:ext>
            </a:extLst>
          </p:cNvPr>
          <p:cNvSpPr/>
          <p:nvPr/>
        </p:nvSpPr>
        <p:spPr>
          <a:xfrm>
            <a:off x="12573000" y="2657856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One check lit too: Noise vs Click in theta (P = 0.039). The checks were expected to stay dark: worth a look, not a finding.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5841FDBA-0E6D-6EA5-C0FE-05674E214066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8FFCB36C-1729-B7FE-2FEF-077433E0EE05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Tab 8: what lit up</a:t>
            </a:r>
          </a:p>
        </p:txBody>
      </p:sp>
    </p:spTree>
    <p:extLst>
      <p:ext uri="{BB962C8B-B14F-4D97-AF65-F5344CB8AC3E}">
        <p14:creationId xmlns:p14="http://schemas.microsoft.com/office/powerpoint/2010/main" val="4190712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B9A6C030-D811-3340-CB3E-9D6386FE5578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lights">
            <a:extLst>
              <a:ext uri="{FF2B5EF4-FFF2-40B4-BE49-F238E27FC236}">
                <a16:creationId xmlns:a16="http://schemas.microsoft.com/office/drawing/2014/main" id="{6C3279C8-57AC-BB33-9448-8F16F77EFD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676967"/>
            <a:ext cx="7120382" cy="4215266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41A68BA3-E36D-48DF-2C42-52A36B46827C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0561D64C-12FA-4FDC-17F1-0D804FE97950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41971F81-4366-3D28-0DFC-B3FA8A74D82E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17E6223B-2495-AEBF-04FF-6560A0FBFBA2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4669EB49-057D-3F3F-B450-5E1AE86FB069}"/>
              </a:ext>
            </a:extLst>
          </p:cNvPr>
          <p:cNvSpPr/>
          <p:nvPr/>
        </p:nvSpPr>
        <p:spPr>
          <a:xfrm>
            <a:off x="5414584" y="4430181"/>
            <a:ext cx="379754" cy="303803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4A9B7CBF-0955-4ADB-F866-4572726B76E8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10">
            <a:extLst>
              <a:ext uri="{FF2B5EF4-FFF2-40B4-BE49-F238E27FC236}">
                <a16:creationId xmlns:a16="http://schemas.microsoft.com/office/drawing/2014/main" id="{94EC6E42-8CC1-D600-8EC4-2D99B1D0891F}"/>
              </a:ext>
            </a:extLst>
          </p:cNvPr>
          <p:cNvSpPr/>
          <p:nvPr/>
        </p:nvSpPr>
        <p:spPr>
          <a:xfrm>
            <a:off x="7797800" y="838200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12 comparisons, each in theta and gamma. Green: unlikely to be chance (P &lt; 0.05). Amber: a check that lit. Grey: not clear of chance, which is not the same as no change.</a:t>
            </a:r>
          </a:p>
        </p:txBody>
      </p:sp>
      <p:sp>
        <p:nvSpPr>
          <p:cNvPr id="12" name="!!N11">
            <a:extLst>
              <a:ext uri="{FF2B5EF4-FFF2-40B4-BE49-F238E27FC236}">
                <a16:creationId xmlns:a16="http://schemas.microsoft.com/office/drawing/2014/main" id="{3323BFB8-C00E-11E5-5A6B-80F9235D97B1}"/>
              </a:ext>
            </a:extLst>
          </p:cNvPr>
          <p:cNvSpPr/>
          <p:nvPr/>
        </p:nvSpPr>
        <p:spPr>
          <a:xfrm>
            <a:off x="7797800" y="1937004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Two lit, both in gamma: comparison 1 (P = 0.017, 7 of 8 rats the same way) and comparison 2 (P = 0.035, 6 of 8).</a:t>
            </a:r>
          </a:p>
        </p:txBody>
      </p:sp>
      <p:sp>
        <p:nvSpPr>
          <p:cNvPr id="13" name="!!N12">
            <a:extLst>
              <a:ext uri="{FF2B5EF4-FFF2-40B4-BE49-F238E27FC236}">
                <a16:creationId xmlns:a16="http://schemas.microsoft.com/office/drawing/2014/main" id="{FF02C768-BD66-B7C5-F44A-8925FCDE16F3}"/>
              </a:ext>
            </a:extLst>
          </p:cNvPr>
          <p:cNvSpPr/>
          <p:nvPr/>
        </p:nvSpPr>
        <p:spPr>
          <a:xfrm>
            <a:off x="7797800" y="2657856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One check lit too: Noise vs Click in theta (P = 0.039). The checks were expected to stay dark: worth a look, not a finding.</a:t>
            </a:r>
          </a:p>
        </p:txBody>
      </p:sp>
      <p:sp>
        <p:nvSpPr>
          <p:cNvPr id="14" name="!!N13">
            <a:extLst>
              <a:ext uri="{FF2B5EF4-FFF2-40B4-BE49-F238E27FC236}">
                <a16:creationId xmlns:a16="http://schemas.microsoft.com/office/drawing/2014/main" id="{DECBAE09-7202-2D86-4F25-B52E0C679B99}"/>
              </a:ext>
            </a:extLst>
          </p:cNvPr>
          <p:cNvSpPr/>
          <p:nvPr/>
        </p:nvSpPr>
        <p:spPr>
          <a:xfrm>
            <a:off x="12573000" y="3567684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Nothing is corrected across the 24 lights, and each has two ways to pass. If nothing had changed anywhere, about 2 would light by chance; 3 lit.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BD963334-4739-C0E7-DB7F-1EB6E70B78DB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5EAB6D55-3E74-B03A-D4E3-A4CCF4BB6672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Tab 8: what lit up</a:t>
            </a:r>
          </a:p>
        </p:txBody>
      </p:sp>
    </p:spTree>
    <p:extLst>
      <p:ext uri="{BB962C8B-B14F-4D97-AF65-F5344CB8AC3E}">
        <p14:creationId xmlns:p14="http://schemas.microsoft.com/office/powerpoint/2010/main" val="16786649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DEFAA8F4-3C57-AECB-AA84-DB353EDBF230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lights">
            <a:extLst>
              <a:ext uri="{FF2B5EF4-FFF2-40B4-BE49-F238E27FC236}">
                <a16:creationId xmlns:a16="http://schemas.microsoft.com/office/drawing/2014/main" id="{DF9D655E-7323-A9BE-E641-5AA0CB5EC7E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676967"/>
            <a:ext cx="7120382" cy="4215266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528A4197-3DA4-92F6-7316-C578DBC1B918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43882C1C-9306-2288-9800-5715CFD3256D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7CB5D08C-0D41-F8F7-1D52-3BA8289C69CD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74525E08-6E30-4254-DE77-76DAF5BCFB91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Rail">
            <a:extLst>
              <a:ext uri="{FF2B5EF4-FFF2-40B4-BE49-F238E27FC236}">
                <a16:creationId xmlns:a16="http://schemas.microsoft.com/office/drawing/2014/main" id="{2C1C9E84-B35A-ABBA-68A7-250D69BB6DF0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N10">
            <a:extLst>
              <a:ext uri="{FF2B5EF4-FFF2-40B4-BE49-F238E27FC236}">
                <a16:creationId xmlns:a16="http://schemas.microsoft.com/office/drawing/2014/main" id="{8A907700-4F8C-B438-F96E-750BA0997D95}"/>
              </a:ext>
            </a:extLst>
          </p:cNvPr>
          <p:cNvSpPr/>
          <p:nvPr/>
        </p:nvSpPr>
        <p:spPr>
          <a:xfrm>
            <a:off x="7797800" y="838200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12 comparisons, each in theta and gamma. Green: unlikely to be chance (P &lt; 0.05). Amber: a check that lit. Grey: not clear of chance, which is not the same as no change.</a:t>
            </a:r>
          </a:p>
        </p:txBody>
      </p:sp>
      <p:sp>
        <p:nvSpPr>
          <p:cNvPr id="11" name="!!N11">
            <a:extLst>
              <a:ext uri="{FF2B5EF4-FFF2-40B4-BE49-F238E27FC236}">
                <a16:creationId xmlns:a16="http://schemas.microsoft.com/office/drawing/2014/main" id="{D8C8B46D-E785-E223-AAE4-307EB3BB16DD}"/>
              </a:ext>
            </a:extLst>
          </p:cNvPr>
          <p:cNvSpPr/>
          <p:nvPr/>
        </p:nvSpPr>
        <p:spPr>
          <a:xfrm>
            <a:off x="7797800" y="1937004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Two lit, both in gamma: comparison 1 (P = 0.017, 7 of 8 rats the same way) and comparison 2 (P = 0.035, 6 of 8).</a:t>
            </a:r>
          </a:p>
        </p:txBody>
      </p:sp>
      <p:sp>
        <p:nvSpPr>
          <p:cNvPr id="12" name="!!N12">
            <a:extLst>
              <a:ext uri="{FF2B5EF4-FFF2-40B4-BE49-F238E27FC236}">
                <a16:creationId xmlns:a16="http://schemas.microsoft.com/office/drawing/2014/main" id="{470A51C9-628C-9EB1-F5D2-4FCFAEA05F74}"/>
              </a:ext>
            </a:extLst>
          </p:cNvPr>
          <p:cNvSpPr/>
          <p:nvPr/>
        </p:nvSpPr>
        <p:spPr>
          <a:xfrm>
            <a:off x="7797800" y="2657856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One check lit too: Noise vs Click in theta (P = 0.039). The checks were expected to stay dark: worth a look, not a finding.</a:t>
            </a:r>
          </a:p>
        </p:txBody>
      </p:sp>
      <p:sp>
        <p:nvSpPr>
          <p:cNvPr id="13" name="!!N13">
            <a:extLst>
              <a:ext uri="{FF2B5EF4-FFF2-40B4-BE49-F238E27FC236}">
                <a16:creationId xmlns:a16="http://schemas.microsoft.com/office/drawing/2014/main" id="{51DAD53F-9093-D561-B5C8-D8C5FA8DC88E}"/>
              </a:ext>
            </a:extLst>
          </p:cNvPr>
          <p:cNvSpPr/>
          <p:nvPr/>
        </p:nvSpPr>
        <p:spPr>
          <a:xfrm>
            <a:off x="7797800" y="3567684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Nothing is corrected across the 24 lights, and each has two ways to pass. If nothing had changed anywhere, about 2 would light by chance; 3 lit.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EEE5C734-735A-FAD0-0CCE-B9DA98DF8699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9B56E66A-67DA-57D6-9711-02554DF6977C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Tab 8: what lit up</a:t>
            </a:r>
          </a:p>
        </p:txBody>
      </p:sp>
    </p:spTree>
    <p:extLst>
      <p:ext uri="{BB962C8B-B14F-4D97-AF65-F5344CB8AC3E}">
        <p14:creationId xmlns:p14="http://schemas.microsoft.com/office/powerpoint/2010/main" val="1982295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82F80DA4-F6FB-AFCA-1450-A180F4458196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">
            <a:extLst>
              <a:ext uri="{FF2B5EF4-FFF2-40B4-BE49-F238E27FC236}">
                <a16:creationId xmlns:a16="http://schemas.microsoft.com/office/drawing/2014/main" id="{0F3C54B6-2A63-F1B9-6AA6-35E10853F6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23" y="901954"/>
            <a:ext cx="5120754" cy="576529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9EBCA4BB-0ED2-9324-014B-F6CB1833F106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BB5BFEF4-9ABF-265C-8482-D871DC6F9176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EA36DAAA-9675-A63A-A9FD-8580B404BCFB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8F50CF3D-CE45-1322-0776-883A70E1BDF6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Rail">
            <a:extLst>
              <a:ext uri="{FF2B5EF4-FFF2-40B4-BE49-F238E27FC236}">
                <a16:creationId xmlns:a16="http://schemas.microsoft.com/office/drawing/2014/main" id="{2CE3E0CF-22C8-DBDC-3FD3-3D8F3E875547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N14">
            <a:extLst>
              <a:ext uri="{FF2B5EF4-FFF2-40B4-BE49-F238E27FC236}">
                <a16:creationId xmlns:a16="http://schemas.microsoft.com/office/drawing/2014/main" id="{21C0C15E-387E-1922-CC45-98E02352D0D5}"/>
              </a:ext>
            </a:extLst>
          </p:cNvPr>
          <p:cNvSpPr/>
          <p:nvPr/>
        </p:nvSpPr>
        <p:spPr>
          <a:xfrm>
            <a:off x="125730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Every ring is the same 12 regions. Each line is one pair, 44 pairs in all. Grey dots: regions no pair reached with 4 rats.</a:t>
            </a:r>
          </a:p>
        </p:txBody>
      </p:sp>
      <p:sp>
        <p:nvSpPr>
          <p:cNvPr id="11" name="!!N10">
            <a:extLst>
              <a:ext uri="{FF2B5EF4-FFF2-40B4-BE49-F238E27FC236}">
                <a16:creationId xmlns:a16="http://schemas.microsoft.com/office/drawing/2014/main" id="{DC1A6D87-4F29-2224-0070-F0F9A07729E7}"/>
              </a:ext>
            </a:extLst>
          </p:cNvPr>
          <p:cNvSpPr/>
          <p:nvPr/>
        </p:nvSpPr>
        <p:spPr>
          <a:xfrm>
            <a:off x="12573000" y="838200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12 comparisons, each in theta and gamma. Green: unlikely to be chance (P &lt; 0.05). Amber: a check that lit. Grey: not clear of chance, which is not the same as no change.</a:t>
            </a:r>
          </a:p>
        </p:txBody>
      </p:sp>
      <p:sp>
        <p:nvSpPr>
          <p:cNvPr id="12" name="!!N11">
            <a:extLst>
              <a:ext uri="{FF2B5EF4-FFF2-40B4-BE49-F238E27FC236}">
                <a16:creationId xmlns:a16="http://schemas.microsoft.com/office/drawing/2014/main" id="{B9500358-2274-DB96-7355-9D6E51CD8F42}"/>
              </a:ext>
            </a:extLst>
          </p:cNvPr>
          <p:cNvSpPr/>
          <p:nvPr/>
        </p:nvSpPr>
        <p:spPr>
          <a:xfrm>
            <a:off x="12573000" y="1937004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Two lit, both in gamma: comparison 1 (P = 0.017, 7 of 8 rats the same way) and comparison 2 (P = 0.035, 6 of 8).</a:t>
            </a:r>
          </a:p>
        </p:txBody>
      </p:sp>
      <p:sp>
        <p:nvSpPr>
          <p:cNvPr id="13" name="!!N12">
            <a:extLst>
              <a:ext uri="{FF2B5EF4-FFF2-40B4-BE49-F238E27FC236}">
                <a16:creationId xmlns:a16="http://schemas.microsoft.com/office/drawing/2014/main" id="{D5B1C95A-73E5-144C-3D50-5CBCC56262F3}"/>
              </a:ext>
            </a:extLst>
          </p:cNvPr>
          <p:cNvSpPr/>
          <p:nvPr/>
        </p:nvSpPr>
        <p:spPr>
          <a:xfrm>
            <a:off x="12573000" y="2657856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One check lit too: Noise vs Click in theta (P = 0.039). The checks were expected to stay dark: worth a look, not a finding.</a:t>
            </a:r>
          </a:p>
        </p:txBody>
      </p:sp>
      <p:sp>
        <p:nvSpPr>
          <p:cNvPr id="14" name="!!N13">
            <a:extLst>
              <a:ext uri="{FF2B5EF4-FFF2-40B4-BE49-F238E27FC236}">
                <a16:creationId xmlns:a16="http://schemas.microsoft.com/office/drawing/2014/main" id="{EA3B89F9-0E25-C3AE-94AB-08C55C2E81ED}"/>
              </a:ext>
            </a:extLst>
          </p:cNvPr>
          <p:cNvSpPr/>
          <p:nvPr/>
        </p:nvSpPr>
        <p:spPr>
          <a:xfrm>
            <a:off x="12573000" y="3567684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Nothing is corrected across the 24 lights, and each has two ways to pass. If nothing had changed anywhere, about 2 would light by chance; 3 lit.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5C5BAF51-80CE-5862-89F8-9B76C102ED14}"/>
              </a:ext>
            </a:extLst>
          </p:cNvPr>
          <p:cNvSpPr/>
          <p:nvPr/>
        </p:nvSpPr>
        <p:spPr>
          <a:xfrm>
            <a:off x="1905000" y="1905000"/>
            <a:ext cx="8382000" cy="3048000"/>
          </a:xfrm>
          <a:prstGeom prst="snip2DiagRect">
            <a:avLst>
              <a:gd name="adj1" fmla="val 0"/>
              <a:gd name="adj2" fmla="val 16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B10BCBE8-FDE8-B553-CEF1-707CF37A3938}"/>
              </a:ext>
            </a:extLst>
          </p:cNvPr>
          <p:cNvSpPr txBox="1"/>
          <p:nvPr/>
        </p:nvSpPr>
        <p:spPr>
          <a:xfrm>
            <a:off x="2286000" y="2032000"/>
            <a:ext cx="7620000" cy="2794000"/>
          </a:xfrm>
          <a:prstGeom prst="rect">
            <a:avLst/>
          </a:prstGeom>
          <a:noFill/>
        </p:spPr>
        <p:txBody>
          <a:bodyPr vert="horz" wrap="square" lIns="76200" tIns="50800" rIns="76200" bIns="5080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4000" b="1">
                <a:solidFill>
                  <a:srgbClr val="FF0000"/>
                </a:solidFill>
                <a:latin typeface="Aptos Display" panose="020B0004020202020204" pitchFamily="34" charset="0"/>
              </a:rPr>
              <a:t>Figure 1</a:t>
            </a:r>
          </a:p>
          <a:p>
            <a:pPr algn="ctr">
              <a:lnSpc>
                <a:spcPct val="95000"/>
              </a:lnSpc>
            </a:pPr>
            <a:r>
              <a:rPr lang="en-US" sz="2000">
                <a:solidFill>
                  <a:srgbClr val="FFFFFF"/>
                </a:solidFill>
                <a:latin typeface="Aptos Display" panose="020B0004020202020204" pitchFamily="34" charset="0"/>
              </a:rPr>
              <a:t>Comparison 1, baseline → both cues: the whole network</a:t>
            </a:r>
          </a:p>
        </p:txBody>
      </p:sp>
    </p:spTree>
    <p:extLst>
      <p:ext uri="{BB962C8B-B14F-4D97-AF65-F5344CB8AC3E}">
        <p14:creationId xmlns:p14="http://schemas.microsoft.com/office/powerpoint/2010/main" val="19755267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314398D8-E745-EB44-BF93-A6E9121F5E32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">
            <a:extLst>
              <a:ext uri="{FF2B5EF4-FFF2-40B4-BE49-F238E27FC236}">
                <a16:creationId xmlns:a16="http://schemas.microsoft.com/office/drawing/2014/main" id="{18235741-7EE2-2041-2EA3-10050F39E41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23" y="901954"/>
            <a:ext cx="5120754" cy="576529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4A451692-357C-0748-CE23-CBBA537B23DD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E66CC4A1-D1AA-F4AB-B28C-A1D8848F4490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3C8470BE-413E-0C1D-B96F-ED801865C63B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A72424A3-1A96-478B-21F8-AD224C096CBC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Rail">
            <a:extLst>
              <a:ext uri="{FF2B5EF4-FFF2-40B4-BE49-F238E27FC236}">
                <a16:creationId xmlns:a16="http://schemas.microsoft.com/office/drawing/2014/main" id="{E69E2B00-CA37-E2BB-4B49-82DA3797787A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N14">
            <a:extLst>
              <a:ext uri="{FF2B5EF4-FFF2-40B4-BE49-F238E27FC236}">
                <a16:creationId xmlns:a16="http://schemas.microsoft.com/office/drawing/2014/main" id="{4F00276B-06E7-512A-B7C1-3D3081EB6B0F}"/>
              </a:ext>
            </a:extLst>
          </p:cNvPr>
          <p:cNvSpPr/>
          <p:nvPr/>
        </p:nvSpPr>
        <p:spPr>
          <a:xfrm>
            <a:off x="77978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Every ring is the same 12 regions. Each line is one pair, 44 pairs in all. Grey dots: regions no pair reached with 4 rats.</a:t>
            </a:r>
          </a:p>
        </p:txBody>
      </p:sp>
      <p:sp>
        <p:nvSpPr>
          <p:cNvPr id="11" name="!!N15">
            <a:extLst>
              <a:ext uri="{FF2B5EF4-FFF2-40B4-BE49-F238E27FC236}">
                <a16:creationId xmlns:a16="http://schemas.microsoft.com/office/drawing/2014/main" id="{5A7AEBF8-76C5-B517-431E-694A0434BFD1}"/>
              </a:ext>
            </a:extLst>
          </p:cNvPr>
          <p:cNvSpPr/>
          <p:nvPr/>
        </p:nvSpPr>
        <p:spPr>
          <a:xfrm>
            <a:off x="12573000" y="1748028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A line’s width is how much that pair’s coherence went from baseline to the cues, averaged over the rats. Orange: up.</a:t>
            </a:r>
          </a:p>
        </p:txBody>
      </p:sp>
      <p:sp>
        <p:nvSpPr>
          <p:cNvPr id="12" name="!!T-BG">
            <a:extLst>
              <a:ext uri="{FF2B5EF4-FFF2-40B4-BE49-F238E27FC236}">
                <a16:creationId xmlns:a16="http://schemas.microsoft.com/office/drawing/2014/main" id="{223EAD6F-287B-F713-37DF-16A9FC78A4DF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805B0770-06A4-F13D-4D04-B7B87FE94628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1 · baseline → both cues · gamma</a:t>
            </a:r>
          </a:p>
        </p:txBody>
      </p:sp>
    </p:spTree>
    <p:extLst>
      <p:ext uri="{BB962C8B-B14F-4D97-AF65-F5344CB8AC3E}">
        <p14:creationId xmlns:p14="http://schemas.microsoft.com/office/powerpoint/2010/main" val="31408289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30D54A9F-2170-37EC-F61D-2ABBC2B53848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">
            <a:extLst>
              <a:ext uri="{FF2B5EF4-FFF2-40B4-BE49-F238E27FC236}">
                <a16:creationId xmlns:a16="http://schemas.microsoft.com/office/drawing/2014/main" id="{542AA151-7DAB-1D35-184C-86B3C9D35C6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9620" y="13211"/>
            <a:ext cx="22080989" cy="24860270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93B462FB-9A3D-9504-6225-FC2BDCBE9F9D}"/>
              </a:ext>
            </a:extLst>
          </p:cNvPr>
          <p:cNvSpPr/>
          <p:nvPr/>
        </p:nvSpPr>
        <p:spPr>
          <a:xfrm>
            <a:off x="0" y="685800"/>
            <a:ext cx="7670800" cy="569198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A3D019BD-82E8-36B3-DA00-336C87887C06}"/>
              </a:ext>
            </a:extLst>
          </p:cNvPr>
          <p:cNvSpPr/>
          <p:nvPr/>
        </p:nvSpPr>
        <p:spPr>
          <a:xfrm>
            <a:off x="0" y="6314202"/>
            <a:ext cx="7670800" cy="543798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570DCC52-4366-D533-AD05-0AE41A6CE8D1}"/>
              </a:ext>
            </a:extLst>
          </p:cNvPr>
          <p:cNvSpPr/>
          <p:nvPr/>
        </p:nvSpPr>
        <p:spPr>
          <a:xfrm>
            <a:off x="0" y="1254998"/>
            <a:ext cx="262509" cy="505920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DCCF0C35-0E04-1351-4613-82C445370AA7}"/>
              </a:ext>
            </a:extLst>
          </p:cNvPr>
          <p:cNvSpPr/>
          <p:nvPr/>
        </p:nvSpPr>
        <p:spPr>
          <a:xfrm>
            <a:off x="7433691" y="1254998"/>
            <a:ext cx="237109" cy="505920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Rail">
            <a:extLst>
              <a:ext uri="{FF2B5EF4-FFF2-40B4-BE49-F238E27FC236}">
                <a16:creationId xmlns:a16="http://schemas.microsoft.com/office/drawing/2014/main" id="{1D1D005F-F0B7-1BC1-AE8B-A262B09B1009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N14">
            <a:extLst>
              <a:ext uri="{FF2B5EF4-FFF2-40B4-BE49-F238E27FC236}">
                <a16:creationId xmlns:a16="http://schemas.microsoft.com/office/drawing/2014/main" id="{D470D7D1-1E44-BB05-F078-250E18E63D95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Every ring is the same 12 regions. Each line is one pair, 44 pairs in all. Grey dots: regions no pair reached with 4 rats.</a:t>
            </a:r>
          </a:p>
        </p:txBody>
      </p:sp>
      <p:sp>
        <p:nvSpPr>
          <p:cNvPr id="11" name="!!N15">
            <a:extLst>
              <a:ext uri="{FF2B5EF4-FFF2-40B4-BE49-F238E27FC236}">
                <a16:creationId xmlns:a16="http://schemas.microsoft.com/office/drawing/2014/main" id="{18351B3C-5225-D9C7-3350-FC8B642AD890}"/>
              </a:ext>
            </a:extLst>
          </p:cNvPr>
          <p:cNvSpPr/>
          <p:nvPr/>
        </p:nvSpPr>
        <p:spPr>
          <a:xfrm>
            <a:off x="7797800" y="1748028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A line’s width is how much that pair’s coherence went from baseline to the cues, averaged over the rats. Orange: up.</a:t>
            </a:r>
          </a:p>
        </p:txBody>
      </p:sp>
      <p:sp>
        <p:nvSpPr>
          <p:cNvPr id="12" name="!!N16">
            <a:extLst>
              <a:ext uri="{FF2B5EF4-FFF2-40B4-BE49-F238E27FC236}">
                <a16:creationId xmlns:a16="http://schemas.microsoft.com/office/drawing/2014/main" id="{404260D2-AF33-85F1-B9C5-CEA215F90754}"/>
              </a:ext>
            </a:extLst>
          </p:cNvPr>
          <p:cNvSpPr/>
          <p:nvPr/>
        </p:nvSpPr>
        <p:spPr>
          <a:xfrm>
            <a:off x="12573000" y="2657856"/>
            <a:ext cx="4241800" cy="51206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Purple: down.</a:t>
            </a:r>
          </a:p>
        </p:txBody>
      </p:sp>
      <p:sp>
        <p:nvSpPr>
          <p:cNvPr id="13" name="!!T-BG">
            <a:extLst>
              <a:ext uri="{FF2B5EF4-FFF2-40B4-BE49-F238E27FC236}">
                <a16:creationId xmlns:a16="http://schemas.microsoft.com/office/drawing/2014/main" id="{F2C6FF2C-45B6-1785-DC3A-23A2D2CB9119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T">
            <a:extLst>
              <a:ext uri="{FF2B5EF4-FFF2-40B4-BE49-F238E27FC236}">
                <a16:creationId xmlns:a16="http://schemas.microsoft.com/office/drawing/2014/main" id="{CC5557A6-1EDF-4F9C-1D69-363FB0C92D29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1 · baseline → both cues · gamma</a:t>
            </a:r>
          </a:p>
        </p:txBody>
      </p:sp>
    </p:spTree>
    <p:extLst>
      <p:ext uri="{BB962C8B-B14F-4D97-AF65-F5344CB8AC3E}">
        <p14:creationId xmlns:p14="http://schemas.microsoft.com/office/powerpoint/2010/main" val="10607619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372A525E-7D83-1517-B5D5-5CC7F3948354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">
            <a:extLst>
              <a:ext uri="{FF2B5EF4-FFF2-40B4-BE49-F238E27FC236}">
                <a16:creationId xmlns:a16="http://schemas.microsoft.com/office/drawing/2014/main" id="{94BCBE4E-50FC-3630-0EEC-8538C39044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97949" y="13211"/>
            <a:ext cx="22080989" cy="24860270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3AEE7373-E707-99E0-3A84-5393A02B9CFE}"/>
              </a:ext>
            </a:extLst>
          </p:cNvPr>
          <p:cNvSpPr/>
          <p:nvPr/>
        </p:nvSpPr>
        <p:spPr>
          <a:xfrm>
            <a:off x="0" y="685800"/>
            <a:ext cx="7670800" cy="569198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6AD71938-359E-F328-A5CF-F06F5976B8D3}"/>
              </a:ext>
            </a:extLst>
          </p:cNvPr>
          <p:cNvSpPr/>
          <p:nvPr/>
        </p:nvSpPr>
        <p:spPr>
          <a:xfrm>
            <a:off x="0" y="6314202"/>
            <a:ext cx="7670800" cy="543798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27149168-A58B-5636-F14E-F3E05149F799}"/>
              </a:ext>
            </a:extLst>
          </p:cNvPr>
          <p:cNvSpPr/>
          <p:nvPr/>
        </p:nvSpPr>
        <p:spPr>
          <a:xfrm>
            <a:off x="0" y="1254998"/>
            <a:ext cx="262509" cy="505920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50541D0D-7A05-BDBE-B1E2-4F449B5C965E}"/>
              </a:ext>
            </a:extLst>
          </p:cNvPr>
          <p:cNvSpPr/>
          <p:nvPr/>
        </p:nvSpPr>
        <p:spPr>
          <a:xfrm>
            <a:off x="7433691" y="1254998"/>
            <a:ext cx="237109" cy="505920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Rail">
            <a:extLst>
              <a:ext uri="{FF2B5EF4-FFF2-40B4-BE49-F238E27FC236}">
                <a16:creationId xmlns:a16="http://schemas.microsoft.com/office/drawing/2014/main" id="{25249F02-3CFF-5AD3-91CA-DF38874FD008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N14">
            <a:extLst>
              <a:ext uri="{FF2B5EF4-FFF2-40B4-BE49-F238E27FC236}">
                <a16:creationId xmlns:a16="http://schemas.microsoft.com/office/drawing/2014/main" id="{240CAADD-49DD-122B-A17E-0F8613860387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Every ring is the same 12 regions. Each line is one pair, 44 pairs in all. Grey dots: regions no pair reached with 4 rats.</a:t>
            </a:r>
          </a:p>
        </p:txBody>
      </p:sp>
      <p:sp>
        <p:nvSpPr>
          <p:cNvPr id="11" name="!!N15">
            <a:extLst>
              <a:ext uri="{FF2B5EF4-FFF2-40B4-BE49-F238E27FC236}">
                <a16:creationId xmlns:a16="http://schemas.microsoft.com/office/drawing/2014/main" id="{9238C2A0-C7B4-C19A-142C-01DB719AB9F6}"/>
              </a:ext>
            </a:extLst>
          </p:cNvPr>
          <p:cNvSpPr/>
          <p:nvPr/>
        </p:nvSpPr>
        <p:spPr>
          <a:xfrm>
            <a:off x="77978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A line’s width is how much that pair’s coherence went from baseline to the cues, averaged over the rats. Orange: up.</a:t>
            </a:r>
          </a:p>
        </p:txBody>
      </p:sp>
      <p:sp>
        <p:nvSpPr>
          <p:cNvPr id="12" name="!!N16">
            <a:extLst>
              <a:ext uri="{FF2B5EF4-FFF2-40B4-BE49-F238E27FC236}">
                <a16:creationId xmlns:a16="http://schemas.microsoft.com/office/drawing/2014/main" id="{0E86AD2D-7C41-FDBC-878F-47F959211D67}"/>
              </a:ext>
            </a:extLst>
          </p:cNvPr>
          <p:cNvSpPr/>
          <p:nvPr/>
        </p:nvSpPr>
        <p:spPr>
          <a:xfrm>
            <a:off x="7797800" y="2657856"/>
            <a:ext cx="4241800" cy="51206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Purple: down.</a:t>
            </a:r>
          </a:p>
        </p:txBody>
      </p:sp>
      <p:sp>
        <p:nvSpPr>
          <p:cNvPr id="13" name="!!N17">
            <a:extLst>
              <a:ext uri="{FF2B5EF4-FFF2-40B4-BE49-F238E27FC236}">
                <a16:creationId xmlns:a16="http://schemas.microsoft.com/office/drawing/2014/main" id="{46D16304-F43A-7D3F-0DDB-B14C72755582}"/>
              </a:ext>
            </a:extLst>
          </p:cNvPr>
          <p:cNvSpPr/>
          <p:nvPr/>
        </p:nvSpPr>
        <p:spPr>
          <a:xfrm>
            <a:off x="12573000" y="318973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Top row: Precon1. The cues lowered gamma coherence in 31 of the 44 pairs.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7B7795DD-8AA3-7D27-FA43-4086B2848618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C753C5E6-0B2B-07C7-DB2E-220F36FACF18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1 · baseline → both cues · gamma</a:t>
            </a:r>
          </a:p>
        </p:txBody>
      </p:sp>
    </p:spTree>
    <p:extLst>
      <p:ext uri="{BB962C8B-B14F-4D97-AF65-F5344CB8AC3E}">
        <p14:creationId xmlns:p14="http://schemas.microsoft.com/office/powerpoint/2010/main" val="20426139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45D96C52-B1CB-7363-E2D2-71E56E8E1ED7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">
            <a:extLst>
              <a:ext uri="{FF2B5EF4-FFF2-40B4-BE49-F238E27FC236}">
                <a16:creationId xmlns:a16="http://schemas.microsoft.com/office/drawing/2014/main" id="{2E63FE2B-7B2A-0D18-C5A3-080F3C12500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23" y="901954"/>
            <a:ext cx="5120754" cy="576529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CE5C83B5-0749-9B86-159E-D6928F0D4A06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705366CA-5BE6-B070-24CD-BC703FB3174C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42BA1FD6-AED0-15DF-0144-7CF3C59DB36D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9B278CD6-6AD2-189E-D95A-BC0EBE30B549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27A563F3-70F0-7BA9-3954-CEB880328E4E}"/>
              </a:ext>
            </a:extLst>
          </p:cNvPr>
          <p:cNvSpPr/>
          <p:nvPr/>
        </p:nvSpPr>
        <p:spPr>
          <a:xfrm>
            <a:off x="1315710" y="1041892"/>
            <a:ext cx="5093756" cy="1819199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6F2BD944-EFB4-EBAB-A3B8-11AB148DBC82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14">
            <a:extLst>
              <a:ext uri="{FF2B5EF4-FFF2-40B4-BE49-F238E27FC236}">
                <a16:creationId xmlns:a16="http://schemas.microsoft.com/office/drawing/2014/main" id="{B62D5664-EF21-B546-38E4-C599AD505CC9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Every ring is the same 12 regions. Each line is one pair, 44 pairs in all. Grey dots: regions no pair reached with 4 rats.</a:t>
            </a:r>
          </a:p>
        </p:txBody>
      </p:sp>
      <p:sp>
        <p:nvSpPr>
          <p:cNvPr id="12" name="!!N15">
            <a:extLst>
              <a:ext uri="{FF2B5EF4-FFF2-40B4-BE49-F238E27FC236}">
                <a16:creationId xmlns:a16="http://schemas.microsoft.com/office/drawing/2014/main" id="{8A9FDD86-3F8A-5AFC-F1C0-9E1DC9301DD5}"/>
              </a:ext>
            </a:extLst>
          </p:cNvPr>
          <p:cNvSpPr/>
          <p:nvPr/>
        </p:nvSpPr>
        <p:spPr>
          <a:xfrm>
            <a:off x="77978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A line’s width is how much that pair’s coherence went from baseline to the cues, averaged over the rats. Orange: up.</a:t>
            </a:r>
          </a:p>
        </p:txBody>
      </p:sp>
      <p:sp>
        <p:nvSpPr>
          <p:cNvPr id="13" name="!!N16">
            <a:extLst>
              <a:ext uri="{FF2B5EF4-FFF2-40B4-BE49-F238E27FC236}">
                <a16:creationId xmlns:a16="http://schemas.microsoft.com/office/drawing/2014/main" id="{2B2E9003-7272-12E9-3145-5A5FA4BD4495}"/>
              </a:ext>
            </a:extLst>
          </p:cNvPr>
          <p:cNvSpPr/>
          <p:nvPr/>
        </p:nvSpPr>
        <p:spPr>
          <a:xfrm>
            <a:off x="7797800" y="2657856"/>
            <a:ext cx="4241800" cy="41757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Purple: down.</a:t>
            </a:r>
          </a:p>
        </p:txBody>
      </p:sp>
      <p:sp>
        <p:nvSpPr>
          <p:cNvPr id="14" name="!!N17">
            <a:extLst>
              <a:ext uri="{FF2B5EF4-FFF2-40B4-BE49-F238E27FC236}">
                <a16:creationId xmlns:a16="http://schemas.microsoft.com/office/drawing/2014/main" id="{26E9B017-E49D-A627-99BD-85AE8BE01E75}"/>
              </a:ext>
            </a:extLst>
          </p:cNvPr>
          <p:cNvSpPr/>
          <p:nvPr/>
        </p:nvSpPr>
        <p:spPr>
          <a:xfrm>
            <a:off x="7797800" y="318973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Top row: Precon1. The cues lowered gamma coherence in 31 of the 44 pairs.</a:t>
            </a:r>
          </a:p>
        </p:txBody>
      </p:sp>
      <p:sp>
        <p:nvSpPr>
          <p:cNvPr id="15" name="!!N18">
            <a:extLst>
              <a:ext uri="{FF2B5EF4-FFF2-40B4-BE49-F238E27FC236}">
                <a16:creationId xmlns:a16="http://schemas.microsoft.com/office/drawing/2014/main" id="{629B69FE-F849-A17D-8CE3-31D30208807C}"/>
              </a:ext>
            </a:extLst>
          </p:cNvPr>
          <p:cNvSpPr/>
          <p:nvPr/>
        </p:nvSpPr>
        <p:spPr>
          <a:xfrm>
            <a:off x="12573000" y="3910584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Middle row: Precon4. About even: 23 pairs up, 21 down.</a:t>
            </a:r>
          </a:p>
        </p:txBody>
      </p:sp>
      <p:sp>
        <p:nvSpPr>
          <p:cNvPr id="16" name="!!T-BG">
            <a:extLst>
              <a:ext uri="{FF2B5EF4-FFF2-40B4-BE49-F238E27FC236}">
                <a16:creationId xmlns:a16="http://schemas.microsoft.com/office/drawing/2014/main" id="{43CF6115-420B-A3FA-BE58-4E75261FA8D3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T">
            <a:extLst>
              <a:ext uri="{FF2B5EF4-FFF2-40B4-BE49-F238E27FC236}">
                <a16:creationId xmlns:a16="http://schemas.microsoft.com/office/drawing/2014/main" id="{58A355D8-6F89-95B4-31E3-25B21C6D485B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1 · baseline → both cues · gamma</a:t>
            </a:r>
          </a:p>
        </p:txBody>
      </p:sp>
    </p:spTree>
    <p:extLst>
      <p:ext uri="{BB962C8B-B14F-4D97-AF65-F5344CB8AC3E}">
        <p14:creationId xmlns:p14="http://schemas.microsoft.com/office/powerpoint/2010/main" val="2244598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909133A0-7E34-B327-95B6-1C1FAA82FBDA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">
            <a:extLst>
              <a:ext uri="{FF2B5EF4-FFF2-40B4-BE49-F238E27FC236}">
                <a16:creationId xmlns:a16="http://schemas.microsoft.com/office/drawing/2014/main" id="{D65D4DF5-8154-38BD-8F44-05D68A4CDE3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23" y="901954"/>
            <a:ext cx="5120754" cy="576529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1559E985-235A-3D46-2FA7-38634B464FBE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D402B271-AC3F-6636-6E4A-254B791DC8C5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3886F468-6365-6218-10A5-FCABE28ACC56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901B974E-F66F-1C0E-6247-5A2753062890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E9EE35FD-CADC-D580-3765-9B1AB13C51BA}"/>
              </a:ext>
            </a:extLst>
          </p:cNvPr>
          <p:cNvSpPr/>
          <p:nvPr/>
        </p:nvSpPr>
        <p:spPr>
          <a:xfrm>
            <a:off x="1315710" y="2777128"/>
            <a:ext cx="5093756" cy="1819198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80D161F3-7E7C-60BB-FBB0-FBBE46860EB0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14">
            <a:extLst>
              <a:ext uri="{FF2B5EF4-FFF2-40B4-BE49-F238E27FC236}">
                <a16:creationId xmlns:a16="http://schemas.microsoft.com/office/drawing/2014/main" id="{187E3312-EAAB-C544-371A-DC9DADB706C5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Every ring is the same 12 regions. Each line is one pair, 44 pairs in all. Grey dots: regions no pair reached with 4 rats.</a:t>
            </a:r>
          </a:p>
        </p:txBody>
      </p:sp>
      <p:sp>
        <p:nvSpPr>
          <p:cNvPr id="12" name="!!N15">
            <a:extLst>
              <a:ext uri="{FF2B5EF4-FFF2-40B4-BE49-F238E27FC236}">
                <a16:creationId xmlns:a16="http://schemas.microsoft.com/office/drawing/2014/main" id="{2729DC7B-3EF5-A9C8-B781-C754605D0B0A}"/>
              </a:ext>
            </a:extLst>
          </p:cNvPr>
          <p:cNvSpPr/>
          <p:nvPr/>
        </p:nvSpPr>
        <p:spPr>
          <a:xfrm>
            <a:off x="77978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A line’s width is how much that pair’s coherence went from baseline to the cues, averaged over the rats. Orange: up.</a:t>
            </a:r>
          </a:p>
        </p:txBody>
      </p:sp>
      <p:sp>
        <p:nvSpPr>
          <p:cNvPr id="13" name="!!N16">
            <a:extLst>
              <a:ext uri="{FF2B5EF4-FFF2-40B4-BE49-F238E27FC236}">
                <a16:creationId xmlns:a16="http://schemas.microsoft.com/office/drawing/2014/main" id="{16BF854B-7E67-7BD9-00C0-796E8F0B090B}"/>
              </a:ext>
            </a:extLst>
          </p:cNvPr>
          <p:cNvSpPr/>
          <p:nvPr/>
        </p:nvSpPr>
        <p:spPr>
          <a:xfrm>
            <a:off x="7797800" y="2657856"/>
            <a:ext cx="4241800" cy="41757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Purple: down.</a:t>
            </a:r>
          </a:p>
        </p:txBody>
      </p:sp>
      <p:sp>
        <p:nvSpPr>
          <p:cNvPr id="14" name="!!N17">
            <a:extLst>
              <a:ext uri="{FF2B5EF4-FFF2-40B4-BE49-F238E27FC236}">
                <a16:creationId xmlns:a16="http://schemas.microsoft.com/office/drawing/2014/main" id="{0A9BB1D1-D3C7-FDC1-FC99-446114D227B5}"/>
              </a:ext>
            </a:extLst>
          </p:cNvPr>
          <p:cNvSpPr/>
          <p:nvPr/>
        </p:nvSpPr>
        <p:spPr>
          <a:xfrm>
            <a:off x="7797800" y="3189732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Top row: Precon1. The cues lowered gamma coherence in 31 of the 44 pairs.</a:t>
            </a:r>
          </a:p>
        </p:txBody>
      </p:sp>
      <p:sp>
        <p:nvSpPr>
          <p:cNvPr id="15" name="!!N18">
            <a:extLst>
              <a:ext uri="{FF2B5EF4-FFF2-40B4-BE49-F238E27FC236}">
                <a16:creationId xmlns:a16="http://schemas.microsoft.com/office/drawing/2014/main" id="{2790AB41-2BCF-432A-72E3-2547C9A06995}"/>
              </a:ext>
            </a:extLst>
          </p:cNvPr>
          <p:cNvSpPr/>
          <p:nvPr/>
        </p:nvSpPr>
        <p:spPr>
          <a:xfrm>
            <a:off x="7797800" y="3910584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Middle row: Precon4. About even: 23 pairs up, 21 down.</a:t>
            </a:r>
          </a:p>
        </p:txBody>
      </p:sp>
      <p:sp>
        <p:nvSpPr>
          <p:cNvPr id="16" name="!!N19">
            <a:extLst>
              <a:ext uri="{FF2B5EF4-FFF2-40B4-BE49-F238E27FC236}">
                <a16:creationId xmlns:a16="http://schemas.microsoft.com/office/drawing/2014/main" id="{F9B66639-4BAA-E07F-8B41-66D30FFB4666}"/>
              </a:ext>
            </a:extLst>
          </p:cNvPr>
          <p:cNvSpPr/>
          <p:nvPr/>
        </p:nvSpPr>
        <p:spPr>
          <a:xfrm>
            <a:off x="12573000" y="444246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Bottom row: the change, Precon4 − Precon1. This is what tab 8’s light tested.</a:t>
            </a:r>
          </a:p>
        </p:txBody>
      </p:sp>
      <p:sp>
        <p:nvSpPr>
          <p:cNvPr id="17" name="!!T-BG">
            <a:extLst>
              <a:ext uri="{FF2B5EF4-FFF2-40B4-BE49-F238E27FC236}">
                <a16:creationId xmlns:a16="http://schemas.microsoft.com/office/drawing/2014/main" id="{B3C1E4AA-C1B4-F67D-F718-761537618EA1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!!T">
            <a:extLst>
              <a:ext uri="{FF2B5EF4-FFF2-40B4-BE49-F238E27FC236}">
                <a16:creationId xmlns:a16="http://schemas.microsoft.com/office/drawing/2014/main" id="{23C1D797-1601-516F-4FDD-F123F4E6A4E5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1 · baseline → both cues · gamma</a:t>
            </a:r>
          </a:p>
        </p:txBody>
      </p:sp>
    </p:spTree>
    <p:extLst>
      <p:ext uri="{BB962C8B-B14F-4D97-AF65-F5344CB8AC3E}">
        <p14:creationId xmlns:p14="http://schemas.microsoft.com/office/powerpoint/2010/main" val="2153924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08AEDA7B-57D8-1EAD-F371-E750DA283B93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">
            <a:extLst>
              <a:ext uri="{FF2B5EF4-FFF2-40B4-BE49-F238E27FC236}">
                <a16:creationId xmlns:a16="http://schemas.microsoft.com/office/drawing/2014/main" id="{6735FF56-85EF-A816-03E2-03B6DE4D790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23" y="901954"/>
            <a:ext cx="5120754" cy="576529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96CF5B8D-6ED2-260F-D650-D795F29AD34A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2C995B75-9D0A-EB2C-DBB9-36178ABEA052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B0083334-427A-3CC5-CCF9-66D0D3A47CD6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1948B328-EF70-6528-2384-965B8B6DC084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1DCE10B1-4EA7-009D-0D7F-B0F881C546E2}"/>
              </a:ext>
            </a:extLst>
          </p:cNvPr>
          <p:cNvSpPr/>
          <p:nvPr/>
        </p:nvSpPr>
        <p:spPr>
          <a:xfrm>
            <a:off x="1315710" y="4512363"/>
            <a:ext cx="5093756" cy="1819199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94CB6087-0807-FC39-195E-AD7821D5851A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14">
            <a:extLst>
              <a:ext uri="{FF2B5EF4-FFF2-40B4-BE49-F238E27FC236}">
                <a16:creationId xmlns:a16="http://schemas.microsoft.com/office/drawing/2014/main" id="{2AED0681-907C-813B-D2B9-B5F207BDD858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Every ring is the same 12 regions. Each line is one pair, 44 pairs in all. Grey dots: regions no pair reached with 4 rats.</a:t>
            </a:r>
          </a:p>
        </p:txBody>
      </p:sp>
      <p:sp>
        <p:nvSpPr>
          <p:cNvPr id="12" name="!!N15">
            <a:extLst>
              <a:ext uri="{FF2B5EF4-FFF2-40B4-BE49-F238E27FC236}">
                <a16:creationId xmlns:a16="http://schemas.microsoft.com/office/drawing/2014/main" id="{228BA9AD-B562-915C-0C35-91591592939B}"/>
              </a:ext>
            </a:extLst>
          </p:cNvPr>
          <p:cNvSpPr/>
          <p:nvPr/>
        </p:nvSpPr>
        <p:spPr>
          <a:xfrm>
            <a:off x="77978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A line’s width is how much that pair’s coherence went from baseline to the cues, averaged over the rats. Orange: up.</a:t>
            </a:r>
          </a:p>
        </p:txBody>
      </p:sp>
      <p:sp>
        <p:nvSpPr>
          <p:cNvPr id="13" name="!!N16">
            <a:extLst>
              <a:ext uri="{FF2B5EF4-FFF2-40B4-BE49-F238E27FC236}">
                <a16:creationId xmlns:a16="http://schemas.microsoft.com/office/drawing/2014/main" id="{175E29CA-43A9-61B0-7428-2999023D3D79}"/>
              </a:ext>
            </a:extLst>
          </p:cNvPr>
          <p:cNvSpPr/>
          <p:nvPr/>
        </p:nvSpPr>
        <p:spPr>
          <a:xfrm>
            <a:off x="7797800" y="2657856"/>
            <a:ext cx="4241800" cy="41757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Purple: down.</a:t>
            </a:r>
          </a:p>
        </p:txBody>
      </p:sp>
      <p:sp>
        <p:nvSpPr>
          <p:cNvPr id="14" name="!!N17">
            <a:extLst>
              <a:ext uri="{FF2B5EF4-FFF2-40B4-BE49-F238E27FC236}">
                <a16:creationId xmlns:a16="http://schemas.microsoft.com/office/drawing/2014/main" id="{E92E322C-DD82-FC47-0538-57597CE92DB4}"/>
              </a:ext>
            </a:extLst>
          </p:cNvPr>
          <p:cNvSpPr/>
          <p:nvPr/>
        </p:nvSpPr>
        <p:spPr>
          <a:xfrm>
            <a:off x="7797800" y="3189732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Top row: Precon1. The cues lowered gamma coherence in 31 of the 44 pairs.</a:t>
            </a:r>
          </a:p>
        </p:txBody>
      </p:sp>
      <p:sp>
        <p:nvSpPr>
          <p:cNvPr id="15" name="!!N18">
            <a:extLst>
              <a:ext uri="{FF2B5EF4-FFF2-40B4-BE49-F238E27FC236}">
                <a16:creationId xmlns:a16="http://schemas.microsoft.com/office/drawing/2014/main" id="{EC89E40C-00F4-494D-CF77-A36A704EC9FB}"/>
              </a:ext>
            </a:extLst>
          </p:cNvPr>
          <p:cNvSpPr/>
          <p:nvPr/>
        </p:nvSpPr>
        <p:spPr>
          <a:xfrm>
            <a:off x="7797800" y="3910584"/>
            <a:ext cx="4241800" cy="41757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Middle row: Precon4. About even: 23 pairs up, 21 down.</a:t>
            </a:r>
          </a:p>
        </p:txBody>
      </p:sp>
      <p:sp>
        <p:nvSpPr>
          <p:cNvPr id="16" name="!!N19">
            <a:extLst>
              <a:ext uri="{FF2B5EF4-FFF2-40B4-BE49-F238E27FC236}">
                <a16:creationId xmlns:a16="http://schemas.microsoft.com/office/drawing/2014/main" id="{BA3751EB-9293-2658-4FFB-1BCFDF49A334}"/>
              </a:ext>
            </a:extLst>
          </p:cNvPr>
          <p:cNvSpPr/>
          <p:nvPr/>
        </p:nvSpPr>
        <p:spPr>
          <a:xfrm>
            <a:off x="7797800" y="444246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Bottom row: the change, Precon4 − Precon1. This is what tab 8’s light tested.</a:t>
            </a:r>
          </a:p>
        </p:txBody>
      </p:sp>
      <p:sp>
        <p:nvSpPr>
          <p:cNvPr id="17" name="!!N20">
            <a:extLst>
              <a:ext uri="{FF2B5EF4-FFF2-40B4-BE49-F238E27FC236}">
                <a16:creationId xmlns:a16="http://schemas.microsoft.com/office/drawing/2014/main" id="{AAF56B27-8118-9599-7145-F74BB27830A4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Left column: only the lines that went up. Middle: only those that went down. Right: both.</a:t>
            </a:r>
          </a:p>
        </p:txBody>
      </p:sp>
      <p:sp>
        <p:nvSpPr>
          <p:cNvPr id="18" name="!!T-BG">
            <a:extLst>
              <a:ext uri="{FF2B5EF4-FFF2-40B4-BE49-F238E27FC236}">
                <a16:creationId xmlns:a16="http://schemas.microsoft.com/office/drawing/2014/main" id="{1E8B8E64-8F3F-D9C1-9E4E-98EBDFE7CAB9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!!T">
            <a:extLst>
              <a:ext uri="{FF2B5EF4-FFF2-40B4-BE49-F238E27FC236}">
                <a16:creationId xmlns:a16="http://schemas.microsoft.com/office/drawing/2014/main" id="{7DDDC6AA-D394-2477-5620-1DF6B257AA6F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1 · baseline → both cues · gamma</a:t>
            </a:r>
          </a:p>
        </p:txBody>
      </p:sp>
    </p:spTree>
    <p:extLst>
      <p:ext uri="{BB962C8B-B14F-4D97-AF65-F5344CB8AC3E}">
        <p14:creationId xmlns:p14="http://schemas.microsoft.com/office/powerpoint/2010/main" val="18025495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9F826CAE-C14A-F0B6-B140-CBCD5B6A6369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">
            <a:extLst>
              <a:ext uri="{FF2B5EF4-FFF2-40B4-BE49-F238E27FC236}">
                <a16:creationId xmlns:a16="http://schemas.microsoft.com/office/drawing/2014/main" id="{15E1045C-EA69-75E3-D7B7-A5F720F299D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23" y="901954"/>
            <a:ext cx="5120754" cy="576529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E691C1B7-7BAF-DF50-CD9B-03236CD87E92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51577CE8-75A3-A893-631C-BEF8E3338012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DEB31EC8-6566-7485-FAF1-834E317FD0A0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761EBF76-01EE-AFC2-8D64-7F4552109146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2933DD93-F2EB-D74A-8709-3301835D4860}"/>
              </a:ext>
            </a:extLst>
          </p:cNvPr>
          <p:cNvSpPr/>
          <p:nvPr/>
        </p:nvSpPr>
        <p:spPr>
          <a:xfrm>
            <a:off x="1567599" y="915948"/>
            <a:ext cx="1707248" cy="5471589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A4F339F9-D64D-681F-7F38-4A3349E5E2A5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20">
            <a:extLst>
              <a:ext uri="{FF2B5EF4-FFF2-40B4-BE49-F238E27FC236}">
                <a16:creationId xmlns:a16="http://schemas.microsoft.com/office/drawing/2014/main" id="{33A034B1-6245-F70F-CDBC-A80C26A83523}"/>
              </a:ext>
            </a:extLst>
          </p:cNvPr>
          <p:cNvSpPr/>
          <p:nvPr/>
        </p:nvSpPr>
        <p:spPr>
          <a:xfrm>
            <a:off x="77978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Left column: only the lines that went up. Middle: only those that went down. Right: both.</a:t>
            </a:r>
          </a:p>
        </p:txBody>
      </p:sp>
      <p:sp>
        <p:nvSpPr>
          <p:cNvPr id="12" name="!!N21">
            <a:extLst>
              <a:ext uri="{FF2B5EF4-FFF2-40B4-BE49-F238E27FC236}">
                <a16:creationId xmlns:a16="http://schemas.microsoft.com/office/drawing/2014/main" id="{594850E3-1984-A5AA-4957-649FB1696CB6}"/>
              </a:ext>
            </a:extLst>
          </p:cNvPr>
          <p:cNvSpPr/>
          <p:nvPr/>
        </p:nvSpPr>
        <p:spPr>
          <a:xfrm>
            <a:off x="125730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Each ring becomes one number: its lines added up. Here the change’s increases add up to 0.43: the black line under the ring.</a:t>
            </a:r>
          </a:p>
        </p:txBody>
      </p:sp>
      <p:sp>
        <p:nvSpPr>
          <p:cNvPr id="13" name="!!N14">
            <a:extLst>
              <a:ext uri="{FF2B5EF4-FFF2-40B4-BE49-F238E27FC236}">
                <a16:creationId xmlns:a16="http://schemas.microsoft.com/office/drawing/2014/main" id="{F2497F12-1451-2F26-3F54-F3597C501371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Every ring is the same 12 regions. Each line is one pair, 44 pairs in all. Grey dots: regions no pair reached with 4 rats.</a:t>
            </a:r>
          </a:p>
        </p:txBody>
      </p:sp>
      <p:sp>
        <p:nvSpPr>
          <p:cNvPr id="14" name="!!N15">
            <a:extLst>
              <a:ext uri="{FF2B5EF4-FFF2-40B4-BE49-F238E27FC236}">
                <a16:creationId xmlns:a16="http://schemas.microsoft.com/office/drawing/2014/main" id="{454B6ABE-9E28-1954-12E8-B83E4C0DC7B7}"/>
              </a:ext>
            </a:extLst>
          </p:cNvPr>
          <p:cNvSpPr/>
          <p:nvPr/>
        </p:nvSpPr>
        <p:spPr>
          <a:xfrm>
            <a:off x="125730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A line’s width is how much that pair’s coherence went from baseline to the cues, averaged over the rats. Orange: up.</a:t>
            </a:r>
          </a:p>
        </p:txBody>
      </p:sp>
      <p:sp>
        <p:nvSpPr>
          <p:cNvPr id="15" name="!!N16">
            <a:extLst>
              <a:ext uri="{FF2B5EF4-FFF2-40B4-BE49-F238E27FC236}">
                <a16:creationId xmlns:a16="http://schemas.microsoft.com/office/drawing/2014/main" id="{7A776658-FF60-B0D7-34C6-EF030A54EC6E}"/>
              </a:ext>
            </a:extLst>
          </p:cNvPr>
          <p:cNvSpPr/>
          <p:nvPr/>
        </p:nvSpPr>
        <p:spPr>
          <a:xfrm>
            <a:off x="12573000" y="2657856"/>
            <a:ext cx="4241800" cy="41757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Purple: down.</a:t>
            </a:r>
          </a:p>
        </p:txBody>
      </p:sp>
      <p:sp>
        <p:nvSpPr>
          <p:cNvPr id="16" name="!!N17">
            <a:extLst>
              <a:ext uri="{FF2B5EF4-FFF2-40B4-BE49-F238E27FC236}">
                <a16:creationId xmlns:a16="http://schemas.microsoft.com/office/drawing/2014/main" id="{FA48C343-6471-32BD-D3BE-642E29BB2579}"/>
              </a:ext>
            </a:extLst>
          </p:cNvPr>
          <p:cNvSpPr/>
          <p:nvPr/>
        </p:nvSpPr>
        <p:spPr>
          <a:xfrm>
            <a:off x="12573000" y="3189732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Top row: Precon1. The cues lowered gamma coherence in 31 of the 44 pairs.</a:t>
            </a:r>
          </a:p>
        </p:txBody>
      </p:sp>
      <p:sp>
        <p:nvSpPr>
          <p:cNvPr id="17" name="!!N18">
            <a:extLst>
              <a:ext uri="{FF2B5EF4-FFF2-40B4-BE49-F238E27FC236}">
                <a16:creationId xmlns:a16="http://schemas.microsoft.com/office/drawing/2014/main" id="{BF1FBE2D-4323-14D2-E560-088F3D1B80D4}"/>
              </a:ext>
            </a:extLst>
          </p:cNvPr>
          <p:cNvSpPr/>
          <p:nvPr/>
        </p:nvSpPr>
        <p:spPr>
          <a:xfrm>
            <a:off x="12573000" y="3910584"/>
            <a:ext cx="4241800" cy="41757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Middle row: Precon4. About even: 23 pairs up, 21 down.</a:t>
            </a:r>
          </a:p>
        </p:txBody>
      </p:sp>
      <p:sp>
        <p:nvSpPr>
          <p:cNvPr id="18" name="!!N19">
            <a:extLst>
              <a:ext uri="{FF2B5EF4-FFF2-40B4-BE49-F238E27FC236}">
                <a16:creationId xmlns:a16="http://schemas.microsoft.com/office/drawing/2014/main" id="{822407A6-8D87-F14F-511B-6F00C03F2659}"/>
              </a:ext>
            </a:extLst>
          </p:cNvPr>
          <p:cNvSpPr/>
          <p:nvPr/>
        </p:nvSpPr>
        <p:spPr>
          <a:xfrm>
            <a:off x="12573000" y="444246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Bottom row: the change, Precon4 − Precon1. This is what tab 8’s light tested.</a:t>
            </a:r>
          </a:p>
        </p:txBody>
      </p:sp>
      <p:sp>
        <p:nvSpPr>
          <p:cNvPr id="19" name="!!T-BG">
            <a:extLst>
              <a:ext uri="{FF2B5EF4-FFF2-40B4-BE49-F238E27FC236}">
                <a16:creationId xmlns:a16="http://schemas.microsoft.com/office/drawing/2014/main" id="{68C611BE-6D43-D690-06D2-961888C2782E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!!T">
            <a:extLst>
              <a:ext uri="{FF2B5EF4-FFF2-40B4-BE49-F238E27FC236}">
                <a16:creationId xmlns:a16="http://schemas.microsoft.com/office/drawing/2014/main" id="{D7DC857D-0747-67FA-BA22-3D73D6EA04D0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1 · baseline → both cues · gamma</a:t>
            </a:r>
          </a:p>
        </p:txBody>
      </p:sp>
    </p:spTree>
    <p:extLst>
      <p:ext uri="{BB962C8B-B14F-4D97-AF65-F5344CB8AC3E}">
        <p14:creationId xmlns:p14="http://schemas.microsoft.com/office/powerpoint/2010/main" val="30383016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10002CF6-FD75-81DB-DFB4-A430A6E14B7F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">
            <a:extLst>
              <a:ext uri="{FF2B5EF4-FFF2-40B4-BE49-F238E27FC236}">
                <a16:creationId xmlns:a16="http://schemas.microsoft.com/office/drawing/2014/main" id="{2220026E-6681-104C-4CB1-1619B3E29DF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256" y="-12353290"/>
            <a:ext cx="18031533" cy="2030112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CE1FE2B0-7CD3-08DE-22BA-D1B590EADB86}"/>
              </a:ext>
            </a:extLst>
          </p:cNvPr>
          <p:cNvSpPr/>
          <p:nvPr/>
        </p:nvSpPr>
        <p:spPr>
          <a:xfrm>
            <a:off x="0" y="685800"/>
            <a:ext cx="7670800" cy="1907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067A4CE0-B16B-0504-5149-FA1E332CEC20}"/>
              </a:ext>
            </a:extLst>
          </p:cNvPr>
          <p:cNvSpPr/>
          <p:nvPr/>
        </p:nvSpPr>
        <p:spPr>
          <a:xfrm>
            <a:off x="0" y="6692646"/>
            <a:ext cx="7670800" cy="1653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E6AB2075-03B6-8815-AFF2-1506AF638698}"/>
              </a:ext>
            </a:extLst>
          </p:cNvPr>
          <p:cNvSpPr/>
          <p:nvPr/>
        </p:nvSpPr>
        <p:spPr>
          <a:xfrm>
            <a:off x="0" y="876554"/>
            <a:ext cx="9154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6F3D8004-0F7F-806F-BA38-9C1736729B61}"/>
              </a:ext>
            </a:extLst>
          </p:cNvPr>
          <p:cNvSpPr/>
          <p:nvPr/>
        </p:nvSpPr>
        <p:spPr>
          <a:xfrm>
            <a:off x="6780784" y="876554"/>
            <a:ext cx="8900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E3366229-3DD9-FCB1-E1A3-002DDC6FA825}"/>
              </a:ext>
            </a:extLst>
          </p:cNvPr>
          <p:cNvSpPr/>
          <p:nvPr/>
        </p:nvSpPr>
        <p:spPr>
          <a:xfrm>
            <a:off x="940816" y="901954"/>
            <a:ext cx="5814568" cy="4089908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E23C543E-F3D4-859B-9A88-DFA52EBC2AD8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21">
            <a:extLst>
              <a:ext uri="{FF2B5EF4-FFF2-40B4-BE49-F238E27FC236}">
                <a16:creationId xmlns:a16="http://schemas.microsoft.com/office/drawing/2014/main" id="{28B4BE93-5778-E192-AAA0-6D2B6CC17743}"/>
              </a:ext>
            </a:extLst>
          </p:cNvPr>
          <p:cNvSpPr/>
          <p:nvPr/>
        </p:nvSpPr>
        <p:spPr>
          <a:xfrm>
            <a:off x="77978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Each ring becomes one number: its lines added up. Here the change’s increases add up to 0.43: the black line under the ring.</a:t>
            </a:r>
          </a:p>
        </p:txBody>
      </p:sp>
      <p:sp>
        <p:nvSpPr>
          <p:cNvPr id="12" name="!!N22">
            <a:extLst>
              <a:ext uri="{FF2B5EF4-FFF2-40B4-BE49-F238E27FC236}">
                <a16:creationId xmlns:a16="http://schemas.microsoft.com/office/drawing/2014/main" id="{FDE18591-4A02-5C61-28F6-AC25C699D3DC}"/>
              </a:ext>
            </a:extLst>
          </p:cNvPr>
          <p:cNvSpPr/>
          <p:nvPr/>
        </p:nvSpPr>
        <p:spPr>
          <a:xfrm>
            <a:off x="12573000" y="1748028"/>
            <a:ext cx="4241800" cy="221284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test: if the cues’ effect were the same on both days, each rat’s change could as well point the other way. Flip the rats’ signs every way (256 for 8 rats) and add up again each time: those sums are the grey hill.</a:t>
            </a:r>
          </a:p>
        </p:txBody>
      </p:sp>
      <p:sp>
        <p:nvSpPr>
          <p:cNvPr id="13" name="!!N20">
            <a:extLst>
              <a:ext uri="{FF2B5EF4-FFF2-40B4-BE49-F238E27FC236}">
                <a16:creationId xmlns:a16="http://schemas.microsoft.com/office/drawing/2014/main" id="{BBEFBB3C-6684-1DBC-143B-2A185F43920F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Left column: only the lines that went up. Middle: only those that went down. Right: both.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9D5D74EC-BD45-CF4C-3F42-169AEEB14D8B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4590A47E-56AB-47E8-7C98-7EFCD68BB496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1 · baseline → both cues · gamma</a:t>
            </a:r>
          </a:p>
        </p:txBody>
      </p:sp>
    </p:spTree>
    <p:extLst>
      <p:ext uri="{BB962C8B-B14F-4D97-AF65-F5344CB8AC3E}">
        <p14:creationId xmlns:p14="http://schemas.microsoft.com/office/powerpoint/2010/main" val="37555242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B20FF379-3BD0-40A7-8F9F-DE3365CC0D55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">
            <a:extLst>
              <a:ext uri="{FF2B5EF4-FFF2-40B4-BE49-F238E27FC236}">
                <a16:creationId xmlns:a16="http://schemas.microsoft.com/office/drawing/2014/main" id="{1295380A-23D5-0633-DEC0-8E99A8DF7C0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256" y="-12353290"/>
            <a:ext cx="18031533" cy="2030112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C5493056-EC9C-0C59-ED3F-D0E4EF5262E4}"/>
              </a:ext>
            </a:extLst>
          </p:cNvPr>
          <p:cNvSpPr/>
          <p:nvPr/>
        </p:nvSpPr>
        <p:spPr>
          <a:xfrm>
            <a:off x="0" y="685800"/>
            <a:ext cx="7670800" cy="1907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55AF7944-5BEE-7EA8-8013-F334989DF56A}"/>
              </a:ext>
            </a:extLst>
          </p:cNvPr>
          <p:cNvSpPr/>
          <p:nvPr/>
        </p:nvSpPr>
        <p:spPr>
          <a:xfrm>
            <a:off x="0" y="6692646"/>
            <a:ext cx="7670800" cy="1653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CDBFF636-1734-5C27-AA20-EB511D216984}"/>
              </a:ext>
            </a:extLst>
          </p:cNvPr>
          <p:cNvSpPr/>
          <p:nvPr/>
        </p:nvSpPr>
        <p:spPr>
          <a:xfrm>
            <a:off x="0" y="876554"/>
            <a:ext cx="9154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5158720F-82CC-F6B1-BB51-606399F7A6BE}"/>
              </a:ext>
            </a:extLst>
          </p:cNvPr>
          <p:cNvSpPr/>
          <p:nvPr/>
        </p:nvSpPr>
        <p:spPr>
          <a:xfrm>
            <a:off x="6780784" y="876554"/>
            <a:ext cx="8900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F927B7BE-DDEB-F412-06ED-F36CB83636B2}"/>
              </a:ext>
            </a:extLst>
          </p:cNvPr>
          <p:cNvSpPr/>
          <p:nvPr/>
        </p:nvSpPr>
        <p:spPr>
          <a:xfrm>
            <a:off x="1827784" y="4942586"/>
            <a:ext cx="4336288" cy="1626108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574E3A43-233E-A1AC-4F04-75EC3A2D9B59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21">
            <a:extLst>
              <a:ext uri="{FF2B5EF4-FFF2-40B4-BE49-F238E27FC236}">
                <a16:creationId xmlns:a16="http://schemas.microsoft.com/office/drawing/2014/main" id="{E6D5C006-9CA6-2E0C-EBD4-69E0C93994B1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Each ring becomes one number: its lines added up. Here the change’s increases add up to 0.43: the black line under the ring.</a:t>
            </a:r>
          </a:p>
        </p:txBody>
      </p:sp>
      <p:sp>
        <p:nvSpPr>
          <p:cNvPr id="12" name="!!N22">
            <a:extLst>
              <a:ext uri="{FF2B5EF4-FFF2-40B4-BE49-F238E27FC236}">
                <a16:creationId xmlns:a16="http://schemas.microsoft.com/office/drawing/2014/main" id="{88DBA6CA-FC81-D5DF-8628-44004CE287A3}"/>
              </a:ext>
            </a:extLst>
          </p:cNvPr>
          <p:cNvSpPr/>
          <p:nvPr/>
        </p:nvSpPr>
        <p:spPr>
          <a:xfrm>
            <a:off x="7797800" y="1748028"/>
            <a:ext cx="4241800" cy="221284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test: if the cues’ effect were the same on both days, each rat’s change could as well point the other way. Flip the rats’ signs every way (256 for 8 rats) and add up again each time: those sums are the grey hill.</a:t>
            </a:r>
          </a:p>
        </p:txBody>
      </p:sp>
      <p:sp>
        <p:nvSpPr>
          <p:cNvPr id="13" name="!!N23">
            <a:extLst>
              <a:ext uri="{FF2B5EF4-FFF2-40B4-BE49-F238E27FC236}">
                <a16:creationId xmlns:a16="http://schemas.microsoft.com/office/drawing/2014/main" id="{D43CFA8A-1689-5A23-1F1F-38D7EC09C0BF}"/>
              </a:ext>
            </a:extLst>
          </p:cNvPr>
          <p:cNvSpPr/>
          <p:nvPr/>
        </p:nvSpPr>
        <p:spPr>
          <a:xfrm>
            <a:off x="12573000" y="284683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black line is the real sum. Only 3 of the 256 sums reach it (itself included): P = 0.012.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2325600C-085E-9C22-3E93-F0469DF7D39E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C3238A13-2318-B065-97F6-BB518D92B604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1 · baseline → both cues · gamma</a:t>
            </a:r>
          </a:p>
        </p:txBody>
      </p:sp>
    </p:spTree>
    <p:extLst>
      <p:ext uri="{BB962C8B-B14F-4D97-AF65-F5344CB8AC3E}">
        <p14:creationId xmlns:p14="http://schemas.microsoft.com/office/powerpoint/2010/main" val="10474212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CEE79BBF-B703-8D19-6F69-825E077B22E3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">
            <a:extLst>
              <a:ext uri="{FF2B5EF4-FFF2-40B4-BE49-F238E27FC236}">
                <a16:creationId xmlns:a16="http://schemas.microsoft.com/office/drawing/2014/main" id="{3DEB6187-B662-CDBE-5FBE-219D1F72B18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256" y="-12353290"/>
            <a:ext cx="18031533" cy="2030112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43AA0093-8082-8B24-32FF-B822F89C16C8}"/>
              </a:ext>
            </a:extLst>
          </p:cNvPr>
          <p:cNvSpPr/>
          <p:nvPr/>
        </p:nvSpPr>
        <p:spPr>
          <a:xfrm>
            <a:off x="0" y="685800"/>
            <a:ext cx="7670800" cy="1907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15C5B732-A8A4-34C7-DB47-BF98D62A114B}"/>
              </a:ext>
            </a:extLst>
          </p:cNvPr>
          <p:cNvSpPr/>
          <p:nvPr/>
        </p:nvSpPr>
        <p:spPr>
          <a:xfrm>
            <a:off x="0" y="6692646"/>
            <a:ext cx="7670800" cy="1653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17CB6913-B8C8-8281-7F33-DE60F34A94AF}"/>
              </a:ext>
            </a:extLst>
          </p:cNvPr>
          <p:cNvSpPr/>
          <p:nvPr/>
        </p:nvSpPr>
        <p:spPr>
          <a:xfrm>
            <a:off x="0" y="876554"/>
            <a:ext cx="9154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84E62E43-0409-29E8-B896-0BF0A98321B7}"/>
              </a:ext>
            </a:extLst>
          </p:cNvPr>
          <p:cNvSpPr/>
          <p:nvPr/>
        </p:nvSpPr>
        <p:spPr>
          <a:xfrm>
            <a:off x="6780784" y="876554"/>
            <a:ext cx="8900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D4381A1C-DB6E-97C5-AA21-7C332597015D}"/>
              </a:ext>
            </a:extLst>
          </p:cNvPr>
          <p:cNvSpPr/>
          <p:nvPr/>
        </p:nvSpPr>
        <p:spPr>
          <a:xfrm>
            <a:off x="1827784" y="4942586"/>
            <a:ext cx="4336288" cy="1626108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B8CF8FC6-1A43-0ABD-E4D4-C5E3BAA5BE21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21">
            <a:extLst>
              <a:ext uri="{FF2B5EF4-FFF2-40B4-BE49-F238E27FC236}">
                <a16:creationId xmlns:a16="http://schemas.microsoft.com/office/drawing/2014/main" id="{8B162572-32D9-7160-D96D-4F1E250F0ED0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Each ring becomes one number: its lines added up. Here the change’s increases add up to 0.43: the black line under the ring.</a:t>
            </a:r>
          </a:p>
        </p:txBody>
      </p:sp>
      <p:sp>
        <p:nvSpPr>
          <p:cNvPr id="12" name="!!N22">
            <a:extLst>
              <a:ext uri="{FF2B5EF4-FFF2-40B4-BE49-F238E27FC236}">
                <a16:creationId xmlns:a16="http://schemas.microsoft.com/office/drawing/2014/main" id="{5F24A952-04CC-2498-E642-90818EA5B2D5}"/>
              </a:ext>
            </a:extLst>
          </p:cNvPr>
          <p:cNvSpPr/>
          <p:nvPr/>
        </p:nvSpPr>
        <p:spPr>
          <a:xfrm>
            <a:off x="7797800" y="1748028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test: if the cues’ effect were the same on both days, each rat’s change could as well point the other way. Flip the rats’ signs every way (256 for 8 rats) and add up again each time: those sums are the grey hill.</a:t>
            </a:r>
          </a:p>
        </p:txBody>
      </p:sp>
      <p:sp>
        <p:nvSpPr>
          <p:cNvPr id="13" name="!!N23">
            <a:extLst>
              <a:ext uri="{FF2B5EF4-FFF2-40B4-BE49-F238E27FC236}">
                <a16:creationId xmlns:a16="http://schemas.microsoft.com/office/drawing/2014/main" id="{C8C5FB4A-34B7-C71F-A9D5-9786B3E11A72}"/>
              </a:ext>
            </a:extLst>
          </p:cNvPr>
          <p:cNvSpPr/>
          <p:nvPr/>
        </p:nvSpPr>
        <p:spPr>
          <a:xfrm>
            <a:off x="7797800" y="284683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black line is the real sum. Only 3 of the 256 sums reach it (itself included): P = 0.012.</a:t>
            </a:r>
          </a:p>
        </p:txBody>
      </p:sp>
      <p:sp>
        <p:nvSpPr>
          <p:cNvPr id="14" name="!!N24">
            <a:extLst>
              <a:ext uri="{FF2B5EF4-FFF2-40B4-BE49-F238E27FC236}">
                <a16:creationId xmlns:a16="http://schemas.microsoft.com/office/drawing/2014/main" id="{94B2C41B-7BBD-E20C-E03C-F3340D62BB08}"/>
              </a:ext>
            </a:extLst>
          </p:cNvPr>
          <p:cNvSpPr/>
          <p:nvPr/>
        </p:nvSpPr>
        <p:spPr>
          <a:xfrm>
            <a:off x="12573000" y="3567684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Ups and downs together: P = 0.023, in line with tab 8’s light (P = 0.017).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16A8BD1D-75B6-1A45-B8A0-C663ABABFD4B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9D812308-690E-DFE0-8F2C-BF2AD416E3DA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1 · baseline → both cues · gamma</a:t>
            </a:r>
          </a:p>
        </p:txBody>
      </p:sp>
    </p:spTree>
    <p:extLst>
      <p:ext uri="{BB962C8B-B14F-4D97-AF65-F5344CB8AC3E}">
        <p14:creationId xmlns:p14="http://schemas.microsoft.com/office/powerpoint/2010/main" val="40200116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1B48CCCC-A223-2024-3348-1E4FBF69CDAE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">
            <a:extLst>
              <a:ext uri="{FF2B5EF4-FFF2-40B4-BE49-F238E27FC236}">
                <a16:creationId xmlns:a16="http://schemas.microsoft.com/office/drawing/2014/main" id="{CD885F77-3495-1DC1-A5B1-ABA6EF5FD0E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81080" y="-12353290"/>
            <a:ext cx="18031533" cy="2030112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1A9A2FAD-0C7A-6D59-BDB2-0FF0CE9F4BCB}"/>
              </a:ext>
            </a:extLst>
          </p:cNvPr>
          <p:cNvSpPr/>
          <p:nvPr/>
        </p:nvSpPr>
        <p:spPr>
          <a:xfrm>
            <a:off x="0" y="685800"/>
            <a:ext cx="7670800" cy="1907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4777408C-965E-329A-D8B8-49FE7FDC5123}"/>
              </a:ext>
            </a:extLst>
          </p:cNvPr>
          <p:cNvSpPr/>
          <p:nvPr/>
        </p:nvSpPr>
        <p:spPr>
          <a:xfrm>
            <a:off x="0" y="6692646"/>
            <a:ext cx="7670800" cy="1653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1BC54A95-EB4D-6A78-01A7-728E1397FB99}"/>
              </a:ext>
            </a:extLst>
          </p:cNvPr>
          <p:cNvSpPr/>
          <p:nvPr/>
        </p:nvSpPr>
        <p:spPr>
          <a:xfrm>
            <a:off x="0" y="876554"/>
            <a:ext cx="9154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16DEB136-6218-56CE-BC2A-235ABBAA3C5E}"/>
              </a:ext>
            </a:extLst>
          </p:cNvPr>
          <p:cNvSpPr/>
          <p:nvPr/>
        </p:nvSpPr>
        <p:spPr>
          <a:xfrm>
            <a:off x="6780784" y="876554"/>
            <a:ext cx="8900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ADBBC87F-7ADF-DDBB-BD66-0F4A8673C2E2}"/>
              </a:ext>
            </a:extLst>
          </p:cNvPr>
          <p:cNvSpPr/>
          <p:nvPr/>
        </p:nvSpPr>
        <p:spPr>
          <a:xfrm>
            <a:off x="1827784" y="4942586"/>
            <a:ext cx="4336288" cy="1626108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10B2DE11-4796-8260-CD5D-4A1D8C2BDE55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21">
            <a:extLst>
              <a:ext uri="{FF2B5EF4-FFF2-40B4-BE49-F238E27FC236}">
                <a16:creationId xmlns:a16="http://schemas.microsoft.com/office/drawing/2014/main" id="{B8184F87-1473-3480-4CF5-25C673AD1EC5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Each ring becomes one number: its lines added up. Here the change’s increases add up to 0.43: the black line under the ring.</a:t>
            </a:r>
          </a:p>
        </p:txBody>
      </p:sp>
      <p:sp>
        <p:nvSpPr>
          <p:cNvPr id="12" name="!!N22">
            <a:extLst>
              <a:ext uri="{FF2B5EF4-FFF2-40B4-BE49-F238E27FC236}">
                <a16:creationId xmlns:a16="http://schemas.microsoft.com/office/drawing/2014/main" id="{5EFCE653-69B7-C3CB-4EAF-1674DE1D9DC9}"/>
              </a:ext>
            </a:extLst>
          </p:cNvPr>
          <p:cNvSpPr/>
          <p:nvPr/>
        </p:nvSpPr>
        <p:spPr>
          <a:xfrm>
            <a:off x="7797800" y="1748028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test: if the cues’ effect were the same on both days, each rat’s change could as well point the other way. Flip the rats’ signs every way (256 for 8 rats) and add up again each time: those sums are the grey hill.</a:t>
            </a:r>
          </a:p>
        </p:txBody>
      </p:sp>
      <p:sp>
        <p:nvSpPr>
          <p:cNvPr id="13" name="!!N23">
            <a:extLst>
              <a:ext uri="{FF2B5EF4-FFF2-40B4-BE49-F238E27FC236}">
                <a16:creationId xmlns:a16="http://schemas.microsoft.com/office/drawing/2014/main" id="{089623CB-798F-2B88-AA0F-99B5CF2381D8}"/>
              </a:ext>
            </a:extLst>
          </p:cNvPr>
          <p:cNvSpPr/>
          <p:nvPr/>
        </p:nvSpPr>
        <p:spPr>
          <a:xfrm>
            <a:off x="7797800" y="2846832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black line is the real sum. Only 3 of the 256 sums reach it (itself included): P = 0.012.</a:t>
            </a:r>
          </a:p>
        </p:txBody>
      </p:sp>
      <p:sp>
        <p:nvSpPr>
          <p:cNvPr id="14" name="!!N24">
            <a:extLst>
              <a:ext uri="{FF2B5EF4-FFF2-40B4-BE49-F238E27FC236}">
                <a16:creationId xmlns:a16="http://schemas.microsoft.com/office/drawing/2014/main" id="{8A7CE7C1-7F7A-39E0-9AB4-60D8F3E4DB16}"/>
              </a:ext>
            </a:extLst>
          </p:cNvPr>
          <p:cNvSpPr/>
          <p:nvPr/>
        </p:nvSpPr>
        <p:spPr>
          <a:xfrm>
            <a:off x="7797800" y="3567684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Ups and downs together: P = 0.023, in line with tab 8’s light (P = 0.017).</a:t>
            </a:r>
          </a:p>
        </p:txBody>
      </p:sp>
      <p:sp>
        <p:nvSpPr>
          <p:cNvPr id="15" name="!!N25">
            <a:extLst>
              <a:ext uri="{FF2B5EF4-FFF2-40B4-BE49-F238E27FC236}">
                <a16:creationId xmlns:a16="http://schemas.microsoft.com/office/drawing/2014/main" id="{50024A28-76A7-5C76-7169-C760BD925D19}"/>
              </a:ext>
            </a:extLst>
          </p:cNvPr>
          <p:cNvSpPr/>
          <p:nvPr/>
        </p:nvSpPr>
        <p:spPr>
          <a:xfrm>
            <a:off x="12573000" y="4288536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Neither day passes on its own (Precon1 P = 0.055 at best, Precon4 P = 0.359): it is the change between them.</a:t>
            </a:r>
          </a:p>
        </p:txBody>
      </p:sp>
      <p:sp>
        <p:nvSpPr>
          <p:cNvPr id="16" name="!!T-BG">
            <a:extLst>
              <a:ext uri="{FF2B5EF4-FFF2-40B4-BE49-F238E27FC236}">
                <a16:creationId xmlns:a16="http://schemas.microsoft.com/office/drawing/2014/main" id="{D3B3E5FE-DCAB-F716-CAC6-E00C9B96DB00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T">
            <a:extLst>
              <a:ext uri="{FF2B5EF4-FFF2-40B4-BE49-F238E27FC236}">
                <a16:creationId xmlns:a16="http://schemas.microsoft.com/office/drawing/2014/main" id="{BD240D14-B526-BC4C-A2D1-82A7E8AF4782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1 · baseline → both cues · gamma</a:t>
            </a:r>
          </a:p>
        </p:txBody>
      </p:sp>
    </p:spTree>
    <p:extLst>
      <p:ext uri="{BB962C8B-B14F-4D97-AF65-F5344CB8AC3E}">
        <p14:creationId xmlns:p14="http://schemas.microsoft.com/office/powerpoint/2010/main" val="9105360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B032C3D1-F142-A30E-D28E-E3BBA3EAF2EB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">
            <a:extLst>
              <a:ext uri="{FF2B5EF4-FFF2-40B4-BE49-F238E27FC236}">
                <a16:creationId xmlns:a16="http://schemas.microsoft.com/office/drawing/2014/main" id="{7B72B127-4225-44C9-883A-0064C0CD9B4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23" y="901954"/>
            <a:ext cx="5120754" cy="576529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375CCE1D-CED6-0053-F3D9-549606082821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A3292E5E-0E56-420D-64B2-599055C5E674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B8D0D251-B37F-F25D-9020-CA1809C0C8E8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4923B6A4-3833-FE6F-B958-C38755A9D3E3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DCAC1CBB-7913-4787-FDAE-3698133D87CB}"/>
              </a:ext>
            </a:extLst>
          </p:cNvPr>
          <p:cNvSpPr/>
          <p:nvPr/>
        </p:nvSpPr>
        <p:spPr>
          <a:xfrm>
            <a:off x="1315710" y="1041892"/>
            <a:ext cx="5093756" cy="1819199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D8EBE529-C8DE-E48B-6CB1-26FEC6A90B11}"/>
              </a:ext>
            </a:extLst>
          </p:cNvPr>
          <p:cNvSpPr/>
          <p:nvPr/>
        </p:nvSpPr>
        <p:spPr>
          <a:xfrm>
            <a:off x="1315710" y="2777128"/>
            <a:ext cx="5093756" cy="1819198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8A8CEFC3-7F8F-9FB5-A9CE-B970A9F33D26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21">
            <a:extLst>
              <a:ext uri="{FF2B5EF4-FFF2-40B4-BE49-F238E27FC236}">
                <a16:creationId xmlns:a16="http://schemas.microsoft.com/office/drawing/2014/main" id="{3BD6CD46-939E-1CB0-CD58-5341FE18925F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Each ring becomes one number: its lines added up. Here the change’s increases add up to 0.43: the black line under the ring.</a:t>
            </a:r>
          </a:p>
        </p:txBody>
      </p:sp>
      <p:sp>
        <p:nvSpPr>
          <p:cNvPr id="13" name="!!N22">
            <a:extLst>
              <a:ext uri="{FF2B5EF4-FFF2-40B4-BE49-F238E27FC236}">
                <a16:creationId xmlns:a16="http://schemas.microsoft.com/office/drawing/2014/main" id="{523431A1-A55B-7156-8DDD-2745C3A12A19}"/>
              </a:ext>
            </a:extLst>
          </p:cNvPr>
          <p:cNvSpPr/>
          <p:nvPr/>
        </p:nvSpPr>
        <p:spPr>
          <a:xfrm>
            <a:off x="7797800" y="1748028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test: if the cues’ effect were the same on both days, each rat’s change could as well point the other way. Flip the rats’ signs every way (256 for 8 rats) and add up again each time: those sums are the grey hill.</a:t>
            </a:r>
          </a:p>
        </p:txBody>
      </p:sp>
      <p:sp>
        <p:nvSpPr>
          <p:cNvPr id="14" name="!!N23">
            <a:extLst>
              <a:ext uri="{FF2B5EF4-FFF2-40B4-BE49-F238E27FC236}">
                <a16:creationId xmlns:a16="http://schemas.microsoft.com/office/drawing/2014/main" id="{093A70A3-7C49-47FB-16A4-8BC21EDE04FD}"/>
              </a:ext>
            </a:extLst>
          </p:cNvPr>
          <p:cNvSpPr/>
          <p:nvPr/>
        </p:nvSpPr>
        <p:spPr>
          <a:xfrm>
            <a:off x="7797800" y="2846832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black line is the real sum. Only 3 of the 256 sums reach it (itself included): P = 0.012.</a:t>
            </a:r>
          </a:p>
        </p:txBody>
      </p:sp>
      <p:sp>
        <p:nvSpPr>
          <p:cNvPr id="15" name="!!N24">
            <a:extLst>
              <a:ext uri="{FF2B5EF4-FFF2-40B4-BE49-F238E27FC236}">
                <a16:creationId xmlns:a16="http://schemas.microsoft.com/office/drawing/2014/main" id="{51D01838-3FFE-040F-DE83-EF292D33CDD5}"/>
              </a:ext>
            </a:extLst>
          </p:cNvPr>
          <p:cNvSpPr/>
          <p:nvPr/>
        </p:nvSpPr>
        <p:spPr>
          <a:xfrm>
            <a:off x="7797800" y="3567684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Ups and downs together: P = 0.023, in line with tab 8’s light (P = 0.017).</a:t>
            </a:r>
          </a:p>
        </p:txBody>
      </p:sp>
      <p:sp>
        <p:nvSpPr>
          <p:cNvPr id="16" name="!!N25">
            <a:extLst>
              <a:ext uri="{FF2B5EF4-FFF2-40B4-BE49-F238E27FC236}">
                <a16:creationId xmlns:a16="http://schemas.microsoft.com/office/drawing/2014/main" id="{5F6D1E82-8E38-97F1-5CB9-029D72945BBF}"/>
              </a:ext>
            </a:extLst>
          </p:cNvPr>
          <p:cNvSpPr/>
          <p:nvPr/>
        </p:nvSpPr>
        <p:spPr>
          <a:xfrm>
            <a:off x="7797800" y="4288536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Neither day passes on its own (Precon1 P = 0.055 at best, Precon4 P = 0.359): it is the change between them.</a:t>
            </a:r>
          </a:p>
        </p:txBody>
      </p:sp>
      <p:sp>
        <p:nvSpPr>
          <p:cNvPr id="17" name="!!N26">
            <a:extLst>
              <a:ext uri="{FF2B5EF4-FFF2-40B4-BE49-F238E27FC236}">
                <a16:creationId xmlns:a16="http://schemas.microsoft.com/office/drawing/2014/main" id="{079A839C-11CD-580B-5583-6C2E76F9E264}"/>
              </a:ext>
            </a:extLst>
          </p:cNvPr>
          <p:cNvSpPr/>
          <p:nvPr/>
        </p:nvSpPr>
        <p:spPr>
          <a:xfrm>
            <a:off x="12573000" y="838200"/>
            <a:ext cx="4241800" cy="192938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Same ring, a second test (the toggle on tab 9): in every session, each trial’s baseline and cue swapped at random, 10,000 times. Single trials vary a lot, so the hill is much wider: P = 0.187 (the rats’ test: P = 0.023).</a:t>
            </a:r>
          </a:p>
        </p:txBody>
      </p:sp>
      <p:sp>
        <p:nvSpPr>
          <p:cNvPr id="18" name="!!T-BG">
            <a:extLst>
              <a:ext uri="{FF2B5EF4-FFF2-40B4-BE49-F238E27FC236}">
                <a16:creationId xmlns:a16="http://schemas.microsoft.com/office/drawing/2014/main" id="{BC5BDA97-A27C-1B8A-BF8F-9E7B4CD14DEE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!!T">
            <a:extLst>
              <a:ext uri="{FF2B5EF4-FFF2-40B4-BE49-F238E27FC236}">
                <a16:creationId xmlns:a16="http://schemas.microsoft.com/office/drawing/2014/main" id="{3D7733B0-39B1-329C-7D68-EE76A9730220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1 · baseline → both cues · gamma</a:t>
            </a:r>
          </a:p>
        </p:txBody>
      </p:sp>
    </p:spTree>
    <p:extLst>
      <p:ext uri="{BB962C8B-B14F-4D97-AF65-F5344CB8AC3E}">
        <p14:creationId xmlns:p14="http://schemas.microsoft.com/office/powerpoint/2010/main" val="1839791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6976E018-8378-9DE6-826B-4BDC62E6C06E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trials">
            <a:extLst>
              <a:ext uri="{FF2B5EF4-FFF2-40B4-BE49-F238E27FC236}">
                <a16:creationId xmlns:a16="http://schemas.microsoft.com/office/drawing/2014/main" id="{CD20C6A3-414A-90AE-D749-8E81015C509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81080" y="-12353290"/>
            <a:ext cx="18031533" cy="2030112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D3C2069B-BD07-4D04-725D-D50217726832}"/>
              </a:ext>
            </a:extLst>
          </p:cNvPr>
          <p:cNvSpPr/>
          <p:nvPr/>
        </p:nvSpPr>
        <p:spPr>
          <a:xfrm>
            <a:off x="0" y="685800"/>
            <a:ext cx="7670800" cy="1907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6BC2D1F6-6699-3834-1749-237D395A6157}"/>
              </a:ext>
            </a:extLst>
          </p:cNvPr>
          <p:cNvSpPr/>
          <p:nvPr/>
        </p:nvSpPr>
        <p:spPr>
          <a:xfrm>
            <a:off x="0" y="6692646"/>
            <a:ext cx="7670800" cy="1653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F2D21705-4DB2-8964-7F50-239D8C7931EE}"/>
              </a:ext>
            </a:extLst>
          </p:cNvPr>
          <p:cNvSpPr/>
          <p:nvPr/>
        </p:nvSpPr>
        <p:spPr>
          <a:xfrm>
            <a:off x="0" y="876554"/>
            <a:ext cx="9154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0FFC67FE-D6EC-1EAF-A9F3-CC738E57077D}"/>
              </a:ext>
            </a:extLst>
          </p:cNvPr>
          <p:cNvSpPr/>
          <p:nvPr/>
        </p:nvSpPr>
        <p:spPr>
          <a:xfrm>
            <a:off x="6780784" y="876554"/>
            <a:ext cx="8900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7A3B0980-BF06-3030-E1C1-143D1C93687A}"/>
              </a:ext>
            </a:extLst>
          </p:cNvPr>
          <p:cNvSpPr/>
          <p:nvPr/>
        </p:nvSpPr>
        <p:spPr>
          <a:xfrm>
            <a:off x="1827784" y="4942586"/>
            <a:ext cx="4336288" cy="1626108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2D62F5DC-7C46-6A89-129A-7A74CAEB9D50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26">
            <a:extLst>
              <a:ext uri="{FF2B5EF4-FFF2-40B4-BE49-F238E27FC236}">
                <a16:creationId xmlns:a16="http://schemas.microsoft.com/office/drawing/2014/main" id="{FD88E1D2-E648-CC1F-AF1B-3F18A28FEB74}"/>
              </a:ext>
            </a:extLst>
          </p:cNvPr>
          <p:cNvSpPr/>
          <p:nvPr/>
        </p:nvSpPr>
        <p:spPr>
          <a:xfrm>
            <a:off x="7797800" y="838200"/>
            <a:ext cx="4241800" cy="192938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Same ring, a second test (the toggle on tab 9): in every session, each trial’s baseline and cue swapped at random, 10,000 times. Single trials vary a lot, so the hill is much wider: P = 0.187 (the rats’ test: P = 0.023).</a:t>
            </a:r>
          </a:p>
        </p:txBody>
      </p:sp>
      <p:sp>
        <p:nvSpPr>
          <p:cNvPr id="12" name="!!N27">
            <a:extLst>
              <a:ext uri="{FF2B5EF4-FFF2-40B4-BE49-F238E27FC236}">
                <a16:creationId xmlns:a16="http://schemas.microsoft.com/office/drawing/2014/main" id="{7EB2AB71-EBBE-CD93-8ABD-6014E146F5B7}"/>
              </a:ext>
            </a:extLst>
          </p:cNvPr>
          <p:cNvSpPr/>
          <p:nvPr/>
        </p:nvSpPr>
        <p:spPr>
          <a:xfrm>
            <a:off x="12573000" y="1937004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rats moved together, the test that matches tab 8’s light; single trials are too noisy to confirm it. Figure 1 is a lead, not a finding.</a:t>
            </a:r>
          </a:p>
        </p:txBody>
      </p:sp>
      <p:sp>
        <p:nvSpPr>
          <p:cNvPr id="13" name="!!N21">
            <a:extLst>
              <a:ext uri="{FF2B5EF4-FFF2-40B4-BE49-F238E27FC236}">
                <a16:creationId xmlns:a16="http://schemas.microsoft.com/office/drawing/2014/main" id="{4C356E27-79DE-7F53-B8E7-A6B5CD7FB7A7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Each ring becomes one number: its lines added up. Here the change’s increases add up to 0.43: the black line under the ring.</a:t>
            </a:r>
          </a:p>
        </p:txBody>
      </p:sp>
      <p:sp>
        <p:nvSpPr>
          <p:cNvPr id="14" name="!!N22">
            <a:extLst>
              <a:ext uri="{FF2B5EF4-FFF2-40B4-BE49-F238E27FC236}">
                <a16:creationId xmlns:a16="http://schemas.microsoft.com/office/drawing/2014/main" id="{6BE210B4-5A21-4480-62A3-FD04B171BCAB}"/>
              </a:ext>
            </a:extLst>
          </p:cNvPr>
          <p:cNvSpPr/>
          <p:nvPr/>
        </p:nvSpPr>
        <p:spPr>
          <a:xfrm>
            <a:off x="12573000" y="1748028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test: if the cues’ effect were the same on both days, each rat’s change could as well point the other way. Flip the rats’ signs every way (256 for 8 rats) and add up again each time: those sums are the grey hill.</a:t>
            </a:r>
          </a:p>
        </p:txBody>
      </p:sp>
      <p:sp>
        <p:nvSpPr>
          <p:cNvPr id="15" name="!!N23">
            <a:extLst>
              <a:ext uri="{FF2B5EF4-FFF2-40B4-BE49-F238E27FC236}">
                <a16:creationId xmlns:a16="http://schemas.microsoft.com/office/drawing/2014/main" id="{1934B108-3467-770C-34C8-3E3705071752}"/>
              </a:ext>
            </a:extLst>
          </p:cNvPr>
          <p:cNvSpPr/>
          <p:nvPr/>
        </p:nvSpPr>
        <p:spPr>
          <a:xfrm>
            <a:off x="12573000" y="2846832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black line is the real sum. Only 3 of the 256 sums reach it (itself included): P = 0.012.</a:t>
            </a:r>
          </a:p>
        </p:txBody>
      </p:sp>
      <p:sp>
        <p:nvSpPr>
          <p:cNvPr id="16" name="!!N24">
            <a:extLst>
              <a:ext uri="{FF2B5EF4-FFF2-40B4-BE49-F238E27FC236}">
                <a16:creationId xmlns:a16="http://schemas.microsoft.com/office/drawing/2014/main" id="{8A8F9522-B4EE-C9A1-433D-CBFAD85C2F57}"/>
              </a:ext>
            </a:extLst>
          </p:cNvPr>
          <p:cNvSpPr/>
          <p:nvPr/>
        </p:nvSpPr>
        <p:spPr>
          <a:xfrm>
            <a:off x="12573000" y="3567684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Ups and downs together: P = 0.023, in line with tab 8’s light (P = 0.017).</a:t>
            </a:r>
          </a:p>
        </p:txBody>
      </p:sp>
      <p:sp>
        <p:nvSpPr>
          <p:cNvPr id="17" name="!!N25">
            <a:extLst>
              <a:ext uri="{FF2B5EF4-FFF2-40B4-BE49-F238E27FC236}">
                <a16:creationId xmlns:a16="http://schemas.microsoft.com/office/drawing/2014/main" id="{98A3989B-3EC5-2139-C138-C32D4872C850}"/>
              </a:ext>
            </a:extLst>
          </p:cNvPr>
          <p:cNvSpPr/>
          <p:nvPr/>
        </p:nvSpPr>
        <p:spPr>
          <a:xfrm>
            <a:off x="12573000" y="4288536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Neither day passes on its own (Precon1 P = 0.055 at best, Precon4 P = 0.359): it is the change between them.</a:t>
            </a:r>
          </a:p>
        </p:txBody>
      </p:sp>
      <p:sp>
        <p:nvSpPr>
          <p:cNvPr id="18" name="!!T-BG">
            <a:extLst>
              <a:ext uri="{FF2B5EF4-FFF2-40B4-BE49-F238E27FC236}">
                <a16:creationId xmlns:a16="http://schemas.microsoft.com/office/drawing/2014/main" id="{4287DB7D-3580-0166-24EA-F856EF2DADC1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!!T">
            <a:extLst>
              <a:ext uri="{FF2B5EF4-FFF2-40B4-BE49-F238E27FC236}">
                <a16:creationId xmlns:a16="http://schemas.microsoft.com/office/drawing/2014/main" id="{A3F0E10B-DB98-F3E2-3135-8B3384C8F550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1 · baseline → both cues · gamma</a:t>
            </a:r>
          </a:p>
        </p:txBody>
      </p:sp>
    </p:spTree>
    <p:extLst>
      <p:ext uri="{BB962C8B-B14F-4D97-AF65-F5344CB8AC3E}">
        <p14:creationId xmlns:p14="http://schemas.microsoft.com/office/powerpoint/2010/main" val="23975560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592862CF-A767-26E7-7B12-B6D8296B0AB6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trials">
            <a:extLst>
              <a:ext uri="{FF2B5EF4-FFF2-40B4-BE49-F238E27FC236}">
                <a16:creationId xmlns:a16="http://schemas.microsoft.com/office/drawing/2014/main" id="{54F352E8-8CAF-2267-50C0-758FFAB9D8A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81080" y="-12353290"/>
            <a:ext cx="18031533" cy="2030112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029FC252-B635-3323-C8DD-500BA0BA2F6B}"/>
              </a:ext>
            </a:extLst>
          </p:cNvPr>
          <p:cNvSpPr/>
          <p:nvPr/>
        </p:nvSpPr>
        <p:spPr>
          <a:xfrm>
            <a:off x="0" y="685800"/>
            <a:ext cx="7670800" cy="1907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7D26114C-3982-1D6C-AA19-8FB28263C894}"/>
              </a:ext>
            </a:extLst>
          </p:cNvPr>
          <p:cNvSpPr/>
          <p:nvPr/>
        </p:nvSpPr>
        <p:spPr>
          <a:xfrm>
            <a:off x="0" y="6692646"/>
            <a:ext cx="7670800" cy="1653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FC5EAF47-06BE-AA47-D450-0B08141EBD57}"/>
              </a:ext>
            </a:extLst>
          </p:cNvPr>
          <p:cNvSpPr/>
          <p:nvPr/>
        </p:nvSpPr>
        <p:spPr>
          <a:xfrm>
            <a:off x="0" y="876554"/>
            <a:ext cx="9154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717E01EA-E753-EB91-6DDB-B93C356BD7EC}"/>
              </a:ext>
            </a:extLst>
          </p:cNvPr>
          <p:cNvSpPr/>
          <p:nvPr/>
        </p:nvSpPr>
        <p:spPr>
          <a:xfrm>
            <a:off x="6780784" y="876554"/>
            <a:ext cx="8900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BF4B4BDE-231C-AB84-185D-39F124C1050F}"/>
              </a:ext>
            </a:extLst>
          </p:cNvPr>
          <p:cNvSpPr/>
          <p:nvPr/>
        </p:nvSpPr>
        <p:spPr>
          <a:xfrm>
            <a:off x="1827784" y="4942586"/>
            <a:ext cx="4336288" cy="1626108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32CECC67-4875-F9E2-478D-6AC994263132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26">
            <a:extLst>
              <a:ext uri="{FF2B5EF4-FFF2-40B4-BE49-F238E27FC236}">
                <a16:creationId xmlns:a16="http://schemas.microsoft.com/office/drawing/2014/main" id="{EE0724F0-B692-42AC-3746-339BB3394F83}"/>
              </a:ext>
            </a:extLst>
          </p:cNvPr>
          <p:cNvSpPr/>
          <p:nvPr/>
        </p:nvSpPr>
        <p:spPr>
          <a:xfrm>
            <a:off x="7797800" y="838200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Same ring, a second test (the toggle on tab 9): in every session, each trial’s baseline and cue swapped at random, 10,000 times. Single trials vary a lot, so the hill is much wider: P = 0.187 (the rats’ test: P = 0.023).</a:t>
            </a:r>
          </a:p>
        </p:txBody>
      </p:sp>
      <p:sp>
        <p:nvSpPr>
          <p:cNvPr id="12" name="!!N27">
            <a:extLst>
              <a:ext uri="{FF2B5EF4-FFF2-40B4-BE49-F238E27FC236}">
                <a16:creationId xmlns:a16="http://schemas.microsoft.com/office/drawing/2014/main" id="{635E4FE0-DE04-4C59-6B32-3B82D8D07E89}"/>
              </a:ext>
            </a:extLst>
          </p:cNvPr>
          <p:cNvSpPr/>
          <p:nvPr/>
        </p:nvSpPr>
        <p:spPr>
          <a:xfrm>
            <a:off x="7797800" y="1937004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rats moved together, the test that matches tab 8’s light; single trials are too noisy to confirm it. Figure 1 is a lead, not a finding.</a:t>
            </a:r>
          </a:p>
        </p:txBody>
      </p:sp>
      <p:sp>
        <p:nvSpPr>
          <p:cNvPr id="13" name="!!T-BG">
            <a:extLst>
              <a:ext uri="{FF2B5EF4-FFF2-40B4-BE49-F238E27FC236}">
                <a16:creationId xmlns:a16="http://schemas.microsoft.com/office/drawing/2014/main" id="{0AD505E0-5176-AB74-DAFA-8BAF66A922B2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T">
            <a:extLst>
              <a:ext uri="{FF2B5EF4-FFF2-40B4-BE49-F238E27FC236}">
                <a16:creationId xmlns:a16="http://schemas.microsoft.com/office/drawing/2014/main" id="{68A344F4-88E6-6C10-D010-A0D95EC9E8B7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1 · baseline → both cues · gamma</a:t>
            </a:r>
          </a:p>
        </p:txBody>
      </p:sp>
    </p:spTree>
    <p:extLst>
      <p:ext uri="{BB962C8B-B14F-4D97-AF65-F5344CB8AC3E}">
        <p14:creationId xmlns:p14="http://schemas.microsoft.com/office/powerpoint/2010/main" val="22340627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10E6C763-7E19-B68E-3CDA-4DC2108A02F6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">
            <a:extLst>
              <a:ext uri="{FF2B5EF4-FFF2-40B4-BE49-F238E27FC236}">
                <a16:creationId xmlns:a16="http://schemas.microsoft.com/office/drawing/2014/main" id="{0010A7E3-7A06-436B-D0C8-CBBF06F4808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23" y="901954"/>
            <a:ext cx="5120754" cy="576529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CECF2CAF-2338-08EF-CBF0-3C26AD457907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339A3E52-7476-7966-F61E-82B5AA9E702C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2069A325-C93E-FBDC-7A8B-6884DB47C469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1B9E4C29-4242-53A7-0BDF-2714EA1E0BCA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Rail">
            <a:extLst>
              <a:ext uri="{FF2B5EF4-FFF2-40B4-BE49-F238E27FC236}">
                <a16:creationId xmlns:a16="http://schemas.microsoft.com/office/drawing/2014/main" id="{3ECF5EEE-40B1-1BBA-B2F1-419DB94AC369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N28">
            <a:extLst>
              <a:ext uri="{FF2B5EF4-FFF2-40B4-BE49-F238E27FC236}">
                <a16:creationId xmlns:a16="http://schemas.microsoft.com/office/drawing/2014/main" id="{1A6562B7-5482-2DEF-130C-8D71E10AEE61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Same layout, comparison 2: the 10 s baseline against cue 1.</a:t>
            </a:r>
          </a:p>
        </p:txBody>
      </p:sp>
      <p:sp>
        <p:nvSpPr>
          <p:cNvPr id="11" name="!!N26">
            <a:extLst>
              <a:ext uri="{FF2B5EF4-FFF2-40B4-BE49-F238E27FC236}">
                <a16:creationId xmlns:a16="http://schemas.microsoft.com/office/drawing/2014/main" id="{CB00B11F-8450-EC7F-720B-3178E11525C6}"/>
              </a:ext>
            </a:extLst>
          </p:cNvPr>
          <p:cNvSpPr/>
          <p:nvPr/>
        </p:nvSpPr>
        <p:spPr>
          <a:xfrm>
            <a:off x="12573000" y="838200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Same ring, a second test (the toggle on tab 9): in every session, each trial’s baseline and cue swapped at random, 10,000 times. Single trials vary a lot, so the hill is much wider: P = 0.187 (the rats’ test: P = 0.023).</a:t>
            </a:r>
          </a:p>
        </p:txBody>
      </p:sp>
      <p:sp>
        <p:nvSpPr>
          <p:cNvPr id="12" name="!!N27">
            <a:extLst>
              <a:ext uri="{FF2B5EF4-FFF2-40B4-BE49-F238E27FC236}">
                <a16:creationId xmlns:a16="http://schemas.microsoft.com/office/drawing/2014/main" id="{335C416B-3740-BE3B-1941-CFD0B1E83617}"/>
              </a:ext>
            </a:extLst>
          </p:cNvPr>
          <p:cNvSpPr/>
          <p:nvPr/>
        </p:nvSpPr>
        <p:spPr>
          <a:xfrm>
            <a:off x="12573000" y="1937004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rats moved together, the test that matches tab 8’s light; single trials are too noisy to confirm it. Figure 1 is a lead, not a finding.</a:t>
            </a:r>
          </a:p>
        </p:txBody>
      </p:sp>
      <p:sp>
        <p:nvSpPr>
          <p:cNvPr id="13" name="!!T-BG">
            <a:extLst>
              <a:ext uri="{FF2B5EF4-FFF2-40B4-BE49-F238E27FC236}">
                <a16:creationId xmlns:a16="http://schemas.microsoft.com/office/drawing/2014/main" id="{1CD85920-057B-BC68-CB26-0047F2E58A13}"/>
              </a:ext>
            </a:extLst>
          </p:cNvPr>
          <p:cNvSpPr/>
          <p:nvPr/>
        </p:nvSpPr>
        <p:spPr>
          <a:xfrm>
            <a:off x="1905000" y="1905000"/>
            <a:ext cx="8382000" cy="3048000"/>
          </a:xfrm>
          <a:prstGeom prst="snip2DiagRect">
            <a:avLst>
              <a:gd name="adj1" fmla="val 0"/>
              <a:gd name="adj2" fmla="val 16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T">
            <a:extLst>
              <a:ext uri="{FF2B5EF4-FFF2-40B4-BE49-F238E27FC236}">
                <a16:creationId xmlns:a16="http://schemas.microsoft.com/office/drawing/2014/main" id="{2ACE9221-D427-4D7A-91E4-8D1C429FB926}"/>
              </a:ext>
            </a:extLst>
          </p:cNvPr>
          <p:cNvSpPr txBox="1"/>
          <p:nvPr/>
        </p:nvSpPr>
        <p:spPr>
          <a:xfrm>
            <a:off x="2286000" y="2032000"/>
            <a:ext cx="7620000" cy="2794000"/>
          </a:xfrm>
          <a:prstGeom prst="rect">
            <a:avLst/>
          </a:prstGeom>
          <a:noFill/>
        </p:spPr>
        <p:txBody>
          <a:bodyPr vert="horz" wrap="square" lIns="76200" tIns="50800" rIns="76200" bIns="5080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4000" b="1">
                <a:solidFill>
                  <a:srgbClr val="FF0000"/>
                </a:solidFill>
                <a:latin typeface="Aptos Display" panose="020B0004020202020204" pitchFamily="34" charset="0"/>
              </a:rPr>
              <a:t>Figure 2</a:t>
            </a:r>
          </a:p>
          <a:p>
            <a:pPr algn="ctr">
              <a:lnSpc>
                <a:spcPct val="95000"/>
              </a:lnSpc>
            </a:pPr>
            <a:r>
              <a:rPr lang="en-US" sz="2000">
                <a:solidFill>
                  <a:srgbClr val="FFFFFF"/>
                </a:solidFill>
                <a:latin typeface="Aptos Display" panose="020B0004020202020204" pitchFamily="34" charset="0"/>
              </a:rPr>
              <a:t>Comparison 2, baseline → cue 1: the whole network</a:t>
            </a:r>
          </a:p>
        </p:txBody>
      </p:sp>
    </p:spTree>
    <p:extLst>
      <p:ext uri="{BB962C8B-B14F-4D97-AF65-F5344CB8AC3E}">
        <p14:creationId xmlns:p14="http://schemas.microsoft.com/office/powerpoint/2010/main" val="10116881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87494E81-FD1C-CFED-414F-4A01DA2498D0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">
            <a:extLst>
              <a:ext uri="{FF2B5EF4-FFF2-40B4-BE49-F238E27FC236}">
                <a16:creationId xmlns:a16="http://schemas.microsoft.com/office/drawing/2014/main" id="{8F58D278-A64E-FFBF-9D95-156C5B99653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23" y="901954"/>
            <a:ext cx="5120754" cy="576529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73E7A2C3-CEF8-0BFD-62C4-6EB08CF2C2B6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5FB0AB97-93F0-65B4-1DA6-F318E0813E17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23137D6D-EEC3-468A-E802-1487BD10BA54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6558CBA2-7434-F21D-8598-D0027961F176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32AA452F-6946-0614-16D8-2ED6BED5C24C}"/>
              </a:ext>
            </a:extLst>
          </p:cNvPr>
          <p:cNvSpPr/>
          <p:nvPr/>
        </p:nvSpPr>
        <p:spPr>
          <a:xfrm>
            <a:off x="1315710" y="4512363"/>
            <a:ext cx="5093756" cy="1819199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6166B867-8A5E-BFC7-A25D-D4F9DD2AEE29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28">
            <a:extLst>
              <a:ext uri="{FF2B5EF4-FFF2-40B4-BE49-F238E27FC236}">
                <a16:creationId xmlns:a16="http://schemas.microsoft.com/office/drawing/2014/main" id="{48C48964-C3C0-4CC2-6E10-03C06B21FBCF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Same layout, comparison 2: the 10 s baseline against cue 1.</a:t>
            </a:r>
          </a:p>
        </p:txBody>
      </p:sp>
      <p:sp>
        <p:nvSpPr>
          <p:cNvPr id="12" name="!!N29">
            <a:extLst>
              <a:ext uri="{FF2B5EF4-FFF2-40B4-BE49-F238E27FC236}">
                <a16:creationId xmlns:a16="http://schemas.microsoft.com/office/drawing/2014/main" id="{F4F3C2B4-6C13-4E75-B36E-A9DDE5AB6ED5}"/>
              </a:ext>
            </a:extLst>
          </p:cNvPr>
          <p:cNvSpPr/>
          <p:nvPr/>
        </p:nvSpPr>
        <p:spPr>
          <a:xfrm>
            <a:off x="12573000" y="1559052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change’s increases: only 7 of 256 sums reach it: P = 0.027. The trial shuffle agrees (P = 0.030): the one network result that passes both tests.</a:t>
            </a:r>
          </a:p>
        </p:txBody>
      </p:sp>
      <p:sp>
        <p:nvSpPr>
          <p:cNvPr id="13" name="!!T-BG">
            <a:extLst>
              <a:ext uri="{FF2B5EF4-FFF2-40B4-BE49-F238E27FC236}">
                <a16:creationId xmlns:a16="http://schemas.microsoft.com/office/drawing/2014/main" id="{46672A2D-B560-175C-72A5-2EAFFC1CB59E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T">
            <a:extLst>
              <a:ext uri="{FF2B5EF4-FFF2-40B4-BE49-F238E27FC236}">
                <a16:creationId xmlns:a16="http://schemas.microsoft.com/office/drawing/2014/main" id="{5759DBB6-874D-4275-6667-7398CC44231B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it-IT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2 · baseline → cue 1 · gamma</a:t>
            </a:r>
            <a:endParaRPr lang="en-US" sz="2400" b="1" u="sng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8072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3A6BB634-0EBF-D6C3-4B60-68B6661764D6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">
            <a:extLst>
              <a:ext uri="{FF2B5EF4-FFF2-40B4-BE49-F238E27FC236}">
                <a16:creationId xmlns:a16="http://schemas.microsoft.com/office/drawing/2014/main" id="{45F675D3-A693-FFA1-40EE-87C1CC9CD0B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256" y="-12353290"/>
            <a:ext cx="18031533" cy="2030112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62AC0790-F9EF-49BB-C6BC-BCD49F68E33C}"/>
              </a:ext>
            </a:extLst>
          </p:cNvPr>
          <p:cNvSpPr/>
          <p:nvPr/>
        </p:nvSpPr>
        <p:spPr>
          <a:xfrm>
            <a:off x="0" y="685800"/>
            <a:ext cx="7670800" cy="1907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FB30FF5C-3141-4378-9E66-DF996FB2E601}"/>
              </a:ext>
            </a:extLst>
          </p:cNvPr>
          <p:cNvSpPr/>
          <p:nvPr/>
        </p:nvSpPr>
        <p:spPr>
          <a:xfrm>
            <a:off x="0" y="6692646"/>
            <a:ext cx="7670800" cy="1653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2774BC2E-9A39-3349-2170-442066147745}"/>
              </a:ext>
            </a:extLst>
          </p:cNvPr>
          <p:cNvSpPr/>
          <p:nvPr/>
        </p:nvSpPr>
        <p:spPr>
          <a:xfrm>
            <a:off x="0" y="876554"/>
            <a:ext cx="9154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DA876F32-5A31-27CC-7BA5-7D41747A82E8}"/>
              </a:ext>
            </a:extLst>
          </p:cNvPr>
          <p:cNvSpPr/>
          <p:nvPr/>
        </p:nvSpPr>
        <p:spPr>
          <a:xfrm>
            <a:off x="6780784" y="876554"/>
            <a:ext cx="8900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590AA140-8420-B082-7611-688DB2276F0C}"/>
              </a:ext>
            </a:extLst>
          </p:cNvPr>
          <p:cNvSpPr/>
          <p:nvPr/>
        </p:nvSpPr>
        <p:spPr>
          <a:xfrm>
            <a:off x="1827784" y="4942586"/>
            <a:ext cx="4336288" cy="1626108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F444F61F-B931-8E43-2EBA-605CA391488D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28">
            <a:extLst>
              <a:ext uri="{FF2B5EF4-FFF2-40B4-BE49-F238E27FC236}">
                <a16:creationId xmlns:a16="http://schemas.microsoft.com/office/drawing/2014/main" id="{314095DC-6866-952D-067E-16FFBEBE523A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Same layout, comparison 2: the 10 s baseline against cue 1.</a:t>
            </a:r>
          </a:p>
        </p:txBody>
      </p:sp>
      <p:sp>
        <p:nvSpPr>
          <p:cNvPr id="12" name="!!N29">
            <a:extLst>
              <a:ext uri="{FF2B5EF4-FFF2-40B4-BE49-F238E27FC236}">
                <a16:creationId xmlns:a16="http://schemas.microsoft.com/office/drawing/2014/main" id="{7D74C5F1-1D53-3357-D11C-B1E74C886EE2}"/>
              </a:ext>
            </a:extLst>
          </p:cNvPr>
          <p:cNvSpPr/>
          <p:nvPr/>
        </p:nvSpPr>
        <p:spPr>
          <a:xfrm>
            <a:off x="7797800" y="1559052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change’s increases: only 7 of 256 sums reach it: P = 0.027. The trial shuffle agrees (P = 0.030): the one network result that passes both tests.</a:t>
            </a:r>
          </a:p>
        </p:txBody>
      </p:sp>
      <p:sp>
        <p:nvSpPr>
          <p:cNvPr id="13" name="!!N30">
            <a:extLst>
              <a:ext uri="{FF2B5EF4-FFF2-40B4-BE49-F238E27FC236}">
                <a16:creationId xmlns:a16="http://schemas.microsoft.com/office/drawing/2014/main" id="{43BDB971-8590-B808-E5E1-036B8C7AA104}"/>
              </a:ext>
            </a:extLst>
          </p:cNvPr>
          <p:cNvSpPr/>
          <p:nvPr/>
        </p:nvSpPr>
        <p:spPr>
          <a:xfrm>
            <a:off x="12573000" y="246888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Ups and downs together: P = 0.062, just short.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0904ABD5-50D7-F688-A86A-EB27AABEB8AE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C2BC55E1-5BAF-FE60-DC23-FA57B8947F2F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it-IT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2 · baseline → cue 1 · gamma</a:t>
            </a:r>
            <a:endParaRPr lang="en-US" sz="2400" b="1" u="sng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6678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4136EC77-6AA4-A973-20B6-F59DF3535C11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">
            <a:extLst>
              <a:ext uri="{FF2B5EF4-FFF2-40B4-BE49-F238E27FC236}">
                <a16:creationId xmlns:a16="http://schemas.microsoft.com/office/drawing/2014/main" id="{8EF28BC4-5AF3-2E4F-468E-6A33DCB32CB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81080" y="-12353290"/>
            <a:ext cx="18031533" cy="2030112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3792C1FE-28BD-558F-1649-12D508679085}"/>
              </a:ext>
            </a:extLst>
          </p:cNvPr>
          <p:cNvSpPr/>
          <p:nvPr/>
        </p:nvSpPr>
        <p:spPr>
          <a:xfrm>
            <a:off x="0" y="685800"/>
            <a:ext cx="7670800" cy="1907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AADF045D-1222-9B56-FD37-ACD7FD44C1E3}"/>
              </a:ext>
            </a:extLst>
          </p:cNvPr>
          <p:cNvSpPr/>
          <p:nvPr/>
        </p:nvSpPr>
        <p:spPr>
          <a:xfrm>
            <a:off x="0" y="6692646"/>
            <a:ext cx="7670800" cy="1653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6BB970B1-779B-B8F6-92B9-C9003647BFA1}"/>
              </a:ext>
            </a:extLst>
          </p:cNvPr>
          <p:cNvSpPr/>
          <p:nvPr/>
        </p:nvSpPr>
        <p:spPr>
          <a:xfrm>
            <a:off x="0" y="876554"/>
            <a:ext cx="9154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32298B3A-D379-8D44-A504-D7E69CDF51B9}"/>
              </a:ext>
            </a:extLst>
          </p:cNvPr>
          <p:cNvSpPr/>
          <p:nvPr/>
        </p:nvSpPr>
        <p:spPr>
          <a:xfrm>
            <a:off x="6780784" y="876554"/>
            <a:ext cx="8900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9950CFB3-BA68-DE2E-34DE-19C4BA1B0445}"/>
              </a:ext>
            </a:extLst>
          </p:cNvPr>
          <p:cNvSpPr/>
          <p:nvPr/>
        </p:nvSpPr>
        <p:spPr>
          <a:xfrm>
            <a:off x="1827784" y="4942586"/>
            <a:ext cx="4336288" cy="1626108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B89783DF-6FAB-E4E2-E750-6203809B966A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28">
            <a:extLst>
              <a:ext uri="{FF2B5EF4-FFF2-40B4-BE49-F238E27FC236}">
                <a16:creationId xmlns:a16="http://schemas.microsoft.com/office/drawing/2014/main" id="{66679111-6467-09DA-3F0C-04221016E7A4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Same layout, comparison 2: the 10 s baseline against cue 1.</a:t>
            </a:r>
          </a:p>
        </p:txBody>
      </p:sp>
      <p:sp>
        <p:nvSpPr>
          <p:cNvPr id="12" name="!!N29">
            <a:extLst>
              <a:ext uri="{FF2B5EF4-FFF2-40B4-BE49-F238E27FC236}">
                <a16:creationId xmlns:a16="http://schemas.microsoft.com/office/drawing/2014/main" id="{BF7603A9-7807-9E3A-6CE6-7C21435A8030}"/>
              </a:ext>
            </a:extLst>
          </p:cNvPr>
          <p:cNvSpPr/>
          <p:nvPr/>
        </p:nvSpPr>
        <p:spPr>
          <a:xfrm>
            <a:off x="7797800" y="155905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change’s increases: only 7 of 256 sums reach it: P = 0.027. The trial shuffle agrees (P = 0.030): the one network result that passes both tests.</a:t>
            </a:r>
          </a:p>
        </p:txBody>
      </p:sp>
      <p:sp>
        <p:nvSpPr>
          <p:cNvPr id="13" name="!!N30">
            <a:extLst>
              <a:ext uri="{FF2B5EF4-FFF2-40B4-BE49-F238E27FC236}">
                <a16:creationId xmlns:a16="http://schemas.microsoft.com/office/drawing/2014/main" id="{93C235AF-3D25-2051-BC8F-18E1F9BC56EF}"/>
              </a:ext>
            </a:extLst>
          </p:cNvPr>
          <p:cNvSpPr/>
          <p:nvPr/>
        </p:nvSpPr>
        <p:spPr>
          <a:xfrm>
            <a:off x="7797800" y="246888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Ups and downs together: P = 0.062, just short.</a:t>
            </a:r>
          </a:p>
        </p:txBody>
      </p:sp>
      <p:sp>
        <p:nvSpPr>
          <p:cNvPr id="14" name="!!N31">
            <a:extLst>
              <a:ext uri="{FF2B5EF4-FFF2-40B4-BE49-F238E27FC236}">
                <a16:creationId xmlns:a16="http://schemas.microsoft.com/office/drawing/2014/main" id="{2D1FF5F3-94CE-5E35-78B3-923783E79206}"/>
              </a:ext>
            </a:extLst>
          </p:cNvPr>
          <p:cNvSpPr/>
          <p:nvPr/>
        </p:nvSpPr>
        <p:spPr>
          <a:xfrm>
            <a:off x="12573000" y="838200"/>
            <a:ext cx="4241800" cy="192938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One ring splits the other way: on Precon1 alone, the decreases pass the trial shuffle (P = 0.039) but not the rats’ test (P = 0.090). It is one day, not the change, so it does not answer the question.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479A212C-73E9-915A-9142-C3717ECA3DE9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04D10F16-3054-1C0E-E78B-8B2F35D4E38C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it-IT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2 · baseline → cue 1 · gamma</a:t>
            </a:r>
            <a:endParaRPr lang="en-US" sz="2400" b="1" u="sng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7685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1BE17A90-3D4E-FC6C-6495-FE9B05D66948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">
            <a:extLst>
              <a:ext uri="{FF2B5EF4-FFF2-40B4-BE49-F238E27FC236}">
                <a16:creationId xmlns:a16="http://schemas.microsoft.com/office/drawing/2014/main" id="{9A600CC0-8EA9-7B65-BBE4-3EA682461E1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62168" y="-132842"/>
            <a:ext cx="18031533" cy="2030112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7D731865-A191-3D10-6FF0-867BDFA41024}"/>
              </a:ext>
            </a:extLst>
          </p:cNvPr>
          <p:cNvSpPr/>
          <p:nvPr/>
        </p:nvSpPr>
        <p:spPr>
          <a:xfrm>
            <a:off x="0" y="685800"/>
            <a:ext cx="7670800" cy="1907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242E3646-39F8-31C9-D1CE-B9FAD0914513}"/>
              </a:ext>
            </a:extLst>
          </p:cNvPr>
          <p:cNvSpPr/>
          <p:nvPr/>
        </p:nvSpPr>
        <p:spPr>
          <a:xfrm>
            <a:off x="0" y="6692646"/>
            <a:ext cx="7670800" cy="1653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0D89CB98-E675-C3C2-C4C4-22B6B34CF142}"/>
              </a:ext>
            </a:extLst>
          </p:cNvPr>
          <p:cNvSpPr/>
          <p:nvPr/>
        </p:nvSpPr>
        <p:spPr>
          <a:xfrm>
            <a:off x="0" y="876554"/>
            <a:ext cx="9154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942DA08A-C6E0-7912-B0D6-EC8B4E9DB016}"/>
              </a:ext>
            </a:extLst>
          </p:cNvPr>
          <p:cNvSpPr/>
          <p:nvPr/>
        </p:nvSpPr>
        <p:spPr>
          <a:xfrm>
            <a:off x="6780784" y="876554"/>
            <a:ext cx="89001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AFBC5310-E558-CB25-4D80-48E0D8965CCA}"/>
              </a:ext>
            </a:extLst>
          </p:cNvPr>
          <p:cNvSpPr/>
          <p:nvPr/>
        </p:nvSpPr>
        <p:spPr>
          <a:xfrm>
            <a:off x="1827784" y="4942586"/>
            <a:ext cx="4336288" cy="1626108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B65E0F21-78D9-BA0F-B4C1-74B4C3CF3F4E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31">
            <a:extLst>
              <a:ext uri="{FF2B5EF4-FFF2-40B4-BE49-F238E27FC236}">
                <a16:creationId xmlns:a16="http://schemas.microsoft.com/office/drawing/2014/main" id="{75FF1B9C-CC53-CAC5-C785-F5F0776EF1B9}"/>
              </a:ext>
            </a:extLst>
          </p:cNvPr>
          <p:cNvSpPr/>
          <p:nvPr/>
        </p:nvSpPr>
        <p:spPr>
          <a:xfrm>
            <a:off x="7797800" y="838200"/>
            <a:ext cx="4241800" cy="192938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One ring splits the other way: on Precon1 alone, the decreases pass the trial shuffle (P = 0.039) but not the rats’ test (P = 0.090). It is one day, not the change, so it does not answer the question.</a:t>
            </a:r>
          </a:p>
        </p:txBody>
      </p:sp>
      <p:sp>
        <p:nvSpPr>
          <p:cNvPr id="12" name="!!N32">
            <a:extLst>
              <a:ext uri="{FF2B5EF4-FFF2-40B4-BE49-F238E27FC236}">
                <a16:creationId xmlns:a16="http://schemas.microsoft.com/office/drawing/2014/main" id="{66EDCA6C-B144-7026-99E4-A1C6E16039B1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Then tab 8 looked closer at single pairs inside comparisons 1 and 2, with four kinds of extra test.</a:t>
            </a:r>
          </a:p>
        </p:txBody>
      </p:sp>
      <p:sp>
        <p:nvSpPr>
          <p:cNvPr id="13" name="!!N28">
            <a:extLst>
              <a:ext uri="{FF2B5EF4-FFF2-40B4-BE49-F238E27FC236}">
                <a16:creationId xmlns:a16="http://schemas.microsoft.com/office/drawing/2014/main" id="{603CDC9E-F2D9-7548-9ED6-150818022C45}"/>
              </a:ext>
            </a:extLst>
          </p:cNvPr>
          <p:cNvSpPr/>
          <p:nvPr/>
        </p:nvSpPr>
        <p:spPr>
          <a:xfrm>
            <a:off x="125730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Same layout, comparison 2: the 10 s baseline against cue 1.</a:t>
            </a:r>
          </a:p>
        </p:txBody>
      </p:sp>
      <p:sp>
        <p:nvSpPr>
          <p:cNvPr id="14" name="!!N29">
            <a:extLst>
              <a:ext uri="{FF2B5EF4-FFF2-40B4-BE49-F238E27FC236}">
                <a16:creationId xmlns:a16="http://schemas.microsoft.com/office/drawing/2014/main" id="{4C9BA323-CEDF-8DD2-4AD9-38AAE28AF241}"/>
              </a:ext>
            </a:extLst>
          </p:cNvPr>
          <p:cNvSpPr/>
          <p:nvPr/>
        </p:nvSpPr>
        <p:spPr>
          <a:xfrm>
            <a:off x="12573000" y="155905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change’s increases: only 7 of 256 sums reach it: P = 0.027. The trial shuffle agrees (P = 0.030): the one network result that passes both tests.</a:t>
            </a:r>
          </a:p>
        </p:txBody>
      </p:sp>
      <p:sp>
        <p:nvSpPr>
          <p:cNvPr id="15" name="!!N30">
            <a:extLst>
              <a:ext uri="{FF2B5EF4-FFF2-40B4-BE49-F238E27FC236}">
                <a16:creationId xmlns:a16="http://schemas.microsoft.com/office/drawing/2014/main" id="{FB8D31EC-D3B7-2A75-2E8A-FE4A44C75E52}"/>
              </a:ext>
            </a:extLst>
          </p:cNvPr>
          <p:cNvSpPr/>
          <p:nvPr/>
        </p:nvSpPr>
        <p:spPr>
          <a:xfrm>
            <a:off x="12573000" y="246888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Ups and downs together: P = 0.062, just short.</a:t>
            </a:r>
          </a:p>
        </p:txBody>
      </p:sp>
      <p:sp>
        <p:nvSpPr>
          <p:cNvPr id="16" name="!!T-BG">
            <a:extLst>
              <a:ext uri="{FF2B5EF4-FFF2-40B4-BE49-F238E27FC236}">
                <a16:creationId xmlns:a16="http://schemas.microsoft.com/office/drawing/2014/main" id="{A09C03C6-7020-5165-BCC7-5C0C5750DF2D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T">
            <a:extLst>
              <a:ext uri="{FF2B5EF4-FFF2-40B4-BE49-F238E27FC236}">
                <a16:creationId xmlns:a16="http://schemas.microsoft.com/office/drawing/2014/main" id="{A9C912ED-44FD-41AB-5CE7-86D1A0C85ED3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it-IT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Figure 2 · baseline → cue 1 · gamma</a:t>
            </a:r>
            <a:endParaRPr lang="en-US" sz="2400" b="1" u="sng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327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5940D305-166D-5FEC-8F6E-7914A2B4CBA5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families">
            <a:extLst>
              <a:ext uri="{FF2B5EF4-FFF2-40B4-BE49-F238E27FC236}">
                <a16:creationId xmlns:a16="http://schemas.microsoft.com/office/drawing/2014/main" id="{EF5750E5-037C-ABA9-B542-2C4424E21D1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506078"/>
            <a:ext cx="7120382" cy="4557044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E037F625-3C4D-23C8-2173-0D9212C885EC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1CD70208-72C8-0FAF-1E84-8D239D83D05B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C6709B6C-6B8A-24E0-A85B-0EA9A612F0FD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BCEACFE2-37AD-10F0-D872-D83B660A7BA3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Rail">
            <a:extLst>
              <a:ext uri="{FF2B5EF4-FFF2-40B4-BE49-F238E27FC236}">
                <a16:creationId xmlns:a16="http://schemas.microsoft.com/office/drawing/2014/main" id="{4FEEC718-213E-A040-A58B-EEA905EE998E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N32">
            <a:extLst>
              <a:ext uri="{FF2B5EF4-FFF2-40B4-BE49-F238E27FC236}">
                <a16:creationId xmlns:a16="http://schemas.microsoft.com/office/drawing/2014/main" id="{D487B6A4-E3E2-03C2-CE33-221FB7047F7E}"/>
              </a:ext>
            </a:extLst>
          </p:cNvPr>
          <p:cNvSpPr/>
          <p:nvPr/>
        </p:nvSpPr>
        <p:spPr>
          <a:xfrm>
            <a:off x="77978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Then tab 8 looked closer at single pairs inside comparisons 1 and 2, with four kinds of extra test.</a:t>
            </a:r>
          </a:p>
        </p:txBody>
      </p:sp>
      <p:sp>
        <p:nvSpPr>
          <p:cNvPr id="11" name="!!N33">
            <a:extLst>
              <a:ext uri="{FF2B5EF4-FFF2-40B4-BE49-F238E27FC236}">
                <a16:creationId xmlns:a16="http://schemas.microsoft.com/office/drawing/2014/main" id="{3FF3F6B1-2269-497E-A4A8-85A7BAD6B2A9}"/>
              </a:ext>
            </a:extLst>
          </p:cNvPr>
          <p:cNvSpPr/>
          <p:nvPr/>
        </p:nvSpPr>
        <p:spPr>
          <a:xfrm>
            <a:off x="12573000" y="1559052"/>
            <a:ext cx="4241800" cy="249631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Not just a shared signal: two wires can look coherent because they pick up the same source. PLI and imaginary coherence count only coupling with a delay: PLI asks how steadily one rhythm runs ahead, imaginary coherence also weighs how strongly.</a:t>
            </a:r>
          </a:p>
        </p:txBody>
      </p:sp>
      <p:sp>
        <p:nvSpPr>
          <p:cNvPr id="12" name="!!N31">
            <a:extLst>
              <a:ext uri="{FF2B5EF4-FFF2-40B4-BE49-F238E27FC236}">
                <a16:creationId xmlns:a16="http://schemas.microsoft.com/office/drawing/2014/main" id="{5AAB8037-B3DA-732C-B977-534690E4CF98}"/>
              </a:ext>
            </a:extLst>
          </p:cNvPr>
          <p:cNvSpPr/>
          <p:nvPr/>
        </p:nvSpPr>
        <p:spPr>
          <a:xfrm>
            <a:off x="12573000" y="838200"/>
            <a:ext cx="4241800" cy="192938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One ring splits the other way: on Precon1 alone, the decreases pass the trial shuffle (P = 0.039) but not the rats’ test (P = 0.090). It is one day, not the change, so it does not answer the question.</a:t>
            </a:r>
          </a:p>
        </p:txBody>
      </p:sp>
      <p:sp>
        <p:nvSpPr>
          <p:cNvPr id="13" name="!!T-BG">
            <a:extLst>
              <a:ext uri="{FF2B5EF4-FFF2-40B4-BE49-F238E27FC236}">
                <a16:creationId xmlns:a16="http://schemas.microsoft.com/office/drawing/2014/main" id="{A6BB7D53-F1F5-9A12-3590-1B432A3A87EA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T">
            <a:extLst>
              <a:ext uri="{FF2B5EF4-FFF2-40B4-BE49-F238E27FC236}">
                <a16:creationId xmlns:a16="http://schemas.microsoft.com/office/drawing/2014/main" id="{BFA13CBA-0381-A562-B624-3BEE9E29558F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The follow-ups</a:t>
            </a:r>
          </a:p>
        </p:txBody>
      </p:sp>
    </p:spTree>
    <p:extLst>
      <p:ext uri="{BB962C8B-B14F-4D97-AF65-F5344CB8AC3E}">
        <p14:creationId xmlns:p14="http://schemas.microsoft.com/office/powerpoint/2010/main" val="12152962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AE6F63CB-65E1-C586-8CB9-03CCF02327BC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families">
            <a:extLst>
              <a:ext uri="{FF2B5EF4-FFF2-40B4-BE49-F238E27FC236}">
                <a16:creationId xmlns:a16="http://schemas.microsoft.com/office/drawing/2014/main" id="{387C347A-EA63-4E72-BC68-F80FD462BF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506078"/>
            <a:ext cx="7120382" cy="4557044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6802E5A8-8602-9830-68A0-9F45E644C1F6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7CBAF70A-AE85-0D1C-B385-A19354F1AE67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87BC074F-8A56-1ABA-DF2C-93D1C254F531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FEB59500-2ECB-7A4F-4EF2-CE781E18D2FD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D78F0053-16D1-7C41-2F99-75AB025F7BC9}"/>
              </a:ext>
            </a:extLst>
          </p:cNvPr>
          <p:cNvSpPr/>
          <p:nvPr/>
        </p:nvSpPr>
        <p:spPr>
          <a:xfrm>
            <a:off x="430317" y="1648485"/>
            <a:ext cx="3370314" cy="2088646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3324502A-D122-BF22-5380-741873093065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32">
            <a:extLst>
              <a:ext uri="{FF2B5EF4-FFF2-40B4-BE49-F238E27FC236}">
                <a16:creationId xmlns:a16="http://schemas.microsoft.com/office/drawing/2014/main" id="{5C297F48-B061-7FA5-C396-57E3C4C36696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Then tab 8 looked closer at single pairs inside comparisons 1 and 2, with four kinds of extra test.</a:t>
            </a:r>
          </a:p>
        </p:txBody>
      </p:sp>
      <p:sp>
        <p:nvSpPr>
          <p:cNvPr id="12" name="!!N33">
            <a:extLst>
              <a:ext uri="{FF2B5EF4-FFF2-40B4-BE49-F238E27FC236}">
                <a16:creationId xmlns:a16="http://schemas.microsoft.com/office/drawing/2014/main" id="{FD220E54-6EAB-8F4A-E39A-72CAAB6F19BC}"/>
              </a:ext>
            </a:extLst>
          </p:cNvPr>
          <p:cNvSpPr/>
          <p:nvPr/>
        </p:nvSpPr>
        <p:spPr>
          <a:xfrm>
            <a:off x="7797800" y="1559052"/>
            <a:ext cx="4241800" cy="249631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Not just a shared signal: two wires can look coherent because they pick up the same source. PLI and imaginary coherence count only coupling with a delay: PLI asks how steadily one rhythm runs ahead, imaginary coherence also weighs how strongly.</a:t>
            </a:r>
          </a:p>
        </p:txBody>
      </p:sp>
      <p:sp>
        <p:nvSpPr>
          <p:cNvPr id="13" name="!!N34">
            <a:extLst>
              <a:ext uri="{FF2B5EF4-FFF2-40B4-BE49-F238E27FC236}">
                <a16:creationId xmlns:a16="http://schemas.microsoft.com/office/drawing/2014/main" id="{7A705539-2F14-BCC0-47D7-CE441CCB38A0}"/>
              </a:ext>
            </a:extLst>
          </p:cNvPr>
          <p:cNvSpPr/>
          <p:nvPr/>
        </p:nvSpPr>
        <p:spPr>
          <a:xfrm>
            <a:off x="125730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Which leads: Granger asks if one region’s past predicts the other’s future; the lag asks whose gamma bursts come first.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4C1F6AE7-DD91-B7F5-BE9D-1CBA83EBADB1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9EBAAA28-4FAF-8B98-8AFB-87DECC659E87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The follow-ups</a:t>
            </a:r>
          </a:p>
        </p:txBody>
      </p:sp>
    </p:spTree>
    <p:extLst>
      <p:ext uri="{BB962C8B-B14F-4D97-AF65-F5344CB8AC3E}">
        <p14:creationId xmlns:p14="http://schemas.microsoft.com/office/powerpoint/2010/main" val="35588275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D5BDA556-BB21-5600-6F56-F7BD32B3694D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families">
            <a:extLst>
              <a:ext uri="{FF2B5EF4-FFF2-40B4-BE49-F238E27FC236}">
                <a16:creationId xmlns:a16="http://schemas.microsoft.com/office/drawing/2014/main" id="{35FAD0A3-12B5-37D8-B24E-32CABAA65DB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506078"/>
            <a:ext cx="7120382" cy="4557044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1E550534-F9A7-C061-7A85-D26DB0EAF6F4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F32769CD-8C71-3436-2B31-F5B684255ACD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F87003AD-47EA-41EB-AF7A-DEBFE3BB708B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ACAB468B-EB0E-3F4A-B829-31E40341C059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CF838108-807E-79C0-3B5A-1D3C0214F06B}"/>
              </a:ext>
            </a:extLst>
          </p:cNvPr>
          <p:cNvSpPr/>
          <p:nvPr/>
        </p:nvSpPr>
        <p:spPr>
          <a:xfrm>
            <a:off x="3895569" y="1648485"/>
            <a:ext cx="3370315" cy="2088646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3C71B0F6-EF4D-5094-C04F-423FE0F0A9AA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34">
            <a:extLst>
              <a:ext uri="{FF2B5EF4-FFF2-40B4-BE49-F238E27FC236}">
                <a16:creationId xmlns:a16="http://schemas.microsoft.com/office/drawing/2014/main" id="{9BEE8F31-0CBB-4E8E-FC24-CEE66D0E88DF}"/>
              </a:ext>
            </a:extLst>
          </p:cNvPr>
          <p:cNvSpPr/>
          <p:nvPr/>
        </p:nvSpPr>
        <p:spPr>
          <a:xfrm>
            <a:off x="77978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Which leads: Granger asks if one region’s past predicts the other’s future; the lag asks whose gamma bursts come first.</a:t>
            </a:r>
          </a:p>
        </p:txBody>
      </p:sp>
      <p:sp>
        <p:nvSpPr>
          <p:cNvPr id="12" name="!!N35">
            <a:extLst>
              <a:ext uri="{FF2B5EF4-FFF2-40B4-BE49-F238E27FC236}">
                <a16:creationId xmlns:a16="http://schemas.microsoft.com/office/drawing/2014/main" id="{B7DB4DD4-4603-B73A-E155-D066F6831A0D}"/>
              </a:ext>
            </a:extLst>
          </p:cNvPr>
          <p:cNvSpPr/>
          <p:nvPr/>
        </p:nvSpPr>
        <p:spPr>
          <a:xfrm>
            <a:off x="125730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Bursts rise together: do the two regions’ gamma get loud at the same moments?</a:t>
            </a:r>
          </a:p>
        </p:txBody>
      </p:sp>
      <p:sp>
        <p:nvSpPr>
          <p:cNvPr id="13" name="!!N32">
            <a:extLst>
              <a:ext uri="{FF2B5EF4-FFF2-40B4-BE49-F238E27FC236}">
                <a16:creationId xmlns:a16="http://schemas.microsoft.com/office/drawing/2014/main" id="{2E601D4A-AFCA-D69E-420D-3B7D8C361485}"/>
              </a:ext>
            </a:extLst>
          </p:cNvPr>
          <p:cNvSpPr/>
          <p:nvPr/>
        </p:nvSpPr>
        <p:spPr>
          <a:xfrm>
            <a:off x="125730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Then tab 8 looked closer at single pairs inside comparisons 1 and 2, with four kinds of extra test.</a:t>
            </a:r>
          </a:p>
        </p:txBody>
      </p:sp>
      <p:sp>
        <p:nvSpPr>
          <p:cNvPr id="14" name="!!N33">
            <a:extLst>
              <a:ext uri="{FF2B5EF4-FFF2-40B4-BE49-F238E27FC236}">
                <a16:creationId xmlns:a16="http://schemas.microsoft.com/office/drawing/2014/main" id="{E2E6DEE7-33F5-F34F-0082-B207D1D426A9}"/>
              </a:ext>
            </a:extLst>
          </p:cNvPr>
          <p:cNvSpPr/>
          <p:nvPr/>
        </p:nvSpPr>
        <p:spPr>
          <a:xfrm>
            <a:off x="12573000" y="1559052"/>
            <a:ext cx="4241800" cy="249631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Not just a shared signal: two wires can look coherent because they pick up the same source. PLI and imaginary coherence count only coupling with a delay: PLI asks how steadily one rhythm runs ahead, imaginary coherence also weighs how strongly.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49551A23-E00E-9763-B6C0-CE5194B4CF63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6F996A2D-E1C3-6864-79C9-8E76F544BD9F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The follow-ups</a:t>
            </a:r>
          </a:p>
        </p:txBody>
      </p:sp>
    </p:spTree>
    <p:extLst>
      <p:ext uri="{BB962C8B-B14F-4D97-AF65-F5344CB8AC3E}">
        <p14:creationId xmlns:p14="http://schemas.microsoft.com/office/powerpoint/2010/main" val="39867863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E27DA8F2-A9CE-6D36-4A13-158D32271043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families">
            <a:extLst>
              <a:ext uri="{FF2B5EF4-FFF2-40B4-BE49-F238E27FC236}">
                <a16:creationId xmlns:a16="http://schemas.microsoft.com/office/drawing/2014/main" id="{07B6B796-661D-2270-2854-EF0BB5E9AE3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506078"/>
            <a:ext cx="7120382" cy="4557044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1A9F3496-3DB9-178D-03B0-EB65A8C4BC4B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17B9428C-DC8D-9FA5-943E-05344018BC85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ADBFE169-11A9-5E06-3068-0529F4CF49EF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0EF81BD7-48E2-7609-7420-CC38ECBE4F4A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7A6A4327-3DC7-4F1A-96E2-326068540951}"/>
              </a:ext>
            </a:extLst>
          </p:cNvPr>
          <p:cNvSpPr/>
          <p:nvPr/>
        </p:nvSpPr>
        <p:spPr>
          <a:xfrm>
            <a:off x="430317" y="3832069"/>
            <a:ext cx="3370314" cy="2088646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DC6C4BAA-2D97-E49B-FE62-72FEBA341044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34">
            <a:extLst>
              <a:ext uri="{FF2B5EF4-FFF2-40B4-BE49-F238E27FC236}">
                <a16:creationId xmlns:a16="http://schemas.microsoft.com/office/drawing/2014/main" id="{D37DFF95-7F23-7D9D-D91E-FD75CD67E593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Which leads: Granger asks if one region’s past predicts the other’s future; the lag asks whose gamma bursts come first.</a:t>
            </a:r>
          </a:p>
        </p:txBody>
      </p:sp>
      <p:sp>
        <p:nvSpPr>
          <p:cNvPr id="12" name="!!N35">
            <a:extLst>
              <a:ext uri="{FF2B5EF4-FFF2-40B4-BE49-F238E27FC236}">
                <a16:creationId xmlns:a16="http://schemas.microsoft.com/office/drawing/2014/main" id="{0965C3A0-042A-CBE1-DB83-BCE0BB187D04}"/>
              </a:ext>
            </a:extLst>
          </p:cNvPr>
          <p:cNvSpPr/>
          <p:nvPr/>
        </p:nvSpPr>
        <p:spPr>
          <a:xfrm>
            <a:off x="77978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Bursts rise together: do the two regions’ gamma get loud at the same moments?</a:t>
            </a:r>
          </a:p>
        </p:txBody>
      </p:sp>
      <p:sp>
        <p:nvSpPr>
          <p:cNvPr id="13" name="!!N36">
            <a:extLst>
              <a:ext uri="{FF2B5EF4-FFF2-40B4-BE49-F238E27FC236}">
                <a16:creationId xmlns:a16="http://schemas.microsoft.com/office/drawing/2014/main" id="{220170FA-823F-DFC3-ECA3-83F8D26E7235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Theta paces gamma: do gamma bursts in one region ride the theta cycle of another (or its own)?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5E7669E3-2ACD-8CD5-6B20-81A9D2CFA60D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000E30DF-4757-4297-B815-7E569C8195C4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The follow-ups</a:t>
            </a:r>
          </a:p>
        </p:txBody>
      </p:sp>
    </p:spTree>
    <p:extLst>
      <p:ext uri="{BB962C8B-B14F-4D97-AF65-F5344CB8AC3E}">
        <p14:creationId xmlns:p14="http://schemas.microsoft.com/office/powerpoint/2010/main" val="20465968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5AFD6C33-32BE-0567-7AE9-41F1A049F705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families">
            <a:extLst>
              <a:ext uri="{FF2B5EF4-FFF2-40B4-BE49-F238E27FC236}">
                <a16:creationId xmlns:a16="http://schemas.microsoft.com/office/drawing/2014/main" id="{48D4583B-3F4E-3C79-9233-B556E175C98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506078"/>
            <a:ext cx="7120382" cy="4557044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31E1B634-5AAA-FF61-94FA-C091282D86F1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5F81BE86-9AA4-E12B-89C9-729CA20474B5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2FDD90F9-F0CD-480E-0016-804E619D6A9D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F20449B0-6C21-BA2A-8E1B-880459771792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4F1062AA-AFFA-B955-4636-6C2B6EFAB87D}"/>
              </a:ext>
            </a:extLst>
          </p:cNvPr>
          <p:cNvSpPr/>
          <p:nvPr/>
        </p:nvSpPr>
        <p:spPr>
          <a:xfrm>
            <a:off x="3895569" y="3832069"/>
            <a:ext cx="3370315" cy="2088646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8476396D-6CDA-4313-BCB4-4742ED18C888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36">
            <a:extLst>
              <a:ext uri="{FF2B5EF4-FFF2-40B4-BE49-F238E27FC236}">
                <a16:creationId xmlns:a16="http://schemas.microsoft.com/office/drawing/2014/main" id="{171D7D87-B499-64C4-2EFC-5F011739A31E}"/>
              </a:ext>
            </a:extLst>
          </p:cNvPr>
          <p:cNvSpPr/>
          <p:nvPr/>
        </p:nvSpPr>
        <p:spPr>
          <a:xfrm>
            <a:off x="77978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Theta paces gamma: do gamma bursts in one region ride the theta cycle of another (or its own)?</a:t>
            </a:r>
          </a:p>
        </p:txBody>
      </p:sp>
      <p:sp>
        <p:nvSpPr>
          <p:cNvPr id="12" name="!!N37">
            <a:extLst>
              <a:ext uri="{FF2B5EF4-FFF2-40B4-BE49-F238E27FC236}">
                <a16:creationId xmlns:a16="http://schemas.microsoft.com/office/drawing/2014/main" id="{74A7A50B-04C2-C058-B0A7-65C2A7AF149B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How to read a follow-up figure. a: the pair, on the same ring (an arrow when a direction was measured).</a:t>
            </a:r>
          </a:p>
        </p:txBody>
      </p:sp>
      <p:sp>
        <p:nvSpPr>
          <p:cNvPr id="13" name="!!N34">
            <a:extLst>
              <a:ext uri="{FF2B5EF4-FFF2-40B4-BE49-F238E27FC236}">
                <a16:creationId xmlns:a16="http://schemas.microsoft.com/office/drawing/2014/main" id="{F22AF8EB-17B6-89F1-2288-38C2637D8E3E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Which leads: Granger asks if one region’s past predicts the other’s future; the lag asks whose gamma bursts come first.</a:t>
            </a:r>
          </a:p>
        </p:txBody>
      </p:sp>
      <p:sp>
        <p:nvSpPr>
          <p:cNvPr id="14" name="!!N35">
            <a:extLst>
              <a:ext uri="{FF2B5EF4-FFF2-40B4-BE49-F238E27FC236}">
                <a16:creationId xmlns:a16="http://schemas.microsoft.com/office/drawing/2014/main" id="{D6914AA8-F0B8-C8BA-A02D-E06C826D11ED}"/>
              </a:ext>
            </a:extLst>
          </p:cNvPr>
          <p:cNvSpPr/>
          <p:nvPr/>
        </p:nvSpPr>
        <p:spPr>
          <a:xfrm>
            <a:off x="125730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Bursts rise together: do the two regions’ gamma get loud at the same moments?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E89314FE-43FD-DFA8-8F22-EE016006B52D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0855688D-51D3-C5A0-965D-B6D5EA107D2C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The follow-ups</a:t>
            </a:r>
          </a:p>
        </p:txBody>
      </p:sp>
    </p:spTree>
    <p:extLst>
      <p:ext uri="{BB962C8B-B14F-4D97-AF65-F5344CB8AC3E}">
        <p14:creationId xmlns:p14="http://schemas.microsoft.com/office/powerpoint/2010/main" val="39424222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53526C7D-8518-DC12-9294-08E7BC4FFBFD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1">
            <a:extLst>
              <a:ext uri="{FF2B5EF4-FFF2-40B4-BE49-F238E27FC236}">
                <a16:creationId xmlns:a16="http://schemas.microsoft.com/office/drawing/2014/main" id="{7CF4A569-DDEB-AF7C-C8FB-C2CD9CF1B3E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36" y="901954"/>
            <a:ext cx="23440994" cy="6405325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89EC889E-F736-4FA9-05BC-AC554174D538}"/>
              </a:ext>
            </a:extLst>
          </p:cNvPr>
          <p:cNvSpPr/>
          <p:nvPr/>
        </p:nvSpPr>
        <p:spPr>
          <a:xfrm>
            <a:off x="0" y="685800"/>
            <a:ext cx="7670800" cy="1907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6C2F096B-9ABB-4A03-3B87-869346B393A2}"/>
              </a:ext>
            </a:extLst>
          </p:cNvPr>
          <p:cNvSpPr/>
          <p:nvPr/>
        </p:nvSpPr>
        <p:spPr>
          <a:xfrm>
            <a:off x="0" y="6692646"/>
            <a:ext cx="7670800" cy="165354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723AC751-F0BE-49D4-A9E5-8C916668F429}"/>
              </a:ext>
            </a:extLst>
          </p:cNvPr>
          <p:cNvSpPr/>
          <p:nvPr/>
        </p:nvSpPr>
        <p:spPr>
          <a:xfrm>
            <a:off x="0" y="876554"/>
            <a:ext cx="81193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D6F2378C-B445-6D43-387E-94C5C3CDAC93}"/>
              </a:ext>
            </a:extLst>
          </p:cNvPr>
          <p:cNvSpPr/>
          <p:nvPr/>
        </p:nvSpPr>
        <p:spPr>
          <a:xfrm>
            <a:off x="6884264" y="876554"/>
            <a:ext cx="786536" cy="58160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5A44C8A4-C187-0476-C93B-E2A615F8E948}"/>
              </a:ext>
            </a:extLst>
          </p:cNvPr>
          <p:cNvSpPr/>
          <p:nvPr/>
        </p:nvSpPr>
        <p:spPr>
          <a:xfrm>
            <a:off x="837336" y="901954"/>
            <a:ext cx="6021528" cy="576529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43C6FEDC-842D-6FAE-0CDD-DF65C830CEEB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37">
            <a:extLst>
              <a:ext uri="{FF2B5EF4-FFF2-40B4-BE49-F238E27FC236}">
                <a16:creationId xmlns:a16="http://schemas.microsoft.com/office/drawing/2014/main" id="{305C580E-C0A0-9984-27FA-E5F24B5E9D09}"/>
              </a:ext>
            </a:extLst>
          </p:cNvPr>
          <p:cNvSpPr/>
          <p:nvPr/>
        </p:nvSpPr>
        <p:spPr>
          <a:xfrm>
            <a:off x="77978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How to read a follow-up figure. a: the pair, on the same ring (an arrow when a direction was measured).</a:t>
            </a:r>
          </a:p>
        </p:txBody>
      </p:sp>
      <p:sp>
        <p:nvSpPr>
          <p:cNvPr id="12" name="!!N38">
            <a:extLst>
              <a:ext uri="{FF2B5EF4-FFF2-40B4-BE49-F238E27FC236}">
                <a16:creationId xmlns:a16="http://schemas.microsoft.com/office/drawing/2014/main" id="{87FC2009-0311-7A59-554F-F603038A4F44}"/>
              </a:ext>
            </a:extLst>
          </p:cNvPr>
          <p:cNvSpPr/>
          <p:nvPr/>
        </p:nvSpPr>
        <p:spPr>
          <a:xfrm>
            <a:off x="12573000" y="155905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b: each rat’s baseline and cue, Precon1 in grey and Precon4 in black.</a:t>
            </a:r>
          </a:p>
        </p:txBody>
      </p:sp>
      <p:sp>
        <p:nvSpPr>
          <p:cNvPr id="13" name="!!N36">
            <a:extLst>
              <a:ext uri="{FF2B5EF4-FFF2-40B4-BE49-F238E27FC236}">
                <a16:creationId xmlns:a16="http://schemas.microsoft.com/office/drawing/2014/main" id="{766E6988-EBBC-D98A-1BB0-48E160A38F78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Theta paces gamma: do gamma bursts in one region ride the theta cycle of another (or its own)?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4EC24118-CF47-A70C-6369-B5C4631253E7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DFBCF825-8E5B-B0EB-8CED-B7F38DB8210E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1.1 · R ACC – R RSC · Not just a shared signal</a:t>
            </a:r>
          </a:p>
        </p:txBody>
      </p:sp>
    </p:spTree>
    <p:extLst>
      <p:ext uri="{BB962C8B-B14F-4D97-AF65-F5344CB8AC3E}">
        <p14:creationId xmlns:p14="http://schemas.microsoft.com/office/powerpoint/2010/main" val="18653458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247B18B5-74BB-A98A-2948-72C34AC5166C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1">
            <a:extLst>
              <a:ext uri="{FF2B5EF4-FFF2-40B4-BE49-F238E27FC236}">
                <a16:creationId xmlns:a16="http://schemas.microsoft.com/office/drawing/2014/main" id="{1EC2E8AB-823B-213B-0A7D-45B23A2C0FE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70219" y="1429397"/>
            <a:ext cx="20042744" cy="547674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EA624956-7042-8E85-EE1C-7A96A5E93511}"/>
              </a:ext>
            </a:extLst>
          </p:cNvPr>
          <p:cNvSpPr/>
          <p:nvPr/>
        </p:nvSpPr>
        <p:spPr>
          <a:xfrm>
            <a:off x="0" y="685800"/>
            <a:ext cx="7670800" cy="937285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166B9485-2EC7-D299-0091-040B75367D82}"/>
              </a:ext>
            </a:extLst>
          </p:cNvPr>
          <p:cNvSpPr/>
          <p:nvPr/>
        </p:nvSpPr>
        <p:spPr>
          <a:xfrm>
            <a:off x="0" y="5946115"/>
            <a:ext cx="7670800" cy="911885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2A6FA828-B91E-5966-6591-78C335C75DB0}"/>
              </a:ext>
            </a:extLst>
          </p:cNvPr>
          <p:cNvSpPr/>
          <p:nvPr/>
        </p:nvSpPr>
        <p:spPr>
          <a:xfrm>
            <a:off x="0" y="1623085"/>
            <a:ext cx="262509" cy="432303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7F4DBB14-3581-779C-3D00-9BAC83A38511}"/>
              </a:ext>
            </a:extLst>
          </p:cNvPr>
          <p:cNvSpPr/>
          <p:nvPr/>
        </p:nvSpPr>
        <p:spPr>
          <a:xfrm>
            <a:off x="7433691" y="1623085"/>
            <a:ext cx="237109" cy="432303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12A3C126-6F4C-161B-0A7E-F1C4C98C447A}"/>
              </a:ext>
            </a:extLst>
          </p:cNvPr>
          <p:cNvSpPr/>
          <p:nvPr/>
        </p:nvSpPr>
        <p:spPr>
          <a:xfrm>
            <a:off x="287909" y="1648485"/>
            <a:ext cx="7120381" cy="4272230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F6361C0F-7C61-EDE8-BCA0-22417D8FD76F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37">
            <a:extLst>
              <a:ext uri="{FF2B5EF4-FFF2-40B4-BE49-F238E27FC236}">
                <a16:creationId xmlns:a16="http://schemas.microsoft.com/office/drawing/2014/main" id="{1D569DF7-EB93-BDDC-A7C3-020B93EF1E09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How to read a follow-up figure. a: the pair, on the same ring (an arrow when a direction was measured).</a:t>
            </a:r>
          </a:p>
        </p:txBody>
      </p:sp>
      <p:sp>
        <p:nvSpPr>
          <p:cNvPr id="12" name="!!N38">
            <a:extLst>
              <a:ext uri="{FF2B5EF4-FFF2-40B4-BE49-F238E27FC236}">
                <a16:creationId xmlns:a16="http://schemas.microsoft.com/office/drawing/2014/main" id="{EBD9B2E1-98E5-C842-8582-A4C7EB8B7EE0}"/>
              </a:ext>
            </a:extLst>
          </p:cNvPr>
          <p:cNvSpPr/>
          <p:nvPr/>
        </p:nvSpPr>
        <p:spPr>
          <a:xfrm>
            <a:off x="7797800" y="155905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b: each rat’s baseline and cue, Precon1 in grey and Precon4 in black.</a:t>
            </a:r>
          </a:p>
        </p:txBody>
      </p:sp>
      <p:sp>
        <p:nvSpPr>
          <p:cNvPr id="13" name="!!N39">
            <a:extLst>
              <a:ext uri="{FF2B5EF4-FFF2-40B4-BE49-F238E27FC236}">
                <a16:creationId xmlns:a16="http://schemas.microsoft.com/office/drawing/2014/main" id="{DF437FF8-E46B-C475-138F-82F6E82A26ED}"/>
              </a:ext>
            </a:extLst>
          </p:cNvPr>
          <p:cNvSpPr/>
          <p:nvPr/>
        </p:nvSpPr>
        <p:spPr>
          <a:xfrm>
            <a:off x="12573000" y="2279904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c: each rat’s change, Precon4 − Precon1, with the mean and its 95% range. The t-test asks if the mean is away from 0.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F507E1BF-B683-E4D1-7B67-A9296B5F6FF3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1BCEB6C8-9F8B-51F9-6C41-7B1FADC39EA5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1.1 · R ACC – R RSC · Not just a shared signal</a:t>
            </a:r>
          </a:p>
        </p:txBody>
      </p:sp>
    </p:spTree>
    <p:extLst>
      <p:ext uri="{BB962C8B-B14F-4D97-AF65-F5344CB8AC3E}">
        <p14:creationId xmlns:p14="http://schemas.microsoft.com/office/powerpoint/2010/main" val="3139619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684D8724-400C-C597-34D7-663C3292C4CA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1">
            <a:extLst>
              <a:ext uri="{FF2B5EF4-FFF2-40B4-BE49-F238E27FC236}">
                <a16:creationId xmlns:a16="http://schemas.microsoft.com/office/drawing/2014/main" id="{4CAF7E4E-A4E3-C633-4E0C-DD5A387421A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B2435CD4-8BD3-70FE-8998-98FC13219F0C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DA23CFCC-3E6D-409D-5F3D-3361006E3BFC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AA45D099-552B-0705-C669-6F1BBFE5A151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04049E46-60EF-E2A0-DB66-01DE695A1EEB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33BA94AF-C333-2D34-10BC-D73024791D75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9F37DA0C-DA95-888A-F5D2-D57BDD489A0C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37">
            <a:extLst>
              <a:ext uri="{FF2B5EF4-FFF2-40B4-BE49-F238E27FC236}">
                <a16:creationId xmlns:a16="http://schemas.microsoft.com/office/drawing/2014/main" id="{0E65BF4D-3FFB-0307-71E7-84FF9703AFC9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How to read a follow-up figure. a: the pair, on the same ring (an arrow when a direction was measured).</a:t>
            </a:r>
          </a:p>
        </p:txBody>
      </p:sp>
      <p:sp>
        <p:nvSpPr>
          <p:cNvPr id="12" name="!!N38">
            <a:extLst>
              <a:ext uri="{FF2B5EF4-FFF2-40B4-BE49-F238E27FC236}">
                <a16:creationId xmlns:a16="http://schemas.microsoft.com/office/drawing/2014/main" id="{0DC9A991-127E-1046-CE30-5C6629E04778}"/>
              </a:ext>
            </a:extLst>
          </p:cNvPr>
          <p:cNvSpPr/>
          <p:nvPr/>
        </p:nvSpPr>
        <p:spPr>
          <a:xfrm>
            <a:off x="7797800" y="1559052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b: each rat’s baseline and cue, Precon1 in grey and Precon4 in black.</a:t>
            </a:r>
          </a:p>
        </p:txBody>
      </p:sp>
      <p:sp>
        <p:nvSpPr>
          <p:cNvPr id="13" name="!!N39">
            <a:extLst>
              <a:ext uri="{FF2B5EF4-FFF2-40B4-BE49-F238E27FC236}">
                <a16:creationId xmlns:a16="http://schemas.microsoft.com/office/drawing/2014/main" id="{947A4337-FF3B-2EA8-8B21-BB6B6382D754}"/>
              </a:ext>
            </a:extLst>
          </p:cNvPr>
          <p:cNvSpPr/>
          <p:nvPr/>
        </p:nvSpPr>
        <p:spPr>
          <a:xfrm>
            <a:off x="7797800" y="2279904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c: each rat’s change, Precon4 − Precon1, with the mean and its 95% range. The t-test asks if the mean is away from 0.</a:t>
            </a:r>
          </a:p>
        </p:txBody>
      </p:sp>
      <p:sp>
        <p:nvSpPr>
          <p:cNvPr id="14" name="!!N40">
            <a:extLst>
              <a:ext uri="{FF2B5EF4-FFF2-40B4-BE49-F238E27FC236}">
                <a16:creationId xmlns:a16="http://schemas.microsoft.com/office/drawing/2014/main" id="{B5BDC8F7-C7FD-7DBF-7A78-A81767CBD3B3}"/>
              </a:ext>
            </a:extLst>
          </p:cNvPr>
          <p:cNvSpPr/>
          <p:nvPr/>
        </p:nvSpPr>
        <p:spPr>
          <a:xfrm>
            <a:off x="12573000" y="318973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d: the same change against 10,000 within-session shuffles: a second opinion on the same data.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145D6E89-E05A-B704-1585-7BF172BC62BD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863799D8-1EF6-8F38-98F6-8E64ACF9D684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1.1 · R ACC – R RSC · Not just a shared signal</a:t>
            </a:r>
          </a:p>
        </p:txBody>
      </p:sp>
    </p:spTree>
    <p:extLst>
      <p:ext uri="{BB962C8B-B14F-4D97-AF65-F5344CB8AC3E}">
        <p14:creationId xmlns:p14="http://schemas.microsoft.com/office/powerpoint/2010/main" val="32194002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12690408-80D6-CDFE-F266-7FD87E01FC46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1">
            <a:extLst>
              <a:ext uri="{FF2B5EF4-FFF2-40B4-BE49-F238E27FC236}">
                <a16:creationId xmlns:a16="http://schemas.microsoft.com/office/drawing/2014/main" id="{195611E0-B599-3C09-ADF5-4B06A406B0F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F996F1C4-54D9-E41A-DE68-5CCBAAFD72E2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F7F2F945-8DC4-8F4B-71F1-07BB17421D9C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A414B7B4-DCA4-EFDE-1785-BF669DE52A26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B45D8746-4C20-6979-89DD-E0E8FFADA64A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D68566DD-12C1-7BF0-EDB3-3C18A37AA720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5D9A9C41-3BCF-76E8-61C6-0E70FA0D910C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37">
            <a:extLst>
              <a:ext uri="{FF2B5EF4-FFF2-40B4-BE49-F238E27FC236}">
                <a16:creationId xmlns:a16="http://schemas.microsoft.com/office/drawing/2014/main" id="{8792E557-D0B6-376D-93FF-08D808AA232F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How to read a follow-up figure. a: the pair, on the same ring (an arrow when a direction was measured).</a:t>
            </a:r>
          </a:p>
        </p:txBody>
      </p:sp>
      <p:sp>
        <p:nvSpPr>
          <p:cNvPr id="12" name="!!N38">
            <a:extLst>
              <a:ext uri="{FF2B5EF4-FFF2-40B4-BE49-F238E27FC236}">
                <a16:creationId xmlns:a16="http://schemas.microsoft.com/office/drawing/2014/main" id="{8A75E7EF-C4EA-5210-1BF1-3DFE39231180}"/>
              </a:ext>
            </a:extLst>
          </p:cNvPr>
          <p:cNvSpPr/>
          <p:nvPr/>
        </p:nvSpPr>
        <p:spPr>
          <a:xfrm>
            <a:off x="7797800" y="1559052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b: each rat’s baseline and cue, Precon1 in grey and Precon4 in black.</a:t>
            </a:r>
          </a:p>
        </p:txBody>
      </p:sp>
      <p:sp>
        <p:nvSpPr>
          <p:cNvPr id="13" name="!!N39">
            <a:extLst>
              <a:ext uri="{FF2B5EF4-FFF2-40B4-BE49-F238E27FC236}">
                <a16:creationId xmlns:a16="http://schemas.microsoft.com/office/drawing/2014/main" id="{DB5E5825-A013-A358-5A1D-2B8EA9F922C1}"/>
              </a:ext>
            </a:extLst>
          </p:cNvPr>
          <p:cNvSpPr/>
          <p:nvPr/>
        </p:nvSpPr>
        <p:spPr>
          <a:xfrm>
            <a:off x="7797800" y="2279904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c: each rat’s change, Precon4 − Precon1, with the mean and its 95% range. The t-test asks if the mean is away from 0.</a:t>
            </a:r>
          </a:p>
        </p:txBody>
      </p:sp>
      <p:sp>
        <p:nvSpPr>
          <p:cNvPr id="14" name="!!N40">
            <a:extLst>
              <a:ext uri="{FF2B5EF4-FFF2-40B4-BE49-F238E27FC236}">
                <a16:creationId xmlns:a16="http://schemas.microsoft.com/office/drawing/2014/main" id="{CF89633E-7747-1EDE-ADCC-BD47F27EFA33}"/>
              </a:ext>
            </a:extLst>
          </p:cNvPr>
          <p:cNvSpPr/>
          <p:nvPr/>
        </p:nvSpPr>
        <p:spPr>
          <a:xfrm>
            <a:off x="7797800" y="318973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d: the same change against 10,000 within-session shuffles: a second opinion on the same data.</a:t>
            </a:r>
          </a:p>
        </p:txBody>
      </p:sp>
      <p:sp>
        <p:nvSpPr>
          <p:cNvPr id="15" name="!!N41">
            <a:extLst>
              <a:ext uri="{FF2B5EF4-FFF2-40B4-BE49-F238E27FC236}">
                <a16:creationId xmlns:a16="http://schemas.microsoft.com/office/drawing/2014/main" id="{05E5C41F-647C-8DFE-40C2-C471F32BD521}"/>
              </a:ext>
            </a:extLst>
          </p:cNvPr>
          <p:cNvSpPr/>
          <p:nvPr/>
        </p:nvSpPr>
        <p:spPr>
          <a:xfrm>
            <a:off x="125730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Tab 8 ran 190 of these t-tests (19 pairs × 10 measures); 21 passed, where about 10 would by chance. Those 21 are the measures in these 20 figures.</a:t>
            </a:r>
          </a:p>
        </p:txBody>
      </p:sp>
      <p:sp>
        <p:nvSpPr>
          <p:cNvPr id="16" name="!!T-BG">
            <a:extLst>
              <a:ext uri="{FF2B5EF4-FFF2-40B4-BE49-F238E27FC236}">
                <a16:creationId xmlns:a16="http://schemas.microsoft.com/office/drawing/2014/main" id="{D99E51B1-F8B9-996A-DEB0-7A22BA4816D5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T">
            <a:extLst>
              <a:ext uri="{FF2B5EF4-FFF2-40B4-BE49-F238E27FC236}">
                <a16:creationId xmlns:a16="http://schemas.microsoft.com/office/drawing/2014/main" id="{0D3CFDAF-8218-D518-EFF5-5C45D41BC687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1.1 · R ACC – R RSC · Not just a shared signal</a:t>
            </a:r>
          </a:p>
        </p:txBody>
      </p:sp>
    </p:spTree>
    <p:extLst>
      <p:ext uri="{BB962C8B-B14F-4D97-AF65-F5344CB8AC3E}">
        <p14:creationId xmlns:p14="http://schemas.microsoft.com/office/powerpoint/2010/main" val="2421358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CEB248DB-EF0B-6168-C59D-FAA5D55B0B96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1">
            <a:extLst>
              <a:ext uri="{FF2B5EF4-FFF2-40B4-BE49-F238E27FC236}">
                <a16:creationId xmlns:a16="http://schemas.microsoft.com/office/drawing/2014/main" id="{FF344AD5-C98E-E82A-D142-F05AEF081D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811767"/>
            <a:ext cx="7120382" cy="194566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774CD139-3BD0-1B61-E68F-0D06D5AAC47E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8727F5AF-5EA9-5752-3446-6A8E8AE3F6DD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F2FF51A9-2814-4DD2-3D5E-6E1691D53E25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2DADC678-EBB0-09E2-49F6-7025E3EF11B9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Rail">
            <a:extLst>
              <a:ext uri="{FF2B5EF4-FFF2-40B4-BE49-F238E27FC236}">
                <a16:creationId xmlns:a16="http://schemas.microsoft.com/office/drawing/2014/main" id="{3D3E4E63-1D9F-7A5D-3635-148087925B3B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N41">
            <a:extLst>
              <a:ext uri="{FF2B5EF4-FFF2-40B4-BE49-F238E27FC236}">
                <a16:creationId xmlns:a16="http://schemas.microsoft.com/office/drawing/2014/main" id="{BB5CF8FD-0CAE-372B-DF67-32AC8F6DF0FA}"/>
              </a:ext>
            </a:extLst>
          </p:cNvPr>
          <p:cNvSpPr/>
          <p:nvPr/>
        </p:nvSpPr>
        <p:spPr>
          <a:xfrm>
            <a:off x="77978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Tab 8 ran 190 of these t-tests (19 pairs × 10 measures); 21 passed, where about 10 would by chance. Those 21 are the measures in these 20 figures.</a:t>
            </a:r>
          </a:p>
        </p:txBody>
      </p:sp>
      <p:sp>
        <p:nvSpPr>
          <p:cNvPr id="11" name="!!N42">
            <a:extLst>
              <a:ext uri="{FF2B5EF4-FFF2-40B4-BE49-F238E27FC236}">
                <a16:creationId xmlns:a16="http://schemas.microsoft.com/office/drawing/2014/main" id="{F20A7A3F-5A89-9181-7340-43CFF63AC2A5}"/>
              </a:ext>
            </a:extLst>
          </p:cNvPr>
          <p:cNvSpPr/>
          <p:nvPr/>
        </p:nvSpPr>
        <p:spPr>
          <a:xfrm>
            <a:off x="125730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Coupling with a real delay, R ACC with R RSC (imaginary coherence): cue − baseline was higher on Precon4 than on Precon1.</a:t>
            </a:r>
          </a:p>
        </p:txBody>
      </p:sp>
      <p:sp>
        <p:nvSpPr>
          <p:cNvPr id="12" name="!!N37">
            <a:extLst>
              <a:ext uri="{FF2B5EF4-FFF2-40B4-BE49-F238E27FC236}">
                <a16:creationId xmlns:a16="http://schemas.microsoft.com/office/drawing/2014/main" id="{9E485D99-24C8-E531-886A-1F4AF9DDA9BD}"/>
              </a:ext>
            </a:extLst>
          </p:cNvPr>
          <p:cNvSpPr/>
          <p:nvPr/>
        </p:nvSpPr>
        <p:spPr>
          <a:xfrm>
            <a:off x="125730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How to read a follow-up figure. a: the pair, on the same ring (an arrow when a direction was measured).</a:t>
            </a:r>
          </a:p>
        </p:txBody>
      </p:sp>
      <p:sp>
        <p:nvSpPr>
          <p:cNvPr id="13" name="!!N38">
            <a:extLst>
              <a:ext uri="{FF2B5EF4-FFF2-40B4-BE49-F238E27FC236}">
                <a16:creationId xmlns:a16="http://schemas.microsoft.com/office/drawing/2014/main" id="{8E424BBC-5DC5-AD56-14C9-ABCB6A1D2C18}"/>
              </a:ext>
            </a:extLst>
          </p:cNvPr>
          <p:cNvSpPr/>
          <p:nvPr/>
        </p:nvSpPr>
        <p:spPr>
          <a:xfrm>
            <a:off x="12573000" y="1559052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b: each rat’s baseline and cue, Precon1 in grey and Precon4 in black.</a:t>
            </a:r>
          </a:p>
        </p:txBody>
      </p:sp>
      <p:sp>
        <p:nvSpPr>
          <p:cNvPr id="14" name="!!N39">
            <a:extLst>
              <a:ext uri="{FF2B5EF4-FFF2-40B4-BE49-F238E27FC236}">
                <a16:creationId xmlns:a16="http://schemas.microsoft.com/office/drawing/2014/main" id="{DE228D04-D5F7-E9DB-9021-C9EE69AF26CF}"/>
              </a:ext>
            </a:extLst>
          </p:cNvPr>
          <p:cNvSpPr/>
          <p:nvPr/>
        </p:nvSpPr>
        <p:spPr>
          <a:xfrm>
            <a:off x="12573000" y="2279904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c: each rat’s change, Precon4 − Precon1, with the mean and its 95% range. The t-test asks if the mean is away from 0.</a:t>
            </a:r>
          </a:p>
        </p:txBody>
      </p:sp>
      <p:sp>
        <p:nvSpPr>
          <p:cNvPr id="15" name="!!N40">
            <a:extLst>
              <a:ext uri="{FF2B5EF4-FFF2-40B4-BE49-F238E27FC236}">
                <a16:creationId xmlns:a16="http://schemas.microsoft.com/office/drawing/2014/main" id="{FD04B151-FED5-B57B-B283-30D765B5706B}"/>
              </a:ext>
            </a:extLst>
          </p:cNvPr>
          <p:cNvSpPr/>
          <p:nvPr/>
        </p:nvSpPr>
        <p:spPr>
          <a:xfrm>
            <a:off x="12573000" y="318973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d: the same change against 10,000 within-session shuffles: a second opinion on the same data.</a:t>
            </a:r>
          </a:p>
        </p:txBody>
      </p:sp>
      <p:sp>
        <p:nvSpPr>
          <p:cNvPr id="16" name="!!T-BG">
            <a:extLst>
              <a:ext uri="{FF2B5EF4-FFF2-40B4-BE49-F238E27FC236}">
                <a16:creationId xmlns:a16="http://schemas.microsoft.com/office/drawing/2014/main" id="{87158D76-8D3F-888E-AA5F-0DC076F7C638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T">
            <a:extLst>
              <a:ext uri="{FF2B5EF4-FFF2-40B4-BE49-F238E27FC236}">
                <a16:creationId xmlns:a16="http://schemas.microsoft.com/office/drawing/2014/main" id="{001601F4-F35B-06C2-EA05-E426625C7585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1.1 · R ACC – R RSC · Not just a shared signal</a:t>
            </a:r>
          </a:p>
        </p:txBody>
      </p:sp>
    </p:spTree>
    <p:extLst>
      <p:ext uri="{BB962C8B-B14F-4D97-AF65-F5344CB8AC3E}">
        <p14:creationId xmlns:p14="http://schemas.microsoft.com/office/powerpoint/2010/main" val="625591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DC04AA9B-D62B-5077-8C59-B3D8566EBDE7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1">
            <a:extLst>
              <a:ext uri="{FF2B5EF4-FFF2-40B4-BE49-F238E27FC236}">
                <a16:creationId xmlns:a16="http://schemas.microsoft.com/office/drawing/2014/main" id="{7E8DD673-3E0F-D8C5-6902-759722CA1A6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811767"/>
            <a:ext cx="7120382" cy="194566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FD391578-AACE-2AA9-BE13-9B97163CFA57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19E1EB21-A4B3-0125-5749-73C0F985411E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C2E3609B-6433-7D4E-54A5-839BC278D588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1118E620-E0B3-EC49-C90A-48DA06529A97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FC584304-ACAF-78D2-5906-110128C9DE47}"/>
              </a:ext>
            </a:extLst>
          </p:cNvPr>
          <p:cNvSpPr/>
          <p:nvPr/>
        </p:nvSpPr>
        <p:spPr>
          <a:xfrm>
            <a:off x="4685497" y="2889600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C626D623-286B-8A7A-392D-8A7C0A130EAD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42">
            <a:extLst>
              <a:ext uri="{FF2B5EF4-FFF2-40B4-BE49-F238E27FC236}">
                <a16:creationId xmlns:a16="http://schemas.microsoft.com/office/drawing/2014/main" id="{FE2D8A81-EC97-1063-15D0-0CA431D87407}"/>
              </a:ext>
            </a:extLst>
          </p:cNvPr>
          <p:cNvSpPr/>
          <p:nvPr/>
        </p:nvSpPr>
        <p:spPr>
          <a:xfrm>
            <a:off x="77978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Coupling with a real delay, R ACC with R RSC (imaginary coherence): cue − baseline was higher on Precon4 than on Precon1.</a:t>
            </a:r>
          </a:p>
        </p:txBody>
      </p:sp>
      <p:sp>
        <p:nvSpPr>
          <p:cNvPr id="12" name="!!N43">
            <a:extLst>
              <a:ext uri="{FF2B5EF4-FFF2-40B4-BE49-F238E27FC236}">
                <a16:creationId xmlns:a16="http://schemas.microsoft.com/office/drawing/2014/main" id="{ECD9784D-0359-B8DD-F3CC-3F1D8CEB0DE2}"/>
              </a:ext>
            </a:extLst>
          </p:cNvPr>
          <p:cNvSpPr/>
          <p:nvPr/>
        </p:nvSpPr>
        <p:spPr>
          <a:xfrm>
            <a:off x="125730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0.017 (6 rats). Shuffles P = 0.091. The shuffles do not agree: a weaker lead.</a:t>
            </a:r>
          </a:p>
        </p:txBody>
      </p:sp>
      <p:sp>
        <p:nvSpPr>
          <p:cNvPr id="13" name="!!N41">
            <a:extLst>
              <a:ext uri="{FF2B5EF4-FFF2-40B4-BE49-F238E27FC236}">
                <a16:creationId xmlns:a16="http://schemas.microsoft.com/office/drawing/2014/main" id="{748E5501-844B-5C9E-454A-F4F5BF55EF10}"/>
              </a:ext>
            </a:extLst>
          </p:cNvPr>
          <p:cNvSpPr/>
          <p:nvPr/>
        </p:nvSpPr>
        <p:spPr>
          <a:xfrm>
            <a:off x="125730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Tab 8 ran 190 of these t-tests (19 pairs × 10 measures); 21 passed, where about 10 would by chance. Those 21 are the measures in these 20 figures.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63F95432-292F-647C-B826-A136615260EE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09690FF1-099B-48D0-372C-FAD74E27F55D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1.1 · R ACC – R RSC · Not just a shared signal</a:t>
            </a:r>
          </a:p>
        </p:txBody>
      </p:sp>
    </p:spTree>
    <p:extLst>
      <p:ext uri="{BB962C8B-B14F-4D97-AF65-F5344CB8AC3E}">
        <p14:creationId xmlns:p14="http://schemas.microsoft.com/office/powerpoint/2010/main" val="261837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BAED17E3-9961-00CB-931B-9C0FC270448C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1">
            <a:extLst>
              <a:ext uri="{FF2B5EF4-FFF2-40B4-BE49-F238E27FC236}">
                <a16:creationId xmlns:a16="http://schemas.microsoft.com/office/drawing/2014/main" id="{6E25CE4A-2A98-C501-8AD4-E5B8527660B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D95D06B9-DB84-FC7B-C515-18384DC9AC60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16CCF349-80C5-AB6A-088D-0A54FCAF692A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20E91902-FA33-76F3-32BC-8714689CAEC5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621AA8D4-04C5-3E5C-63A7-27538B52E479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85D963B5-7583-EACE-248F-9BADDCF121FD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C62CED9F-D96E-DAB8-F120-2D92B275758B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3711BED0-D56F-0A2C-6865-CDCE551601C9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42">
            <a:extLst>
              <a:ext uri="{FF2B5EF4-FFF2-40B4-BE49-F238E27FC236}">
                <a16:creationId xmlns:a16="http://schemas.microsoft.com/office/drawing/2014/main" id="{F268A569-DBBC-0CB6-05BC-087ACDE5583A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Coupling with a real delay, R ACC with R RSC (imaginary coherence): cue − baseline was higher on Precon4 than on Precon1.</a:t>
            </a:r>
          </a:p>
        </p:txBody>
      </p:sp>
      <p:sp>
        <p:nvSpPr>
          <p:cNvPr id="13" name="!!N43">
            <a:extLst>
              <a:ext uri="{FF2B5EF4-FFF2-40B4-BE49-F238E27FC236}">
                <a16:creationId xmlns:a16="http://schemas.microsoft.com/office/drawing/2014/main" id="{43B79A50-D3CF-93BC-C195-F3EF7961626A}"/>
              </a:ext>
            </a:extLst>
          </p:cNvPr>
          <p:cNvSpPr/>
          <p:nvPr/>
        </p:nvSpPr>
        <p:spPr>
          <a:xfrm>
            <a:off x="77978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0.017 (6 rats). Shuffles P = 0.091. The shuffles do not agree: a weaker lead.</a:t>
            </a:r>
          </a:p>
        </p:txBody>
      </p:sp>
      <p:sp>
        <p:nvSpPr>
          <p:cNvPr id="14" name="!!N44">
            <a:extLst>
              <a:ext uri="{FF2B5EF4-FFF2-40B4-BE49-F238E27FC236}">
                <a16:creationId xmlns:a16="http://schemas.microsoft.com/office/drawing/2014/main" id="{48B115F2-67FD-FCE6-3F64-121BD8232363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RSC predicting R ACC (Granger R RSC → R ACC): cue − baseline was higher on Precon4 than on Precon1.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5116AEE5-B0CD-CB49-B071-3BA2457BCB5B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C5785BC4-11FA-CB5F-0958-8DE405FB9B91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1.1 · R ACC – R RSC · Not just a shared signal</a:t>
            </a:r>
          </a:p>
        </p:txBody>
      </p:sp>
    </p:spTree>
    <p:extLst>
      <p:ext uri="{BB962C8B-B14F-4D97-AF65-F5344CB8AC3E}">
        <p14:creationId xmlns:p14="http://schemas.microsoft.com/office/powerpoint/2010/main" val="11058458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BAF61742-2E50-9937-7CF8-A7FAC7C57FB0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2">
            <a:extLst>
              <a:ext uri="{FF2B5EF4-FFF2-40B4-BE49-F238E27FC236}">
                <a16:creationId xmlns:a16="http://schemas.microsoft.com/office/drawing/2014/main" id="{1E4E99D2-3499-BF8A-C743-B8DBAB3BA8A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811767"/>
            <a:ext cx="7120382" cy="194566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F11E97A1-6AEE-AD7A-0DA5-2DAB24728660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2B7DEE41-A370-58DA-523E-6F027231BDA9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80F92BA4-E26C-E2CF-479E-7BE278CD951E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9DCE6268-811B-3605-8BB6-C5B461DC3CB3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0524090D-48E7-853B-9F72-8F0AC071A215}"/>
              </a:ext>
            </a:extLst>
          </p:cNvPr>
          <p:cNvSpPr/>
          <p:nvPr/>
        </p:nvSpPr>
        <p:spPr>
          <a:xfrm>
            <a:off x="4685497" y="2889600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5FF30069-337C-B177-BE3A-F67BC14A318F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44">
            <a:extLst>
              <a:ext uri="{FF2B5EF4-FFF2-40B4-BE49-F238E27FC236}">
                <a16:creationId xmlns:a16="http://schemas.microsoft.com/office/drawing/2014/main" id="{4019F0DD-025A-6602-462B-E85F12200DE3}"/>
              </a:ext>
            </a:extLst>
          </p:cNvPr>
          <p:cNvSpPr/>
          <p:nvPr/>
        </p:nvSpPr>
        <p:spPr>
          <a:xfrm>
            <a:off x="77978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RSC predicting R ACC (Granger R RSC → R ACC): cue − baseline was higher on Precon4 than on Precon1.</a:t>
            </a:r>
          </a:p>
        </p:txBody>
      </p:sp>
      <p:sp>
        <p:nvSpPr>
          <p:cNvPr id="12" name="!!N45">
            <a:extLst>
              <a:ext uri="{FF2B5EF4-FFF2-40B4-BE49-F238E27FC236}">
                <a16:creationId xmlns:a16="http://schemas.microsoft.com/office/drawing/2014/main" id="{ACC00E61-5933-12EC-9202-5E1304C9B5EA}"/>
              </a:ext>
            </a:extLst>
          </p:cNvPr>
          <p:cNvSpPr/>
          <p:nvPr/>
        </p:nvSpPr>
        <p:spPr>
          <a:xfrm>
            <a:off x="12573000" y="155905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0.044 (6 rats). Shuffles P = 0.002. Both agree: a stronger lead.</a:t>
            </a:r>
          </a:p>
        </p:txBody>
      </p:sp>
      <p:sp>
        <p:nvSpPr>
          <p:cNvPr id="13" name="!!N42">
            <a:extLst>
              <a:ext uri="{FF2B5EF4-FFF2-40B4-BE49-F238E27FC236}">
                <a16:creationId xmlns:a16="http://schemas.microsoft.com/office/drawing/2014/main" id="{15CE09E7-C134-4C06-D0F4-E56C24B91E7D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Coupling with a real delay, R ACC with R RSC (imaginary coherence): cue − baseline was higher on Precon4 than on Precon1.</a:t>
            </a:r>
          </a:p>
        </p:txBody>
      </p:sp>
      <p:sp>
        <p:nvSpPr>
          <p:cNvPr id="14" name="!!N43">
            <a:extLst>
              <a:ext uri="{FF2B5EF4-FFF2-40B4-BE49-F238E27FC236}">
                <a16:creationId xmlns:a16="http://schemas.microsoft.com/office/drawing/2014/main" id="{21D107CB-4247-49E7-A38D-943B6C86F68A}"/>
              </a:ext>
            </a:extLst>
          </p:cNvPr>
          <p:cNvSpPr/>
          <p:nvPr/>
        </p:nvSpPr>
        <p:spPr>
          <a:xfrm>
            <a:off x="125730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0.017 (6 rats). Shuffles P = 0.091. The shuffles do not agree: a weaker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FC50587F-9620-1742-4909-9921792EC5BD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64669D2A-5086-0619-A476-D0D5DAE2974A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1.2 · R ACC – R RSC · Which leads</a:t>
            </a:r>
          </a:p>
        </p:txBody>
      </p:sp>
    </p:spTree>
    <p:extLst>
      <p:ext uri="{BB962C8B-B14F-4D97-AF65-F5344CB8AC3E}">
        <p14:creationId xmlns:p14="http://schemas.microsoft.com/office/powerpoint/2010/main" val="5325143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34E21E13-F099-4388-CC05-649BB3A9001C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2">
            <a:extLst>
              <a:ext uri="{FF2B5EF4-FFF2-40B4-BE49-F238E27FC236}">
                <a16:creationId xmlns:a16="http://schemas.microsoft.com/office/drawing/2014/main" id="{6138C78E-E7CB-6C4A-7999-0630332044C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5D924E6D-76C8-CFA9-876A-1D707213F276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BCD0DA4A-FCCD-19DD-086F-84FB426EA183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A337C09D-540B-CE9C-9F4D-C2B4F660569D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D1571752-191E-3877-908B-A2D37DAA3BF6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6FB665B0-BDB4-5B0A-9743-0871FF45DB67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979EDFE4-E554-1FF2-B4DD-DDE63BCBE61C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3545CC86-8C1B-0E37-06FD-8E1055CFDAB3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44">
            <a:extLst>
              <a:ext uri="{FF2B5EF4-FFF2-40B4-BE49-F238E27FC236}">
                <a16:creationId xmlns:a16="http://schemas.microsoft.com/office/drawing/2014/main" id="{E13C8E5B-424A-F61D-726D-1B874ACB1883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RSC predicting R ACC (Granger R RSC → R ACC): cue − baseline was higher on Precon4 than on Precon1.</a:t>
            </a:r>
          </a:p>
        </p:txBody>
      </p:sp>
      <p:sp>
        <p:nvSpPr>
          <p:cNvPr id="13" name="!!N45">
            <a:extLst>
              <a:ext uri="{FF2B5EF4-FFF2-40B4-BE49-F238E27FC236}">
                <a16:creationId xmlns:a16="http://schemas.microsoft.com/office/drawing/2014/main" id="{293E901D-EF13-2614-7C44-3E0B345D5EE0}"/>
              </a:ext>
            </a:extLst>
          </p:cNvPr>
          <p:cNvSpPr/>
          <p:nvPr/>
        </p:nvSpPr>
        <p:spPr>
          <a:xfrm>
            <a:off x="7797800" y="155905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0.044 (6 rats). Shuffles P = 0.002. Both agree: a stronger lead.</a:t>
            </a:r>
          </a:p>
        </p:txBody>
      </p:sp>
      <p:sp>
        <p:nvSpPr>
          <p:cNvPr id="14" name="!!N46">
            <a:extLst>
              <a:ext uri="{FF2B5EF4-FFF2-40B4-BE49-F238E27FC236}">
                <a16:creationId xmlns:a16="http://schemas.microsoft.com/office/drawing/2014/main" id="{DEDB12C3-424A-E69F-12DB-15F8B3A7EB5C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Theta in R RSC pacing gamma in R ACC (PAC): cue − baseline was lower on Precon4 than on Precon1.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9F0E62BB-7197-55A6-A05E-83ED490CFD1B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864B0098-7769-9652-81F4-F88F65A8DB7C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1.2 · R ACC – R RSC · Which leads</a:t>
            </a:r>
          </a:p>
        </p:txBody>
      </p:sp>
    </p:spTree>
    <p:extLst>
      <p:ext uri="{BB962C8B-B14F-4D97-AF65-F5344CB8AC3E}">
        <p14:creationId xmlns:p14="http://schemas.microsoft.com/office/powerpoint/2010/main" val="35523670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756CE2F0-C70E-0731-4444-BBED58058CA5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3">
            <a:extLst>
              <a:ext uri="{FF2B5EF4-FFF2-40B4-BE49-F238E27FC236}">
                <a16:creationId xmlns:a16="http://schemas.microsoft.com/office/drawing/2014/main" id="{3E081909-E56A-74EC-C4E9-DCCB12C322D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034159"/>
            <a:ext cx="7120382" cy="350088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47027152-FCAD-A0F8-4151-8092F19CCE0E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49655820-BDBE-5BC8-21B2-19B353BD7B6F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42727F9C-2905-7EE0-279E-7E575D015F03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AB47FDFC-DFFF-5457-B07E-C64282887EC5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94C17098-41BB-AEA1-3A4F-92E21F2A1E24}"/>
              </a:ext>
            </a:extLst>
          </p:cNvPr>
          <p:cNvSpPr/>
          <p:nvPr/>
        </p:nvSpPr>
        <p:spPr>
          <a:xfrm>
            <a:off x="4685497" y="2111992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BFAA4CB0-AD79-6825-3F2B-4183790C7CBE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46">
            <a:extLst>
              <a:ext uri="{FF2B5EF4-FFF2-40B4-BE49-F238E27FC236}">
                <a16:creationId xmlns:a16="http://schemas.microsoft.com/office/drawing/2014/main" id="{3A5368AC-6A7D-22AE-AAF3-622AD40E9436}"/>
              </a:ext>
            </a:extLst>
          </p:cNvPr>
          <p:cNvSpPr/>
          <p:nvPr/>
        </p:nvSpPr>
        <p:spPr>
          <a:xfrm>
            <a:off x="77978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Theta in R RSC pacing gamma in R ACC (PAC): cue − baseline was lower on Precon4 than on Precon1.</a:t>
            </a:r>
          </a:p>
        </p:txBody>
      </p:sp>
      <p:sp>
        <p:nvSpPr>
          <p:cNvPr id="12" name="!!N47">
            <a:extLst>
              <a:ext uri="{FF2B5EF4-FFF2-40B4-BE49-F238E27FC236}">
                <a16:creationId xmlns:a16="http://schemas.microsoft.com/office/drawing/2014/main" id="{CD45E63E-6207-7E13-BBF6-8A1599D3115A}"/>
              </a:ext>
            </a:extLst>
          </p:cNvPr>
          <p:cNvSpPr/>
          <p:nvPr/>
        </p:nvSpPr>
        <p:spPr>
          <a:xfrm>
            <a:off x="12573000" y="155905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0.013 (6 rats). Shuffles P = 0.025. Both agree: a stronger lead.</a:t>
            </a:r>
          </a:p>
        </p:txBody>
      </p:sp>
      <p:sp>
        <p:nvSpPr>
          <p:cNvPr id="13" name="!!N44">
            <a:extLst>
              <a:ext uri="{FF2B5EF4-FFF2-40B4-BE49-F238E27FC236}">
                <a16:creationId xmlns:a16="http://schemas.microsoft.com/office/drawing/2014/main" id="{AB486E8C-DAE2-14A3-13E8-B21E96BA652D}"/>
              </a:ext>
            </a:extLst>
          </p:cNvPr>
          <p:cNvSpPr/>
          <p:nvPr/>
        </p:nvSpPr>
        <p:spPr>
          <a:xfrm>
            <a:off x="125730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RSC predicting R ACC (Granger R RSC → R ACC): cue − baseline was higher on Precon4 than on Precon1.</a:t>
            </a:r>
          </a:p>
        </p:txBody>
      </p:sp>
      <p:sp>
        <p:nvSpPr>
          <p:cNvPr id="14" name="!!N45">
            <a:extLst>
              <a:ext uri="{FF2B5EF4-FFF2-40B4-BE49-F238E27FC236}">
                <a16:creationId xmlns:a16="http://schemas.microsoft.com/office/drawing/2014/main" id="{9C282F9E-EFEC-6BD2-E568-103F0C546B2A}"/>
              </a:ext>
            </a:extLst>
          </p:cNvPr>
          <p:cNvSpPr/>
          <p:nvPr/>
        </p:nvSpPr>
        <p:spPr>
          <a:xfrm>
            <a:off x="12573000" y="155905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0.044 (6 rats). Shuffles P = 0.002. Both agree: a stronger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ED51E2C2-6C15-A3F8-6B92-8CC2790F1125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C1F5DEF2-525E-5717-C654-927A2F7E2726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pt-BR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1.3 · R ACC – R RSC · Theta paces gamma</a:t>
            </a:r>
            <a:endParaRPr lang="en-US" sz="2400" b="1" u="sng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9184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799335AE-0F4C-2251-19C8-AE9ADC0E3F6F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3">
            <a:extLst>
              <a:ext uri="{FF2B5EF4-FFF2-40B4-BE49-F238E27FC236}">
                <a16:creationId xmlns:a16="http://schemas.microsoft.com/office/drawing/2014/main" id="{AE7099D5-CF0A-A966-19FD-1C6034ABE77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889635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592C5011-FDF7-1484-D44E-EB01F622D1EE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C1668E3A-5AA7-5120-2D83-1011FFB7F2DD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480468E7-DC22-CF7F-0867-0788EB2965C8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D0FDD138-21A9-6D59-EBAB-19D148EFE04E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0BB82B09-4E01-8075-0840-4E48901B1734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9CA9536B-14E9-B6F3-33D7-22CBA5AE5827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6496A046-9217-179A-BED7-A6BC60BE9777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46">
            <a:extLst>
              <a:ext uri="{FF2B5EF4-FFF2-40B4-BE49-F238E27FC236}">
                <a16:creationId xmlns:a16="http://schemas.microsoft.com/office/drawing/2014/main" id="{89CE996A-B5B4-F5A8-10E6-31A964E73561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Theta in R RSC pacing gamma in R ACC (PAC): cue − baseline was lower on Precon4 than on Precon1.</a:t>
            </a:r>
          </a:p>
        </p:txBody>
      </p:sp>
      <p:sp>
        <p:nvSpPr>
          <p:cNvPr id="13" name="!!N47">
            <a:extLst>
              <a:ext uri="{FF2B5EF4-FFF2-40B4-BE49-F238E27FC236}">
                <a16:creationId xmlns:a16="http://schemas.microsoft.com/office/drawing/2014/main" id="{BDCDABCE-C597-BAF1-520F-C6C73653FA3E}"/>
              </a:ext>
            </a:extLst>
          </p:cNvPr>
          <p:cNvSpPr/>
          <p:nvPr/>
        </p:nvSpPr>
        <p:spPr>
          <a:xfrm>
            <a:off x="7797800" y="155905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0.013 (6 rats). Shuffles P = 0.025. Both agree: a stronger lead.</a:t>
            </a:r>
          </a:p>
        </p:txBody>
      </p:sp>
      <p:sp>
        <p:nvSpPr>
          <p:cNvPr id="14" name="!!N48">
            <a:extLst>
              <a:ext uri="{FF2B5EF4-FFF2-40B4-BE49-F238E27FC236}">
                <a16:creationId xmlns:a16="http://schemas.microsoft.com/office/drawing/2014/main" id="{C9E57E0F-5A19-ACA0-66AB-14CD3110EC5B}"/>
              </a:ext>
            </a:extLst>
          </p:cNvPr>
          <p:cNvSpPr/>
          <p:nvPr/>
        </p:nvSpPr>
        <p:spPr>
          <a:xfrm>
            <a:off x="125730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roses: R ACC gamma around the R RSC theta cycle, averaged over rats. Orange: louder at that phase than its average over the cycle; purple: quieter.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3026B4BE-04A6-6968-615A-1D29F7C47021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1A07064C-D287-237B-501B-798D89473F5A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pt-BR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1.3 · R ACC – R RSC · Theta paces gamma</a:t>
            </a:r>
            <a:endParaRPr lang="en-US" sz="2400" b="1" u="sng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529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924612F6-2E90-A64A-C706-D54EBE7D81A2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3">
            <a:extLst>
              <a:ext uri="{FF2B5EF4-FFF2-40B4-BE49-F238E27FC236}">
                <a16:creationId xmlns:a16="http://schemas.microsoft.com/office/drawing/2014/main" id="{39074446-39EA-45B5-025E-1B77B7B9175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14015"/>
            <a:ext cx="10099056" cy="4965409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D2E59744-3248-CEAF-95AD-D3DA43AA4854}"/>
              </a:ext>
            </a:extLst>
          </p:cNvPr>
          <p:cNvSpPr/>
          <p:nvPr/>
        </p:nvSpPr>
        <p:spPr>
          <a:xfrm>
            <a:off x="0" y="685800"/>
            <a:ext cx="7670800" cy="1941866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6EED2681-A28B-6A3B-E669-598586BA61C3}"/>
              </a:ext>
            </a:extLst>
          </p:cNvPr>
          <p:cNvSpPr/>
          <p:nvPr/>
        </p:nvSpPr>
        <p:spPr>
          <a:xfrm>
            <a:off x="0" y="4941534"/>
            <a:ext cx="7670800" cy="1916466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9FD4B0C5-A7CD-DBDC-B79F-119D40EA919D}"/>
              </a:ext>
            </a:extLst>
          </p:cNvPr>
          <p:cNvSpPr/>
          <p:nvPr/>
        </p:nvSpPr>
        <p:spPr>
          <a:xfrm>
            <a:off x="0" y="2627666"/>
            <a:ext cx="262509" cy="2313867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ECA87E61-DB41-8E08-EB3D-B340750B7360}"/>
              </a:ext>
            </a:extLst>
          </p:cNvPr>
          <p:cNvSpPr/>
          <p:nvPr/>
        </p:nvSpPr>
        <p:spPr>
          <a:xfrm>
            <a:off x="7433691" y="2627666"/>
            <a:ext cx="237109" cy="2313867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0074DDF1-1713-278A-B3AF-328E22183DE6}"/>
              </a:ext>
            </a:extLst>
          </p:cNvPr>
          <p:cNvSpPr/>
          <p:nvPr/>
        </p:nvSpPr>
        <p:spPr>
          <a:xfrm>
            <a:off x="287909" y="2653066"/>
            <a:ext cx="7120381" cy="2263067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83B3B9F4-6EA0-EC5C-9452-76AA0E8F273F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48">
            <a:extLst>
              <a:ext uri="{FF2B5EF4-FFF2-40B4-BE49-F238E27FC236}">
                <a16:creationId xmlns:a16="http://schemas.microsoft.com/office/drawing/2014/main" id="{A3C23A19-1E61-628A-480A-E16F33A9D9DB}"/>
              </a:ext>
            </a:extLst>
          </p:cNvPr>
          <p:cNvSpPr/>
          <p:nvPr/>
        </p:nvSpPr>
        <p:spPr>
          <a:xfrm>
            <a:off x="77978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roses: R ACC gamma around the R RSC theta cycle, averaged over rats. Orange: louder at that phase than its average over the cycle; purple: quieter.</a:t>
            </a:r>
          </a:p>
        </p:txBody>
      </p:sp>
      <p:sp>
        <p:nvSpPr>
          <p:cNvPr id="12" name="!!N49">
            <a:extLst>
              <a:ext uri="{FF2B5EF4-FFF2-40B4-BE49-F238E27FC236}">
                <a16:creationId xmlns:a16="http://schemas.microsoft.com/office/drawing/2014/main" id="{FCDD2C56-C0FD-F195-590C-632EAC46A1AE}"/>
              </a:ext>
            </a:extLst>
          </p:cNvPr>
          <p:cNvSpPr/>
          <p:nvPr/>
        </p:nvSpPr>
        <p:spPr>
          <a:xfrm>
            <a:off x="12573000" y="1748028"/>
            <a:ext cx="4241800" cy="192938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Precon1 on the left, Precon4 on the right; baseline, then the cue. Rats that prefer different phases cancel, so a rose shows where in the cycle, not how much: b and c are what was tested.</a:t>
            </a:r>
          </a:p>
        </p:txBody>
      </p:sp>
      <p:sp>
        <p:nvSpPr>
          <p:cNvPr id="13" name="!!N46">
            <a:extLst>
              <a:ext uri="{FF2B5EF4-FFF2-40B4-BE49-F238E27FC236}">
                <a16:creationId xmlns:a16="http://schemas.microsoft.com/office/drawing/2014/main" id="{1276A81B-E0CE-E7D5-9DEC-F90AAD09AEBE}"/>
              </a:ext>
            </a:extLst>
          </p:cNvPr>
          <p:cNvSpPr/>
          <p:nvPr/>
        </p:nvSpPr>
        <p:spPr>
          <a:xfrm>
            <a:off x="125730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Theta in R RSC pacing gamma in R ACC (PAC): cue − baseline was lower on Precon4 than on Precon1.</a:t>
            </a:r>
          </a:p>
        </p:txBody>
      </p:sp>
      <p:sp>
        <p:nvSpPr>
          <p:cNvPr id="14" name="!!N47">
            <a:extLst>
              <a:ext uri="{FF2B5EF4-FFF2-40B4-BE49-F238E27FC236}">
                <a16:creationId xmlns:a16="http://schemas.microsoft.com/office/drawing/2014/main" id="{92E20167-3252-E085-3177-B9A145F661D5}"/>
              </a:ext>
            </a:extLst>
          </p:cNvPr>
          <p:cNvSpPr/>
          <p:nvPr/>
        </p:nvSpPr>
        <p:spPr>
          <a:xfrm>
            <a:off x="12573000" y="155905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0.013 (6 rats). Shuffles P = 0.025. Both agree: a stronger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D9E89A25-0D59-D3AD-0476-30A0A497A9DD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9EDF296D-CC27-88FC-7D5F-50BA90775F3A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pt-BR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1.3 · R ACC – R RSC · Theta paces gamma</a:t>
            </a:r>
            <a:endParaRPr lang="en-US" sz="2400" b="1" u="sng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1456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3D277117-8C0D-C70E-78F1-85B96BA43602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3">
            <a:extLst>
              <a:ext uri="{FF2B5EF4-FFF2-40B4-BE49-F238E27FC236}">
                <a16:creationId xmlns:a16="http://schemas.microsoft.com/office/drawing/2014/main" id="{3B69F789-A15A-DA37-777F-3A0B26FD1A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14015"/>
            <a:ext cx="10099056" cy="4965409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2555473C-54C2-6191-7572-ED9B519A81CB}"/>
              </a:ext>
            </a:extLst>
          </p:cNvPr>
          <p:cNvSpPr/>
          <p:nvPr/>
        </p:nvSpPr>
        <p:spPr>
          <a:xfrm>
            <a:off x="0" y="685800"/>
            <a:ext cx="7670800" cy="1941866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E8BDC4B4-EE4E-3E88-2FD3-A27BCC855087}"/>
              </a:ext>
            </a:extLst>
          </p:cNvPr>
          <p:cNvSpPr/>
          <p:nvPr/>
        </p:nvSpPr>
        <p:spPr>
          <a:xfrm>
            <a:off x="0" y="4941534"/>
            <a:ext cx="7670800" cy="1916466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63825083-E32C-AF50-3079-7EA2821FF40B}"/>
              </a:ext>
            </a:extLst>
          </p:cNvPr>
          <p:cNvSpPr/>
          <p:nvPr/>
        </p:nvSpPr>
        <p:spPr>
          <a:xfrm>
            <a:off x="0" y="2627666"/>
            <a:ext cx="262509" cy="2313867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0D1A6D2D-9D70-CC21-8390-9CD5F1D8B8BF}"/>
              </a:ext>
            </a:extLst>
          </p:cNvPr>
          <p:cNvSpPr/>
          <p:nvPr/>
        </p:nvSpPr>
        <p:spPr>
          <a:xfrm>
            <a:off x="7433691" y="2627666"/>
            <a:ext cx="237109" cy="2313867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9C74BCA4-F499-2B99-2562-DC1AC21CC1F4}"/>
              </a:ext>
            </a:extLst>
          </p:cNvPr>
          <p:cNvSpPr/>
          <p:nvPr/>
        </p:nvSpPr>
        <p:spPr>
          <a:xfrm>
            <a:off x="287909" y="2653066"/>
            <a:ext cx="7120381" cy="2263067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F9F793AA-4339-29B7-1970-EA98874014B8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48">
            <a:extLst>
              <a:ext uri="{FF2B5EF4-FFF2-40B4-BE49-F238E27FC236}">
                <a16:creationId xmlns:a16="http://schemas.microsoft.com/office/drawing/2014/main" id="{46FBB580-F732-A5BA-566B-9ADAD7411448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roses: R ACC gamma around the R RSC theta cycle, averaged over rats. Orange: louder at that phase than its average over the cycle; purple: quieter.</a:t>
            </a:r>
          </a:p>
        </p:txBody>
      </p:sp>
      <p:sp>
        <p:nvSpPr>
          <p:cNvPr id="12" name="!!N49">
            <a:extLst>
              <a:ext uri="{FF2B5EF4-FFF2-40B4-BE49-F238E27FC236}">
                <a16:creationId xmlns:a16="http://schemas.microsoft.com/office/drawing/2014/main" id="{3CA5CB0C-D036-3DEB-B802-0C4ACEC09757}"/>
              </a:ext>
            </a:extLst>
          </p:cNvPr>
          <p:cNvSpPr/>
          <p:nvPr/>
        </p:nvSpPr>
        <p:spPr>
          <a:xfrm>
            <a:off x="7797800" y="1748028"/>
            <a:ext cx="4241800" cy="192938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Precon1 on the left, Precon4 on the right; baseline, then the cue. Rats that prefer different phases cancel, so a rose shows where in the cycle, not how much: b and c are what was tested.</a:t>
            </a:r>
          </a:p>
        </p:txBody>
      </p:sp>
      <p:sp>
        <p:nvSpPr>
          <p:cNvPr id="13" name="!!N50">
            <a:extLst>
              <a:ext uri="{FF2B5EF4-FFF2-40B4-BE49-F238E27FC236}">
                <a16:creationId xmlns:a16="http://schemas.microsoft.com/office/drawing/2014/main" id="{27F8AF44-6857-B9AB-3F91-89053425EDF8}"/>
              </a:ext>
            </a:extLst>
          </p:cNvPr>
          <p:cNvSpPr/>
          <p:nvPr/>
        </p:nvSpPr>
        <p:spPr>
          <a:xfrm>
            <a:off x="12573000" y="2846832"/>
            <a:ext cx="4241800" cy="249631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comodulogram: the same change (cue − baseline, Precon4 minus Precon1) split into narrow theta bands (across) and gamma bands (up). Orange: the cue raised coupling more on Precon4; purple: less. A map, not the test: c is the result.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06B66317-3FD4-D53E-DDF6-0A7A95900401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2965CCA4-7BA3-3E48-B7A0-77E8606E89EB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pt-BR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1.3 · R ACC – R RSC · Theta paces gamma</a:t>
            </a:r>
            <a:endParaRPr lang="en-US" sz="2400" b="1" u="sng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0672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B352A124-9B8E-945E-A4B7-2AC4B1CE93D8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3">
            <a:extLst>
              <a:ext uri="{FF2B5EF4-FFF2-40B4-BE49-F238E27FC236}">
                <a16:creationId xmlns:a16="http://schemas.microsoft.com/office/drawing/2014/main" id="{3AB97450-457C-2574-BEA3-B1D9808394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721892" y="-4984019"/>
            <a:ext cx="24125524" cy="11861809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80BE5B16-E3ED-2A0D-8688-5BE8F0525EFE}"/>
              </a:ext>
            </a:extLst>
          </p:cNvPr>
          <p:cNvSpPr/>
          <p:nvPr/>
        </p:nvSpPr>
        <p:spPr>
          <a:xfrm>
            <a:off x="0" y="685800"/>
            <a:ext cx="7670800" cy="3702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5BB2B1DA-8E57-94ED-F882-CA207B887736}"/>
              </a:ext>
            </a:extLst>
          </p:cNvPr>
          <p:cNvSpPr/>
          <p:nvPr/>
        </p:nvSpPr>
        <p:spPr>
          <a:xfrm>
            <a:off x="0" y="6513108"/>
            <a:ext cx="7670800" cy="34489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5C9A3C80-D806-4AE6-841D-7A85BF00F72E}"/>
              </a:ext>
            </a:extLst>
          </p:cNvPr>
          <p:cNvSpPr/>
          <p:nvPr/>
        </p:nvSpPr>
        <p:spPr>
          <a:xfrm>
            <a:off x="0" y="1056092"/>
            <a:ext cx="262509" cy="5457016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293E929F-7EA4-63ED-2795-7AA61C789925}"/>
              </a:ext>
            </a:extLst>
          </p:cNvPr>
          <p:cNvSpPr/>
          <p:nvPr/>
        </p:nvSpPr>
        <p:spPr>
          <a:xfrm>
            <a:off x="7433691" y="1056092"/>
            <a:ext cx="237109" cy="5457016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1AB744F9-7FCA-E23F-5BD0-B6CCA5BF622B}"/>
              </a:ext>
            </a:extLst>
          </p:cNvPr>
          <p:cNvSpPr/>
          <p:nvPr/>
        </p:nvSpPr>
        <p:spPr>
          <a:xfrm>
            <a:off x="287909" y="1081492"/>
            <a:ext cx="7120381" cy="5406216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923AD5BF-7D0D-E4D7-85EC-43CB12744262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48">
            <a:extLst>
              <a:ext uri="{FF2B5EF4-FFF2-40B4-BE49-F238E27FC236}">
                <a16:creationId xmlns:a16="http://schemas.microsoft.com/office/drawing/2014/main" id="{0203704A-336A-7BCD-D175-066A6B4B29B2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roses: R ACC gamma around the R RSC theta cycle, averaged over rats. Orange: louder at that phase than its average over the cycle; purple: quieter.</a:t>
            </a:r>
          </a:p>
        </p:txBody>
      </p:sp>
      <p:sp>
        <p:nvSpPr>
          <p:cNvPr id="12" name="!!N49">
            <a:extLst>
              <a:ext uri="{FF2B5EF4-FFF2-40B4-BE49-F238E27FC236}">
                <a16:creationId xmlns:a16="http://schemas.microsoft.com/office/drawing/2014/main" id="{66E26D99-BB57-3AE6-1B30-664770B6B545}"/>
              </a:ext>
            </a:extLst>
          </p:cNvPr>
          <p:cNvSpPr/>
          <p:nvPr/>
        </p:nvSpPr>
        <p:spPr>
          <a:xfrm>
            <a:off x="7797800" y="1748028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Precon1 on the left, Precon4 on the right; baseline, then the cue. Rats that prefer different phases cancel, so a rose shows where in the cycle, not how much: b and c are what was tested.</a:t>
            </a:r>
          </a:p>
        </p:txBody>
      </p:sp>
      <p:sp>
        <p:nvSpPr>
          <p:cNvPr id="13" name="!!N50">
            <a:extLst>
              <a:ext uri="{FF2B5EF4-FFF2-40B4-BE49-F238E27FC236}">
                <a16:creationId xmlns:a16="http://schemas.microsoft.com/office/drawing/2014/main" id="{F97EDF95-7282-4946-F502-98CC4F757B92}"/>
              </a:ext>
            </a:extLst>
          </p:cNvPr>
          <p:cNvSpPr/>
          <p:nvPr/>
        </p:nvSpPr>
        <p:spPr>
          <a:xfrm>
            <a:off x="7797800" y="2846832"/>
            <a:ext cx="4241800" cy="249631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comodulogram: the same change (cue − baseline, Precon4 minus Precon1) split into narrow theta bands (across) and gamma bands (up). Orange: the cue raised coupling more on Precon4; purple: less. A map, not the test: c is the result.</a:t>
            </a:r>
          </a:p>
        </p:txBody>
      </p:sp>
      <p:sp>
        <p:nvSpPr>
          <p:cNvPr id="14" name="!!N51">
            <a:extLst>
              <a:ext uri="{FF2B5EF4-FFF2-40B4-BE49-F238E27FC236}">
                <a16:creationId xmlns:a16="http://schemas.microsoft.com/office/drawing/2014/main" id="{B353E063-B601-063B-4672-3FB047D53C1D}"/>
              </a:ext>
            </a:extLst>
          </p:cNvPr>
          <p:cNvSpPr/>
          <p:nvPr/>
        </p:nvSpPr>
        <p:spPr>
          <a:xfrm>
            <a:off x="125730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DHC and L RSC gamma bursts rising together (amplitude correlation): cue − baseline was higher on Precon4 than on Precon1.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D3AB6738-2EBF-FA04-81A7-128B63E25817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372A168B-4CC6-25AF-CE73-BA40F1BC8C74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pt-BR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1.3 · R ACC – R RSC · Theta paces gamma</a:t>
            </a:r>
            <a:endParaRPr lang="en-US" sz="2400" b="1" u="sng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040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6F30E2D9-513F-A63C-8E94-15D0C9342E16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4">
            <a:extLst>
              <a:ext uri="{FF2B5EF4-FFF2-40B4-BE49-F238E27FC236}">
                <a16:creationId xmlns:a16="http://schemas.microsoft.com/office/drawing/2014/main" id="{9148D2A5-EDB9-3BA7-7291-0ED37899E97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811767"/>
            <a:ext cx="7120382" cy="194566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0CAA5F0B-565A-9356-F151-099D763588BD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B930F218-2765-6729-27D2-EE24675BA2A8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85DF87F8-D753-59EA-F9A2-35394EA877B4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C26F0F5A-B3C9-2B04-B039-C3D8C96CE721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88202975-2603-F20E-3D06-EA88115072AD}"/>
              </a:ext>
            </a:extLst>
          </p:cNvPr>
          <p:cNvSpPr/>
          <p:nvPr/>
        </p:nvSpPr>
        <p:spPr>
          <a:xfrm>
            <a:off x="4685497" y="2889600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06F1708A-9713-C395-2662-4BFC806214C8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51">
            <a:extLst>
              <a:ext uri="{FF2B5EF4-FFF2-40B4-BE49-F238E27FC236}">
                <a16:creationId xmlns:a16="http://schemas.microsoft.com/office/drawing/2014/main" id="{41E333AB-AEEF-AB3A-E08B-26B3BC04896E}"/>
              </a:ext>
            </a:extLst>
          </p:cNvPr>
          <p:cNvSpPr/>
          <p:nvPr/>
        </p:nvSpPr>
        <p:spPr>
          <a:xfrm>
            <a:off x="77978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DHC and L RSC gamma bursts rising together (amplitude correlation): cue − baseline was higher on Precon4 than on Precon1.</a:t>
            </a:r>
          </a:p>
        </p:txBody>
      </p:sp>
      <p:sp>
        <p:nvSpPr>
          <p:cNvPr id="12" name="!!N52">
            <a:extLst>
              <a:ext uri="{FF2B5EF4-FFF2-40B4-BE49-F238E27FC236}">
                <a16:creationId xmlns:a16="http://schemas.microsoft.com/office/drawing/2014/main" id="{BD4FCA39-77D7-CB1F-9677-0C170E1D1145}"/>
              </a:ext>
            </a:extLst>
          </p:cNvPr>
          <p:cNvSpPr/>
          <p:nvPr/>
        </p:nvSpPr>
        <p:spPr>
          <a:xfrm>
            <a:off x="125730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0.044 (7 rats). Shuffles P = 0.014. Both agree: a stronger lead.</a:t>
            </a:r>
          </a:p>
        </p:txBody>
      </p:sp>
      <p:sp>
        <p:nvSpPr>
          <p:cNvPr id="13" name="!!N48">
            <a:extLst>
              <a:ext uri="{FF2B5EF4-FFF2-40B4-BE49-F238E27FC236}">
                <a16:creationId xmlns:a16="http://schemas.microsoft.com/office/drawing/2014/main" id="{308E7D6C-8FEE-2C5A-AB38-7C4FD212B7DF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roses: R ACC gamma around the R RSC theta cycle, averaged over rats. Orange: louder at that phase than its average over the cycle; purple: quieter.</a:t>
            </a:r>
          </a:p>
        </p:txBody>
      </p:sp>
      <p:sp>
        <p:nvSpPr>
          <p:cNvPr id="14" name="!!N49">
            <a:extLst>
              <a:ext uri="{FF2B5EF4-FFF2-40B4-BE49-F238E27FC236}">
                <a16:creationId xmlns:a16="http://schemas.microsoft.com/office/drawing/2014/main" id="{C975595A-8B21-97C7-F6B0-06C84621B926}"/>
              </a:ext>
            </a:extLst>
          </p:cNvPr>
          <p:cNvSpPr/>
          <p:nvPr/>
        </p:nvSpPr>
        <p:spPr>
          <a:xfrm>
            <a:off x="12573000" y="1748028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Precon1 on the left, Precon4 on the right; baseline, then the cue. Rats that prefer different phases cancel, so a rose shows where in the cycle, not how much: b and c are what was tested.</a:t>
            </a:r>
          </a:p>
        </p:txBody>
      </p:sp>
      <p:sp>
        <p:nvSpPr>
          <p:cNvPr id="15" name="!!N50">
            <a:extLst>
              <a:ext uri="{FF2B5EF4-FFF2-40B4-BE49-F238E27FC236}">
                <a16:creationId xmlns:a16="http://schemas.microsoft.com/office/drawing/2014/main" id="{68F37DDF-B827-4DE2-6FF8-F76D91C15BFB}"/>
              </a:ext>
            </a:extLst>
          </p:cNvPr>
          <p:cNvSpPr/>
          <p:nvPr/>
        </p:nvSpPr>
        <p:spPr>
          <a:xfrm>
            <a:off x="12573000" y="2846832"/>
            <a:ext cx="4241800" cy="249631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comodulogram: the same change (cue − baseline, Precon4 minus Precon1) split into narrow theta bands (across) and gamma bands (up). Orange: the cue raised coupling more on Precon4; purple: less. A map, not the test: c is the result.</a:t>
            </a:r>
          </a:p>
        </p:txBody>
      </p:sp>
      <p:sp>
        <p:nvSpPr>
          <p:cNvPr id="16" name="!!T-BG">
            <a:extLst>
              <a:ext uri="{FF2B5EF4-FFF2-40B4-BE49-F238E27FC236}">
                <a16:creationId xmlns:a16="http://schemas.microsoft.com/office/drawing/2014/main" id="{67175451-878A-AE25-9162-1CD290839E28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T">
            <a:extLst>
              <a:ext uri="{FF2B5EF4-FFF2-40B4-BE49-F238E27FC236}">
                <a16:creationId xmlns:a16="http://schemas.microsoft.com/office/drawing/2014/main" id="{8F425F88-59E0-6F0A-D24C-998E666FB0A4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1.4 · R DHC – L RSC · Bursts rise together</a:t>
            </a:r>
          </a:p>
        </p:txBody>
      </p:sp>
    </p:spTree>
    <p:extLst>
      <p:ext uri="{BB962C8B-B14F-4D97-AF65-F5344CB8AC3E}">
        <p14:creationId xmlns:p14="http://schemas.microsoft.com/office/powerpoint/2010/main" val="2448048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C500241E-AA64-B50D-3AD9-3D7F3B8E4D5D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4">
            <a:extLst>
              <a:ext uri="{FF2B5EF4-FFF2-40B4-BE49-F238E27FC236}">
                <a16:creationId xmlns:a16="http://schemas.microsoft.com/office/drawing/2014/main" id="{A6BDF8EE-8DB2-F14D-304B-314D5AB3627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16A5B6F5-8050-64DA-E688-CE94DF11654D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B6F39D5F-A937-08E2-79F3-4F22D4462EC4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DB8ABC16-5A29-A0B8-18ED-26609D4DDD8C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0FABB28A-EDC2-BCF2-8DC9-C3C5053A791F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6BCFE8AD-4625-C58F-2025-0CBD71F1C346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D3CB2E86-B50A-1806-1699-A68371EABEF3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01F1AC6B-72D9-E8D6-F7B5-75970BDDDA5B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51">
            <a:extLst>
              <a:ext uri="{FF2B5EF4-FFF2-40B4-BE49-F238E27FC236}">
                <a16:creationId xmlns:a16="http://schemas.microsoft.com/office/drawing/2014/main" id="{61221177-954F-72E2-6EB5-1C976271FC2D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DHC and L RSC gamma bursts rising together (amplitude correlation): cue − baseline was higher on Precon4 than on Precon1.</a:t>
            </a:r>
          </a:p>
        </p:txBody>
      </p:sp>
      <p:sp>
        <p:nvSpPr>
          <p:cNvPr id="13" name="!!N52">
            <a:extLst>
              <a:ext uri="{FF2B5EF4-FFF2-40B4-BE49-F238E27FC236}">
                <a16:creationId xmlns:a16="http://schemas.microsoft.com/office/drawing/2014/main" id="{5E75D8DF-9DB9-C347-3A58-841F195D6D35}"/>
              </a:ext>
            </a:extLst>
          </p:cNvPr>
          <p:cNvSpPr/>
          <p:nvPr/>
        </p:nvSpPr>
        <p:spPr>
          <a:xfrm>
            <a:off x="77978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0.044 (7 rats). Shuffles P = 0.014. Both agree: a stronger lead.</a:t>
            </a:r>
          </a:p>
        </p:txBody>
      </p:sp>
      <p:sp>
        <p:nvSpPr>
          <p:cNvPr id="14" name="!!N53">
            <a:extLst>
              <a:ext uri="{FF2B5EF4-FFF2-40B4-BE49-F238E27FC236}">
                <a16:creationId xmlns:a16="http://schemas.microsoft.com/office/drawing/2014/main" id="{67FC915C-B16C-4C7B-0999-97141CDA4F6B}"/>
              </a:ext>
            </a:extLst>
          </p:cNvPr>
          <p:cNvSpPr/>
          <p:nvPr/>
        </p:nvSpPr>
        <p:spPr>
          <a:xfrm>
            <a:off x="125730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RSC predicting L POR-SUB (Granger R RSC → L POR-SUB): cue − baseline was higher on Precon4 than on Precon1.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414997AB-7773-93F2-D262-FBF592FDC4EC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7B7CD717-3DE5-4D0D-0C6E-A746D03E77B6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1.4 · R DHC – L RSC · Bursts rise together</a:t>
            </a:r>
          </a:p>
        </p:txBody>
      </p:sp>
    </p:spTree>
    <p:extLst>
      <p:ext uri="{BB962C8B-B14F-4D97-AF65-F5344CB8AC3E}">
        <p14:creationId xmlns:p14="http://schemas.microsoft.com/office/powerpoint/2010/main" val="31034954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0FD98B1A-909C-8E50-21B5-7B439372214E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5">
            <a:extLst>
              <a:ext uri="{FF2B5EF4-FFF2-40B4-BE49-F238E27FC236}">
                <a16:creationId xmlns:a16="http://schemas.microsoft.com/office/drawing/2014/main" id="{9D27C2B4-D70C-BBF4-3141-01C2B5CF936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811767"/>
            <a:ext cx="7120382" cy="194566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A5909F01-CA7D-ADBB-D936-82846749670A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66AAEC04-D5F1-064D-5AFF-28F59DC8F6EC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ADA04BE0-3ADE-5029-5234-A0EE7A716AFC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9E0F641D-352E-3499-D3DD-433B4831D518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54501216-3E8F-905F-D8C0-99B9D21F1187}"/>
              </a:ext>
            </a:extLst>
          </p:cNvPr>
          <p:cNvSpPr/>
          <p:nvPr/>
        </p:nvSpPr>
        <p:spPr>
          <a:xfrm>
            <a:off x="4685497" y="2889600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77AB5600-97DA-512B-F605-06B72C5A424B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53">
            <a:extLst>
              <a:ext uri="{FF2B5EF4-FFF2-40B4-BE49-F238E27FC236}">
                <a16:creationId xmlns:a16="http://schemas.microsoft.com/office/drawing/2014/main" id="{AF8F5285-4F2E-C840-532B-86A2B316357A}"/>
              </a:ext>
            </a:extLst>
          </p:cNvPr>
          <p:cNvSpPr/>
          <p:nvPr/>
        </p:nvSpPr>
        <p:spPr>
          <a:xfrm>
            <a:off x="77978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RSC predicting L POR-SUB (Granger R RSC → L POR-SUB): cue − baseline was higher on Precon4 than on Precon1.</a:t>
            </a:r>
          </a:p>
        </p:txBody>
      </p:sp>
      <p:sp>
        <p:nvSpPr>
          <p:cNvPr id="12" name="!!N54">
            <a:extLst>
              <a:ext uri="{FF2B5EF4-FFF2-40B4-BE49-F238E27FC236}">
                <a16:creationId xmlns:a16="http://schemas.microsoft.com/office/drawing/2014/main" id="{189537A0-CD05-6C9E-9A59-3890670EC12B}"/>
              </a:ext>
            </a:extLst>
          </p:cNvPr>
          <p:cNvSpPr/>
          <p:nvPr/>
        </p:nvSpPr>
        <p:spPr>
          <a:xfrm>
            <a:off x="125730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0.042 (4 rats). Shuffles P = 0.028. Both agree: a stronger lead.</a:t>
            </a:r>
          </a:p>
        </p:txBody>
      </p:sp>
      <p:sp>
        <p:nvSpPr>
          <p:cNvPr id="13" name="!!N51">
            <a:extLst>
              <a:ext uri="{FF2B5EF4-FFF2-40B4-BE49-F238E27FC236}">
                <a16:creationId xmlns:a16="http://schemas.microsoft.com/office/drawing/2014/main" id="{8AE4923D-717D-28F4-E947-80FD8BF13022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DHC and L RSC gamma bursts rising together (amplitude correlation): cue − baseline was higher on Precon4 than on Precon1.</a:t>
            </a:r>
          </a:p>
        </p:txBody>
      </p:sp>
      <p:sp>
        <p:nvSpPr>
          <p:cNvPr id="14" name="!!N52">
            <a:extLst>
              <a:ext uri="{FF2B5EF4-FFF2-40B4-BE49-F238E27FC236}">
                <a16:creationId xmlns:a16="http://schemas.microsoft.com/office/drawing/2014/main" id="{740E109F-4FB9-96E0-8277-4BEF03D97040}"/>
              </a:ext>
            </a:extLst>
          </p:cNvPr>
          <p:cNvSpPr/>
          <p:nvPr/>
        </p:nvSpPr>
        <p:spPr>
          <a:xfrm>
            <a:off x="125730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0.044 (7 rats). Shuffles P = 0.014. Both agree: a stronger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AFC66355-A994-0FB5-413A-5A60D9D1D324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5F3E71AF-4897-4FFB-FCD3-D1E8144B6AAC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1.5 · R RSC – L POR-SUB · Which leads</a:t>
            </a:r>
          </a:p>
        </p:txBody>
      </p:sp>
    </p:spTree>
    <p:extLst>
      <p:ext uri="{BB962C8B-B14F-4D97-AF65-F5344CB8AC3E}">
        <p14:creationId xmlns:p14="http://schemas.microsoft.com/office/powerpoint/2010/main" val="36280724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37EFBE0C-4552-E74B-9BB9-65C86D996166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5">
            <a:extLst>
              <a:ext uri="{FF2B5EF4-FFF2-40B4-BE49-F238E27FC236}">
                <a16:creationId xmlns:a16="http://schemas.microsoft.com/office/drawing/2014/main" id="{39F8E9DD-CE33-C94A-04AC-93B02471478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F21C2F13-B354-6BE7-9DD1-43ABAF411517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0C0EDBE2-A742-0DAC-BE41-2A4A35F884EF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EF88A3CE-C2B7-A5A4-36AD-6E6FADBEFA9C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081B59FE-703D-D3C4-720F-C24FAC86527E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0D892F84-B714-4EBD-64C4-966E545B6595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B425E632-B49E-977F-15C8-AB55EF1EFE81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A6F5C4BB-44DD-617D-C945-9747F62FD3EC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53">
            <a:extLst>
              <a:ext uri="{FF2B5EF4-FFF2-40B4-BE49-F238E27FC236}">
                <a16:creationId xmlns:a16="http://schemas.microsoft.com/office/drawing/2014/main" id="{877D2581-B5ED-AE1D-0752-CA7464AE10DC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RSC predicting L POR-SUB (Granger R RSC → L POR-SUB): cue − baseline was higher on Precon4 than on Precon1.</a:t>
            </a:r>
          </a:p>
        </p:txBody>
      </p:sp>
      <p:sp>
        <p:nvSpPr>
          <p:cNvPr id="13" name="!!N54">
            <a:extLst>
              <a:ext uri="{FF2B5EF4-FFF2-40B4-BE49-F238E27FC236}">
                <a16:creationId xmlns:a16="http://schemas.microsoft.com/office/drawing/2014/main" id="{2D5D5741-78D4-B2D6-7483-0178A0DF2C00}"/>
              </a:ext>
            </a:extLst>
          </p:cNvPr>
          <p:cNvSpPr/>
          <p:nvPr/>
        </p:nvSpPr>
        <p:spPr>
          <a:xfrm>
            <a:off x="77978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0.042 (4 rats). Shuffles P = 0.028. Both agree: a stronger lead.</a:t>
            </a:r>
          </a:p>
        </p:txBody>
      </p:sp>
      <p:sp>
        <p:nvSpPr>
          <p:cNvPr id="14" name="!!N55">
            <a:extLst>
              <a:ext uri="{FF2B5EF4-FFF2-40B4-BE49-F238E27FC236}">
                <a16:creationId xmlns:a16="http://schemas.microsoft.com/office/drawing/2014/main" id="{562F238B-312E-4CE3-BDA6-1BF93E821B7E}"/>
              </a:ext>
            </a:extLst>
          </p:cNvPr>
          <p:cNvSpPr/>
          <p:nvPr/>
        </p:nvSpPr>
        <p:spPr>
          <a:xfrm>
            <a:off x="125730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PER and L DHC gamma bursts rising together (amplitude correlation): cue − baseline was lower on Precon4 than on Precon1.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B298F19C-4D1F-A948-E7D3-087FE136CBD7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2E198F30-D5DE-8B8B-1080-3EF3C703390A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1.5 · R RSC – L POR-SUB · Which leads</a:t>
            </a:r>
          </a:p>
        </p:txBody>
      </p:sp>
    </p:spTree>
    <p:extLst>
      <p:ext uri="{BB962C8B-B14F-4D97-AF65-F5344CB8AC3E}">
        <p14:creationId xmlns:p14="http://schemas.microsoft.com/office/powerpoint/2010/main" val="11549055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CED34392-A128-852D-71D3-5E6D7B0B6699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6">
            <a:extLst>
              <a:ext uri="{FF2B5EF4-FFF2-40B4-BE49-F238E27FC236}">
                <a16:creationId xmlns:a16="http://schemas.microsoft.com/office/drawing/2014/main" id="{870CF5B0-14B0-DD74-A27F-C573F16ECBD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811767"/>
            <a:ext cx="7120382" cy="194566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ED2131AE-09DB-8D47-9515-0FFE892400E3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1074D260-4463-28C2-FF6C-0D9834686F9B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6F4774EA-41B4-DBA6-D70D-28001AFCABCE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AB659236-2B2B-8E32-3869-057279C877C8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019B1469-8E2A-D8F9-5838-1B7303856F59}"/>
              </a:ext>
            </a:extLst>
          </p:cNvPr>
          <p:cNvSpPr/>
          <p:nvPr/>
        </p:nvSpPr>
        <p:spPr>
          <a:xfrm>
            <a:off x="4685497" y="2889600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E907B023-75BA-483D-C1DE-61AF1331F24E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55">
            <a:extLst>
              <a:ext uri="{FF2B5EF4-FFF2-40B4-BE49-F238E27FC236}">
                <a16:creationId xmlns:a16="http://schemas.microsoft.com/office/drawing/2014/main" id="{E121BFF8-3A61-71D3-FD8F-594104D83162}"/>
              </a:ext>
            </a:extLst>
          </p:cNvPr>
          <p:cNvSpPr/>
          <p:nvPr/>
        </p:nvSpPr>
        <p:spPr>
          <a:xfrm>
            <a:off x="77978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PER and L DHC gamma bursts rising together (amplitude correlation): cue − baseline was lower on Precon4 than on Precon1.</a:t>
            </a:r>
          </a:p>
        </p:txBody>
      </p:sp>
      <p:sp>
        <p:nvSpPr>
          <p:cNvPr id="12" name="!!N56">
            <a:extLst>
              <a:ext uri="{FF2B5EF4-FFF2-40B4-BE49-F238E27FC236}">
                <a16:creationId xmlns:a16="http://schemas.microsoft.com/office/drawing/2014/main" id="{33EA5ED3-44B7-C007-6456-AE854DB399D7}"/>
              </a:ext>
            </a:extLst>
          </p:cNvPr>
          <p:cNvSpPr/>
          <p:nvPr/>
        </p:nvSpPr>
        <p:spPr>
          <a:xfrm>
            <a:off x="125730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0.003 (4 rats). Shuffles P = 0.259. The shuffles do not agree: a weaker lead.</a:t>
            </a:r>
          </a:p>
        </p:txBody>
      </p:sp>
      <p:sp>
        <p:nvSpPr>
          <p:cNvPr id="13" name="!!N53">
            <a:extLst>
              <a:ext uri="{FF2B5EF4-FFF2-40B4-BE49-F238E27FC236}">
                <a16:creationId xmlns:a16="http://schemas.microsoft.com/office/drawing/2014/main" id="{CD0D5A97-02FB-4AB7-425E-1770DC831C67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RSC predicting L POR-SUB (Granger R RSC → L POR-SUB): cue − baseline was higher on Precon4 than on Precon1.</a:t>
            </a:r>
          </a:p>
        </p:txBody>
      </p:sp>
      <p:sp>
        <p:nvSpPr>
          <p:cNvPr id="14" name="!!N54">
            <a:extLst>
              <a:ext uri="{FF2B5EF4-FFF2-40B4-BE49-F238E27FC236}">
                <a16:creationId xmlns:a16="http://schemas.microsoft.com/office/drawing/2014/main" id="{CC3D9417-4EBA-8342-AFA5-DFD8AB1D9497}"/>
              </a:ext>
            </a:extLst>
          </p:cNvPr>
          <p:cNvSpPr/>
          <p:nvPr/>
        </p:nvSpPr>
        <p:spPr>
          <a:xfrm>
            <a:off x="125730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0.042 (4 rats). Shuffles P = 0.028. Both agree: a stronger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A5A8D0C5-7E3D-10F7-5282-DC2C2A52BF18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56EC20AB-EA6F-B71B-7074-5BF5D61152B2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1.6 · R PER – L DHC · Bursts rise together</a:t>
            </a:r>
          </a:p>
        </p:txBody>
      </p:sp>
    </p:spTree>
    <p:extLst>
      <p:ext uri="{BB962C8B-B14F-4D97-AF65-F5344CB8AC3E}">
        <p14:creationId xmlns:p14="http://schemas.microsoft.com/office/powerpoint/2010/main" val="466162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DA4D3BF0-2AC8-2C47-4D41-9264AC46AC44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6">
            <a:extLst>
              <a:ext uri="{FF2B5EF4-FFF2-40B4-BE49-F238E27FC236}">
                <a16:creationId xmlns:a16="http://schemas.microsoft.com/office/drawing/2014/main" id="{71E0B222-1DA2-BC0C-DFD2-06F189010F8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CCED8F85-B0FB-4033-549A-B9F326056D73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66361175-D684-5081-11D2-7EE3A9410C30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9CCBB854-BA0A-0EFD-7A6F-2BF5CA864E3B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3DBDAAE7-90DE-C84C-BBFB-4D5797C0533F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93F7EAD1-262C-C46D-01F6-2BED639B3689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A0DB6EE5-E42B-0116-9F15-B78B889C00A3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2B317039-E5BD-2265-8D64-9B3CC27C6288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55">
            <a:extLst>
              <a:ext uri="{FF2B5EF4-FFF2-40B4-BE49-F238E27FC236}">
                <a16:creationId xmlns:a16="http://schemas.microsoft.com/office/drawing/2014/main" id="{10EC34B1-D35F-EB0F-2279-C80C14A19DAE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PER and L DHC gamma bursts rising together (amplitude correlation): cue − baseline was lower on Precon4 than on Precon1.</a:t>
            </a:r>
          </a:p>
        </p:txBody>
      </p:sp>
      <p:sp>
        <p:nvSpPr>
          <p:cNvPr id="13" name="!!N56">
            <a:extLst>
              <a:ext uri="{FF2B5EF4-FFF2-40B4-BE49-F238E27FC236}">
                <a16:creationId xmlns:a16="http://schemas.microsoft.com/office/drawing/2014/main" id="{A72BCA71-52EF-0E8A-96D5-93052ACFEB4D}"/>
              </a:ext>
            </a:extLst>
          </p:cNvPr>
          <p:cNvSpPr/>
          <p:nvPr/>
        </p:nvSpPr>
        <p:spPr>
          <a:xfrm>
            <a:off x="77978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0.003 (4 rats). Shuffles P = 0.259. The shuffles do not agree: a weaker lead.</a:t>
            </a:r>
          </a:p>
        </p:txBody>
      </p:sp>
      <p:sp>
        <p:nvSpPr>
          <p:cNvPr id="14" name="!!N57">
            <a:extLst>
              <a:ext uri="{FF2B5EF4-FFF2-40B4-BE49-F238E27FC236}">
                <a16:creationId xmlns:a16="http://schemas.microsoft.com/office/drawing/2014/main" id="{C4E03797-4B69-DA92-79A1-A17C40E24652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Theta pacing gamma within R PER (PAC): cue − baseline was higher on Precon4 than on Precon1.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7F7EE40D-78DD-5FCD-0C94-316F327B280C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501E243F-EAB5-88B4-41AF-C8AADABD0E4E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1.6 · R PER – L DHC · Bursts rise together</a:t>
            </a:r>
          </a:p>
        </p:txBody>
      </p:sp>
    </p:spTree>
    <p:extLst>
      <p:ext uri="{BB962C8B-B14F-4D97-AF65-F5344CB8AC3E}">
        <p14:creationId xmlns:p14="http://schemas.microsoft.com/office/powerpoint/2010/main" val="12220683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87E4279A-463B-F414-6891-981F38F81F7C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7">
            <a:extLst>
              <a:ext uri="{FF2B5EF4-FFF2-40B4-BE49-F238E27FC236}">
                <a16:creationId xmlns:a16="http://schemas.microsoft.com/office/drawing/2014/main" id="{47924660-11EF-626C-E3E7-3944D058E32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034159"/>
            <a:ext cx="7120382" cy="350088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2C5F8C9C-7479-DD53-E1E6-689BA2E9D310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927E8F3E-46B1-9163-55EF-1F6337BBE19F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9DE8CB83-BB97-EE3F-4E1B-DDD34749D80B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4336E504-A3D8-C81B-BF2B-EFEC9F8926FC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0D84FDBE-0831-F1AD-1E1D-DFF06C77EEC3}"/>
              </a:ext>
            </a:extLst>
          </p:cNvPr>
          <p:cNvSpPr/>
          <p:nvPr/>
        </p:nvSpPr>
        <p:spPr>
          <a:xfrm>
            <a:off x="4685497" y="2111992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B5B54D7D-6BB0-912E-D89D-88AB8F38316B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57">
            <a:extLst>
              <a:ext uri="{FF2B5EF4-FFF2-40B4-BE49-F238E27FC236}">
                <a16:creationId xmlns:a16="http://schemas.microsoft.com/office/drawing/2014/main" id="{738B7F1E-9DF0-4EEC-2348-5355C11CEFD3}"/>
              </a:ext>
            </a:extLst>
          </p:cNvPr>
          <p:cNvSpPr/>
          <p:nvPr/>
        </p:nvSpPr>
        <p:spPr>
          <a:xfrm>
            <a:off x="77978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Theta pacing gamma within R PER (PAC): cue − baseline was higher on Precon4 than on Precon1.</a:t>
            </a:r>
          </a:p>
        </p:txBody>
      </p:sp>
      <p:sp>
        <p:nvSpPr>
          <p:cNvPr id="12" name="!!N58">
            <a:extLst>
              <a:ext uri="{FF2B5EF4-FFF2-40B4-BE49-F238E27FC236}">
                <a16:creationId xmlns:a16="http://schemas.microsoft.com/office/drawing/2014/main" id="{CBED9077-D8C9-8577-6E7F-6C4C689F5407}"/>
              </a:ext>
            </a:extLst>
          </p:cNvPr>
          <p:cNvSpPr/>
          <p:nvPr/>
        </p:nvSpPr>
        <p:spPr>
          <a:xfrm>
            <a:off x="12573000" y="155905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0.018 (5 rats). Shuffles P = 0.546. The shuffles do not agree: a weaker lead.</a:t>
            </a:r>
          </a:p>
        </p:txBody>
      </p:sp>
      <p:sp>
        <p:nvSpPr>
          <p:cNvPr id="13" name="!!N55">
            <a:extLst>
              <a:ext uri="{FF2B5EF4-FFF2-40B4-BE49-F238E27FC236}">
                <a16:creationId xmlns:a16="http://schemas.microsoft.com/office/drawing/2014/main" id="{7BEE8E7D-760A-5304-3EE9-93F214B17E83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PER and L DHC gamma bursts rising together (amplitude correlation): cue − baseline was lower on Precon4 than on Precon1.</a:t>
            </a:r>
          </a:p>
        </p:txBody>
      </p:sp>
      <p:sp>
        <p:nvSpPr>
          <p:cNvPr id="14" name="!!N56">
            <a:extLst>
              <a:ext uri="{FF2B5EF4-FFF2-40B4-BE49-F238E27FC236}">
                <a16:creationId xmlns:a16="http://schemas.microsoft.com/office/drawing/2014/main" id="{EFAEC0C0-963A-9D27-FF38-A89153EBA218}"/>
              </a:ext>
            </a:extLst>
          </p:cNvPr>
          <p:cNvSpPr/>
          <p:nvPr/>
        </p:nvSpPr>
        <p:spPr>
          <a:xfrm>
            <a:off x="125730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0.003 (4 rats). Shuffles P = 0.259. The shuffles do not agree: a weaker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85E5760B-C2AB-393E-5661-BE6A67493EF2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91650306-27FF-E9B5-04EE-0B735FF5E790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1.7 · R PER – L DHC · Theta paces gamma</a:t>
            </a:r>
          </a:p>
        </p:txBody>
      </p:sp>
    </p:spTree>
    <p:extLst>
      <p:ext uri="{BB962C8B-B14F-4D97-AF65-F5344CB8AC3E}">
        <p14:creationId xmlns:p14="http://schemas.microsoft.com/office/powerpoint/2010/main" val="15592630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ADA43717-6840-1E64-4C2A-9B69EF280125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7">
            <a:extLst>
              <a:ext uri="{FF2B5EF4-FFF2-40B4-BE49-F238E27FC236}">
                <a16:creationId xmlns:a16="http://schemas.microsoft.com/office/drawing/2014/main" id="{5335901A-3DF6-A5D7-78BD-D04D37AFE15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889635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2AFD2EC4-C9A1-7448-5F72-28D502723BD6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89D85E29-EB79-B843-B911-1920A16EF200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3448A23E-4149-F1E8-9F8C-4F9F723E5C40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D3878EB7-F06C-5EEA-0406-E30E04204B1A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E764D033-A32D-1528-0DE3-509A0F08EB4B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E1C6E185-CDF8-CCD3-EE56-463BCF622DF6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75FE658C-EE6B-6984-0696-C0091DD3E294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57">
            <a:extLst>
              <a:ext uri="{FF2B5EF4-FFF2-40B4-BE49-F238E27FC236}">
                <a16:creationId xmlns:a16="http://schemas.microsoft.com/office/drawing/2014/main" id="{568DE6AC-AF07-EEBD-D3A0-661317BF9E9D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Theta pacing gamma within R PER (PAC): cue − baseline was higher on Precon4 than on Precon1.</a:t>
            </a:r>
          </a:p>
        </p:txBody>
      </p:sp>
      <p:sp>
        <p:nvSpPr>
          <p:cNvPr id="13" name="!!N58">
            <a:extLst>
              <a:ext uri="{FF2B5EF4-FFF2-40B4-BE49-F238E27FC236}">
                <a16:creationId xmlns:a16="http://schemas.microsoft.com/office/drawing/2014/main" id="{5C6F862B-4439-1458-33C3-10DC7964D7AF}"/>
              </a:ext>
            </a:extLst>
          </p:cNvPr>
          <p:cNvSpPr/>
          <p:nvPr/>
        </p:nvSpPr>
        <p:spPr>
          <a:xfrm>
            <a:off x="7797800" y="155905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0.018 (5 rats). Shuffles P = 0.546. The shuffles do not agree: a weaker lead.</a:t>
            </a:r>
          </a:p>
        </p:txBody>
      </p:sp>
      <p:sp>
        <p:nvSpPr>
          <p:cNvPr id="14" name="!!N59">
            <a:extLst>
              <a:ext uri="{FF2B5EF4-FFF2-40B4-BE49-F238E27FC236}">
                <a16:creationId xmlns:a16="http://schemas.microsoft.com/office/drawing/2014/main" id="{688E6B05-1EE3-5E2E-C1B4-9BE81D89966E}"/>
              </a:ext>
            </a:extLst>
          </p:cNvPr>
          <p:cNvSpPr/>
          <p:nvPr/>
        </p:nvSpPr>
        <p:spPr>
          <a:xfrm>
            <a:off x="125730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Its roses: R PER gamma around the R PER theta cycle, averaged over rats, Precon1 then Precon4. Where in the cycle, not how much: c is the result.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F91CD3AF-3772-0FBC-5F16-9A7D4BE00EB2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79354AC6-52A2-9476-C434-CA125DAFAAAB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1.7 · R PER – L DHC · Theta paces gamma</a:t>
            </a:r>
          </a:p>
        </p:txBody>
      </p:sp>
    </p:spTree>
    <p:extLst>
      <p:ext uri="{BB962C8B-B14F-4D97-AF65-F5344CB8AC3E}">
        <p14:creationId xmlns:p14="http://schemas.microsoft.com/office/powerpoint/2010/main" val="30027749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C94BF38F-3A9B-8E2F-A639-92373DA2D936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_7">
            <a:extLst>
              <a:ext uri="{FF2B5EF4-FFF2-40B4-BE49-F238E27FC236}">
                <a16:creationId xmlns:a16="http://schemas.microsoft.com/office/drawing/2014/main" id="{450F4CE1-1355-B409-8637-221EC4386A9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197139"/>
            <a:ext cx="7119007" cy="3500206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1317DA97-6666-46D9-2A6D-8A6083190274}"/>
              </a:ext>
            </a:extLst>
          </p:cNvPr>
          <p:cNvSpPr/>
          <p:nvPr/>
        </p:nvSpPr>
        <p:spPr>
          <a:xfrm>
            <a:off x="0" y="685800"/>
            <a:ext cx="7670800" cy="223685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7E6AF1CD-481E-CCE9-ADBF-FA62824F878D}"/>
              </a:ext>
            </a:extLst>
          </p:cNvPr>
          <p:cNvSpPr/>
          <p:nvPr/>
        </p:nvSpPr>
        <p:spPr>
          <a:xfrm>
            <a:off x="0" y="4646548"/>
            <a:ext cx="7670800" cy="221145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2B3B4399-0388-BAEC-F7F4-2D2E202BB433}"/>
              </a:ext>
            </a:extLst>
          </p:cNvPr>
          <p:cNvSpPr/>
          <p:nvPr/>
        </p:nvSpPr>
        <p:spPr>
          <a:xfrm>
            <a:off x="0" y="2922652"/>
            <a:ext cx="262509" cy="1723895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ECD27A58-B163-1834-A64D-ED741E63C977}"/>
              </a:ext>
            </a:extLst>
          </p:cNvPr>
          <p:cNvSpPr/>
          <p:nvPr/>
        </p:nvSpPr>
        <p:spPr>
          <a:xfrm>
            <a:off x="7433691" y="2922652"/>
            <a:ext cx="237109" cy="1723895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D72143DC-E34A-2AE1-2143-5B544DCFC266}"/>
              </a:ext>
            </a:extLst>
          </p:cNvPr>
          <p:cNvSpPr/>
          <p:nvPr/>
        </p:nvSpPr>
        <p:spPr>
          <a:xfrm>
            <a:off x="287909" y="2986962"/>
            <a:ext cx="5019286" cy="1595277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08BDFE67-B4EA-6703-5814-9F301A7FD4E3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59">
            <a:extLst>
              <a:ext uri="{FF2B5EF4-FFF2-40B4-BE49-F238E27FC236}">
                <a16:creationId xmlns:a16="http://schemas.microsoft.com/office/drawing/2014/main" id="{803FB3C3-46CE-F97C-8F67-9E38C05CD41F}"/>
              </a:ext>
            </a:extLst>
          </p:cNvPr>
          <p:cNvSpPr/>
          <p:nvPr/>
        </p:nvSpPr>
        <p:spPr>
          <a:xfrm>
            <a:off x="77978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Its roses: R PER gamma around the R PER theta cycle, averaged over rats, Precon1 then Precon4. Where in the cycle, not how much: c is the result.</a:t>
            </a:r>
          </a:p>
        </p:txBody>
      </p:sp>
      <p:sp>
        <p:nvSpPr>
          <p:cNvPr id="12" name="!!N60">
            <a:extLst>
              <a:ext uri="{FF2B5EF4-FFF2-40B4-BE49-F238E27FC236}">
                <a16:creationId xmlns:a16="http://schemas.microsoft.com/office/drawing/2014/main" id="{B8919C26-7A5F-B73B-DBD1-77C53C719197}"/>
              </a:ext>
            </a:extLst>
          </p:cNvPr>
          <p:cNvSpPr/>
          <p:nvPr/>
        </p:nvSpPr>
        <p:spPr>
          <a:xfrm>
            <a:off x="125730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ACC and R OFC gamma bursts rising together (amplitude correlation): cue − baseline was higher on Precon4 than on Precon1.</a:t>
            </a:r>
          </a:p>
        </p:txBody>
      </p:sp>
      <p:sp>
        <p:nvSpPr>
          <p:cNvPr id="13" name="!!N57">
            <a:extLst>
              <a:ext uri="{FF2B5EF4-FFF2-40B4-BE49-F238E27FC236}">
                <a16:creationId xmlns:a16="http://schemas.microsoft.com/office/drawing/2014/main" id="{112E57F0-7F02-67D6-F287-AD82DA007A6F}"/>
              </a:ext>
            </a:extLst>
          </p:cNvPr>
          <p:cNvSpPr/>
          <p:nvPr/>
        </p:nvSpPr>
        <p:spPr>
          <a:xfrm>
            <a:off x="125730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Theta pacing gamma within R PER (PAC): cue − baseline was higher on Precon4 than on Precon1.</a:t>
            </a:r>
          </a:p>
        </p:txBody>
      </p:sp>
      <p:sp>
        <p:nvSpPr>
          <p:cNvPr id="14" name="!!N58">
            <a:extLst>
              <a:ext uri="{FF2B5EF4-FFF2-40B4-BE49-F238E27FC236}">
                <a16:creationId xmlns:a16="http://schemas.microsoft.com/office/drawing/2014/main" id="{E90A8E03-8B30-A074-8782-46C84601A745}"/>
              </a:ext>
            </a:extLst>
          </p:cNvPr>
          <p:cNvSpPr/>
          <p:nvPr/>
        </p:nvSpPr>
        <p:spPr>
          <a:xfrm>
            <a:off x="12573000" y="155905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0.018 (5 rats). Shuffles P = 0.546. The shuffles do not agree: a weaker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FEE152D2-B623-CB56-E18C-8E22D790724A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CD3A8EBF-9800-6B5F-1A3C-EA7902381DFE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1.7 · R PER – L DHC · Theta paces gamma</a:t>
            </a:r>
          </a:p>
        </p:txBody>
      </p:sp>
    </p:spTree>
    <p:extLst>
      <p:ext uri="{BB962C8B-B14F-4D97-AF65-F5344CB8AC3E}">
        <p14:creationId xmlns:p14="http://schemas.microsoft.com/office/powerpoint/2010/main" val="29725200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1CDF43BC-37D8-ADFE-386A-407E91635E47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1">
            <a:extLst>
              <a:ext uri="{FF2B5EF4-FFF2-40B4-BE49-F238E27FC236}">
                <a16:creationId xmlns:a16="http://schemas.microsoft.com/office/drawing/2014/main" id="{BB399888-A319-4CDC-76DF-46156AAD1C0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811767"/>
            <a:ext cx="7120382" cy="194566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13B1B9F7-C28E-9839-77C1-4EBC5B0945BB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EF5F7CBC-91D5-8190-9CDD-DF5F0D882872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2F1259AF-1442-99C0-C19E-A6A03FDC1E50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91C68B6E-A367-5737-FE52-313B2A365724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F6FBD70E-E211-4B0C-E70E-13F1CD0CC991}"/>
              </a:ext>
            </a:extLst>
          </p:cNvPr>
          <p:cNvSpPr/>
          <p:nvPr/>
        </p:nvSpPr>
        <p:spPr>
          <a:xfrm>
            <a:off x="4685497" y="2889600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43FBD1FE-92CB-5936-54FF-6A7AB54803D6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60">
            <a:extLst>
              <a:ext uri="{FF2B5EF4-FFF2-40B4-BE49-F238E27FC236}">
                <a16:creationId xmlns:a16="http://schemas.microsoft.com/office/drawing/2014/main" id="{1ED7A086-249C-1E0A-D241-51872B7ABD0E}"/>
              </a:ext>
            </a:extLst>
          </p:cNvPr>
          <p:cNvSpPr/>
          <p:nvPr/>
        </p:nvSpPr>
        <p:spPr>
          <a:xfrm>
            <a:off x="77978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ACC and R OFC gamma bursts rising together (amplitude correlation): cue − baseline was higher on Precon4 than on Precon1.</a:t>
            </a:r>
          </a:p>
        </p:txBody>
      </p:sp>
      <p:sp>
        <p:nvSpPr>
          <p:cNvPr id="12" name="!!N61">
            <a:extLst>
              <a:ext uri="{FF2B5EF4-FFF2-40B4-BE49-F238E27FC236}">
                <a16:creationId xmlns:a16="http://schemas.microsoft.com/office/drawing/2014/main" id="{2A8E43F1-FC3A-3766-78FF-F11562344A1B}"/>
              </a:ext>
            </a:extLst>
          </p:cNvPr>
          <p:cNvSpPr/>
          <p:nvPr/>
        </p:nvSpPr>
        <p:spPr>
          <a:xfrm>
            <a:off x="125730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0.016 (8 rats). Shuffles P = 0.004. Both agree: a stronger lead.</a:t>
            </a:r>
          </a:p>
        </p:txBody>
      </p:sp>
      <p:sp>
        <p:nvSpPr>
          <p:cNvPr id="13" name="!!N59">
            <a:extLst>
              <a:ext uri="{FF2B5EF4-FFF2-40B4-BE49-F238E27FC236}">
                <a16:creationId xmlns:a16="http://schemas.microsoft.com/office/drawing/2014/main" id="{DD281DEE-BE5C-452E-D8A7-3602927F2DDE}"/>
              </a:ext>
            </a:extLst>
          </p:cNvPr>
          <p:cNvSpPr/>
          <p:nvPr/>
        </p:nvSpPr>
        <p:spPr>
          <a:xfrm>
            <a:off x="125730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Its roses: R PER gamma around the R PER theta cycle, averaged over rats, Precon1 then Precon4. Where in the cycle, not how much: c is the result.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92A77112-5B6B-36E5-611B-F9492D0C87E0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385758F1-5C3F-464F-6B58-4214B308009C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2.1 · R ACC – R OFC · Bursts rise together</a:t>
            </a:r>
          </a:p>
        </p:txBody>
      </p:sp>
    </p:spTree>
    <p:extLst>
      <p:ext uri="{BB962C8B-B14F-4D97-AF65-F5344CB8AC3E}">
        <p14:creationId xmlns:p14="http://schemas.microsoft.com/office/powerpoint/2010/main" val="4216058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9E316D3F-DB1E-12B0-044D-67E68881F350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1">
            <a:extLst>
              <a:ext uri="{FF2B5EF4-FFF2-40B4-BE49-F238E27FC236}">
                <a16:creationId xmlns:a16="http://schemas.microsoft.com/office/drawing/2014/main" id="{E21D5CE6-E7BF-53B9-1495-2A663CAE4BA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EACA504C-B28D-F25A-CA22-DF2E0ECC394C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4CD0AD00-353A-D047-10A3-CBA746DB003D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15BFE890-403E-0BFF-38C4-068D164CD92C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7EDBF3D9-3208-1980-4DB3-F34C31399586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D51EC00B-8568-EEE1-8FB8-4ED2A15D2CF1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AB50BCD0-DE98-3E52-04FD-937B2B85F645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4B62394B-2DFD-7AC7-B6F6-5F7D72D74CFD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60">
            <a:extLst>
              <a:ext uri="{FF2B5EF4-FFF2-40B4-BE49-F238E27FC236}">
                <a16:creationId xmlns:a16="http://schemas.microsoft.com/office/drawing/2014/main" id="{B16E6C5F-883F-BEBA-C890-62652A838B91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ACC and R OFC gamma bursts rising together (amplitude correlation): cue − baseline was higher on Precon4 than on Precon1.</a:t>
            </a:r>
          </a:p>
        </p:txBody>
      </p:sp>
      <p:sp>
        <p:nvSpPr>
          <p:cNvPr id="13" name="!!N61">
            <a:extLst>
              <a:ext uri="{FF2B5EF4-FFF2-40B4-BE49-F238E27FC236}">
                <a16:creationId xmlns:a16="http://schemas.microsoft.com/office/drawing/2014/main" id="{E4CBD145-2955-D495-EC86-77144D50B182}"/>
              </a:ext>
            </a:extLst>
          </p:cNvPr>
          <p:cNvSpPr/>
          <p:nvPr/>
        </p:nvSpPr>
        <p:spPr>
          <a:xfrm>
            <a:off x="77978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0.016 (8 rats). Shuffles P = 0.004. Both agree: a stronger lead.</a:t>
            </a:r>
          </a:p>
        </p:txBody>
      </p:sp>
      <p:sp>
        <p:nvSpPr>
          <p:cNvPr id="14" name="!!N62">
            <a:extLst>
              <a:ext uri="{FF2B5EF4-FFF2-40B4-BE49-F238E27FC236}">
                <a16:creationId xmlns:a16="http://schemas.microsoft.com/office/drawing/2014/main" id="{AFB48481-2E4E-457E-85F5-B8FBFF9C201D}"/>
              </a:ext>
            </a:extLst>
          </p:cNvPr>
          <p:cNvSpPr/>
          <p:nvPr/>
        </p:nvSpPr>
        <p:spPr>
          <a:xfrm>
            <a:off x="125730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Coupling with a real delay, R ACC with R RSC (imaginary coherence): cue − baseline was higher on Precon4 than on Precon1.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DC156347-F366-6F55-2BFB-941252F59FFA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10BD9D77-765C-B171-D81D-9839E251A2DE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2.1 · R ACC – R OFC · Bursts rise together</a:t>
            </a:r>
          </a:p>
        </p:txBody>
      </p:sp>
    </p:spTree>
    <p:extLst>
      <p:ext uri="{BB962C8B-B14F-4D97-AF65-F5344CB8AC3E}">
        <p14:creationId xmlns:p14="http://schemas.microsoft.com/office/powerpoint/2010/main" val="17760952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77678739-6AEF-86DD-6D1C-AE7694AA2524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2">
            <a:extLst>
              <a:ext uri="{FF2B5EF4-FFF2-40B4-BE49-F238E27FC236}">
                <a16:creationId xmlns:a16="http://schemas.microsoft.com/office/drawing/2014/main" id="{0EB77B6D-F7AB-5AE2-93EE-9CEEFA485D3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811767"/>
            <a:ext cx="7120382" cy="194566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EC95E721-6F11-1850-A854-9435AF50C317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734EF350-9EDF-07B1-BE1B-236260C464D9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FDD1ED97-B40F-D4D5-6AFE-D7BC3B5A8CD2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7E077ABE-1586-7C6E-81E5-29CA769AAF40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9E6DC5B0-BC1B-3735-8579-9F9A35845E0E}"/>
              </a:ext>
            </a:extLst>
          </p:cNvPr>
          <p:cNvSpPr/>
          <p:nvPr/>
        </p:nvSpPr>
        <p:spPr>
          <a:xfrm>
            <a:off x="4685497" y="2889600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46B6FA90-6835-1FBD-E463-EAC41ED669AC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62">
            <a:extLst>
              <a:ext uri="{FF2B5EF4-FFF2-40B4-BE49-F238E27FC236}">
                <a16:creationId xmlns:a16="http://schemas.microsoft.com/office/drawing/2014/main" id="{BE188FE0-708A-75DB-5825-74F23F38411E}"/>
              </a:ext>
            </a:extLst>
          </p:cNvPr>
          <p:cNvSpPr/>
          <p:nvPr/>
        </p:nvSpPr>
        <p:spPr>
          <a:xfrm>
            <a:off x="77978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Coupling with a real delay, R ACC with R RSC (imaginary coherence): cue − baseline was higher on Precon4 than on Precon1.</a:t>
            </a:r>
          </a:p>
        </p:txBody>
      </p:sp>
      <p:sp>
        <p:nvSpPr>
          <p:cNvPr id="12" name="!!N63">
            <a:extLst>
              <a:ext uri="{FF2B5EF4-FFF2-40B4-BE49-F238E27FC236}">
                <a16:creationId xmlns:a16="http://schemas.microsoft.com/office/drawing/2014/main" id="{AFD164AE-1C32-C0ED-7C79-12BA07D7FC97}"/>
              </a:ext>
            </a:extLst>
          </p:cNvPr>
          <p:cNvSpPr/>
          <p:nvPr/>
        </p:nvSpPr>
        <p:spPr>
          <a:xfrm>
            <a:off x="125730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&lt; 0.001 (6 rats). Shuffles P = 0.058. The shuffles do not agree: a weaker lead.</a:t>
            </a:r>
          </a:p>
        </p:txBody>
      </p:sp>
      <p:sp>
        <p:nvSpPr>
          <p:cNvPr id="13" name="!!N60">
            <a:extLst>
              <a:ext uri="{FF2B5EF4-FFF2-40B4-BE49-F238E27FC236}">
                <a16:creationId xmlns:a16="http://schemas.microsoft.com/office/drawing/2014/main" id="{3F3B3D91-0837-61C4-774B-1F279F8BC2BF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ACC and R OFC gamma bursts rising together (amplitude correlation): cue − baseline was higher on Precon4 than on Precon1.</a:t>
            </a:r>
          </a:p>
        </p:txBody>
      </p:sp>
      <p:sp>
        <p:nvSpPr>
          <p:cNvPr id="14" name="!!N61">
            <a:extLst>
              <a:ext uri="{FF2B5EF4-FFF2-40B4-BE49-F238E27FC236}">
                <a16:creationId xmlns:a16="http://schemas.microsoft.com/office/drawing/2014/main" id="{40F463CF-4334-D625-F87A-CB653390CCD0}"/>
              </a:ext>
            </a:extLst>
          </p:cNvPr>
          <p:cNvSpPr/>
          <p:nvPr/>
        </p:nvSpPr>
        <p:spPr>
          <a:xfrm>
            <a:off x="125730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0.016 (8 rats). Shuffles P = 0.004. Both agree: a stronger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D097A266-09DF-807E-E001-886B885E8143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EB31A008-214A-4530-B2A8-FC220A16D702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2.2 · R ACC – R RSC · Not just a shared signal</a:t>
            </a:r>
          </a:p>
        </p:txBody>
      </p:sp>
    </p:spTree>
    <p:extLst>
      <p:ext uri="{BB962C8B-B14F-4D97-AF65-F5344CB8AC3E}">
        <p14:creationId xmlns:p14="http://schemas.microsoft.com/office/powerpoint/2010/main" val="5156819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8D7ACE3B-82AA-A088-E195-203FB7680374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2">
            <a:extLst>
              <a:ext uri="{FF2B5EF4-FFF2-40B4-BE49-F238E27FC236}">
                <a16:creationId xmlns:a16="http://schemas.microsoft.com/office/drawing/2014/main" id="{DA319B97-2ADC-360C-89E7-FF6AB6A181F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64C84D3C-2A39-520C-52B2-ACBDD35DAEE8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74E966C9-0F28-855A-3ADA-401F68EEADDD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8EE6FF66-2874-F41B-DB41-DFBF0F8DA460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FCFE7BEE-F003-0A90-AA2D-A7387F8FDAAA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86773C9A-C975-40CE-890E-F716E5264F67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C14A43F8-3CE5-504C-E9AE-E2018331FE5E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E067B5EF-5511-C286-AC10-EC4E301C3A22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62">
            <a:extLst>
              <a:ext uri="{FF2B5EF4-FFF2-40B4-BE49-F238E27FC236}">
                <a16:creationId xmlns:a16="http://schemas.microsoft.com/office/drawing/2014/main" id="{460777FF-D08F-BC5D-8547-687248E79B0E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Coupling with a real delay, R ACC with R RSC (imaginary coherence): cue − baseline was higher on Precon4 than on Precon1.</a:t>
            </a:r>
          </a:p>
        </p:txBody>
      </p:sp>
      <p:sp>
        <p:nvSpPr>
          <p:cNvPr id="13" name="!!N63">
            <a:extLst>
              <a:ext uri="{FF2B5EF4-FFF2-40B4-BE49-F238E27FC236}">
                <a16:creationId xmlns:a16="http://schemas.microsoft.com/office/drawing/2014/main" id="{5D2ED88D-4FF7-259D-F068-EAB27C051809}"/>
              </a:ext>
            </a:extLst>
          </p:cNvPr>
          <p:cNvSpPr/>
          <p:nvPr/>
        </p:nvSpPr>
        <p:spPr>
          <a:xfrm>
            <a:off x="77978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&lt; 0.001 (6 rats). Shuffles P = 0.058. The shuffles do not agree: a weaker lead.</a:t>
            </a:r>
          </a:p>
        </p:txBody>
      </p:sp>
      <p:sp>
        <p:nvSpPr>
          <p:cNvPr id="14" name="!!N64">
            <a:extLst>
              <a:ext uri="{FF2B5EF4-FFF2-40B4-BE49-F238E27FC236}">
                <a16:creationId xmlns:a16="http://schemas.microsoft.com/office/drawing/2014/main" id="{962B4409-296F-529D-10E8-E4D82A5A547A}"/>
              </a:ext>
            </a:extLst>
          </p:cNvPr>
          <p:cNvSpPr/>
          <p:nvPr/>
        </p:nvSpPr>
        <p:spPr>
          <a:xfrm>
            <a:off x="125730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ACC and L RSC gamma bursts rising together (amplitude correlation): cue − baseline was higher on Precon4 than on Precon1.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5781C2A5-3F81-B952-397C-4EF7D1E88C8D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F46EAEB1-5D32-AB62-C75A-9F75BFA268E8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2.2 · R ACC – R RSC · Not just a shared signal</a:t>
            </a:r>
          </a:p>
        </p:txBody>
      </p:sp>
    </p:spTree>
    <p:extLst>
      <p:ext uri="{BB962C8B-B14F-4D97-AF65-F5344CB8AC3E}">
        <p14:creationId xmlns:p14="http://schemas.microsoft.com/office/powerpoint/2010/main" val="12402932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981987BC-0C62-989A-B190-B85098C5E3CD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3">
            <a:extLst>
              <a:ext uri="{FF2B5EF4-FFF2-40B4-BE49-F238E27FC236}">
                <a16:creationId xmlns:a16="http://schemas.microsoft.com/office/drawing/2014/main" id="{17971C41-E3F4-FD38-67FF-BA8CBF15844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811767"/>
            <a:ext cx="7120382" cy="194566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5BEC9085-6B58-F55B-F077-0EC575592469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1875AE62-74B5-1EA3-3E83-CCAB91BAA015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016F5CCA-A3E1-0FD4-BC13-95886B948B19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12ADA679-AC41-BE11-5269-F00A3A36CE11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6A4D33E7-B5FE-9E5B-AD8E-839B59EAF658}"/>
              </a:ext>
            </a:extLst>
          </p:cNvPr>
          <p:cNvSpPr/>
          <p:nvPr/>
        </p:nvSpPr>
        <p:spPr>
          <a:xfrm>
            <a:off x="4685497" y="2889600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BA463C7B-DCA5-E5AD-A162-2E8EA37F78F0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64">
            <a:extLst>
              <a:ext uri="{FF2B5EF4-FFF2-40B4-BE49-F238E27FC236}">
                <a16:creationId xmlns:a16="http://schemas.microsoft.com/office/drawing/2014/main" id="{B412AD89-AB76-7C57-1BD7-FCCF8BE2E87F}"/>
              </a:ext>
            </a:extLst>
          </p:cNvPr>
          <p:cNvSpPr/>
          <p:nvPr/>
        </p:nvSpPr>
        <p:spPr>
          <a:xfrm>
            <a:off x="77978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ACC and L RSC gamma bursts rising together (amplitude correlation): cue − baseline was higher on Precon4 than on Precon1.</a:t>
            </a:r>
          </a:p>
        </p:txBody>
      </p:sp>
      <p:sp>
        <p:nvSpPr>
          <p:cNvPr id="12" name="!!N65">
            <a:extLst>
              <a:ext uri="{FF2B5EF4-FFF2-40B4-BE49-F238E27FC236}">
                <a16:creationId xmlns:a16="http://schemas.microsoft.com/office/drawing/2014/main" id="{7AC51E04-EB59-80B7-04A4-12FB705E2737}"/>
              </a:ext>
            </a:extLst>
          </p:cNvPr>
          <p:cNvSpPr/>
          <p:nvPr/>
        </p:nvSpPr>
        <p:spPr>
          <a:xfrm>
            <a:off x="125730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0.010 (7 rats). Shuffles P = 0.001. Both agree: a stronger lead.</a:t>
            </a:r>
          </a:p>
        </p:txBody>
      </p:sp>
      <p:sp>
        <p:nvSpPr>
          <p:cNvPr id="13" name="!!N62">
            <a:extLst>
              <a:ext uri="{FF2B5EF4-FFF2-40B4-BE49-F238E27FC236}">
                <a16:creationId xmlns:a16="http://schemas.microsoft.com/office/drawing/2014/main" id="{A30170C2-670E-A8A1-0BF2-A6807E4B7B34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Coupling with a real delay, R ACC with R RSC (imaginary coherence): cue − baseline was higher on Precon4 than on Precon1.</a:t>
            </a:r>
          </a:p>
        </p:txBody>
      </p:sp>
      <p:sp>
        <p:nvSpPr>
          <p:cNvPr id="14" name="!!N63">
            <a:extLst>
              <a:ext uri="{FF2B5EF4-FFF2-40B4-BE49-F238E27FC236}">
                <a16:creationId xmlns:a16="http://schemas.microsoft.com/office/drawing/2014/main" id="{40705B8B-B36B-509F-2D14-A5AC531B6E74}"/>
              </a:ext>
            </a:extLst>
          </p:cNvPr>
          <p:cNvSpPr/>
          <p:nvPr/>
        </p:nvSpPr>
        <p:spPr>
          <a:xfrm>
            <a:off x="125730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&lt; 0.001 (6 rats). Shuffles P = 0.058. The shuffles do not agree: a weaker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D24994C4-D441-D5A5-3EC9-B718C51AA6FC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FEB8D4D4-9DB9-407C-361F-6CC1FA42130B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2.3 · R ACC – L RSC · Bursts rise together</a:t>
            </a:r>
          </a:p>
        </p:txBody>
      </p:sp>
    </p:spTree>
    <p:extLst>
      <p:ext uri="{BB962C8B-B14F-4D97-AF65-F5344CB8AC3E}">
        <p14:creationId xmlns:p14="http://schemas.microsoft.com/office/powerpoint/2010/main" val="31558584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E5763F41-E12E-6E54-BA39-B7B7788F5151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3">
            <a:extLst>
              <a:ext uri="{FF2B5EF4-FFF2-40B4-BE49-F238E27FC236}">
                <a16:creationId xmlns:a16="http://schemas.microsoft.com/office/drawing/2014/main" id="{D4A901DD-D3E9-3CAF-39C7-5A2D3EFF45F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BD2319BC-6A54-09A9-4825-7F65CFB6DE56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9662484E-4F5F-6A82-09DB-1F6191B1C00C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B1ADA8AB-F844-F6D5-7FE6-1C2810CF574F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A5E60F05-9EC7-5D6B-F45B-A0BD8D6526A4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F18BB29A-3170-6CDC-2761-09E4ADC7F6E6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DE431CF4-0345-E3DC-D53B-E04016F69FA0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E2C08464-9F00-5DCF-305B-00AC6691B1E7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64">
            <a:extLst>
              <a:ext uri="{FF2B5EF4-FFF2-40B4-BE49-F238E27FC236}">
                <a16:creationId xmlns:a16="http://schemas.microsoft.com/office/drawing/2014/main" id="{81262933-5CED-987D-2AC5-BF484E334078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ACC and L RSC gamma bursts rising together (amplitude correlation): cue − baseline was higher on Precon4 than on Precon1.</a:t>
            </a:r>
          </a:p>
        </p:txBody>
      </p:sp>
      <p:sp>
        <p:nvSpPr>
          <p:cNvPr id="13" name="!!N65">
            <a:extLst>
              <a:ext uri="{FF2B5EF4-FFF2-40B4-BE49-F238E27FC236}">
                <a16:creationId xmlns:a16="http://schemas.microsoft.com/office/drawing/2014/main" id="{ACBE2C9F-933F-D875-33E9-6CAF042CCC50}"/>
              </a:ext>
            </a:extLst>
          </p:cNvPr>
          <p:cNvSpPr/>
          <p:nvPr/>
        </p:nvSpPr>
        <p:spPr>
          <a:xfrm>
            <a:off x="77978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0.010 (7 rats). Shuffles P = 0.001. Both agree: a stronger lead.</a:t>
            </a:r>
          </a:p>
        </p:txBody>
      </p:sp>
      <p:sp>
        <p:nvSpPr>
          <p:cNvPr id="14" name="!!N66">
            <a:extLst>
              <a:ext uri="{FF2B5EF4-FFF2-40B4-BE49-F238E27FC236}">
                <a16:creationId xmlns:a16="http://schemas.microsoft.com/office/drawing/2014/main" id="{A5DF2653-DAA2-28FE-8491-CFC52A5ACE85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Steady-delay coupling, R ACC with L OFC (PLI): cue − baseline was higher on Precon4 than on Precon1.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D9CFB9E7-6912-7208-385A-AEFEB4C44DF7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700258D1-C6F9-4D38-B4D2-19FDCE4A970B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2.3 · R ACC – L RSC · Bursts rise together</a:t>
            </a:r>
          </a:p>
        </p:txBody>
      </p:sp>
    </p:spTree>
    <p:extLst>
      <p:ext uri="{BB962C8B-B14F-4D97-AF65-F5344CB8AC3E}">
        <p14:creationId xmlns:p14="http://schemas.microsoft.com/office/powerpoint/2010/main" val="18224870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829D8736-E6EA-7E4D-89B9-798B31ABEE75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4">
            <a:extLst>
              <a:ext uri="{FF2B5EF4-FFF2-40B4-BE49-F238E27FC236}">
                <a16:creationId xmlns:a16="http://schemas.microsoft.com/office/drawing/2014/main" id="{D3730CF1-3E10-01AB-2F62-4F7DECBCDE6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955904"/>
            <a:ext cx="7120382" cy="365739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FA855DE8-6B9B-8F1D-EE1E-D0F731F0CF55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01AB3AE5-A0DC-AFB5-E3C4-A9CC8C106638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75B6C7CA-DFA7-4C07-AC93-CE96F0A46CF5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C1C31041-B9B0-8FB5-1F85-A6D1A136E79B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93494440-EFB9-8630-4A03-B21C66246258}"/>
              </a:ext>
            </a:extLst>
          </p:cNvPr>
          <p:cNvSpPr/>
          <p:nvPr/>
        </p:nvSpPr>
        <p:spPr>
          <a:xfrm>
            <a:off x="4685497" y="2033737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BD0408D7-42C2-DD62-F4F2-D7AFF8DC81B7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66">
            <a:extLst>
              <a:ext uri="{FF2B5EF4-FFF2-40B4-BE49-F238E27FC236}">
                <a16:creationId xmlns:a16="http://schemas.microsoft.com/office/drawing/2014/main" id="{CA4B92BB-809E-7DA6-E5E0-76E453D80B96}"/>
              </a:ext>
            </a:extLst>
          </p:cNvPr>
          <p:cNvSpPr/>
          <p:nvPr/>
        </p:nvSpPr>
        <p:spPr>
          <a:xfrm>
            <a:off x="77978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Steady-delay coupling, R ACC with L OFC (PLI): cue − baseline was higher on Precon4 than on Precon1.</a:t>
            </a:r>
          </a:p>
        </p:txBody>
      </p:sp>
      <p:sp>
        <p:nvSpPr>
          <p:cNvPr id="12" name="!!N67">
            <a:extLst>
              <a:ext uri="{FF2B5EF4-FFF2-40B4-BE49-F238E27FC236}">
                <a16:creationId xmlns:a16="http://schemas.microsoft.com/office/drawing/2014/main" id="{C6004C1C-A031-C7C2-D42E-473724DA89C3}"/>
              </a:ext>
            </a:extLst>
          </p:cNvPr>
          <p:cNvSpPr/>
          <p:nvPr/>
        </p:nvSpPr>
        <p:spPr>
          <a:xfrm>
            <a:off x="12573000" y="155905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0.033 (8 rats). Shuffles P = 0.027. Both agree: a stronger lead.</a:t>
            </a:r>
          </a:p>
        </p:txBody>
      </p:sp>
      <p:sp>
        <p:nvSpPr>
          <p:cNvPr id="13" name="!!N64">
            <a:extLst>
              <a:ext uri="{FF2B5EF4-FFF2-40B4-BE49-F238E27FC236}">
                <a16:creationId xmlns:a16="http://schemas.microsoft.com/office/drawing/2014/main" id="{FFB0C143-7AFE-C2FD-AC33-C8020047F3F0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ACC and L RSC gamma bursts rising together (amplitude correlation): cue − baseline was higher on Precon4 than on Precon1.</a:t>
            </a:r>
          </a:p>
        </p:txBody>
      </p:sp>
      <p:sp>
        <p:nvSpPr>
          <p:cNvPr id="14" name="!!N65">
            <a:extLst>
              <a:ext uri="{FF2B5EF4-FFF2-40B4-BE49-F238E27FC236}">
                <a16:creationId xmlns:a16="http://schemas.microsoft.com/office/drawing/2014/main" id="{C06C23CC-B232-203C-E302-76F1C0594C7C}"/>
              </a:ext>
            </a:extLst>
          </p:cNvPr>
          <p:cNvSpPr/>
          <p:nvPr/>
        </p:nvSpPr>
        <p:spPr>
          <a:xfrm>
            <a:off x="125730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0.010 (7 rats). Shuffles P = 0.001. Both agree: a stronger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A07EE759-E0A8-6455-D3BA-1CD5440E9AC8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4C75CC9C-286F-268F-6B10-66531D5CDAD2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2.4 · R ACC – L OFC · Not just a shared signal</a:t>
            </a:r>
          </a:p>
        </p:txBody>
      </p:sp>
    </p:spTree>
    <p:extLst>
      <p:ext uri="{BB962C8B-B14F-4D97-AF65-F5344CB8AC3E}">
        <p14:creationId xmlns:p14="http://schemas.microsoft.com/office/powerpoint/2010/main" val="27006616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8B8A674E-7B4B-B3E9-D03E-C6EEEF0C5B08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4">
            <a:extLst>
              <a:ext uri="{FF2B5EF4-FFF2-40B4-BE49-F238E27FC236}">
                <a16:creationId xmlns:a16="http://schemas.microsoft.com/office/drawing/2014/main" id="{BAD2652D-3644-EF92-3C6F-3B59FC9B5B2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9294076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8FC0C607-AFD6-64CB-FA48-E0541DC2F309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BD55A253-9815-8F78-93CE-EF4286346561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7E826155-8D74-EBE3-845C-4AF0B94C77D3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CD2F8E82-E2DC-F1E7-D54A-8E959CF18F60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D1BE57A0-1173-B5A2-602F-BED23207F3F1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3D329579-D611-F8B5-50CF-296FB8DBDE43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8090A6A4-5877-F7D7-ECDE-BC56BCE0060E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66">
            <a:extLst>
              <a:ext uri="{FF2B5EF4-FFF2-40B4-BE49-F238E27FC236}">
                <a16:creationId xmlns:a16="http://schemas.microsoft.com/office/drawing/2014/main" id="{E45D57F1-32BE-3945-34E3-1B5C79E4AE33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Steady-delay coupling, R ACC with L OFC (PLI): cue − baseline was higher on Precon4 than on Precon1.</a:t>
            </a:r>
          </a:p>
        </p:txBody>
      </p:sp>
      <p:sp>
        <p:nvSpPr>
          <p:cNvPr id="13" name="!!N67">
            <a:extLst>
              <a:ext uri="{FF2B5EF4-FFF2-40B4-BE49-F238E27FC236}">
                <a16:creationId xmlns:a16="http://schemas.microsoft.com/office/drawing/2014/main" id="{6FC9D7F9-6CB6-BA4B-D8CB-004C694BC7B1}"/>
              </a:ext>
            </a:extLst>
          </p:cNvPr>
          <p:cNvSpPr/>
          <p:nvPr/>
        </p:nvSpPr>
        <p:spPr>
          <a:xfrm>
            <a:off x="7797800" y="155905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0.033 (8 rats). Shuffles P = 0.027. Both agree: a stronger lead.</a:t>
            </a:r>
          </a:p>
        </p:txBody>
      </p:sp>
      <p:sp>
        <p:nvSpPr>
          <p:cNvPr id="14" name="!!N68">
            <a:extLst>
              <a:ext uri="{FF2B5EF4-FFF2-40B4-BE49-F238E27FC236}">
                <a16:creationId xmlns:a16="http://schemas.microsoft.com/office/drawing/2014/main" id="{7A759D22-EE72-FB8B-3D27-A152FD3662E4}"/>
              </a:ext>
            </a:extLst>
          </p:cNvPr>
          <p:cNvSpPr/>
          <p:nvPr/>
        </p:nvSpPr>
        <p:spPr>
          <a:xfrm>
            <a:off x="12573000" y="2279904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Coupling with a real delay, R ACC with L OFC (imaginary coherence): cue − baseline was higher on Precon4 than on Precon1.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5756ED62-21AB-8800-E82E-A18E8FB29D5A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EA8A83F9-DEE5-5C12-E1C9-0A97956B252C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2.4 · R ACC – L OFC · Not just a shared signal</a:t>
            </a:r>
          </a:p>
        </p:txBody>
      </p:sp>
    </p:spTree>
    <p:extLst>
      <p:ext uri="{BB962C8B-B14F-4D97-AF65-F5344CB8AC3E}">
        <p14:creationId xmlns:p14="http://schemas.microsoft.com/office/powerpoint/2010/main" val="13507209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F0B450F2-0B65-96AA-6275-1C84CD822C53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4">
            <a:extLst>
              <a:ext uri="{FF2B5EF4-FFF2-40B4-BE49-F238E27FC236}">
                <a16:creationId xmlns:a16="http://schemas.microsoft.com/office/drawing/2014/main" id="{FDB42639-9FBE-F472-20A9-02A86DDB02C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955904"/>
            <a:ext cx="7120382" cy="365739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F7F2D76D-2DC2-6F2C-FA92-EBC7853433DD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BF20698B-CDAE-59B0-2438-21E01DD8FDCD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6BD544CE-F7CE-BBDB-D401-E07F0909E70D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EA5D0836-8FCE-1B8C-900B-E490A9D7FDE1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59A35390-DE07-0561-6002-93B180379F3A}"/>
              </a:ext>
            </a:extLst>
          </p:cNvPr>
          <p:cNvSpPr/>
          <p:nvPr/>
        </p:nvSpPr>
        <p:spPr>
          <a:xfrm>
            <a:off x="4685497" y="3746073"/>
            <a:ext cx="1424351" cy="1517751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67E63A17-4500-81E9-78C8-9E6374B3AA1E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66">
            <a:extLst>
              <a:ext uri="{FF2B5EF4-FFF2-40B4-BE49-F238E27FC236}">
                <a16:creationId xmlns:a16="http://schemas.microsoft.com/office/drawing/2014/main" id="{A3DE5DAC-D9E8-EBCC-AEC9-84B201F19B95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Steady-delay coupling, R ACC with L OFC (PLI): cue − baseline was higher on Precon4 than on Precon1.</a:t>
            </a:r>
          </a:p>
        </p:txBody>
      </p:sp>
      <p:sp>
        <p:nvSpPr>
          <p:cNvPr id="12" name="!!N67">
            <a:extLst>
              <a:ext uri="{FF2B5EF4-FFF2-40B4-BE49-F238E27FC236}">
                <a16:creationId xmlns:a16="http://schemas.microsoft.com/office/drawing/2014/main" id="{86DEF89F-4A89-C2E5-65B9-6305FBF4434D}"/>
              </a:ext>
            </a:extLst>
          </p:cNvPr>
          <p:cNvSpPr/>
          <p:nvPr/>
        </p:nvSpPr>
        <p:spPr>
          <a:xfrm>
            <a:off x="7797800" y="1559052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t-test P = 0.033 (8 rats). Shuffles P = 0.027. </a:t>
            </a:r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Both agree: a stronger lead.</a:t>
            </a:r>
          </a:p>
        </p:txBody>
      </p:sp>
      <p:sp>
        <p:nvSpPr>
          <p:cNvPr id="13" name="!!N68">
            <a:extLst>
              <a:ext uri="{FF2B5EF4-FFF2-40B4-BE49-F238E27FC236}">
                <a16:creationId xmlns:a16="http://schemas.microsoft.com/office/drawing/2014/main" id="{370C566B-7C9E-E139-A573-C9AA85C59A68}"/>
              </a:ext>
            </a:extLst>
          </p:cNvPr>
          <p:cNvSpPr/>
          <p:nvPr/>
        </p:nvSpPr>
        <p:spPr>
          <a:xfrm>
            <a:off x="7797800" y="2279904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Coupling with a real delay, R ACC with L OFC (imaginary coherence): cue − baseline was higher on Precon4 than on Precon1.</a:t>
            </a:r>
          </a:p>
        </p:txBody>
      </p:sp>
      <p:sp>
        <p:nvSpPr>
          <p:cNvPr id="14" name="!!N69">
            <a:extLst>
              <a:ext uri="{FF2B5EF4-FFF2-40B4-BE49-F238E27FC236}">
                <a16:creationId xmlns:a16="http://schemas.microsoft.com/office/drawing/2014/main" id="{E2BE9561-DF0F-1527-499B-958290E9AA86}"/>
              </a:ext>
            </a:extLst>
          </p:cNvPr>
          <p:cNvSpPr/>
          <p:nvPr/>
        </p:nvSpPr>
        <p:spPr>
          <a:xfrm>
            <a:off x="12573000" y="318973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0.016 (8 rats). Shuffles P = 0.012. Both agree: a stronger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0DAF50CF-89C3-2357-135F-3933720CA5C6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81908B9C-2549-3CD2-043E-A93F322B9AF1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2.4 · R ACC – L OFC · Not just a shared signal</a:t>
            </a:r>
          </a:p>
        </p:txBody>
      </p:sp>
    </p:spTree>
    <p:extLst>
      <p:ext uri="{BB962C8B-B14F-4D97-AF65-F5344CB8AC3E}">
        <p14:creationId xmlns:p14="http://schemas.microsoft.com/office/powerpoint/2010/main" val="21283701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A1AC69AC-8921-EE03-4A93-7CC86C8ECF10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4">
            <a:extLst>
              <a:ext uri="{FF2B5EF4-FFF2-40B4-BE49-F238E27FC236}">
                <a16:creationId xmlns:a16="http://schemas.microsoft.com/office/drawing/2014/main" id="{E2074562-9B94-ECF8-3A6F-47B4C7BADFC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-2692970"/>
            <a:ext cx="18094144" cy="9294076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58F45315-085B-FF90-0BCB-7B9BADE27D6B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0765A1A8-CBED-D968-7A63-68A9996C34A3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61AC64BA-A259-673B-A122-3894B9FCFA38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4E9356D3-97B4-F7AA-DC5A-06B2B722D858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E6F43FF4-34F9-6DC8-CDB7-3A420DB6C7A8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AC1E7A0F-20AA-F4F9-A6A6-201F37544131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CCCC6856-E7B8-5122-51F1-ADDBAFF535B8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66">
            <a:extLst>
              <a:ext uri="{FF2B5EF4-FFF2-40B4-BE49-F238E27FC236}">
                <a16:creationId xmlns:a16="http://schemas.microsoft.com/office/drawing/2014/main" id="{6B36EF9B-569C-87DA-0167-43EE2583A5FB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Steady-delay coupling, R ACC with L OFC (PLI): cue − baseline was higher on Precon4 than on Precon1.</a:t>
            </a:r>
          </a:p>
        </p:txBody>
      </p:sp>
      <p:sp>
        <p:nvSpPr>
          <p:cNvPr id="13" name="!!N67">
            <a:extLst>
              <a:ext uri="{FF2B5EF4-FFF2-40B4-BE49-F238E27FC236}">
                <a16:creationId xmlns:a16="http://schemas.microsoft.com/office/drawing/2014/main" id="{392633FE-1CA5-6CF7-A8BE-07C77D450B8B}"/>
              </a:ext>
            </a:extLst>
          </p:cNvPr>
          <p:cNvSpPr/>
          <p:nvPr/>
        </p:nvSpPr>
        <p:spPr>
          <a:xfrm>
            <a:off x="7797800" y="1559052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t-test P = 0.033 (8 rats). Shuffles P = 0.027. </a:t>
            </a:r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Both agree: a stronger lead.</a:t>
            </a:r>
          </a:p>
        </p:txBody>
      </p:sp>
      <p:sp>
        <p:nvSpPr>
          <p:cNvPr id="14" name="!!N68">
            <a:extLst>
              <a:ext uri="{FF2B5EF4-FFF2-40B4-BE49-F238E27FC236}">
                <a16:creationId xmlns:a16="http://schemas.microsoft.com/office/drawing/2014/main" id="{41E24FF7-3D71-AB40-3A39-1CF55DF0DE11}"/>
              </a:ext>
            </a:extLst>
          </p:cNvPr>
          <p:cNvSpPr/>
          <p:nvPr/>
        </p:nvSpPr>
        <p:spPr>
          <a:xfrm>
            <a:off x="7797800" y="2279904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Coupling with a real delay, R ACC with L OFC (imaginary coherence): cue − baseline was higher on Precon4 than on Precon1.</a:t>
            </a:r>
          </a:p>
        </p:txBody>
      </p:sp>
      <p:sp>
        <p:nvSpPr>
          <p:cNvPr id="15" name="!!N69">
            <a:extLst>
              <a:ext uri="{FF2B5EF4-FFF2-40B4-BE49-F238E27FC236}">
                <a16:creationId xmlns:a16="http://schemas.microsoft.com/office/drawing/2014/main" id="{6343837D-50B6-2B0D-893C-FDDC172DB6EB}"/>
              </a:ext>
            </a:extLst>
          </p:cNvPr>
          <p:cNvSpPr/>
          <p:nvPr/>
        </p:nvSpPr>
        <p:spPr>
          <a:xfrm>
            <a:off x="7797800" y="318973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0.016 (8 rats). Shuffles P = 0.012. Both agree: a stronger lead.</a:t>
            </a:r>
          </a:p>
        </p:txBody>
      </p:sp>
      <p:sp>
        <p:nvSpPr>
          <p:cNvPr id="16" name="!!N70">
            <a:extLst>
              <a:ext uri="{FF2B5EF4-FFF2-40B4-BE49-F238E27FC236}">
                <a16:creationId xmlns:a16="http://schemas.microsoft.com/office/drawing/2014/main" id="{F39A59E0-89A7-72F9-EE8C-B52BFC9F9AA8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Theta in R ACC pacing gamma in L OFC (PAC): cue − baseline was higher on Precon4 than on Precon1.</a:t>
            </a:r>
          </a:p>
        </p:txBody>
      </p:sp>
      <p:sp>
        <p:nvSpPr>
          <p:cNvPr id="17" name="!!T-BG">
            <a:extLst>
              <a:ext uri="{FF2B5EF4-FFF2-40B4-BE49-F238E27FC236}">
                <a16:creationId xmlns:a16="http://schemas.microsoft.com/office/drawing/2014/main" id="{924C0329-FFD3-B4B0-6A75-C003B7707433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!!T">
            <a:extLst>
              <a:ext uri="{FF2B5EF4-FFF2-40B4-BE49-F238E27FC236}">
                <a16:creationId xmlns:a16="http://schemas.microsoft.com/office/drawing/2014/main" id="{DBAC1ABD-1D6E-5A09-A4B5-4DB3D18688B3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2.4 · R ACC – L OFC · Not just a shared signal</a:t>
            </a:r>
          </a:p>
        </p:txBody>
      </p:sp>
    </p:spTree>
    <p:extLst>
      <p:ext uri="{BB962C8B-B14F-4D97-AF65-F5344CB8AC3E}">
        <p14:creationId xmlns:p14="http://schemas.microsoft.com/office/powerpoint/2010/main" val="19960031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E95EBA2E-5F2A-5B97-F23A-C65DA8D0A5F6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5">
            <a:extLst>
              <a:ext uri="{FF2B5EF4-FFF2-40B4-BE49-F238E27FC236}">
                <a16:creationId xmlns:a16="http://schemas.microsoft.com/office/drawing/2014/main" id="{93FEC420-7C5A-DE18-B3E8-5F879487F29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034159"/>
            <a:ext cx="7120382" cy="350088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AE5330C9-78DF-3BAA-DD3D-A3E2A8C8247E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28CB7F32-BF86-BF4A-74F3-B305E8957FCE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8F512B26-E7D8-5CF3-47B6-31E0BFB68835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37F2E2A0-F358-6F74-6811-726384351D7B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090ACEF6-3D91-9423-5CFD-CBFAC8E339D8}"/>
              </a:ext>
            </a:extLst>
          </p:cNvPr>
          <p:cNvSpPr/>
          <p:nvPr/>
        </p:nvSpPr>
        <p:spPr>
          <a:xfrm>
            <a:off x="4685497" y="2111992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326E07D0-B5E0-EB4F-2660-768ED81EE9AE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70">
            <a:extLst>
              <a:ext uri="{FF2B5EF4-FFF2-40B4-BE49-F238E27FC236}">
                <a16:creationId xmlns:a16="http://schemas.microsoft.com/office/drawing/2014/main" id="{FBD55FEA-53EC-6C94-AFFE-7DB05A3F847C}"/>
              </a:ext>
            </a:extLst>
          </p:cNvPr>
          <p:cNvSpPr/>
          <p:nvPr/>
        </p:nvSpPr>
        <p:spPr>
          <a:xfrm>
            <a:off x="77978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Theta in R ACC pacing gamma in L OFC (PAC): cue − baseline was higher on Precon4 than on Precon1.</a:t>
            </a:r>
          </a:p>
        </p:txBody>
      </p:sp>
      <p:sp>
        <p:nvSpPr>
          <p:cNvPr id="12" name="!!N71">
            <a:extLst>
              <a:ext uri="{FF2B5EF4-FFF2-40B4-BE49-F238E27FC236}">
                <a16:creationId xmlns:a16="http://schemas.microsoft.com/office/drawing/2014/main" id="{4AD1D218-8AE6-0D19-A45A-856BD808C856}"/>
              </a:ext>
            </a:extLst>
          </p:cNvPr>
          <p:cNvSpPr/>
          <p:nvPr/>
        </p:nvSpPr>
        <p:spPr>
          <a:xfrm>
            <a:off x="12573000" y="155905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0.010 (8 rats). Shuffles P = 0.187. The shuffles do not agree: a weaker lead.</a:t>
            </a:r>
          </a:p>
        </p:txBody>
      </p:sp>
      <p:sp>
        <p:nvSpPr>
          <p:cNvPr id="13" name="!!N66">
            <a:extLst>
              <a:ext uri="{FF2B5EF4-FFF2-40B4-BE49-F238E27FC236}">
                <a16:creationId xmlns:a16="http://schemas.microsoft.com/office/drawing/2014/main" id="{B4E4B1BC-800A-CB9E-E1A6-6324C29D47AE}"/>
              </a:ext>
            </a:extLst>
          </p:cNvPr>
          <p:cNvSpPr/>
          <p:nvPr/>
        </p:nvSpPr>
        <p:spPr>
          <a:xfrm>
            <a:off x="125730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Steady-delay coupling, R ACC with L OFC (PLI): cue − baseline was higher on Precon4 than on Precon1.</a:t>
            </a:r>
          </a:p>
        </p:txBody>
      </p:sp>
      <p:sp>
        <p:nvSpPr>
          <p:cNvPr id="14" name="!!N67">
            <a:extLst>
              <a:ext uri="{FF2B5EF4-FFF2-40B4-BE49-F238E27FC236}">
                <a16:creationId xmlns:a16="http://schemas.microsoft.com/office/drawing/2014/main" id="{DC39ADBD-587A-A40E-D23B-90631098A53F}"/>
              </a:ext>
            </a:extLst>
          </p:cNvPr>
          <p:cNvSpPr/>
          <p:nvPr/>
        </p:nvSpPr>
        <p:spPr>
          <a:xfrm>
            <a:off x="12573000" y="1559052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t-test P = 0.033 (8 rats). Shuffles P = 0.027. </a:t>
            </a:r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Both agree: a stronger lead.</a:t>
            </a:r>
          </a:p>
        </p:txBody>
      </p:sp>
      <p:sp>
        <p:nvSpPr>
          <p:cNvPr id="15" name="!!N68">
            <a:extLst>
              <a:ext uri="{FF2B5EF4-FFF2-40B4-BE49-F238E27FC236}">
                <a16:creationId xmlns:a16="http://schemas.microsoft.com/office/drawing/2014/main" id="{2858A30C-553A-F05A-14D1-612F0340FF27}"/>
              </a:ext>
            </a:extLst>
          </p:cNvPr>
          <p:cNvSpPr/>
          <p:nvPr/>
        </p:nvSpPr>
        <p:spPr>
          <a:xfrm>
            <a:off x="12573000" y="2279904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Coupling with a real delay, R ACC with L OFC (imaginary coherence): cue − baseline was higher on Precon4 than on Precon1.</a:t>
            </a:r>
          </a:p>
        </p:txBody>
      </p:sp>
      <p:sp>
        <p:nvSpPr>
          <p:cNvPr id="16" name="!!N69">
            <a:extLst>
              <a:ext uri="{FF2B5EF4-FFF2-40B4-BE49-F238E27FC236}">
                <a16:creationId xmlns:a16="http://schemas.microsoft.com/office/drawing/2014/main" id="{83DA0156-7CC2-C603-1EC1-6E2FB519E031}"/>
              </a:ext>
            </a:extLst>
          </p:cNvPr>
          <p:cNvSpPr/>
          <p:nvPr/>
        </p:nvSpPr>
        <p:spPr>
          <a:xfrm>
            <a:off x="12573000" y="318973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0.016 (8 rats). Shuffles P = 0.012. Both agree: a stronger lead.</a:t>
            </a:r>
          </a:p>
        </p:txBody>
      </p:sp>
      <p:sp>
        <p:nvSpPr>
          <p:cNvPr id="17" name="!!T-BG">
            <a:extLst>
              <a:ext uri="{FF2B5EF4-FFF2-40B4-BE49-F238E27FC236}">
                <a16:creationId xmlns:a16="http://schemas.microsoft.com/office/drawing/2014/main" id="{8735238E-D448-BE23-901E-85A4AC052C25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!!T">
            <a:extLst>
              <a:ext uri="{FF2B5EF4-FFF2-40B4-BE49-F238E27FC236}">
                <a16:creationId xmlns:a16="http://schemas.microsoft.com/office/drawing/2014/main" id="{147E02D9-2C68-43F5-038D-C16D9AA6F551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2.5 · R ACC – L OFC · Theta paces gamma</a:t>
            </a:r>
          </a:p>
        </p:txBody>
      </p:sp>
    </p:spTree>
    <p:extLst>
      <p:ext uri="{BB962C8B-B14F-4D97-AF65-F5344CB8AC3E}">
        <p14:creationId xmlns:p14="http://schemas.microsoft.com/office/powerpoint/2010/main" val="26494225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8773C4C2-3ACC-28CE-5792-33F04FF41FCF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5">
            <a:extLst>
              <a:ext uri="{FF2B5EF4-FFF2-40B4-BE49-F238E27FC236}">
                <a16:creationId xmlns:a16="http://schemas.microsoft.com/office/drawing/2014/main" id="{C5EF6712-61CB-06BF-145B-A1B7FFF6D68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889635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E31B3A5E-F06F-9830-C7BF-5DC543956759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FE7B88A5-7B84-CB92-36DA-4226F89D6055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6534299F-7957-F354-48C1-333B9479CD46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915175E2-2CB1-05A1-52EC-FCCC7BB97F16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F6BD3E11-B6D1-BBA8-264E-15C4502136E9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33149835-F44E-6DFA-A270-1DBDEE9B905D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1FAD14BA-A99D-B71C-ED4E-EDD9FA9303D2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70">
            <a:extLst>
              <a:ext uri="{FF2B5EF4-FFF2-40B4-BE49-F238E27FC236}">
                <a16:creationId xmlns:a16="http://schemas.microsoft.com/office/drawing/2014/main" id="{D9547CEC-BA70-A2E4-F799-D9AA1FF87CFD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Theta in R ACC pacing gamma in L OFC (PAC): cue − baseline was higher on Precon4 than on Precon1.</a:t>
            </a:r>
          </a:p>
        </p:txBody>
      </p:sp>
      <p:sp>
        <p:nvSpPr>
          <p:cNvPr id="13" name="!!N71">
            <a:extLst>
              <a:ext uri="{FF2B5EF4-FFF2-40B4-BE49-F238E27FC236}">
                <a16:creationId xmlns:a16="http://schemas.microsoft.com/office/drawing/2014/main" id="{FED5694B-2590-257C-F95C-EE09D676C028}"/>
              </a:ext>
            </a:extLst>
          </p:cNvPr>
          <p:cNvSpPr/>
          <p:nvPr/>
        </p:nvSpPr>
        <p:spPr>
          <a:xfrm>
            <a:off x="7797800" y="155905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0.010 (8 rats). Shuffles P = 0.187. The shuffles do not agree: a weaker lead.</a:t>
            </a:r>
          </a:p>
        </p:txBody>
      </p:sp>
      <p:sp>
        <p:nvSpPr>
          <p:cNvPr id="14" name="!!N72">
            <a:extLst>
              <a:ext uri="{FF2B5EF4-FFF2-40B4-BE49-F238E27FC236}">
                <a16:creationId xmlns:a16="http://schemas.microsoft.com/office/drawing/2014/main" id="{B8EF8F4A-5911-07E9-1111-910CD9C925CC}"/>
              </a:ext>
            </a:extLst>
          </p:cNvPr>
          <p:cNvSpPr/>
          <p:nvPr/>
        </p:nvSpPr>
        <p:spPr>
          <a:xfrm>
            <a:off x="125730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Its roses: L OFC gamma around the R ACC theta cycle, averaged over rats, Precon1 then Precon4. Where in the cycle, not how much: c is the result.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E5C601AB-5868-EE34-41D2-FBE30785EF8B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70862A24-0EB9-010E-F0F0-BA833655A556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2.5 · R ACC – L OFC · Theta paces gamma</a:t>
            </a:r>
          </a:p>
        </p:txBody>
      </p:sp>
    </p:spTree>
    <p:extLst>
      <p:ext uri="{BB962C8B-B14F-4D97-AF65-F5344CB8AC3E}">
        <p14:creationId xmlns:p14="http://schemas.microsoft.com/office/powerpoint/2010/main" val="24729469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2B1F23A8-7247-DA95-B4EF-91E834FD7326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5">
            <a:extLst>
              <a:ext uri="{FF2B5EF4-FFF2-40B4-BE49-F238E27FC236}">
                <a16:creationId xmlns:a16="http://schemas.microsoft.com/office/drawing/2014/main" id="{533AF5F4-06CC-EEF4-4B02-E1C1BF19BDE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197139"/>
            <a:ext cx="7119007" cy="3500206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833BE8DC-5307-0BA1-6EDB-604ABAA39B1E}"/>
              </a:ext>
            </a:extLst>
          </p:cNvPr>
          <p:cNvSpPr/>
          <p:nvPr/>
        </p:nvSpPr>
        <p:spPr>
          <a:xfrm>
            <a:off x="0" y="685800"/>
            <a:ext cx="7670800" cy="223685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8046EBE1-B705-A05C-E26F-AB0C2B33EED9}"/>
              </a:ext>
            </a:extLst>
          </p:cNvPr>
          <p:cNvSpPr/>
          <p:nvPr/>
        </p:nvSpPr>
        <p:spPr>
          <a:xfrm>
            <a:off x="0" y="4646548"/>
            <a:ext cx="7670800" cy="221145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AC10132A-D90A-086D-BA44-BFB458B8966D}"/>
              </a:ext>
            </a:extLst>
          </p:cNvPr>
          <p:cNvSpPr/>
          <p:nvPr/>
        </p:nvSpPr>
        <p:spPr>
          <a:xfrm>
            <a:off x="0" y="2922652"/>
            <a:ext cx="262509" cy="1723895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E41E1261-6C0E-9394-B32A-8514811A7ED7}"/>
              </a:ext>
            </a:extLst>
          </p:cNvPr>
          <p:cNvSpPr/>
          <p:nvPr/>
        </p:nvSpPr>
        <p:spPr>
          <a:xfrm>
            <a:off x="7433691" y="2922652"/>
            <a:ext cx="237109" cy="1723895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ACCCF028-283C-ACC7-4C96-C20E56F2BE4B}"/>
              </a:ext>
            </a:extLst>
          </p:cNvPr>
          <p:cNvSpPr/>
          <p:nvPr/>
        </p:nvSpPr>
        <p:spPr>
          <a:xfrm>
            <a:off x="287909" y="2986962"/>
            <a:ext cx="5019286" cy="1595277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E0E8253B-836B-582F-4270-7699B86FF789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72">
            <a:extLst>
              <a:ext uri="{FF2B5EF4-FFF2-40B4-BE49-F238E27FC236}">
                <a16:creationId xmlns:a16="http://schemas.microsoft.com/office/drawing/2014/main" id="{91262275-99BB-9739-E003-0A9F23227599}"/>
              </a:ext>
            </a:extLst>
          </p:cNvPr>
          <p:cNvSpPr/>
          <p:nvPr/>
        </p:nvSpPr>
        <p:spPr>
          <a:xfrm>
            <a:off x="77978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Its roses: L OFC gamma around the R ACC theta cycle, averaged over rats, Precon1 then Precon4. Where in the cycle, not how much: c is the result.</a:t>
            </a:r>
          </a:p>
        </p:txBody>
      </p:sp>
      <p:sp>
        <p:nvSpPr>
          <p:cNvPr id="12" name="!!N73">
            <a:extLst>
              <a:ext uri="{FF2B5EF4-FFF2-40B4-BE49-F238E27FC236}">
                <a16:creationId xmlns:a16="http://schemas.microsoft.com/office/drawing/2014/main" id="{FF603471-A426-581E-219E-36743C9CD308}"/>
              </a:ext>
            </a:extLst>
          </p:cNvPr>
          <p:cNvSpPr/>
          <p:nvPr/>
        </p:nvSpPr>
        <p:spPr>
          <a:xfrm>
            <a:off x="125730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Coupling with a real delay, R ACC with L ACC (imaginary coherence): cue − baseline was higher on Precon4 than on Precon1.</a:t>
            </a:r>
          </a:p>
        </p:txBody>
      </p:sp>
      <p:sp>
        <p:nvSpPr>
          <p:cNvPr id="13" name="!!N70">
            <a:extLst>
              <a:ext uri="{FF2B5EF4-FFF2-40B4-BE49-F238E27FC236}">
                <a16:creationId xmlns:a16="http://schemas.microsoft.com/office/drawing/2014/main" id="{E6978DDA-BFE4-6466-EF01-4A9A8416BC12}"/>
              </a:ext>
            </a:extLst>
          </p:cNvPr>
          <p:cNvSpPr/>
          <p:nvPr/>
        </p:nvSpPr>
        <p:spPr>
          <a:xfrm>
            <a:off x="125730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Theta in R ACC pacing gamma in L OFC (PAC): cue − baseline was higher on Precon4 than on Precon1.</a:t>
            </a:r>
          </a:p>
        </p:txBody>
      </p:sp>
      <p:sp>
        <p:nvSpPr>
          <p:cNvPr id="14" name="!!N71">
            <a:extLst>
              <a:ext uri="{FF2B5EF4-FFF2-40B4-BE49-F238E27FC236}">
                <a16:creationId xmlns:a16="http://schemas.microsoft.com/office/drawing/2014/main" id="{1301F760-141D-CD16-7AF2-6BF666E10F97}"/>
              </a:ext>
            </a:extLst>
          </p:cNvPr>
          <p:cNvSpPr/>
          <p:nvPr/>
        </p:nvSpPr>
        <p:spPr>
          <a:xfrm>
            <a:off x="12573000" y="155905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0.010 (8 rats). Shuffles P = 0.187. The shuffles do not agree: a weaker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158CECEC-2EFE-A68E-9346-FB9344167A56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3F4DBEEC-EAA4-8BA8-CC5C-DBB2A2E49A36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2.5 · R ACC – L OFC · Theta paces gamma</a:t>
            </a:r>
          </a:p>
        </p:txBody>
      </p:sp>
    </p:spTree>
    <p:extLst>
      <p:ext uri="{BB962C8B-B14F-4D97-AF65-F5344CB8AC3E}">
        <p14:creationId xmlns:p14="http://schemas.microsoft.com/office/powerpoint/2010/main" val="655614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6453AF13-FB43-81F5-8B9B-427B8D09378D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6">
            <a:extLst>
              <a:ext uri="{FF2B5EF4-FFF2-40B4-BE49-F238E27FC236}">
                <a16:creationId xmlns:a16="http://schemas.microsoft.com/office/drawing/2014/main" id="{2715BAA3-D94D-713F-5ADD-9B55B0D7009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811767"/>
            <a:ext cx="7120382" cy="194566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32715F70-C863-F953-4FE4-E0908231777F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D6306845-882E-8965-B654-C0AA3A6DCFEF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2C4D9392-E34F-E672-59A6-C55FC758CB04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8D392DA8-6AD7-2F37-54EB-0E6FB2CAD512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CECE0C65-C4C3-F611-8C66-4D8DD97476D7}"/>
              </a:ext>
            </a:extLst>
          </p:cNvPr>
          <p:cNvSpPr/>
          <p:nvPr/>
        </p:nvSpPr>
        <p:spPr>
          <a:xfrm>
            <a:off x="4685497" y="2889600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2D6C5C59-81C3-D6B2-8175-F74CDB85FCFF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73">
            <a:extLst>
              <a:ext uri="{FF2B5EF4-FFF2-40B4-BE49-F238E27FC236}">
                <a16:creationId xmlns:a16="http://schemas.microsoft.com/office/drawing/2014/main" id="{2CA62379-ABA0-B5EF-0412-2E7DF0F4C5A3}"/>
              </a:ext>
            </a:extLst>
          </p:cNvPr>
          <p:cNvSpPr/>
          <p:nvPr/>
        </p:nvSpPr>
        <p:spPr>
          <a:xfrm>
            <a:off x="77978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Coupling with a real delay, R ACC with L ACC (imaginary coherence): cue − baseline was higher on Precon4 than on Precon1.</a:t>
            </a:r>
          </a:p>
        </p:txBody>
      </p:sp>
      <p:sp>
        <p:nvSpPr>
          <p:cNvPr id="12" name="!!N74">
            <a:extLst>
              <a:ext uri="{FF2B5EF4-FFF2-40B4-BE49-F238E27FC236}">
                <a16:creationId xmlns:a16="http://schemas.microsoft.com/office/drawing/2014/main" id="{03D328F5-1B36-3E5B-0184-853D2F05E4F9}"/>
              </a:ext>
            </a:extLst>
          </p:cNvPr>
          <p:cNvSpPr/>
          <p:nvPr/>
        </p:nvSpPr>
        <p:spPr>
          <a:xfrm>
            <a:off x="125730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0.027 (8 rats). Shuffles P = 0.077. The shuffles do not agree: a weaker lead.</a:t>
            </a:r>
          </a:p>
        </p:txBody>
      </p:sp>
      <p:sp>
        <p:nvSpPr>
          <p:cNvPr id="13" name="!!N72">
            <a:extLst>
              <a:ext uri="{FF2B5EF4-FFF2-40B4-BE49-F238E27FC236}">
                <a16:creationId xmlns:a16="http://schemas.microsoft.com/office/drawing/2014/main" id="{76499DF0-97A1-BD61-A0DF-798DFF681705}"/>
              </a:ext>
            </a:extLst>
          </p:cNvPr>
          <p:cNvSpPr/>
          <p:nvPr/>
        </p:nvSpPr>
        <p:spPr>
          <a:xfrm>
            <a:off x="125730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Its roses: L OFC gamma around the R ACC theta cycle, averaged over rats, Precon1 then Precon4. Where in the cycle, not how much: c is the result.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26489FA0-C6A5-FD17-8A81-3F92896756AC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F66C0A2F-A1E3-B063-BF62-AFDA17F15117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2.6 · R ACC – L ACC · Not just a shared signal</a:t>
            </a:r>
          </a:p>
        </p:txBody>
      </p:sp>
    </p:spTree>
    <p:extLst>
      <p:ext uri="{BB962C8B-B14F-4D97-AF65-F5344CB8AC3E}">
        <p14:creationId xmlns:p14="http://schemas.microsoft.com/office/powerpoint/2010/main" val="3576219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189605F1-2AEC-48DD-8425-72508602785D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6">
            <a:extLst>
              <a:ext uri="{FF2B5EF4-FFF2-40B4-BE49-F238E27FC236}">
                <a16:creationId xmlns:a16="http://schemas.microsoft.com/office/drawing/2014/main" id="{90680192-6E26-6BCD-58D4-33D5F7F76A4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C37A5958-7992-A9CD-E930-2BA110975415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EC97DF57-5147-8800-848A-8D3F0C88DB13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B2BF3903-49D8-45BE-6A83-34723C11C1F4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2136F9C6-65C0-4FCF-407A-73AFAB279B67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AC290BF5-2AFE-3691-6F5C-CBD165AD26CF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9956AEF7-24BF-6EA7-A693-F75AEF785184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900F811B-9BF4-4152-1AA6-2542D2AFDF53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73">
            <a:extLst>
              <a:ext uri="{FF2B5EF4-FFF2-40B4-BE49-F238E27FC236}">
                <a16:creationId xmlns:a16="http://schemas.microsoft.com/office/drawing/2014/main" id="{FC4DFCA9-2BDA-7768-E58E-82D64EAC632D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Coupling with a real delay, R ACC with L ACC (imaginary coherence): cue − baseline was higher on Precon4 than on Precon1.</a:t>
            </a:r>
          </a:p>
        </p:txBody>
      </p:sp>
      <p:sp>
        <p:nvSpPr>
          <p:cNvPr id="13" name="!!N74">
            <a:extLst>
              <a:ext uri="{FF2B5EF4-FFF2-40B4-BE49-F238E27FC236}">
                <a16:creationId xmlns:a16="http://schemas.microsoft.com/office/drawing/2014/main" id="{7D5A102B-B37D-1FDA-87F4-54A807B812DC}"/>
              </a:ext>
            </a:extLst>
          </p:cNvPr>
          <p:cNvSpPr/>
          <p:nvPr/>
        </p:nvSpPr>
        <p:spPr>
          <a:xfrm>
            <a:off x="77978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0.027 (8 rats). Shuffles P = 0.077. The shuffles do not agree: a weaker lead.</a:t>
            </a:r>
          </a:p>
        </p:txBody>
      </p:sp>
      <p:sp>
        <p:nvSpPr>
          <p:cNvPr id="14" name="!!N75">
            <a:extLst>
              <a:ext uri="{FF2B5EF4-FFF2-40B4-BE49-F238E27FC236}">
                <a16:creationId xmlns:a16="http://schemas.microsoft.com/office/drawing/2014/main" id="{11BDC2CF-7A4C-C500-4072-54C783C544FF}"/>
              </a:ext>
            </a:extLst>
          </p:cNvPr>
          <p:cNvSpPr/>
          <p:nvPr/>
        </p:nvSpPr>
        <p:spPr>
          <a:xfrm>
            <a:off x="125730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ACC and L ACC gamma bursts rising together (amplitude correlation): cue − baseline was higher on Precon4 than on Precon1.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7BD5F69D-A71B-1356-CB4E-24FA8A847C4B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88B58052-2765-B657-3B44-924ACF0AF20F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2.6 · R ACC – L ACC · Not just a shared signal</a:t>
            </a:r>
          </a:p>
        </p:txBody>
      </p:sp>
    </p:spTree>
    <p:extLst>
      <p:ext uri="{BB962C8B-B14F-4D97-AF65-F5344CB8AC3E}">
        <p14:creationId xmlns:p14="http://schemas.microsoft.com/office/powerpoint/2010/main" val="34332670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3699F602-D169-1F00-FD77-36F42895954D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7">
            <a:extLst>
              <a:ext uri="{FF2B5EF4-FFF2-40B4-BE49-F238E27FC236}">
                <a16:creationId xmlns:a16="http://schemas.microsoft.com/office/drawing/2014/main" id="{C25F1A81-29C6-A712-3317-D2EDCECFC8B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811767"/>
            <a:ext cx="7120382" cy="194566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2F17380E-AFB6-1E8C-8CD5-9D3F4617CC7C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0B747B9C-09D9-20F2-523E-FC4763ACBCC8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1BC27445-88D6-5A52-9B3F-663587E5E62E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8ABB2999-83CD-3061-AC9A-750DEA916648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46622589-2E30-D0A6-B5E9-6A81CD0E287D}"/>
              </a:ext>
            </a:extLst>
          </p:cNvPr>
          <p:cNvSpPr/>
          <p:nvPr/>
        </p:nvSpPr>
        <p:spPr>
          <a:xfrm>
            <a:off x="4685497" y="2889600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F6C0F1F9-0CDE-0F98-B319-E77E270CD11B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75">
            <a:extLst>
              <a:ext uri="{FF2B5EF4-FFF2-40B4-BE49-F238E27FC236}">
                <a16:creationId xmlns:a16="http://schemas.microsoft.com/office/drawing/2014/main" id="{B7450DD1-D720-D3B1-2B8D-EE9197CB5F59}"/>
              </a:ext>
            </a:extLst>
          </p:cNvPr>
          <p:cNvSpPr/>
          <p:nvPr/>
        </p:nvSpPr>
        <p:spPr>
          <a:xfrm>
            <a:off x="77978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ACC and L ACC gamma bursts rising together (amplitude correlation): cue − baseline was higher on Precon4 than on Precon1.</a:t>
            </a:r>
          </a:p>
        </p:txBody>
      </p:sp>
      <p:sp>
        <p:nvSpPr>
          <p:cNvPr id="12" name="!!N76">
            <a:extLst>
              <a:ext uri="{FF2B5EF4-FFF2-40B4-BE49-F238E27FC236}">
                <a16:creationId xmlns:a16="http://schemas.microsoft.com/office/drawing/2014/main" id="{7B79A379-5E8D-2E70-EAE4-0A55409EF242}"/>
              </a:ext>
            </a:extLst>
          </p:cNvPr>
          <p:cNvSpPr/>
          <p:nvPr/>
        </p:nvSpPr>
        <p:spPr>
          <a:xfrm>
            <a:off x="125730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0.023 (8 rats). Shuffles P = 0.027. Both agree: a stronger lead.</a:t>
            </a:r>
          </a:p>
        </p:txBody>
      </p:sp>
      <p:sp>
        <p:nvSpPr>
          <p:cNvPr id="13" name="!!N73">
            <a:extLst>
              <a:ext uri="{FF2B5EF4-FFF2-40B4-BE49-F238E27FC236}">
                <a16:creationId xmlns:a16="http://schemas.microsoft.com/office/drawing/2014/main" id="{45D2437A-03CA-4461-AB07-CD5CB6B335CC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Coupling with a real delay, R ACC with L ACC (imaginary coherence): cue − baseline was higher on Precon4 than on Precon1.</a:t>
            </a:r>
          </a:p>
        </p:txBody>
      </p:sp>
      <p:sp>
        <p:nvSpPr>
          <p:cNvPr id="14" name="!!N74">
            <a:extLst>
              <a:ext uri="{FF2B5EF4-FFF2-40B4-BE49-F238E27FC236}">
                <a16:creationId xmlns:a16="http://schemas.microsoft.com/office/drawing/2014/main" id="{56A5540D-688B-E75C-ACEA-670DF843136B}"/>
              </a:ext>
            </a:extLst>
          </p:cNvPr>
          <p:cNvSpPr/>
          <p:nvPr/>
        </p:nvSpPr>
        <p:spPr>
          <a:xfrm>
            <a:off x="125730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0.027 (8 rats). Shuffles P = 0.077. The shuffles do not agree: a weaker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164D6228-5AC2-B7D9-4542-B58E2229ED31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CC6EFF51-67F0-64CC-799B-FF0A6E79B30E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2.7 · R ACC – L ACC · Bursts rise together</a:t>
            </a:r>
          </a:p>
        </p:txBody>
      </p:sp>
    </p:spTree>
    <p:extLst>
      <p:ext uri="{BB962C8B-B14F-4D97-AF65-F5344CB8AC3E}">
        <p14:creationId xmlns:p14="http://schemas.microsoft.com/office/powerpoint/2010/main" val="35288650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AF0A618C-D407-DD98-42FE-0FF9E44EC26F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7">
            <a:extLst>
              <a:ext uri="{FF2B5EF4-FFF2-40B4-BE49-F238E27FC236}">
                <a16:creationId xmlns:a16="http://schemas.microsoft.com/office/drawing/2014/main" id="{33ABD660-5708-26FC-2AE0-928C05BD12B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B4E02BA0-3846-B335-D4E5-B7E6E831646A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6968E343-4005-A1FD-79C2-E15D70541879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51CC0C07-B325-2753-BD99-44541EAF2E56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7C5DC693-CE78-C5F7-C40F-6DA837AEC447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A010A4DF-890C-E20B-7C7A-AB0BB28E5777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68EF4F7B-6DB3-F0D4-C501-D86A9D824708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45285514-512C-28AD-8557-0E762DE23B61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75">
            <a:extLst>
              <a:ext uri="{FF2B5EF4-FFF2-40B4-BE49-F238E27FC236}">
                <a16:creationId xmlns:a16="http://schemas.microsoft.com/office/drawing/2014/main" id="{5BFFD240-8296-11AD-7614-7380271EC584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ACC and L ACC gamma bursts rising together (amplitude correlation): cue − baseline was higher on Precon4 than on Precon1.</a:t>
            </a:r>
          </a:p>
        </p:txBody>
      </p:sp>
      <p:sp>
        <p:nvSpPr>
          <p:cNvPr id="13" name="!!N76">
            <a:extLst>
              <a:ext uri="{FF2B5EF4-FFF2-40B4-BE49-F238E27FC236}">
                <a16:creationId xmlns:a16="http://schemas.microsoft.com/office/drawing/2014/main" id="{E4C16B72-E8E3-0D08-292B-23320A7012FC}"/>
              </a:ext>
            </a:extLst>
          </p:cNvPr>
          <p:cNvSpPr/>
          <p:nvPr/>
        </p:nvSpPr>
        <p:spPr>
          <a:xfrm>
            <a:off x="77978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0.023 (8 rats). Shuffles P = 0.027. Both agree: a stronger lead.</a:t>
            </a:r>
          </a:p>
        </p:txBody>
      </p:sp>
      <p:sp>
        <p:nvSpPr>
          <p:cNvPr id="14" name="!!N77">
            <a:extLst>
              <a:ext uri="{FF2B5EF4-FFF2-40B4-BE49-F238E27FC236}">
                <a16:creationId xmlns:a16="http://schemas.microsoft.com/office/drawing/2014/main" id="{0ED8F91A-6007-46A4-8866-AB32CF433F98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Theta in L RSC pacing gamma in R OFC (PAC): cue − baseline was higher on Precon4 than on Precon1.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E8447E00-96E0-A9CB-C4CC-5327F5F8C180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3F5067B3-3F55-E0CD-2FFF-DC2918C18709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2.7 · R ACC – L ACC · Bursts rise together</a:t>
            </a:r>
          </a:p>
        </p:txBody>
      </p:sp>
    </p:spTree>
    <p:extLst>
      <p:ext uri="{BB962C8B-B14F-4D97-AF65-F5344CB8AC3E}">
        <p14:creationId xmlns:p14="http://schemas.microsoft.com/office/powerpoint/2010/main" val="4172077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6CD82416-83BA-B6F7-FA05-A392F9F3F36F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8">
            <a:extLst>
              <a:ext uri="{FF2B5EF4-FFF2-40B4-BE49-F238E27FC236}">
                <a16:creationId xmlns:a16="http://schemas.microsoft.com/office/drawing/2014/main" id="{907543C4-EAC3-6366-49E3-30F64CC1F3D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034159"/>
            <a:ext cx="7120382" cy="350088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735BB57D-9748-697A-27C2-6CE7198D06FA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C078D07E-8314-5461-EE92-07958C871CB7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26FDF043-EBB8-3499-5DF6-C03D32ED8777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22B46764-BCC6-3B6D-7F95-023AF2745966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85EAEF8F-DE63-AAC2-391F-2F81632A9894}"/>
              </a:ext>
            </a:extLst>
          </p:cNvPr>
          <p:cNvSpPr/>
          <p:nvPr/>
        </p:nvSpPr>
        <p:spPr>
          <a:xfrm>
            <a:off x="4685497" y="2111992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C0CB7AE1-FCB5-0CDC-FBE7-062CC750068E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77">
            <a:extLst>
              <a:ext uri="{FF2B5EF4-FFF2-40B4-BE49-F238E27FC236}">
                <a16:creationId xmlns:a16="http://schemas.microsoft.com/office/drawing/2014/main" id="{B601BFBF-C932-F8D1-F598-56D4981AB31A}"/>
              </a:ext>
            </a:extLst>
          </p:cNvPr>
          <p:cNvSpPr/>
          <p:nvPr/>
        </p:nvSpPr>
        <p:spPr>
          <a:xfrm>
            <a:off x="77978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Theta in L RSC pacing gamma in R OFC (PAC): cue − baseline was higher on Precon4 than on Precon1.</a:t>
            </a:r>
          </a:p>
        </p:txBody>
      </p:sp>
      <p:sp>
        <p:nvSpPr>
          <p:cNvPr id="12" name="!!N78">
            <a:extLst>
              <a:ext uri="{FF2B5EF4-FFF2-40B4-BE49-F238E27FC236}">
                <a16:creationId xmlns:a16="http://schemas.microsoft.com/office/drawing/2014/main" id="{A3E42E00-8F75-2F27-DE53-4715E2A6A191}"/>
              </a:ext>
            </a:extLst>
          </p:cNvPr>
          <p:cNvSpPr/>
          <p:nvPr/>
        </p:nvSpPr>
        <p:spPr>
          <a:xfrm>
            <a:off x="12573000" y="155905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0.020 (7 rats). Shuffles P = 0.135. The shuffles do not agree: a weaker lead.</a:t>
            </a:r>
          </a:p>
        </p:txBody>
      </p:sp>
      <p:sp>
        <p:nvSpPr>
          <p:cNvPr id="13" name="!!N75">
            <a:extLst>
              <a:ext uri="{FF2B5EF4-FFF2-40B4-BE49-F238E27FC236}">
                <a16:creationId xmlns:a16="http://schemas.microsoft.com/office/drawing/2014/main" id="{2A6BABBC-7163-1FD5-4BE4-A60E0E9B37C8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ACC and L ACC gamma bursts rising together (amplitude correlation): cue − baseline was higher on Precon4 than on Precon1.</a:t>
            </a:r>
          </a:p>
        </p:txBody>
      </p:sp>
      <p:sp>
        <p:nvSpPr>
          <p:cNvPr id="14" name="!!N76">
            <a:extLst>
              <a:ext uri="{FF2B5EF4-FFF2-40B4-BE49-F238E27FC236}">
                <a16:creationId xmlns:a16="http://schemas.microsoft.com/office/drawing/2014/main" id="{7EB84ADE-C1A8-5EC0-1C40-AFA7B35D7E69}"/>
              </a:ext>
            </a:extLst>
          </p:cNvPr>
          <p:cNvSpPr/>
          <p:nvPr/>
        </p:nvSpPr>
        <p:spPr>
          <a:xfrm>
            <a:off x="125730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0.023 (8 rats). Shuffles P = 0.027. Both agree: a stronger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3D114F68-C361-4135-4AC6-2109638E15B6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110A8748-235F-CC91-E0F2-EA5F80A53DA5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2.8 · R OFC – L RSC · Theta paces gamma</a:t>
            </a:r>
          </a:p>
        </p:txBody>
      </p:sp>
    </p:spTree>
    <p:extLst>
      <p:ext uri="{BB962C8B-B14F-4D97-AF65-F5344CB8AC3E}">
        <p14:creationId xmlns:p14="http://schemas.microsoft.com/office/powerpoint/2010/main" val="3561635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1FB01BC9-D523-4E90-FF56-8559F15D1AD5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8">
            <a:extLst>
              <a:ext uri="{FF2B5EF4-FFF2-40B4-BE49-F238E27FC236}">
                <a16:creationId xmlns:a16="http://schemas.microsoft.com/office/drawing/2014/main" id="{CB4A363B-E810-3B12-341F-50F0BE96889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889635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0DE73C45-5AA0-8A2F-BF56-7B85913BB70E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4D3AE541-29EF-E9ED-702C-2620ED218088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52DBE7E0-811E-1378-AD19-DFBE628BF9E7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F8F8BDA8-2111-A0B9-EE0B-02533F7CF379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7008C702-5343-8FCF-478B-77BA188E6522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5339D00C-F9C5-D5AD-E604-AD2350C6128A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BB3F4E0C-342A-7B51-124F-6C417EC86EC8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77">
            <a:extLst>
              <a:ext uri="{FF2B5EF4-FFF2-40B4-BE49-F238E27FC236}">
                <a16:creationId xmlns:a16="http://schemas.microsoft.com/office/drawing/2014/main" id="{3B47B261-EB38-BCA5-CD1A-197838C82DA9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Theta in L RSC pacing gamma in R OFC (PAC): cue − baseline was higher on Precon4 than on Precon1.</a:t>
            </a:r>
          </a:p>
        </p:txBody>
      </p:sp>
      <p:sp>
        <p:nvSpPr>
          <p:cNvPr id="13" name="!!N78">
            <a:extLst>
              <a:ext uri="{FF2B5EF4-FFF2-40B4-BE49-F238E27FC236}">
                <a16:creationId xmlns:a16="http://schemas.microsoft.com/office/drawing/2014/main" id="{D6EDFCAD-EBFA-37E4-4B02-5505FC169113}"/>
              </a:ext>
            </a:extLst>
          </p:cNvPr>
          <p:cNvSpPr/>
          <p:nvPr/>
        </p:nvSpPr>
        <p:spPr>
          <a:xfrm>
            <a:off x="7797800" y="155905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0.020 (7 rats). Shuffles P = 0.135. The shuffles do not agree: a weaker lead.</a:t>
            </a:r>
          </a:p>
        </p:txBody>
      </p:sp>
      <p:sp>
        <p:nvSpPr>
          <p:cNvPr id="14" name="!!N79">
            <a:extLst>
              <a:ext uri="{FF2B5EF4-FFF2-40B4-BE49-F238E27FC236}">
                <a16:creationId xmlns:a16="http://schemas.microsoft.com/office/drawing/2014/main" id="{66DF73A5-5619-BF38-230B-13487FBCFD59}"/>
              </a:ext>
            </a:extLst>
          </p:cNvPr>
          <p:cNvSpPr/>
          <p:nvPr/>
        </p:nvSpPr>
        <p:spPr>
          <a:xfrm>
            <a:off x="125730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Its roses: R OFC gamma around the L RSC theta cycle, averaged over rats, Precon1 then Precon4. Where in the cycle, not how much: c is the result.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50D94F5E-1719-ED88-8D9D-3AB55A6D5A9F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5E6D8F79-2BCB-D90F-C6EB-1B4825AD2298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2.8 · R OFC – L RSC · Theta paces gamma</a:t>
            </a:r>
          </a:p>
        </p:txBody>
      </p:sp>
    </p:spTree>
    <p:extLst>
      <p:ext uri="{BB962C8B-B14F-4D97-AF65-F5344CB8AC3E}">
        <p14:creationId xmlns:p14="http://schemas.microsoft.com/office/powerpoint/2010/main" val="1332144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113B59E6-E0B8-4ED8-E3C8-37DF24EC6059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8">
            <a:extLst>
              <a:ext uri="{FF2B5EF4-FFF2-40B4-BE49-F238E27FC236}">
                <a16:creationId xmlns:a16="http://schemas.microsoft.com/office/drawing/2014/main" id="{1B82D6A6-F1EE-B9B6-A893-FCF01A4D7AA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197139"/>
            <a:ext cx="7119007" cy="3500206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8C4DA146-36AE-BBF4-E8BC-F4344622B146}"/>
              </a:ext>
            </a:extLst>
          </p:cNvPr>
          <p:cNvSpPr/>
          <p:nvPr/>
        </p:nvSpPr>
        <p:spPr>
          <a:xfrm>
            <a:off x="0" y="685800"/>
            <a:ext cx="7670800" cy="223685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CE811750-9824-7772-1ACE-70587030E68B}"/>
              </a:ext>
            </a:extLst>
          </p:cNvPr>
          <p:cNvSpPr/>
          <p:nvPr/>
        </p:nvSpPr>
        <p:spPr>
          <a:xfrm>
            <a:off x="0" y="4646548"/>
            <a:ext cx="7670800" cy="221145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14E88658-1A85-5FFD-0870-983A8AFCB0E2}"/>
              </a:ext>
            </a:extLst>
          </p:cNvPr>
          <p:cNvSpPr/>
          <p:nvPr/>
        </p:nvSpPr>
        <p:spPr>
          <a:xfrm>
            <a:off x="0" y="2922652"/>
            <a:ext cx="262509" cy="1723895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70714A3B-7607-273D-FD8A-A487CF595092}"/>
              </a:ext>
            </a:extLst>
          </p:cNvPr>
          <p:cNvSpPr/>
          <p:nvPr/>
        </p:nvSpPr>
        <p:spPr>
          <a:xfrm>
            <a:off x="7433691" y="2922652"/>
            <a:ext cx="237109" cy="1723895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AEE16F92-6B3E-43FC-61B9-870922323B25}"/>
              </a:ext>
            </a:extLst>
          </p:cNvPr>
          <p:cNvSpPr/>
          <p:nvPr/>
        </p:nvSpPr>
        <p:spPr>
          <a:xfrm>
            <a:off x="287909" y="2986962"/>
            <a:ext cx="5019286" cy="1595277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B42A2578-427C-337B-8B46-EED49FF3E572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79">
            <a:extLst>
              <a:ext uri="{FF2B5EF4-FFF2-40B4-BE49-F238E27FC236}">
                <a16:creationId xmlns:a16="http://schemas.microsoft.com/office/drawing/2014/main" id="{6E551D86-9256-F8F6-FE53-FC08C43CDD99}"/>
              </a:ext>
            </a:extLst>
          </p:cNvPr>
          <p:cNvSpPr/>
          <p:nvPr/>
        </p:nvSpPr>
        <p:spPr>
          <a:xfrm>
            <a:off x="77978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Its roses: R OFC gamma around the L RSC theta cycle, averaged over rats, Precon1 then Precon4. Where in the cycle, not how much: c is the result.</a:t>
            </a:r>
          </a:p>
        </p:txBody>
      </p:sp>
      <p:sp>
        <p:nvSpPr>
          <p:cNvPr id="12" name="!!N80">
            <a:extLst>
              <a:ext uri="{FF2B5EF4-FFF2-40B4-BE49-F238E27FC236}">
                <a16:creationId xmlns:a16="http://schemas.microsoft.com/office/drawing/2014/main" id="{C06F6191-3386-63F7-8A2E-B6D522EAFB43}"/>
              </a:ext>
            </a:extLst>
          </p:cNvPr>
          <p:cNvSpPr/>
          <p:nvPr/>
        </p:nvSpPr>
        <p:spPr>
          <a:xfrm>
            <a:off x="125730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Gamma-burst lag, R DHC with L RSC: how the cue shifted it differs between the days by 27 ms, toward R DHC leading on Precon4 compared with Precon1.</a:t>
            </a:r>
          </a:p>
        </p:txBody>
      </p:sp>
      <p:sp>
        <p:nvSpPr>
          <p:cNvPr id="13" name="!!N77">
            <a:extLst>
              <a:ext uri="{FF2B5EF4-FFF2-40B4-BE49-F238E27FC236}">
                <a16:creationId xmlns:a16="http://schemas.microsoft.com/office/drawing/2014/main" id="{25749E21-F664-085F-F179-637985989B77}"/>
              </a:ext>
            </a:extLst>
          </p:cNvPr>
          <p:cNvSpPr/>
          <p:nvPr/>
        </p:nvSpPr>
        <p:spPr>
          <a:xfrm>
            <a:off x="125730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Theta in L RSC pacing gamma in R OFC (PAC): cue − baseline was higher on Precon4 than on Precon1.</a:t>
            </a:r>
          </a:p>
        </p:txBody>
      </p:sp>
      <p:sp>
        <p:nvSpPr>
          <p:cNvPr id="14" name="!!N78">
            <a:extLst>
              <a:ext uri="{FF2B5EF4-FFF2-40B4-BE49-F238E27FC236}">
                <a16:creationId xmlns:a16="http://schemas.microsoft.com/office/drawing/2014/main" id="{CEE28905-8A52-89A2-E2C0-DD20712FC9F6}"/>
              </a:ext>
            </a:extLst>
          </p:cNvPr>
          <p:cNvSpPr/>
          <p:nvPr/>
        </p:nvSpPr>
        <p:spPr>
          <a:xfrm>
            <a:off x="12573000" y="155905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0.020 (7 rats). Shuffles P = 0.135. The shuffles do not agree: a weaker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E204FC0B-E248-217C-6AFA-C3F343752F3D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CC1E4698-DF33-1E53-1510-4A8546C39F8E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2.8 · R OFC – L RSC · Theta paces gamma</a:t>
            </a:r>
          </a:p>
        </p:txBody>
      </p:sp>
    </p:spTree>
    <p:extLst>
      <p:ext uri="{BB962C8B-B14F-4D97-AF65-F5344CB8AC3E}">
        <p14:creationId xmlns:p14="http://schemas.microsoft.com/office/powerpoint/2010/main" val="6384574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D66790A4-CB79-6EB1-BE06-1C2E9F4ED164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9">
            <a:extLst>
              <a:ext uri="{FF2B5EF4-FFF2-40B4-BE49-F238E27FC236}">
                <a16:creationId xmlns:a16="http://schemas.microsoft.com/office/drawing/2014/main" id="{7044784D-387F-7496-0A23-ACD8DF4F249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811767"/>
            <a:ext cx="7120382" cy="194566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A2B5AA40-7911-DED9-30E4-2F5E249ABCA8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FC35E10E-2A9D-641A-4AD3-72D4788A37DF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905B9486-DFE4-1793-2A20-41D50C2DE0E6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852352E4-D360-8BE7-1127-C0AA8A1D40D4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A89161DC-15D4-1C84-3375-4E3CC5E74578}"/>
              </a:ext>
            </a:extLst>
          </p:cNvPr>
          <p:cNvSpPr/>
          <p:nvPr/>
        </p:nvSpPr>
        <p:spPr>
          <a:xfrm>
            <a:off x="4685497" y="2889600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3B699A8D-92F3-2415-A49E-658C49BB429A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80">
            <a:extLst>
              <a:ext uri="{FF2B5EF4-FFF2-40B4-BE49-F238E27FC236}">
                <a16:creationId xmlns:a16="http://schemas.microsoft.com/office/drawing/2014/main" id="{7FAC7C88-E0A4-D3C7-36B8-C40E945A6182}"/>
              </a:ext>
            </a:extLst>
          </p:cNvPr>
          <p:cNvSpPr/>
          <p:nvPr/>
        </p:nvSpPr>
        <p:spPr>
          <a:xfrm>
            <a:off x="77978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Gamma-burst lag, R DHC with L RSC: how the cue shifted it differs between the days by 27 ms, toward R DHC leading on Precon4 compared with Precon1.</a:t>
            </a:r>
          </a:p>
        </p:txBody>
      </p:sp>
      <p:sp>
        <p:nvSpPr>
          <p:cNvPr id="12" name="!!N81">
            <a:extLst>
              <a:ext uri="{FF2B5EF4-FFF2-40B4-BE49-F238E27FC236}">
                <a16:creationId xmlns:a16="http://schemas.microsoft.com/office/drawing/2014/main" id="{2A73ACE0-08AA-1102-0304-7BF53F30E429}"/>
              </a:ext>
            </a:extLst>
          </p:cNvPr>
          <p:cNvSpPr/>
          <p:nvPr/>
        </p:nvSpPr>
        <p:spPr>
          <a:xfrm>
            <a:off x="125730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0.013 (7 rats). Shuffles P = 0.020. Both agree: a stronger lead.</a:t>
            </a:r>
          </a:p>
        </p:txBody>
      </p:sp>
      <p:sp>
        <p:nvSpPr>
          <p:cNvPr id="13" name="!!N79">
            <a:extLst>
              <a:ext uri="{FF2B5EF4-FFF2-40B4-BE49-F238E27FC236}">
                <a16:creationId xmlns:a16="http://schemas.microsoft.com/office/drawing/2014/main" id="{9BBA2560-7A59-A8D8-7D2F-598996DCDB4F}"/>
              </a:ext>
            </a:extLst>
          </p:cNvPr>
          <p:cNvSpPr/>
          <p:nvPr/>
        </p:nvSpPr>
        <p:spPr>
          <a:xfrm>
            <a:off x="125730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Its roses: R OFC gamma around the L RSC theta cycle, averaged over rats, Precon1 then Precon4. Where in the cycle, not how much: c is the result.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4AA5DB96-F531-C899-74C3-FD95A754F977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5EF85054-6DC1-6A78-6B42-F6DEA6CF64F0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2.9 · R DHC – L RSC · Which leads</a:t>
            </a:r>
          </a:p>
        </p:txBody>
      </p:sp>
    </p:spTree>
    <p:extLst>
      <p:ext uri="{BB962C8B-B14F-4D97-AF65-F5344CB8AC3E}">
        <p14:creationId xmlns:p14="http://schemas.microsoft.com/office/powerpoint/2010/main" val="36663892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266EC8B0-6336-936E-D2E7-06C9C6A6B817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9">
            <a:extLst>
              <a:ext uri="{FF2B5EF4-FFF2-40B4-BE49-F238E27FC236}">
                <a16:creationId xmlns:a16="http://schemas.microsoft.com/office/drawing/2014/main" id="{A8C89093-2DBA-05C8-C2FF-46DF2F82162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AD2FED16-CED7-986D-1D29-3F347DC9642D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88460193-C39E-18ED-F380-3430600FE338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BEE1B594-4ED7-240D-7469-003F74D363C0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261241F6-5D18-3FDC-06C2-2472D3CD5BB5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E8614D5D-A403-81A6-9F1E-0A996C9AA091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74BB2954-368F-0729-82D0-CE5DF43A2990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E9A0C8C8-0421-7064-FB6C-6AC523DB42F8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80">
            <a:extLst>
              <a:ext uri="{FF2B5EF4-FFF2-40B4-BE49-F238E27FC236}">
                <a16:creationId xmlns:a16="http://schemas.microsoft.com/office/drawing/2014/main" id="{16CD8C86-B642-0E3C-2341-7ACD714D4978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Gamma-burst lag, R DHC with L RSC: how the cue shifted it differs between the days by 27 ms, toward R DHC leading on Precon4 compared with Precon1.</a:t>
            </a:r>
          </a:p>
        </p:txBody>
      </p:sp>
      <p:sp>
        <p:nvSpPr>
          <p:cNvPr id="13" name="!!N81">
            <a:extLst>
              <a:ext uri="{FF2B5EF4-FFF2-40B4-BE49-F238E27FC236}">
                <a16:creationId xmlns:a16="http://schemas.microsoft.com/office/drawing/2014/main" id="{86726B64-0BBA-E102-103A-0B45E4C433AA}"/>
              </a:ext>
            </a:extLst>
          </p:cNvPr>
          <p:cNvSpPr/>
          <p:nvPr/>
        </p:nvSpPr>
        <p:spPr>
          <a:xfrm>
            <a:off x="77978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0.013 (7 rats). Shuffles P = 0.020. Both agree: a stronger lead.</a:t>
            </a:r>
          </a:p>
        </p:txBody>
      </p:sp>
      <p:sp>
        <p:nvSpPr>
          <p:cNvPr id="14" name="!!N82">
            <a:extLst>
              <a:ext uri="{FF2B5EF4-FFF2-40B4-BE49-F238E27FC236}">
                <a16:creationId xmlns:a16="http://schemas.microsoft.com/office/drawing/2014/main" id="{4C289C37-9E58-8EE8-40A0-7B469B9070CC}"/>
              </a:ext>
            </a:extLst>
          </p:cNvPr>
          <p:cNvSpPr/>
          <p:nvPr/>
        </p:nvSpPr>
        <p:spPr>
          <a:xfrm>
            <a:off x="125730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DHC and L OFC gamma bursts rising together (amplitude correlation): cue − baseline was higher on Precon4 than on Precon1.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E5125143-0E6C-EDA3-1B7D-3366B9A48E43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DCB4D64C-F37B-88B1-B0B3-1CB7519EBD5D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2.9 · R DHC – L RSC · Which leads</a:t>
            </a:r>
          </a:p>
        </p:txBody>
      </p:sp>
    </p:spTree>
    <p:extLst>
      <p:ext uri="{BB962C8B-B14F-4D97-AF65-F5344CB8AC3E}">
        <p14:creationId xmlns:p14="http://schemas.microsoft.com/office/powerpoint/2010/main" val="21896943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4ABEDA4C-6E37-DA2B-5407-BC192AE5FD37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10">
            <a:extLst>
              <a:ext uri="{FF2B5EF4-FFF2-40B4-BE49-F238E27FC236}">
                <a16:creationId xmlns:a16="http://schemas.microsoft.com/office/drawing/2014/main" id="{7365F215-4ECA-B159-B05A-163ED725B81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811767"/>
            <a:ext cx="7120382" cy="194566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088C6EF9-88D0-2CBD-5271-685357821F4B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A8458295-DEEB-EBAB-E0DA-DBC1D5CD853F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4933F9C4-D425-CF86-1E11-A60F1ED473B0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533DC838-4F14-CA8E-B045-9DA5A7D1E841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E3F17CAE-7603-5FED-D7AE-C497C4FAD6E3}"/>
              </a:ext>
            </a:extLst>
          </p:cNvPr>
          <p:cNvSpPr/>
          <p:nvPr/>
        </p:nvSpPr>
        <p:spPr>
          <a:xfrm>
            <a:off x="4685497" y="2889600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73DE1100-67A5-33FE-7CBD-640C2A503C3B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82">
            <a:extLst>
              <a:ext uri="{FF2B5EF4-FFF2-40B4-BE49-F238E27FC236}">
                <a16:creationId xmlns:a16="http://schemas.microsoft.com/office/drawing/2014/main" id="{ACF7DB68-1545-8F89-A15C-63F3184D416D}"/>
              </a:ext>
            </a:extLst>
          </p:cNvPr>
          <p:cNvSpPr/>
          <p:nvPr/>
        </p:nvSpPr>
        <p:spPr>
          <a:xfrm>
            <a:off x="77978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R DHC and L OFC gamma bursts rising together (amplitude correlation): cue − baseline was higher on Precon4 than on Precon1.</a:t>
            </a:r>
          </a:p>
        </p:txBody>
      </p:sp>
      <p:sp>
        <p:nvSpPr>
          <p:cNvPr id="12" name="!!N83">
            <a:extLst>
              <a:ext uri="{FF2B5EF4-FFF2-40B4-BE49-F238E27FC236}">
                <a16:creationId xmlns:a16="http://schemas.microsoft.com/office/drawing/2014/main" id="{2AE3A44E-3A02-A21F-A577-64D3230B4C90}"/>
              </a:ext>
            </a:extLst>
          </p:cNvPr>
          <p:cNvSpPr/>
          <p:nvPr/>
        </p:nvSpPr>
        <p:spPr>
          <a:xfrm>
            <a:off x="125730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0.018 (8 rats). Shuffles P = 0.082. The shuffles do not agree: a weaker lead.</a:t>
            </a:r>
          </a:p>
        </p:txBody>
      </p:sp>
      <p:sp>
        <p:nvSpPr>
          <p:cNvPr id="13" name="!!N80">
            <a:extLst>
              <a:ext uri="{FF2B5EF4-FFF2-40B4-BE49-F238E27FC236}">
                <a16:creationId xmlns:a16="http://schemas.microsoft.com/office/drawing/2014/main" id="{E6D4F0FF-D868-6D36-8E64-68622934976E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Gamma-burst lag, R DHC with L RSC: how the cue shifted it differs between the days by 27 ms, toward R DHC leading on Precon4 compared with Precon1.</a:t>
            </a:r>
          </a:p>
        </p:txBody>
      </p:sp>
      <p:sp>
        <p:nvSpPr>
          <p:cNvPr id="14" name="!!N81">
            <a:extLst>
              <a:ext uri="{FF2B5EF4-FFF2-40B4-BE49-F238E27FC236}">
                <a16:creationId xmlns:a16="http://schemas.microsoft.com/office/drawing/2014/main" id="{897DEAD0-8C87-45B9-7A30-9054EE0D20F4}"/>
              </a:ext>
            </a:extLst>
          </p:cNvPr>
          <p:cNvSpPr/>
          <p:nvPr/>
        </p:nvSpPr>
        <p:spPr>
          <a:xfrm>
            <a:off x="125730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0.013 (7 rats). Shuffles P = 0.020. Both agree: a stronger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B4057085-2F23-A2A6-5145-932FA27C48D9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40370F8D-C0A1-A1B3-5934-D5E7F9F291E0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2.10 · R DHC – L OFC · Bursts rise together</a:t>
            </a:r>
          </a:p>
        </p:txBody>
      </p:sp>
    </p:spTree>
    <p:extLst>
      <p:ext uri="{BB962C8B-B14F-4D97-AF65-F5344CB8AC3E}">
        <p14:creationId xmlns:p14="http://schemas.microsoft.com/office/powerpoint/2010/main" val="3519138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404BF2BA-AFF8-D93E-8BB6-A59A00992EA9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10">
            <a:extLst>
              <a:ext uri="{FF2B5EF4-FFF2-40B4-BE49-F238E27FC236}">
                <a16:creationId xmlns:a16="http://schemas.microsoft.com/office/drawing/2014/main" id="{76E36B1C-A6D2-8BA3-3C11-E0993B5F9D2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A238E18B-6DB1-CBC5-BE2C-7AE832D469FD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AF478008-D336-5602-8E53-234B9C9140D9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9AAB7D31-FE30-8529-4469-69394EE7F3F3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7F095253-834C-3BA9-6DFD-C1FA751FF575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4AFE4C5B-9AB7-0ED3-9FE9-9419B55731A5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796E004C-42BA-65F2-83B9-A046C263D229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8D37D94D-9925-86FC-CDE2-0BE7541CF320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82">
            <a:extLst>
              <a:ext uri="{FF2B5EF4-FFF2-40B4-BE49-F238E27FC236}">
                <a16:creationId xmlns:a16="http://schemas.microsoft.com/office/drawing/2014/main" id="{92A1155D-44F5-D863-CC31-DD3756E338F0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DHC and L OFC gamma bursts rising together (amplitude correlation): cue − baseline was higher on Precon4 than on Precon1.</a:t>
            </a:r>
          </a:p>
        </p:txBody>
      </p:sp>
      <p:sp>
        <p:nvSpPr>
          <p:cNvPr id="13" name="!!N83">
            <a:extLst>
              <a:ext uri="{FF2B5EF4-FFF2-40B4-BE49-F238E27FC236}">
                <a16:creationId xmlns:a16="http://schemas.microsoft.com/office/drawing/2014/main" id="{3F0ADA3B-7BAD-574C-DF1C-CD96068C11A7}"/>
              </a:ext>
            </a:extLst>
          </p:cNvPr>
          <p:cNvSpPr/>
          <p:nvPr/>
        </p:nvSpPr>
        <p:spPr>
          <a:xfrm>
            <a:off x="77978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0.018 (8 rats). Shuffles P = 0.082. The shuffles do not agree: a weaker lead.</a:t>
            </a:r>
          </a:p>
        </p:txBody>
      </p:sp>
      <p:sp>
        <p:nvSpPr>
          <p:cNvPr id="14" name="!!N84">
            <a:extLst>
              <a:ext uri="{FF2B5EF4-FFF2-40B4-BE49-F238E27FC236}">
                <a16:creationId xmlns:a16="http://schemas.microsoft.com/office/drawing/2014/main" id="{406A3C15-1FF4-7338-C46D-567DA430DF96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Theta in R DHC pacing gamma in L OFC (PAC): cue − baseline was higher on Precon4 than on Precon1.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3D945505-3996-29F9-48BB-F27BA9182839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D0DC91C5-A16D-EE85-8D1D-F181A0D044B4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2.10 · R DHC – L OFC · Bursts rise together</a:t>
            </a:r>
          </a:p>
        </p:txBody>
      </p:sp>
    </p:spTree>
    <p:extLst>
      <p:ext uri="{BB962C8B-B14F-4D97-AF65-F5344CB8AC3E}">
        <p14:creationId xmlns:p14="http://schemas.microsoft.com/office/powerpoint/2010/main" val="11484240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D831FDE1-9DDB-34B9-E129-AEFE939A2B8B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11">
            <a:extLst>
              <a:ext uri="{FF2B5EF4-FFF2-40B4-BE49-F238E27FC236}">
                <a16:creationId xmlns:a16="http://schemas.microsoft.com/office/drawing/2014/main" id="{05A7A79D-15CE-867A-C129-A5EB1BA7951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034159"/>
            <a:ext cx="7120382" cy="3500882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1C79EA16-5AC2-4667-33DC-D5E7C3A0F275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D633A735-9706-AA7B-7134-10558C69475D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0A6D5110-F16F-5880-D78A-F9F653D9E243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6B2DFAA3-4D2D-5939-1FC6-B6C1BAF78C24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91C64334-02FA-7901-ED48-C6BA5F04BC98}"/>
              </a:ext>
            </a:extLst>
          </p:cNvPr>
          <p:cNvSpPr/>
          <p:nvPr/>
        </p:nvSpPr>
        <p:spPr>
          <a:xfrm>
            <a:off x="4685497" y="2111992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C2E7F632-FBDF-640D-8D23-90271618CFF6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84">
            <a:extLst>
              <a:ext uri="{FF2B5EF4-FFF2-40B4-BE49-F238E27FC236}">
                <a16:creationId xmlns:a16="http://schemas.microsoft.com/office/drawing/2014/main" id="{ECFED611-5C68-534B-4575-89AED20F8951}"/>
              </a:ext>
            </a:extLst>
          </p:cNvPr>
          <p:cNvSpPr/>
          <p:nvPr/>
        </p:nvSpPr>
        <p:spPr>
          <a:xfrm>
            <a:off x="77978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Theta in R DHC pacing gamma in L OFC (PAC): cue − baseline was higher on Precon4 than on Precon1.</a:t>
            </a:r>
          </a:p>
        </p:txBody>
      </p:sp>
      <p:sp>
        <p:nvSpPr>
          <p:cNvPr id="12" name="!!N85">
            <a:extLst>
              <a:ext uri="{FF2B5EF4-FFF2-40B4-BE49-F238E27FC236}">
                <a16:creationId xmlns:a16="http://schemas.microsoft.com/office/drawing/2014/main" id="{ABDAB00E-1E4C-707E-8C13-6A722BD20DA1}"/>
              </a:ext>
            </a:extLst>
          </p:cNvPr>
          <p:cNvSpPr/>
          <p:nvPr/>
        </p:nvSpPr>
        <p:spPr>
          <a:xfrm>
            <a:off x="12573000" y="155905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0.039 (8 rats). Shuffles P = 0.103. The shuffles do not agree: a weaker lead.</a:t>
            </a:r>
          </a:p>
        </p:txBody>
      </p:sp>
      <p:sp>
        <p:nvSpPr>
          <p:cNvPr id="13" name="!!N82">
            <a:extLst>
              <a:ext uri="{FF2B5EF4-FFF2-40B4-BE49-F238E27FC236}">
                <a16:creationId xmlns:a16="http://schemas.microsoft.com/office/drawing/2014/main" id="{06F29D0D-5997-AB95-8B27-09C737BCC519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R DHC and L OFC gamma bursts rising together (amplitude correlation): cue − baseline was higher on Precon4 than on Precon1.</a:t>
            </a:r>
          </a:p>
        </p:txBody>
      </p:sp>
      <p:sp>
        <p:nvSpPr>
          <p:cNvPr id="14" name="!!N83">
            <a:extLst>
              <a:ext uri="{FF2B5EF4-FFF2-40B4-BE49-F238E27FC236}">
                <a16:creationId xmlns:a16="http://schemas.microsoft.com/office/drawing/2014/main" id="{49030574-F571-3E20-84CB-AAA5347E6F9D}"/>
              </a:ext>
            </a:extLst>
          </p:cNvPr>
          <p:cNvSpPr/>
          <p:nvPr/>
        </p:nvSpPr>
        <p:spPr>
          <a:xfrm>
            <a:off x="12573000" y="1748028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0.018 (8 rats). Shuffles P = 0.082. The shuffles do not agree: a weaker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6D2DDF10-D366-9338-1623-0E6FBD43E217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2DB09276-921B-BFAB-6AE4-A12AFC9C77EC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pt-BR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2.11 · R DHC – L OFC · Theta paces gamma</a:t>
            </a:r>
            <a:endParaRPr lang="en-US" sz="2400" b="1" u="sng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05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5E558037-674C-4033-A5C9-1C348B3685D5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11">
            <a:extLst>
              <a:ext uri="{FF2B5EF4-FFF2-40B4-BE49-F238E27FC236}">
                <a16:creationId xmlns:a16="http://schemas.microsoft.com/office/drawing/2014/main" id="{AD00D709-2A9B-C113-D38A-A08252F4E18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889635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352670E8-2619-97E3-9AEB-AD45C2B944D7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EE69FA82-4246-EEDA-C05C-883361CA8016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BB287C36-E278-BE68-9AB2-80E9AE65D6FE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64AAB980-2104-408B-2FC6-16E98E838FD7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37F682C7-1EAB-A20D-6083-0DE667E9A799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C27A032B-C567-2038-08F5-08318EA1F231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79B42288-94EF-B96B-EFA8-FCF5C58DC591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84">
            <a:extLst>
              <a:ext uri="{FF2B5EF4-FFF2-40B4-BE49-F238E27FC236}">
                <a16:creationId xmlns:a16="http://schemas.microsoft.com/office/drawing/2014/main" id="{21104B81-E6EB-B9C0-EFE4-592953992273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Theta in R DHC pacing gamma in L OFC (PAC): cue − baseline was higher on Precon4 than on Precon1.</a:t>
            </a:r>
          </a:p>
        </p:txBody>
      </p:sp>
      <p:sp>
        <p:nvSpPr>
          <p:cNvPr id="13" name="!!N85">
            <a:extLst>
              <a:ext uri="{FF2B5EF4-FFF2-40B4-BE49-F238E27FC236}">
                <a16:creationId xmlns:a16="http://schemas.microsoft.com/office/drawing/2014/main" id="{4C1A371C-EAFC-0316-B49D-EBCA5BB3F5D5}"/>
              </a:ext>
            </a:extLst>
          </p:cNvPr>
          <p:cNvSpPr/>
          <p:nvPr/>
        </p:nvSpPr>
        <p:spPr>
          <a:xfrm>
            <a:off x="7797800" y="155905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0.039 (8 rats). Shuffles P = 0.103. The shuffles do not agree: a weaker lead.</a:t>
            </a:r>
          </a:p>
        </p:txBody>
      </p:sp>
      <p:sp>
        <p:nvSpPr>
          <p:cNvPr id="14" name="!!N86">
            <a:extLst>
              <a:ext uri="{FF2B5EF4-FFF2-40B4-BE49-F238E27FC236}">
                <a16:creationId xmlns:a16="http://schemas.microsoft.com/office/drawing/2014/main" id="{6770EFF4-CC67-D5DD-FC01-65D559BF424A}"/>
              </a:ext>
            </a:extLst>
          </p:cNvPr>
          <p:cNvSpPr/>
          <p:nvPr/>
        </p:nvSpPr>
        <p:spPr>
          <a:xfrm>
            <a:off x="125730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Its roses: L OFC gamma around the R DHC theta cycle, averaged over rats, Precon1 then Precon4. Where in the cycle, not how much: c is the result.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6AD5C28F-BABC-85F2-59B9-97C7D1650124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F309AC83-EDC3-9BB9-8612-EB65C4A3922C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pt-BR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2.11 · R DHC – L OFC · Theta paces gamma</a:t>
            </a:r>
            <a:endParaRPr lang="en-US" sz="2400" b="1" u="sng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752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A6918C58-12A9-AC74-B603-BDAB7FD27D76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11">
            <a:extLst>
              <a:ext uri="{FF2B5EF4-FFF2-40B4-BE49-F238E27FC236}">
                <a16:creationId xmlns:a16="http://schemas.microsoft.com/office/drawing/2014/main" id="{94320A76-F4E2-3730-0EF5-85FD9463B2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197139"/>
            <a:ext cx="7119007" cy="3500206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359A6415-3731-5394-FCEF-7532C5A1B09A}"/>
              </a:ext>
            </a:extLst>
          </p:cNvPr>
          <p:cNvSpPr/>
          <p:nvPr/>
        </p:nvSpPr>
        <p:spPr>
          <a:xfrm>
            <a:off x="0" y="685800"/>
            <a:ext cx="7670800" cy="223685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5904748A-2A0E-4684-A0E7-323E66946731}"/>
              </a:ext>
            </a:extLst>
          </p:cNvPr>
          <p:cNvSpPr/>
          <p:nvPr/>
        </p:nvSpPr>
        <p:spPr>
          <a:xfrm>
            <a:off x="0" y="4646548"/>
            <a:ext cx="7670800" cy="221145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9AFCB243-E40F-8712-B28A-4DD69DB2D5DF}"/>
              </a:ext>
            </a:extLst>
          </p:cNvPr>
          <p:cNvSpPr/>
          <p:nvPr/>
        </p:nvSpPr>
        <p:spPr>
          <a:xfrm>
            <a:off x="0" y="2922652"/>
            <a:ext cx="262509" cy="1723895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DA865923-67B5-4CAE-A9B8-33ECE2255AE4}"/>
              </a:ext>
            </a:extLst>
          </p:cNvPr>
          <p:cNvSpPr/>
          <p:nvPr/>
        </p:nvSpPr>
        <p:spPr>
          <a:xfrm>
            <a:off x="7433691" y="2922652"/>
            <a:ext cx="237109" cy="1723895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B2C3FA73-E25D-B8A3-DEB3-29340CB5ECA3}"/>
              </a:ext>
            </a:extLst>
          </p:cNvPr>
          <p:cNvSpPr/>
          <p:nvPr/>
        </p:nvSpPr>
        <p:spPr>
          <a:xfrm>
            <a:off x="287909" y="2986962"/>
            <a:ext cx="5019286" cy="1595277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97B7B3E5-F4F7-CCF6-8C55-DBFDBE5B7042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86">
            <a:extLst>
              <a:ext uri="{FF2B5EF4-FFF2-40B4-BE49-F238E27FC236}">
                <a16:creationId xmlns:a16="http://schemas.microsoft.com/office/drawing/2014/main" id="{2F33707A-3E1F-01E0-B79B-59CD09F6366A}"/>
              </a:ext>
            </a:extLst>
          </p:cNvPr>
          <p:cNvSpPr/>
          <p:nvPr/>
        </p:nvSpPr>
        <p:spPr>
          <a:xfrm>
            <a:off x="77978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Its roses: L OFC gamma around the R DHC theta cycle, averaged over rats, Precon1 then Precon4. Where in the cycle, not how much: c is the result.</a:t>
            </a:r>
          </a:p>
        </p:txBody>
      </p:sp>
      <p:sp>
        <p:nvSpPr>
          <p:cNvPr id="12" name="!!N87">
            <a:extLst>
              <a:ext uri="{FF2B5EF4-FFF2-40B4-BE49-F238E27FC236}">
                <a16:creationId xmlns:a16="http://schemas.microsoft.com/office/drawing/2014/main" id="{644ADFC9-839C-0A41-4198-3EDF3DF214AF}"/>
              </a:ext>
            </a:extLst>
          </p:cNvPr>
          <p:cNvSpPr/>
          <p:nvPr/>
        </p:nvSpPr>
        <p:spPr>
          <a:xfrm>
            <a:off x="125730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L ACC predicting L RSC (Granger L ACC → L RSC): cue − baseline was higher on Precon4 than on Precon1.</a:t>
            </a:r>
          </a:p>
        </p:txBody>
      </p:sp>
      <p:sp>
        <p:nvSpPr>
          <p:cNvPr id="13" name="!!N84">
            <a:extLst>
              <a:ext uri="{FF2B5EF4-FFF2-40B4-BE49-F238E27FC236}">
                <a16:creationId xmlns:a16="http://schemas.microsoft.com/office/drawing/2014/main" id="{5A1C17D1-C8CC-347F-3B32-FE9994813F8B}"/>
              </a:ext>
            </a:extLst>
          </p:cNvPr>
          <p:cNvSpPr/>
          <p:nvPr/>
        </p:nvSpPr>
        <p:spPr>
          <a:xfrm>
            <a:off x="125730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Theta in R DHC pacing gamma in L OFC (PAC): cue − baseline was higher on Precon4 than on Precon1.</a:t>
            </a:r>
          </a:p>
        </p:txBody>
      </p:sp>
      <p:sp>
        <p:nvSpPr>
          <p:cNvPr id="14" name="!!N85">
            <a:extLst>
              <a:ext uri="{FF2B5EF4-FFF2-40B4-BE49-F238E27FC236}">
                <a16:creationId xmlns:a16="http://schemas.microsoft.com/office/drawing/2014/main" id="{7A801D1A-3567-4441-92FE-89F00D2F8A2A}"/>
              </a:ext>
            </a:extLst>
          </p:cNvPr>
          <p:cNvSpPr/>
          <p:nvPr/>
        </p:nvSpPr>
        <p:spPr>
          <a:xfrm>
            <a:off x="12573000" y="155905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0.039 (8 rats). Shuffles P = 0.103. The shuffles do not agree: a weaker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752675F2-2A1F-1E36-A062-F7685A1A5101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E37C2951-FF98-FF5A-770F-C0415482627C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pt-BR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2.11 · R DHC – L OFC · Theta paces gamma</a:t>
            </a:r>
            <a:endParaRPr lang="en-US" sz="2400" b="1" u="sng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9246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FC1578CF-3A77-8A36-5C89-93D2AFE355EC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12">
            <a:extLst>
              <a:ext uri="{FF2B5EF4-FFF2-40B4-BE49-F238E27FC236}">
                <a16:creationId xmlns:a16="http://schemas.microsoft.com/office/drawing/2014/main" id="{60315B1E-94FD-F2FF-313A-2A8042DA8D5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811767"/>
            <a:ext cx="7120382" cy="194566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80A1093B-7A69-6B64-CCF3-0FC0478A9E79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82DFCF50-BD2B-8675-8218-C1FD233507CC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C9E3040F-BCEF-58E6-A3F3-B187CCF79A90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46B2C3B1-7943-7952-8FC7-B6646FBCC808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2C4A38D8-8BB1-BBE6-098D-40FA19509ACD}"/>
              </a:ext>
            </a:extLst>
          </p:cNvPr>
          <p:cNvSpPr/>
          <p:nvPr/>
        </p:nvSpPr>
        <p:spPr>
          <a:xfrm>
            <a:off x="4685497" y="2889600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908F8A8F-F77B-C6F2-A484-06BDDAC897F6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87">
            <a:extLst>
              <a:ext uri="{FF2B5EF4-FFF2-40B4-BE49-F238E27FC236}">
                <a16:creationId xmlns:a16="http://schemas.microsoft.com/office/drawing/2014/main" id="{7EE4B076-BE8A-3FB7-0584-AF74B5D96440}"/>
              </a:ext>
            </a:extLst>
          </p:cNvPr>
          <p:cNvSpPr/>
          <p:nvPr/>
        </p:nvSpPr>
        <p:spPr>
          <a:xfrm>
            <a:off x="7797800" y="838200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L ACC predicting L RSC (Granger L ACC → L RSC): cue − baseline was higher on Precon4 than on Precon1.</a:t>
            </a:r>
          </a:p>
        </p:txBody>
      </p:sp>
      <p:sp>
        <p:nvSpPr>
          <p:cNvPr id="12" name="!!N88">
            <a:extLst>
              <a:ext uri="{FF2B5EF4-FFF2-40B4-BE49-F238E27FC236}">
                <a16:creationId xmlns:a16="http://schemas.microsoft.com/office/drawing/2014/main" id="{4317B26D-8624-C4A1-76E4-7DE9D67AE0A2}"/>
              </a:ext>
            </a:extLst>
          </p:cNvPr>
          <p:cNvSpPr/>
          <p:nvPr/>
        </p:nvSpPr>
        <p:spPr>
          <a:xfrm>
            <a:off x="12573000" y="155905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0.030 (7 rats). Shuffles P = 0.008. Both agree: a stronger lead.</a:t>
            </a:r>
          </a:p>
        </p:txBody>
      </p:sp>
      <p:sp>
        <p:nvSpPr>
          <p:cNvPr id="13" name="!!N86">
            <a:extLst>
              <a:ext uri="{FF2B5EF4-FFF2-40B4-BE49-F238E27FC236}">
                <a16:creationId xmlns:a16="http://schemas.microsoft.com/office/drawing/2014/main" id="{8F734055-4468-7BD1-25EA-BB1AB8205401}"/>
              </a:ext>
            </a:extLst>
          </p:cNvPr>
          <p:cNvSpPr/>
          <p:nvPr/>
        </p:nvSpPr>
        <p:spPr>
          <a:xfrm>
            <a:off x="12573000" y="838200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Its roses: L OFC gamma around the R DHC theta cycle, averaged over rats, Precon1 then Precon4. Where in the cycle, not how much: c is the result.</a:t>
            </a:r>
          </a:p>
        </p:txBody>
      </p:sp>
      <p:sp>
        <p:nvSpPr>
          <p:cNvPr id="14" name="!!T-BG">
            <a:extLst>
              <a:ext uri="{FF2B5EF4-FFF2-40B4-BE49-F238E27FC236}">
                <a16:creationId xmlns:a16="http://schemas.microsoft.com/office/drawing/2014/main" id="{8DD28C84-81DA-F3F7-FEF8-2A39814D22F3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T">
            <a:extLst>
              <a:ext uri="{FF2B5EF4-FFF2-40B4-BE49-F238E27FC236}">
                <a16:creationId xmlns:a16="http://schemas.microsoft.com/office/drawing/2014/main" id="{EFC61692-3D2A-8011-A883-0A48BE355F6B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2.12 · L RSC – L ACC · Which leads</a:t>
            </a:r>
          </a:p>
        </p:txBody>
      </p:sp>
    </p:spTree>
    <p:extLst>
      <p:ext uri="{BB962C8B-B14F-4D97-AF65-F5344CB8AC3E}">
        <p14:creationId xmlns:p14="http://schemas.microsoft.com/office/powerpoint/2010/main" val="5908840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8C43CD31-8772-51C6-42B1-18D10736A6E6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12">
            <a:extLst>
              <a:ext uri="{FF2B5EF4-FFF2-40B4-BE49-F238E27FC236}">
                <a16:creationId xmlns:a16="http://schemas.microsoft.com/office/drawing/2014/main" id="{02137873-470A-3382-4CBA-06227E3E190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C726D7E4-A97E-6255-74B2-0E5994217515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28CEAEC7-A3BC-B4D5-90D7-AE274733F4A0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5C76E054-7BC9-085F-F557-D901DE3E77E4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E7661D85-917A-5F2F-F773-24F0B20D4F93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1EEAE137-ADEF-3ECB-C62B-95C98B6F2317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696CB268-2517-3AAF-F951-26FFB686B315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124C7012-0261-DDB0-9F0D-258F0135825C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87">
            <a:extLst>
              <a:ext uri="{FF2B5EF4-FFF2-40B4-BE49-F238E27FC236}">
                <a16:creationId xmlns:a16="http://schemas.microsoft.com/office/drawing/2014/main" id="{3C2F7AF0-42F1-BCE6-3F8C-7CE15AFFF352}"/>
              </a:ext>
            </a:extLst>
          </p:cNvPr>
          <p:cNvSpPr/>
          <p:nvPr/>
        </p:nvSpPr>
        <p:spPr>
          <a:xfrm>
            <a:off x="77978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L ACC predicting L RSC (Granger L ACC → L RSC): cue − baseline was higher on Precon4 than on Precon1.</a:t>
            </a:r>
          </a:p>
        </p:txBody>
      </p:sp>
      <p:sp>
        <p:nvSpPr>
          <p:cNvPr id="13" name="!!N88">
            <a:extLst>
              <a:ext uri="{FF2B5EF4-FFF2-40B4-BE49-F238E27FC236}">
                <a16:creationId xmlns:a16="http://schemas.microsoft.com/office/drawing/2014/main" id="{3C947674-988F-245A-173C-3416884475BA}"/>
              </a:ext>
            </a:extLst>
          </p:cNvPr>
          <p:cNvSpPr/>
          <p:nvPr/>
        </p:nvSpPr>
        <p:spPr>
          <a:xfrm>
            <a:off x="7797800" y="155905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0.030 (7 rats). Shuffles P = 0.008. Both agree: a stronger lead.</a:t>
            </a:r>
          </a:p>
        </p:txBody>
      </p:sp>
      <p:sp>
        <p:nvSpPr>
          <p:cNvPr id="14" name="!!N89">
            <a:extLst>
              <a:ext uri="{FF2B5EF4-FFF2-40B4-BE49-F238E27FC236}">
                <a16:creationId xmlns:a16="http://schemas.microsoft.com/office/drawing/2014/main" id="{4AD05A0A-D812-4356-FA5A-1AF418637A14}"/>
              </a:ext>
            </a:extLst>
          </p:cNvPr>
          <p:cNvSpPr/>
          <p:nvPr/>
        </p:nvSpPr>
        <p:spPr>
          <a:xfrm>
            <a:off x="125730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L OFC and L ACC gamma bursts rising together (amplitude correlation): cue − baseline was higher on Precon4 than on Precon1.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0F2DB3AC-63BB-02CC-8FE5-E5579BE962A0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0AA49CBB-4FDC-9840-14E5-EAD637E6655E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2.12 · L RSC – L ACC · Which leads</a:t>
            </a:r>
          </a:p>
        </p:txBody>
      </p:sp>
    </p:spTree>
    <p:extLst>
      <p:ext uri="{BB962C8B-B14F-4D97-AF65-F5344CB8AC3E}">
        <p14:creationId xmlns:p14="http://schemas.microsoft.com/office/powerpoint/2010/main" val="17413722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DFC109B1-7215-B900-2E77-2ADB516B5D0B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13">
            <a:extLst>
              <a:ext uri="{FF2B5EF4-FFF2-40B4-BE49-F238E27FC236}">
                <a16:creationId xmlns:a16="http://schemas.microsoft.com/office/drawing/2014/main" id="{4EE88F2B-7A90-1991-3E3C-702B280C8A5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2811767"/>
            <a:ext cx="7120382" cy="1945667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2D70DF2A-E4EB-05F5-89EB-DC9300F83A77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E6DAB6DC-7C22-E157-B34E-A98F37D90F46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BD8994F2-C80D-465B-B936-55CE7F095352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A65E25A6-DC0C-FA76-12AF-CAEC7DDEFD13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B22B7383-E9E8-EB15-BEC1-74418A80F040}"/>
              </a:ext>
            </a:extLst>
          </p:cNvPr>
          <p:cNvSpPr/>
          <p:nvPr/>
        </p:nvSpPr>
        <p:spPr>
          <a:xfrm>
            <a:off x="4685497" y="2889600"/>
            <a:ext cx="1424351" cy="1517752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C3A70924-E34A-049E-A9CC-053721DB6CA4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89">
            <a:extLst>
              <a:ext uri="{FF2B5EF4-FFF2-40B4-BE49-F238E27FC236}">
                <a16:creationId xmlns:a16="http://schemas.microsoft.com/office/drawing/2014/main" id="{9B925D62-F585-8C89-AF16-5CBE5A2ED7FE}"/>
              </a:ext>
            </a:extLst>
          </p:cNvPr>
          <p:cNvSpPr/>
          <p:nvPr/>
        </p:nvSpPr>
        <p:spPr>
          <a:xfrm>
            <a:off x="77978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L OFC and L ACC gamma bursts rising together (amplitude correlation): cue − baseline was higher on Precon4 than on Precon1.</a:t>
            </a:r>
          </a:p>
        </p:txBody>
      </p:sp>
      <p:sp>
        <p:nvSpPr>
          <p:cNvPr id="12" name="!!N90">
            <a:extLst>
              <a:ext uri="{FF2B5EF4-FFF2-40B4-BE49-F238E27FC236}">
                <a16:creationId xmlns:a16="http://schemas.microsoft.com/office/drawing/2014/main" id="{D3F9DFD2-B590-7CC9-D7F4-A49D39D6725C}"/>
              </a:ext>
            </a:extLst>
          </p:cNvPr>
          <p:cNvSpPr/>
          <p:nvPr/>
        </p:nvSpPr>
        <p:spPr>
          <a:xfrm>
            <a:off x="125730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0.001 (8 rats). Shuffles P = 0.020. Both agree: a stronger lead.</a:t>
            </a:r>
          </a:p>
        </p:txBody>
      </p:sp>
      <p:sp>
        <p:nvSpPr>
          <p:cNvPr id="13" name="!!N87">
            <a:extLst>
              <a:ext uri="{FF2B5EF4-FFF2-40B4-BE49-F238E27FC236}">
                <a16:creationId xmlns:a16="http://schemas.microsoft.com/office/drawing/2014/main" id="{38C8D8D3-BB60-76D4-98B0-678B288D5F69}"/>
              </a:ext>
            </a:extLst>
          </p:cNvPr>
          <p:cNvSpPr/>
          <p:nvPr/>
        </p:nvSpPr>
        <p:spPr>
          <a:xfrm>
            <a:off x="12573000" y="838200"/>
            <a:ext cx="4241800" cy="60655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L ACC predicting L RSC (Granger L ACC → L RSC): cue − baseline was higher on Precon4 than on Precon1.</a:t>
            </a:r>
          </a:p>
        </p:txBody>
      </p:sp>
      <p:sp>
        <p:nvSpPr>
          <p:cNvPr id="14" name="!!N88">
            <a:extLst>
              <a:ext uri="{FF2B5EF4-FFF2-40B4-BE49-F238E27FC236}">
                <a16:creationId xmlns:a16="http://schemas.microsoft.com/office/drawing/2014/main" id="{D0EDAC20-C084-DCA4-6F39-FEF0C5E98CDD}"/>
              </a:ext>
            </a:extLst>
          </p:cNvPr>
          <p:cNvSpPr/>
          <p:nvPr/>
        </p:nvSpPr>
        <p:spPr>
          <a:xfrm>
            <a:off x="12573000" y="1559052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0.030 (7 rats). Shuffles P = 0.008. Both agree: a stronger lead.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23FB661C-C900-2175-1E9B-81C76F866D90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A84723F8-81B2-E98A-BAC5-B2F8611A0218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2.13 · L OFC – L ACC · Bursts rise together</a:t>
            </a:r>
          </a:p>
        </p:txBody>
      </p:sp>
    </p:spTree>
    <p:extLst>
      <p:ext uri="{BB962C8B-B14F-4D97-AF65-F5344CB8AC3E}">
        <p14:creationId xmlns:p14="http://schemas.microsoft.com/office/powerpoint/2010/main" val="17115562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DB23E0D9-DD98-DE63-DB3C-51CE000B6DCD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_13">
            <a:extLst>
              <a:ext uri="{FF2B5EF4-FFF2-40B4-BE49-F238E27FC236}">
                <a16:creationId xmlns:a16="http://schemas.microsoft.com/office/drawing/2014/main" id="{A6819C52-7199-471B-CFEF-14FEB6C6077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9347" y="1658375"/>
            <a:ext cx="18094144" cy="4944281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A74517BC-8538-11D3-0315-2D18FBB93C91}"/>
              </a:ext>
            </a:extLst>
          </p:cNvPr>
          <p:cNvSpPr/>
          <p:nvPr/>
        </p:nvSpPr>
        <p:spPr>
          <a:xfrm>
            <a:off x="0" y="685800"/>
            <a:ext cx="7670800" cy="10460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0F0359B7-1293-39A6-A91B-F37EAE2F1FE0}"/>
              </a:ext>
            </a:extLst>
          </p:cNvPr>
          <p:cNvSpPr/>
          <p:nvPr/>
        </p:nvSpPr>
        <p:spPr>
          <a:xfrm>
            <a:off x="0" y="5837331"/>
            <a:ext cx="7670800" cy="1020669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485C4F2F-F283-6072-5D10-E5FB24DE38AF}"/>
              </a:ext>
            </a:extLst>
          </p:cNvPr>
          <p:cNvSpPr/>
          <p:nvPr/>
        </p:nvSpPr>
        <p:spPr>
          <a:xfrm>
            <a:off x="0" y="1731869"/>
            <a:ext cx="2625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B90C2616-F6D0-D14D-5CC4-DDE721D0C684}"/>
              </a:ext>
            </a:extLst>
          </p:cNvPr>
          <p:cNvSpPr/>
          <p:nvPr/>
        </p:nvSpPr>
        <p:spPr>
          <a:xfrm>
            <a:off x="7433691" y="1731869"/>
            <a:ext cx="237109" cy="4105462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25B850F2-ED48-7688-0130-D86895F73A3C}"/>
              </a:ext>
            </a:extLst>
          </p:cNvPr>
          <p:cNvSpPr/>
          <p:nvPr/>
        </p:nvSpPr>
        <p:spPr>
          <a:xfrm>
            <a:off x="485697" y="1856163"/>
            <a:ext cx="3619528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522D5537-D43A-FBF2-D7B1-7DEC42107A88}"/>
              </a:ext>
            </a:extLst>
          </p:cNvPr>
          <p:cNvSpPr/>
          <p:nvPr/>
        </p:nvSpPr>
        <p:spPr>
          <a:xfrm>
            <a:off x="4184340" y="1856163"/>
            <a:ext cx="3223951" cy="3856874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31FC4052-4F3A-F5A3-A18F-0BE45159B95B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89">
            <a:extLst>
              <a:ext uri="{FF2B5EF4-FFF2-40B4-BE49-F238E27FC236}">
                <a16:creationId xmlns:a16="http://schemas.microsoft.com/office/drawing/2014/main" id="{20C3B7D2-D731-753B-665A-35D8CE18BC4B}"/>
              </a:ext>
            </a:extLst>
          </p:cNvPr>
          <p:cNvSpPr/>
          <p:nvPr/>
        </p:nvSpPr>
        <p:spPr>
          <a:xfrm>
            <a:off x="77978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L OFC and L ACC gamma bursts rising together (amplitude correlation): cue − baseline was higher on Precon4 than on Precon1.</a:t>
            </a:r>
          </a:p>
        </p:txBody>
      </p:sp>
      <p:sp>
        <p:nvSpPr>
          <p:cNvPr id="13" name="!!N90">
            <a:extLst>
              <a:ext uri="{FF2B5EF4-FFF2-40B4-BE49-F238E27FC236}">
                <a16:creationId xmlns:a16="http://schemas.microsoft.com/office/drawing/2014/main" id="{085D0C0C-A633-72EB-9840-6017AD148A1C}"/>
              </a:ext>
            </a:extLst>
          </p:cNvPr>
          <p:cNvSpPr/>
          <p:nvPr/>
        </p:nvSpPr>
        <p:spPr>
          <a:xfrm>
            <a:off x="77978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0.001 (8 rats). Shuffles P = 0.020. Both agree: a stronger lead.</a:t>
            </a:r>
          </a:p>
        </p:txBody>
      </p:sp>
      <p:sp>
        <p:nvSpPr>
          <p:cNvPr id="14" name="!!N91">
            <a:extLst>
              <a:ext uri="{FF2B5EF4-FFF2-40B4-BE49-F238E27FC236}">
                <a16:creationId xmlns:a16="http://schemas.microsoft.com/office/drawing/2014/main" id="{D64086D4-1EDF-6C0B-083F-F7B0B783A1C1}"/>
              </a:ext>
            </a:extLst>
          </p:cNvPr>
          <p:cNvSpPr/>
          <p:nvPr/>
        </p:nvSpPr>
        <p:spPr>
          <a:xfrm>
            <a:off x="12573000" y="838200"/>
            <a:ext cx="4241800" cy="192938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From Precon1 to Precon4 the cues’ effect on gamma coherence swung across the network: on Precon1 they lowered it in 31 of 44 pairs; on Precon4, about even (23 up, 21 down).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C78ED7BF-6EC7-226E-D588-EAA40A6FB8ED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BD3E7E44-1022-5D79-96D5-1866011245E3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2.13 · L OFC – L ACC · Bursts rise together</a:t>
            </a:r>
          </a:p>
        </p:txBody>
      </p:sp>
    </p:spTree>
    <p:extLst>
      <p:ext uri="{BB962C8B-B14F-4D97-AF65-F5344CB8AC3E}">
        <p14:creationId xmlns:p14="http://schemas.microsoft.com/office/powerpoint/2010/main" val="5156031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58B29A67-ED33-5425-3F1F-406FD64A4B78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">
            <a:extLst>
              <a:ext uri="{FF2B5EF4-FFF2-40B4-BE49-F238E27FC236}">
                <a16:creationId xmlns:a16="http://schemas.microsoft.com/office/drawing/2014/main" id="{74D43D12-A191-9B03-29FC-ED88D5F889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86" y="-2572884"/>
            <a:ext cx="7158123" cy="8059099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D2EBECA4-E219-7A32-4F06-61968949B7F6}"/>
              </a:ext>
            </a:extLst>
          </p:cNvPr>
          <p:cNvSpPr/>
          <p:nvPr/>
        </p:nvSpPr>
        <p:spPr>
          <a:xfrm>
            <a:off x="0" y="685800"/>
            <a:ext cx="7670800" cy="176278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E8E9656C-C397-0461-393C-63F0D70A4790}"/>
              </a:ext>
            </a:extLst>
          </p:cNvPr>
          <p:cNvSpPr/>
          <p:nvPr/>
        </p:nvSpPr>
        <p:spPr>
          <a:xfrm>
            <a:off x="0" y="5120620"/>
            <a:ext cx="7670800" cy="173738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03AF3E59-2470-99F2-4973-C31FE5C55F04}"/>
              </a:ext>
            </a:extLst>
          </p:cNvPr>
          <p:cNvSpPr/>
          <p:nvPr/>
        </p:nvSpPr>
        <p:spPr>
          <a:xfrm>
            <a:off x="0" y="2448580"/>
            <a:ext cx="262509" cy="267204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F3CC400A-6DEB-9723-22FF-275F2D5CCC24}"/>
              </a:ext>
            </a:extLst>
          </p:cNvPr>
          <p:cNvSpPr/>
          <p:nvPr/>
        </p:nvSpPr>
        <p:spPr>
          <a:xfrm>
            <a:off x="7433691" y="2448580"/>
            <a:ext cx="237109" cy="267204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BD5B62FE-BB58-8016-9B40-F497BE9A889E}"/>
              </a:ext>
            </a:extLst>
          </p:cNvPr>
          <p:cNvSpPr/>
          <p:nvPr/>
        </p:nvSpPr>
        <p:spPr>
          <a:xfrm>
            <a:off x="1031246" y="4293199"/>
            <a:ext cx="1721411" cy="645529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31B5D47F-231D-2197-3D8F-BE75EF0D7858}"/>
              </a:ext>
            </a:extLst>
          </p:cNvPr>
          <p:cNvSpPr/>
          <p:nvPr/>
        </p:nvSpPr>
        <p:spPr>
          <a:xfrm>
            <a:off x="5413019" y="4293199"/>
            <a:ext cx="1721411" cy="645529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0AEC05DB-E1F7-A185-BF85-D5E66A0DA1F4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91">
            <a:extLst>
              <a:ext uri="{FF2B5EF4-FFF2-40B4-BE49-F238E27FC236}">
                <a16:creationId xmlns:a16="http://schemas.microsoft.com/office/drawing/2014/main" id="{FA2C1D83-9B11-791B-ED7E-9B9B5B3E4AD5}"/>
              </a:ext>
            </a:extLst>
          </p:cNvPr>
          <p:cNvSpPr/>
          <p:nvPr/>
        </p:nvSpPr>
        <p:spPr>
          <a:xfrm>
            <a:off x="7797800" y="838200"/>
            <a:ext cx="4241800" cy="192938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From Precon1 to Precon4 the cues’ effect on gamma coherence swung across the network: on Precon1 they lowered it in 31 of 44 pairs; on Precon4, about even (23 up, 21 down).</a:t>
            </a:r>
          </a:p>
        </p:txBody>
      </p:sp>
      <p:sp>
        <p:nvSpPr>
          <p:cNvPr id="13" name="!!N92">
            <a:extLst>
              <a:ext uri="{FF2B5EF4-FFF2-40B4-BE49-F238E27FC236}">
                <a16:creationId xmlns:a16="http://schemas.microsoft.com/office/drawing/2014/main" id="{214CB9A4-E8BA-D2A8-29F8-6147A0F8974F}"/>
              </a:ext>
            </a:extLst>
          </p:cNvPr>
          <p:cNvSpPr/>
          <p:nvPr/>
        </p:nvSpPr>
        <p:spPr>
          <a:xfrm>
            <a:off x="12573000" y="1937004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rats agreed on that swing: Figure 1, increases P = 0.012, ups and downs together P = 0.023. The trial shuffle does not confirm Figure 1 (P = 0.187).</a:t>
            </a:r>
          </a:p>
        </p:txBody>
      </p:sp>
      <p:sp>
        <p:nvSpPr>
          <p:cNvPr id="14" name="!!N89">
            <a:extLst>
              <a:ext uri="{FF2B5EF4-FFF2-40B4-BE49-F238E27FC236}">
                <a16:creationId xmlns:a16="http://schemas.microsoft.com/office/drawing/2014/main" id="{7EC92650-EAB1-C0A2-51F1-693E9783098E}"/>
              </a:ext>
            </a:extLst>
          </p:cNvPr>
          <p:cNvSpPr/>
          <p:nvPr/>
        </p:nvSpPr>
        <p:spPr>
          <a:xfrm>
            <a:off x="12573000" y="838200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L OFC and L ACC gamma bursts rising together (amplitude correlation): cue − baseline was higher on Precon4 than on Precon1.</a:t>
            </a:r>
          </a:p>
        </p:txBody>
      </p:sp>
      <p:sp>
        <p:nvSpPr>
          <p:cNvPr id="15" name="!!N90">
            <a:extLst>
              <a:ext uri="{FF2B5EF4-FFF2-40B4-BE49-F238E27FC236}">
                <a16:creationId xmlns:a16="http://schemas.microsoft.com/office/drawing/2014/main" id="{74745CC0-FAF2-9760-EDFA-498EE738E0B0}"/>
              </a:ext>
            </a:extLst>
          </p:cNvPr>
          <p:cNvSpPr/>
          <p:nvPr/>
        </p:nvSpPr>
        <p:spPr>
          <a:xfrm>
            <a:off x="12573000" y="1748028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t-test P = 0.001 (8 rats). Shuffles P = 0.020. Both agree: a stronger lead.</a:t>
            </a:r>
          </a:p>
        </p:txBody>
      </p:sp>
      <p:sp>
        <p:nvSpPr>
          <p:cNvPr id="16" name="!!T-BG">
            <a:extLst>
              <a:ext uri="{FF2B5EF4-FFF2-40B4-BE49-F238E27FC236}">
                <a16:creationId xmlns:a16="http://schemas.microsoft.com/office/drawing/2014/main" id="{37B8A163-C3E9-F112-28FA-5CB83CB9C6F2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T">
            <a:extLst>
              <a:ext uri="{FF2B5EF4-FFF2-40B4-BE49-F238E27FC236}">
                <a16:creationId xmlns:a16="http://schemas.microsoft.com/office/drawing/2014/main" id="{01E93FE1-4BBC-67C8-6025-20DCD9BD94E8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What it adds up to</a:t>
            </a:r>
          </a:p>
        </p:txBody>
      </p:sp>
    </p:spTree>
    <p:extLst>
      <p:ext uri="{BB962C8B-B14F-4D97-AF65-F5344CB8AC3E}">
        <p14:creationId xmlns:p14="http://schemas.microsoft.com/office/powerpoint/2010/main" val="33956110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CE9FA00B-5ABC-1254-241F-899B313072C7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1">
            <a:extLst>
              <a:ext uri="{FF2B5EF4-FFF2-40B4-BE49-F238E27FC236}">
                <a16:creationId xmlns:a16="http://schemas.microsoft.com/office/drawing/2014/main" id="{3B607DC1-E7E3-4794-C6B3-269A3AF0B5F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86" y="-2572884"/>
            <a:ext cx="7158123" cy="8059099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B50EDC00-BCB6-2D28-9F2D-AAAC018CDD9E}"/>
              </a:ext>
            </a:extLst>
          </p:cNvPr>
          <p:cNvSpPr/>
          <p:nvPr/>
        </p:nvSpPr>
        <p:spPr>
          <a:xfrm>
            <a:off x="0" y="685800"/>
            <a:ext cx="7670800" cy="176278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8873E586-E6D1-9C02-9E73-3775B3011E14}"/>
              </a:ext>
            </a:extLst>
          </p:cNvPr>
          <p:cNvSpPr/>
          <p:nvPr/>
        </p:nvSpPr>
        <p:spPr>
          <a:xfrm>
            <a:off x="0" y="5120620"/>
            <a:ext cx="7670800" cy="173738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B88B8AA1-106D-E5FB-F037-D28803375C8B}"/>
              </a:ext>
            </a:extLst>
          </p:cNvPr>
          <p:cNvSpPr/>
          <p:nvPr/>
        </p:nvSpPr>
        <p:spPr>
          <a:xfrm>
            <a:off x="0" y="2448580"/>
            <a:ext cx="262509" cy="267204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31C4406E-B067-A31E-6258-D4E491760649}"/>
              </a:ext>
            </a:extLst>
          </p:cNvPr>
          <p:cNvSpPr/>
          <p:nvPr/>
        </p:nvSpPr>
        <p:spPr>
          <a:xfrm>
            <a:off x="7433691" y="2448580"/>
            <a:ext cx="237109" cy="267204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C6A47475-9304-B78D-6CC4-41466F530E61}"/>
              </a:ext>
            </a:extLst>
          </p:cNvPr>
          <p:cNvSpPr/>
          <p:nvPr/>
        </p:nvSpPr>
        <p:spPr>
          <a:xfrm>
            <a:off x="1031246" y="4293199"/>
            <a:ext cx="1721411" cy="645529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Focus2">
            <a:extLst>
              <a:ext uri="{FF2B5EF4-FFF2-40B4-BE49-F238E27FC236}">
                <a16:creationId xmlns:a16="http://schemas.microsoft.com/office/drawing/2014/main" id="{6A2E5844-6E57-0C15-A259-A07837105604}"/>
              </a:ext>
            </a:extLst>
          </p:cNvPr>
          <p:cNvSpPr/>
          <p:nvPr/>
        </p:nvSpPr>
        <p:spPr>
          <a:xfrm>
            <a:off x="5413019" y="4293199"/>
            <a:ext cx="1721411" cy="645529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ail">
            <a:extLst>
              <a:ext uri="{FF2B5EF4-FFF2-40B4-BE49-F238E27FC236}">
                <a16:creationId xmlns:a16="http://schemas.microsoft.com/office/drawing/2014/main" id="{EA9E49EA-95D2-333A-BC88-94F9BA0FEE66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N91">
            <a:extLst>
              <a:ext uri="{FF2B5EF4-FFF2-40B4-BE49-F238E27FC236}">
                <a16:creationId xmlns:a16="http://schemas.microsoft.com/office/drawing/2014/main" id="{5596997B-B0D1-081A-88C8-3F2CF52B6893}"/>
              </a:ext>
            </a:extLst>
          </p:cNvPr>
          <p:cNvSpPr/>
          <p:nvPr/>
        </p:nvSpPr>
        <p:spPr>
          <a:xfrm>
            <a:off x="7797800" y="838200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From Precon1 to Precon4 the cues’ effect on gamma coherence swung across the network: on Precon1 they lowered it in 31 of 44 pairs; on Precon4, about even (23 up, 21 down).</a:t>
            </a:r>
          </a:p>
        </p:txBody>
      </p:sp>
      <p:sp>
        <p:nvSpPr>
          <p:cNvPr id="13" name="!!N92">
            <a:extLst>
              <a:ext uri="{FF2B5EF4-FFF2-40B4-BE49-F238E27FC236}">
                <a16:creationId xmlns:a16="http://schemas.microsoft.com/office/drawing/2014/main" id="{F225B2B1-8F80-D9F1-3991-76ED52A52523}"/>
              </a:ext>
            </a:extLst>
          </p:cNvPr>
          <p:cNvSpPr/>
          <p:nvPr/>
        </p:nvSpPr>
        <p:spPr>
          <a:xfrm>
            <a:off x="7797800" y="1937004"/>
            <a:ext cx="4241800" cy="1645920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The rats agreed on that swing: Figure 1, increases P = 0.012, ups and downs together P = 0.023. The trial shuffle does not confirm Figure 1 (P = 0.187).</a:t>
            </a:r>
          </a:p>
        </p:txBody>
      </p:sp>
      <p:sp>
        <p:nvSpPr>
          <p:cNvPr id="14" name="!!N93">
            <a:extLst>
              <a:ext uri="{FF2B5EF4-FFF2-40B4-BE49-F238E27FC236}">
                <a16:creationId xmlns:a16="http://schemas.microsoft.com/office/drawing/2014/main" id="{D8A852B5-0AD5-7C8B-B1C0-83FC9E41AEEE}"/>
              </a:ext>
            </a:extLst>
          </p:cNvPr>
          <p:cNvSpPr/>
          <p:nvPr/>
        </p:nvSpPr>
        <p:spPr>
          <a:xfrm>
            <a:off x="12573000" y="284683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Figure 2 (cue 1): the increases pass both tests (P = 0.027 by the rats, P = 0.030 by the trials).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235A658C-6726-2494-7412-1A35B3CE9D09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017CC25C-9136-4F61-16A4-2C414749354D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What it adds up to</a:t>
            </a:r>
          </a:p>
        </p:txBody>
      </p:sp>
    </p:spTree>
    <p:extLst>
      <p:ext uri="{BB962C8B-B14F-4D97-AF65-F5344CB8AC3E}">
        <p14:creationId xmlns:p14="http://schemas.microsoft.com/office/powerpoint/2010/main" val="36674609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D58A1D93-9DFC-CC8E-1290-C700ACAB4466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F2">
            <a:extLst>
              <a:ext uri="{FF2B5EF4-FFF2-40B4-BE49-F238E27FC236}">
                <a16:creationId xmlns:a16="http://schemas.microsoft.com/office/drawing/2014/main" id="{6CEFD9A3-0714-9687-632C-38248EC8DF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86" y="-2572884"/>
            <a:ext cx="7158123" cy="8059099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E84E3CEC-A5B0-6208-B4FB-76F3FA9B11BB}"/>
              </a:ext>
            </a:extLst>
          </p:cNvPr>
          <p:cNvSpPr/>
          <p:nvPr/>
        </p:nvSpPr>
        <p:spPr>
          <a:xfrm>
            <a:off x="0" y="685800"/>
            <a:ext cx="7670800" cy="176278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F69E9FAC-4352-46B1-C7C3-9431BC4F6E45}"/>
              </a:ext>
            </a:extLst>
          </p:cNvPr>
          <p:cNvSpPr/>
          <p:nvPr/>
        </p:nvSpPr>
        <p:spPr>
          <a:xfrm>
            <a:off x="0" y="5120620"/>
            <a:ext cx="7670800" cy="173738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D734F507-BC52-1470-E169-CF99DA300021}"/>
              </a:ext>
            </a:extLst>
          </p:cNvPr>
          <p:cNvSpPr/>
          <p:nvPr/>
        </p:nvSpPr>
        <p:spPr>
          <a:xfrm>
            <a:off x="0" y="2448580"/>
            <a:ext cx="262509" cy="267204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C9EADD46-2505-98E9-6B3F-D4B3217744C2}"/>
              </a:ext>
            </a:extLst>
          </p:cNvPr>
          <p:cNvSpPr/>
          <p:nvPr/>
        </p:nvSpPr>
        <p:spPr>
          <a:xfrm>
            <a:off x="7433691" y="2448580"/>
            <a:ext cx="237109" cy="267204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Focus">
            <a:extLst>
              <a:ext uri="{FF2B5EF4-FFF2-40B4-BE49-F238E27FC236}">
                <a16:creationId xmlns:a16="http://schemas.microsoft.com/office/drawing/2014/main" id="{1C4E022A-73FE-B844-BB04-5023C2F5DFD8}"/>
              </a:ext>
            </a:extLst>
          </p:cNvPr>
          <p:cNvSpPr/>
          <p:nvPr/>
        </p:nvSpPr>
        <p:spPr>
          <a:xfrm>
            <a:off x="1031246" y="4293199"/>
            <a:ext cx="1721411" cy="645529"/>
          </a:xfrm>
          <a:prstGeom prst="rect">
            <a:avLst/>
          </a:prstGeom>
          <a:solidFill>
            <a:srgbClr val="83CBEB">
              <a:alpha val="37000"/>
            </a:srgbClr>
          </a:solidFill>
          <a:ln w="38100"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ail">
            <a:extLst>
              <a:ext uri="{FF2B5EF4-FFF2-40B4-BE49-F238E27FC236}">
                <a16:creationId xmlns:a16="http://schemas.microsoft.com/office/drawing/2014/main" id="{D298AAF4-2298-677F-B410-A2333530BBCA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N91">
            <a:extLst>
              <a:ext uri="{FF2B5EF4-FFF2-40B4-BE49-F238E27FC236}">
                <a16:creationId xmlns:a16="http://schemas.microsoft.com/office/drawing/2014/main" id="{5B6B0903-B4C7-483B-E729-7C33AF15E0AD}"/>
              </a:ext>
            </a:extLst>
          </p:cNvPr>
          <p:cNvSpPr/>
          <p:nvPr/>
        </p:nvSpPr>
        <p:spPr>
          <a:xfrm>
            <a:off x="7797800" y="838200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From Precon1 to Precon4 the cues’ effect on gamma coherence swung across the network: on Precon1 they lowered it in 31 of 44 pairs; on Precon4, about even (23 up, 21 down).</a:t>
            </a:r>
          </a:p>
        </p:txBody>
      </p:sp>
      <p:sp>
        <p:nvSpPr>
          <p:cNvPr id="12" name="!!N92">
            <a:extLst>
              <a:ext uri="{FF2B5EF4-FFF2-40B4-BE49-F238E27FC236}">
                <a16:creationId xmlns:a16="http://schemas.microsoft.com/office/drawing/2014/main" id="{399184A5-8AB7-3CDA-5C82-1DC0DC07A32E}"/>
              </a:ext>
            </a:extLst>
          </p:cNvPr>
          <p:cNvSpPr/>
          <p:nvPr/>
        </p:nvSpPr>
        <p:spPr>
          <a:xfrm>
            <a:off x="7797800" y="1937004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rats agreed on that swing: Figure 1, increases P = 0.012, ups and downs together P = 0.023. The trial shuffle does not confirm Figure 1 (P = 0.187).</a:t>
            </a:r>
          </a:p>
        </p:txBody>
      </p:sp>
      <p:sp>
        <p:nvSpPr>
          <p:cNvPr id="13" name="!!N93">
            <a:extLst>
              <a:ext uri="{FF2B5EF4-FFF2-40B4-BE49-F238E27FC236}">
                <a16:creationId xmlns:a16="http://schemas.microsoft.com/office/drawing/2014/main" id="{A10E0886-B058-8AE7-A506-0A0B88521404}"/>
              </a:ext>
            </a:extLst>
          </p:cNvPr>
          <p:cNvSpPr/>
          <p:nvPr/>
        </p:nvSpPr>
        <p:spPr>
          <a:xfrm>
            <a:off x="7797800" y="284683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Figure 2 (cue 1): the increases pass both tests (P = 0.027 by the rats, P = 0.030 by the trials).</a:t>
            </a:r>
          </a:p>
        </p:txBody>
      </p:sp>
      <p:sp>
        <p:nvSpPr>
          <p:cNvPr id="14" name="!!N94">
            <a:extLst>
              <a:ext uri="{FF2B5EF4-FFF2-40B4-BE49-F238E27FC236}">
                <a16:creationId xmlns:a16="http://schemas.microsoft.com/office/drawing/2014/main" id="{8587F307-56A6-8584-0643-3C4D64419045}"/>
              </a:ext>
            </a:extLst>
          </p:cNvPr>
          <p:cNvSpPr/>
          <p:nvPr/>
        </p:nvSpPr>
        <p:spPr>
          <a:xfrm>
            <a:off x="12573000" y="838200"/>
            <a:ext cx="4241800" cy="192938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11 of the 20 follow-up figures also pass the trial shuffle: 1.2, 1.3, 1.4, 1.5, 2.1, 2.3, 2.4, 2.7, 2.9, 2.12, 2.13. They were picked from 190 t-tests, 21 of which passed where about 10 would by chance.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FE754C52-0300-8739-2584-5E9D2310AF99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12438003-F03A-F815-5804-72810DEB0082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What it adds up to</a:t>
            </a:r>
          </a:p>
        </p:txBody>
      </p:sp>
    </p:spTree>
    <p:extLst>
      <p:ext uri="{BB962C8B-B14F-4D97-AF65-F5344CB8AC3E}">
        <p14:creationId xmlns:p14="http://schemas.microsoft.com/office/powerpoint/2010/main" val="17039032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16A756B0-9A4C-C5E8-CA3E-2F29AB404FF7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families">
            <a:extLst>
              <a:ext uri="{FF2B5EF4-FFF2-40B4-BE49-F238E27FC236}">
                <a16:creationId xmlns:a16="http://schemas.microsoft.com/office/drawing/2014/main" id="{61DEA784-6A62-9163-C2AF-59A47A379A1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506078"/>
            <a:ext cx="7120382" cy="4557044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FF05AE80-68CB-4A23-EC56-F1DDBC7FE245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294482A9-1BC4-0A6C-D223-86D7B27E3DFF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994408C8-3532-CF36-A5F3-F5EE0D2B665E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05C10F1F-EC4B-629C-54B3-5F83957F6104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Rail">
            <a:extLst>
              <a:ext uri="{FF2B5EF4-FFF2-40B4-BE49-F238E27FC236}">
                <a16:creationId xmlns:a16="http://schemas.microsoft.com/office/drawing/2014/main" id="{76403A39-B608-0993-9AE8-88A6E6BA37E3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N94">
            <a:extLst>
              <a:ext uri="{FF2B5EF4-FFF2-40B4-BE49-F238E27FC236}">
                <a16:creationId xmlns:a16="http://schemas.microsoft.com/office/drawing/2014/main" id="{E8D453FE-BD1F-C924-1EE7-81C8DB46BCCD}"/>
              </a:ext>
            </a:extLst>
          </p:cNvPr>
          <p:cNvSpPr/>
          <p:nvPr/>
        </p:nvSpPr>
        <p:spPr>
          <a:xfrm>
            <a:off x="7797800" y="838200"/>
            <a:ext cx="4241800" cy="192938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11 of the 20 follow-up figures also pass the trial shuffle: 1.2, 1.3, 1.4, 1.5, 2.1, 2.3, 2.4, 2.7, 2.9, 2.12, 2.13. They were picked from 190 t-tests, 21 of which passed where about 10 would by chance.</a:t>
            </a:r>
          </a:p>
        </p:txBody>
      </p:sp>
      <p:sp>
        <p:nvSpPr>
          <p:cNvPr id="11" name="!!N95">
            <a:extLst>
              <a:ext uri="{FF2B5EF4-FFF2-40B4-BE49-F238E27FC236}">
                <a16:creationId xmlns:a16="http://schemas.microsoft.com/office/drawing/2014/main" id="{A142A855-EE16-C833-1581-3D690842A550}"/>
              </a:ext>
            </a:extLst>
          </p:cNvPr>
          <p:cNvSpPr/>
          <p:nvPr/>
        </p:nvSpPr>
        <p:spPr>
          <a:xfrm>
            <a:off x="12573000" y="1937004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Nothing is corrected across tests, and the rings re-test the data that lit the light. All of this is leads to test again, not findings yet.</a:t>
            </a:r>
          </a:p>
        </p:txBody>
      </p:sp>
      <p:sp>
        <p:nvSpPr>
          <p:cNvPr id="12" name="!!N91">
            <a:extLst>
              <a:ext uri="{FF2B5EF4-FFF2-40B4-BE49-F238E27FC236}">
                <a16:creationId xmlns:a16="http://schemas.microsoft.com/office/drawing/2014/main" id="{439773F8-CCC2-E13E-4234-FCA17EDD6106}"/>
              </a:ext>
            </a:extLst>
          </p:cNvPr>
          <p:cNvSpPr/>
          <p:nvPr/>
        </p:nvSpPr>
        <p:spPr>
          <a:xfrm>
            <a:off x="12573000" y="838200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From Precon1 to Precon4 the cues’ effect on gamma coherence swung across the network: on Precon1 they lowered it in 31 of 44 pairs; on Precon4, about even (23 up, 21 down).</a:t>
            </a:r>
          </a:p>
        </p:txBody>
      </p:sp>
      <p:sp>
        <p:nvSpPr>
          <p:cNvPr id="13" name="!!N92">
            <a:extLst>
              <a:ext uri="{FF2B5EF4-FFF2-40B4-BE49-F238E27FC236}">
                <a16:creationId xmlns:a16="http://schemas.microsoft.com/office/drawing/2014/main" id="{05448FD9-68E1-CE8E-792D-3D55C816FADF}"/>
              </a:ext>
            </a:extLst>
          </p:cNvPr>
          <p:cNvSpPr/>
          <p:nvPr/>
        </p:nvSpPr>
        <p:spPr>
          <a:xfrm>
            <a:off x="12573000" y="1937004"/>
            <a:ext cx="4241800" cy="795528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rats agreed on that swing: Figure 1, increases P = 0.012, ups and downs together P = 0.023. The trial shuffle does not confirm Figure 1 (P = 0.187).</a:t>
            </a:r>
          </a:p>
        </p:txBody>
      </p:sp>
      <p:sp>
        <p:nvSpPr>
          <p:cNvPr id="14" name="!!N93">
            <a:extLst>
              <a:ext uri="{FF2B5EF4-FFF2-40B4-BE49-F238E27FC236}">
                <a16:creationId xmlns:a16="http://schemas.microsoft.com/office/drawing/2014/main" id="{3DE56115-54A3-F532-B13D-6ABA60A1E618}"/>
              </a:ext>
            </a:extLst>
          </p:cNvPr>
          <p:cNvSpPr/>
          <p:nvPr/>
        </p:nvSpPr>
        <p:spPr>
          <a:xfrm>
            <a:off x="12573000" y="2846832"/>
            <a:ext cx="4241800" cy="1078992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Figure 2 (cue 1): the increases pass both tests (P = 0.027 by the rats, P = 0.030 by the trials).</a:t>
            </a:r>
          </a:p>
        </p:txBody>
      </p:sp>
      <p:sp>
        <p:nvSpPr>
          <p:cNvPr id="15" name="!!T-BG">
            <a:extLst>
              <a:ext uri="{FF2B5EF4-FFF2-40B4-BE49-F238E27FC236}">
                <a16:creationId xmlns:a16="http://schemas.microsoft.com/office/drawing/2014/main" id="{EEB934FE-1394-5D39-D431-C2C854A2783A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T">
            <a:extLst>
              <a:ext uri="{FF2B5EF4-FFF2-40B4-BE49-F238E27FC236}">
                <a16:creationId xmlns:a16="http://schemas.microsoft.com/office/drawing/2014/main" id="{701B4E6E-C2D3-F33D-22ED-FFAD88C6770A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What it adds up to</a:t>
            </a:r>
          </a:p>
        </p:txBody>
      </p:sp>
    </p:spTree>
    <p:extLst>
      <p:ext uri="{BB962C8B-B14F-4D97-AF65-F5344CB8AC3E}">
        <p14:creationId xmlns:p14="http://schemas.microsoft.com/office/powerpoint/2010/main" val="40642772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3B5E69F1-8AD0-997F-64BE-6CA7370E56F2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families">
            <a:extLst>
              <a:ext uri="{FF2B5EF4-FFF2-40B4-BE49-F238E27FC236}">
                <a16:creationId xmlns:a16="http://schemas.microsoft.com/office/drawing/2014/main" id="{2F0A0E68-7007-23AF-A8BA-7AB38FE36A4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506078"/>
            <a:ext cx="7120382" cy="4557044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54BB2018-D979-B60A-97FC-7683474E7CA0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FC9AB701-D838-2226-400D-FB13BB66AFE8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D5C27DF8-C710-72E5-70CB-B6D0400B7DD3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4F61F17C-E5D7-8247-8B9F-79285B26B8E8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Rail">
            <a:extLst>
              <a:ext uri="{FF2B5EF4-FFF2-40B4-BE49-F238E27FC236}">
                <a16:creationId xmlns:a16="http://schemas.microsoft.com/office/drawing/2014/main" id="{75F88330-1875-90EB-78FF-CAE07C6FFAC9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N94">
            <a:extLst>
              <a:ext uri="{FF2B5EF4-FFF2-40B4-BE49-F238E27FC236}">
                <a16:creationId xmlns:a16="http://schemas.microsoft.com/office/drawing/2014/main" id="{0532858D-0435-4318-C82D-28EC5C04A590}"/>
              </a:ext>
            </a:extLst>
          </p:cNvPr>
          <p:cNvSpPr/>
          <p:nvPr/>
        </p:nvSpPr>
        <p:spPr>
          <a:xfrm>
            <a:off x="7797800" y="838200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11 of the 20 follow-up figures also pass the trial shuffle: 1.2, 1.3, 1.4, 1.5, 2.1, 2.3, 2.4, 2.7, 2.9, 2.12, 2.13. They were picked from 190 t-tests, 21 of which passed where about 10 would by chance.</a:t>
            </a:r>
          </a:p>
        </p:txBody>
      </p:sp>
      <p:sp>
        <p:nvSpPr>
          <p:cNvPr id="11" name="!!N95">
            <a:extLst>
              <a:ext uri="{FF2B5EF4-FFF2-40B4-BE49-F238E27FC236}">
                <a16:creationId xmlns:a16="http://schemas.microsoft.com/office/drawing/2014/main" id="{B95E84C5-673A-6A03-824C-1D7FBBF12FF9}"/>
              </a:ext>
            </a:extLst>
          </p:cNvPr>
          <p:cNvSpPr/>
          <p:nvPr/>
        </p:nvSpPr>
        <p:spPr>
          <a:xfrm>
            <a:off x="7797800" y="1937004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Nothing is corrected across tests, and the rings re-test the data that lit the light. All of this is leads to test again, not findings yet.</a:t>
            </a:r>
          </a:p>
        </p:txBody>
      </p:sp>
      <p:sp>
        <p:nvSpPr>
          <p:cNvPr id="12" name="!!N96">
            <a:extLst>
              <a:ext uri="{FF2B5EF4-FFF2-40B4-BE49-F238E27FC236}">
                <a16:creationId xmlns:a16="http://schemas.microsoft.com/office/drawing/2014/main" id="{2D0D2DB5-19DB-48AA-78B4-8A2A4B736CC4}"/>
              </a:ext>
            </a:extLst>
          </p:cNvPr>
          <p:cNvSpPr/>
          <p:nvPr/>
        </p:nvSpPr>
        <p:spPr>
          <a:xfrm>
            <a:off x="125730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Everything is in Jarvis: tab 9 has each figure as PDF, SVG and PNG with its legend; tab 8 has the SPSS files to recreate the lights.</a:t>
            </a:r>
          </a:p>
        </p:txBody>
      </p:sp>
      <p:sp>
        <p:nvSpPr>
          <p:cNvPr id="13" name="!!T-BG">
            <a:extLst>
              <a:ext uri="{FF2B5EF4-FFF2-40B4-BE49-F238E27FC236}">
                <a16:creationId xmlns:a16="http://schemas.microsoft.com/office/drawing/2014/main" id="{D7F46684-CD44-15F5-A3AF-4A32A7A8BF61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T">
            <a:extLst>
              <a:ext uri="{FF2B5EF4-FFF2-40B4-BE49-F238E27FC236}">
                <a16:creationId xmlns:a16="http://schemas.microsoft.com/office/drawing/2014/main" id="{00D7BA76-B987-743C-E48F-CE27AC9B3C62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What it adds up to</a:t>
            </a:r>
          </a:p>
        </p:txBody>
      </p:sp>
    </p:spTree>
    <p:extLst>
      <p:ext uri="{BB962C8B-B14F-4D97-AF65-F5344CB8AC3E}">
        <p14:creationId xmlns:p14="http://schemas.microsoft.com/office/powerpoint/2010/main" val="39180673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tage">
            <a:extLst>
              <a:ext uri="{FF2B5EF4-FFF2-40B4-BE49-F238E27FC236}">
                <a16:creationId xmlns:a16="http://schemas.microsoft.com/office/drawing/2014/main" id="{86709BD2-2123-32E7-C535-E6DD120AED6D}"/>
              </a:ext>
            </a:extLst>
          </p:cNvPr>
          <p:cNvSpPr/>
          <p:nvPr/>
        </p:nvSpPr>
        <p:spPr>
          <a:xfrm>
            <a:off x="0" y="685800"/>
            <a:ext cx="7670800" cy="6172200"/>
          </a:xfrm>
          <a:prstGeom prst="rect">
            <a:avLst/>
          </a:prstGeom>
          <a:solidFill>
            <a:srgbClr val="EC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!!I_families">
            <a:extLst>
              <a:ext uri="{FF2B5EF4-FFF2-40B4-BE49-F238E27FC236}">
                <a16:creationId xmlns:a16="http://schemas.microsoft.com/office/drawing/2014/main" id="{0938F4EE-51DE-11C3-331C-D8B8189F942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9" y="1506078"/>
            <a:ext cx="7120382" cy="4557044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5" name="!!D1">
            <a:extLst>
              <a:ext uri="{FF2B5EF4-FFF2-40B4-BE49-F238E27FC236}">
                <a16:creationId xmlns:a16="http://schemas.microsoft.com/office/drawing/2014/main" id="{CE348E54-8D3A-3A47-000A-DB815C41376A}"/>
              </a:ext>
            </a:extLst>
          </p:cNvPr>
          <p:cNvSpPr/>
          <p:nvPr/>
        </p:nvSpPr>
        <p:spPr>
          <a:xfrm>
            <a:off x="0" y="6858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D2">
            <a:extLst>
              <a:ext uri="{FF2B5EF4-FFF2-40B4-BE49-F238E27FC236}">
                <a16:creationId xmlns:a16="http://schemas.microsoft.com/office/drawing/2014/main" id="{F8E0416B-A6A4-31BD-6CB5-23C7B8783713}"/>
              </a:ext>
            </a:extLst>
          </p:cNvPr>
          <p:cNvSpPr/>
          <p:nvPr/>
        </p:nvSpPr>
        <p:spPr>
          <a:xfrm>
            <a:off x="0" y="6858000"/>
            <a:ext cx="7670800" cy="635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79247036-BEEB-E807-988F-C65AD050ABB0}"/>
              </a:ext>
            </a:extLst>
          </p:cNvPr>
          <p:cNvSpPr/>
          <p:nvPr/>
        </p:nvSpPr>
        <p:spPr>
          <a:xfrm>
            <a:off x="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D4">
            <a:extLst>
              <a:ext uri="{FF2B5EF4-FFF2-40B4-BE49-F238E27FC236}">
                <a16:creationId xmlns:a16="http://schemas.microsoft.com/office/drawing/2014/main" id="{049DE778-A7FD-E3BA-3D78-75EB96D1BB66}"/>
              </a:ext>
            </a:extLst>
          </p:cNvPr>
          <p:cNvSpPr/>
          <p:nvPr/>
        </p:nvSpPr>
        <p:spPr>
          <a:xfrm>
            <a:off x="7670800" y="685800"/>
            <a:ext cx="6350" cy="6172200"/>
          </a:xfrm>
          <a:prstGeom prst="rect">
            <a:avLst/>
          </a:prstGeom>
          <a:solidFill>
            <a:srgbClr val="0000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Rail">
            <a:extLst>
              <a:ext uri="{FF2B5EF4-FFF2-40B4-BE49-F238E27FC236}">
                <a16:creationId xmlns:a16="http://schemas.microsoft.com/office/drawing/2014/main" id="{F36A3DC5-4F5E-AE31-B4C4-C04A80F248FB}"/>
              </a:ext>
            </a:extLst>
          </p:cNvPr>
          <p:cNvSpPr/>
          <p:nvPr/>
        </p:nvSpPr>
        <p:spPr>
          <a:xfrm>
            <a:off x="7670800" y="685800"/>
            <a:ext cx="4521200" cy="6172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N96">
            <a:extLst>
              <a:ext uri="{FF2B5EF4-FFF2-40B4-BE49-F238E27FC236}">
                <a16:creationId xmlns:a16="http://schemas.microsoft.com/office/drawing/2014/main" id="{2B578D4A-3F8A-B512-33A7-C19022E791A6}"/>
              </a:ext>
            </a:extLst>
          </p:cNvPr>
          <p:cNvSpPr/>
          <p:nvPr/>
        </p:nvSpPr>
        <p:spPr>
          <a:xfrm>
            <a:off x="7797800" y="838200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Everything is in Jarvis: tab 9 has each figure as PDF, SVG and PNG with its legend; tab 8 has the SPSS files to recreate the lights.</a:t>
            </a:r>
          </a:p>
        </p:txBody>
      </p:sp>
      <p:sp>
        <p:nvSpPr>
          <p:cNvPr id="11" name="!!N94">
            <a:extLst>
              <a:ext uri="{FF2B5EF4-FFF2-40B4-BE49-F238E27FC236}">
                <a16:creationId xmlns:a16="http://schemas.microsoft.com/office/drawing/2014/main" id="{6D259651-A66B-70D2-4AA3-0AD8D362AE2F}"/>
              </a:ext>
            </a:extLst>
          </p:cNvPr>
          <p:cNvSpPr/>
          <p:nvPr/>
        </p:nvSpPr>
        <p:spPr>
          <a:xfrm>
            <a:off x="12573000" y="838200"/>
            <a:ext cx="4241800" cy="984504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11 of the 20 follow-up figures also pass the trial shuffle: 1.2, 1.3, 1.4, 1.5, 2.1, 2.3, 2.4, 2.7, 2.9, 2.12, 2.13. They were picked from 190 t-tests, 21 of which passed where about 10 would by chance.</a:t>
            </a:r>
          </a:p>
        </p:txBody>
      </p:sp>
      <p:sp>
        <p:nvSpPr>
          <p:cNvPr id="12" name="!!N95">
            <a:extLst>
              <a:ext uri="{FF2B5EF4-FFF2-40B4-BE49-F238E27FC236}">
                <a16:creationId xmlns:a16="http://schemas.microsoft.com/office/drawing/2014/main" id="{D19A6E49-4FA4-AB30-8EBA-D2A515A1AFCE}"/>
              </a:ext>
            </a:extLst>
          </p:cNvPr>
          <p:cNvSpPr/>
          <p:nvPr/>
        </p:nvSpPr>
        <p:spPr>
          <a:xfrm>
            <a:off x="12573000" y="1937004"/>
            <a:ext cx="4241800" cy="1362456"/>
          </a:xfrm>
          <a:prstGeom prst="snip2DiagRect">
            <a:avLst>
              <a:gd name="adj1" fmla="val 0"/>
              <a:gd name="adj2" fmla="val 1400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>
              <a:lnSpc>
                <a:spcPct val="95000"/>
              </a:lnSpc>
            </a:pPr>
            <a:r>
              <a:rPr lang="en-US" b="1">
                <a:solidFill>
                  <a:srgbClr val="FF0000"/>
                </a:solidFill>
                <a:latin typeface="Aptos" panose="020B0004020202020204" pitchFamily="34" charset="0"/>
              </a:rPr>
              <a:t>Nothing is corrected across tests, and the rings re-test the data that lit the light. All of this is leads to test again, not findings yet.</a:t>
            </a:r>
          </a:p>
        </p:txBody>
      </p:sp>
      <p:sp>
        <p:nvSpPr>
          <p:cNvPr id="13" name="!!T-BG">
            <a:extLst>
              <a:ext uri="{FF2B5EF4-FFF2-40B4-BE49-F238E27FC236}">
                <a16:creationId xmlns:a16="http://schemas.microsoft.com/office/drawing/2014/main" id="{D52FB72E-A8BE-DBC9-710A-389A770AF878}"/>
              </a:ext>
            </a:extLst>
          </p:cNvPr>
          <p:cNvSpPr/>
          <p:nvPr/>
        </p:nvSpPr>
        <p:spPr>
          <a:xfrm>
            <a:off x="-381000" y="0"/>
            <a:ext cx="12954000" cy="685800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T">
            <a:extLst>
              <a:ext uri="{FF2B5EF4-FFF2-40B4-BE49-F238E27FC236}">
                <a16:creationId xmlns:a16="http://schemas.microsoft.com/office/drawing/2014/main" id="{D81A94C3-2D78-C4B0-2682-58C0647BA8A4}"/>
              </a:ext>
            </a:extLst>
          </p:cNvPr>
          <p:cNvSpPr txBox="1"/>
          <p:nvPr/>
        </p:nvSpPr>
        <p:spPr>
          <a:xfrm>
            <a:off x="127000" y="0"/>
            <a:ext cx="11811000" cy="685800"/>
          </a:xfrm>
          <a:prstGeom prst="rect">
            <a:avLst/>
          </a:prstGeom>
          <a:noFill/>
        </p:spPr>
        <p:txBody>
          <a:bodyPr vert="horz" wrap="square" lIns="76200" tIns="25400" rIns="76200" bIns="2540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2400" b="1" u="sng">
                <a:solidFill>
                  <a:srgbClr val="FFFFFF"/>
                </a:solidFill>
                <a:latin typeface="Aptos Display" panose="020B0004020202020204" pitchFamily="34" charset="0"/>
              </a:rPr>
              <a:t>What it adds up to</a:t>
            </a:r>
          </a:p>
        </p:txBody>
      </p:sp>
    </p:spTree>
    <p:extLst>
      <p:ext uri="{BB962C8B-B14F-4D97-AF65-F5344CB8AC3E}">
        <p14:creationId xmlns:p14="http://schemas.microsoft.com/office/powerpoint/2010/main" val="3695599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16826</Words>
  <Application>Microsoft Office PowerPoint</Application>
  <PresentationFormat>Custom</PresentationFormat>
  <Paragraphs>584</Paragraphs>
  <Slides>99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Shahriar Tafti</dc:creator>
  <cp:lastModifiedBy>Shahriar Tafti</cp:lastModifiedBy>
  <cp:revision>1</cp:revision>
  <dcterms:created xsi:type="dcterms:W3CDTF">2026-10-22T19:38:54Z</dcterms:created>
  <dcterms:modified xsi:type="dcterms:W3CDTF">2026-10-22T19:38:54Z</dcterms:modified>
</cp:coreProperties>
</file>