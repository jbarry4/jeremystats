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0"/>
  </p:notesMasterIdLst>
  <p:sldIdLst>
    <p:sldId id="256" r:id="rId2"/>
    <p:sldId id="257" r:id="rId3"/>
    <p:sldId id="384" r:id="rId4"/>
    <p:sldId id="385" r:id="rId5"/>
    <p:sldId id="386" r:id="rId6"/>
    <p:sldId id="259" r:id="rId7"/>
    <p:sldId id="258" r:id="rId8"/>
    <p:sldId id="260" r:id="rId9"/>
    <p:sldId id="494" r:id="rId10"/>
    <p:sldId id="261" r:id="rId11"/>
    <p:sldId id="262" r:id="rId12"/>
    <p:sldId id="263" r:id="rId13"/>
    <p:sldId id="265" r:id="rId14"/>
    <p:sldId id="264" r:id="rId15"/>
    <p:sldId id="267" r:id="rId16"/>
    <p:sldId id="266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391" r:id="rId27"/>
    <p:sldId id="392" r:id="rId28"/>
    <p:sldId id="277" r:id="rId29"/>
    <p:sldId id="393" r:id="rId30"/>
    <p:sldId id="278" r:id="rId31"/>
    <p:sldId id="279" r:id="rId32"/>
    <p:sldId id="280" r:id="rId33"/>
    <p:sldId id="281" r:id="rId34"/>
    <p:sldId id="400" r:id="rId35"/>
    <p:sldId id="282" r:id="rId36"/>
    <p:sldId id="283" r:id="rId37"/>
    <p:sldId id="284" r:id="rId38"/>
    <p:sldId id="285" r:id="rId39"/>
    <p:sldId id="286" r:id="rId40"/>
    <p:sldId id="287" r:id="rId41"/>
    <p:sldId id="289" r:id="rId42"/>
    <p:sldId id="290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6" r:id="rId57"/>
    <p:sldId id="305" r:id="rId58"/>
    <p:sldId id="331" r:id="rId59"/>
    <p:sldId id="307" r:id="rId60"/>
    <p:sldId id="308" r:id="rId61"/>
    <p:sldId id="309" r:id="rId62"/>
    <p:sldId id="311" r:id="rId63"/>
    <p:sldId id="312" r:id="rId64"/>
    <p:sldId id="313" r:id="rId65"/>
    <p:sldId id="315" r:id="rId66"/>
    <p:sldId id="316" r:id="rId67"/>
    <p:sldId id="317" r:id="rId68"/>
    <p:sldId id="310" r:id="rId69"/>
    <p:sldId id="318" r:id="rId70"/>
    <p:sldId id="319" r:id="rId71"/>
    <p:sldId id="323" r:id="rId72"/>
    <p:sldId id="320" r:id="rId73"/>
    <p:sldId id="322" r:id="rId74"/>
    <p:sldId id="328" r:id="rId75"/>
    <p:sldId id="325" r:id="rId76"/>
    <p:sldId id="324" r:id="rId77"/>
    <p:sldId id="326" r:id="rId78"/>
    <p:sldId id="327" r:id="rId79"/>
    <p:sldId id="329" r:id="rId80"/>
    <p:sldId id="330" r:id="rId81"/>
    <p:sldId id="332" r:id="rId82"/>
    <p:sldId id="346" r:id="rId83"/>
    <p:sldId id="352" r:id="rId84"/>
    <p:sldId id="334" r:id="rId85"/>
    <p:sldId id="347" r:id="rId86"/>
    <p:sldId id="343" r:id="rId87"/>
    <p:sldId id="335" r:id="rId88"/>
    <p:sldId id="336" r:id="rId89"/>
    <p:sldId id="337" r:id="rId90"/>
    <p:sldId id="338" r:id="rId91"/>
    <p:sldId id="339" r:id="rId92"/>
    <p:sldId id="342" r:id="rId93"/>
    <p:sldId id="340" r:id="rId94"/>
    <p:sldId id="341" r:id="rId95"/>
    <p:sldId id="344" r:id="rId96"/>
    <p:sldId id="345" r:id="rId97"/>
    <p:sldId id="348" r:id="rId98"/>
    <p:sldId id="350" r:id="rId99"/>
    <p:sldId id="351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5" r:id="rId112"/>
    <p:sldId id="387" r:id="rId113"/>
    <p:sldId id="366" r:id="rId114"/>
    <p:sldId id="367" r:id="rId115"/>
    <p:sldId id="368" r:id="rId116"/>
    <p:sldId id="369" r:id="rId117"/>
    <p:sldId id="370" r:id="rId118"/>
    <p:sldId id="371" r:id="rId119"/>
    <p:sldId id="492" r:id="rId120"/>
    <p:sldId id="373" r:id="rId121"/>
    <p:sldId id="495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8" r:id="rId131"/>
    <p:sldId id="389" r:id="rId132"/>
    <p:sldId id="395" r:id="rId133"/>
    <p:sldId id="390" r:id="rId134"/>
    <p:sldId id="396" r:id="rId135"/>
    <p:sldId id="397" r:id="rId136"/>
    <p:sldId id="398" r:id="rId137"/>
    <p:sldId id="401" r:id="rId138"/>
    <p:sldId id="402" r:id="rId139"/>
    <p:sldId id="403" r:id="rId140"/>
    <p:sldId id="404" r:id="rId141"/>
    <p:sldId id="405" r:id="rId142"/>
    <p:sldId id="406" r:id="rId143"/>
    <p:sldId id="407" r:id="rId144"/>
    <p:sldId id="408" r:id="rId145"/>
    <p:sldId id="413" r:id="rId146"/>
    <p:sldId id="411" r:id="rId147"/>
    <p:sldId id="412" r:id="rId148"/>
    <p:sldId id="425" r:id="rId149"/>
    <p:sldId id="426" r:id="rId150"/>
    <p:sldId id="427" r:id="rId151"/>
    <p:sldId id="441" r:id="rId152"/>
    <p:sldId id="442" r:id="rId153"/>
    <p:sldId id="443" r:id="rId154"/>
    <p:sldId id="444" r:id="rId155"/>
    <p:sldId id="445" r:id="rId156"/>
    <p:sldId id="446" r:id="rId157"/>
    <p:sldId id="447" r:id="rId158"/>
    <p:sldId id="448" r:id="rId159"/>
    <p:sldId id="450" r:id="rId160"/>
    <p:sldId id="451" r:id="rId161"/>
    <p:sldId id="464" r:id="rId162"/>
    <p:sldId id="465" r:id="rId163"/>
    <p:sldId id="466" r:id="rId164"/>
    <p:sldId id="467" r:id="rId165"/>
    <p:sldId id="468" r:id="rId166"/>
    <p:sldId id="493" r:id="rId167"/>
    <p:sldId id="469" r:id="rId168"/>
    <p:sldId id="470" r:id="rId169"/>
    <p:sldId id="471" r:id="rId170"/>
    <p:sldId id="472" r:id="rId171"/>
    <p:sldId id="473" r:id="rId172"/>
    <p:sldId id="474" r:id="rId173"/>
    <p:sldId id="475" r:id="rId174"/>
    <p:sldId id="476" r:id="rId175"/>
    <p:sldId id="477" r:id="rId176"/>
    <p:sldId id="478" r:id="rId177"/>
    <p:sldId id="479" r:id="rId178"/>
    <p:sldId id="480" r:id="rId179"/>
    <p:sldId id="481" r:id="rId180"/>
    <p:sldId id="482" r:id="rId181"/>
    <p:sldId id="483" r:id="rId182"/>
    <p:sldId id="484" r:id="rId183"/>
    <p:sldId id="486" r:id="rId184"/>
    <p:sldId id="487" r:id="rId185"/>
    <p:sldId id="488" r:id="rId186"/>
    <p:sldId id="490" r:id="rId187"/>
    <p:sldId id="485" r:id="rId188"/>
    <p:sldId id="489" r:id="rId1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824" userDrawn="1">
          <p15:clr>
            <a:srgbClr val="A4A3A4"/>
          </p15:clr>
        </p15:guide>
        <p15:guide id="4" pos="5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B1E1"/>
    <a:srgbClr val="737577"/>
    <a:srgbClr val="BA3B88"/>
    <a:srgbClr val="007776"/>
    <a:srgbClr val="E5E862"/>
    <a:srgbClr val="838383"/>
    <a:srgbClr val="008A8A"/>
    <a:srgbClr val="CC5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80" autoAdjust="0"/>
    <p:restoredTop sz="60508" autoAdjust="0"/>
  </p:normalViewPr>
  <p:slideViewPr>
    <p:cSldViewPr>
      <p:cViewPr varScale="1">
        <p:scale>
          <a:sx n="58" d="100"/>
          <a:sy n="58" d="100"/>
        </p:scale>
        <p:origin x="2436" y="39"/>
      </p:cViewPr>
      <p:guideLst>
        <p:guide orient="horz" pos="2160"/>
        <p:guide pos="3840"/>
        <p:guide pos="1824"/>
        <p:guide pos="5856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0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2A6D0-7616-4146-9914-45503C7662C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E3C0D-3A78-4D4E-990F-A8C37F9C4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1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SWR: https://www.researchgate.net/figure/Triggered-LFP-averages-and-current-source-density-CSD-analysis-from-a-16-site-probe_fig8_254265427</a:t>
            </a:r>
          </a:p>
          <a:p>
            <a:r>
              <a:rPr lang="en-US" dirty="0"/>
              <a:t>Theta: In house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35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C2AA-5393-F0BF-875C-636B6C73E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8BE37-C895-F051-9DC9-439154BAF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ED0B3-1EE1-871B-76B4-076124185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SWR: https://www.researchgate.net/figure/Triggered-LFP-averages-and-current-source-density-CSD-analysis-from-a-16-site-probe_fig8_254265427</a:t>
            </a:r>
          </a:p>
          <a:p>
            <a:r>
              <a:rPr lang="en-US" dirty="0"/>
              <a:t>Theta: In house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043F6-C6C6-4985-09E3-D1A5D33C3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60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3CF0-D533-719D-1097-5A4136C7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978F1-D6EC-96E7-9946-7FEA2E543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1E5D1-5BEE-090B-0CDD-6766E808F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SWR: https://www.researchgate.net/figure/Triggered-LFP-averages-and-current-source-density-CSD-analysis-from-a-16-site-probe_fig8_254265427</a:t>
            </a:r>
          </a:p>
          <a:p>
            <a:r>
              <a:rPr lang="en-US" dirty="0"/>
              <a:t>Theta: In house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35F0E-16A8-E9C1-187A-411B9D0CB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94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3784E-E487-412A-6B00-FAA67A72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0B5AA-0A51-3847-35E8-6C81F8F20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2DFEC-EBD5-EB8D-2629-5A632BCBF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SWR: https://www.researchgate.net/figure/Triggered-LFP-averages-and-current-source-density-CSD-analysis-from-a-16-site-probe_fig8_254265427</a:t>
            </a:r>
          </a:p>
          <a:p>
            <a:r>
              <a:rPr lang="en-US" dirty="0"/>
              <a:t>Theta: In house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FE3DD-E161-030E-A6AE-CD39B4CC5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62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571D-F043-511E-BC0A-C0EA29DF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4A3E1-84CE-C1EF-9D4F-DA1B70491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421DD-9365-293C-9597-06AC3DBE0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SWR: https://www.researchgate.net/figure/Triggered-LFP-averages-and-current-source-density-CSD-analysis-from-a-16-site-probe_fig8_254265427</a:t>
            </a:r>
          </a:p>
          <a:p>
            <a:r>
              <a:rPr lang="en-US" dirty="0"/>
              <a:t>Theta: In house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06DF4-E760-7FBB-0012-2B60D09CF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49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7A518-F73F-8408-F835-13E3EBFC4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DB5B8-94FA-C69B-EDF7-DBE0102FC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2A34FC-F417-D395-06BB-27CAE13CD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6B7A0-A3C4-7FC8-239F-DB3248A04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37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ED15A-C949-4C53-504A-CDA1D7A0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9F180-B933-4546-C293-3D077577E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0D20B-213E-153C-2DB8-E0CE43596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37546-1DCD-99F4-56D2-933CCA58E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40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37B2-EDA9-A001-59D6-BD3E3DFD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297FD-ABB4-A88F-5403-CA908D6A6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0FD31-C783-F7C6-01C8-A432BFF1D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0279A-CBF9-C7FB-AEE3-2ED918DEA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66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26D36-29CC-95A4-AEE2-9663557DB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F5407-2F19-43BB-C682-9B9191BE4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5D71C-A6E6-169A-4E00-1A2D5FF78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4ED73-87E3-BABF-B06C-6ED300278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43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C1BE8-E931-5269-C975-ED79D4A5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028CD-8EF4-8C65-9C0C-CA6052FE4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10D0A-BEFE-AF34-A660-7E048945C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9A04D-CBD7-94D9-F1DF-92FEC0180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70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CB7D-B3AD-7647-B230-F926EA3A2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FD107-5317-E73A-E8EF-59F65963D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2A3EF-1BC4-4872-82D4-174449031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4D482-1526-C5A4-8642-65A97DD41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75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59FFA-2124-FB60-1A46-A73C5F9C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225AF-9AF6-6D6D-E183-B76F04837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93C3E-0CE8-6FC8-9C52-DA0436BFE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8252A-8A53-1C73-009E-9171E3B09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74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C6AEA-2201-8C79-4A7C-185F630B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C9ECB-B091-8F8F-AB75-C0873FA25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6A920-96CD-CAAD-CBB8-F1690E82A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BF108-7406-BCE3-4D07-9332B778D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2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11DF5-C6F2-4C39-8CCA-0E2D2EED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B90CD-6F85-7538-6453-E925074DE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D487C-0529-32BA-5416-AFB7FBDB2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B48E8-5090-3ECC-D101-8558B9F58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69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B675F-DDFC-2CF7-9DE5-894B1517D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DAD01-2E41-E0FF-88EC-37C427377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3E782-E2A5-4E15-4D44-4FA8E184B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EFDE9-FB47-68CA-458C-DCA0377E2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443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010D1-5EFD-6D73-D750-C3A37238F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160EB-F922-A397-A878-93A050728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3A121-2A0D-61EA-217C-364727835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517EA-D533-2279-89B4-EF1994EE9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838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9632C-5395-9AD2-EE86-BCB414218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5D7C9-3EB6-583F-A91F-F2E9B2750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9DC49-0669-7FFB-EDE1-3A7AB1C10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B8111-338A-B0ED-D0D1-C67E915CC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16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03DB-4B02-4A37-C38A-ADD72EE67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9DFC2-66E4-0E13-5BBB-D2FF5C3C9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56D49-8950-11A8-083F-3C17B4453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C0DE3-7A0E-3988-6745-11E9DB7BC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477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8C408-0E89-40FF-3FD6-E12E7B701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B3DC4-D24E-8FAE-8F56-18DAC343A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EE6D7-D86A-AFF7-0C97-B0646CB94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SO (Stratum </a:t>
            </a:r>
            <a:r>
              <a:rPr lang="en-US" b="1" dirty="0" err="1"/>
              <a:t>Oriens</a:t>
            </a:r>
            <a:r>
              <a:rPr lang="en-US" b="1" dirty="0"/>
              <a:t>)</a:t>
            </a:r>
          </a:p>
          <a:p>
            <a:r>
              <a:rPr lang="en-US" b="1" dirty="0"/>
              <a:t>SP (Stratum </a:t>
            </a:r>
            <a:r>
              <a:rPr lang="en-US" b="1" dirty="0" err="1"/>
              <a:t>Pyramidale</a:t>
            </a:r>
            <a:r>
              <a:rPr lang="en-US" b="1" dirty="0"/>
              <a:t>)</a:t>
            </a:r>
          </a:p>
          <a:p>
            <a:r>
              <a:rPr lang="en-US" b="1" dirty="0"/>
              <a:t>SR (Stratum </a:t>
            </a:r>
            <a:r>
              <a:rPr lang="en-US" b="1" dirty="0" err="1"/>
              <a:t>Radiatum</a:t>
            </a:r>
            <a:r>
              <a:rPr lang="en-US" b="1" dirty="0"/>
              <a:t>)</a:t>
            </a:r>
          </a:p>
          <a:p>
            <a:r>
              <a:rPr lang="en-US" b="1" dirty="0"/>
              <a:t>SLM (Stratum </a:t>
            </a:r>
            <a:r>
              <a:rPr lang="en-US" b="1" dirty="0" err="1"/>
              <a:t>Lacunosum-Moleculare</a:t>
            </a:r>
            <a:r>
              <a:rPr lang="en-US" b="1" dirty="0"/>
              <a:t>)</a:t>
            </a:r>
          </a:p>
          <a:p>
            <a:r>
              <a:rPr lang="en-US" b="1" dirty="0"/>
              <a:t>SM (Stratum </a:t>
            </a:r>
            <a:r>
              <a:rPr lang="en-US" b="1" dirty="0" err="1"/>
              <a:t>Moleculare</a:t>
            </a:r>
            <a:r>
              <a:rPr lang="en-US" b="1" dirty="0"/>
              <a:t>)</a:t>
            </a:r>
          </a:p>
          <a:p>
            <a:r>
              <a:rPr lang="en-US" b="1" dirty="0"/>
              <a:t>(Stratum </a:t>
            </a:r>
            <a:r>
              <a:rPr lang="en-US" b="1" dirty="0" err="1"/>
              <a:t>Granulare</a:t>
            </a:r>
            <a:r>
              <a:rPr lang="en-US" b="1" dirty="0"/>
              <a:t> / Granule Cell Layer)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A3FB1-BF25-40FA-428E-233188858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219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9F48-1DB3-63B5-9A2E-C57FB3F5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055F2-6309-6C01-636B-AAD5A88E3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CC5CD-9C39-6EAE-8B7F-A58EE0F67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4938D-9CAE-88D9-C397-52D02FAED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223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40260-F84E-E1E0-F702-96A81441D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1EAA6D-54FB-A4D0-0936-236AC357F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50AED-0B46-5A97-57F6-56C427180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18D99-D3A1-B100-A75C-F172D74C6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53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6E5DE-F36D-985E-1A98-2BE858A0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EBD75-75B3-1264-BA5A-7C9DDEE3C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1DBF3-2AA1-06B4-0436-E94FAFF15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0F117-48DD-C83E-A3B0-D43785C6D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224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E5C2E-0398-C06C-7925-AAC38EEED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F5A96-B7DE-78B4-DAA2-DF905A1C6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20F20-2330-2B05-0C59-1903DA68E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F2799-D5D0-0061-1E09-D60F5F421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436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44DCE-826F-B31F-297E-9F7AEB4C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38C09-6835-7B59-061E-47FFD6692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DFB4B-26A8-4196-4FB2-0743B93DF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7D212-75F3-877B-61F3-B0474CAA8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970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3B2A-182E-5DB3-9A55-C473A688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C0A73-68EE-A546-3F10-6D5ACCE81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1772C-9018-61F6-8E72-D69A87C3E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36436-A107-4555-9EBB-54911E8EE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695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9C404-855C-2528-C78E-B68FC615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5AC41-53BF-ECF2-F5FF-5C48C28D2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E0632-1941-CF9F-722D-EF2F900CC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EB22D-75B0-854F-0C74-53A988A07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042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735A7-BD2B-ACB9-255E-D4787BCF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D05AF-6DC4-6B84-C952-AF125A7B2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098C4-8C3F-3DEC-142F-C0AB82186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5C9B9-BBA2-8ECA-5C49-298818042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672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50E38-1D65-42F7-7EC7-63C3C9296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2D010-43D7-DEF6-F5C0-8009F7DC2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90D01-E571-2B90-24C5-E9DD1D502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E8332-1186-5371-F6DD-698272E38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252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DC58-AEE8-AE5C-03A1-D6F3C8EB9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C0E0D-3AC4-BE30-FA18-713E13FF4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0FAE2-0795-63B6-B819-E8EBAD0CE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84B99-8C54-C1E0-4937-308138A66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078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EF14-ABB4-C3BB-A8A2-97A37E36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DE09A-151F-3B3D-99AE-88B5DF29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F95E3-EA4F-076F-DDBE-B58ADE2E1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DB874-3637-DFA0-B2F3-F89773E3D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426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141F2-645A-76C9-E7C3-7FB24066C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219F2-66DB-4D6D-53B8-348818391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7EADE-57C7-C6B7-C488-56A334546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0E1BC-9A44-380E-DC0F-D0A107AAE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607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4224-BA4D-4E52-5770-D2AB03A4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B9EA6-BDA7-DB85-116A-36E0BBFE4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0A999-BA8A-0F15-584F-694C2201C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1C44F-0FC7-D24E-7D79-C25011C12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01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F2C9-7E6E-EBD7-59D9-503BF30B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AA617-2DB2-114A-768D-72FCA5F65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3C0AC-1B06-300C-9063-0189D7CA5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11891-0BC5-21FC-6405-A1824E34A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787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07907-7A2A-A541-E1A3-21FE17590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55821-DAA3-F94F-31A4-CB47DC66B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1F345-B3C5-582C-4094-078FB741F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A9D45-3F6E-AAC6-AFD1-495EFE74E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696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147C6-9EE5-8559-58AB-601730816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78928-0A27-216E-BBA4-5011EDE00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A0917-8A15-FA11-8A9E-7415F6FCC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EDE0F-3A38-035E-B8DF-73BF597E7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900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115BD-9E8F-1CE4-9BF4-4E2329FE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ACA5F-F2F9-959B-4F05-6E99672BE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D63C99-E770-F3D2-F12F-B60B1A5E4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34182-A95C-F1D6-BBFD-A85E8BE87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853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A95DC-45D1-B30F-C6F6-2E2030476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F2962-6F07-69B0-C1FB-F3E52D7F2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C3FEC-B5B0-C44D-BA77-49DCA42E3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3B62E-79BE-6673-98E5-7287D29B8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373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579C1-C670-5064-04AF-1282033EA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8AE66-08CE-8350-E869-7EAC03BE7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D511D-1F67-56D4-CDF3-7C09D4D60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D29C8-350C-2856-DAA1-D2D164D5B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412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514F-6089-438D-4ABC-B4F746B73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5F4A7-E901-2542-77A5-42A628B4B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F9340-BA1D-44BB-AF88-B55F9BA5A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A6ED-9A06-8FBC-B750-683B6A048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111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321D-1FAE-FA39-DF22-782CCFD99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62FA2-A431-5709-65F0-7A8FCCEF8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E7D4A-7E33-5D8F-5B48-02AF83F1C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C43E4-9664-7266-3777-862FAF2E8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13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507FE-C291-1B93-EC82-A5A84F2F9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66F4C-0C3F-C690-4DE3-9529AA516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83B1F-83C6-6177-6976-F4743FF17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C8101-BB87-96C9-6B5F-64E269A98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552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61565-7ADF-32F5-7D8A-97D6AE994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1D076-5AB4-2785-73A0-25EC75F21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87929-B3D7-4493-A51F-0BE892469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609DB-AA19-5756-8EE6-D0C418B80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199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CC7B-2A87-B451-4FB3-32A69136E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3716D-D81C-E31D-2698-79ACA2A69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496C4-7CDA-9745-EDE6-B1C728D15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168A4-598C-62AB-A313-6203A33C2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770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3B518-FD24-7E04-42C5-F1BB7063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19B2B-CE16-47A0-693E-0575E4023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AD5146-E11F-489D-98DA-DA7F883C5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F8F1A-B791-7997-766E-AC872EF62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681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E6190-CE48-8AB5-BEF0-6EF502360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DA72C-8B3D-07F6-619E-AC891763F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6882C-A3E4-B479-AC53-F88162B2C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383ED-FF00-89BC-B08F-3049E219A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7172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6E83C-AE61-EBB1-18F0-62CDEC94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FC457-38FB-8BCA-AA68-8F3B89F55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45577-BD78-679E-F2AE-40697FE76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39742-373A-1A40-B706-503464CE4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248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C297-015E-486A-7A03-BD10A994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B9FA5-DD6E-45E8-7978-51126ABC3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6407F-D400-E49A-A340-BC0B1D607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ACAD4-A4D4-0D48-28DB-B8F31653C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680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7F41B-7C9A-1334-B9A0-3BBAF9B31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006AA-8AA5-E7D8-A0E3-4804724C6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60713F-E377-77D6-A4DE-1BD7B19C8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5650B-B0AB-6801-19A9-12A6A5470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178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5851F-29E3-6479-FD35-EC10AAC05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BEEFD-2132-36BF-9BFA-02D05D0E1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74DEF-E3D0-4812-5DB9-017A40A59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96166-AE8F-3F05-5419-BCC020CF9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854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68CC-ECCD-7D69-12AB-B130F0E8D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13E2C-4F7B-E8BE-D139-1F781794F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07A04-152A-0F31-2E72-E4793671A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9145B-386E-E759-F1B4-7A53A6978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285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C24A0-D908-4CA9-C4C0-CE312E92D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66400-5D92-A409-FE04-A2E0799A8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9BC2E-A1EB-863C-3E94-7DAEFA44A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4CC18-BFD4-57E3-61B9-8B223F979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8590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F4D5-41AF-46F5-DDB2-BC3ABB02A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FCA45-B9B6-1887-FC28-C7A2066E8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1D917-9379-88DC-272A-F065271DE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F00C6-0135-3BB0-5BCE-2B84E75A44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8521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839C3-C1AB-D03E-87E8-142F2947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F6504-8851-58C3-8D93-023E6AF70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90B13-CF2D-1089-04CB-A94BACC79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18CE2-1EBB-7847-08FC-B47288831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166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2E59-7E70-4FA7-A658-0F469B3A9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2C876-97F6-2058-663E-79CF578C7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20601-834A-7A06-CE28-24160232D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CA148-6936-001E-8270-C65504DDB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1174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1DDD9-19D7-F218-670D-170050F60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66945-AB48-339A-8B5E-D47C59FBD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E3C7F-8BA0-C767-5238-BAEBC04E8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3CFE4-A921-77C9-E006-C1E9EFA33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108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1E40E-7BD6-828B-0B9C-334BDF1E4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DC2F5-93AA-01EA-7DEF-B5617F40D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31A5B-3AB2-7D88-5935-10E139EF8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BA346-0DD0-8CBB-9257-0BE040D47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471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E196-402F-361C-AF54-246134348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B9BE1-9005-A8F4-464A-6B1C8B07D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DD7E3-BC57-0B5C-3F63-40E4B52CE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FCE47-6A80-72B0-795B-E9090DBC5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435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53746-9F6A-8E38-3579-99708C805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F0178-AC18-C255-A8AA-46F101CF2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A4739-3399-119D-16DC-132F8E870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88025-B336-D9A7-9939-DBAA5471E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22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CB72B-47C4-79D9-6196-56E032E4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21D29-E622-B129-4C4A-1B53F2998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61030-A25C-2224-FE12-28D021103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3556C-3290-6184-A4FB-5A4052AC3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0018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4E20F-F1FB-90D0-1892-1F3D4D7D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5CF48-8864-B9F1-DA30-B8832DDD4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6F044-3433-5A06-CBC1-9279E6AC2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7B0F1-4342-6456-3EF6-771BD65B4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5340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61BE8-8D44-3F9E-F84F-FA8FDB0DD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7FB44-9EB6-BD13-5294-3380F276F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755AD-8888-5BD7-B5A6-304E44D7C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57C72-8064-1A47-74D7-BDB815D4D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4101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251C7-8CBE-2F62-38E5-63D5AD25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89D62-CFAA-1B44-0CD8-41E54B4EA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DC183-89AB-FC80-27E6-30ACDA557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070C6-8058-D2F7-D41A-A68EE73AD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2309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C9BC8-3E77-52A4-13E4-CFDAE17E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96B48-8C78-2776-73B8-429A7C554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D7FAA-2F8A-DB3B-3AC7-F5628F783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98642-1945-0CFD-B69D-1277F923A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296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32795-93E5-89A3-267C-ADF8B530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F401B-AE75-A17E-6295-161D9DEC1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6930E-FEA8-11BB-C846-E7AF4A81D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12C8A-2519-8DFD-3EFA-2D49F8A4E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1294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BC3E4-C366-C384-B5C2-01EED91F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BA508-678D-2BE9-964F-43D9F0550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961F5-9903-2B62-4974-2F399C9EC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F57C0-F802-EB35-A7BF-69527FBD4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6219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A889-2279-1D1A-BBFB-81B42C2C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2AE33-DFB6-0503-CF62-3DADF7AC0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8D74F-BACA-1BC0-1E0E-313D550BD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25790-5F7D-749B-0A38-FDDDAD0A1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9317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8DADA-E29F-D82B-7C86-50E26689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37063-D5FA-A0EC-7D30-0DAE968B0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CBA48-607B-28F3-6F38-1E1AC5AB3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7BA51-FFB2-5156-7656-19D1519B8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2230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F1BB7-A414-D3EB-B7A7-6DD26A80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AB93D-C5E5-589A-149A-37827C765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70F11F-67F2-3A17-1277-2AD6C30D2E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BA698-F197-B706-BDD4-46F0BB2DB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0625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60438-E30C-5214-D77A-493B4B243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7E90B-8B57-52A0-9D00-A9DD8CDAA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A2FB5-975A-BA56-275A-753625465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2C9DF-50F7-8DD8-66E6-89EE3DDAA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2869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7A1B5-090D-3597-5EC6-C320F8ACE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B5331-F4FB-01E0-0535-F1532AC17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1F112-F3BB-7342-7A4C-D0F9958EC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D8A57-7D38-2803-7276-EDB3F4B9F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1236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CF05E-CD8A-0333-EC39-97B39386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FDA8C-E553-852C-1393-995293F7B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D4FF4-EBE7-F3A4-2797-3D8BFD90A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51F15-5187-F456-F376-E7289E0DF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759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2FAAD-4A93-7A3D-A94C-763FBF43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B2753-6439-199D-8434-FE5B48B34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796A3-F6C3-5CD4-8693-73614C97B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0C73A-00CF-6E22-6ED7-F09E8A573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8694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F343-2969-8CEE-EF56-6B59CCF8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3459C-3B4F-3C7E-479D-B47201CB8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E8A00-B47D-B3F6-1DA2-417D00056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C882D-ECF6-D6E3-078B-EA1224DF7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1309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3E6A6-401F-0A5D-5858-9F29EC1AD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741AC-BDF6-E320-BE42-9560995B5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15010-49E1-0A94-ADF0-C05CB36E2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7C6D4-7F2E-BB27-3534-27B9FF852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9491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834DF-8229-5306-0883-C51502D4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94FA7-5BFA-5126-BC5B-EE6358075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C4175-15FE-C697-C71C-9BEE3EAFC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5A6E5-5797-BCED-355A-1E1358384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8710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F44C-8711-9AFD-B734-AF287C2B6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BB9B3-7C39-4F0F-A61C-F1B0DE956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411B1-1CD6-6F8D-A6E9-16A2EF2B1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122D9-A91F-D51C-B91D-CFA6DEA29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2282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67916-E1E8-C3EC-175F-1B8D0AEB5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ACE1B-B70D-8D1B-3040-5FAEF6823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D1D74-5CFA-BDB9-4EE8-08B9F5E2E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C52E3-F203-BD62-3560-DE05C12AA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4232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F70C4-D7C8-C623-9086-9448BA83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47F3D-1AB4-FB10-D681-6570CF4FA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BBEEA-CC06-C2FF-333F-8A9CBB003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9DA19-F81C-DFA5-8FB2-AB8EC0FB6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29575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2BE9A-7E8E-92AD-E2B5-9267DD65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2CE09-BD6F-2E45-F039-93CEDDFA6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73733-1021-94E9-2695-3D9124F01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6D856-6085-95AE-61DE-F83784387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7310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69C1A-F007-B57F-4FC6-37B9A2E6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3E402-A445-5DEA-17A4-CD93BAA9F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60A3A-B553-4162-350E-15846C4D3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ADDBF-DF69-7A52-B73F-9D5E4E3E3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9484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5C05-DAE4-6C4C-C8FB-7A0FCB794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27ED1-68EA-2A42-53EC-AB0171160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8097D-E59B-0EAB-4CBB-19ED693B5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C3739-726F-334D-2E4B-40F682A28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7296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7EEA8-6830-3F50-41C5-1E99274B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45E3C-45C4-BB17-66FE-B26A588D7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0EB3D-8A3A-0A12-2F43-6192947EF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9460-72EB-BCEB-EDF5-AA63C9294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287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909B-867D-361D-DDBF-5665F2E4F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EEE00-E006-7AF2-D210-A4FA1B0CD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0BCD3-3615-9845-2C5F-34B2CABB1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901E3-7FEB-D834-AFAD-E810C8197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9180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13E47-051E-941A-1569-28D3CD944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3E559B-7C46-C448-AFAD-EC2256749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0E698-85B0-954E-4A31-08D3E9145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B8D68-89A5-1BCD-C015-866825027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6706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D23EE-F4C6-FC05-0EF1-95F0F877C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D0012-8F55-857F-CCBC-B9BA12831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3FA37-D39A-9487-9234-2514D55D6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68480-5185-8580-F16C-3CAFD80DE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0272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6012E-1C7A-5E3B-005C-593B9E53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F054C-E53A-EDB0-A867-F8463E2FB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1C523-2E99-754A-32FE-C716902D0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8B14A-4649-8BF7-D9B6-4DF6BE957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0003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865F1-E381-FD7E-3856-760B16F2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84327-B2D4-55FA-E352-9E0C76B11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A3CFC-4EF2-89EA-73E0-656035857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9D177-C676-02E8-F057-FFA6E6BA0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8770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DAB11-639C-038E-BD50-51EB387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04956-11DA-B14E-983B-C6B02F25B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618C8-3B06-AE00-1B73-B2D61C84F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BD583-A76E-1C3A-6A10-D1721FD34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3061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3119C-2A48-41F3-6ABA-4CA6D37A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92F49-F540-3214-442F-7280B0BD1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03355-3090-F5D9-302A-F697CF1C0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C5810-B684-03A7-2DF4-8605EACE7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207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32009-E850-0E6C-691B-7BF04D0B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9C7B7-97EA-AE7A-2838-74532AE89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28B7B-6E93-FF56-3E35-C09F10064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1E518-CC78-6F29-E8CE-91C5120E3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9553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01334-AC8A-46C6-45F6-34A823C0D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4F8E9-B2BA-E4BE-09E7-CC689E8CD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BC87B-A9E1-1D8E-3114-A70B2F721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E4518-7E3F-33E8-43FF-628BF09C0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2017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CB21E-262F-78BE-4E30-67084D5E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B1C26-B6B4-8D09-7C39-A36922927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55478-BE10-C597-C882-FEA403565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76A90-E770-E70C-CB9D-2F40DFF89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4403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CB011-6533-6FB3-BDAE-651E3748E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2F5118-C7B8-06AE-E967-A977DA324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8BC28-32F6-7AAE-3A9E-49710EC28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CB26C-5C5D-17AD-AF93-A08F8C7F3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1692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F88D3-B06E-B47A-3022-422B43A74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0AFB5-2599-0E00-E497-FDE4D0320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45B98-A3BB-D70F-FECD-23FAAD7D8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C4ECE-D1B4-1CCF-9547-A0E54B614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3151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25095-607E-9463-061F-B58C9C0F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D7178-01B4-418C-DBF3-B58AD8DF9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94F1E-A0AC-1ED3-85A5-CBA54E80B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8A561-EA0B-7B49-ED5B-BABB2A601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2810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33E29-3170-3C42-F720-36F042BE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81630-861B-9F88-07B1-827E8EE24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28739-0141-CCB3-68F9-E802A1FD5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393A6-F513-5CD1-C042-FF92ACA52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23443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A8D04-2F3A-3D29-8A4B-7D19EB3F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31E6C-6FD8-EB4C-0F1A-9361E8851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5F4D6A-B68E-1394-EC95-34750C774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A02E5-00E8-23EA-41F5-B09F7DDA9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6739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547FC-FF76-2E14-8DC0-22DF5CB41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C1B6F-B468-C1C5-2FE3-FBCFFE00D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D319F-B0AA-E8A1-07F8-0FCEB35BB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26E01-4C8A-AD80-628E-A145D0E47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86205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F1A3-06B6-CA6C-D06C-941F63A1E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5BFA9-C9AF-6124-577A-7EC985758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592EE-4128-ADC6-06B0-5B0B2F1F3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395C6-C29D-9BBB-CD6D-C35A64B03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8581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D0C7-78C5-E51E-3290-4169CCCC8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ADC09-D133-63F3-424C-2E7790517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EB014-AE80-9BCA-E8E7-F17756943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EAEE8-5AF7-6EAC-EEBF-91CFAA014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20993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B961-086C-673C-B60D-AF50E416E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A8832-AC34-3CC9-AF88-608B0F479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B28AC-7B18-5F5A-706A-33615A16A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99A05-96E9-82A6-83F1-4D8919376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25065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DE802-9437-788F-DF19-362AE7528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E1956-6CB8-5A14-6A2C-1BF312068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CBA1A-FB8E-C687-5FFC-A4BB5B5AA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58CB1-DF3F-9733-E54D-DBAEAF096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3753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14B11-E1B3-D113-BCF5-64C24CA21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DFB0E-19DC-A538-23C5-C96A6C80A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9FD6B-D4BD-2019-6085-C15EFA26C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670EF-8C55-3F0A-3AFE-006C4E714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1099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4B35A-A840-5A55-F3ED-3F85FAFC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4BCB7-C2C4-9683-3C14-8AAA16DD0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AAC0D-B054-9059-E01B-8FBFEDEAA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FCBBC-C960-F0F5-51CD-9A41D4AC3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0963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3469C-BCD7-FF47-3AE4-DC38459A0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C6499-8849-6DCD-6439-4D60A94D8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84CAA-2DF3-1A12-5EE9-AEC310D25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B0317-F513-E53D-2146-01CC89AA4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7596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8847-8090-1EC3-237F-95ECA0F6F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0D5EC-DFC0-C654-2983-297D83B6E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EF70D-32E7-F315-5912-CD936BFB5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0E49B-9793-02F0-2D9B-CA88B1B10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4190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F7A78-C99F-D76F-6FB3-45787AC51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A62A5-C742-713D-C972-2CBCD2DC5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032C6-F093-35D5-FB6F-08F5BE501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F7276-7341-D345-1EB7-7C598999F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3876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53F09-2C63-B793-7FA9-050F6742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79C7B-9729-A16D-F70C-46407B378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774E5-B80A-0D48-F15C-C3C438D29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36E95-FFEC-8BDC-0EA8-41E07A5E6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16447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89985-3E71-7E25-6BC2-C3D401EE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AC8F8-BD1D-E39C-BC2D-29702A0A4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A850E0-8152-4CDC-22CF-3793F2F04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8E863-FE5E-155B-CBD5-AECE6B114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0965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35D58-44A1-CA29-8B03-B69673DC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7C7DB-F2BF-4705-54A9-7F278FB30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2338A-A6D3-4803-3A73-2D4BFE12C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230C4-69CD-05C2-BCCB-DB2850B26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92123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00211-2816-AAE0-87F5-C4614D414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F8186-9441-715F-7414-4675E5836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F5F87-A8B8-B958-4542-16A192BD0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5FDE5-E59F-760F-F2A9-37A0693AB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24815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860A6-658C-8E7A-076E-CFF4D0A38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0DC52-C036-793F-2D83-D4CED98A1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1915E-CADB-1490-2D94-90AEDF60F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Purple (Top): Midbrain</a:t>
            </a:r>
          </a:p>
          <a:p>
            <a:r>
              <a:rPr lang="en-US" b="1" dirty="0"/>
              <a:t>Brown: Septum and Basal Ganglia</a:t>
            </a:r>
          </a:p>
          <a:p>
            <a:r>
              <a:rPr lang="en-US" b="1" dirty="0"/>
              <a:t>Green: Hippocampal Formation</a:t>
            </a:r>
          </a:p>
          <a:p>
            <a:r>
              <a:rPr lang="it-IT" b="1" dirty="0"/>
              <a:t>Red (Small Bar): Zona Incerta</a:t>
            </a:r>
          </a:p>
          <a:p>
            <a:r>
              <a:rPr lang="en-US" b="1" dirty="0"/>
              <a:t>Yellow: Thalamus</a:t>
            </a:r>
          </a:p>
          <a:p>
            <a:r>
              <a:rPr lang="en-US" b="1" dirty="0"/>
              <a:t>Dark Blue: Higher-Order / Association Cortex</a:t>
            </a:r>
          </a:p>
          <a:p>
            <a:r>
              <a:rPr lang="en-US" b="1" dirty="0"/>
              <a:t>Light Blue (Bottom): Visual Cortex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24B18-1203-4F84-DCAA-3306C9985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22397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44FBB-7289-4937-6D73-2F82FAA2A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87A21-B72A-9993-2287-9735FAFC4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65600-22E1-8CDA-0291-4B643B93B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8065F-B0DB-5EB1-9584-DCAD72CA6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430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CD4E8-E158-9673-7A90-FDC98565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07CD1-8847-AA69-F825-F21EB2D4C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0F63B-F1B9-F6A0-CD38-812F0D996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3C75D-ECD6-FEA6-DA83-81CF2D6DA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98115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A630A-BE1E-4DD3-4F1A-E3A109F11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EFD99-B0F7-E7F0-4A2E-E884C7C28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7FB68-B4F9-FC9D-5AE0-85B9841AB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E9605-CE67-CA41-0AB2-8A903EB20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62780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508F3-B73E-3416-C4D5-878E770B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8AD43-C38E-B652-5E83-F7893F57E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60700-5369-A761-F20D-F0792C097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B8329-B7D2-F40B-EC5F-63875F83A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15137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32DAB-EE53-B55D-CD1C-A92B03F4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97670-E0C9-4E62-987F-249FE5AD1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4D33A-F9A7-FC2A-3ABE-ABC4F423C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A7F55-1E7C-E798-E45A-3FBC3B3CD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8058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31601-0C5F-318C-7C66-60196957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DB024-07DB-4E0C-399A-4A8BBE86A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ABC6E-A6E1-52E4-12AC-F8F45DF6A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B47E0-E0DD-CCAD-2FF8-02F16AD44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85716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DCB09-FA4E-AFEB-3597-861B206B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3DDBC-80DA-6C97-859E-D6905D935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BC390-F121-69A0-B026-32134C406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065DB-8D39-DFBD-8F8C-D9C35D1CD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1965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E4D99-88BE-8660-8DB1-1DAC87DC1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7F4C9-24B9-AA4A-FD8F-A7365F296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FE016-5AA6-E1D2-4253-92179CD57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706B2-BD18-A28D-4076-856FD6555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7364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4CA1-0DB9-EC84-3FF3-EA0A7736B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033A9-622F-75B1-C025-63F117C1E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3790E-EE00-489A-1A09-4115613C8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Julie A. Harris (2019) about 3000 viral injections, Allen Institute.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3178A-21B2-BC65-2FDE-4F3CDEC61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1817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A5B7B-E4BA-14C5-CA60-FEE24109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70B80-23B0-62EB-B583-EC7FDE8EA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BEC4D-2604-5480-F305-F13C4D715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Julie A. Harris (2019) about 3000 viral injections, Allen Institute.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2EA0D-CBD9-5D9E-F6D2-D32D35CC4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55243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0567E-E16E-674C-7A5B-0B4F8F1C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2BE86-67C1-F704-C236-71F9BD6A9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41BE2-97A9-5DAE-F0AE-48B8952EC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Julie A. Harris (2019) about 3000 viral injections, Allen Institute.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59F7F-B51D-198F-C818-517277BC0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1054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8807-F7F2-8ED3-1BB7-F8DC5E7F1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637EC-6B7F-9612-36F4-2EF9C13C6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BD70E-F4BE-5FF0-389E-2B3EBEE45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Julie A. Harris (2019) about 3000 viral injections, Allen Institute.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A92BD-8608-DDE0-7C21-4AD89DA95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06383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47C52-FBC3-7BFE-12BC-F01BCF2C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2A696-B814-90FC-A85D-5A314BBFC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C6A57-340D-4B86-4EA9-65FDA906D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Julie A. Harris (2019) about 3000 viral injections, Allen Institute.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0AFF0-BFCA-79B0-F17E-E2D898A2F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963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278FD-439D-53D1-2AC6-2DCD74E3B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2126F-C206-5FD0-9731-8F729E04D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3015E-F4D5-CADE-9156-0696D7F76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1F4BF-6F29-DC1B-1BA3-8745A095E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76732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D25B-E043-C389-0B6B-AB77405B8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1B4E2-53BF-DAF4-EA9D-6EDDC67EE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D7C50-8AD7-1869-E6D1-5F9EA3EC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2A275-C89F-713C-3013-E915BBDEC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00628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DE10-3CC4-723E-3DC3-9628612D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69865-325D-B14A-D54B-E86E8117F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F53A0-780E-99A3-28C1-71A3CF302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3E691-B4DC-C20E-369A-0DB3DDB57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53955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BE9B2-0FF9-7F94-796D-891237CFC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A944B-702E-A1FC-C286-223AD7CCB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12F9F-896D-B2E5-D5A8-89CE9006D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C41BE-E33A-E573-F65D-7AE6153F5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6500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F5F7-429F-E633-E368-85648E4B5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DD70E-9DC4-D970-0667-F1FB5CA25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54F09-837A-F620-CA6F-F19283621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D8E68-72F1-42BD-0A02-D9F573C1F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0340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8361-169D-D581-D6F8-DC22BC33E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8911E-D4A4-1831-4A2D-1001E43AD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A17E7-1222-23A7-ACBE-B488B5D15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21B00-F531-FC47-43C6-A67317041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24325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91AB-EED8-53E2-1F2D-BD4AD9671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6D115-7DE5-CFAD-3CF9-0DE20F24B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6412B-48EB-71FC-2C0D-E14B5C0D0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F4060-BF04-0595-018E-DBC220FB8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62910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F05E-7997-B5B2-C88F-2E7918F7A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64220-4AC4-ED1B-E86D-75EF03466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FDD0B-E686-993F-ECF6-0C4A20C82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49901-C303-EF83-DAC4-0DECB9B05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10122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5B7E4-53FC-EE32-B73F-8EB4180B1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0CA23-A415-FF5B-9542-B19685BD7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A5D21-E24F-845C-69E0-509332727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E9331-3F9F-5C8E-BD66-995CBBC75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932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38FBA-14B4-BCB5-5F42-4A2C856B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B0745-91AA-78F3-F2D5-34EC6B395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2D9D6-521D-D802-702F-E30412981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3FAEB-12B4-4959-C457-A7608DEC1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0748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07AB-F48C-6137-6757-CE70430CC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46BAD-0804-8E02-9039-061D97902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E9EAF-2870-96CF-DED8-570663498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EA0A4-94AF-BFF8-EFE5-197101253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04436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AB2D-C527-C134-ACF4-FE01DDDF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155C1-036C-C172-D555-1E3221197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FCD5F-4397-4EDC-AEB9-2926A30C6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F3FA2-E250-5290-E6AC-099FA6A00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88648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D6F65-5690-30ED-7CCD-601B45892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64B96-CCE0-65FE-4416-2DF89E1AC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9AE4F-85C2-A018-3446-985E6B731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EB44B-613F-B16D-BAC4-65555C844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70083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84F3-9703-6350-B7F2-1016BCED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E9282-0F2F-890D-CA51-0CCD8050A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32463-4C4A-64F7-7F5E-2AE6C81C1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51B16-1CBE-184D-7E6C-50328274E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27419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623A1-1971-CC36-4CDD-404978A6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D135F-84C3-4BA7-CACF-A3C0FD7B0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67977-DBD2-3587-C0B8-E489A2F19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BE86E-75BC-EA59-1B01-A6A7F5809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0353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75169-71CB-E3A7-F449-E39C2C07F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F11CD8-3A9C-F9AA-AF52-E32F40A3E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0085B-C66A-1FE3-A59F-83BA1E54B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74CAE-E51F-AC53-DF44-EB9BDAE6A9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98769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7B1E3-3730-3F8F-4CB3-388C35F0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F8AA0-EC84-B14C-6F55-520DE580F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34724-012A-6CA2-0B86-44C3A2026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7464F-D8BE-A09B-D1C6-D3E4BA474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2706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EDEC-2193-9DFC-621B-BABC672DE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88A06-0CE5-FA2A-8791-1636C4BAF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0E061-C028-C029-1FEA-7C90D690C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255B8-E47D-10E9-6BD4-52014A587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83962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8EB5A-0611-01BD-D95F-15A32E1B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01F1D-1C5B-21F0-A563-04C9A96F0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F3E20-7E10-FA59-EF76-2F8C2114D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00078-CBFB-7A6B-2035-30EF6E698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42830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5B252-56A9-FF50-A236-A8A1826BF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5148B-F911-4EA5-75B0-AF406BAC9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B8775-88D3-DF4C-99BF-A889FA2D5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A3C91-1000-21A9-482F-A460079BF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35063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B0713-8486-604D-D95F-2A4C872C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B5637-DABE-6AFB-A5CB-3AE2E27CB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D31EC-650D-C244-87F2-0B7B88F55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48994-7A63-BF6C-6F60-6174F1932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6486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8D4D0-ED8D-68FE-49A2-C064F81FD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EA555-83B7-8B2C-45BF-14BE5ADB5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528B6-D598-035F-B02E-B3557B513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CB298-589D-CD4B-8C80-94F16F68D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50715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E4961-B6D8-4AB2-6570-C12857191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337F6F-DBB9-BDE0-BBEF-CB0E87714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2DAEE0-07A7-4D88-5EC3-D35FBBDBD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9ECED-7BBD-A978-EE2F-1B5C29005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04885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3BC99-C5D8-C9FC-F900-A6C83EDB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2BBB7-CD1D-56BA-1523-0978636E9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EF618-3E05-9314-6AA2-DB4BBA9B2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AD4DD-C862-69E6-7557-B3B3A6CD8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87959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037D4-D1A0-690D-F4DD-E3144BA3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4F9EB-E7E9-3757-3530-9F9D54190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B8EAB-220B-DB06-3E85-DB84FF961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41CBA-E641-63DC-CF69-B8D0DE8B5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39845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EA0C5-6E46-63D3-6F60-94B062FB6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ABF73-303F-4391-3E8D-2A9871906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73AE0-E83E-E95F-3BC2-CBAC8E9B5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7647F-F728-EDEA-F971-C7C4882D1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65562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F3437-F4F6-419F-99B6-4E0E42C1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DF23B-A98B-73EB-5429-F5449CCEC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1DE7F-C45E-49A2-CCA1-0833C71F4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8ABC4-75F2-BD05-2899-4773AE460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4427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CDF50-9399-9E35-40A6-6B58BA846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93890-F184-5B9D-D9B5-7B81554D4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79657-C452-7B1E-AA1F-21036ED64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5EC1E-02EE-3A15-32A2-C18A563DC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43110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9DF7-48A3-21BE-3416-8AE58645A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9C518-2052-E130-63E9-E170C11A6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8114B-F0E9-39B1-BD22-BEE369E28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440EE-2399-4F1F-956E-5DC61AF62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78510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DF11C-8DF7-4B11-6D23-2477E6109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CEC31-D834-DBD3-B884-B53DA1E85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3E05B-F23F-192C-8C8E-E5DCF899A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E1014-8106-DA71-CE47-49F160838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94489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85765-A3C9-17DB-E00E-469A0844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C0E92-1AED-6599-AEAA-2036839A9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E583F-1711-926D-386F-773FF8B9C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F85D8-4472-D47D-AB12-EB26DD3A7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33338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76AB-E191-50E1-98BB-31562A2A1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8BA14-815B-DB7B-9F8F-0EB96BA1D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F6702-4ECE-E618-09BC-25A0943CE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29F51-759D-57BA-97E6-2A6D1C0A8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43008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9B649-99E5-C575-F01A-83E67E19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C6D1E-8A7E-F409-315C-D41340D6B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9460F-662B-2C1C-2790-A84255DC0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4EC8B-E485-43B5-FA24-854840759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8294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8E5AD-7721-34EE-6C4D-1E68036DF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AD45E-F5D6-7CB9-53CB-840A553CF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BC9C1-22A7-A300-43CE-55C2A2B93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7EBC0-038E-A909-4D79-4285CA830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67164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68521-C6DB-C004-0894-8A9B326CC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4E330-2189-56C5-BEB7-566B8AD02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5E3F1-B191-5AC3-4260-965619C97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1460C-1BDC-6643-2488-B056F008D2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47643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67E8-55E6-C655-F97B-B454642A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60ACD-2FA4-E0E6-31CD-3114236F9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2F120-7A42-1C8C-5B36-021E3E2B3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9A7AB-B86B-9F8C-7FF9-59C5EF461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7677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89D5B-E711-5398-3E3A-9EBB39B2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AF465-A145-8625-9110-1FB02776A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036F0-A84C-0CED-F897-AD7A151BC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172C5-8540-4BBF-C58C-0A84CF62E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39379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5B1E4-9D99-22C8-638C-DECD3AB70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FC28C-54FE-D6E0-8D2B-64FDB6CC3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46FC6-A122-F8A4-B086-673066C8B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dentate gyrus</a:t>
            </a:r>
            <a:r>
              <a:rPr lang="en-US" dirty="0"/>
              <a:t> bilaterally, GABAergic interneurons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40B8C-0D5D-1350-74E5-417992E64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23029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50738-5C6F-DCB4-F7A6-D68FADD60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69861-458E-F23A-75D1-32E008479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7AE50-C193-4B72-1631-72A16A60B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dentate gyrus</a:t>
            </a:r>
            <a:r>
              <a:rPr lang="en-US" dirty="0"/>
              <a:t> bilaterally, GABAergic interneurons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7D351-817D-1647-5CE0-E8FAA0950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25136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DABC-11B9-30AD-65CA-A34D5FE79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6D36B-1212-FA51-900A-E8E94062D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88477-38EA-29F5-408B-5DDD58FB5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dentate gyrus</a:t>
            </a:r>
            <a:r>
              <a:rPr lang="en-US" dirty="0"/>
              <a:t> bilaterally, GABAergic interneurons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02D26-17A4-9475-203D-760E326E6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96559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AA10-5EC8-C27C-E200-FB18302E7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28B10-AD6C-7FFB-D7FF-8075C6CC3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DDC06-7963-90C0-2FB1-C42E4A17B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dentate gyrus</a:t>
            </a:r>
            <a:r>
              <a:rPr lang="en-US" dirty="0"/>
              <a:t> bilaterally, GABAergic interneurons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A8A85-245B-F046-CDFE-5B8D8AE2E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58133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B9CC-F3AA-7851-DFD4-D1241493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4EFB6-517F-1C64-8F34-9BF6AC8E5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B2871-1F8A-47B3-255F-E65A319DF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dentate gyrus</a:t>
            </a:r>
            <a:r>
              <a:rPr lang="en-US" dirty="0"/>
              <a:t> bilaterally, GABAergic interneurons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769A9-8FE6-F45E-4708-E1B855904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09756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685EA-B917-C628-F848-3959BBF8E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96E07-930C-8401-F600-6796C8D93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85BC1-9DA1-14A5-5385-84CD33551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1C0FF-56A3-4938-D79D-A2F8A17AC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90438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0CC15-E96C-8A00-E15A-A47C4E1D5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F50FC-AEBB-7CBE-56FA-AE3C4C8DA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B55C2-A05F-B77F-F733-A31CD5041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5D2AE-A93E-38DE-D540-0A3C20F0B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92992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A529-3B00-BAF7-09A5-5924FF03C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46DB81-D903-BF8F-2F0C-ECD5D3EF8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837EC-19C6-6830-9A47-6BFE534DA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8F752-28FF-70DD-F92E-C62EA64A2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53878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94D9-61C5-B222-CBDF-3743C659F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0C30D-B3F9-8516-9BB6-CFB29A567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A370E-E0A2-689E-B45B-153CB1B81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B5F53-68AB-445B-1416-58FD3D016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240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83B22-2FAF-4F4D-E405-98A00AE6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29C49-480F-99C0-0551-E1CDE8E96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8DD7-72A4-5693-DED6-0DB8B4155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6D6EE-2A5E-9C6D-7595-6F27D48EE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67452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98C9-FA8C-DA69-0587-DD213F9B3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BE375-8493-FD55-3E91-367985D4C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1B9B9-A4E6-BE57-BA95-08D9EB8D5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3E25B-6B3B-0776-A78F-4A6B9C98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41140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BD2C-10A3-5AE4-76F2-B8814C41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2F337-4774-631E-AB3F-E97B75884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FA898-429B-D3F7-34AA-E65B9682C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FDE92-4C38-56E2-A6BE-8C7FE1316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48066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A067-393A-E5C7-1B83-18CCC9A7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D49B1-2A3D-4FE7-8ABD-EA5F30829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C8214-C3FD-06E7-232A-9F3A5DB08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21DE6-A2DF-3CAF-69A5-C9307917B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71310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378F6-68E9-4684-80AE-BCB5E9778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2DE0D-B9B4-4ADB-C121-A47E6C112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87B8A-C7D6-E26F-0E06-F239C048D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D9653-78CF-9EA3-EB50-2CB15F9546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06664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C777B-1B4A-CFB5-5F75-863E88EBB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05256-1980-D8EF-FD6F-48E502F10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A1C0D5-9FC4-57A1-89CB-CD93A3EE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9FACA-F849-ED41-2E58-0DCF69042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40034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7FAF-D2AD-090D-DCA1-C6056D649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B7D88-85E4-A855-7352-7964465A2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08B4C-F7E7-9443-B4D3-C87634A4A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F59CB-BADC-284D-A157-77F02D0E3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42576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F0115-5A94-C9A9-AFA7-6B82ED18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477C0-A35C-3C9A-835A-F165EE474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C2862-BCE4-E308-8E35-FBC7EB23A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C547C-71F6-BB6A-5885-AA9B7CCF4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41192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1BC6-C782-F144-4380-9FC7D1A5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4E860-6428-ED0C-7244-8B7A06E4E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4E60B-0133-A509-1CBC-3F89803F4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0488C-4E9A-8A66-82AF-8822B2F37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04499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47005-AB59-131D-059E-2718D653A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8B95D-D92A-5F33-8F56-B72AF5C22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32220-36B2-7F9B-5D1E-EE82D6099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50D8-AC83-F456-88B0-4F42A1BA9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30067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A7E8C-A639-E539-E097-1B0E4F0F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62A2E-5DC8-DFDA-B35A-91A48F53D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B77B0-577A-3B12-87DA-68081FC13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EA6AE-39FC-783F-0318-BA67C11E4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67530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DA445-9932-5058-0C7B-00FA25B6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23344-EF81-CD26-AE0E-976A67D6FA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B87B7-3DD1-43C4-31F3-563D4BFBA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20E2D-FB60-E247-0159-23952DB5C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24383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78ECA-275B-9E7C-A7B1-E033F4BB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93D84-3FAD-F1A6-BB5A-1773F6296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EBBB9-BE40-5056-CF45-953D7793F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38361-8D9C-9CAC-82D9-0B1DE0F26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17256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F090D-6193-74FA-BA18-AFB731661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47263-4D01-F593-3868-545A25D2F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90333-EC08-4EF6-CBF8-F4E21F1B6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6D972-0890-B656-46EC-E9B4B5A2E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13418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3C9B3-ACC8-E5B0-E328-6FEF5DDB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30BC4-5A2C-8D72-6F52-F6EA20CA2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7BE09-1458-9406-66F0-6AE3A2959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8CB06-5598-F499-E093-508440710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170182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366EE-729A-7E2A-44AE-AA4C8B422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477607-7617-DAE9-679A-BA76EFDDC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35456-AAAE-8F65-EACA-3738BD1A6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Double check arrow </a:t>
            </a:r>
            <a:r>
              <a:rPr lang="en-US" b="1" dirty="0" err="1"/>
              <a:t>locaiton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It processes non-spatial information, specifically </a:t>
            </a:r>
            <a:r>
              <a:rPr lang="en-US" b="1" dirty="0"/>
              <a:t>Object and Context</a:t>
            </a:r>
            <a:r>
              <a:rPr lang="en-US" dirty="0"/>
              <a:t> information.</a:t>
            </a:r>
          </a:p>
          <a:p>
            <a:r>
              <a:rPr lang="en-US" b="1" dirty="0"/>
              <a:t>Connection:</a:t>
            </a:r>
            <a:r>
              <a:rPr lang="en-US" dirty="0"/>
              <a:t> It provides the upstream input that drives </a:t>
            </a:r>
            <a:r>
              <a:rPr lang="en-US" b="1" dirty="0"/>
              <a:t>Type 1 Dentate Spikes (DS1)</a:t>
            </a:r>
            <a:r>
              <a:rPr lang="en-US" dirty="0"/>
              <a:t>.</a:t>
            </a:r>
          </a:p>
          <a:p>
            <a:r>
              <a:rPr lang="en-US" b="1" dirty="0"/>
              <a:t>Anatomical Target:</a:t>
            </a:r>
            <a:r>
              <a:rPr lang="en-US" dirty="0"/>
              <a:t> Its inputs target the </a:t>
            </a:r>
            <a:r>
              <a:rPr lang="en-US" b="1" dirty="0"/>
              <a:t>Outer Molecular Layer (OML)</a:t>
            </a:r>
            <a:r>
              <a:rPr lang="en-US" dirty="0"/>
              <a:t> of the Dentate Gyrus.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45285-10D4-0728-5D2B-1EA2E1EBA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BE3C0D-3A78-4D4E-990F-A8C37F9C4E8F}" type="slidenum">
              <a:rPr lang="en-US" smtClean="0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06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9CFE-6394-290F-67AC-9F75C258E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660F9-ADCA-2317-33A7-6CCEAF2BF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EF1AF-198A-D42B-E8B2-14752B332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0203A-0DF9-BBDD-86B7-7DAF0F019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02F74-0ABA-A0B4-1752-61D1D600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61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0DB98-A508-4107-1841-3D21B9132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96BED-275F-502F-4D2B-B8C52DC0C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CFC4F-94AE-06FA-4576-C442FFBB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6E5AA-CCD3-85EF-FD12-358A7397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EF901-A95C-B76F-1D48-6E41ED3A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60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D84F-499F-B3DD-DF75-53463BE4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EDB71-DDA9-D40C-6029-D3650FF82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26318-F78D-D7C8-5D8E-48860FAA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B2DB6-027A-7E23-6976-64A536B01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9FC86-5019-CE34-76DA-8D8985C59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3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5A9C-5835-61C5-7985-D0AE90A1A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6B92B-E2C6-47E1-53E2-6C91915F6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0DE59-C94C-D960-26DE-57185CD5B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476B7-BDBB-CA55-4741-422F970D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43D2E-1E9D-5F43-4A9C-CBCF562AF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665A4-022C-E7D0-2676-416C665C2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50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C9617-84C6-A01B-044A-B99F802C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29907-2664-A949-33D0-972399C3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98B03-9444-D3B0-10CF-8FC28B181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B671D-0235-5954-FE69-996C54DC1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998556-A2B7-0801-2673-9242F0CED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8C10DD-28CD-A4DF-CFA3-2DBC48544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85753D-6029-39D1-D9E5-E5990ECA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F6E60C-77B4-512D-B1A0-EB977C08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3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CDAD-B281-3379-72F7-EAEDF4223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EDF21-AC4A-0185-A250-F78FC255E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60CB2-3D1E-E5F9-0AD5-D01497A93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4BC9E-1099-1D9E-7073-8161CB50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91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B398DA-9947-E6D7-90EA-BED9B3461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A7C5DF-04E1-3EEE-294F-B3C8862B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B3C97-7E1C-44E0-C036-74E98E30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10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B60E-0A94-BEEB-1F19-594BEE33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8603A-FB8E-DF0D-B702-B2B9646E6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1DA4C-B579-FBA9-C4C4-16D517155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F4B56-E2F6-6D5C-E6E9-AA2C57BF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FCE96-F29E-38A2-73A9-B19EDCF33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024F4-0953-1A6F-6BD9-3F9415BF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98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7065-0FE8-860F-D815-45D28D78E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95D05-ACE5-0828-AB81-04372E451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3E816-A42D-5763-359B-02BEAD07C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0D563-0F3A-B9C4-C04C-E02EA4BC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29217-A11E-CF13-E6E2-C2C80C6C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1DE8B-0E16-A879-417C-418DB18E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36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EECE5-BFEF-FD78-E25B-CDDFAE46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7300C-BFC6-F11E-E2A6-184ECADAC5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96BA9-BD87-E494-81D4-237244D18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E0DC0-BC7D-307A-0072-8E152A44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DB092-44DB-1942-6C3A-582B86EF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32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C8177-5412-59BD-5BB6-3BCE15CB5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EF592-9BDB-E9CA-C435-D1D584E34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DC42E-8C26-3ADA-FF3F-7A3DEF46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95B24-E3C2-B7DE-998D-0020701D7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F01EC-FFA1-3DAA-0D6D-D6177C94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83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A762D9-D445-EA46-8DB9-7E27C1016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F3F54-88F3-79E5-5F92-D1A8B7BCF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D93B7-0BB5-B998-985C-A3C1D9FCA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F0071-D276-4A61-927A-6DC127F0474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1A9A7-009B-8DA9-9ED2-7BF65653E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64565-0E5D-D3BD-C581-83238FAF7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2615A-859A-4BCE-8966-611D7AB9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5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5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Relationship Id="rId9" Type="http://schemas.openxmlformats.org/officeDocument/2006/relationships/image" Target="../media/image32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11" Type="http://schemas.openxmlformats.org/officeDocument/2006/relationships/image" Target="../media/image34.png"/><Relationship Id="rId5" Type="http://schemas.openxmlformats.org/officeDocument/2006/relationships/image" Target="../media/image25.jpeg"/><Relationship Id="rId10" Type="http://schemas.openxmlformats.org/officeDocument/2006/relationships/image" Target="../media/image32.png"/><Relationship Id="rId4" Type="http://schemas.openxmlformats.org/officeDocument/2006/relationships/image" Target="../media/image24.png"/><Relationship Id="rId9" Type="http://schemas.openxmlformats.org/officeDocument/2006/relationships/image" Target="../media/image31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11" Type="http://schemas.openxmlformats.org/officeDocument/2006/relationships/image" Target="../media/image32.png"/><Relationship Id="rId5" Type="http://schemas.openxmlformats.org/officeDocument/2006/relationships/image" Target="../media/image25.jpeg"/><Relationship Id="rId10" Type="http://schemas.openxmlformats.org/officeDocument/2006/relationships/image" Target="../media/image31.png"/><Relationship Id="rId4" Type="http://schemas.openxmlformats.org/officeDocument/2006/relationships/image" Target="../media/image24.png"/><Relationship Id="rId9" Type="http://schemas.openxmlformats.org/officeDocument/2006/relationships/image" Target="../media/image3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4.png"/><Relationship Id="rId4" Type="http://schemas.openxmlformats.org/officeDocument/2006/relationships/image" Target="../media/image25.jpe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5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5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5.jpe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5.jpe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5.jpe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24.png"/><Relationship Id="rId9" Type="http://schemas.openxmlformats.org/officeDocument/2006/relationships/image" Target="../media/image3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4.png"/><Relationship Id="rId4" Type="http://schemas.openxmlformats.org/officeDocument/2006/relationships/image" Target="../media/image2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38.png"/><Relationship Id="rId4" Type="http://schemas.openxmlformats.org/officeDocument/2006/relationships/image" Target="../media/image24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33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33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4.png"/><Relationship Id="rId9" Type="http://schemas.openxmlformats.org/officeDocument/2006/relationships/image" Target="../media/image34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microsoft.com/office/2007/relationships/hdphoto" Target="../media/hdphoto1.wdp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8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5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48.png"/><Relationship Id="rId4" Type="http://schemas.openxmlformats.org/officeDocument/2006/relationships/image" Target="../media/image44.png"/><Relationship Id="rId9" Type="http://schemas.microsoft.com/office/2007/relationships/hdphoto" Target="../media/hdphoto2.wdp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4.png"/><Relationship Id="rId4" Type="http://schemas.openxmlformats.org/officeDocument/2006/relationships/image" Target="../media/image48.png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51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51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52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7.png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7.png"/><Relationship Id="rId10" Type="http://schemas.openxmlformats.org/officeDocument/2006/relationships/image" Target="../media/image55.png"/><Relationship Id="rId4" Type="http://schemas.openxmlformats.org/officeDocument/2006/relationships/image" Target="../media/image45.png"/><Relationship Id="rId9" Type="http://schemas.openxmlformats.org/officeDocument/2006/relationships/image" Target="../media/image54.png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9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38.png"/><Relationship Id="rId5" Type="http://schemas.openxmlformats.org/officeDocument/2006/relationships/image" Target="../media/image43.png"/><Relationship Id="rId10" Type="http://schemas.openxmlformats.org/officeDocument/2006/relationships/image" Target="../media/image28.png"/><Relationship Id="rId4" Type="http://schemas.openxmlformats.org/officeDocument/2006/relationships/image" Target="../media/image47.png"/><Relationship Id="rId9" Type="http://schemas.openxmlformats.org/officeDocument/2006/relationships/image" Target="../media/image19.png"/><Relationship Id="rId14" Type="http://schemas.openxmlformats.org/officeDocument/2006/relationships/image" Target="../media/image53.png"/></Relationships>
</file>

<file path=ppt/slides/_rels/slide1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9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38.png"/><Relationship Id="rId5" Type="http://schemas.openxmlformats.org/officeDocument/2006/relationships/image" Target="../media/image43.png"/><Relationship Id="rId10" Type="http://schemas.openxmlformats.org/officeDocument/2006/relationships/image" Target="../media/image28.png"/><Relationship Id="rId4" Type="http://schemas.openxmlformats.org/officeDocument/2006/relationships/image" Target="../media/image47.png"/><Relationship Id="rId9" Type="http://schemas.openxmlformats.org/officeDocument/2006/relationships/image" Target="../media/image19.png"/><Relationship Id="rId14" Type="http://schemas.openxmlformats.org/officeDocument/2006/relationships/image" Target="../media/image53.png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9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38.png"/><Relationship Id="rId5" Type="http://schemas.openxmlformats.org/officeDocument/2006/relationships/image" Target="../media/image43.png"/><Relationship Id="rId10" Type="http://schemas.openxmlformats.org/officeDocument/2006/relationships/image" Target="../media/image28.png"/><Relationship Id="rId4" Type="http://schemas.openxmlformats.org/officeDocument/2006/relationships/image" Target="../media/image47.png"/><Relationship Id="rId9" Type="http://schemas.openxmlformats.org/officeDocument/2006/relationships/image" Target="../media/image19.png"/><Relationship Id="rId14" Type="http://schemas.openxmlformats.org/officeDocument/2006/relationships/image" Target="../media/image53.png"/></Relationships>
</file>

<file path=ppt/slides/_rels/slide1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9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38.png"/><Relationship Id="rId5" Type="http://schemas.openxmlformats.org/officeDocument/2006/relationships/image" Target="../media/image43.png"/><Relationship Id="rId10" Type="http://schemas.openxmlformats.org/officeDocument/2006/relationships/image" Target="../media/image28.png"/><Relationship Id="rId4" Type="http://schemas.openxmlformats.org/officeDocument/2006/relationships/image" Target="../media/image47.png"/><Relationship Id="rId9" Type="http://schemas.openxmlformats.org/officeDocument/2006/relationships/image" Target="../media/image19.png"/><Relationship Id="rId14" Type="http://schemas.openxmlformats.org/officeDocument/2006/relationships/image" Target="../media/image53.png"/></Relationships>
</file>

<file path=ppt/slides/_rels/slide1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9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38.png"/><Relationship Id="rId5" Type="http://schemas.openxmlformats.org/officeDocument/2006/relationships/image" Target="../media/image43.png"/><Relationship Id="rId10" Type="http://schemas.openxmlformats.org/officeDocument/2006/relationships/image" Target="../media/image28.png"/><Relationship Id="rId4" Type="http://schemas.openxmlformats.org/officeDocument/2006/relationships/image" Target="../media/image47.png"/><Relationship Id="rId9" Type="http://schemas.openxmlformats.org/officeDocument/2006/relationships/image" Target="../media/image19.png"/><Relationship Id="rId14" Type="http://schemas.openxmlformats.org/officeDocument/2006/relationships/image" Target="../media/image53.png"/></Relationships>
</file>

<file path=ppt/slides/_rels/slide1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9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38.png"/><Relationship Id="rId5" Type="http://schemas.openxmlformats.org/officeDocument/2006/relationships/image" Target="../media/image43.png"/><Relationship Id="rId10" Type="http://schemas.openxmlformats.org/officeDocument/2006/relationships/image" Target="../media/image28.png"/><Relationship Id="rId4" Type="http://schemas.openxmlformats.org/officeDocument/2006/relationships/image" Target="../media/image47.png"/><Relationship Id="rId9" Type="http://schemas.openxmlformats.org/officeDocument/2006/relationships/image" Target="../media/image19.png"/><Relationship Id="rId14" Type="http://schemas.openxmlformats.org/officeDocument/2006/relationships/image" Target="../media/image53.png"/></Relationships>
</file>

<file path=ppt/slides/_rels/slide1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56.png"/><Relationship Id="rId3" Type="http://schemas.openxmlformats.org/officeDocument/2006/relationships/image" Target="../media/image45.png"/><Relationship Id="rId7" Type="http://schemas.openxmlformats.org/officeDocument/2006/relationships/image" Target="../media/image2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46.png"/><Relationship Id="rId5" Type="http://schemas.openxmlformats.org/officeDocument/2006/relationships/image" Target="../media/image17.png"/><Relationship Id="rId10" Type="http://schemas.openxmlformats.org/officeDocument/2006/relationships/image" Target="../media/image39.png"/><Relationship Id="rId4" Type="http://schemas.openxmlformats.org/officeDocument/2006/relationships/image" Target="../media/image47.png"/><Relationship Id="rId9" Type="http://schemas.openxmlformats.org/officeDocument/2006/relationships/image" Target="../media/image40.png"/><Relationship Id="rId14" Type="http://schemas.openxmlformats.org/officeDocument/2006/relationships/image" Target="../media/image13.png"/></Relationships>
</file>

<file path=ppt/slides/_rels/slide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6.png"/><Relationship Id="rId3" Type="http://schemas.openxmlformats.org/officeDocument/2006/relationships/image" Target="../media/image17.png"/><Relationship Id="rId7" Type="http://schemas.openxmlformats.org/officeDocument/2006/relationships/image" Target="../media/image4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53.png"/><Relationship Id="rId5" Type="http://schemas.openxmlformats.org/officeDocument/2006/relationships/image" Target="../media/image28.png"/><Relationship Id="rId10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/Relationships>
</file>

<file path=ppt/slides/_rels/slide1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6.png"/><Relationship Id="rId3" Type="http://schemas.openxmlformats.org/officeDocument/2006/relationships/image" Target="../media/image17.png"/><Relationship Id="rId7" Type="http://schemas.openxmlformats.org/officeDocument/2006/relationships/image" Target="../media/image4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53.png"/><Relationship Id="rId5" Type="http://schemas.openxmlformats.org/officeDocument/2006/relationships/image" Target="../media/image28.png"/><Relationship Id="rId10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/Relationships>
</file>

<file path=ppt/slides/_rels/slide1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6.png"/><Relationship Id="rId3" Type="http://schemas.openxmlformats.org/officeDocument/2006/relationships/image" Target="../media/image17.png"/><Relationship Id="rId7" Type="http://schemas.openxmlformats.org/officeDocument/2006/relationships/image" Target="../media/image4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53.png"/><Relationship Id="rId5" Type="http://schemas.openxmlformats.org/officeDocument/2006/relationships/image" Target="../media/image28.png"/><Relationship Id="rId10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6.png"/><Relationship Id="rId3" Type="http://schemas.openxmlformats.org/officeDocument/2006/relationships/image" Target="../media/image17.png"/><Relationship Id="rId7" Type="http://schemas.openxmlformats.org/officeDocument/2006/relationships/image" Target="../media/image4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53.png"/><Relationship Id="rId5" Type="http://schemas.openxmlformats.org/officeDocument/2006/relationships/image" Target="../media/image28.png"/><Relationship Id="rId10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/Relationships>
</file>

<file path=ppt/slides/_rels/slide1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6.png"/><Relationship Id="rId3" Type="http://schemas.openxmlformats.org/officeDocument/2006/relationships/image" Target="../media/image17.png"/><Relationship Id="rId7" Type="http://schemas.openxmlformats.org/officeDocument/2006/relationships/image" Target="../media/image4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53.png"/><Relationship Id="rId5" Type="http://schemas.openxmlformats.org/officeDocument/2006/relationships/image" Target="../media/image28.png"/><Relationship Id="rId10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6.png"/><Relationship Id="rId3" Type="http://schemas.openxmlformats.org/officeDocument/2006/relationships/image" Target="../media/image17.png"/><Relationship Id="rId7" Type="http://schemas.openxmlformats.org/officeDocument/2006/relationships/image" Target="../media/image4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53.png"/><Relationship Id="rId5" Type="http://schemas.openxmlformats.org/officeDocument/2006/relationships/image" Target="../media/image28.png"/><Relationship Id="rId10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/Relationships>
</file>

<file path=ppt/slides/_rels/slide1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6.png"/><Relationship Id="rId3" Type="http://schemas.openxmlformats.org/officeDocument/2006/relationships/image" Target="../media/image17.png"/><Relationship Id="rId7" Type="http://schemas.openxmlformats.org/officeDocument/2006/relationships/image" Target="../media/image40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53.png"/><Relationship Id="rId5" Type="http://schemas.openxmlformats.org/officeDocument/2006/relationships/image" Target="../media/image28.png"/><Relationship Id="rId10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Relationship Id="rId14" Type="http://schemas.openxmlformats.org/officeDocument/2006/relationships/image" Target="../media/image57.png"/></Relationships>
</file>

<file path=ppt/slides/_rels/slide1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17.png"/><Relationship Id="rId7" Type="http://schemas.openxmlformats.org/officeDocument/2006/relationships/image" Target="../media/image40.png"/><Relationship Id="rId12" Type="http://schemas.openxmlformats.org/officeDocument/2006/relationships/image" Target="../media/image13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85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53.png"/><Relationship Id="rId5" Type="http://schemas.openxmlformats.org/officeDocument/2006/relationships/image" Target="../media/image28.png"/><Relationship Id="rId15" Type="http://schemas.openxmlformats.org/officeDocument/2006/relationships/image" Target="../media/image58.png"/><Relationship Id="rId10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Relationship Id="rId14" Type="http://schemas.openxmlformats.org/officeDocument/2006/relationships/image" Target="../media/image57.png"/></Relationships>
</file>

<file path=ppt/slides/_rels/slide1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9.png"/><Relationship Id="rId3" Type="http://schemas.openxmlformats.org/officeDocument/2006/relationships/image" Target="../media/image17.png"/><Relationship Id="rId7" Type="http://schemas.openxmlformats.org/officeDocument/2006/relationships/image" Target="../media/image40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86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53.png"/><Relationship Id="rId5" Type="http://schemas.openxmlformats.org/officeDocument/2006/relationships/image" Target="../media/image28.png"/><Relationship Id="rId15" Type="http://schemas.openxmlformats.org/officeDocument/2006/relationships/image" Target="../media/image61.png"/><Relationship Id="rId10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Relationship Id="rId14" Type="http://schemas.openxmlformats.org/officeDocument/2006/relationships/image" Target="../media/image60.png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7.png"/><Relationship Id="rId7" Type="http://schemas.openxmlformats.org/officeDocument/2006/relationships/image" Target="../media/image40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11" Type="http://schemas.openxmlformats.org/officeDocument/2006/relationships/image" Target="../media/image53.png"/><Relationship Id="rId5" Type="http://schemas.openxmlformats.org/officeDocument/2006/relationships/image" Target="../media/image28.png"/><Relationship Id="rId10" Type="http://schemas.openxmlformats.org/officeDocument/2006/relationships/image" Target="../media/image46.png"/><Relationship Id="rId4" Type="http://schemas.openxmlformats.org/officeDocument/2006/relationships/image" Target="../media/image19.png"/><Relationship Id="rId9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 1">
            <a:extLst>
              <a:ext uri="{FF2B5EF4-FFF2-40B4-BE49-F238E27FC236}">
                <a16:creationId xmlns:a16="http://schemas.microsoft.com/office/drawing/2014/main" id="{69A7DB49-B5CF-3460-9B22-0519BD05D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3249540"/>
            <a:ext cx="9144000" cy="1373260"/>
          </a:xfrm>
        </p:spPr>
        <p:txBody>
          <a:bodyPr>
            <a:normAutofit/>
          </a:bodyPr>
          <a:lstStyle/>
          <a:p>
            <a:r>
              <a:rPr lang="en-US" sz="3600" i="1" dirty="0"/>
              <a:t>Neural and Behavioral State Switching During Hippocampal Dentate Spikes</a:t>
            </a:r>
          </a:p>
        </p:txBody>
      </p:sp>
      <p:sp>
        <p:nvSpPr>
          <p:cNvPr id="3" name="!!Subtitle 2">
            <a:extLst>
              <a:ext uri="{FF2B5EF4-FFF2-40B4-BE49-F238E27FC236}">
                <a16:creationId xmlns:a16="http://schemas.microsoft.com/office/drawing/2014/main" id="{89953DB1-3A97-40AF-8E11-71B053AA9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428540"/>
            <a:ext cx="10432026" cy="4273622"/>
          </a:xfrm>
        </p:spPr>
        <p:txBody>
          <a:bodyPr>
            <a:normAutofit/>
          </a:bodyPr>
          <a:lstStyle/>
          <a:p>
            <a:r>
              <a:rPr lang="en-US" sz="3200" b="1" dirty="0"/>
              <a:t>Beyond the "Online/Offline" Binary: How the Brain Grounds Itself in Reality</a:t>
            </a:r>
            <a:endParaRPr lang="en-US" sz="2000" b="1" dirty="0"/>
          </a:p>
          <a:p>
            <a:r>
              <a:rPr lang="da-DK" sz="1600" b="1" dirty="0"/>
              <a:t>Analysis of Farrell et al., </a:t>
            </a:r>
            <a:r>
              <a:rPr lang="da-DK" sz="1600" b="1" i="1" dirty="0"/>
              <a:t>Nature</a:t>
            </a:r>
            <a:r>
              <a:rPr lang="da-DK" sz="1600" b="1" dirty="0"/>
              <a:t> (2024)</a:t>
            </a:r>
          </a:p>
          <a:p>
            <a:endParaRPr lang="da-DK" sz="1600" b="1" dirty="0"/>
          </a:p>
          <a:p>
            <a:endParaRPr lang="da-DK" sz="1600" b="1" dirty="0"/>
          </a:p>
          <a:p>
            <a:endParaRPr lang="da-DK" sz="1600" b="1" dirty="0"/>
          </a:p>
          <a:p>
            <a:endParaRPr lang="da-DK" sz="1600" b="1" dirty="0"/>
          </a:p>
          <a:p>
            <a:endParaRPr lang="da-DK" sz="1600" b="1" dirty="0"/>
          </a:p>
          <a:p>
            <a:r>
              <a:rPr lang="da-DK" sz="1600" dirty="0"/>
              <a:t>Feburary 11th – Presented By: Shahriar Tafti</a:t>
            </a:r>
            <a:endParaRPr lang="en-US" dirty="0"/>
          </a:p>
        </p:txBody>
      </p:sp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E2378471-97E7-B335-418B-D4C880D2F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29400" y="1703566"/>
            <a:ext cx="3013829" cy="16639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0F02D4-9538-60FF-BE7C-9F472BA950C0}"/>
              </a:ext>
            </a:extLst>
          </p:cNvPr>
          <p:cNvSpPr txBox="1"/>
          <p:nvPr/>
        </p:nvSpPr>
        <p:spPr>
          <a:xfrm>
            <a:off x="-5890166" y="905320"/>
            <a:ext cx="35136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Online / Theta State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6BAA32-AC45-5FE5-EF42-14443AA3796B}"/>
              </a:ext>
            </a:extLst>
          </p:cNvPr>
          <p:cNvCxnSpPr>
            <a:cxnSpLocks/>
          </p:cNvCxnSpPr>
          <p:nvPr/>
        </p:nvCxnSpPr>
        <p:spPr>
          <a:xfrm flipH="1">
            <a:off x="-1013366" y="1066800"/>
            <a:ext cx="6646" cy="27097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E75330C-8038-37DE-E95F-CCFAA46E97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06" t="11353" r="24507"/>
          <a:stretch>
            <a:fillRect/>
          </a:stretch>
        </p:blipFill>
        <p:spPr>
          <a:xfrm>
            <a:off x="-3464234" y="1600200"/>
            <a:ext cx="1311241" cy="217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2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!!M3">
            <a:extLst>
              <a:ext uri="{FF2B5EF4-FFF2-40B4-BE49-F238E27FC236}">
                <a16:creationId xmlns:a16="http://schemas.microsoft.com/office/drawing/2014/main" id="{4C73F510-B9A5-B29D-AB72-4E2CDA572180}"/>
              </a:ext>
            </a:extLst>
          </p:cNvPr>
          <p:cNvSpPr/>
          <p:nvPr/>
        </p:nvSpPr>
        <p:spPr>
          <a:xfrm>
            <a:off x="1524001" y="8057577"/>
            <a:ext cx="9143998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!!M2">
            <a:extLst>
              <a:ext uri="{FF2B5EF4-FFF2-40B4-BE49-F238E27FC236}">
                <a16:creationId xmlns:a16="http://schemas.microsoft.com/office/drawing/2014/main" id="{F28BC903-E2B9-A3B2-CAF3-FB07DE83786B}"/>
              </a:ext>
            </a:extLst>
          </p:cNvPr>
          <p:cNvSpPr/>
          <p:nvPr/>
        </p:nvSpPr>
        <p:spPr>
          <a:xfrm>
            <a:off x="1524001" y="8057577"/>
            <a:ext cx="9143998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M1">
            <a:extLst>
              <a:ext uri="{FF2B5EF4-FFF2-40B4-BE49-F238E27FC236}">
                <a16:creationId xmlns:a16="http://schemas.microsoft.com/office/drawing/2014/main" id="{396FB510-A260-80EA-D238-924F5C7B74BA}"/>
              </a:ext>
            </a:extLst>
          </p:cNvPr>
          <p:cNvSpPr/>
          <p:nvPr/>
        </p:nvSpPr>
        <p:spPr>
          <a:xfrm>
            <a:off x="1530647" y="8064722"/>
            <a:ext cx="9143998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2F43CC-7424-CDAE-8FC4-7DFA2CE61E21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F5AFE-E10C-A400-2202-804311B5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47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The "Online" vs. "Offline“ Gap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D43BD93-9BF8-C375-039D-737378813D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79966" y="1703566"/>
            <a:ext cx="3013829" cy="16639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ED3EBF-3047-E28A-1492-90B4F941B713}"/>
              </a:ext>
            </a:extLst>
          </p:cNvPr>
          <p:cNvSpPr txBox="1"/>
          <p:nvPr/>
        </p:nvSpPr>
        <p:spPr>
          <a:xfrm>
            <a:off x="1219200" y="905320"/>
            <a:ext cx="35136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Online / Theta State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B6682F8-285F-85F1-F481-D4CA539389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106" t="11353" r="24507"/>
          <a:stretch>
            <a:fillRect/>
          </a:stretch>
        </p:blipFill>
        <p:spPr>
          <a:xfrm>
            <a:off x="3645132" y="1600200"/>
            <a:ext cx="1311241" cy="2176318"/>
          </a:xfrm>
          <a:prstGeom prst="rect">
            <a:avLst/>
          </a:prstGeom>
        </p:spPr>
      </p:pic>
      <p:sp>
        <p:nvSpPr>
          <p:cNvPr id="33" name="Rectangle 4">
            <a:extLst>
              <a:ext uri="{FF2B5EF4-FFF2-40B4-BE49-F238E27FC236}">
                <a16:creationId xmlns:a16="http://schemas.microsoft.com/office/drawing/2014/main" id="{7053B66C-082A-701A-AFAF-9A2BF9E2C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648" y="8351699"/>
            <a:ext cx="9130705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Paradox: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When "offline" (SPW-R), the brain is disconnected from sensory input.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Question: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How does a resting animal monitor threats or update its location?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E27705F1-A266-98F7-D263-9AAAABF6E93B}"/>
              </a:ext>
            </a:extLst>
          </p:cNvPr>
          <p:cNvSpPr>
            <a:spLocks/>
          </p:cNvSpPr>
          <p:nvPr/>
        </p:nvSpPr>
        <p:spPr>
          <a:xfrm>
            <a:off x="914400" y="7010400"/>
            <a:ext cx="3505200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High-arousal (Online) and Rest (Offline) State have been well characterized</a:t>
            </a:r>
          </a:p>
        </p:txBody>
      </p:sp>
      <p:pic>
        <p:nvPicPr>
          <p:cNvPr id="7" name="Content Placeholder 11">
            <a:extLst>
              <a:ext uri="{FF2B5EF4-FFF2-40B4-BE49-F238E27FC236}">
                <a16:creationId xmlns:a16="http://schemas.microsoft.com/office/drawing/2014/main" id="{C8726220-8007-2C66-AC00-C9FBBB7AF5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13181120" y="2133600"/>
            <a:ext cx="3245906" cy="14602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3FF18F-3575-62D3-1636-ECF0F7C53F1F}"/>
              </a:ext>
            </a:extLst>
          </p:cNvPr>
          <p:cNvSpPr txBox="1"/>
          <p:nvPr/>
        </p:nvSpPr>
        <p:spPr>
          <a:xfrm>
            <a:off x="13430407" y="905320"/>
            <a:ext cx="47051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Offline / Sharp-Wave Ripple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F9B23B-A54B-D70F-10E5-218C6E5E99D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977" t="7103" b="2832"/>
          <a:stretch>
            <a:fillRect/>
          </a:stretch>
        </p:blipFill>
        <p:spPr>
          <a:xfrm>
            <a:off x="16352215" y="1531559"/>
            <a:ext cx="1328160" cy="232202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A23A68-99DD-D46C-8F73-9D55B8C8E5B7}"/>
              </a:ext>
            </a:extLst>
          </p:cNvPr>
          <p:cNvCxnSpPr>
            <a:cxnSpLocks/>
          </p:cNvCxnSpPr>
          <p:nvPr/>
        </p:nvCxnSpPr>
        <p:spPr>
          <a:xfrm flipH="1">
            <a:off x="5943600" y="1066800"/>
            <a:ext cx="6646" cy="27097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AutoShape 2" descr="Question Emoji PNG Transparent Images Free Download | Vector Files | Pngtree">
            <a:extLst>
              <a:ext uri="{FF2B5EF4-FFF2-40B4-BE49-F238E27FC236}">
                <a16:creationId xmlns:a16="http://schemas.microsoft.com/office/drawing/2014/main" id="{DCF88DC3-5D00-7EBF-4892-1959F12DE2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687800" y="3804200"/>
            <a:ext cx="858887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100" b="1" dirty="0"/>
              <a:t>Time (</a:t>
            </a:r>
            <a:r>
              <a:rPr lang="en-US" sz="1100" b="1" dirty="0" err="1"/>
              <a:t>ms</a:t>
            </a:r>
            <a:r>
              <a:rPr lang="en-US" sz="11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577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ECD57-1A59-7237-CB71-A3F3ED41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2902737-52F0-BBCC-7AA8-3AEB0227B7F2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06187-51F8-4032-792E-B5FA00743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47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The "Online" vs. "Offline“ Gap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7EC1C42-D952-D5E0-AE26-1B6061CE7C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79966" y="1703566"/>
            <a:ext cx="3013829" cy="1663922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0151262-C9A5-A4CE-2B6E-648B35C8C4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53200" y="2133600"/>
            <a:ext cx="3245906" cy="14602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EA91E50-E4CB-F954-F638-B42E423A42CF}"/>
              </a:ext>
            </a:extLst>
          </p:cNvPr>
          <p:cNvSpPr txBox="1"/>
          <p:nvPr/>
        </p:nvSpPr>
        <p:spPr>
          <a:xfrm>
            <a:off x="1219200" y="905320"/>
            <a:ext cx="35136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Online / Theta 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253A13-19BA-E6BD-4164-FA6BF816FFC3}"/>
              </a:ext>
            </a:extLst>
          </p:cNvPr>
          <p:cNvSpPr txBox="1"/>
          <p:nvPr/>
        </p:nvSpPr>
        <p:spPr>
          <a:xfrm>
            <a:off x="6802487" y="905320"/>
            <a:ext cx="47051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Offline / Sharp-Wave Ripple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7683BB8-8E0F-60C5-C97D-56049468DA38}"/>
              </a:ext>
            </a:extLst>
          </p:cNvPr>
          <p:cNvCxnSpPr>
            <a:cxnSpLocks/>
          </p:cNvCxnSpPr>
          <p:nvPr/>
        </p:nvCxnSpPr>
        <p:spPr>
          <a:xfrm flipH="1">
            <a:off x="5943600" y="1066800"/>
            <a:ext cx="6646" cy="27097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2A2D2B6D-8F44-4ED6-7C1A-9A82E16E48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77" t="7103" b="2832"/>
          <a:stretch>
            <a:fillRect/>
          </a:stretch>
        </p:blipFill>
        <p:spPr>
          <a:xfrm>
            <a:off x="9724295" y="1531559"/>
            <a:ext cx="1328160" cy="23220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889F235-3A1A-ACB8-5221-4EFD4AB1B1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106" t="11353" r="24507"/>
          <a:stretch>
            <a:fillRect/>
          </a:stretch>
        </p:blipFill>
        <p:spPr>
          <a:xfrm>
            <a:off x="3645132" y="1600200"/>
            <a:ext cx="1311241" cy="2176318"/>
          </a:xfrm>
          <a:prstGeom prst="rect">
            <a:avLst/>
          </a:prstGeom>
        </p:spPr>
      </p:pic>
      <p:sp>
        <p:nvSpPr>
          <p:cNvPr id="4" name="!!M1">
            <a:extLst>
              <a:ext uri="{FF2B5EF4-FFF2-40B4-BE49-F238E27FC236}">
                <a16:creationId xmlns:a16="http://schemas.microsoft.com/office/drawing/2014/main" id="{BC77D48F-5483-1C25-CDA2-42005B07995D}"/>
              </a:ext>
            </a:extLst>
          </p:cNvPr>
          <p:cNvSpPr/>
          <p:nvPr/>
        </p:nvSpPr>
        <p:spPr>
          <a:xfrm>
            <a:off x="6268974" y="6950807"/>
            <a:ext cx="3502152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Authors Goal: </a:t>
            </a:r>
            <a:r>
              <a:rPr lang="en-US" dirty="0"/>
              <a:t>Attempt to characterize the Neural Mechanism during a shift from Offline to Online</a:t>
            </a:r>
          </a:p>
        </p:txBody>
      </p:sp>
      <p:sp>
        <p:nvSpPr>
          <p:cNvPr id="7" name="!!M3">
            <a:extLst>
              <a:ext uri="{FF2B5EF4-FFF2-40B4-BE49-F238E27FC236}">
                <a16:creationId xmlns:a16="http://schemas.microsoft.com/office/drawing/2014/main" id="{33C9DA35-1F31-7F39-CD61-2F02D1D913AD}"/>
              </a:ext>
            </a:extLst>
          </p:cNvPr>
          <p:cNvSpPr>
            <a:spLocks/>
          </p:cNvSpPr>
          <p:nvPr/>
        </p:nvSpPr>
        <p:spPr>
          <a:xfrm>
            <a:off x="2420874" y="6938329"/>
            <a:ext cx="3505200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The missing gaps: </a:t>
            </a:r>
            <a:r>
              <a:rPr lang="en-US" dirty="0">
                <a:solidFill>
                  <a:schemeClr val="bg1"/>
                </a:solidFill>
              </a:rPr>
              <a:t>Not well understood how the brain switches state</a:t>
            </a:r>
          </a:p>
        </p:txBody>
      </p:sp>
      <p:sp>
        <p:nvSpPr>
          <p:cNvPr id="3" name="AutoShape 2" descr="Question Emoji PNG Transparent Images Free Download | Vector Files | Pngtree">
            <a:extLst>
              <a:ext uri="{FF2B5EF4-FFF2-40B4-BE49-F238E27FC236}">
                <a16:creationId xmlns:a16="http://schemas.microsoft.com/office/drawing/2014/main" id="{60A34709-C496-EC75-73F0-3500AD10F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58931" y="3804200"/>
            <a:ext cx="858887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100" b="1" dirty="0"/>
              <a:t>Time (</a:t>
            </a:r>
            <a:r>
              <a:rPr lang="en-US" sz="1100" b="1" dirty="0" err="1"/>
              <a:t>ms</a:t>
            </a:r>
            <a:r>
              <a:rPr lang="en-US" sz="11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2827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3DC47-A435-F84E-AC87-07CAC76F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81A2ABA-F66F-3D05-FDC2-8CD92614B9C5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F3133A-B4E4-6826-3639-30C7A5A0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47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The "Online" vs. "Offline“ Gap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665BD6F-C4D5-033C-C631-E27DB10C75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79966" y="1703566"/>
            <a:ext cx="3013829" cy="1663922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AF74B6C-B087-DE93-E6C6-DDBC3A5EE4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53200" y="2133600"/>
            <a:ext cx="3245906" cy="14602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D094FE-10CE-2905-C31E-588381E0F37E}"/>
              </a:ext>
            </a:extLst>
          </p:cNvPr>
          <p:cNvSpPr txBox="1"/>
          <p:nvPr/>
        </p:nvSpPr>
        <p:spPr>
          <a:xfrm>
            <a:off x="1219200" y="905320"/>
            <a:ext cx="35136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Online / Theta 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622937-42D8-A7B6-6B43-39DF47B60498}"/>
              </a:ext>
            </a:extLst>
          </p:cNvPr>
          <p:cNvSpPr txBox="1"/>
          <p:nvPr/>
        </p:nvSpPr>
        <p:spPr>
          <a:xfrm>
            <a:off x="6802487" y="905320"/>
            <a:ext cx="47051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Offline / Sharp-Wave Ripple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76AC2CC-026B-75A5-DDC6-C3FE30F40051}"/>
              </a:ext>
            </a:extLst>
          </p:cNvPr>
          <p:cNvCxnSpPr>
            <a:cxnSpLocks/>
          </p:cNvCxnSpPr>
          <p:nvPr/>
        </p:nvCxnSpPr>
        <p:spPr>
          <a:xfrm flipH="1">
            <a:off x="5943600" y="1066800"/>
            <a:ext cx="6646" cy="27097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4EAF6540-4AC9-547A-A83C-F2AE04AB03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77" t="7103" b="2832"/>
          <a:stretch>
            <a:fillRect/>
          </a:stretch>
        </p:blipFill>
        <p:spPr>
          <a:xfrm>
            <a:off x="9724295" y="1531559"/>
            <a:ext cx="1328160" cy="23220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D083787-F15C-3668-E702-12C9FCA9FF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106" t="11353" r="24507"/>
          <a:stretch>
            <a:fillRect/>
          </a:stretch>
        </p:blipFill>
        <p:spPr>
          <a:xfrm>
            <a:off x="3645132" y="1600200"/>
            <a:ext cx="1311241" cy="2176318"/>
          </a:xfrm>
          <a:prstGeom prst="rect">
            <a:avLst/>
          </a:prstGeom>
        </p:spPr>
      </p:pic>
      <p:sp>
        <p:nvSpPr>
          <p:cNvPr id="4" name="!!M1">
            <a:extLst>
              <a:ext uri="{FF2B5EF4-FFF2-40B4-BE49-F238E27FC236}">
                <a16:creationId xmlns:a16="http://schemas.microsoft.com/office/drawing/2014/main" id="{EC3AB34C-9BD8-0FA4-4469-1C0A99993849}"/>
              </a:ext>
            </a:extLst>
          </p:cNvPr>
          <p:cNvSpPr/>
          <p:nvPr/>
        </p:nvSpPr>
        <p:spPr>
          <a:xfrm>
            <a:off x="6268974" y="7315200"/>
            <a:ext cx="3502152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Authors Goal: </a:t>
            </a:r>
            <a:r>
              <a:rPr lang="en-US" dirty="0"/>
              <a:t>Attempt to characterize the Neural Mechanism during a shift from Offline to Online</a:t>
            </a:r>
          </a:p>
        </p:txBody>
      </p:sp>
      <p:sp>
        <p:nvSpPr>
          <p:cNvPr id="7" name="!!M3">
            <a:extLst>
              <a:ext uri="{FF2B5EF4-FFF2-40B4-BE49-F238E27FC236}">
                <a16:creationId xmlns:a16="http://schemas.microsoft.com/office/drawing/2014/main" id="{0C0B746A-6275-513E-26D1-B928829A5C9A}"/>
              </a:ext>
            </a:extLst>
          </p:cNvPr>
          <p:cNvSpPr>
            <a:spLocks/>
          </p:cNvSpPr>
          <p:nvPr/>
        </p:nvSpPr>
        <p:spPr>
          <a:xfrm>
            <a:off x="2420874" y="4483322"/>
            <a:ext cx="3505200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The missing gaps: </a:t>
            </a:r>
            <a:r>
              <a:rPr lang="en-US" dirty="0">
                <a:solidFill>
                  <a:schemeClr val="bg1"/>
                </a:solidFill>
              </a:rPr>
              <a:t>Not well understood how the brain switches state</a:t>
            </a:r>
          </a:p>
        </p:txBody>
      </p:sp>
      <p:sp>
        <p:nvSpPr>
          <p:cNvPr id="3" name="AutoShape 2" descr="Question Emoji PNG Transparent Images Free Download | Vector Files | Pngtree">
            <a:extLst>
              <a:ext uri="{FF2B5EF4-FFF2-40B4-BE49-F238E27FC236}">
                <a16:creationId xmlns:a16="http://schemas.microsoft.com/office/drawing/2014/main" id="{291FE700-90E5-7DD5-59E8-3DA42CAEE4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58931" y="3804200"/>
            <a:ext cx="858887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100" b="1" dirty="0"/>
              <a:t>Time (</a:t>
            </a:r>
            <a:r>
              <a:rPr lang="en-US" sz="1100" b="1" dirty="0" err="1"/>
              <a:t>ms</a:t>
            </a:r>
            <a:r>
              <a:rPr lang="en-US" sz="11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2836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F7FFC-B0AC-B070-6C8E-0500E30EC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3A5ED1E-710B-9E16-5E2D-1EC95EA4698C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1A3C3-D1A4-C80F-B357-C6E91449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47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The "Online" vs. "Offline“ Gap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4618377-AF02-C754-EDCF-82A03009D9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79966" y="1703566"/>
            <a:ext cx="3013829" cy="1663922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C953FAB-1B48-E0B7-E9C1-C9AF386A4A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553200" y="2133600"/>
            <a:ext cx="3245906" cy="14602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1DCEA3-C9A2-E027-1EAB-339C62C02DF0}"/>
              </a:ext>
            </a:extLst>
          </p:cNvPr>
          <p:cNvSpPr txBox="1"/>
          <p:nvPr/>
        </p:nvSpPr>
        <p:spPr>
          <a:xfrm>
            <a:off x="1219200" y="905320"/>
            <a:ext cx="35136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Online / Theta 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59AA96-70AB-ED8C-FD6F-6E88E1E21263}"/>
              </a:ext>
            </a:extLst>
          </p:cNvPr>
          <p:cNvSpPr txBox="1"/>
          <p:nvPr/>
        </p:nvSpPr>
        <p:spPr>
          <a:xfrm>
            <a:off x="6802487" y="905320"/>
            <a:ext cx="47051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Offline / Sharp-Wave Ripple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8CC24F-62C2-63AA-649B-4AE2E27F26BC}"/>
              </a:ext>
            </a:extLst>
          </p:cNvPr>
          <p:cNvCxnSpPr>
            <a:cxnSpLocks/>
          </p:cNvCxnSpPr>
          <p:nvPr/>
        </p:nvCxnSpPr>
        <p:spPr>
          <a:xfrm flipH="1">
            <a:off x="5943600" y="1066800"/>
            <a:ext cx="6646" cy="27097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336AE9AD-8F9A-79EF-54A6-5A19D7CFA3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77" t="7103" b="2832"/>
          <a:stretch>
            <a:fillRect/>
          </a:stretch>
        </p:blipFill>
        <p:spPr>
          <a:xfrm>
            <a:off x="9724295" y="1531559"/>
            <a:ext cx="1328160" cy="23220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C2BF570-0656-417D-8A5E-CD270CD680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106" t="11353" r="24507"/>
          <a:stretch>
            <a:fillRect/>
          </a:stretch>
        </p:blipFill>
        <p:spPr>
          <a:xfrm>
            <a:off x="3645132" y="1600200"/>
            <a:ext cx="1311241" cy="2176318"/>
          </a:xfrm>
          <a:prstGeom prst="rect">
            <a:avLst/>
          </a:prstGeom>
        </p:spPr>
      </p:pic>
      <p:sp>
        <p:nvSpPr>
          <p:cNvPr id="3" name="!!M1">
            <a:extLst>
              <a:ext uri="{FF2B5EF4-FFF2-40B4-BE49-F238E27FC236}">
                <a16:creationId xmlns:a16="http://schemas.microsoft.com/office/drawing/2014/main" id="{6A2CA9F9-BE91-351A-57AF-83DC0A3975B8}"/>
              </a:ext>
            </a:extLst>
          </p:cNvPr>
          <p:cNvSpPr/>
          <p:nvPr/>
        </p:nvSpPr>
        <p:spPr>
          <a:xfrm>
            <a:off x="6268974" y="4495800"/>
            <a:ext cx="3502152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Authors Goal: </a:t>
            </a:r>
            <a:r>
              <a:rPr lang="en-US" dirty="0"/>
              <a:t>Attempt to characterize the Neural Mechanism during a shift from Offline to Online</a:t>
            </a:r>
          </a:p>
        </p:txBody>
      </p:sp>
      <p:sp>
        <p:nvSpPr>
          <p:cNvPr id="6" name="!!M3">
            <a:extLst>
              <a:ext uri="{FF2B5EF4-FFF2-40B4-BE49-F238E27FC236}">
                <a16:creationId xmlns:a16="http://schemas.microsoft.com/office/drawing/2014/main" id="{F915A762-6B37-5B10-B061-6BAA318B865B}"/>
              </a:ext>
            </a:extLst>
          </p:cNvPr>
          <p:cNvSpPr>
            <a:spLocks/>
          </p:cNvSpPr>
          <p:nvPr/>
        </p:nvSpPr>
        <p:spPr>
          <a:xfrm>
            <a:off x="2420874" y="4483322"/>
            <a:ext cx="3505200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The missing gaps: </a:t>
            </a:r>
            <a:r>
              <a:rPr lang="en-US" dirty="0">
                <a:solidFill>
                  <a:schemeClr val="bg1"/>
                </a:solidFill>
              </a:rPr>
              <a:t>Not well understood how the brain switches state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678921-861F-E6E6-A9D8-083BD5C5A121}"/>
              </a:ext>
            </a:extLst>
          </p:cNvPr>
          <p:cNvSpPr txBox="1"/>
          <p:nvPr/>
        </p:nvSpPr>
        <p:spPr>
          <a:xfrm>
            <a:off x="10134600" y="3853581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AutoShape 2" descr="Question Emoji PNG Transparent Images Free Download | Vector Files | Pngtree">
            <a:extLst>
              <a:ext uri="{FF2B5EF4-FFF2-40B4-BE49-F238E27FC236}">
                <a16:creationId xmlns:a16="http://schemas.microsoft.com/office/drawing/2014/main" id="{846ED214-EDB7-2F86-7C63-EA53589F94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958931" y="3804200"/>
            <a:ext cx="858887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100" b="1" dirty="0"/>
              <a:t>Time (</a:t>
            </a:r>
            <a:r>
              <a:rPr lang="en-US" sz="1100" b="1" dirty="0" err="1"/>
              <a:t>ms</a:t>
            </a:r>
            <a:r>
              <a:rPr lang="en-US" sz="11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0719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10847-1F0F-C321-1E12-A549DAF29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9155F5-1DB6-C744-72DF-AEE55641D700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9FEA4-884E-ECDB-FE41-E8BB8F247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47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The "Online" vs. "Offline" Gap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BFC4DF-9B9B-1649-EBAE-442EA89BA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4048" y="723533"/>
            <a:ext cx="4343400" cy="45342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D2FEFE-B03A-18DB-05BF-07742FCE8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984" y="714019"/>
            <a:ext cx="4488016" cy="44695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DE86F79-FA16-1004-2D8F-21D401A38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308" y="765026"/>
            <a:ext cx="4263892" cy="4340374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612725-F317-A41B-DBD5-114F19CE6B30}"/>
              </a:ext>
            </a:extLst>
          </p:cNvPr>
          <p:cNvCxnSpPr>
            <a:cxnSpLocks/>
          </p:cNvCxnSpPr>
          <p:nvPr/>
        </p:nvCxnSpPr>
        <p:spPr>
          <a:xfrm>
            <a:off x="2183031" y="3886200"/>
            <a:ext cx="208416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7867479-0EE4-25EE-3A59-0B4F65C9D6F5}"/>
              </a:ext>
            </a:extLst>
          </p:cNvPr>
          <p:cNvCxnSpPr>
            <a:cxnSpLocks/>
          </p:cNvCxnSpPr>
          <p:nvPr/>
        </p:nvCxnSpPr>
        <p:spPr>
          <a:xfrm>
            <a:off x="6450231" y="3886200"/>
            <a:ext cx="208416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4">
            <a:extLst>
              <a:ext uri="{FF2B5EF4-FFF2-40B4-BE49-F238E27FC236}">
                <a16:creationId xmlns:a16="http://schemas.microsoft.com/office/drawing/2014/main" id="{683EAC6A-4AEF-0329-5470-346AC283A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652" y="5337726"/>
            <a:ext cx="8149988" cy="739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How does the brain snap back to reality?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Spoilers aren't all rotten, they can enhance thrills for some moviegoers -  UMaine News - University of Maine">
            <a:extLst>
              <a:ext uri="{FF2B5EF4-FFF2-40B4-BE49-F238E27FC236}">
                <a16:creationId xmlns:a16="http://schemas.microsoft.com/office/drawing/2014/main" id="{1B1B31B2-0811-7504-A96E-42114CBB1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45" y="1877105"/>
            <a:ext cx="2460845" cy="13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4">
            <a:extLst>
              <a:ext uri="{FF2B5EF4-FFF2-40B4-BE49-F238E27FC236}">
                <a16:creationId xmlns:a16="http://schemas.microsoft.com/office/drawing/2014/main" id="{FDE12943-B34F-58A4-459D-3863D6D27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608" y="2292697"/>
            <a:ext cx="6938638" cy="130625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6000" i="0" u="none" strike="noStrike" normalizeH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The Dentate Spike!</a:t>
            </a:r>
          </a:p>
        </p:txBody>
      </p:sp>
      <p:sp>
        <p:nvSpPr>
          <p:cNvPr id="5" name="!!M3">
            <a:extLst>
              <a:ext uri="{FF2B5EF4-FFF2-40B4-BE49-F238E27FC236}">
                <a16:creationId xmlns:a16="http://schemas.microsoft.com/office/drawing/2014/main" id="{3CBC2B6E-AA15-9AB8-D219-356C15F6149F}"/>
              </a:ext>
            </a:extLst>
          </p:cNvPr>
          <p:cNvSpPr>
            <a:spLocks/>
          </p:cNvSpPr>
          <p:nvPr/>
        </p:nvSpPr>
        <p:spPr>
          <a:xfrm>
            <a:off x="1646170" y="5102862"/>
            <a:ext cx="8439149" cy="103007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</a:rPr>
              <a:t>How does the brain snap back to reality?</a:t>
            </a:r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050" name="Picture 2" descr="Top Picks: Eminem | Chicago Public Library">
            <a:extLst>
              <a:ext uri="{FF2B5EF4-FFF2-40B4-BE49-F238E27FC236}">
                <a16:creationId xmlns:a16="http://schemas.microsoft.com/office/drawing/2014/main" id="{B1E0391D-ECD0-6A27-9D4B-59DA433E1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5366" y="4540402"/>
            <a:ext cx="3211190" cy="192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!!M1">
            <a:extLst>
              <a:ext uri="{FF2B5EF4-FFF2-40B4-BE49-F238E27FC236}">
                <a16:creationId xmlns:a16="http://schemas.microsoft.com/office/drawing/2014/main" id="{00355A84-6455-595D-AF1B-797E496F1090}"/>
              </a:ext>
            </a:extLst>
          </p:cNvPr>
          <p:cNvSpPr/>
          <p:nvPr/>
        </p:nvSpPr>
        <p:spPr>
          <a:xfrm>
            <a:off x="13487400" y="4495800"/>
            <a:ext cx="3502152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Authors Goal: </a:t>
            </a:r>
            <a:r>
              <a:rPr lang="en-US" dirty="0"/>
              <a:t>Attempt to characterize the Neural Mechanism during a shift from Offline to Online</a:t>
            </a:r>
          </a:p>
        </p:txBody>
      </p:sp>
      <p:sp>
        <p:nvSpPr>
          <p:cNvPr id="9" name="!!M3">
            <a:extLst>
              <a:ext uri="{FF2B5EF4-FFF2-40B4-BE49-F238E27FC236}">
                <a16:creationId xmlns:a16="http://schemas.microsoft.com/office/drawing/2014/main" id="{FECA88FF-49CA-931C-6C30-97F31DECE78B}"/>
              </a:ext>
            </a:extLst>
          </p:cNvPr>
          <p:cNvSpPr>
            <a:spLocks/>
          </p:cNvSpPr>
          <p:nvPr/>
        </p:nvSpPr>
        <p:spPr>
          <a:xfrm>
            <a:off x="-4264959" y="4483322"/>
            <a:ext cx="3505200" cy="14602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The missing gaps: </a:t>
            </a:r>
            <a:r>
              <a:rPr lang="en-US" dirty="0">
                <a:solidFill>
                  <a:schemeClr val="bg1"/>
                </a:solidFill>
              </a:rPr>
              <a:t>Not well understood how the brain switches state</a:t>
            </a:r>
          </a:p>
        </p:txBody>
      </p:sp>
      <p:pic>
        <p:nvPicPr>
          <p:cNvPr id="10" name="!!F1">
            <a:extLst>
              <a:ext uri="{FF2B5EF4-FFF2-40B4-BE49-F238E27FC236}">
                <a16:creationId xmlns:a16="http://schemas.microsoft.com/office/drawing/2014/main" id="{27239CB2-C3E3-70FC-0FBB-652119E9C28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768" r="1031"/>
          <a:stretch>
            <a:fillRect/>
          </a:stretch>
        </p:blipFill>
        <p:spPr>
          <a:xfrm>
            <a:off x="-9525703" y="751320"/>
            <a:ext cx="8382000" cy="6004560"/>
          </a:xfrm>
          <a:prstGeom prst="rect">
            <a:avLst/>
          </a:prstGeom>
        </p:spPr>
      </p:pic>
      <p:sp>
        <p:nvSpPr>
          <p:cNvPr id="12" name="!!M3">
            <a:extLst>
              <a:ext uri="{FF2B5EF4-FFF2-40B4-BE49-F238E27FC236}">
                <a16:creationId xmlns:a16="http://schemas.microsoft.com/office/drawing/2014/main" id="{6387C958-8053-C28A-EBC8-B0F59EDB3B88}"/>
              </a:ext>
            </a:extLst>
          </p:cNvPr>
          <p:cNvSpPr>
            <a:spLocks/>
          </p:cNvSpPr>
          <p:nvPr/>
        </p:nvSpPr>
        <p:spPr>
          <a:xfrm>
            <a:off x="13487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SPW-R: </a:t>
            </a:r>
            <a:r>
              <a:rPr lang="en-US" dirty="0">
                <a:solidFill>
                  <a:schemeClr val="bg1"/>
                </a:solidFill>
              </a:rPr>
              <a:t>Internal memory consolidation (Offline).</a:t>
            </a:r>
          </a:p>
        </p:txBody>
      </p:sp>
      <p:sp>
        <p:nvSpPr>
          <p:cNvPr id="13" name="!!M2">
            <a:extLst>
              <a:ext uri="{FF2B5EF4-FFF2-40B4-BE49-F238E27FC236}">
                <a16:creationId xmlns:a16="http://schemas.microsoft.com/office/drawing/2014/main" id="{E0835E07-F7DE-792C-B3A4-6D605AADB834}"/>
              </a:ext>
            </a:extLst>
          </p:cNvPr>
          <p:cNvSpPr/>
          <p:nvPr/>
        </p:nvSpPr>
        <p:spPr>
          <a:xfrm>
            <a:off x="13487400" y="23622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DS1: </a:t>
            </a:r>
            <a:r>
              <a:rPr lang="en-US" dirty="0"/>
              <a:t>Processing objects/context (LEC Input).</a:t>
            </a:r>
          </a:p>
        </p:txBody>
      </p:sp>
      <p:sp>
        <p:nvSpPr>
          <p:cNvPr id="14" name="!!M1">
            <a:extLst>
              <a:ext uri="{FF2B5EF4-FFF2-40B4-BE49-F238E27FC236}">
                <a16:creationId xmlns:a16="http://schemas.microsoft.com/office/drawing/2014/main" id="{19EC1541-ED37-BF17-059F-94939D58235C}"/>
              </a:ext>
            </a:extLst>
          </p:cNvPr>
          <p:cNvSpPr/>
          <p:nvPr/>
        </p:nvSpPr>
        <p:spPr>
          <a:xfrm>
            <a:off x="13487400" y="34290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/>
              <a:t>DS2:</a:t>
            </a:r>
            <a:r>
              <a:rPr lang="en-US" dirty="0"/>
              <a:t> Processing of spatial coordinates and arousal (MEC Input).</a:t>
            </a:r>
          </a:p>
        </p:txBody>
      </p:sp>
    </p:spTree>
    <p:extLst>
      <p:ext uri="{BB962C8B-B14F-4D97-AF65-F5344CB8AC3E}">
        <p14:creationId xmlns:p14="http://schemas.microsoft.com/office/powerpoint/2010/main" val="1471455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DC575-6B9E-1EB3-FA1F-192E9068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1839C31-B009-E5CB-C958-7317B915D1AB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AA5D42-A25A-88AB-7EE8-C66529634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</a:t>
            </a:r>
          </a:p>
        </p:txBody>
      </p:sp>
      <p:sp>
        <p:nvSpPr>
          <p:cNvPr id="29" name="!!S1">
            <a:extLst>
              <a:ext uri="{FF2B5EF4-FFF2-40B4-BE49-F238E27FC236}">
                <a16:creationId xmlns:a16="http://schemas.microsoft.com/office/drawing/2014/main" id="{7B52E51A-2613-C5AA-C0CF-C949BEA7E2C3}"/>
              </a:ext>
            </a:extLst>
          </p:cNvPr>
          <p:cNvSpPr/>
          <p:nvPr/>
        </p:nvSpPr>
        <p:spPr>
          <a:xfrm>
            <a:off x="0" y="701040"/>
            <a:ext cx="12192000" cy="6141720"/>
          </a:xfrm>
          <a:prstGeom prst="flowChartProcess">
            <a:avLst/>
          </a:prstGeom>
          <a:solidFill>
            <a:schemeClr val="dk1">
              <a:alpha val="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!!F1">
            <a:extLst>
              <a:ext uri="{FF2B5EF4-FFF2-40B4-BE49-F238E27FC236}">
                <a16:creationId xmlns:a16="http://schemas.microsoft.com/office/drawing/2014/main" id="{4162A3D0-C6FD-1AB5-5BBC-8DFD9147F4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152400" y="751320"/>
            <a:ext cx="8382000" cy="6004560"/>
          </a:xfrm>
          <a:prstGeom prst="rect">
            <a:avLst/>
          </a:prstGeom>
        </p:spPr>
      </p:pic>
      <p:sp>
        <p:nvSpPr>
          <p:cNvPr id="8" name="!!M3">
            <a:extLst>
              <a:ext uri="{FF2B5EF4-FFF2-40B4-BE49-F238E27FC236}">
                <a16:creationId xmlns:a16="http://schemas.microsoft.com/office/drawing/2014/main" id="{909AF65E-97D9-1D40-7972-EE32DA7D94BC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SPW-R: </a:t>
            </a:r>
            <a:r>
              <a:rPr lang="en-US" dirty="0">
                <a:solidFill>
                  <a:schemeClr val="bg1"/>
                </a:solidFill>
              </a:rPr>
              <a:t>Internal memory consolidation (Offline).</a:t>
            </a:r>
          </a:p>
        </p:txBody>
      </p:sp>
      <p:sp>
        <p:nvSpPr>
          <p:cNvPr id="25" name="!!M2">
            <a:extLst>
              <a:ext uri="{FF2B5EF4-FFF2-40B4-BE49-F238E27FC236}">
                <a16:creationId xmlns:a16="http://schemas.microsoft.com/office/drawing/2014/main" id="{A5288CFC-8114-1D48-2C64-A0CCDBF66A39}"/>
              </a:ext>
            </a:extLst>
          </p:cNvPr>
          <p:cNvSpPr/>
          <p:nvPr/>
        </p:nvSpPr>
        <p:spPr>
          <a:xfrm>
            <a:off x="8534400" y="23622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DS1: </a:t>
            </a:r>
            <a:r>
              <a:rPr lang="en-US" dirty="0"/>
              <a:t>Processing objects/context (LEC Input).</a:t>
            </a: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520594F6-5FE1-01D8-89D5-633A25E4A901}"/>
              </a:ext>
            </a:extLst>
          </p:cNvPr>
          <p:cNvSpPr/>
          <p:nvPr/>
        </p:nvSpPr>
        <p:spPr>
          <a:xfrm>
            <a:off x="8534400" y="34290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/>
              <a:t>DS2:</a:t>
            </a:r>
            <a:r>
              <a:rPr lang="en-US" dirty="0"/>
              <a:t> Processing of spatial coordinates and arousal (MEC Input).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2A49AA-3565-C7F2-6589-D95010FB4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4048" y="-4856367"/>
            <a:ext cx="4343400" cy="45342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BE30BD-A5BA-32EA-2E7C-0384553B9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984" y="-4865881"/>
            <a:ext cx="4488016" cy="44695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F85422-904A-BF00-79EA-07186A44E6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4308" y="-4814874"/>
            <a:ext cx="4263892" cy="434037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222B23-EF84-402C-6117-712BAD179FBD}"/>
              </a:ext>
            </a:extLst>
          </p:cNvPr>
          <p:cNvCxnSpPr>
            <a:cxnSpLocks/>
          </p:cNvCxnSpPr>
          <p:nvPr/>
        </p:nvCxnSpPr>
        <p:spPr>
          <a:xfrm>
            <a:off x="2183031" y="-1693700"/>
            <a:ext cx="208416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045A15-332D-81DC-C233-CF48582322E6}"/>
              </a:ext>
            </a:extLst>
          </p:cNvPr>
          <p:cNvCxnSpPr>
            <a:cxnSpLocks/>
          </p:cNvCxnSpPr>
          <p:nvPr/>
        </p:nvCxnSpPr>
        <p:spPr>
          <a:xfrm>
            <a:off x="6450231" y="-1693700"/>
            <a:ext cx="208416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2" descr="Spoilers aren't all rotten, they can enhance thrills for some moviegoers -  UMaine News - University of Maine">
            <a:extLst>
              <a:ext uri="{FF2B5EF4-FFF2-40B4-BE49-F238E27FC236}">
                <a16:creationId xmlns:a16="http://schemas.microsoft.com/office/drawing/2014/main" id="{F3130DBF-BC2F-F741-48BC-3653D86A2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45" y="-2518536"/>
            <a:ext cx="2460845" cy="138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37577A39-02D7-2A6D-11EE-D981B23E8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608" y="-3287203"/>
            <a:ext cx="6938638" cy="130625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6000" i="0" u="none" strike="noStrike" normalizeH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</a:rPr>
              <a:t>The Dentate Spike!</a:t>
            </a:r>
          </a:p>
        </p:txBody>
      </p:sp>
      <p:sp>
        <p:nvSpPr>
          <p:cNvPr id="13" name="!!M3">
            <a:extLst>
              <a:ext uri="{FF2B5EF4-FFF2-40B4-BE49-F238E27FC236}">
                <a16:creationId xmlns:a16="http://schemas.microsoft.com/office/drawing/2014/main" id="{B31D1392-303D-2C12-6CFE-E85E98D4588A}"/>
              </a:ext>
            </a:extLst>
          </p:cNvPr>
          <p:cNvSpPr>
            <a:spLocks/>
          </p:cNvSpPr>
          <p:nvPr/>
        </p:nvSpPr>
        <p:spPr>
          <a:xfrm>
            <a:off x="1646170" y="8240280"/>
            <a:ext cx="8439149" cy="103007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Arial" panose="020B0604020202020204" pitchFamily="34" charset="0"/>
              </a:rPr>
              <a:t>How does the brain snap back to reality?</a:t>
            </a:r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615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6070-24E8-38A4-1052-5DDC7AF64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F1">
            <a:extLst>
              <a:ext uri="{FF2B5EF4-FFF2-40B4-BE49-F238E27FC236}">
                <a16:creationId xmlns:a16="http://schemas.microsoft.com/office/drawing/2014/main" id="{A6D7FCB8-7997-1A53-3DC6-87B179A122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152400" y="751320"/>
            <a:ext cx="8382000" cy="6004560"/>
          </a:xfrm>
          <a:prstGeom prst="rect">
            <a:avLst/>
          </a:prstGeom>
        </p:spPr>
      </p:pic>
      <p:sp>
        <p:nvSpPr>
          <p:cNvPr id="20" name="!!S1_">
            <a:extLst>
              <a:ext uri="{FF2B5EF4-FFF2-40B4-BE49-F238E27FC236}">
                <a16:creationId xmlns:a16="http://schemas.microsoft.com/office/drawing/2014/main" id="{7B64295D-AE63-78D0-5E0C-6936E25CF642}"/>
              </a:ext>
            </a:extLst>
          </p:cNvPr>
          <p:cNvSpPr/>
          <p:nvPr/>
        </p:nvSpPr>
        <p:spPr>
          <a:xfrm>
            <a:off x="0" y="701040"/>
            <a:ext cx="12192000" cy="6156960"/>
          </a:xfrm>
          <a:custGeom>
            <a:avLst/>
            <a:gdLst>
              <a:gd name="csX0" fmla="*/ 5751095 w 12192000"/>
              <a:gd name="csY0" fmla="*/ 170046 h 6156960"/>
              <a:gd name="csX1" fmla="*/ 5751095 w 12192000"/>
              <a:gd name="csY1" fmla="*/ 1248076 h 6156960"/>
              <a:gd name="csX2" fmla="*/ 4138863 w 12192000"/>
              <a:gd name="csY2" fmla="*/ 2441608 h 6156960"/>
              <a:gd name="csX3" fmla="*/ 4138863 w 12192000"/>
              <a:gd name="csY3" fmla="*/ 3288632 h 6156960"/>
              <a:gd name="csX4" fmla="*/ 4581625 w 12192000"/>
              <a:gd name="csY4" fmla="*/ 3288632 h 6156960"/>
              <a:gd name="csX5" fmla="*/ 4581625 w 12192000"/>
              <a:gd name="csY5" fmla="*/ 2499360 h 6156960"/>
              <a:gd name="csX6" fmla="*/ 5760720 w 12192000"/>
              <a:gd name="csY6" fmla="*/ 1594585 h 6156960"/>
              <a:gd name="csX7" fmla="*/ 5760720 w 12192000"/>
              <a:gd name="csY7" fmla="*/ 1873718 h 6156960"/>
              <a:gd name="csX8" fmla="*/ 8475044 w 12192000"/>
              <a:gd name="csY8" fmla="*/ 1873718 h 6156960"/>
              <a:gd name="csX9" fmla="*/ 8475044 w 12192000"/>
              <a:gd name="csY9" fmla="*/ 170046 h 6156960"/>
              <a:gd name="csX10" fmla="*/ 0 w 12192000"/>
              <a:gd name="csY10" fmla="*/ 0 h 6156960"/>
              <a:gd name="csX11" fmla="*/ 12192000 w 12192000"/>
              <a:gd name="csY11" fmla="*/ 0 h 6156960"/>
              <a:gd name="csX12" fmla="*/ 12192000 w 12192000"/>
              <a:gd name="csY12" fmla="*/ 6156960 h 6156960"/>
              <a:gd name="csX13" fmla="*/ 0 w 12192000"/>
              <a:gd name="csY13" fmla="*/ 6156960 h 6156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2192000" h="6156960">
                <a:moveTo>
                  <a:pt x="5751095" y="170046"/>
                </a:moveTo>
                <a:lnTo>
                  <a:pt x="5751095" y="1248076"/>
                </a:lnTo>
                <a:lnTo>
                  <a:pt x="4138863" y="2441608"/>
                </a:lnTo>
                <a:lnTo>
                  <a:pt x="4138863" y="3288632"/>
                </a:lnTo>
                <a:lnTo>
                  <a:pt x="4581625" y="3288632"/>
                </a:lnTo>
                <a:lnTo>
                  <a:pt x="4581625" y="2499360"/>
                </a:lnTo>
                <a:lnTo>
                  <a:pt x="5760720" y="1594585"/>
                </a:lnTo>
                <a:lnTo>
                  <a:pt x="5760720" y="1873718"/>
                </a:lnTo>
                <a:lnTo>
                  <a:pt x="8475044" y="1873718"/>
                </a:lnTo>
                <a:lnTo>
                  <a:pt x="8475044" y="17004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56960"/>
                </a:lnTo>
                <a:lnTo>
                  <a:pt x="0" y="615696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27531B-806A-3EEB-54FE-3CEF244EA262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85CA5E-2E3A-F2E3-1193-F1E1C4F2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56CFF019-446C-64B0-A1FF-E31E11C788D0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SPW-R</a:t>
            </a:r>
            <a:r>
              <a:rPr lang="en-US" dirty="0">
                <a:solidFill>
                  <a:srgbClr val="FF0000"/>
                </a:solidFill>
              </a:rPr>
              <a:t>: Internal memory consolidation (Offline).</a:t>
            </a: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084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CEB1-08FB-3DBC-A1B0-89E908FA8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F1">
            <a:extLst>
              <a:ext uri="{FF2B5EF4-FFF2-40B4-BE49-F238E27FC236}">
                <a16:creationId xmlns:a16="http://schemas.microsoft.com/office/drawing/2014/main" id="{34FDBD00-5116-A66B-318B-3805BB5654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696719"/>
            <a:ext cx="14523267" cy="10403941"/>
          </a:xfrm>
          <a:prstGeom prst="rect">
            <a:avLst/>
          </a:prstGeom>
        </p:spPr>
      </p:pic>
      <p:sp>
        <p:nvSpPr>
          <p:cNvPr id="20" name="!!S1">
            <a:extLst>
              <a:ext uri="{FF2B5EF4-FFF2-40B4-BE49-F238E27FC236}">
                <a16:creationId xmlns:a16="http://schemas.microsoft.com/office/drawing/2014/main" id="{83966677-D9B3-E9D6-2CAF-6D68D1D42401}"/>
              </a:ext>
            </a:extLst>
          </p:cNvPr>
          <p:cNvSpPr/>
          <p:nvPr/>
        </p:nvSpPr>
        <p:spPr>
          <a:xfrm>
            <a:off x="-6477000" y="609600"/>
            <a:ext cx="21124752" cy="10668000"/>
          </a:xfrm>
          <a:custGeom>
            <a:avLst/>
            <a:gdLst>
              <a:gd name="csX0" fmla="*/ 5751095 w 12192000"/>
              <a:gd name="csY0" fmla="*/ 170046 h 6156960"/>
              <a:gd name="csX1" fmla="*/ 5751095 w 12192000"/>
              <a:gd name="csY1" fmla="*/ 1248076 h 6156960"/>
              <a:gd name="csX2" fmla="*/ 4138863 w 12192000"/>
              <a:gd name="csY2" fmla="*/ 2441608 h 6156960"/>
              <a:gd name="csX3" fmla="*/ 4138863 w 12192000"/>
              <a:gd name="csY3" fmla="*/ 3288632 h 6156960"/>
              <a:gd name="csX4" fmla="*/ 4581625 w 12192000"/>
              <a:gd name="csY4" fmla="*/ 3288632 h 6156960"/>
              <a:gd name="csX5" fmla="*/ 4581625 w 12192000"/>
              <a:gd name="csY5" fmla="*/ 2499360 h 6156960"/>
              <a:gd name="csX6" fmla="*/ 5760720 w 12192000"/>
              <a:gd name="csY6" fmla="*/ 1594585 h 6156960"/>
              <a:gd name="csX7" fmla="*/ 5760720 w 12192000"/>
              <a:gd name="csY7" fmla="*/ 1873718 h 6156960"/>
              <a:gd name="csX8" fmla="*/ 8475044 w 12192000"/>
              <a:gd name="csY8" fmla="*/ 1873718 h 6156960"/>
              <a:gd name="csX9" fmla="*/ 8475044 w 12192000"/>
              <a:gd name="csY9" fmla="*/ 170046 h 6156960"/>
              <a:gd name="csX10" fmla="*/ 0 w 12192000"/>
              <a:gd name="csY10" fmla="*/ 0 h 6156960"/>
              <a:gd name="csX11" fmla="*/ 12192000 w 12192000"/>
              <a:gd name="csY11" fmla="*/ 0 h 6156960"/>
              <a:gd name="csX12" fmla="*/ 12192000 w 12192000"/>
              <a:gd name="csY12" fmla="*/ 6156960 h 6156960"/>
              <a:gd name="csX13" fmla="*/ 0 w 12192000"/>
              <a:gd name="csY13" fmla="*/ 6156960 h 6156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2192000" h="6156960">
                <a:moveTo>
                  <a:pt x="5751095" y="170046"/>
                </a:moveTo>
                <a:lnTo>
                  <a:pt x="5751095" y="1248076"/>
                </a:lnTo>
                <a:lnTo>
                  <a:pt x="4138863" y="2441608"/>
                </a:lnTo>
                <a:lnTo>
                  <a:pt x="4138863" y="3288632"/>
                </a:lnTo>
                <a:lnTo>
                  <a:pt x="4581625" y="3288632"/>
                </a:lnTo>
                <a:lnTo>
                  <a:pt x="4581625" y="2499360"/>
                </a:lnTo>
                <a:lnTo>
                  <a:pt x="5760720" y="1594585"/>
                </a:lnTo>
                <a:lnTo>
                  <a:pt x="5760720" y="1873718"/>
                </a:lnTo>
                <a:lnTo>
                  <a:pt x="8475044" y="1873718"/>
                </a:lnTo>
                <a:lnTo>
                  <a:pt x="8475044" y="17004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56960"/>
                </a:lnTo>
                <a:lnTo>
                  <a:pt x="0" y="615696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4BA9FE-721D-033F-E758-E8088F9E0FB2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F7BC9-0114-9EE2-8F34-9422AD99F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E7EBF487-7BD0-D937-C1A3-B41F050A22CA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SPW-R</a:t>
            </a:r>
            <a:r>
              <a:rPr lang="en-US">
                <a:solidFill>
                  <a:srgbClr val="FF0000"/>
                </a:solidFill>
              </a:rPr>
              <a:t>: Internal memory consolidation (Offline).</a:t>
            </a:r>
            <a:endParaRPr lang="en-US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18" name="!!Focus">
            <a:extLst>
              <a:ext uri="{FF2B5EF4-FFF2-40B4-BE49-F238E27FC236}">
                <a16:creationId xmlns:a16="http://schemas.microsoft.com/office/drawing/2014/main" id="{CB2B5F47-DA4F-4E06-5CFA-5EEB3D0792AB}"/>
              </a:ext>
            </a:extLst>
          </p:cNvPr>
          <p:cNvSpPr/>
          <p:nvPr/>
        </p:nvSpPr>
        <p:spPr>
          <a:xfrm>
            <a:off x="4419600" y="1705622"/>
            <a:ext cx="3810000" cy="2104378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16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38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4F4CF-696B-3379-E665-D2020DEE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F1">
            <a:extLst>
              <a:ext uri="{FF2B5EF4-FFF2-40B4-BE49-F238E27FC236}">
                <a16:creationId xmlns:a16="http://schemas.microsoft.com/office/drawing/2014/main" id="{EA121C09-07EC-2E9E-901E-72310BB26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696719"/>
            <a:ext cx="14523267" cy="10403941"/>
          </a:xfrm>
          <a:prstGeom prst="rect">
            <a:avLst/>
          </a:prstGeom>
        </p:spPr>
      </p:pic>
      <p:sp>
        <p:nvSpPr>
          <p:cNvPr id="20" name="!!S1">
            <a:extLst>
              <a:ext uri="{FF2B5EF4-FFF2-40B4-BE49-F238E27FC236}">
                <a16:creationId xmlns:a16="http://schemas.microsoft.com/office/drawing/2014/main" id="{2943F0CE-367A-CE15-5E2B-D7256F35DC2D}"/>
              </a:ext>
            </a:extLst>
          </p:cNvPr>
          <p:cNvSpPr/>
          <p:nvPr/>
        </p:nvSpPr>
        <p:spPr>
          <a:xfrm>
            <a:off x="-6477000" y="609600"/>
            <a:ext cx="21124752" cy="10668000"/>
          </a:xfrm>
          <a:custGeom>
            <a:avLst/>
            <a:gdLst>
              <a:gd name="csX0" fmla="*/ 5751095 w 12192000"/>
              <a:gd name="csY0" fmla="*/ 170046 h 6156960"/>
              <a:gd name="csX1" fmla="*/ 5751095 w 12192000"/>
              <a:gd name="csY1" fmla="*/ 1248076 h 6156960"/>
              <a:gd name="csX2" fmla="*/ 4138863 w 12192000"/>
              <a:gd name="csY2" fmla="*/ 2441608 h 6156960"/>
              <a:gd name="csX3" fmla="*/ 4138863 w 12192000"/>
              <a:gd name="csY3" fmla="*/ 3288632 h 6156960"/>
              <a:gd name="csX4" fmla="*/ 4581625 w 12192000"/>
              <a:gd name="csY4" fmla="*/ 3288632 h 6156960"/>
              <a:gd name="csX5" fmla="*/ 4581625 w 12192000"/>
              <a:gd name="csY5" fmla="*/ 2499360 h 6156960"/>
              <a:gd name="csX6" fmla="*/ 5760720 w 12192000"/>
              <a:gd name="csY6" fmla="*/ 1594585 h 6156960"/>
              <a:gd name="csX7" fmla="*/ 5760720 w 12192000"/>
              <a:gd name="csY7" fmla="*/ 1873718 h 6156960"/>
              <a:gd name="csX8" fmla="*/ 8475044 w 12192000"/>
              <a:gd name="csY8" fmla="*/ 1873718 h 6156960"/>
              <a:gd name="csX9" fmla="*/ 8475044 w 12192000"/>
              <a:gd name="csY9" fmla="*/ 170046 h 6156960"/>
              <a:gd name="csX10" fmla="*/ 0 w 12192000"/>
              <a:gd name="csY10" fmla="*/ 0 h 6156960"/>
              <a:gd name="csX11" fmla="*/ 12192000 w 12192000"/>
              <a:gd name="csY11" fmla="*/ 0 h 6156960"/>
              <a:gd name="csX12" fmla="*/ 12192000 w 12192000"/>
              <a:gd name="csY12" fmla="*/ 6156960 h 6156960"/>
              <a:gd name="csX13" fmla="*/ 0 w 12192000"/>
              <a:gd name="csY13" fmla="*/ 6156960 h 6156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2192000" h="6156960">
                <a:moveTo>
                  <a:pt x="5751095" y="170046"/>
                </a:moveTo>
                <a:lnTo>
                  <a:pt x="5751095" y="1248076"/>
                </a:lnTo>
                <a:lnTo>
                  <a:pt x="4138863" y="2441608"/>
                </a:lnTo>
                <a:lnTo>
                  <a:pt x="4138863" y="3288632"/>
                </a:lnTo>
                <a:lnTo>
                  <a:pt x="4581625" y="3288632"/>
                </a:lnTo>
                <a:lnTo>
                  <a:pt x="4581625" y="2499360"/>
                </a:lnTo>
                <a:lnTo>
                  <a:pt x="5760720" y="1594585"/>
                </a:lnTo>
                <a:lnTo>
                  <a:pt x="5760720" y="1873718"/>
                </a:lnTo>
                <a:lnTo>
                  <a:pt x="8475044" y="1873718"/>
                </a:lnTo>
                <a:lnTo>
                  <a:pt x="8475044" y="17004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56960"/>
                </a:lnTo>
                <a:lnTo>
                  <a:pt x="0" y="615696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DB1E6B-15E0-7811-96E9-25B452C546FE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F83F02-C03A-3E8B-81F9-E55824440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67430649-8148-35ED-5486-34547BBC1EF2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SPW-R</a:t>
            </a:r>
            <a:r>
              <a:rPr lang="en-US">
                <a:solidFill>
                  <a:srgbClr val="FF0000"/>
                </a:solidFill>
              </a:rPr>
              <a:t>: Internal memory consolidation (Offline).</a:t>
            </a:r>
            <a:endParaRPr lang="en-US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18" name="!!Focus">
            <a:extLst>
              <a:ext uri="{FF2B5EF4-FFF2-40B4-BE49-F238E27FC236}">
                <a16:creationId xmlns:a16="http://schemas.microsoft.com/office/drawing/2014/main" id="{0E8662F0-AEBF-C0D9-BF86-95A53C035CBE}"/>
              </a:ext>
            </a:extLst>
          </p:cNvPr>
          <p:cNvSpPr/>
          <p:nvPr/>
        </p:nvSpPr>
        <p:spPr>
          <a:xfrm>
            <a:off x="5827295" y="1806315"/>
            <a:ext cx="990600" cy="65457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00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50CB2-2E1F-00EA-F054-33346795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F1">
            <a:extLst>
              <a:ext uri="{FF2B5EF4-FFF2-40B4-BE49-F238E27FC236}">
                <a16:creationId xmlns:a16="http://schemas.microsoft.com/office/drawing/2014/main" id="{B8C51C16-38F2-40ED-A904-02B48C38EA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696719"/>
            <a:ext cx="14523267" cy="10403941"/>
          </a:xfrm>
          <a:prstGeom prst="rect">
            <a:avLst/>
          </a:prstGeom>
        </p:spPr>
      </p:pic>
      <p:sp>
        <p:nvSpPr>
          <p:cNvPr id="20" name="!!S1">
            <a:extLst>
              <a:ext uri="{FF2B5EF4-FFF2-40B4-BE49-F238E27FC236}">
                <a16:creationId xmlns:a16="http://schemas.microsoft.com/office/drawing/2014/main" id="{F35C6635-6C65-6913-37EE-D35894752F55}"/>
              </a:ext>
            </a:extLst>
          </p:cNvPr>
          <p:cNvSpPr/>
          <p:nvPr/>
        </p:nvSpPr>
        <p:spPr>
          <a:xfrm>
            <a:off x="-6477000" y="609600"/>
            <a:ext cx="21124752" cy="10668000"/>
          </a:xfrm>
          <a:custGeom>
            <a:avLst/>
            <a:gdLst>
              <a:gd name="csX0" fmla="*/ 5751095 w 12192000"/>
              <a:gd name="csY0" fmla="*/ 170046 h 6156960"/>
              <a:gd name="csX1" fmla="*/ 5751095 w 12192000"/>
              <a:gd name="csY1" fmla="*/ 1248076 h 6156960"/>
              <a:gd name="csX2" fmla="*/ 4138863 w 12192000"/>
              <a:gd name="csY2" fmla="*/ 2441608 h 6156960"/>
              <a:gd name="csX3" fmla="*/ 4138863 w 12192000"/>
              <a:gd name="csY3" fmla="*/ 3288632 h 6156960"/>
              <a:gd name="csX4" fmla="*/ 4581625 w 12192000"/>
              <a:gd name="csY4" fmla="*/ 3288632 h 6156960"/>
              <a:gd name="csX5" fmla="*/ 4581625 w 12192000"/>
              <a:gd name="csY5" fmla="*/ 2499360 h 6156960"/>
              <a:gd name="csX6" fmla="*/ 5760720 w 12192000"/>
              <a:gd name="csY6" fmla="*/ 1594585 h 6156960"/>
              <a:gd name="csX7" fmla="*/ 5760720 w 12192000"/>
              <a:gd name="csY7" fmla="*/ 1873718 h 6156960"/>
              <a:gd name="csX8" fmla="*/ 8475044 w 12192000"/>
              <a:gd name="csY8" fmla="*/ 1873718 h 6156960"/>
              <a:gd name="csX9" fmla="*/ 8475044 w 12192000"/>
              <a:gd name="csY9" fmla="*/ 170046 h 6156960"/>
              <a:gd name="csX10" fmla="*/ 0 w 12192000"/>
              <a:gd name="csY10" fmla="*/ 0 h 6156960"/>
              <a:gd name="csX11" fmla="*/ 12192000 w 12192000"/>
              <a:gd name="csY11" fmla="*/ 0 h 6156960"/>
              <a:gd name="csX12" fmla="*/ 12192000 w 12192000"/>
              <a:gd name="csY12" fmla="*/ 6156960 h 6156960"/>
              <a:gd name="csX13" fmla="*/ 0 w 12192000"/>
              <a:gd name="csY13" fmla="*/ 6156960 h 6156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2192000" h="6156960">
                <a:moveTo>
                  <a:pt x="5751095" y="170046"/>
                </a:moveTo>
                <a:lnTo>
                  <a:pt x="5751095" y="1248076"/>
                </a:lnTo>
                <a:lnTo>
                  <a:pt x="4138863" y="2441608"/>
                </a:lnTo>
                <a:lnTo>
                  <a:pt x="4138863" y="3288632"/>
                </a:lnTo>
                <a:lnTo>
                  <a:pt x="4581625" y="3288632"/>
                </a:lnTo>
                <a:lnTo>
                  <a:pt x="4581625" y="2499360"/>
                </a:lnTo>
                <a:lnTo>
                  <a:pt x="5760720" y="1594585"/>
                </a:lnTo>
                <a:lnTo>
                  <a:pt x="5760720" y="1873718"/>
                </a:lnTo>
                <a:lnTo>
                  <a:pt x="8475044" y="1873718"/>
                </a:lnTo>
                <a:lnTo>
                  <a:pt x="8475044" y="17004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56960"/>
                </a:lnTo>
                <a:lnTo>
                  <a:pt x="0" y="615696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2B17D7-5124-DF6A-DB05-28D81E5D017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66F2B9-891D-0A51-EA48-FB960050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36138FEA-7B00-4BF9-1146-5E879239FD82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SPW-R</a:t>
            </a:r>
            <a:r>
              <a:rPr lang="en-US">
                <a:solidFill>
                  <a:srgbClr val="FF0000"/>
                </a:solidFill>
              </a:rPr>
              <a:t>: Internal memory consolidation (Offline).</a:t>
            </a:r>
            <a:endParaRPr lang="en-US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3" name="!!Focus">
            <a:extLst>
              <a:ext uri="{FF2B5EF4-FFF2-40B4-BE49-F238E27FC236}">
                <a16:creationId xmlns:a16="http://schemas.microsoft.com/office/drawing/2014/main" id="{BE6E26EC-5B4A-517D-A086-D38BED844663}"/>
              </a:ext>
            </a:extLst>
          </p:cNvPr>
          <p:cNvSpPr/>
          <p:nvPr/>
        </p:nvSpPr>
        <p:spPr>
          <a:xfrm>
            <a:off x="3505200" y="1600200"/>
            <a:ext cx="1143000" cy="914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18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0E989-75BF-836B-46EE-8C529A437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F1">
            <a:extLst>
              <a:ext uri="{FF2B5EF4-FFF2-40B4-BE49-F238E27FC236}">
                <a16:creationId xmlns:a16="http://schemas.microsoft.com/office/drawing/2014/main" id="{94963397-92F4-CDAD-C787-86C356BFB0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696719"/>
            <a:ext cx="14523267" cy="10403941"/>
          </a:xfrm>
          <a:prstGeom prst="rect">
            <a:avLst/>
          </a:prstGeom>
        </p:spPr>
      </p:pic>
      <p:sp>
        <p:nvSpPr>
          <p:cNvPr id="20" name="!!S1">
            <a:extLst>
              <a:ext uri="{FF2B5EF4-FFF2-40B4-BE49-F238E27FC236}">
                <a16:creationId xmlns:a16="http://schemas.microsoft.com/office/drawing/2014/main" id="{B47E1848-65A2-0BE0-1486-52F5CC67ED58}"/>
              </a:ext>
            </a:extLst>
          </p:cNvPr>
          <p:cNvSpPr/>
          <p:nvPr/>
        </p:nvSpPr>
        <p:spPr>
          <a:xfrm>
            <a:off x="-6477000" y="609600"/>
            <a:ext cx="21124752" cy="10668000"/>
          </a:xfrm>
          <a:custGeom>
            <a:avLst/>
            <a:gdLst>
              <a:gd name="csX0" fmla="*/ 5751095 w 12192000"/>
              <a:gd name="csY0" fmla="*/ 170046 h 6156960"/>
              <a:gd name="csX1" fmla="*/ 5751095 w 12192000"/>
              <a:gd name="csY1" fmla="*/ 1248076 h 6156960"/>
              <a:gd name="csX2" fmla="*/ 4138863 w 12192000"/>
              <a:gd name="csY2" fmla="*/ 2441608 h 6156960"/>
              <a:gd name="csX3" fmla="*/ 4138863 w 12192000"/>
              <a:gd name="csY3" fmla="*/ 3288632 h 6156960"/>
              <a:gd name="csX4" fmla="*/ 4581625 w 12192000"/>
              <a:gd name="csY4" fmla="*/ 3288632 h 6156960"/>
              <a:gd name="csX5" fmla="*/ 4581625 w 12192000"/>
              <a:gd name="csY5" fmla="*/ 2499360 h 6156960"/>
              <a:gd name="csX6" fmla="*/ 5760720 w 12192000"/>
              <a:gd name="csY6" fmla="*/ 1594585 h 6156960"/>
              <a:gd name="csX7" fmla="*/ 5760720 w 12192000"/>
              <a:gd name="csY7" fmla="*/ 1873718 h 6156960"/>
              <a:gd name="csX8" fmla="*/ 8475044 w 12192000"/>
              <a:gd name="csY8" fmla="*/ 1873718 h 6156960"/>
              <a:gd name="csX9" fmla="*/ 8475044 w 12192000"/>
              <a:gd name="csY9" fmla="*/ 170046 h 6156960"/>
              <a:gd name="csX10" fmla="*/ 0 w 12192000"/>
              <a:gd name="csY10" fmla="*/ 0 h 6156960"/>
              <a:gd name="csX11" fmla="*/ 12192000 w 12192000"/>
              <a:gd name="csY11" fmla="*/ 0 h 6156960"/>
              <a:gd name="csX12" fmla="*/ 12192000 w 12192000"/>
              <a:gd name="csY12" fmla="*/ 6156960 h 6156960"/>
              <a:gd name="csX13" fmla="*/ 0 w 12192000"/>
              <a:gd name="csY13" fmla="*/ 6156960 h 6156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2192000" h="6156960">
                <a:moveTo>
                  <a:pt x="5751095" y="170046"/>
                </a:moveTo>
                <a:lnTo>
                  <a:pt x="5751095" y="1248076"/>
                </a:lnTo>
                <a:lnTo>
                  <a:pt x="4138863" y="2441608"/>
                </a:lnTo>
                <a:lnTo>
                  <a:pt x="4138863" y="3288632"/>
                </a:lnTo>
                <a:lnTo>
                  <a:pt x="4581625" y="3288632"/>
                </a:lnTo>
                <a:lnTo>
                  <a:pt x="4581625" y="2499360"/>
                </a:lnTo>
                <a:lnTo>
                  <a:pt x="5760720" y="1594585"/>
                </a:lnTo>
                <a:lnTo>
                  <a:pt x="5760720" y="1873718"/>
                </a:lnTo>
                <a:lnTo>
                  <a:pt x="8475044" y="1873718"/>
                </a:lnTo>
                <a:lnTo>
                  <a:pt x="8475044" y="17004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56960"/>
                </a:lnTo>
                <a:lnTo>
                  <a:pt x="0" y="615696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8AFCC1-976A-6EC4-0CAD-7E1EAF33249E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6AAA2C-7B9E-B3DC-CD4F-286791878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D9692AD4-B3A4-E007-D135-C1445FB2EB90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SPW-R</a:t>
            </a:r>
            <a:r>
              <a:rPr lang="en-US">
                <a:solidFill>
                  <a:srgbClr val="FF0000"/>
                </a:solidFill>
              </a:rPr>
              <a:t>: Internal memory consolidation (Offline).</a:t>
            </a:r>
            <a:endParaRPr lang="en-US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pic>
        <p:nvPicPr>
          <p:cNvPr id="3074" name="Picture 2" descr="Migration in the hippocampus - ScienceDirect">
            <a:extLst>
              <a:ext uri="{FF2B5EF4-FFF2-40B4-BE49-F238E27FC236}">
                <a16:creationId xmlns:a16="http://schemas.microsoft.com/office/drawing/2014/main" id="{1D6FD941-10E0-CA75-DFF2-6A4BDD5EC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9467" y="1337110"/>
            <a:ext cx="3759008" cy="25341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!!Focus">
            <a:extLst>
              <a:ext uri="{FF2B5EF4-FFF2-40B4-BE49-F238E27FC236}">
                <a16:creationId xmlns:a16="http://schemas.microsoft.com/office/drawing/2014/main" id="{56317A69-B516-AB02-A230-64C63DA35112}"/>
              </a:ext>
            </a:extLst>
          </p:cNvPr>
          <p:cNvSpPr/>
          <p:nvPr/>
        </p:nvSpPr>
        <p:spPr>
          <a:xfrm>
            <a:off x="3505200" y="1600200"/>
            <a:ext cx="1143000" cy="914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0A0CB1F-CA09-5A65-FF0F-2DE577E2EA61}"/>
              </a:ext>
            </a:extLst>
          </p:cNvPr>
          <p:cNvCxnSpPr>
            <a:cxnSpLocks/>
          </p:cNvCxnSpPr>
          <p:nvPr/>
        </p:nvCxnSpPr>
        <p:spPr>
          <a:xfrm>
            <a:off x="1981200" y="1676400"/>
            <a:ext cx="1905000" cy="7620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76F37C-7DE5-F7CC-5E4D-F01692E810DE}"/>
              </a:ext>
            </a:extLst>
          </p:cNvPr>
          <p:cNvCxnSpPr>
            <a:cxnSpLocks/>
          </p:cNvCxnSpPr>
          <p:nvPr/>
        </p:nvCxnSpPr>
        <p:spPr>
          <a:xfrm>
            <a:off x="1828800" y="1880861"/>
            <a:ext cx="2057400" cy="146059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31541E-5576-6BB5-2C59-01435C075EFA}"/>
              </a:ext>
            </a:extLst>
          </p:cNvPr>
          <p:cNvCxnSpPr>
            <a:cxnSpLocks/>
          </p:cNvCxnSpPr>
          <p:nvPr/>
        </p:nvCxnSpPr>
        <p:spPr>
          <a:xfrm>
            <a:off x="1752600" y="2121217"/>
            <a:ext cx="2209800" cy="240983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877395-C72B-0D0F-B6DB-CDF903F1DE54}"/>
              </a:ext>
            </a:extLst>
          </p:cNvPr>
          <p:cNvCxnSpPr>
            <a:cxnSpLocks/>
          </p:cNvCxnSpPr>
          <p:nvPr/>
        </p:nvCxnSpPr>
        <p:spPr>
          <a:xfrm>
            <a:off x="1981200" y="2449319"/>
            <a:ext cx="1981200" cy="354842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3D1DA3-2BD3-A120-7DD4-90A36A4665B2}"/>
              </a:ext>
            </a:extLst>
          </p:cNvPr>
          <p:cNvCxnSpPr>
            <a:cxnSpLocks/>
          </p:cNvCxnSpPr>
          <p:nvPr/>
        </p:nvCxnSpPr>
        <p:spPr>
          <a:xfrm>
            <a:off x="2133600" y="2793173"/>
            <a:ext cx="1474382" cy="498668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B84021D-7647-2E54-31F3-14E25C6D7901}"/>
              </a:ext>
            </a:extLst>
          </p:cNvPr>
          <p:cNvCxnSpPr>
            <a:cxnSpLocks/>
          </p:cNvCxnSpPr>
          <p:nvPr/>
        </p:nvCxnSpPr>
        <p:spPr>
          <a:xfrm>
            <a:off x="3607982" y="3215641"/>
            <a:ext cx="354418" cy="344805"/>
          </a:xfrm>
          <a:prstGeom prst="bentConnector3">
            <a:avLst>
              <a:gd name="adj1" fmla="val 924"/>
            </a:avLst>
          </a:prstGeom>
          <a:ln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9BB7C85-4825-0357-D5E2-B41A8F4AF5AA}"/>
              </a:ext>
            </a:extLst>
          </p:cNvPr>
          <p:cNvCxnSpPr>
            <a:cxnSpLocks/>
          </p:cNvCxnSpPr>
          <p:nvPr/>
        </p:nvCxnSpPr>
        <p:spPr>
          <a:xfrm flipV="1">
            <a:off x="3607982" y="3047999"/>
            <a:ext cx="354418" cy="137161"/>
          </a:xfrm>
          <a:prstGeom prst="bentConnector3">
            <a:avLst>
              <a:gd name="adj1" fmla="val 924"/>
            </a:avLst>
          </a:prstGeom>
          <a:ln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843C287-B7F7-912A-1895-056AB1AE000C}"/>
              </a:ext>
            </a:extLst>
          </p:cNvPr>
          <p:cNvCxnSpPr>
            <a:cxnSpLocks/>
          </p:cNvCxnSpPr>
          <p:nvPr/>
        </p:nvCxnSpPr>
        <p:spPr>
          <a:xfrm>
            <a:off x="3607982" y="3305619"/>
            <a:ext cx="354418" cy="0"/>
          </a:xfrm>
          <a:prstGeom prst="straightConnector1">
            <a:avLst/>
          </a:prstGeom>
          <a:ln>
            <a:solidFill>
              <a:srgbClr val="C0000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50555D3-B5F6-C953-D74A-133A6D0E1688}"/>
              </a:ext>
            </a:extLst>
          </p:cNvPr>
          <p:cNvCxnSpPr>
            <a:cxnSpLocks/>
          </p:cNvCxnSpPr>
          <p:nvPr/>
        </p:nvCxnSpPr>
        <p:spPr>
          <a:xfrm>
            <a:off x="2133600" y="3033074"/>
            <a:ext cx="1752600" cy="776926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6E5C5E6-143F-7040-0E57-6068CC7DCBBD}"/>
              </a:ext>
            </a:extLst>
          </p:cNvPr>
          <p:cNvCxnSpPr>
            <a:cxnSpLocks/>
          </p:cNvCxnSpPr>
          <p:nvPr/>
        </p:nvCxnSpPr>
        <p:spPr>
          <a:xfrm>
            <a:off x="1905000" y="3272279"/>
            <a:ext cx="1981200" cy="781561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CCA44C52-699E-8009-DA65-86651393A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84979" y="539802"/>
            <a:ext cx="434428" cy="282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01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46935-AAD2-BA61-23EC-512130EB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F1">
            <a:extLst>
              <a:ext uri="{FF2B5EF4-FFF2-40B4-BE49-F238E27FC236}">
                <a16:creationId xmlns:a16="http://schemas.microsoft.com/office/drawing/2014/main" id="{FD03F3E4-CB5A-2C7A-9603-C30861E4AC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696719"/>
            <a:ext cx="14523267" cy="10403941"/>
          </a:xfrm>
          <a:prstGeom prst="rect">
            <a:avLst/>
          </a:prstGeom>
        </p:spPr>
      </p:pic>
      <p:sp>
        <p:nvSpPr>
          <p:cNvPr id="20" name="!!S1">
            <a:extLst>
              <a:ext uri="{FF2B5EF4-FFF2-40B4-BE49-F238E27FC236}">
                <a16:creationId xmlns:a16="http://schemas.microsoft.com/office/drawing/2014/main" id="{33F1C310-BACB-0F10-881A-728EF2A2E95E}"/>
              </a:ext>
            </a:extLst>
          </p:cNvPr>
          <p:cNvSpPr/>
          <p:nvPr/>
        </p:nvSpPr>
        <p:spPr>
          <a:xfrm>
            <a:off x="-6477000" y="609600"/>
            <a:ext cx="21124752" cy="10668000"/>
          </a:xfrm>
          <a:custGeom>
            <a:avLst/>
            <a:gdLst>
              <a:gd name="csX0" fmla="*/ 5751095 w 12192000"/>
              <a:gd name="csY0" fmla="*/ 170046 h 6156960"/>
              <a:gd name="csX1" fmla="*/ 5751095 w 12192000"/>
              <a:gd name="csY1" fmla="*/ 1248076 h 6156960"/>
              <a:gd name="csX2" fmla="*/ 4138863 w 12192000"/>
              <a:gd name="csY2" fmla="*/ 2441608 h 6156960"/>
              <a:gd name="csX3" fmla="*/ 4138863 w 12192000"/>
              <a:gd name="csY3" fmla="*/ 3288632 h 6156960"/>
              <a:gd name="csX4" fmla="*/ 4581625 w 12192000"/>
              <a:gd name="csY4" fmla="*/ 3288632 h 6156960"/>
              <a:gd name="csX5" fmla="*/ 4581625 w 12192000"/>
              <a:gd name="csY5" fmla="*/ 2499360 h 6156960"/>
              <a:gd name="csX6" fmla="*/ 5760720 w 12192000"/>
              <a:gd name="csY6" fmla="*/ 1594585 h 6156960"/>
              <a:gd name="csX7" fmla="*/ 5760720 w 12192000"/>
              <a:gd name="csY7" fmla="*/ 1873718 h 6156960"/>
              <a:gd name="csX8" fmla="*/ 8475044 w 12192000"/>
              <a:gd name="csY8" fmla="*/ 1873718 h 6156960"/>
              <a:gd name="csX9" fmla="*/ 8475044 w 12192000"/>
              <a:gd name="csY9" fmla="*/ 170046 h 6156960"/>
              <a:gd name="csX10" fmla="*/ 0 w 12192000"/>
              <a:gd name="csY10" fmla="*/ 0 h 6156960"/>
              <a:gd name="csX11" fmla="*/ 12192000 w 12192000"/>
              <a:gd name="csY11" fmla="*/ 0 h 6156960"/>
              <a:gd name="csX12" fmla="*/ 12192000 w 12192000"/>
              <a:gd name="csY12" fmla="*/ 6156960 h 6156960"/>
              <a:gd name="csX13" fmla="*/ 0 w 12192000"/>
              <a:gd name="csY13" fmla="*/ 6156960 h 6156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2192000" h="6156960">
                <a:moveTo>
                  <a:pt x="5751095" y="170046"/>
                </a:moveTo>
                <a:lnTo>
                  <a:pt x="5751095" y="1248076"/>
                </a:lnTo>
                <a:lnTo>
                  <a:pt x="4138863" y="2441608"/>
                </a:lnTo>
                <a:lnTo>
                  <a:pt x="4138863" y="3288632"/>
                </a:lnTo>
                <a:lnTo>
                  <a:pt x="4581625" y="3288632"/>
                </a:lnTo>
                <a:lnTo>
                  <a:pt x="4581625" y="2499360"/>
                </a:lnTo>
                <a:lnTo>
                  <a:pt x="5760720" y="1594585"/>
                </a:lnTo>
                <a:lnTo>
                  <a:pt x="5760720" y="1873718"/>
                </a:lnTo>
                <a:lnTo>
                  <a:pt x="8475044" y="1873718"/>
                </a:lnTo>
                <a:lnTo>
                  <a:pt x="8475044" y="17004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56960"/>
                </a:lnTo>
                <a:lnTo>
                  <a:pt x="0" y="615696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E4F685-C854-9EB7-81AF-83604730BB04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CC465-B9F4-19AF-7AF5-E9C6E80D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126A6F0F-889D-5B52-08E2-288EB7FAFFB0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SPW-R</a:t>
            </a:r>
            <a:r>
              <a:rPr lang="en-US">
                <a:solidFill>
                  <a:srgbClr val="FF0000"/>
                </a:solidFill>
              </a:rPr>
              <a:t>: Internal memory consolidation (Offline).</a:t>
            </a:r>
            <a:endParaRPr lang="en-US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A3B3B0FB-300D-F3F5-27C9-10F24A3EE10E}"/>
              </a:ext>
            </a:extLst>
          </p:cNvPr>
          <p:cNvSpPr/>
          <p:nvPr/>
        </p:nvSpPr>
        <p:spPr>
          <a:xfrm>
            <a:off x="3505200" y="1600200"/>
            <a:ext cx="1143000" cy="914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Migration in the hippocampus - ScienceDirect">
            <a:extLst>
              <a:ext uri="{FF2B5EF4-FFF2-40B4-BE49-F238E27FC236}">
                <a16:creationId xmlns:a16="http://schemas.microsoft.com/office/drawing/2014/main" id="{E6D9988A-F979-6DBC-3805-EDCACE8B6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993443"/>
            <a:ext cx="2463608" cy="1660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8A148B-6D8D-EC66-40AA-915FE11357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50443" y="4470897"/>
            <a:ext cx="284719" cy="1853552"/>
          </a:xfrm>
          <a:prstGeom prst="rect">
            <a:avLst/>
          </a:prstGeom>
        </p:spPr>
      </p:pic>
      <p:sp>
        <p:nvSpPr>
          <p:cNvPr id="5" name="!!M2">
            <a:extLst>
              <a:ext uri="{FF2B5EF4-FFF2-40B4-BE49-F238E27FC236}">
                <a16:creationId xmlns:a16="http://schemas.microsoft.com/office/drawing/2014/main" id="{C65EC525-3DB2-B776-DE91-EB5C4F27759F}"/>
              </a:ext>
            </a:extLst>
          </p:cNvPr>
          <p:cNvSpPr/>
          <p:nvPr/>
        </p:nvSpPr>
        <p:spPr>
          <a:xfrm>
            <a:off x="13335000" y="23622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DS1: </a:t>
            </a:r>
            <a:r>
              <a:rPr lang="en-US" sz="1600" dirty="0">
                <a:solidFill>
                  <a:srgbClr val="FF0000"/>
                </a:solidFill>
              </a:rPr>
              <a:t>Processing objects/context (LEC Input).</a:t>
            </a:r>
          </a:p>
        </p:txBody>
      </p:sp>
    </p:spTree>
    <p:extLst>
      <p:ext uri="{BB962C8B-B14F-4D97-AF65-F5344CB8AC3E}">
        <p14:creationId xmlns:p14="http://schemas.microsoft.com/office/powerpoint/2010/main" val="2792227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70CF5-DF79-AE4D-1B6F-9B0A43BA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F1">
            <a:extLst>
              <a:ext uri="{FF2B5EF4-FFF2-40B4-BE49-F238E27FC236}">
                <a16:creationId xmlns:a16="http://schemas.microsoft.com/office/drawing/2014/main" id="{29BA1171-F8BC-404E-3489-152AF30D90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-2351281"/>
            <a:ext cx="14523267" cy="10403941"/>
          </a:xfrm>
          <a:prstGeom prst="rect">
            <a:avLst/>
          </a:prstGeom>
        </p:spPr>
      </p:pic>
      <p:sp>
        <p:nvSpPr>
          <p:cNvPr id="18" name="!!S1_">
            <a:extLst>
              <a:ext uri="{FF2B5EF4-FFF2-40B4-BE49-F238E27FC236}">
                <a16:creationId xmlns:a16="http://schemas.microsoft.com/office/drawing/2014/main" id="{8A2A817A-DD9E-362B-C02F-79372978A94B}"/>
              </a:ext>
            </a:extLst>
          </p:cNvPr>
          <p:cNvSpPr/>
          <p:nvPr/>
        </p:nvSpPr>
        <p:spPr>
          <a:xfrm>
            <a:off x="-6477000" y="-2438400"/>
            <a:ext cx="21124752" cy="10668000"/>
          </a:xfrm>
          <a:custGeom>
            <a:avLst/>
            <a:gdLst>
              <a:gd name="csX0" fmla="*/ 9982200 w 21124752"/>
              <a:gd name="csY0" fmla="*/ 3314700 h 10668000"/>
              <a:gd name="csX1" fmla="*/ 9982200 w 21124752"/>
              <a:gd name="csY1" fmla="*/ 4143375 h 10668000"/>
              <a:gd name="csX2" fmla="*/ 8167688 w 21124752"/>
              <a:gd name="csY2" fmla="*/ 4962525 h 10668000"/>
              <a:gd name="csX3" fmla="*/ 8167688 w 21124752"/>
              <a:gd name="csY3" fmla="*/ 7029450 h 10668000"/>
              <a:gd name="csX4" fmla="*/ 8734425 w 21124752"/>
              <a:gd name="csY4" fmla="*/ 7029450 h 10668000"/>
              <a:gd name="csX5" fmla="*/ 8705850 w 21124752"/>
              <a:gd name="csY5" fmla="*/ 5238750 h 10668000"/>
              <a:gd name="csX6" fmla="*/ 9972675 w 21124752"/>
              <a:gd name="csY6" fmla="*/ 4700588 h 10668000"/>
              <a:gd name="csX7" fmla="*/ 9972675 w 21124752"/>
              <a:gd name="csY7" fmla="*/ 5867400 h 10668000"/>
              <a:gd name="csX8" fmla="*/ 14844713 w 21124752"/>
              <a:gd name="csY8" fmla="*/ 5867400 h 10668000"/>
              <a:gd name="csX9" fmla="*/ 14844713 w 21124752"/>
              <a:gd name="csY9" fmla="*/ 3314700 h 10668000"/>
              <a:gd name="csX10" fmla="*/ 0 w 21124752"/>
              <a:gd name="csY10" fmla="*/ 0 h 10668000"/>
              <a:gd name="csX11" fmla="*/ 21124752 w 21124752"/>
              <a:gd name="csY11" fmla="*/ 0 h 10668000"/>
              <a:gd name="csX12" fmla="*/ 21124752 w 21124752"/>
              <a:gd name="csY12" fmla="*/ 10668000 h 10668000"/>
              <a:gd name="csX13" fmla="*/ 0 w 21124752"/>
              <a:gd name="csY13" fmla="*/ 10668000 h 1066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124752" h="10668000">
                <a:moveTo>
                  <a:pt x="9982200" y="3314700"/>
                </a:moveTo>
                <a:lnTo>
                  <a:pt x="9982200" y="4143375"/>
                </a:lnTo>
                <a:lnTo>
                  <a:pt x="8167688" y="4962525"/>
                </a:lnTo>
                <a:lnTo>
                  <a:pt x="8167688" y="7029450"/>
                </a:lnTo>
                <a:lnTo>
                  <a:pt x="8734425" y="7029450"/>
                </a:lnTo>
                <a:cubicBezTo>
                  <a:pt x="8709026" y="6419850"/>
                  <a:pt x="8707438" y="5829300"/>
                  <a:pt x="8705850" y="5238750"/>
                </a:cubicBezTo>
                <a:lnTo>
                  <a:pt x="9972675" y="4700588"/>
                </a:lnTo>
                <a:lnTo>
                  <a:pt x="9972675" y="5867400"/>
                </a:lnTo>
                <a:lnTo>
                  <a:pt x="14844713" y="5867400"/>
                </a:lnTo>
                <a:lnTo>
                  <a:pt x="14844713" y="3314700"/>
                </a:lnTo>
                <a:close/>
                <a:moveTo>
                  <a:pt x="0" y="0"/>
                </a:moveTo>
                <a:lnTo>
                  <a:pt x="21124752" y="0"/>
                </a:lnTo>
                <a:lnTo>
                  <a:pt x="21124752" y="10668000"/>
                </a:lnTo>
                <a:lnTo>
                  <a:pt x="0" y="1066800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579EBF-795E-FE98-BFAC-551FF12C5E5A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188E8-9327-C081-97ED-B9B81020A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 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4DB688BF-A49C-9878-4DD3-5E0B13222851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SPW-R</a:t>
            </a:r>
            <a:r>
              <a:rPr lang="en-US">
                <a:solidFill>
                  <a:schemeClr val="bg1"/>
                </a:solidFill>
              </a:rPr>
              <a:t>: Internal memory consolidation (Offline).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5" name="!!M2">
            <a:extLst>
              <a:ext uri="{FF2B5EF4-FFF2-40B4-BE49-F238E27FC236}">
                <a16:creationId xmlns:a16="http://schemas.microsoft.com/office/drawing/2014/main" id="{A58A2344-B34F-1BC6-F1EC-3DD385345336}"/>
              </a:ext>
            </a:extLst>
          </p:cNvPr>
          <p:cNvSpPr/>
          <p:nvPr/>
        </p:nvSpPr>
        <p:spPr>
          <a:xfrm>
            <a:off x="8534400" y="23622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DS1: </a:t>
            </a:r>
            <a:r>
              <a:rPr lang="en-US" sz="1600" dirty="0">
                <a:solidFill>
                  <a:srgbClr val="FF0000"/>
                </a:solidFill>
              </a:rPr>
              <a:t>Processing objects/context (LEC Input).</a:t>
            </a:r>
          </a:p>
        </p:txBody>
      </p:sp>
      <p:pic>
        <p:nvPicPr>
          <p:cNvPr id="3074" name="Picture 2" descr="Migration in the hippocampus - ScienceDirect">
            <a:extLst>
              <a:ext uri="{FF2B5EF4-FFF2-40B4-BE49-F238E27FC236}">
                <a16:creationId xmlns:a16="http://schemas.microsoft.com/office/drawing/2014/main" id="{59B4A341-F049-AD41-C2EE-6B678A944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993443"/>
            <a:ext cx="2463608" cy="1660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>
            <a:extLst>
              <a:ext uri="{FF2B5EF4-FFF2-40B4-BE49-F238E27FC236}">
                <a16:creationId xmlns:a16="http://schemas.microsoft.com/office/drawing/2014/main" id="{6B3A55DE-5291-15FC-5F0D-6BEDF029ED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50443" y="4470897"/>
            <a:ext cx="284719" cy="1853552"/>
          </a:xfrm>
          <a:prstGeom prst="rect">
            <a:avLst/>
          </a:prstGeom>
        </p:spPr>
      </p:pic>
      <p:sp>
        <p:nvSpPr>
          <p:cNvPr id="4" name="!!Focus">
            <a:extLst>
              <a:ext uri="{FF2B5EF4-FFF2-40B4-BE49-F238E27FC236}">
                <a16:creationId xmlns:a16="http://schemas.microsoft.com/office/drawing/2014/main" id="{D7E13B80-420A-DE1A-81CF-762A5A957298}"/>
              </a:ext>
            </a:extLst>
          </p:cNvPr>
          <p:cNvSpPr/>
          <p:nvPr/>
        </p:nvSpPr>
        <p:spPr>
          <a:xfrm>
            <a:off x="6033788" y="2400791"/>
            <a:ext cx="533400" cy="95200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24DE5-2564-4F14-F2B8-7D669DCDF6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-3810000" y="952500"/>
            <a:ext cx="3276600" cy="23622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89378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EDA26-F910-7DD1-F991-AB9927F69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F1">
            <a:extLst>
              <a:ext uri="{FF2B5EF4-FFF2-40B4-BE49-F238E27FC236}">
                <a16:creationId xmlns:a16="http://schemas.microsoft.com/office/drawing/2014/main" id="{29F56DD6-9640-2C4C-F79B-341B82946B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-2351281"/>
            <a:ext cx="14523267" cy="10403941"/>
          </a:xfrm>
          <a:prstGeom prst="rect">
            <a:avLst/>
          </a:prstGeom>
        </p:spPr>
      </p:pic>
      <p:sp>
        <p:nvSpPr>
          <p:cNvPr id="18" name="!!S1_">
            <a:extLst>
              <a:ext uri="{FF2B5EF4-FFF2-40B4-BE49-F238E27FC236}">
                <a16:creationId xmlns:a16="http://schemas.microsoft.com/office/drawing/2014/main" id="{D11353EF-DA5A-E299-828F-B9506902CEFE}"/>
              </a:ext>
            </a:extLst>
          </p:cNvPr>
          <p:cNvSpPr/>
          <p:nvPr/>
        </p:nvSpPr>
        <p:spPr>
          <a:xfrm>
            <a:off x="-6477000" y="-2438400"/>
            <a:ext cx="21124752" cy="10668000"/>
          </a:xfrm>
          <a:custGeom>
            <a:avLst/>
            <a:gdLst>
              <a:gd name="csX0" fmla="*/ 9982200 w 21124752"/>
              <a:gd name="csY0" fmla="*/ 3314700 h 10668000"/>
              <a:gd name="csX1" fmla="*/ 9982200 w 21124752"/>
              <a:gd name="csY1" fmla="*/ 4143375 h 10668000"/>
              <a:gd name="csX2" fmla="*/ 8167688 w 21124752"/>
              <a:gd name="csY2" fmla="*/ 4962525 h 10668000"/>
              <a:gd name="csX3" fmla="*/ 8167688 w 21124752"/>
              <a:gd name="csY3" fmla="*/ 7029450 h 10668000"/>
              <a:gd name="csX4" fmla="*/ 8734425 w 21124752"/>
              <a:gd name="csY4" fmla="*/ 7029450 h 10668000"/>
              <a:gd name="csX5" fmla="*/ 8705850 w 21124752"/>
              <a:gd name="csY5" fmla="*/ 5238750 h 10668000"/>
              <a:gd name="csX6" fmla="*/ 9972675 w 21124752"/>
              <a:gd name="csY6" fmla="*/ 4700588 h 10668000"/>
              <a:gd name="csX7" fmla="*/ 9972675 w 21124752"/>
              <a:gd name="csY7" fmla="*/ 5867400 h 10668000"/>
              <a:gd name="csX8" fmla="*/ 14844713 w 21124752"/>
              <a:gd name="csY8" fmla="*/ 5867400 h 10668000"/>
              <a:gd name="csX9" fmla="*/ 14844713 w 21124752"/>
              <a:gd name="csY9" fmla="*/ 3314700 h 10668000"/>
              <a:gd name="csX10" fmla="*/ 0 w 21124752"/>
              <a:gd name="csY10" fmla="*/ 0 h 10668000"/>
              <a:gd name="csX11" fmla="*/ 21124752 w 21124752"/>
              <a:gd name="csY11" fmla="*/ 0 h 10668000"/>
              <a:gd name="csX12" fmla="*/ 21124752 w 21124752"/>
              <a:gd name="csY12" fmla="*/ 10668000 h 10668000"/>
              <a:gd name="csX13" fmla="*/ 0 w 21124752"/>
              <a:gd name="csY13" fmla="*/ 10668000 h 1066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124752" h="10668000">
                <a:moveTo>
                  <a:pt x="9982200" y="3314700"/>
                </a:moveTo>
                <a:lnTo>
                  <a:pt x="9982200" y="4143375"/>
                </a:lnTo>
                <a:lnTo>
                  <a:pt x="8167688" y="4962525"/>
                </a:lnTo>
                <a:lnTo>
                  <a:pt x="8167688" y="7029450"/>
                </a:lnTo>
                <a:lnTo>
                  <a:pt x="8734425" y="7029450"/>
                </a:lnTo>
                <a:cubicBezTo>
                  <a:pt x="8709026" y="6419850"/>
                  <a:pt x="8707438" y="5829300"/>
                  <a:pt x="8705850" y="5238750"/>
                </a:cubicBezTo>
                <a:lnTo>
                  <a:pt x="9972675" y="4700588"/>
                </a:lnTo>
                <a:lnTo>
                  <a:pt x="9972675" y="5867400"/>
                </a:lnTo>
                <a:lnTo>
                  <a:pt x="14844713" y="5867400"/>
                </a:lnTo>
                <a:lnTo>
                  <a:pt x="14844713" y="3314700"/>
                </a:lnTo>
                <a:close/>
                <a:moveTo>
                  <a:pt x="0" y="0"/>
                </a:moveTo>
                <a:lnTo>
                  <a:pt x="21124752" y="0"/>
                </a:lnTo>
                <a:lnTo>
                  <a:pt x="21124752" y="10668000"/>
                </a:lnTo>
                <a:lnTo>
                  <a:pt x="0" y="1066800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6DE8E0-2B31-311F-C927-8331E891D779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13B40-3544-B2C9-1DF7-899DFE34F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 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57B461E9-55F5-F2D7-3186-9ECA26685C7E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SPW-R</a:t>
            </a:r>
            <a:r>
              <a:rPr lang="en-US">
                <a:solidFill>
                  <a:schemeClr val="bg1"/>
                </a:solidFill>
              </a:rPr>
              <a:t>: Internal memory consolidation (Offline).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5" name="!!M2">
            <a:extLst>
              <a:ext uri="{FF2B5EF4-FFF2-40B4-BE49-F238E27FC236}">
                <a16:creationId xmlns:a16="http://schemas.microsoft.com/office/drawing/2014/main" id="{F4F988F5-15B9-E762-E9E4-A20F1EB0061E}"/>
              </a:ext>
            </a:extLst>
          </p:cNvPr>
          <p:cNvSpPr/>
          <p:nvPr/>
        </p:nvSpPr>
        <p:spPr>
          <a:xfrm>
            <a:off x="8534400" y="23622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DS1: </a:t>
            </a:r>
            <a:r>
              <a:rPr lang="en-US" sz="1600" dirty="0">
                <a:solidFill>
                  <a:srgbClr val="FF0000"/>
                </a:solidFill>
              </a:rPr>
              <a:t>Processing objects/context (LEC Input).</a:t>
            </a:r>
          </a:p>
        </p:txBody>
      </p:sp>
      <p:pic>
        <p:nvPicPr>
          <p:cNvPr id="3074" name="Picture 2" descr="Migration in the hippocampus - ScienceDirect">
            <a:extLst>
              <a:ext uri="{FF2B5EF4-FFF2-40B4-BE49-F238E27FC236}">
                <a16:creationId xmlns:a16="http://schemas.microsoft.com/office/drawing/2014/main" id="{5D0A1DBC-58F2-CAF3-0DE8-DC599193E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993443"/>
            <a:ext cx="2463608" cy="1660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>
            <a:extLst>
              <a:ext uri="{FF2B5EF4-FFF2-40B4-BE49-F238E27FC236}">
                <a16:creationId xmlns:a16="http://schemas.microsoft.com/office/drawing/2014/main" id="{EA687267-A9A3-6D1E-7643-6E8156EC31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50443" y="4470897"/>
            <a:ext cx="284719" cy="18535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9808F2-C632-BAC3-4856-3023BE23B7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76200" y="952500"/>
            <a:ext cx="3276600" cy="23622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!!Focus">
            <a:extLst>
              <a:ext uri="{FF2B5EF4-FFF2-40B4-BE49-F238E27FC236}">
                <a16:creationId xmlns:a16="http://schemas.microsoft.com/office/drawing/2014/main" id="{0393B2BD-28EA-D120-D546-99F054F897F0}"/>
              </a:ext>
            </a:extLst>
          </p:cNvPr>
          <p:cNvSpPr/>
          <p:nvPr/>
        </p:nvSpPr>
        <p:spPr>
          <a:xfrm>
            <a:off x="2549924" y="2286001"/>
            <a:ext cx="802876" cy="304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5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78A38-70D3-ABA7-AA3F-BF9C89D59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F1">
            <a:extLst>
              <a:ext uri="{FF2B5EF4-FFF2-40B4-BE49-F238E27FC236}">
                <a16:creationId xmlns:a16="http://schemas.microsoft.com/office/drawing/2014/main" id="{CA41C216-1AE9-73C6-1ADE-6409F1E95E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-2351281"/>
            <a:ext cx="14523267" cy="10403941"/>
          </a:xfrm>
          <a:prstGeom prst="rect">
            <a:avLst/>
          </a:prstGeom>
        </p:spPr>
      </p:pic>
      <p:sp>
        <p:nvSpPr>
          <p:cNvPr id="18" name="!!S1_">
            <a:extLst>
              <a:ext uri="{FF2B5EF4-FFF2-40B4-BE49-F238E27FC236}">
                <a16:creationId xmlns:a16="http://schemas.microsoft.com/office/drawing/2014/main" id="{BB740B22-FAF6-56E5-B3DD-9BFD2D592675}"/>
              </a:ext>
            </a:extLst>
          </p:cNvPr>
          <p:cNvSpPr/>
          <p:nvPr/>
        </p:nvSpPr>
        <p:spPr>
          <a:xfrm>
            <a:off x="-6477000" y="-2438400"/>
            <a:ext cx="21124752" cy="10668000"/>
          </a:xfrm>
          <a:custGeom>
            <a:avLst/>
            <a:gdLst>
              <a:gd name="csX0" fmla="*/ 9982200 w 21124752"/>
              <a:gd name="csY0" fmla="*/ 3314700 h 10668000"/>
              <a:gd name="csX1" fmla="*/ 9982200 w 21124752"/>
              <a:gd name="csY1" fmla="*/ 4143375 h 10668000"/>
              <a:gd name="csX2" fmla="*/ 8167688 w 21124752"/>
              <a:gd name="csY2" fmla="*/ 4962525 h 10668000"/>
              <a:gd name="csX3" fmla="*/ 8167688 w 21124752"/>
              <a:gd name="csY3" fmla="*/ 7029450 h 10668000"/>
              <a:gd name="csX4" fmla="*/ 8734425 w 21124752"/>
              <a:gd name="csY4" fmla="*/ 7029450 h 10668000"/>
              <a:gd name="csX5" fmla="*/ 8705850 w 21124752"/>
              <a:gd name="csY5" fmla="*/ 5238750 h 10668000"/>
              <a:gd name="csX6" fmla="*/ 9972675 w 21124752"/>
              <a:gd name="csY6" fmla="*/ 4700588 h 10668000"/>
              <a:gd name="csX7" fmla="*/ 9972675 w 21124752"/>
              <a:gd name="csY7" fmla="*/ 5867400 h 10668000"/>
              <a:gd name="csX8" fmla="*/ 14844713 w 21124752"/>
              <a:gd name="csY8" fmla="*/ 5867400 h 10668000"/>
              <a:gd name="csX9" fmla="*/ 14844713 w 21124752"/>
              <a:gd name="csY9" fmla="*/ 3314700 h 10668000"/>
              <a:gd name="csX10" fmla="*/ 0 w 21124752"/>
              <a:gd name="csY10" fmla="*/ 0 h 10668000"/>
              <a:gd name="csX11" fmla="*/ 21124752 w 21124752"/>
              <a:gd name="csY11" fmla="*/ 0 h 10668000"/>
              <a:gd name="csX12" fmla="*/ 21124752 w 21124752"/>
              <a:gd name="csY12" fmla="*/ 10668000 h 10668000"/>
              <a:gd name="csX13" fmla="*/ 0 w 21124752"/>
              <a:gd name="csY13" fmla="*/ 10668000 h 1066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124752" h="10668000">
                <a:moveTo>
                  <a:pt x="9982200" y="3314700"/>
                </a:moveTo>
                <a:lnTo>
                  <a:pt x="9982200" y="4143375"/>
                </a:lnTo>
                <a:lnTo>
                  <a:pt x="8167688" y="4962525"/>
                </a:lnTo>
                <a:lnTo>
                  <a:pt x="8167688" y="7029450"/>
                </a:lnTo>
                <a:lnTo>
                  <a:pt x="8734425" y="7029450"/>
                </a:lnTo>
                <a:cubicBezTo>
                  <a:pt x="8709026" y="6419850"/>
                  <a:pt x="8707438" y="5829300"/>
                  <a:pt x="8705850" y="5238750"/>
                </a:cubicBezTo>
                <a:lnTo>
                  <a:pt x="9972675" y="4700588"/>
                </a:lnTo>
                <a:lnTo>
                  <a:pt x="9972675" y="5867400"/>
                </a:lnTo>
                <a:lnTo>
                  <a:pt x="14844713" y="5867400"/>
                </a:lnTo>
                <a:lnTo>
                  <a:pt x="14844713" y="3314700"/>
                </a:lnTo>
                <a:close/>
                <a:moveTo>
                  <a:pt x="0" y="0"/>
                </a:moveTo>
                <a:lnTo>
                  <a:pt x="21124752" y="0"/>
                </a:lnTo>
                <a:lnTo>
                  <a:pt x="21124752" y="10668000"/>
                </a:lnTo>
                <a:lnTo>
                  <a:pt x="0" y="1066800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D029F0-E727-CC36-8797-5C02CE7753A4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1BBDB-9FCF-F33E-39EA-8BD9D85E8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 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D1B09662-F75D-8F72-2BA2-9C6C0E836E82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SPW-R</a:t>
            </a:r>
            <a:r>
              <a:rPr lang="en-US">
                <a:solidFill>
                  <a:schemeClr val="bg1"/>
                </a:solidFill>
              </a:rPr>
              <a:t>: Internal memory consolidation (Offline).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5" name="!!M2">
            <a:extLst>
              <a:ext uri="{FF2B5EF4-FFF2-40B4-BE49-F238E27FC236}">
                <a16:creationId xmlns:a16="http://schemas.microsoft.com/office/drawing/2014/main" id="{8ECBA813-3EE1-EE8A-9A60-7B5B8B5EE85B}"/>
              </a:ext>
            </a:extLst>
          </p:cNvPr>
          <p:cNvSpPr/>
          <p:nvPr/>
        </p:nvSpPr>
        <p:spPr>
          <a:xfrm>
            <a:off x="8534400" y="23622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DS1: </a:t>
            </a:r>
            <a:r>
              <a:rPr lang="en-US" sz="1600" dirty="0">
                <a:solidFill>
                  <a:srgbClr val="FF0000"/>
                </a:solidFill>
              </a:rPr>
              <a:t>Processing objects/context (LEC Input).</a:t>
            </a:r>
          </a:p>
        </p:txBody>
      </p:sp>
      <p:pic>
        <p:nvPicPr>
          <p:cNvPr id="3074" name="Picture 2" descr="Migration in the hippocampus - ScienceDirect">
            <a:extLst>
              <a:ext uri="{FF2B5EF4-FFF2-40B4-BE49-F238E27FC236}">
                <a16:creationId xmlns:a16="http://schemas.microsoft.com/office/drawing/2014/main" id="{CB66CE04-4792-68E9-74F8-ECCB4B1FC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993443"/>
            <a:ext cx="2463608" cy="1660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>
            <a:extLst>
              <a:ext uri="{FF2B5EF4-FFF2-40B4-BE49-F238E27FC236}">
                <a16:creationId xmlns:a16="http://schemas.microsoft.com/office/drawing/2014/main" id="{3EF833F5-B709-F6B2-1756-219DF52353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50443" y="4470897"/>
            <a:ext cx="284719" cy="18535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2DD46C-9E9B-9DFA-421C-AE45533ADF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76200" y="952500"/>
            <a:ext cx="3276600" cy="23622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60BACF0-1500-4BEF-E26A-57B2EC7A9BD5}"/>
              </a:ext>
            </a:extLst>
          </p:cNvPr>
          <p:cNvCxnSpPr>
            <a:cxnSpLocks/>
          </p:cNvCxnSpPr>
          <p:nvPr/>
        </p:nvCxnSpPr>
        <p:spPr>
          <a:xfrm>
            <a:off x="1524000" y="1981200"/>
            <a:ext cx="2362200" cy="6096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!!Focus">
            <a:extLst>
              <a:ext uri="{FF2B5EF4-FFF2-40B4-BE49-F238E27FC236}">
                <a16:creationId xmlns:a16="http://schemas.microsoft.com/office/drawing/2014/main" id="{5DD071E8-7AFD-1E54-29ED-B46AC9C2EF4E}"/>
              </a:ext>
            </a:extLst>
          </p:cNvPr>
          <p:cNvSpPr/>
          <p:nvPr/>
        </p:nvSpPr>
        <p:spPr>
          <a:xfrm>
            <a:off x="1048692" y="1981200"/>
            <a:ext cx="246708" cy="152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M1">
            <a:extLst>
              <a:ext uri="{FF2B5EF4-FFF2-40B4-BE49-F238E27FC236}">
                <a16:creationId xmlns:a16="http://schemas.microsoft.com/office/drawing/2014/main" id="{A1CBBDF3-A38D-2E1F-B58B-DB1A5ACB3186}"/>
              </a:ext>
            </a:extLst>
          </p:cNvPr>
          <p:cNvSpPr/>
          <p:nvPr/>
        </p:nvSpPr>
        <p:spPr>
          <a:xfrm>
            <a:off x="13130872" y="34290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40000"/>
              </a:lnSpc>
            </a:pPr>
            <a:r>
              <a:rPr lang="en-US" b="1" dirty="0">
                <a:solidFill>
                  <a:srgbClr val="FF0000"/>
                </a:solidFill>
              </a:rPr>
              <a:t>DS2:</a:t>
            </a:r>
            <a:r>
              <a:rPr lang="en-US" dirty="0">
                <a:solidFill>
                  <a:srgbClr val="FF0000"/>
                </a:solidFill>
              </a:rPr>
              <a:t> Processing of spatial coordinates and arousal (MEC Input).</a:t>
            </a:r>
          </a:p>
        </p:txBody>
      </p:sp>
    </p:spTree>
    <p:extLst>
      <p:ext uri="{BB962C8B-B14F-4D97-AF65-F5344CB8AC3E}">
        <p14:creationId xmlns:p14="http://schemas.microsoft.com/office/powerpoint/2010/main" val="1883679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43927-89A0-98BB-D90A-542BE584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F1">
            <a:extLst>
              <a:ext uri="{FF2B5EF4-FFF2-40B4-BE49-F238E27FC236}">
                <a16:creationId xmlns:a16="http://schemas.microsoft.com/office/drawing/2014/main" id="{DCE8AF80-4835-C2A8-B85D-F48AB5FE08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-4637281"/>
            <a:ext cx="14523267" cy="10403941"/>
          </a:xfrm>
          <a:prstGeom prst="rect">
            <a:avLst/>
          </a:prstGeom>
        </p:spPr>
      </p:pic>
      <p:sp>
        <p:nvSpPr>
          <p:cNvPr id="12" name="!!S1">
            <a:extLst>
              <a:ext uri="{FF2B5EF4-FFF2-40B4-BE49-F238E27FC236}">
                <a16:creationId xmlns:a16="http://schemas.microsoft.com/office/drawing/2014/main" id="{52FFBF42-F8E1-A1F4-79B1-5493C1865E46}"/>
              </a:ext>
            </a:extLst>
          </p:cNvPr>
          <p:cNvSpPr/>
          <p:nvPr/>
        </p:nvSpPr>
        <p:spPr>
          <a:xfrm>
            <a:off x="-6477000" y="-3657600"/>
            <a:ext cx="21124752" cy="10668000"/>
          </a:xfrm>
          <a:custGeom>
            <a:avLst/>
            <a:gdLst>
              <a:gd name="csX0" fmla="*/ 8715103 w 21124752"/>
              <a:gd name="csY0" fmla="*/ 4423954 h 10668000"/>
              <a:gd name="csX1" fmla="*/ 8715103 w 21124752"/>
              <a:gd name="csY1" fmla="*/ 5728063 h 10668000"/>
              <a:gd name="csX2" fmla="*/ 10017034 w 21124752"/>
              <a:gd name="csY2" fmla="*/ 6387737 h 10668000"/>
              <a:gd name="csX3" fmla="*/ 10017034 w 21124752"/>
              <a:gd name="csY3" fmla="*/ 8022771 h 10668000"/>
              <a:gd name="csX4" fmla="*/ 14778446 w 21124752"/>
              <a:gd name="csY4" fmla="*/ 8022771 h 10668000"/>
              <a:gd name="csX5" fmla="*/ 14778446 w 21124752"/>
              <a:gd name="csY5" fmla="*/ 4826726 h 10668000"/>
              <a:gd name="csX6" fmla="*/ 10008388 w 21124752"/>
              <a:gd name="csY6" fmla="*/ 4826726 h 10668000"/>
              <a:gd name="csX7" fmla="*/ 10008388 w 21124752"/>
              <a:gd name="csY7" fmla="*/ 5957767 h 10668000"/>
              <a:gd name="csX8" fmla="*/ 9248535 w 21124752"/>
              <a:gd name="csY8" fmla="*/ 5527612 h 10668000"/>
              <a:gd name="csX9" fmla="*/ 9248535 w 21124752"/>
              <a:gd name="csY9" fmla="*/ 4435484 h 10668000"/>
              <a:gd name="csX10" fmla="*/ 0 w 21124752"/>
              <a:gd name="csY10" fmla="*/ 0 h 10668000"/>
              <a:gd name="csX11" fmla="*/ 21124752 w 21124752"/>
              <a:gd name="csY11" fmla="*/ 0 h 10668000"/>
              <a:gd name="csX12" fmla="*/ 21124752 w 21124752"/>
              <a:gd name="csY12" fmla="*/ 10668000 h 10668000"/>
              <a:gd name="csX13" fmla="*/ 0 w 21124752"/>
              <a:gd name="csY13" fmla="*/ 10668000 h 1066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124752" h="10668000">
                <a:moveTo>
                  <a:pt x="8715103" y="4423954"/>
                </a:moveTo>
                <a:lnTo>
                  <a:pt x="8715103" y="5728063"/>
                </a:lnTo>
                <a:lnTo>
                  <a:pt x="10017034" y="6387737"/>
                </a:lnTo>
                <a:lnTo>
                  <a:pt x="10017034" y="8022771"/>
                </a:lnTo>
                <a:lnTo>
                  <a:pt x="14778446" y="8022771"/>
                </a:lnTo>
                <a:lnTo>
                  <a:pt x="14778446" y="4826726"/>
                </a:lnTo>
                <a:lnTo>
                  <a:pt x="10008388" y="4826726"/>
                </a:lnTo>
                <a:lnTo>
                  <a:pt x="10008388" y="5957767"/>
                </a:lnTo>
                <a:lnTo>
                  <a:pt x="9248535" y="5527612"/>
                </a:lnTo>
                <a:lnTo>
                  <a:pt x="9248535" y="4435484"/>
                </a:lnTo>
                <a:close/>
                <a:moveTo>
                  <a:pt x="0" y="0"/>
                </a:moveTo>
                <a:lnTo>
                  <a:pt x="21124752" y="0"/>
                </a:lnTo>
                <a:lnTo>
                  <a:pt x="21124752" y="10668000"/>
                </a:lnTo>
                <a:lnTo>
                  <a:pt x="0" y="1066800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17D6BD-2883-2821-1F69-1B0E60F3D581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FD505-0DE2-EF26-05B5-56B047F66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 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894EE166-6B5C-0365-7713-BCD1C5CEE70D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SPW-R</a:t>
            </a:r>
            <a:r>
              <a:rPr lang="en-US">
                <a:solidFill>
                  <a:schemeClr val="bg1"/>
                </a:solidFill>
              </a:rPr>
              <a:t>: Internal memory consolidation (Offline).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5" name="!!M2">
            <a:extLst>
              <a:ext uri="{FF2B5EF4-FFF2-40B4-BE49-F238E27FC236}">
                <a16:creationId xmlns:a16="http://schemas.microsoft.com/office/drawing/2014/main" id="{940F69DE-8E65-925A-2E9E-970062547CB3}"/>
              </a:ext>
            </a:extLst>
          </p:cNvPr>
          <p:cNvSpPr/>
          <p:nvPr/>
        </p:nvSpPr>
        <p:spPr>
          <a:xfrm>
            <a:off x="8534400" y="23622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DS1: </a:t>
            </a:r>
            <a:r>
              <a:rPr lang="en-US" sz="1600" dirty="0">
                <a:solidFill>
                  <a:schemeClr val="bg1"/>
                </a:solidFill>
              </a:rPr>
              <a:t>Processing objects/context (LEC Input).</a:t>
            </a: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01FF6AD8-69E5-5BF7-23E4-3B185A485A3B}"/>
              </a:ext>
            </a:extLst>
          </p:cNvPr>
          <p:cNvSpPr/>
          <p:nvPr/>
        </p:nvSpPr>
        <p:spPr>
          <a:xfrm>
            <a:off x="8534400" y="34290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40000"/>
              </a:lnSpc>
            </a:pPr>
            <a:r>
              <a:rPr lang="en-US" b="1" dirty="0">
                <a:solidFill>
                  <a:srgbClr val="FF0000"/>
                </a:solidFill>
              </a:rPr>
              <a:t>DS2:</a:t>
            </a:r>
            <a:r>
              <a:rPr lang="en-US" dirty="0">
                <a:solidFill>
                  <a:srgbClr val="FF0000"/>
                </a:solidFill>
              </a:rPr>
              <a:t> Processing of spatial coordinates and arousal (MEC Input).</a:t>
            </a:r>
          </a:p>
        </p:txBody>
      </p:sp>
      <p:pic>
        <p:nvPicPr>
          <p:cNvPr id="3074" name="Picture 2" descr="Migration in the hippocampus - ScienceDirect">
            <a:extLst>
              <a:ext uri="{FF2B5EF4-FFF2-40B4-BE49-F238E27FC236}">
                <a16:creationId xmlns:a16="http://schemas.microsoft.com/office/drawing/2014/main" id="{7A29F872-E69C-7339-038D-F852A93A7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993443"/>
            <a:ext cx="2463608" cy="1660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>
            <a:extLst>
              <a:ext uri="{FF2B5EF4-FFF2-40B4-BE49-F238E27FC236}">
                <a16:creationId xmlns:a16="http://schemas.microsoft.com/office/drawing/2014/main" id="{885E785C-D805-E269-29EF-165BDF7778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50443" y="4470897"/>
            <a:ext cx="284719" cy="1853552"/>
          </a:xfrm>
          <a:prstGeom prst="rect">
            <a:avLst/>
          </a:prstGeom>
        </p:spPr>
      </p:pic>
      <p:sp>
        <p:nvSpPr>
          <p:cNvPr id="4" name="!!Focus">
            <a:extLst>
              <a:ext uri="{FF2B5EF4-FFF2-40B4-BE49-F238E27FC236}">
                <a16:creationId xmlns:a16="http://schemas.microsoft.com/office/drawing/2014/main" id="{732EA7BC-E320-E45A-498E-A8C8C50138B8}"/>
              </a:ext>
            </a:extLst>
          </p:cNvPr>
          <p:cNvSpPr/>
          <p:nvPr/>
        </p:nvSpPr>
        <p:spPr>
          <a:xfrm>
            <a:off x="5943600" y="3048000"/>
            <a:ext cx="685800" cy="73077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Focus2">
            <a:extLst>
              <a:ext uri="{FF2B5EF4-FFF2-40B4-BE49-F238E27FC236}">
                <a16:creationId xmlns:a16="http://schemas.microsoft.com/office/drawing/2014/main" id="{5B93CC81-3E64-6BDA-DBC3-5F33A535A062}"/>
              </a:ext>
            </a:extLst>
          </p:cNvPr>
          <p:cNvSpPr/>
          <p:nvPr/>
        </p:nvSpPr>
        <p:spPr>
          <a:xfrm>
            <a:off x="5961807" y="3048000"/>
            <a:ext cx="685800" cy="73077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20BAAF-CF73-6FF0-9F85-2BC82C694E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9357168" y="4721057"/>
            <a:ext cx="2286000" cy="16480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DF973C-D890-4011-8439-BA31BEE1BEF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828" r="26345"/>
          <a:stretch>
            <a:fillRect/>
          </a:stretch>
        </p:blipFill>
        <p:spPr>
          <a:xfrm>
            <a:off x="-2209800" y="1191517"/>
            <a:ext cx="1547614" cy="24667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3870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71B17-D110-E70D-3568-ABD1297C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!!F1">
            <a:extLst>
              <a:ext uri="{FF2B5EF4-FFF2-40B4-BE49-F238E27FC236}">
                <a16:creationId xmlns:a16="http://schemas.microsoft.com/office/drawing/2014/main" id="{E3D8982A-A229-CDC1-7214-4E2D2B9372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-4637281"/>
            <a:ext cx="14523267" cy="10403941"/>
          </a:xfrm>
          <a:prstGeom prst="rect">
            <a:avLst/>
          </a:prstGeom>
        </p:spPr>
      </p:pic>
      <p:sp>
        <p:nvSpPr>
          <p:cNvPr id="12" name="!!S1">
            <a:extLst>
              <a:ext uri="{FF2B5EF4-FFF2-40B4-BE49-F238E27FC236}">
                <a16:creationId xmlns:a16="http://schemas.microsoft.com/office/drawing/2014/main" id="{7F9C8AAE-33D9-E373-10E1-B4E816DAAE08}"/>
              </a:ext>
            </a:extLst>
          </p:cNvPr>
          <p:cNvSpPr/>
          <p:nvPr/>
        </p:nvSpPr>
        <p:spPr>
          <a:xfrm>
            <a:off x="-6477000" y="-3657600"/>
            <a:ext cx="21124752" cy="10668000"/>
          </a:xfrm>
          <a:custGeom>
            <a:avLst/>
            <a:gdLst>
              <a:gd name="csX0" fmla="*/ 8715103 w 21124752"/>
              <a:gd name="csY0" fmla="*/ 4423954 h 10668000"/>
              <a:gd name="csX1" fmla="*/ 8715103 w 21124752"/>
              <a:gd name="csY1" fmla="*/ 5728063 h 10668000"/>
              <a:gd name="csX2" fmla="*/ 10017034 w 21124752"/>
              <a:gd name="csY2" fmla="*/ 6387737 h 10668000"/>
              <a:gd name="csX3" fmla="*/ 10017034 w 21124752"/>
              <a:gd name="csY3" fmla="*/ 8022771 h 10668000"/>
              <a:gd name="csX4" fmla="*/ 14778446 w 21124752"/>
              <a:gd name="csY4" fmla="*/ 8022771 h 10668000"/>
              <a:gd name="csX5" fmla="*/ 14778446 w 21124752"/>
              <a:gd name="csY5" fmla="*/ 4826726 h 10668000"/>
              <a:gd name="csX6" fmla="*/ 10008388 w 21124752"/>
              <a:gd name="csY6" fmla="*/ 4826726 h 10668000"/>
              <a:gd name="csX7" fmla="*/ 10008388 w 21124752"/>
              <a:gd name="csY7" fmla="*/ 5957767 h 10668000"/>
              <a:gd name="csX8" fmla="*/ 9248535 w 21124752"/>
              <a:gd name="csY8" fmla="*/ 5527612 h 10668000"/>
              <a:gd name="csX9" fmla="*/ 9248535 w 21124752"/>
              <a:gd name="csY9" fmla="*/ 4435484 h 10668000"/>
              <a:gd name="csX10" fmla="*/ 0 w 21124752"/>
              <a:gd name="csY10" fmla="*/ 0 h 10668000"/>
              <a:gd name="csX11" fmla="*/ 21124752 w 21124752"/>
              <a:gd name="csY11" fmla="*/ 0 h 10668000"/>
              <a:gd name="csX12" fmla="*/ 21124752 w 21124752"/>
              <a:gd name="csY12" fmla="*/ 10668000 h 10668000"/>
              <a:gd name="csX13" fmla="*/ 0 w 21124752"/>
              <a:gd name="csY13" fmla="*/ 10668000 h 1066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124752" h="10668000">
                <a:moveTo>
                  <a:pt x="8715103" y="4423954"/>
                </a:moveTo>
                <a:lnTo>
                  <a:pt x="8715103" y="5728063"/>
                </a:lnTo>
                <a:lnTo>
                  <a:pt x="10017034" y="6387737"/>
                </a:lnTo>
                <a:lnTo>
                  <a:pt x="10017034" y="8022771"/>
                </a:lnTo>
                <a:lnTo>
                  <a:pt x="14778446" y="8022771"/>
                </a:lnTo>
                <a:lnTo>
                  <a:pt x="14778446" y="4826726"/>
                </a:lnTo>
                <a:lnTo>
                  <a:pt x="10008388" y="4826726"/>
                </a:lnTo>
                <a:lnTo>
                  <a:pt x="10008388" y="5957767"/>
                </a:lnTo>
                <a:lnTo>
                  <a:pt x="9248535" y="5527612"/>
                </a:lnTo>
                <a:lnTo>
                  <a:pt x="9248535" y="4435484"/>
                </a:lnTo>
                <a:close/>
                <a:moveTo>
                  <a:pt x="0" y="0"/>
                </a:moveTo>
                <a:lnTo>
                  <a:pt x="21124752" y="0"/>
                </a:lnTo>
                <a:lnTo>
                  <a:pt x="21124752" y="10668000"/>
                </a:lnTo>
                <a:lnTo>
                  <a:pt x="0" y="1066800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90ED19-4479-FC7F-ED5C-B290151B1514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18637-B994-4F71-7EFC-0B20A97D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 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DF78FD2B-CC19-368F-7F61-A8F9938D4767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SPW-R</a:t>
            </a:r>
            <a:r>
              <a:rPr lang="en-US">
                <a:solidFill>
                  <a:schemeClr val="bg1"/>
                </a:solidFill>
              </a:rPr>
              <a:t>: Internal memory consolidation (Offline).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5" name="!!M2">
            <a:extLst>
              <a:ext uri="{FF2B5EF4-FFF2-40B4-BE49-F238E27FC236}">
                <a16:creationId xmlns:a16="http://schemas.microsoft.com/office/drawing/2014/main" id="{E9F50C2A-9F0B-89D5-FDAE-9194699C3B3C}"/>
              </a:ext>
            </a:extLst>
          </p:cNvPr>
          <p:cNvSpPr/>
          <p:nvPr/>
        </p:nvSpPr>
        <p:spPr>
          <a:xfrm>
            <a:off x="8534400" y="23622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DS1: </a:t>
            </a:r>
            <a:r>
              <a:rPr lang="en-US" sz="1600" dirty="0">
                <a:solidFill>
                  <a:schemeClr val="bg1"/>
                </a:solidFill>
              </a:rPr>
              <a:t>Processing objects/context (LEC Input).</a:t>
            </a: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D1DEAD36-701F-6688-25F3-5B454E334D96}"/>
              </a:ext>
            </a:extLst>
          </p:cNvPr>
          <p:cNvSpPr/>
          <p:nvPr/>
        </p:nvSpPr>
        <p:spPr>
          <a:xfrm>
            <a:off x="8534400" y="34290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40000"/>
              </a:lnSpc>
            </a:pPr>
            <a:r>
              <a:rPr lang="en-US" b="1" dirty="0">
                <a:solidFill>
                  <a:srgbClr val="FF0000"/>
                </a:solidFill>
              </a:rPr>
              <a:t>DS2:</a:t>
            </a:r>
            <a:r>
              <a:rPr lang="en-US" dirty="0">
                <a:solidFill>
                  <a:srgbClr val="FF0000"/>
                </a:solidFill>
              </a:rPr>
              <a:t> Processing of spatial coordinates and arousal (MEC Input).</a:t>
            </a:r>
          </a:p>
        </p:txBody>
      </p:sp>
      <p:pic>
        <p:nvPicPr>
          <p:cNvPr id="3074" name="Picture 2" descr="Migration in the hippocampus - ScienceDirect">
            <a:extLst>
              <a:ext uri="{FF2B5EF4-FFF2-40B4-BE49-F238E27FC236}">
                <a16:creationId xmlns:a16="http://schemas.microsoft.com/office/drawing/2014/main" id="{51CD7FF6-555F-5181-9A54-14C918BEA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993443"/>
            <a:ext cx="2463608" cy="1660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>
            <a:extLst>
              <a:ext uri="{FF2B5EF4-FFF2-40B4-BE49-F238E27FC236}">
                <a16:creationId xmlns:a16="http://schemas.microsoft.com/office/drawing/2014/main" id="{356437F9-B3CF-93FF-FCE5-58194C5838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50443" y="4470897"/>
            <a:ext cx="284719" cy="1853552"/>
          </a:xfrm>
          <a:prstGeom prst="rect">
            <a:avLst/>
          </a:prstGeom>
        </p:spPr>
      </p:pic>
      <p:sp>
        <p:nvSpPr>
          <p:cNvPr id="4" name="!!Focus2">
            <a:extLst>
              <a:ext uri="{FF2B5EF4-FFF2-40B4-BE49-F238E27FC236}">
                <a16:creationId xmlns:a16="http://schemas.microsoft.com/office/drawing/2014/main" id="{767B8387-3379-4238-08EE-2BD6BA98A5BF}"/>
              </a:ext>
            </a:extLst>
          </p:cNvPr>
          <p:cNvSpPr/>
          <p:nvPr/>
        </p:nvSpPr>
        <p:spPr>
          <a:xfrm>
            <a:off x="5964865" y="2667000"/>
            <a:ext cx="685800" cy="88392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717E92-AC26-C669-9A40-A952652E07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828" r="26345"/>
          <a:stretch>
            <a:fillRect/>
          </a:stretch>
        </p:blipFill>
        <p:spPr>
          <a:xfrm>
            <a:off x="1676400" y="1191517"/>
            <a:ext cx="1547614" cy="246672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9A5DF8-F6D7-1C7C-182A-35FD159397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9357168" y="4721057"/>
            <a:ext cx="2286000" cy="16480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!!Focus">
            <a:extLst>
              <a:ext uri="{FF2B5EF4-FFF2-40B4-BE49-F238E27FC236}">
                <a16:creationId xmlns:a16="http://schemas.microsoft.com/office/drawing/2014/main" id="{E7E8D90F-98A7-A410-A5AF-E32D12B272BB}"/>
              </a:ext>
            </a:extLst>
          </p:cNvPr>
          <p:cNvSpPr/>
          <p:nvPr/>
        </p:nvSpPr>
        <p:spPr>
          <a:xfrm>
            <a:off x="2107307" y="2510269"/>
            <a:ext cx="685800" cy="102541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B2BBF572-16BD-FEDB-6F4E-182A40AD3AE2}"/>
              </a:ext>
            </a:extLst>
          </p:cNvPr>
          <p:cNvSpPr/>
          <p:nvPr/>
        </p:nvSpPr>
        <p:spPr>
          <a:xfrm>
            <a:off x="1676400" y="3100584"/>
            <a:ext cx="6477000" cy="221736"/>
          </a:xfrm>
          <a:prstGeom prst="flowChartProcess">
            <a:avLst/>
          </a:prstGeom>
          <a:solidFill>
            <a:srgbClr val="008A8A">
              <a:alpha val="17000"/>
            </a:srgbClr>
          </a:solidFill>
          <a:ln w="28575">
            <a:solidFill>
              <a:srgbClr val="008A8A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A74B76DE-8FBE-579D-87ED-86F40D159D64}"/>
              </a:ext>
            </a:extLst>
          </p:cNvPr>
          <p:cNvSpPr/>
          <p:nvPr/>
        </p:nvSpPr>
        <p:spPr>
          <a:xfrm>
            <a:off x="1676400" y="2743199"/>
            <a:ext cx="6477000" cy="221735"/>
          </a:xfrm>
          <a:prstGeom prst="flowChartProcess">
            <a:avLst/>
          </a:prstGeom>
          <a:solidFill>
            <a:srgbClr val="CC5C5C">
              <a:alpha val="17000"/>
            </a:srgbClr>
          </a:solidFill>
          <a:ln w="28575">
            <a:solidFill>
              <a:srgbClr val="CC5C5C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75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08DB3-6B57-06D0-8719-512F9F8A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T-BG">
            <a:extLst>
              <a:ext uri="{FF2B5EF4-FFF2-40B4-BE49-F238E27FC236}">
                <a16:creationId xmlns:a16="http://schemas.microsoft.com/office/drawing/2014/main" id="{AB53A9DA-9856-D665-7664-ABD38B3883F5}"/>
              </a:ext>
            </a:extLst>
          </p:cNvPr>
          <p:cNvSpPr/>
          <p:nvPr/>
        </p:nvSpPr>
        <p:spPr>
          <a:xfrm>
            <a:off x="-228600" y="0"/>
            <a:ext cx="127254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!!F1">
            <a:extLst>
              <a:ext uri="{FF2B5EF4-FFF2-40B4-BE49-F238E27FC236}">
                <a16:creationId xmlns:a16="http://schemas.microsoft.com/office/drawing/2014/main" id="{BE5A0DA4-182B-A226-858A-F152B27749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-4637281"/>
            <a:ext cx="14523267" cy="10403941"/>
          </a:xfrm>
          <a:prstGeom prst="rect">
            <a:avLst/>
          </a:prstGeom>
        </p:spPr>
      </p:pic>
      <p:sp>
        <p:nvSpPr>
          <p:cNvPr id="12" name="!!S1">
            <a:extLst>
              <a:ext uri="{FF2B5EF4-FFF2-40B4-BE49-F238E27FC236}">
                <a16:creationId xmlns:a16="http://schemas.microsoft.com/office/drawing/2014/main" id="{503002D1-5A5F-3CE0-E0F1-7D653CDF7776}"/>
              </a:ext>
            </a:extLst>
          </p:cNvPr>
          <p:cNvSpPr/>
          <p:nvPr/>
        </p:nvSpPr>
        <p:spPr>
          <a:xfrm>
            <a:off x="-6477000" y="-3657600"/>
            <a:ext cx="21124752" cy="10668000"/>
          </a:xfrm>
          <a:custGeom>
            <a:avLst/>
            <a:gdLst>
              <a:gd name="csX0" fmla="*/ 8715103 w 21124752"/>
              <a:gd name="csY0" fmla="*/ 4423954 h 10668000"/>
              <a:gd name="csX1" fmla="*/ 8715103 w 21124752"/>
              <a:gd name="csY1" fmla="*/ 5728063 h 10668000"/>
              <a:gd name="csX2" fmla="*/ 10017034 w 21124752"/>
              <a:gd name="csY2" fmla="*/ 6387737 h 10668000"/>
              <a:gd name="csX3" fmla="*/ 10017034 w 21124752"/>
              <a:gd name="csY3" fmla="*/ 8022771 h 10668000"/>
              <a:gd name="csX4" fmla="*/ 14778446 w 21124752"/>
              <a:gd name="csY4" fmla="*/ 8022771 h 10668000"/>
              <a:gd name="csX5" fmla="*/ 14778446 w 21124752"/>
              <a:gd name="csY5" fmla="*/ 4826726 h 10668000"/>
              <a:gd name="csX6" fmla="*/ 10008388 w 21124752"/>
              <a:gd name="csY6" fmla="*/ 4826726 h 10668000"/>
              <a:gd name="csX7" fmla="*/ 10008388 w 21124752"/>
              <a:gd name="csY7" fmla="*/ 5957767 h 10668000"/>
              <a:gd name="csX8" fmla="*/ 9248535 w 21124752"/>
              <a:gd name="csY8" fmla="*/ 5527612 h 10668000"/>
              <a:gd name="csX9" fmla="*/ 9248535 w 21124752"/>
              <a:gd name="csY9" fmla="*/ 4435484 h 10668000"/>
              <a:gd name="csX10" fmla="*/ 0 w 21124752"/>
              <a:gd name="csY10" fmla="*/ 0 h 10668000"/>
              <a:gd name="csX11" fmla="*/ 21124752 w 21124752"/>
              <a:gd name="csY11" fmla="*/ 0 h 10668000"/>
              <a:gd name="csX12" fmla="*/ 21124752 w 21124752"/>
              <a:gd name="csY12" fmla="*/ 10668000 h 10668000"/>
              <a:gd name="csX13" fmla="*/ 0 w 21124752"/>
              <a:gd name="csY13" fmla="*/ 10668000 h 1066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124752" h="10668000">
                <a:moveTo>
                  <a:pt x="8715103" y="4423954"/>
                </a:moveTo>
                <a:lnTo>
                  <a:pt x="8715103" y="5728063"/>
                </a:lnTo>
                <a:lnTo>
                  <a:pt x="10017034" y="6387737"/>
                </a:lnTo>
                <a:lnTo>
                  <a:pt x="10017034" y="8022771"/>
                </a:lnTo>
                <a:lnTo>
                  <a:pt x="14778446" y="8022771"/>
                </a:lnTo>
                <a:lnTo>
                  <a:pt x="14778446" y="4826726"/>
                </a:lnTo>
                <a:lnTo>
                  <a:pt x="10008388" y="4826726"/>
                </a:lnTo>
                <a:lnTo>
                  <a:pt x="10008388" y="5957767"/>
                </a:lnTo>
                <a:lnTo>
                  <a:pt x="9248535" y="5527612"/>
                </a:lnTo>
                <a:lnTo>
                  <a:pt x="9248535" y="4435484"/>
                </a:lnTo>
                <a:close/>
                <a:moveTo>
                  <a:pt x="0" y="0"/>
                </a:moveTo>
                <a:lnTo>
                  <a:pt x="21124752" y="0"/>
                </a:lnTo>
                <a:lnTo>
                  <a:pt x="21124752" y="10668000"/>
                </a:lnTo>
                <a:lnTo>
                  <a:pt x="0" y="1066800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0C225A-5D79-7F52-05CE-FAC58E674DCB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032C5F-1D8C-8B03-23B9-2C8EEC35E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156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 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D31D5652-9B56-6B5D-2E16-E9BD4A0DE9F8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SPW-R</a:t>
            </a:r>
            <a:r>
              <a:rPr lang="en-US">
                <a:solidFill>
                  <a:schemeClr val="bg1"/>
                </a:solidFill>
              </a:rPr>
              <a:t>: Internal memory consolidation (Offline).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5" name="!!M2">
            <a:extLst>
              <a:ext uri="{FF2B5EF4-FFF2-40B4-BE49-F238E27FC236}">
                <a16:creationId xmlns:a16="http://schemas.microsoft.com/office/drawing/2014/main" id="{BCC6DAAB-E49D-1084-DD33-F5E37A769405}"/>
              </a:ext>
            </a:extLst>
          </p:cNvPr>
          <p:cNvSpPr/>
          <p:nvPr/>
        </p:nvSpPr>
        <p:spPr>
          <a:xfrm>
            <a:off x="8534400" y="23622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DS1: </a:t>
            </a:r>
            <a:r>
              <a:rPr lang="en-US" sz="1600" dirty="0">
                <a:solidFill>
                  <a:schemeClr val="bg1"/>
                </a:solidFill>
              </a:rPr>
              <a:t>Processing objects/context (LEC Input).</a:t>
            </a: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107CCA15-F27A-4BA6-A379-4153C8815227}"/>
              </a:ext>
            </a:extLst>
          </p:cNvPr>
          <p:cNvSpPr/>
          <p:nvPr/>
        </p:nvSpPr>
        <p:spPr>
          <a:xfrm>
            <a:off x="8534400" y="34290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40000"/>
              </a:lnSpc>
            </a:pPr>
            <a:r>
              <a:rPr lang="en-US" b="1" dirty="0">
                <a:solidFill>
                  <a:srgbClr val="FF0000"/>
                </a:solidFill>
              </a:rPr>
              <a:t>DS2:</a:t>
            </a:r>
            <a:r>
              <a:rPr lang="en-US" dirty="0">
                <a:solidFill>
                  <a:srgbClr val="FF0000"/>
                </a:solidFill>
              </a:rPr>
              <a:t> Processing of spatial coordinates and arousal (MEC Input).</a:t>
            </a:r>
          </a:p>
        </p:txBody>
      </p:sp>
      <p:pic>
        <p:nvPicPr>
          <p:cNvPr id="3074" name="Picture 2" descr="Migration in the hippocampus - ScienceDirect">
            <a:extLst>
              <a:ext uri="{FF2B5EF4-FFF2-40B4-BE49-F238E27FC236}">
                <a16:creationId xmlns:a16="http://schemas.microsoft.com/office/drawing/2014/main" id="{CD0C031F-2D2E-58FC-C3A7-EA9665DC8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993443"/>
            <a:ext cx="2463608" cy="1660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>
            <a:extLst>
              <a:ext uri="{FF2B5EF4-FFF2-40B4-BE49-F238E27FC236}">
                <a16:creationId xmlns:a16="http://schemas.microsoft.com/office/drawing/2014/main" id="{FAB8ED48-2585-9F13-76B3-534F4E1405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50443" y="4470897"/>
            <a:ext cx="284719" cy="18535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354C91-E8B7-8C50-A65A-0DF0ED12B5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76200" y="1295400"/>
            <a:ext cx="3276600" cy="23622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!!Focus">
            <a:extLst>
              <a:ext uri="{FF2B5EF4-FFF2-40B4-BE49-F238E27FC236}">
                <a16:creationId xmlns:a16="http://schemas.microsoft.com/office/drawing/2014/main" id="{A5A0A078-C87F-6375-268B-B8418AA1C0CF}"/>
              </a:ext>
            </a:extLst>
          </p:cNvPr>
          <p:cNvSpPr/>
          <p:nvPr/>
        </p:nvSpPr>
        <p:spPr>
          <a:xfrm>
            <a:off x="2667000" y="2860844"/>
            <a:ext cx="685800" cy="365385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EDBBFB-C23D-D890-48D8-FC83352D04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828" r="26345"/>
          <a:stretch>
            <a:fillRect/>
          </a:stretch>
        </p:blipFill>
        <p:spPr>
          <a:xfrm>
            <a:off x="10816682" y="4641963"/>
            <a:ext cx="1011786" cy="16126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9641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7D43-85E2-8B9F-A55F-81CFE9FAD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T-BG">
            <a:extLst>
              <a:ext uri="{FF2B5EF4-FFF2-40B4-BE49-F238E27FC236}">
                <a16:creationId xmlns:a16="http://schemas.microsoft.com/office/drawing/2014/main" id="{76C6FFAE-B916-EF01-8C1B-5292896E70BA}"/>
              </a:ext>
            </a:extLst>
          </p:cNvPr>
          <p:cNvSpPr/>
          <p:nvPr/>
        </p:nvSpPr>
        <p:spPr>
          <a:xfrm>
            <a:off x="-457200" y="0"/>
            <a:ext cx="12954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!!F1">
            <a:extLst>
              <a:ext uri="{FF2B5EF4-FFF2-40B4-BE49-F238E27FC236}">
                <a16:creationId xmlns:a16="http://schemas.microsoft.com/office/drawing/2014/main" id="{558C6328-31CF-A8CB-3234-B349416888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" r="1031"/>
          <a:stretch>
            <a:fillRect/>
          </a:stretch>
        </p:blipFill>
        <p:spPr>
          <a:xfrm>
            <a:off x="-6212941" y="-4637281"/>
            <a:ext cx="14523267" cy="10403941"/>
          </a:xfrm>
          <a:prstGeom prst="rect">
            <a:avLst/>
          </a:prstGeom>
        </p:spPr>
      </p:pic>
      <p:sp>
        <p:nvSpPr>
          <p:cNvPr id="12" name="!!S1">
            <a:extLst>
              <a:ext uri="{FF2B5EF4-FFF2-40B4-BE49-F238E27FC236}">
                <a16:creationId xmlns:a16="http://schemas.microsoft.com/office/drawing/2014/main" id="{28EBCDAA-605B-68A4-9B7A-21A0E4E5B732}"/>
              </a:ext>
            </a:extLst>
          </p:cNvPr>
          <p:cNvSpPr/>
          <p:nvPr/>
        </p:nvSpPr>
        <p:spPr>
          <a:xfrm>
            <a:off x="-6477000" y="-3657600"/>
            <a:ext cx="21124752" cy="10668000"/>
          </a:xfrm>
          <a:custGeom>
            <a:avLst/>
            <a:gdLst>
              <a:gd name="csX0" fmla="*/ 8715103 w 21124752"/>
              <a:gd name="csY0" fmla="*/ 4423954 h 10668000"/>
              <a:gd name="csX1" fmla="*/ 8715103 w 21124752"/>
              <a:gd name="csY1" fmla="*/ 5728063 h 10668000"/>
              <a:gd name="csX2" fmla="*/ 10017034 w 21124752"/>
              <a:gd name="csY2" fmla="*/ 6387737 h 10668000"/>
              <a:gd name="csX3" fmla="*/ 10017034 w 21124752"/>
              <a:gd name="csY3" fmla="*/ 8022771 h 10668000"/>
              <a:gd name="csX4" fmla="*/ 14778446 w 21124752"/>
              <a:gd name="csY4" fmla="*/ 8022771 h 10668000"/>
              <a:gd name="csX5" fmla="*/ 14778446 w 21124752"/>
              <a:gd name="csY5" fmla="*/ 4826726 h 10668000"/>
              <a:gd name="csX6" fmla="*/ 10008388 w 21124752"/>
              <a:gd name="csY6" fmla="*/ 4826726 h 10668000"/>
              <a:gd name="csX7" fmla="*/ 10008388 w 21124752"/>
              <a:gd name="csY7" fmla="*/ 5957767 h 10668000"/>
              <a:gd name="csX8" fmla="*/ 9248535 w 21124752"/>
              <a:gd name="csY8" fmla="*/ 5527612 h 10668000"/>
              <a:gd name="csX9" fmla="*/ 9248535 w 21124752"/>
              <a:gd name="csY9" fmla="*/ 4435484 h 10668000"/>
              <a:gd name="csX10" fmla="*/ 0 w 21124752"/>
              <a:gd name="csY10" fmla="*/ 0 h 10668000"/>
              <a:gd name="csX11" fmla="*/ 21124752 w 21124752"/>
              <a:gd name="csY11" fmla="*/ 0 h 10668000"/>
              <a:gd name="csX12" fmla="*/ 21124752 w 21124752"/>
              <a:gd name="csY12" fmla="*/ 10668000 h 10668000"/>
              <a:gd name="csX13" fmla="*/ 0 w 21124752"/>
              <a:gd name="csY13" fmla="*/ 10668000 h 1066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124752" h="10668000">
                <a:moveTo>
                  <a:pt x="8715103" y="4423954"/>
                </a:moveTo>
                <a:lnTo>
                  <a:pt x="8715103" y="5728063"/>
                </a:lnTo>
                <a:lnTo>
                  <a:pt x="10017034" y="6387737"/>
                </a:lnTo>
                <a:lnTo>
                  <a:pt x="10017034" y="8022771"/>
                </a:lnTo>
                <a:lnTo>
                  <a:pt x="14778446" y="8022771"/>
                </a:lnTo>
                <a:lnTo>
                  <a:pt x="14778446" y="4826726"/>
                </a:lnTo>
                <a:lnTo>
                  <a:pt x="10008388" y="4826726"/>
                </a:lnTo>
                <a:lnTo>
                  <a:pt x="10008388" y="5957767"/>
                </a:lnTo>
                <a:lnTo>
                  <a:pt x="9248535" y="5527612"/>
                </a:lnTo>
                <a:lnTo>
                  <a:pt x="9248535" y="4435484"/>
                </a:lnTo>
                <a:close/>
                <a:moveTo>
                  <a:pt x="0" y="0"/>
                </a:moveTo>
                <a:lnTo>
                  <a:pt x="21124752" y="0"/>
                </a:lnTo>
                <a:lnTo>
                  <a:pt x="21124752" y="10668000"/>
                </a:lnTo>
                <a:lnTo>
                  <a:pt x="0" y="1066800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AC06465E-5885-B362-984D-60F9AACB6FF3}"/>
              </a:ext>
            </a:extLst>
          </p:cNvPr>
          <p:cNvSpPr>
            <a:spLocks/>
          </p:cNvSpPr>
          <p:nvPr/>
        </p:nvSpPr>
        <p:spPr>
          <a:xfrm>
            <a:off x="85344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SPW-R</a:t>
            </a:r>
            <a:r>
              <a:rPr lang="en-US">
                <a:solidFill>
                  <a:schemeClr val="bg1"/>
                </a:solidFill>
              </a:rPr>
              <a:t>: Internal memory consolidation (Offline).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5" name="!!M2">
            <a:extLst>
              <a:ext uri="{FF2B5EF4-FFF2-40B4-BE49-F238E27FC236}">
                <a16:creationId xmlns:a16="http://schemas.microsoft.com/office/drawing/2014/main" id="{F4C46A92-1A06-D1EA-C3D9-7E90ECF97C07}"/>
              </a:ext>
            </a:extLst>
          </p:cNvPr>
          <p:cNvSpPr/>
          <p:nvPr/>
        </p:nvSpPr>
        <p:spPr>
          <a:xfrm>
            <a:off x="8534400" y="23622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DS1: </a:t>
            </a:r>
            <a:r>
              <a:rPr lang="en-US" sz="1600" dirty="0">
                <a:solidFill>
                  <a:schemeClr val="bg1"/>
                </a:solidFill>
              </a:rPr>
              <a:t>Processing objects/context (LEC Input).</a:t>
            </a: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D447B1B3-4E3E-B886-E082-6D666E266DDB}"/>
              </a:ext>
            </a:extLst>
          </p:cNvPr>
          <p:cNvSpPr/>
          <p:nvPr/>
        </p:nvSpPr>
        <p:spPr>
          <a:xfrm>
            <a:off x="8534400" y="34290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40000"/>
              </a:lnSpc>
            </a:pPr>
            <a:r>
              <a:rPr lang="en-US" b="1" dirty="0">
                <a:solidFill>
                  <a:srgbClr val="FF0000"/>
                </a:solidFill>
              </a:rPr>
              <a:t>DS2:</a:t>
            </a:r>
            <a:r>
              <a:rPr lang="en-US" dirty="0">
                <a:solidFill>
                  <a:srgbClr val="FF0000"/>
                </a:solidFill>
              </a:rPr>
              <a:t> Processing of spatial coordinates and arousal (MEC Input).</a:t>
            </a:r>
          </a:p>
        </p:txBody>
      </p:sp>
      <p:pic>
        <p:nvPicPr>
          <p:cNvPr id="3074" name="Picture 2" descr="Migration in the hippocampus - ScienceDirect">
            <a:extLst>
              <a:ext uri="{FF2B5EF4-FFF2-40B4-BE49-F238E27FC236}">
                <a16:creationId xmlns:a16="http://schemas.microsoft.com/office/drawing/2014/main" id="{FDB07416-B3A0-028F-46A5-AAD830F2A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4993443"/>
            <a:ext cx="2463608" cy="1660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>
            <a:extLst>
              <a:ext uri="{FF2B5EF4-FFF2-40B4-BE49-F238E27FC236}">
                <a16:creationId xmlns:a16="http://schemas.microsoft.com/office/drawing/2014/main" id="{B37EB92B-A7F4-2566-2661-71D5B1B12D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50443" y="4470897"/>
            <a:ext cx="284719" cy="18535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78DB84-3355-5A02-DC8F-89034BF989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76200" y="1295400"/>
            <a:ext cx="3276600" cy="23622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!!Focus">
            <a:extLst>
              <a:ext uri="{FF2B5EF4-FFF2-40B4-BE49-F238E27FC236}">
                <a16:creationId xmlns:a16="http://schemas.microsoft.com/office/drawing/2014/main" id="{E3E9B061-E946-BEF6-BF9C-42E3B759171E}"/>
              </a:ext>
            </a:extLst>
          </p:cNvPr>
          <p:cNvSpPr/>
          <p:nvPr/>
        </p:nvSpPr>
        <p:spPr>
          <a:xfrm>
            <a:off x="1066800" y="2398395"/>
            <a:ext cx="304800" cy="192405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317AF2-7198-FBE8-FE49-7B0E2BD056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828" r="26345"/>
          <a:stretch>
            <a:fillRect/>
          </a:stretch>
        </p:blipFill>
        <p:spPr>
          <a:xfrm>
            <a:off x="10816682" y="4641963"/>
            <a:ext cx="1011786" cy="16126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5" name="!!T-BG" hidden="1">
            <a:extLst>
              <a:ext uri="{FF2B5EF4-FFF2-40B4-BE49-F238E27FC236}">
                <a16:creationId xmlns:a16="http://schemas.microsoft.com/office/drawing/2014/main" id="{2E1239F0-1B94-C59F-2317-E40DCAEF470C}"/>
              </a:ext>
            </a:extLst>
          </p:cNvPr>
          <p:cNvSpPr/>
          <p:nvPr/>
        </p:nvSpPr>
        <p:spPr>
          <a:xfrm>
            <a:off x="-76200" y="0"/>
            <a:ext cx="127254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2E98E8-026A-E434-6E41-14A43FF9F096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A379B7-D905-9F61-5355-8DFA61C2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230"/>
            <a:ext cx="10591800" cy="654570"/>
          </a:xfrm>
        </p:spPr>
        <p:txBody>
          <a:bodyPr anchor="b"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Not All Spikes Are Created Equal </a:t>
            </a:r>
          </a:p>
        </p:txBody>
      </p:sp>
      <p:sp>
        <p:nvSpPr>
          <p:cNvPr id="22" name="!!M4">
            <a:extLst>
              <a:ext uri="{FF2B5EF4-FFF2-40B4-BE49-F238E27FC236}">
                <a16:creationId xmlns:a16="http://schemas.microsoft.com/office/drawing/2014/main" id="{D5888670-C3D2-FC0B-4E1D-5BC6F457E9C6}"/>
              </a:ext>
            </a:extLst>
          </p:cNvPr>
          <p:cNvSpPr/>
          <p:nvPr/>
        </p:nvSpPr>
        <p:spPr>
          <a:xfrm>
            <a:off x="8534400" y="34290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40000"/>
              </a:lnSpc>
            </a:pPr>
            <a:r>
              <a:rPr lang="en-US" b="1" dirty="0">
                <a:solidFill>
                  <a:srgbClr val="FF0000"/>
                </a:solidFill>
              </a:rPr>
              <a:t>DS2:</a:t>
            </a:r>
            <a:r>
              <a:rPr lang="en-US" dirty="0">
                <a:solidFill>
                  <a:srgbClr val="FF0000"/>
                </a:solidFill>
              </a:rPr>
              <a:t> Processing of spatial coordinates and arousal (MEC Input).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CC1089-DA01-D2B4-1B67-7A0C82FE64CD}"/>
              </a:ext>
            </a:extLst>
          </p:cNvPr>
          <p:cNvCxnSpPr>
            <a:cxnSpLocks/>
          </p:cNvCxnSpPr>
          <p:nvPr/>
        </p:nvCxnSpPr>
        <p:spPr>
          <a:xfrm>
            <a:off x="1506855" y="2398395"/>
            <a:ext cx="2465070" cy="73914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772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9E83F-3FA9-D179-7FCB-DF3D30C3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100262-F4B4-67C2-65A4-DF7E9408D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18" y="183032"/>
            <a:ext cx="3417880" cy="397596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2" name="Freeform: Shape 11" hidden="1">
            <a:extLst>
              <a:ext uri="{FF2B5EF4-FFF2-40B4-BE49-F238E27FC236}">
                <a16:creationId xmlns:a16="http://schemas.microsoft.com/office/drawing/2014/main" id="{62853EE7-F4EF-6167-AC70-FD7F25A6C124}"/>
              </a:ext>
            </a:extLst>
          </p:cNvPr>
          <p:cNvSpPr/>
          <p:nvPr/>
        </p:nvSpPr>
        <p:spPr>
          <a:xfrm>
            <a:off x="-6477000" y="-3657600"/>
            <a:ext cx="21124752" cy="10668000"/>
          </a:xfrm>
          <a:custGeom>
            <a:avLst/>
            <a:gdLst>
              <a:gd name="csX0" fmla="*/ 8715103 w 21124752"/>
              <a:gd name="csY0" fmla="*/ 4423954 h 10668000"/>
              <a:gd name="csX1" fmla="*/ 8715103 w 21124752"/>
              <a:gd name="csY1" fmla="*/ 5728063 h 10668000"/>
              <a:gd name="csX2" fmla="*/ 10017034 w 21124752"/>
              <a:gd name="csY2" fmla="*/ 6387737 h 10668000"/>
              <a:gd name="csX3" fmla="*/ 10017034 w 21124752"/>
              <a:gd name="csY3" fmla="*/ 8022771 h 10668000"/>
              <a:gd name="csX4" fmla="*/ 14778446 w 21124752"/>
              <a:gd name="csY4" fmla="*/ 8022771 h 10668000"/>
              <a:gd name="csX5" fmla="*/ 14778446 w 21124752"/>
              <a:gd name="csY5" fmla="*/ 4826726 h 10668000"/>
              <a:gd name="csX6" fmla="*/ 10008388 w 21124752"/>
              <a:gd name="csY6" fmla="*/ 4826726 h 10668000"/>
              <a:gd name="csX7" fmla="*/ 10008388 w 21124752"/>
              <a:gd name="csY7" fmla="*/ 5957767 h 10668000"/>
              <a:gd name="csX8" fmla="*/ 9248535 w 21124752"/>
              <a:gd name="csY8" fmla="*/ 5527612 h 10668000"/>
              <a:gd name="csX9" fmla="*/ 9248535 w 21124752"/>
              <a:gd name="csY9" fmla="*/ 4435484 h 10668000"/>
              <a:gd name="csX10" fmla="*/ 0 w 21124752"/>
              <a:gd name="csY10" fmla="*/ 0 h 10668000"/>
              <a:gd name="csX11" fmla="*/ 21124752 w 21124752"/>
              <a:gd name="csY11" fmla="*/ 0 h 10668000"/>
              <a:gd name="csX12" fmla="*/ 21124752 w 21124752"/>
              <a:gd name="csY12" fmla="*/ 10668000 h 10668000"/>
              <a:gd name="csX13" fmla="*/ 0 w 21124752"/>
              <a:gd name="csY13" fmla="*/ 10668000 h 1066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1124752" h="10668000">
                <a:moveTo>
                  <a:pt x="8715103" y="4423954"/>
                </a:moveTo>
                <a:lnTo>
                  <a:pt x="8715103" y="5728063"/>
                </a:lnTo>
                <a:lnTo>
                  <a:pt x="10017034" y="6387737"/>
                </a:lnTo>
                <a:lnTo>
                  <a:pt x="10017034" y="8022771"/>
                </a:lnTo>
                <a:lnTo>
                  <a:pt x="14778446" y="8022771"/>
                </a:lnTo>
                <a:lnTo>
                  <a:pt x="14778446" y="4826726"/>
                </a:lnTo>
                <a:lnTo>
                  <a:pt x="10008388" y="4826726"/>
                </a:lnTo>
                <a:lnTo>
                  <a:pt x="10008388" y="5957767"/>
                </a:lnTo>
                <a:lnTo>
                  <a:pt x="9248535" y="5527612"/>
                </a:lnTo>
                <a:lnTo>
                  <a:pt x="9248535" y="4435484"/>
                </a:lnTo>
                <a:close/>
                <a:moveTo>
                  <a:pt x="0" y="0"/>
                </a:moveTo>
                <a:lnTo>
                  <a:pt x="21124752" y="0"/>
                </a:lnTo>
                <a:lnTo>
                  <a:pt x="21124752" y="10668000"/>
                </a:lnTo>
                <a:lnTo>
                  <a:pt x="0" y="10668000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FC5F24C3-1850-0B8F-8428-25775031C595}"/>
              </a:ext>
            </a:extLst>
          </p:cNvPr>
          <p:cNvSpPr>
            <a:spLocks/>
          </p:cNvSpPr>
          <p:nvPr/>
        </p:nvSpPr>
        <p:spPr>
          <a:xfrm>
            <a:off x="17068800" y="12954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SPW-R</a:t>
            </a:r>
            <a:r>
              <a:rPr lang="en-US" dirty="0">
                <a:solidFill>
                  <a:schemeClr val="bg1"/>
                </a:solidFill>
              </a:rPr>
              <a:t>: Internal memory consolidation (Offline).</a:t>
            </a: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5" name="!!M2">
            <a:extLst>
              <a:ext uri="{FF2B5EF4-FFF2-40B4-BE49-F238E27FC236}">
                <a16:creationId xmlns:a16="http://schemas.microsoft.com/office/drawing/2014/main" id="{9ED0C26A-BE45-4182-CEC2-2CFA797CD99B}"/>
              </a:ext>
            </a:extLst>
          </p:cNvPr>
          <p:cNvSpPr/>
          <p:nvPr/>
        </p:nvSpPr>
        <p:spPr>
          <a:xfrm>
            <a:off x="17068800" y="23622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</a:rPr>
              <a:t>DS1: </a:t>
            </a:r>
            <a:r>
              <a:rPr lang="en-US" sz="1600" dirty="0">
                <a:solidFill>
                  <a:schemeClr val="bg1"/>
                </a:solidFill>
              </a:rPr>
              <a:t>Processing objects/context (LEC Input).</a:t>
            </a: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A8A1F202-D5D5-F54F-3BBD-64156EF94B34}"/>
              </a:ext>
            </a:extLst>
          </p:cNvPr>
          <p:cNvSpPr/>
          <p:nvPr/>
        </p:nvSpPr>
        <p:spPr>
          <a:xfrm>
            <a:off x="17068800" y="34290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40000"/>
              </a:lnSpc>
            </a:pPr>
            <a:r>
              <a:rPr lang="en-US" b="1" dirty="0">
                <a:solidFill>
                  <a:srgbClr val="FF0000"/>
                </a:solidFill>
              </a:rPr>
              <a:t>DS2:</a:t>
            </a:r>
            <a:r>
              <a:rPr lang="en-US" dirty="0">
                <a:solidFill>
                  <a:srgbClr val="FF0000"/>
                </a:solidFill>
              </a:rPr>
              <a:t> Processing of spatial coordinates and arousal (MEC Input).</a:t>
            </a:r>
          </a:p>
        </p:txBody>
      </p:sp>
      <p:pic>
        <p:nvPicPr>
          <p:cNvPr id="3074" name="Picture 2" descr="Migration in the hippocampus - ScienceDirect">
            <a:extLst>
              <a:ext uri="{FF2B5EF4-FFF2-40B4-BE49-F238E27FC236}">
                <a16:creationId xmlns:a16="http://schemas.microsoft.com/office/drawing/2014/main" id="{580E16B8-4A78-6E6D-B210-9AD7AEF7F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800" y="4993443"/>
            <a:ext cx="2463608" cy="1660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>
            <a:extLst>
              <a:ext uri="{FF2B5EF4-FFF2-40B4-BE49-F238E27FC236}">
                <a16:creationId xmlns:a16="http://schemas.microsoft.com/office/drawing/2014/main" id="{C28D94CA-5F47-02F4-F052-2A8AD5A08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493843" y="4470897"/>
            <a:ext cx="284719" cy="185355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394759D-8EE6-914E-74BA-38466BDB5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648200" y="1143000"/>
            <a:ext cx="3635360" cy="2667000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!!Focus">
            <a:extLst>
              <a:ext uri="{FF2B5EF4-FFF2-40B4-BE49-F238E27FC236}">
                <a16:creationId xmlns:a16="http://schemas.microsoft.com/office/drawing/2014/main" id="{69B123F8-5C0B-7F3D-AB7C-14E895D0DA2C}"/>
              </a:ext>
            </a:extLst>
          </p:cNvPr>
          <p:cNvSpPr/>
          <p:nvPr/>
        </p:nvSpPr>
        <p:spPr>
          <a:xfrm>
            <a:off x="-3581400" y="2590800"/>
            <a:ext cx="457200" cy="48303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8EF4CA-8AFB-F8EA-94A0-CE6D29FEEF5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828" r="26345"/>
          <a:stretch>
            <a:fillRect/>
          </a:stretch>
        </p:blipFill>
        <p:spPr>
          <a:xfrm>
            <a:off x="15160082" y="4641963"/>
            <a:ext cx="1011786" cy="16126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T-BG">
            <a:extLst>
              <a:ext uri="{FF2B5EF4-FFF2-40B4-BE49-F238E27FC236}">
                <a16:creationId xmlns:a16="http://schemas.microsoft.com/office/drawing/2014/main" id="{7EB7579E-D653-1557-E9D9-D6F49C090E3C}"/>
              </a:ext>
            </a:extLst>
          </p:cNvPr>
          <p:cNvSpPr/>
          <p:nvPr/>
        </p:nvSpPr>
        <p:spPr>
          <a:xfrm>
            <a:off x="2895600" y="4239188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T">
            <a:extLst>
              <a:ext uri="{FF2B5EF4-FFF2-40B4-BE49-F238E27FC236}">
                <a16:creationId xmlns:a16="http://schemas.microsoft.com/office/drawing/2014/main" id="{01FF1DA5-9A61-B565-D740-A2F6F356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0" y="4303383"/>
            <a:ext cx="5715000" cy="2354096"/>
          </a:xfrm>
        </p:spPr>
        <p:txBody>
          <a:bodyPr anchor="ctr">
            <a:normAutofit/>
          </a:bodyPr>
          <a:lstStyle/>
          <a:p>
            <a:pPr algn="ctr"/>
            <a:r>
              <a:rPr lang="en-US" sz="5400" b="1" u="sng" dirty="0">
                <a:solidFill>
                  <a:schemeClr val="bg1"/>
                </a:solidFill>
              </a:rPr>
              <a:t>Getting To Know Our </a:t>
            </a:r>
            <a:r>
              <a:rPr lang="en-US" sz="5400" b="1" u="sng" dirty="0">
                <a:solidFill>
                  <a:srgbClr val="FF0000"/>
                </a:solidFill>
              </a:rPr>
              <a:t>Offline</a:t>
            </a:r>
            <a:r>
              <a:rPr lang="en-US" sz="5400" b="1" u="sng" dirty="0">
                <a:solidFill>
                  <a:schemeClr val="bg1"/>
                </a:solidFill>
              </a:rPr>
              <a:t> Spikes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8E6C707A-26C0-EEBD-8E2B-B8CDCEE2218D}"/>
              </a:ext>
            </a:extLst>
          </p:cNvPr>
          <p:cNvSpPr/>
          <p:nvPr/>
        </p:nvSpPr>
        <p:spPr>
          <a:xfrm>
            <a:off x="17068800" y="3429000"/>
            <a:ext cx="3505200" cy="838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40000"/>
              </a:lnSpc>
            </a:pPr>
            <a:r>
              <a:rPr lang="en-US" b="1" dirty="0">
                <a:solidFill>
                  <a:srgbClr val="FF0000"/>
                </a:solidFill>
              </a:rPr>
              <a:t>DS2:</a:t>
            </a:r>
            <a:r>
              <a:rPr lang="en-US" dirty="0">
                <a:solidFill>
                  <a:srgbClr val="FF0000"/>
                </a:solidFill>
              </a:rPr>
              <a:t> Processing of spatial coordinates and arousal (MEC Input).</a:t>
            </a:r>
          </a:p>
        </p:txBody>
      </p:sp>
    </p:spTree>
    <p:extLst>
      <p:ext uri="{BB962C8B-B14F-4D97-AF65-F5344CB8AC3E}">
        <p14:creationId xmlns:p14="http://schemas.microsoft.com/office/powerpoint/2010/main" val="400014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FAB3-9E2F-3E72-5820-40E546B98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63C276-D522-694D-7422-7FAD461D9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814" y="720721"/>
            <a:ext cx="8979546" cy="10445757"/>
          </a:xfrm>
          <a:prstGeom prst="rect">
            <a:avLst/>
          </a:prstGeom>
        </p:spPr>
      </p:pic>
      <p:sp>
        <p:nvSpPr>
          <p:cNvPr id="19" name="!!Freeform: Shape 18">
            <a:extLst>
              <a:ext uri="{FF2B5EF4-FFF2-40B4-BE49-F238E27FC236}">
                <a16:creationId xmlns:a16="http://schemas.microsoft.com/office/drawing/2014/main" id="{F8715F32-1390-2D91-7F5C-EE1E34ED2F56}"/>
              </a:ext>
            </a:extLst>
          </p:cNvPr>
          <p:cNvSpPr/>
          <p:nvPr/>
        </p:nvSpPr>
        <p:spPr>
          <a:xfrm>
            <a:off x="0" y="685800"/>
            <a:ext cx="12192000" cy="6172200"/>
          </a:xfrm>
          <a:custGeom>
            <a:avLst/>
            <a:gdLst>
              <a:gd name="csX0" fmla="*/ 1520814 w 12192000"/>
              <a:gd name="csY0" fmla="*/ 163201 h 6017575"/>
              <a:gd name="csX1" fmla="*/ 1520814 w 12192000"/>
              <a:gd name="csY1" fmla="*/ 4735201 h 6017575"/>
              <a:gd name="csX2" fmla="*/ 5943600 w 12192000"/>
              <a:gd name="csY2" fmla="*/ 4735201 h 6017575"/>
              <a:gd name="csX3" fmla="*/ 5943600 w 12192000"/>
              <a:gd name="csY3" fmla="*/ 163201 h 6017575"/>
              <a:gd name="csX4" fmla="*/ 0 w 12192000"/>
              <a:gd name="csY4" fmla="*/ 0 h 6017575"/>
              <a:gd name="csX5" fmla="*/ 12192000 w 12192000"/>
              <a:gd name="csY5" fmla="*/ 0 h 6017575"/>
              <a:gd name="csX6" fmla="*/ 12192000 w 12192000"/>
              <a:gd name="csY6" fmla="*/ 6017575 h 6017575"/>
              <a:gd name="csX7" fmla="*/ 0 w 12192000"/>
              <a:gd name="csY7" fmla="*/ 6017575 h 6017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017575">
                <a:moveTo>
                  <a:pt x="1520814" y="163201"/>
                </a:moveTo>
                <a:lnTo>
                  <a:pt x="1520814" y="4735201"/>
                </a:lnTo>
                <a:lnTo>
                  <a:pt x="5943600" y="4735201"/>
                </a:lnTo>
                <a:lnTo>
                  <a:pt x="5943600" y="163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7575"/>
                </a:lnTo>
                <a:lnTo>
                  <a:pt x="0" y="6017575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651504F1-80FE-D4D1-512E-8B16D88884E1}"/>
              </a:ext>
            </a:extLst>
          </p:cNvPr>
          <p:cNvSpPr>
            <a:spLocks/>
          </p:cNvSpPr>
          <p:nvPr/>
        </p:nvSpPr>
        <p:spPr>
          <a:xfrm>
            <a:off x="6096000" y="914400"/>
            <a:ext cx="5943600" cy="215943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</a:rPr>
              <a:t>Fig. 1c (Frequency): DS2 is as frequent as Ripples.</a:t>
            </a:r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DFDA9FEE-05E2-6B4F-E8EB-4CDA4DECF0EA}"/>
              </a:ext>
            </a:extLst>
          </p:cNvPr>
          <p:cNvSpPr/>
          <p:nvPr/>
        </p:nvSpPr>
        <p:spPr>
          <a:xfrm>
            <a:off x="4724400" y="2675836"/>
            <a:ext cx="952500" cy="258196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DD74D521-8FFF-D49E-FACE-5918ABAAA082}"/>
              </a:ext>
            </a:extLst>
          </p:cNvPr>
          <p:cNvSpPr/>
          <p:nvPr/>
        </p:nvSpPr>
        <p:spPr>
          <a:xfrm>
            <a:off x="-381000" y="1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T">
            <a:extLst>
              <a:ext uri="{FF2B5EF4-FFF2-40B4-BE49-F238E27FC236}">
                <a16:creationId xmlns:a16="http://schemas.microsoft.com/office/drawing/2014/main" id="{5C9BF5B6-F226-6692-6A9E-978D36FA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53400" cy="685800"/>
          </a:xfrm>
        </p:spPr>
        <p:txBody>
          <a:bodyPr anchor="ctr">
            <a:no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Getting To Know Our Offline Spikes</a:t>
            </a: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156CC6D5-0D33-E2EF-9F10-FEDD1ABF088D}"/>
              </a:ext>
            </a:extLst>
          </p:cNvPr>
          <p:cNvSpPr>
            <a:spLocks/>
          </p:cNvSpPr>
          <p:nvPr/>
        </p:nvSpPr>
        <p:spPr>
          <a:xfrm>
            <a:off x="14401800" y="2362200"/>
            <a:ext cx="4648200" cy="1295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/>
              <a:t>Fig. 1c (Frequency): DS2 is as frequent as Ripples.</a:t>
            </a:r>
          </a:p>
        </p:txBody>
      </p:sp>
      <p:sp>
        <p:nvSpPr>
          <p:cNvPr id="13" name="!!M2">
            <a:extLst>
              <a:ext uri="{FF2B5EF4-FFF2-40B4-BE49-F238E27FC236}">
                <a16:creationId xmlns:a16="http://schemas.microsoft.com/office/drawing/2014/main" id="{78209F37-E8C5-D6C9-5678-ED64DDEBC9AA}"/>
              </a:ext>
            </a:extLst>
          </p:cNvPr>
          <p:cNvSpPr>
            <a:spLocks/>
          </p:cNvSpPr>
          <p:nvPr/>
        </p:nvSpPr>
        <p:spPr>
          <a:xfrm>
            <a:off x="14401800" y="3810000"/>
            <a:ext cx="4648200" cy="1295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/>
              <a:t>Fig. 1c (Frequency): DS2 is as frequent as Ripples.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5082D7D9-F9AC-DB37-735C-0EE315BC4024}"/>
              </a:ext>
            </a:extLst>
          </p:cNvPr>
          <p:cNvSpPr>
            <a:spLocks/>
          </p:cNvSpPr>
          <p:nvPr/>
        </p:nvSpPr>
        <p:spPr>
          <a:xfrm>
            <a:off x="14401800" y="5257800"/>
            <a:ext cx="4648200" cy="1295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/>
              <a:t>Fig. 1c (Frequency): DS2 is as frequent as Ripples.</a:t>
            </a:r>
          </a:p>
        </p:txBody>
      </p:sp>
    </p:spTree>
    <p:extLst>
      <p:ext uri="{BB962C8B-B14F-4D97-AF65-F5344CB8AC3E}">
        <p14:creationId xmlns:p14="http://schemas.microsoft.com/office/powerpoint/2010/main" val="3717253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653FE-EC18-E447-C3CC-8617CCB78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80D30DB-E446-33EB-4984-78E259F78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1674" y="720721"/>
            <a:ext cx="8485532" cy="9871079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61B2163-D6B2-8E57-0FE8-B1B7A3F38E20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1520814 w 12192000"/>
              <a:gd name="csY0" fmla="*/ 163201 h 6017575"/>
              <a:gd name="csX1" fmla="*/ 1520814 w 12192000"/>
              <a:gd name="csY1" fmla="*/ 4735201 h 6017575"/>
              <a:gd name="csX2" fmla="*/ 5943600 w 12192000"/>
              <a:gd name="csY2" fmla="*/ 4735201 h 6017575"/>
              <a:gd name="csX3" fmla="*/ 5943600 w 12192000"/>
              <a:gd name="csY3" fmla="*/ 163201 h 6017575"/>
              <a:gd name="csX4" fmla="*/ 0 w 12192000"/>
              <a:gd name="csY4" fmla="*/ 0 h 6017575"/>
              <a:gd name="csX5" fmla="*/ 12192000 w 12192000"/>
              <a:gd name="csY5" fmla="*/ 0 h 6017575"/>
              <a:gd name="csX6" fmla="*/ 12192000 w 12192000"/>
              <a:gd name="csY6" fmla="*/ 6017575 h 6017575"/>
              <a:gd name="csX7" fmla="*/ 0 w 12192000"/>
              <a:gd name="csY7" fmla="*/ 6017575 h 6017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017575">
                <a:moveTo>
                  <a:pt x="1520814" y="163201"/>
                </a:moveTo>
                <a:lnTo>
                  <a:pt x="1520814" y="4735201"/>
                </a:lnTo>
                <a:lnTo>
                  <a:pt x="5943600" y="4735201"/>
                </a:lnTo>
                <a:lnTo>
                  <a:pt x="5943600" y="163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7575"/>
                </a:lnTo>
                <a:lnTo>
                  <a:pt x="0" y="6017575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C31D2D91-CCA1-73F5-3612-6A97E2362B36}"/>
              </a:ext>
            </a:extLst>
          </p:cNvPr>
          <p:cNvSpPr>
            <a:spLocks/>
          </p:cNvSpPr>
          <p:nvPr/>
        </p:nvSpPr>
        <p:spPr>
          <a:xfrm>
            <a:off x="6096000" y="9144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Fig. 1c (Frequency): DS2 is as frequent as Ripples.</a:t>
            </a:r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E5DB2327-4AF7-E8CE-D603-3FAE9579271A}"/>
              </a:ext>
            </a:extLst>
          </p:cNvPr>
          <p:cNvSpPr/>
          <p:nvPr/>
        </p:nvSpPr>
        <p:spPr>
          <a:xfrm>
            <a:off x="1981200" y="1143000"/>
            <a:ext cx="952500" cy="84959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362F3544-758B-E157-E88D-FCEADF3E249F}"/>
              </a:ext>
            </a:extLst>
          </p:cNvPr>
          <p:cNvSpPr/>
          <p:nvPr/>
        </p:nvSpPr>
        <p:spPr>
          <a:xfrm>
            <a:off x="-381000" y="1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T">
            <a:extLst>
              <a:ext uri="{FF2B5EF4-FFF2-40B4-BE49-F238E27FC236}">
                <a16:creationId xmlns:a16="http://schemas.microsoft.com/office/drawing/2014/main" id="{3EE233C3-7ACB-8EB5-87DB-72BAE0B0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53400" cy="685800"/>
          </a:xfrm>
        </p:spPr>
        <p:txBody>
          <a:bodyPr anchor="ctr">
            <a:no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Getting To Know Our Offline Spikes</a:t>
            </a:r>
          </a:p>
        </p:txBody>
      </p:sp>
      <p:sp>
        <p:nvSpPr>
          <p:cNvPr id="13" name="!!M2">
            <a:extLst>
              <a:ext uri="{FF2B5EF4-FFF2-40B4-BE49-F238E27FC236}">
                <a16:creationId xmlns:a16="http://schemas.microsoft.com/office/drawing/2014/main" id="{62834BD0-79DF-76DA-2318-058C70FC8F29}"/>
              </a:ext>
            </a:extLst>
          </p:cNvPr>
          <p:cNvSpPr>
            <a:spLocks/>
          </p:cNvSpPr>
          <p:nvPr/>
        </p:nvSpPr>
        <p:spPr>
          <a:xfrm>
            <a:off x="14401800" y="3810000"/>
            <a:ext cx="4648200" cy="1295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/>
              <a:t>Fig. 1c (Frequency): DS2 is as frequent as Ripples.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70DC47BB-5935-FCDE-D946-FDB9B41B73A4}"/>
              </a:ext>
            </a:extLst>
          </p:cNvPr>
          <p:cNvSpPr>
            <a:spLocks/>
          </p:cNvSpPr>
          <p:nvPr/>
        </p:nvSpPr>
        <p:spPr>
          <a:xfrm>
            <a:off x="14401800" y="5257800"/>
            <a:ext cx="4648200" cy="1295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/>
              <a:t>Fig. 1c (Frequency): DS2 is as frequent as Ripples.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2CE94E68-49EF-16D2-6182-7A0D0BFBE5AC}"/>
              </a:ext>
            </a:extLst>
          </p:cNvPr>
          <p:cNvSpPr>
            <a:spLocks/>
          </p:cNvSpPr>
          <p:nvPr/>
        </p:nvSpPr>
        <p:spPr>
          <a:xfrm>
            <a:off x="6096000" y="2054770"/>
            <a:ext cx="5943600" cy="215942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Fig. 1d (Independence): DS2 and Ripples are mutually exclusive.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91A4EB-F165-FF1F-EA23-CD0CE97A41E1}"/>
              </a:ext>
            </a:extLst>
          </p:cNvPr>
          <p:cNvCxnSpPr/>
          <p:nvPr/>
        </p:nvCxnSpPr>
        <p:spPr>
          <a:xfrm flipH="1">
            <a:off x="2514600" y="1600200"/>
            <a:ext cx="1371600" cy="0"/>
          </a:xfrm>
          <a:prstGeom prst="line">
            <a:avLst/>
          </a:prstGeom>
          <a:ln w="19050" cap="flat" cmpd="sng" algn="ctr">
            <a:solidFill>
              <a:srgbClr val="008A8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381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7BBB-B943-6B03-FE3C-80FB845F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9D2510-34DE-01D4-2111-CA81D2811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1674" y="720721"/>
            <a:ext cx="8485532" cy="9871079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DE44802-FB3A-388D-B496-2F5F45112D32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1520814 w 12192000"/>
              <a:gd name="csY0" fmla="*/ 163201 h 6017575"/>
              <a:gd name="csX1" fmla="*/ 1520814 w 12192000"/>
              <a:gd name="csY1" fmla="*/ 4735201 h 6017575"/>
              <a:gd name="csX2" fmla="*/ 5943600 w 12192000"/>
              <a:gd name="csY2" fmla="*/ 4735201 h 6017575"/>
              <a:gd name="csX3" fmla="*/ 5943600 w 12192000"/>
              <a:gd name="csY3" fmla="*/ 163201 h 6017575"/>
              <a:gd name="csX4" fmla="*/ 0 w 12192000"/>
              <a:gd name="csY4" fmla="*/ 0 h 6017575"/>
              <a:gd name="csX5" fmla="*/ 12192000 w 12192000"/>
              <a:gd name="csY5" fmla="*/ 0 h 6017575"/>
              <a:gd name="csX6" fmla="*/ 12192000 w 12192000"/>
              <a:gd name="csY6" fmla="*/ 6017575 h 6017575"/>
              <a:gd name="csX7" fmla="*/ 0 w 12192000"/>
              <a:gd name="csY7" fmla="*/ 6017575 h 6017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017575">
                <a:moveTo>
                  <a:pt x="1520814" y="163201"/>
                </a:moveTo>
                <a:lnTo>
                  <a:pt x="1520814" y="4735201"/>
                </a:lnTo>
                <a:lnTo>
                  <a:pt x="5943600" y="4735201"/>
                </a:lnTo>
                <a:lnTo>
                  <a:pt x="5943600" y="163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7575"/>
                </a:lnTo>
                <a:lnTo>
                  <a:pt x="0" y="6017575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FCFA2D19-B792-0F9F-4666-6B9F1703C3A9}"/>
              </a:ext>
            </a:extLst>
          </p:cNvPr>
          <p:cNvSpPr>
            <a:spLocks/>
          </p:cNvSpPr>
          <p:nvPr/>
        </p:nvSpPr>
        <p:spPr>
          <a:xfrm>
            <a:off x="6096000" y="9144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Fig. 1c (Frequency): DS2 is as frequent as Ripples.</a:t>
            </a:r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4C7EF7CD-328D-BD96-3907-B2EC660D04EF}"/>
              </a:ext>
            </a:extLst>
          </p:cNvPr>
          <p:cNvSpPr/>
          <p:nvPr/>
        </p:nvSpPr>
        <p:spPr>
          <a:xfrm>
            <a:off x="1930130" y="3269790"/>
            <a:ext cx="952500" cy="84959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F15BFB03-55D7-E2C5-BCB4-08345BA59467}"/>
              </a:ext>
            </a:extLst>
          </p:cNvPr>
          <p:cNvSpPr/>
          <p:nvPr/>
        </p:nvSpPr>
        <p:spPr>
          <a:xfrm>
            <a:off x="-381000" y="1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T">
            <a:extLst>
              <a:ext uri="{FF2B5EF4-FFF2-40B4-BE49-F238E27FC236}">
                <a16:creationId xmlns:a16="http://schemas.microsoft.com/office/drawing/2014/main" id="{2D65E6C7-E581-8E4A-5BE8-C2BAF19E0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53400" cy="685800"/>
          </a:xfrm>
        </p:spPr>
        <p:txBody>
          <a:bodyPr anchor="ctr">
            <a:no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Getting To Know Our Offline Spikes</a:t>
            </a:r>
          </a:p>
        </p:txBody>
      </p:sp>
      <p:sp>
        <p:nvSpPr>
          <p:cNvPr id="13" name="!!M2">
            <a:extLst>
              <a:ext uri="{FF2B5EF4-FFF2-40B4-BE49-F238E27FC236}">
                <a16:creationId xmlns:a16="http://schemas.microsoft.com/office/drawing/2014/main" id="{06A757D1-4196-42DE-2AF2-8941E41083B1}"/>
              </a:ext>
            </a:extLst>
          </p:cNvPr>
          <p:cNvSpPr>
            <a:spLocks/>
          </p:cNvSpPr>
          <p:nvPr/>
        </p:nvSpPr>
        <p:spPr>
          <a:xfrm>
            <a:off x="14401800" y="3810000"/>
            <a:ext cx="4648200" cy="1295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/>
              <a:t>Fig. 1c (Frequency): DS2 is as frequent as Ripples.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18AFBBEC-3947-EBE6-5CA5-32CB5A522ECE}"/>
              </a:ext>
            </a:extLst>
          </p:cNvPr>
          <p:cNvSpPr>
            <a:spLocks/>
          </p:cNvSpPr>
          <p:nvPr/>
        </p:nvSpPr>
        <p:spPr>
          <a:xfrm>
            <a:off x="14401800" y="5257800"/>
            <a:ext cx="4648200" cy="1295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/>
              <a:t>Fig. 1c (Frequency): DS2 is as frequent as Ripples.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ECC347D6-0C17-CB13-98F6-3B7EDD4635D5}"/>
              </a:ext>
            </a:extLst>
          </p:cNvPr>
          <p:cNvSpPr>
            <a:spLocks/>
          </p:cNvSpPr>
          <p:nvPr/>
        </p:nvSpPr>
        <p:spPr>
          <a:xfrm>
            <a:off x="6096000" y="2054770"/>
            <a:ext cx="5943600" cy="215942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Fig. 1d (Independence): DS2 and Ripples are mutually exclusive.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876D8F-D754-658F-58D5-CCF9933278F3}"/>
              </a:ext>
            </a:extLst>
          </p:cNvPr>
          <p:cNvCxnSpPr/>
          <p:nvPr/>
        </p:nvCxnSpPr>
        <p:spPr>
          <a:xfrm flipH="1">
            <a:off x="2514600" y="1600200"/>
            <a:ext cx="1371600" cy="0"/>
          </a:xfrm>
          <a:prstGeom prst="line">
            <a:avLst/>
          </a:prstGeom>
          <a:ln w="19050" cap="flat" cmpd="sng" algn="ctr">
            <a:solidFill>
              <a:srgbClr val="008A8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B856AB-4B55-F0DD-C40B-9769CE532BC2}"/>
              </a:ext>
            </a:extLst>
          </p:cNvPr>
          <p:cNvCxnSpPr>
            <a:cxnSpLocks/>
          </p:cNvCxnSpPr>
          <p:nvPr/>
        </p:nvCxnSpPr>
        <p:spPr>
          <a:xfrm flipH="1">
            <a:off x="2514600" y="3505200"/>
            <a:ext cx="1219200" cy="0"/>
          </a:xfrm>
          <a:prstGeom prst="line">
            <a:avLst/>
          </a:prstGeom>
          <a:ln w="19050" cap="flat" cmpd="sng" algn="ctr">
            <a:solidFill>
              <a:srgbClr val="CC5C5C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958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4C37D-1622-3DB7-E61E-81D7EEC8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BA9B0C1-00CC-4CB4-1D5F-14F2115DC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35" y="-4249741"/>
            <a:ext cx="8485532" cy="9871079"/>
          </a:xfrm>
          <a:prstGeom prst="rect">
            <a:avLst/>
          </a:prstGeom>
        </p:spPr>
      </p:pic>
      <p:sp>
        <p:nvSpPr>
          <p:cNvPr id="19" name="!!Freeform: Shape 18">
            <a:extLst>
              <a:ext uri="{FF2B5EF4-FFF2-40B4-BE49-F238E27FC236}">
                <a16:creationId xmlns:a16="http://schemas.microsoft.com/office/drawing/2014/main" id="{905C403E-2349-183B-82A8-4195826996A6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1520814 w 12192000"/>
              <a:gd name="csY0" fmla="*/ 163201 h 6017575"/>
              <a:gd name="csX1" fmla="*/ 1520814 w 12192000"/>
              <a:gd name="csY1" fmla="*/ 4735201 h 6017575"/>
              <a:gd name="csX2" fmla="*/ 5943600 w 12192000"/>
              <a:gd name="csY2" fmla="*/ 4735201 h 6017575"/>
              <a:gd name="csX3" fmla="*/ 5943600 w 12192000"/>
              <a:gd name="csY3" fmla="*/ 163201 h 6017575"/>
              <a:gd name="csX4" fmla="*/ 0 w 12192000"/>
              <a:gd name="csY4" fmla="*/ 0 h 6017575"/>
              <a:gd name="csX5" fmla="*/ 12192000 w 12192000"/>
              <a:gd name="csY5" fmla="*/ 0 h 6017575"/>
              <a:gd name="csX6" fmla="*/ 12192000 w 12192000"/>
              <a:gd name="csY6" fmla="*/ 6017575 h 6017575"/>
              <a:gd name="csX7" fmla="*/ 0 w 12192000"/>
              <a:gd name="csY7" fmla="*/ 6017575 h 6017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017575">
                <a:moveTo>
                  <a:pt x="1520814" y="163201"/>
                </a:moveTo>
                <a:lnTo>
                  <a:pt x="1520814" y="4735201"/>
                </a:lnTo>
                <a:lnTo>
                  <a:pt x="5943600" y="4735201"/>
                </a:lnTo>
                <a:lnTo>
                  <a:pt x="5943600" y="163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7575"/>
                </a:lnTo>
                <a:lnTo>
                  <a:pt x="0" y="6017575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18BD4CB5-6F5A-C2ED-5C30-0B542DCD111E}"/>
              </a:ext>
            </a:extLst>
          </p:cNvPr>
          <p:cNvSpPr>
            <a:spLocks/>
          </p:cNvSpPr>
          <p:nvPr/>
        </p:nvSpPr>
        <p:spPr>
          <a:xfrm>
            <a:off x="6096000" y="9144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Fig. 1c (Frequency): DS2 is as frequent as Ripples.</a:t>
            </a:r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AC3F01C5-7BF5-AD4D-7D8B-76E179B2E458}"/>
              </a:ext>
            </a:extLst>
          </p:cNvPr>
          <p:cNvSpPr/>
          <p:nvPr/>
        </p:nvSpPr>
        <p:spPr>
          <a:xfrm>
            <a:off x="3637536" y="932970"/>
            <a:ext cx="952500" cy="84959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1D6EC5E0-93A9-B947-2E3F-3C5193FD7264}"/>
              </a:ext>
            </a:extLst>
          </p:cNvPr>
          <p:cNvSpPr/>
          <p:nvPr/>
        </p:nvSpPr>
        <p:spPr>
          <a:xfrm>
            <a:off x="-381000" y="1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T">
            <a:extLst>
              <a:ext uri="{FF2B5EF4-FFF2-40B4-BE49-F238E27FC236}">
                <a16:creationId xmlns:a16="http://schemas.microsoft.com/office/drawing/2014/main" id="{F4FF6A40-1286-8E7D-399B-7F3C83A7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53400" cy="685800"/>
          </a:xfrm>
        </p:spPr>
        <p:txBody>
          <a:bodyPr anchor="ctr">
            <a:no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Getting To Know Our Offline Spikes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C8E48C46-CE7C-16FD-ED64-0854BD51FE08}"/>
              </a:ext>
            </a:extLst>
          </p:cNvPr>
          <p:cNvSpPr>
            <a:spLocks/>
          </p:cNvSpPr>
          <p:nvPr/>
        </p:nvSpPr>
        <p:spPr>
          <a:xfrm>
            <a:off x="14401800" y="5257800"/>
            <a:ext cx="4648200" cy="1295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/>
              <a:t>Fig. 1c (Frequency): DS2 is as frequent as Ripples.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CC9085D6-BACC-9B21-06EA-B074077C767F}"/>
              </a:ext>
            </a:extLst>
          </p:cNvPr>
          <p:cNvSpPr>
            <a:spLocks/>
          </p:cNvSpPr>
          <p:nvPr/>
        </p:nvSpPr>
        <p:spPr>
          <a:xfrm>
            <a:off x="6096000" y="19812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Fig. 1d (Independence): DS2 and Ripples are mutually exclusive.</a:t>
            </a: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1172096A-C972-0030-9DBC-CB47D52F948A}"/>
              </a:ext>
            </a:extLst>
          </p:cNvPr>
          <p:cNvSpPr>
            <a:spLocks/>
          </p:cNvSpPr>
          <p:nvPr/>
        </p:nvSpPr>
        <p:spPr>
          <a:xfrm>
            <a:off x="6116690" y="3048000"/>
            <a:ext cx="5943600" cy="2362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Fig. 1e (State): DS2 tracks with low physiological arousal (Pupil constriction).</a:t>
            </a:r>
          </a:p>
        </p:txBody>
      </p:sp>
    </p:spTree>
    <p:extLst>
      <p:ext uri="{BB962C8B-B14F-4D97-AF65-F5344CB8AC3E}">
        <p14:creationId xmlns:p14="http://schemas.microsoft.com/office/powerpoint/2010/main" val="1784660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F319D-BFA7-F752-49AA-A3111F58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A61D04C-2D88-19AE-3696-CCDB11EFB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35" y="-4249741"/>
            <a:ext cx="8485532" cy="9871079"/>
          </a:xfrm>
          <a:prstGeom prst="rect">
            <a:avLst/>
          </a:prstGeom>
        </p:spPr>
      </p:pic>
      <p:sp>
        <p:nvSpPr>
          <p:cNvPr id="19" name="!!Freeform: Shape 18">
            <a:extLst>
              <a:ext uri="{FF2B5EF4-FFF2-40B4-BE49-F238E27FC236}">
                <a16:creationId xmlns:a16="http://schemas.microsoft.com/office/drawing/2014/main" id="{92CE3253-143D-FB7F-4356-4CD3210C4E55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1520814 w 12192000"/>
              <a:gd name="csY0" fmla="*/ 163201 h 6017575"/>
              <a:gd name="csX1" fmla="*/ 1520814 w 12192000"/>
              <a:gd name="csY1" fmla="*/ 4735201 h 6017575"/>
              <a:gd name="csX2" fmla="*/ 5943600 w 12192000"/>
              <a:gd name="csY2" fmla="*/ 4735201 h 6017575"/>
              <a:gd name="csX3" fmla="*/ 5943600 w 12192000"/>
              <a:gd name="csY3" fmla="*/ 163201 h 6017575"/>
              <a:gd name="csX4" fmla="*/ 0 w 12192000"/>
              <a:gd name="csY4" fmla="*/ 0 h 6017575"/>
              <a:gd name="csX5" fmla="*/ 12192000 w 12192000"/>
              <a:gd name="csY5" fmla="*/ 0 h 6017575"/>
              <a:gd name="csX6" fmla="*/ 12192000 w 12192000"/>
              <a:gd name="csY6" fmla="*/ 6017575 h 6017575"/>
              <a:gd name="csX7" fmla="*/ 0 w 12192000"/>
              <a:gd name="csY7" fmla="*/ 6017575 h 6017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017575">
                <a:moveTo>
                  <a:pt x="1520814" y="163201"/>
                </a:moveTo>
                <a:lnTo>
                  <a:pt x="1520814" y="4735201"/>
                </a:lnTo>
                <a:lnTo>
                  <a:pt x="5943600" y="4735201"/>
                </a:lnTo>
                <a:lnTo>
                  <a:pt x="5943600" y="163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7575"/>
                </a:lnTo>
                <a:lnTo>
                  <a:pt x="0" y="6017575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5D45773D-0961-DD2B-3D8A-DE4F2CD94241}"/>
              </a:ext>
            </a:extLst>
          </p:cNvPr>
          <p:cNvSpPr>
            <a:spLocks/>
          </p:cNvSpPr>
          <p:nvPr/>
        </p:nvSpPr>
        <p:spPr>
          <a:xfrm>
            <a:off x="6096000" y="9144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Fig. 1c (Frequency): DS2 is as frequent as Ripples.</a:t>
            </a:r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6E35A529-C9EB-A376-BF09-0C11978ADE2B}"/>
              </a:ext>
            </a:extLst>
          </p:cNvPr>
          <p:cNvSpPr/>
          <p:nvPr/>
        </p:nvSpPr>
        <p:spPr>
          <a:xfrm>
            <a:off x="2158033" y="3733800"/>
            <a:ext cx="3653858" cy="304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2E3C668D-930D-1617-EACA-C8FD3AE213D0}"/>
              </a:ext>
            </a:extLst>
          </p:cNvPr>
          <p:cNvSpPr/>
          <p:nvPr/>
        </p:nvSpPr>
        <p:spPr>
          <a:xfrm>
            <a:off x="-381000" y="1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T">
            <a:extLst>
              <a:ext uri="{FF2B5EF4-FFF2-40B4-BE49-F238E27FC236}">
                <a16:creationId xmlns:a16="http://schemas.microsoft.com/office/drawing/2014/main" id="{86F9CC36-D983-3241-9B81-B836C366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53400" cy="685800"/>
          </a:xfrm>
        </p:spPr>
        <p:txBody>
          <a:bodyPr anchor="ctr">
            <a:no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Getting To Know Our Offline Spikes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87506F9A-AA53-D08A-181B-72A2E8F80432}"/>
              </a:ext>
            </a:extLst>
          </p:cNvPr>
          <p:cNvSpPr>
            <a:spLocks/>
          </p:cNvSpPr>
          <p:nvPr/>
        </p:nvSpPr>
        <p:spPr>
          <a:xfrm>
            <a:off x="14401800" y="5257800"/>
            <a:ext cx="4648200" cy="1295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/>
              <a:t>Fig. 1c (Frequency): DS2 is as frequent as Ripples.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5A4D3B09-B0BD-BC8B-8D70-142E0FDFB1AA}"/>
              </a:ext>
            </a:extLst>
          </p:cNvPr>
          <p:cNvSpPr>
            <a:spLocks/>
          </p:cNvSpPr>
          <p:nvPr/>
        </p:nvSpPr>
        <p:spPr>
          <a:xfrm>
            <a:off x="6096000" y="19812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Fig. 1d (Independence): DS2 and Ripples are mutually exclusive.</a:t>
            </a: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BCFEC949-A74D-FFEE-7E33-923A17B005CE}"/>
              </a:ext>
            </a:extLst>
          </p:cNvPr>
          <p:cNvSpPr>
            <a:spLocks/>
          </p:cNvSpPr>
          <p:nvPr/>
        </p:nvSpPr>
        <p:spPr>
          <a:xfrm>
            <a:off x="6116690" y="3048000"/>
            <a:ext cx="5943600" cy="2362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Fig. 1e (State): DS2 tracks with low physiological arousal (Pupil constriction).</a:t>
            </a:r>
          </a:p>
        </p:txBody>
      </p:sp>
    </p:spTree>
    <p:extLst>
      <p:ext uri="{BB962C8B-B14F-4D97-AF65-F5344CB8AC3E}">
        <p14:creationId xmlns:p14="http://schemas.microsoft.com/office/powerpoint/2010/main" val="945316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FA96-0113-A6C7-7209-9476D7471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184B775-9904-98E7-D174-726BAD76E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35" y="-4249741"/>
            <a:ext cx="8485532" cy="9871079"/>
          </a:xfrm>
          <a:prstGeom prst="rect">
            <a:avLst/>
          </a:prstGeom>
        </p:spPr>
      </p:pic>
      <p:sp>
        <p:nvSpPr>
          <p:cNvPr id="19" name="!!Freeform: Shape 18">
            <a:extLst>
              <a:ext uri="{FF2B5EF4-FFF2-40B4-BE49-F238E27FC236}">
                <a16:creationId xmlns:a16="http://schemas.microsoft.com/office/drawing/2014/main" id="{1E952597-1C61-620D-AEEB-C4F7F4B0D52D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1520814 w 12192000"/>
              <a:gd name="csY0" fmla="*/ 163201 h 6017575"/>
              <a:gd name="csX1" fmla="*/ 1520814 w 12192000"/>
              <a:gd name="csY1" fmla="*/ 4735201 h 6017575"/>
              <a:gd name="csX2" fmla="*/ 5943600 w 12192000"/>
              <a:gd name="csY2" fmla="*/ 4735201 h 6017575"/>
              <a:gd name="csX3" fmla="*/ 5943600 w 12192000"/>
              <a:gd name="csY3" fmla="*/ 163201 h 6017575"/>
              <a:gd name="csX4" fmla="*/ 0 w 12192000"/>
              <a:gd name="csY4" fmla="*/ 0 h 6017575"/>
              <a:gd name="csX5" fmla="*/ 12192000 w 12192000"/>
              <a:gd name="csY5" fmla="*/ 0 h 6017575"/>
              <a:gd name="csX6" fmla="*/ 12192000 w 12192000"/>
              <a:gd name="csY6" fmla="*/ 6017575 h 6017575"/>
              <a:gd name="csX7" fmla="*/ 0 w 12192000"/>
              <a:gd name="csY7" fmla="*/ 6017575 h 6017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017575">
                <a:moveTo>
                  <a:pt x="1520814" y="163201"/>
                </a:moveTo>
                <a:lnTo>
                  <a:pt x="1520814" y="4735201"/>
                </a:lnTo>
                <a:lnTo>
                  <a:pt x="5943600" y="4735201"/>
                </a:lnTo>
                <a:lnTo>
                  <a:pt x="5943600" y="163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7575"/>
                </a:lnTo>
                <a:lnTo>
                  <a:pt x="0" y="6017575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5227E827-096E-9FDB-7771-B170B8432076}"/>
              </a:ext>
            </a:extLst>
          </p:cNvPr>
          <p:cNvSpPr>
            <a:spLocks/>
          </p:cNvSpPr>
          <p:nvPr/>
        </p:nvSpPr>
        <p:spPr>
          <a:xfrm>
            <a:off x="6096000" y="9144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Fig. 1c (Frequency): DS2 is as frequent as Ripples.</a:t>
            </a:r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AB186907-FE27-16B9-C6D5-8CAEA845B106}"/>
              </a:ext>
            </a:extLst>
          </p:cNvPr>
          <p:cNvSpPr/>
          <p:nvPr/>
        </p:nvSpPr>
        <p:spPr>
          <a:xfrm>
            <a:off x="2158033" y="3733800"/>
            <a:ext cx="3653858" cy="120174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41BEE89A-5EC1-7708-3EF5-78381544724A}"/>
              </a:ext>
            </a:extLst>
          </p:cNvPr>
          <p:cNvSpPr/>
          <p:nvPr/>
        </p:nvSpPr>
        <p:spPr>
          <a:xfrm>
            <a:off x="-381000" y="1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T">
            <a:extLst>
              <a:ext uri="{FF2B5EF4-FFF2-40B4-BE49-F238E27FC236}">
                <a16:creationId xmlns:a16="http://schemas.microsoft.com/office/drawing/2014/main" id="{97393138-EB5C-87EE-DC76-FCDEBD792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53400" cy="685800"/>
          </a:xfrm>
        </p:spPr>
        <p:txBody>
          <a:bodyPr anchor="ctr">
            <a:no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Getting To Know Our Offline Spikes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310CCF68-6D71-9781-A954-859FC73E7B48}"/>
              </a:ext>
            </a:extLst>
          </p:cNvPr>
          <p:cNvSpPr>
            <a:spLocks/>
          </p:cNvSpPr>
          <p:nvPr/>
        </p:nvSpPr>
        <p:spPr>
          <a:xfrm>
            <a:off x="14401800" y="5257800"/>
            <a:ext cx="4648200" cy="1295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/>
              <a:t>Fig. 1c (Frequency): DS2 is as frequent as Ripples.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3C2607D9-38A5-1653-E7B9-9700D0555222}"/>
              </a:ext>
            </a:extLst>
          </p:cNvPr>
          <p:cNvSpPr>
            <a:spLocks/>
          </p:cNvSpPr>
          <p:nvPr/>
        </p:nvSpPr>
        <p:spPr>
          <a:xfrm>
            <a:off x="6096000" y="19812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Fig. 1d (Independence): DS2 and Ripples are mutually exclusive.</a:t>
            </a: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A7818A0C-84B5-EB2D-2C33-A55B6349BE14}"/>
              </a:ext>
            </a:extLst>
          </p:cNvPr>
          <p:cNvSpPr>
            <a:spLocks/>
          </p:cNvSpPr>
          <p:nvPr/>
        </p:nvSpPr>
        <p:spPr>
          <a:xfrm>
            <a:off x="6116690" y="3048000"/>
            <a:ext cx="5943600" cy="2362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Fig. 1e (State): DS2 tracks with low physiological arousal (Pupil constriction).</a:t>
            </a:r>
          </a:p>
        </p:txBody>
      </p:sp>
    </p:spTree>
    <p:extLst>
      <p:ext uri="{BB962C8B-B14F-4D97-AF65-F5344CB8AC3E}">
        <p14:creationId xmlns:p14="http://schemas.microsoft.com/office/powerpoint/2010/main" val="614989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EDD5F-95AD-447F-FE39-77A9FACF0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E9843A-F64A-E895-7FD1-49E2A7329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22187" y="-4249741"/>
            <a:ext cx="8485532" cy="9871079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FE29557-0DB8-AA18-774B-8BF59776D149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1520814 w 12192000"/>
              <a:gd name="csY0" fmla="*/ 163201 h 6017575"/>
              <a:gd name="csX1" fmla="*/ 1520814 w 12192000"/>
              <a:gd name="csY1" fmla="*/ 4735201 h 6017575"/>
              <a:gd name="csX2" fmla="*/ 5943600 w 12192000"/>
              <a:gd name="csY2" fmla="*/ 4735201 h 6017575"/>
              <a:gd name="csX3" fmla="*/ 5943600 w 12192000"/>
              <a:gd name="csY3" fmla="*/ 163201 h 6017575"/>
              <a:gd name="csX4" fmla="*/ 0 w 12192000"/>
              <a:gd name="csY4" fmla="*/ 0 h 6017575"/>
              <a:gd name="csX5" fmla="*/ 12192000 w 12192000"/>
              <a:gd name="csY5" fmla="*/ 0 h 6017575"/>
              <a:gd name="csX6" fmla="*/ 12192000 w 12192000"/>
              <a:gd name="csY6" fmla="*/ 6017575 h 6017575"/>
              <a:gd name="csX7" fmla="*/ 0 w 12192000"/>
              <a:gd name="csY7" fmla="*/ 6017575 h 6017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017575">
                <a:moveTo>
                  <a:pt x="1520814" y="163201"/>
                </a:moveTo>
                <a:lnTo>
                  <a:pt x="1520814" y="4735201"/>
                </a:lnTo>
                <a:lnTo>
                  <a:pt x="5943600" y="4735201"/>
                </a:lnTo>
                <a:lnTo>
                  <a:pt x="5943600" y="163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7575"/>
                </a:lnTo>
                <a:lnTo>
                  <a:pt x="0" y="6017575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5770779A-A564-19B3-DDB4-3468F4D532F4}"/>
              </a:ext>
            </a:extLst>
          </p:cNvPr>
          <p:cNvSpPr>
            <a:spLocks/>
          </p:cNvSpPr>
          <p:nvPr/>
        </p:nvSpPr>
        <p:spPr>
          <a:xfrm>
            <a:off x="6096000" y="9144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Fig. 1c (Frequency): DS2 is as frequent as Ripples.</a:t>
            </a:r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C9768723-83BE-E9BC-F5CC-3E2440F580A2}"/>
              </a:ext>
            </a:extLst>
          </p:cNvPr>
          <p:cNvSpPr/>
          <p:nvPr/>
        </p:nvSpPr>
        <p:spPr>
          <a:xfrm>
            <a:off x="3429000" y="899161"/>
            <a:ext cx="1524000" cy="77724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30852F69-4883-FB81-9D60-1B3C85D3394A}"/>
              </a:ext>
            </a:extLst>
          </p:cNvPr>
          <p:cNvSpPr/>
          <p:nvPr/>
        </p:nvSpPr>
        <p:spPr>
          <a:xfrm>
            <a:off x="-381000" y="1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T">
            <a:extLst>
              <a:ext uri="{FF2B5EF4-FFF2-40B4-BE49-F238E27FC236}">
                <a16:creationId xmlns:a16="http://schemas.microsoft.com/office/drawing/2014/main" id="{377B1691-24A6-BCB5-C972-C608B004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53400" cy="685800"/>
          </a:xfrm>
        </p:spPr>
        <p:txBody>
          <a:bodyPr anchor="ctr">
            <a:no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Getting To Know Our Offline Spikes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27AE8AB3-6078-6375-38A6-9EFCEA5D8F29}"/>
              </a:ext>
            </a:extLst>
          </p:cNvPr>
          <p:cNvSpPr>
            <a:spLocks/>
          </p:cNvSpPr>
          <p:nvPr/>
        </p:nvSpPr>
        <p:spPr>
          <a:xfrm>
            <a:off x="6096000" y="19812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Fig. 1d (Independence): DS2 and Ripples are mutually exclusive.</a:t>
            </a: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F88B33F8-5CB2-6B75-BA3F-A52C2E41EEA5}"/>
              </a:ext>
            </a:extLst>
          </p:cNvPr>
          <p:cNvSpPr>
            <a:spLocks/>
          </p:cNvSpPr>
          <p:nvPr/>
        </p:nvSpPr>
        <p:spPr>
          <a:xfrm>
            <a:off x="6102531" y="30480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1e (State): DS2 tracks with low physiological arousal (Pupil constriction).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A1CD5B82-EB73-A6B1-C494-49025BEE3C95}"/>
              </a:ext>
            </a:extLst>
          </p:cNvPr>
          <p:cNvSpPr>
            <a:spLocks/>
          </p:cNvSpPr>
          <p:nvPr/>
        </p:nvSpPr>
        <p:spPr>
          <a:xfrm>
            <a:off x="6139542" y="4116977"/>
            <a:ext cx="5943600" cy="2362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Fig. 1f (Behavior): DS2 occurs strictly during immobility.</a:t>
            </a:r>
          </a:p>
        </p:txBody>
      </p:sp>
      <p:sp>
        <p:nvSpPr>
          <p:cNvPr id="12" name="!!M5">
            <a:extLst>
              <a:ext uri="{FF2B5EF4-FFF2-40B4-BE49-F238E27FC236}">
                <a16:creationId xmlns:a16="http://schemas.microsoft.com/office/drawing/2014/main" id="{038DD333-991B-7EFB-50D0-A1506A1DCDCB}"/>
              </a:ext>
            </a:extLst>
          </p:cNvPr>
          <p:cNvSpPr>
            <a:spLocks/>
          </p:cNvSpPr>
          <p:nvPr/>
        </p:nvSpPr>
        <p:spPr>
          <a:xfrm>
            <a:off x="-4648200" y="922089"/>
            <a:ext cx="3630268" cy="570731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700" b="1" dirty="0">
                <a:solidFill>
                  <a:srgbClr val="FF0000"/>
                </a:solidFill>
              </a:rPr>
              <a:t>DS2 is a frequent, independent network event that occurs exclusively during low-arousal immobility.</a:t>
            </a:r>
            <a:endParaRPr lang="en-US" sz="27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102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7F995-3518-3D8E-3663-2EC3402CA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BCA994-5FCA-56D1-B058-B1B187A8E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22187" y="-4249741"/>
            <a:ext cx="8485532" cy="9871079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9C3FCD-D1C7-E5B7-067D-E6E2139A8BE6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1520814 w 12192000"/>
              <a:gd name="csY0" fmla="*/ 163201 h 6017575"/>
              <a:gd name="csX1" fmla="*/ 1520814 w 12192000"/>
              <a:gd name="csY1" fmla="*/ 4735201 h 6017575"/>
              <a:gd name="csX2" fmla="*/ 5943600 w 12192000"/>
              <a:gd name="csY2" fmla="*/ 4735201 h 6017575"/>
              <a:gd name="csX3" fmla="*/ 5943600 w 12192000"/>
              <a:gd name="csY3" fmla="*/ 163201 h 6017575"/>
              <a:gd name="csX4" fmla="*/ 0 w 12192000"/>
              <a:gd name="csY4" fmla="*/ 0 h 6017575"/>
              <a:gd name="csX5" fmla="*/ 12192000 w 12192000"/>
              <a:gd name="csY5" fmla="*/ 0 h 6017575"/>
              <a:gd name="csX6" fmla="*/ 12192000 w 12192000"/>
              <a:gd name="csY6" fmla="*/ 6017575 h 6017575"/>
              <a:gd name="csX7" fmla="*/ 0 w 12192000"/>
              <a:gd name="csY7" fmla="*/ 6017575 h 6017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017575">
                <a:moveTo>
                  <a:pt x="1520814" y="163201"/>
                </a:moveTo>
                <a:lnTo>
                  <a:pt x="1520814" y="4735201"/>
                </a:lnTo>
                <a:lnTo>
                  <a:pt x="5943600" y="4735201"/>
                </a:lnTo>
                <a:lnTo>
                  <a:pt x="5943600" y="163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7575"/>
                </a:lnTo>
                <a:lnTo>
                  <a:pt x="0" y="6017575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E87B998E-567F-8D75-7754-1803195AC4C1}"/>
              </a:ext>
            </a:extLst>
          </p:cNvPr>
          <p:cNvSpPr>
            <a:spLocks/>
          </p:cNvSpPr>
          <p:nvPr/>
        </p:nvSpPr>
        <p:spPr>
          <a:xfrm>
            <a:off x="6096000" y="9144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Fig. 1c (Frequency): DS2 is as frequent as Ripples.</a:t>
            </a:r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157663D5-173F-64B4-FCA2-3DA364CF4414}"/>
              </a:ext>
            </a:extLst>
          </p:cNvPr>
          <p:cNvSpPr/>
          <p:nvPr/>
        </p:nvSpPr>
        <p:spPr>
          <a:xfrm>
            <a:off x="2133599" y="4694167"/>
            <a:ext cx="3701143" cy="6858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2F0E62DC-3645-1C1D-5632-E6BC4F6777DA}"/>
              </a:ext>
            </a:extLst>
          </p:cNvPr>
          <p:cNvSpPr/>
          <p:nvPr/>
        </p:nvSpPr>
        <p:spPr>
          <a:xfrm>
            <a:off x="-381000" y="1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T">
            <a:extLst>
              <a:ext uri="{FF2B5EF4-FFF2-40B4-BE49-F238E27FC236}">
                <a16:creationId xmlns:a16="http://schemas.microsoft.com/office/drawing/2014/main" id="{3086589F-586C-6F69-384F-3924537E6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53400" cy="685800"/>
          </a:xfrm>
        </p:spPr>
        <p:txBody>
          <a:bodyPr anchor="ctr">
            <a:no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Getting To Know Our Offline Spikes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A5F0F3B4-6FEA-4988-0CED-7A6FDC51CA7B}"/>
              </a:ext>
            </a:extLst>
          </p:cNvPr>
          <p:cNvSpPr>
            <a:spLocks/>
          </p:cNvSpPr>
          <p:nvPr/>
        </p:nvSpPr>
        <p:spPr>
          <a:xfrm>
            <a:off x="6096000" y="19812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Fig. 1d (Independence): DS2 and Ripples are mutually exclusive.</a:t>
            </a: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458141D6-E82E-7FCD-5177-5E84A9A95CBB}"/>
              </a:ext>
            </a:extLst>
          </p:cNvPr>
          <p:cNvSpPr>
            <a:spLocks/>
          </p:cNvSpPr>
          <p:nvPr/>
        </p:nvSpPr>
        <p:spPr>
          <a:xfrm>
            <a:off x="6102531" y="3048000"/>
            <a:ext cx="5943600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1e (State): DS2 tracks with low physiological arousal (Pupil constriction).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A20BED97-7D2D-0F8B-5052-F543807D433A}"/>
              </a:ext>
            </a:extLst>
          </p:cNvPr>
          <p:cNvSpPr>
            <a:spLocks/>
          </p:cNvSpPr>
          <p:nvPr/>
        </p:nvSpPr>
        <p:spPr>
          <a:xfrm>
            <a:off x="6139542" y="4116977"/>
            <a:ext cx="5943600" cy="23622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>
                <a:solidFill>
                  <a:srgbClr val="FF0000"/>
                </a:solidFill>
              </a:rPr>
              <a:t>Fig. 1f (Behavior): DS2 occurs strictly during immobility.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81D3AFF8-ABEC-2EB4-0F6E-6305D0633407}"/>
              </a:ext>
            </a:extLst>
          </p:cNvPr>
          <p:cNvSpPr>
            <a:spLocks/>
          </p:cNvSpPr>
          <p:nvPr/>
        </p:nvSpPr>
        <p:spPr>
          <a:xfrm>
            <a:off x="-4237321" y="922089"/>
            <a:ext cx="3630268" cy="570731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700" b="1" dirty="0">
                <a:solidFill>
                  <a:srgbClr val="FF0000"/>
                </a:solidFill>
              </a:rPr>
              <a:t>DS2 is a frequent, independent network event during low arousal and immobility.</a:t>
            </a:r>
            <a:endParaRPr lang="en-US" sz="27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461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F402C-2E16-1F87-E31D-F16CE879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FC32A90-A392-E425-027F-2CDCED320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983" y="929780"/>
            <a:ext cx="4284617" cy="554722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687D2B75-0722-E243-4770-1FA4BC37F649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1520814 w 12192000"/>
              <a:gd name="csY0" fmla="*/ 163201 h 6017575"/>
              <a:gd name="csX1" fmla="*/ 1520814 w 12192000"/>
              <a:gd name="csY1" fmla="*/ 4735201 h 6017575"/>
              <a:gd name="csX2" fmla="*/ 5943600 w 12192000"/>
              <a:gd name="csY2" fmla="*/ 4735201 h 6017575"/>
              <a:gd name="csX3" fmla="*/ 5943600 w 12192000"/>
              <a:gd name="csY3" fmla="*/ 163201 h 6017575"/>
              <a:gd name="csX4" fmla="*/ 0 w 12192000"/>
              <a:gd name="csY4" fmla="*/ 0 h 6017575"/>
              <a:gd name="csX5" fmla="*/ 12192000 w 12192000"/>
              <a:gd name="csY5" fmla="*/ 0 h 6017575"/>
              <a:gd name="csX6" fmla="*/ 12192000 w 12192000"/>
              <a:gd name="csY6" fmla="*/ 6017575 h 6017575"/>
              <a:gd name="csX7" fmla="*/ 0 w 12192000"/>
              <a:gd name="csY7" fmla="*/ 6017575 h 6017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017575">
                <a:moveTo>
                  <a:pt x="1520814" y="163201"/>
                </a:moveTo>
                <a:lnTo>
                  <a:pt x="1520814" y="4735201"/>
                </a:lnTo>
                <a:lnTo>
                  <a:pt x="5943600" y="4735201"/>
                </a:lnTo>
                <a:lnTo>
                  <a:pt x="5943600" y="163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7575"/>
                </a:lnTo>
                <a:lnTo>
                  <a:pt x="0" y="6017575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D634F51C-DB62-EB4C-225E-9C6292D14C6B}"/>
              </a:ext>
            </a:extLst>
          </p:cNvPr>
          <p:cNvSpPr>
            <a:spLocks/>
          </p:cNvSpPr>
          <p:nvPr/>
        </p:nvSpPr>
        <p:spPr>
          <a:xfrm>
            <a:off x="8401830" y="914400"/>
            <a:ext cx="3657600" cy="118271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Fig. 1c (Frequency): DS2 is as frequent as Ripples.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7CC0BCAC-A6FB-2AC0-67A4-B582CB68ABFE}"/>
              </a:ext>
            </a:extLst>
          </p:cNvPr>
          <p:cNvSpPr/>
          <p:nvPr/>
        </p:nvSpPr>
        <p:spPr>
          <a:xfrm>
            <a:off x="-381000" y="1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!!T">
            <a:extLst>
              <a:ext uri="{FF2B5EF4-FFF2-40B4-BE49-F238E27FC236}">
                <a16:creationId xmlns:a16="http://schemas.microsoft.com/office/drawing/2014/main" id="{DE06E767-96CA-240E-260A-2BABD1ACC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53400" cy="685800"/>
          </a:xfrm>
        </p:spPr>
        <p:txBody>
          <a:bodyPr anchor="ctr">
            <a:no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Getting To Know Our Offline Spikes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E1BEE115-7153-9CEE-7EEB-3DE21E5CA325}"/>
              </a:ext>
            </a:extLst>
          </p:cNvPr>
          <p:cNvSpPr>
            <a:spLocks/>
          </p:cNvSpPr>
          <p:nvPr/>
        </p:nvSpPr>
        <p:spPr>
          <a:xfrm>
            <a:off x="8401830" y="2286726"/>
            <a:ext cx="3657600" cy="118271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Fig. 1d (Independence): DS2 and Ripples are mutually exclusive.</a:t>
            </a: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4D509229-CDCC-B88A-62B4-404DB876216D}"/>
              </a:ext>
            </a:extLst>
          </p:cNvPr>
          <p:cNvSpPr>
            <a:spLocks/>
          </p:cNvSpPr>
          <p:nvPr/>
        </p:nvSpPr>
        <p:spPr>
          <a:xfrm>
            <a:off x="8401830" y="3659052"/>
            <a:ext cx="3657600" cy="118271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1e (State): DS2 tracks with low physiological arousal (Pupil constriction).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E8EC86B4-B119-BF23-6752-FF6445FD0879}"/>
              </a:ext>
            </a:extLst>
          </p:cNvPr>
          <p:cNvSpPr>
            <a:spLocks/>
          </p:cNvSpPr>
          <p:nvPr/>
        </p:nvSpPr>
        <p:spPr>
          <a:xfrm>
            <a:off x="8401830" y="5031377"/>
            <a:ext cx="3657600" cy="12170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</a:rPr>
              <a:t>Fig. 1f (Behavior): DS2 occurs strictly during immobility.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9113E151-6EAD-1E9F-7000-B94D7D6B1F4C}"/>
              </a:ext>
            </a:extLst>
          </p:cNvPr>
          <p:cNvSpPr>
            <a:spLocks/>
          </p:cNvSpPr>
          <p:nvPr/>
        </p:nvSpPr>
        <p:spPr>
          <a:xfrm>
            <a:off x="142485" y="922089"/>
            <a:ext cx="3630268" cy="570731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700" b="1" dirty="0">
                <a:solidFill>
                  <a:srgbClr val="FF0000"/>
                </a:solidFill>
              </a:rPr>
              <a:t>DS2 is a frequent, independent network event during low arousal and immobility.</a:t>
            </a:r>
            <a:endParaRPr lang="en-US" sz="2700" b="1" u="sng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0BA7E1-9913-5309-7792-D8BA842BD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08" y="-3657600"/>
            <a:ext cx="11150184" cy="26272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!!Focus">
            <a:extLst>
              <a:ext uri="{FF2B5EF4-FFF2-40B4-BE49-F238E27FC236}">
                <a16:creationId xmlns:a16="http://schemas.microsoft.com/office/drawing/2014/main" id="{457B088C-C3BB-1A62-FCE4-694E339222F4}"/>
              </a:ext>
            </a:extLst>
          </p:cNvPr>
          <p:cNvSpPr/>
          <p:nvPr/>
        </p:nvSpPr>
        <p:spPr>
          <a:xfrm>
            <a:off x="5747657" y="7848599"/>
            <a:ext cx="3701143" cy="6858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14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4FCD7-0C71-19C0-212B-D69EDDB1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1B20797-712F-BF7C-787D-5B5251C73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08" y="914400"/>
            <a:ext cx="11150184" cy="26272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56CCC9-0F9A-C9EE-EBB9-EB2811CB1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983" y="7787780"/>
            <a:ext cx="4284617" cy="554722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T">
            <a:extLst>
              <a:ext uri="{FF2B5EF4-FFF2-40B4-BE49-F238E27FC236}">
                <a16:creationId xmlns:a16="http://schemas.microsoft.com/office/drawing/2014/main" id="{B2D613CF-9005-1D4D-B6A4-19B1A309F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153400" cy="685800"/>
          </a:xfrm>
        </p:spPr>
        <p:txBody>
          <a:bodyPr anchor="ctr">
            <a:no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Getting To Know Our Offline Spikes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CF9CCDEE-DA38-5B8F-6C4F-7CDF775079AB}"/>
              </a:ext>
            </a:extLst>
          </p:cNvPr>
          <p:cNvSpPr>
            <a:spLocks/>
          </p:cNvSpPr>
          <p:nvPr/>
        </p:nvSpPr>
        <p:spPr>
          <a:xfrm>
            <a:off x="13868400" y="2286726"/>
            <a:ext cx="3657600" cy="118271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Fig. 1d (Independence): DS2 and Ripples are mutually exclusive.</a:t>
            </a: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8C4C6420-D7D8-CAE1-E64C-EF970A9DA723}"/>
              </a:ext>
            </a:extLst>
          </p:cNvPr>
          <p:cNvSpPr>
            <a:spLocks/>
          </p:cNvSpPr>
          <p:nvPr/>
        </p:nvSpPr>
        <p:spPr>
          <a:xfrm>
            <a:off x="13868400" y="3659052"/>
            <a:ext cx="3657600" cy="118271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1e (State): DS2 tracks with low physiological arousal (Pupil constriction).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333E6198-137F-CCED-81DF-2BC2A8178E90}"/>
              </a:ext>
            </a:extLst>
          </p:cNvPr>
          <p:cNvSpPr>
            <a:spLocks/>
          </p:cNvSpPr>
          <p:nvPr/>
        </p:nvSpPr>
        <p:spPr>
          <a:xfrm>
            <a:off x="13868400" y="5031377"/>
            <a:ext cx="3657600" cy="12170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</a:rPr>
              <a:t>Fig. 1f (Behavior): DS2 occurs strictly during immobility.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C7BC708F-4FFF-957D-1A76-B926958E463A}"/>
              </a:ext>
            </a:extLst>
          </p:cNvPr>
          <p:cNvSpPr>
            <a:spLocks/>
          </p:cNvSpPr>
          <p:nvPr/>
        </p:nvSpPr>
        <p:spPr>
          <a:xfrm>
            <a:off x="-9601200" y="695680"/>
            <a:ext cx="3630268" cy="570731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700" b="1" dirty="0">
                <a:solidFill>
                  <a:srgbClr val="FF0000"/>
                </a:solidFill>
              </a:rPr>
              <a:t>DS2 is a frequent, independent network event that occurs exclusively during low-arousal immobility.</a:t>
            </a:r>
            <a:endParaRPr lang="en-US" sz="27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E6A60F-638F-9B0D-3BA4-08FD04526592}"/>
              </a:ext>
            </a:extLst>
          </p:cNvPr>
          <p:cNvCxnSpPr/>
          <p:nvPr/>
        </p:nvCxnSpPr>
        <p:spPr>
          <a:xfrm>
            <a:off x="-8839200" y="1754791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M6">
            <a:extLst>
              <a:ext uri="{FF2B5EF4-FFF2-40B4-BE49-F238E27FC236}">
                <a16:creationId xmlns:a16="http://schemas.microsoft.com/office/drawing/2014/main" id="{C8FF21AD-D69F-76C7-DC5C-67A29E74AAD5}"/>
              </a:ext>
            </a:extLst>
          </p:cNvPr>
          <p:cNvSpPr>
            <a:spLocks/>
          </p:cNvSpPr>
          <p:nvPr/>
        </p:nvSpPr>
        <p:spPr>
          <a:xfrm>
            <a:off x="13944600" y="6559759"/>
            <a:ext cx="3657600" cy="12170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>
                <a:solidFill>
                  <a:schemeClr val="bg1"/>
                </a:solidFill>
              </a:rPr>
              <a:t>Fig. 1f (Behavior): DS2 occurs strictly during immobility.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95C3384C-AC9B-CF04-92FD-C1AFE855CD92}"/>
              </a:ext>
            </a:extLst>
          </p:cNvPr>
          <p:cNvSpPr>
            <a:spLocks/>
          </p:cNvSpPr>
          <p:nvPr/>
        </p:nvSpPr>
        <p:spPr>
          <a:xfrm>
            <a:off x="13868400" y="914400"/>
            <a:ext cx="3657600" cy="118271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Fig. 1c (Frequency): DS2 is as frequent as Ripples.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1A4DB785-13C7-3A86-9002-2F9FD034D149}"/>
              </a:ext>
            </a:extLst>
          </p:cNvPr>
          <p:cNvSpPr/>
          <p:nvPr/>
        </p:nvSpPr>
        <p:spPr>
          <a:xfrm>
            <a:off x="2895600" y="4239188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T">
            <a:extLst>
              <a:ext uri="{FF2B5EF4-FFF2-40B4-BE49-F238E27FC236}">
                <a16:creationId xmlns:a16="http://schemas.microsoft.com/office/drawing/2014/main" id="{4249A80E-0F1D-F2CB-559E-BB1600E009B8}"/>
              </a:ext>
            </a:extLst>
          </p:cNvPr>
          <p:cNvSpPr txBox="1">
            <a:spLocks/>
          </p:cNvSpPr>
          <p:nvPr/>
        </p:nvSpPr>
        <p:spPr>
          <a:xfrm>
            <a:off x="3238500" y="4303383"/>
            <a:ext cx="5715000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Why DS2 Is Unique</a:t>
            </a:r>
          </a:p>
        </p:txBody>
      </p:sp>
      <p:sp>
        <p:nvSpPr>
          <p:cNvPr id="21" name="Freeform: Shape 20" hidden="1">
            <a:extLst>
              <a:ext uri="{FF2B5EF4-FFF2-40B4-BE49-F238E27FC236}">
                <a16:creationId xmlns:a16="http://schemas.microsoft.com/office/drawing/2014/main" id="{57A71BAC-3576-254A-5C60-0A2ABA759CDD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0 w 12192000"/>
              <a:gd name="csY0" fmla="*/ 0 h 6172199"/>
              <a:gd name="csX1" fmla="*/ 12192000 w 12192000"/>
              <a:gd name="csY1" fmla="*/ 0 h 6172199"/>
              <a:gd name="csX2" fmla="*/ 12192000 w 12192000"/>
              <a:gd name="csY2" fmla="*/ 6172199 h 6172199"/>
              <a:gd name="csX3" fmla="*/ 0 w 12192000"/>
              <a:gd name="csY3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172199"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Focus">
            <a:extLst>
              <a:ext uri="{FF2B5EF4-FFF2-40B4-BE49-F238E27FC236}">
                <a16:creationId xmlns:a16="http://schemas.microsoft.com/office/drawing/2014/main" id="{3001612A-761F-24DD-BFA8-69116D6CC6C7}"/>
              </a:ext>
            </a:extLst>
          </p:cNvPr>
          <p:cNvSpPr/>
          <p:nvPr/>
        </p:nvSpPr>
        <p:spPr>
          <a:xfrm>
            <a:off x="-1638300" y="1952065"/>
            <a:ext cx="533400" cy="238247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53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BCBFD-52A6-1FB4-83E4-1CCCDFF84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FF0E64-202F-CC4C-8EC1-7F761D005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87829"/>
            <a:ext cx="19667588" cy="4634149"/>
          </a:xfrm>
          <a:prstGeom prst="rect">
            <a:avLst/>
          </a:prstGeom>
          <a:ln w="38100">
            <a:noFill/>
          </a:ln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EB61B61-1C89-3781-6C45-9EDD9F9D497F}"/>
              </a:ext>
            </a:extLst>
          </p:cNvPr>
          <p:cNvSpPr/>
          <p:nvPr/>
        </p:nvSpPr>
        <p:spPr>
          <a:xfrm>
            <a:off x="1281" y="691820"/>
            <a:ext cx="12192000" cy="6172199"/>
          </a:xfrm>
          <a:custGeom>
            <a:avLst/>
            <a:gdLst>
              <a:gd name="csX0" fmla="*/ 1598919 w 12192000"/>
              <a:gd name="csY0" fmla="*/ 70180 h 6172199"/>
              <a:gd name="csX1" fmla="*/ 1598919 w 12192000"/>
              <a:gd name="csY1" fmla="*/ 4413580 h 6172199"/>
              <a:gd name="csX2" fmla="*/ 5256520 w 12192000"/>
              <a:gd name="csY2" fmla="*/ 4413580 h 6172199"/>
              <a:gd name="csX3" fmla="*/ 5256520 w 12192000"/>
              <a:gd name="csY3" fmla="*/ 7018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1598919" y="70180"/>
                </a:moveTo>
                <a:lnTo>
                  <a:pt x="1598919" y="4413580"/>
                </a:lnTo>
                <a:lnTo>
                  <a:pt x="5256520" y="4413580"/>
                </a:lnTo>
                <a:lnTo>
                  <a:pt x="5256520" y="701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30A4FC75-2185-8A09-0F66-547323CA8F61}"/>
              </a:ext>
            </a:extLst>
          </p:cNvPr>
          <p:cNvSpPr/>
          <p:nvPr/>
        </p:nvSpPr>
        <p:spPr>
          <a:xfrm>
            <a:off x="3544581" y="1952065"/>
            <a:ext cx="533400" cy="238247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23465737-4016-3874-9B1D-8A884F495F0B}"/>
              </a:ext>
            </a:extLst>
          </p:cNvPr>
          <p:cNvSpPr>
            <a:spLocks/>
          </p:cNvSpPr>
          <p:nvPr/>
        </p:nvSpPr>
        <p:spPr>
          <a:xfrm>
            <a:off x="-4648200" y="922089"/>
            <a:ext cx="3630268" cy="570731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700" b="1" dirty="0">
                <a:solidFill>
                  <a:srgbClr val="FF0000"/>
                </a:solidFill>
              </a:rPr>
              <a:t>DS2 is a frequent, independent network event that occurs exclusively during low-arousal immobility.</a:t>
            </a:r>
            <a:endParaRPr lang="en-US" sz="27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E9E8C1-60A4-51E2-3FBB-A79293C13854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3">
            <a:extLst>
              <a:ext uri="{FF2B5EF4-FFF2-40B4-BE49-F238E27FC236}">
                <a16:creationId xmlns:a16="http://schemas.microsoft.com/office/drawing/2014/main" id="{E84B9A8E-8A6F-B430-FA86-39A603313193}"/>
              </a:ext>
            </a:extLst>
          </p:cNvPr>
          <p:cNvSpPr>
            <a:spLocks/>
          </p:cNvSpPr>
          <p:nvPr/>
        </p:nvSpPr>
        <p:spPr>
          <a:xfrm>
            <a:off x="5486400" y="838200"/>
            <a:ext cx="6557958" cy="36778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</a:rPr>
              <a:t>Fig. 1g (Micro-Arousal): DS2 is time-locked to facial movement.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FC5F4048-6C2F-B235-1985-5A5B961773E8}"/>
              </a:ext>
            </a:extLst>
          </p:cNvPr>
          <p:cNvSpPr>
            <a:spLocks/>
          </p:cNvSpPr>
          <p:nvPr/>
        </p:nvSpPr>
        <p:spPr>
          <a:xfrm>
            <a:off x="13868400" y="1447800"/>
            <a:ext cx="3657600" cy="118271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/>
              <a:t>Fig. 1h (Physiology): DS2 drives sympathetic arousal, marked by immediate and rapid pupil dilation.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2B484058-3B36-CAD4-2AEC-B5EA6A3148BB}"/>
              </a:ext>
            </a:extLst>
          </p:cNvPr>
          <p:cNvSpPr>
            <a:spLocks/>
          </p:cNvSpPr>
          <p:nvPr/>
        </p:nvSpPr>
        <p:spPr>
          <a:xfrm>
            <a:off x="13868400" y="2820126"/>
            <a:ext cx="3657600" cy="118271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/>
              <a:t>Fig. 1i (Reactivity): Sensory startles can evoke DS2 events.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A34D670F-206F-71CD-99F5-BCDF8E7B490A}"/>
              </a:ext>
            </a:extLst>
          </p:cNvPr>
          <p:cNvSpPr>
            <a:spLocks/>
          </p:cNvSpPr>
          <p:nvPr/>
        </p:nvSpPr>
        <p:spPr>
          <a:xfrm>
            <a:off x="13868400" y="4192451"/>
            <a:ext cx="3657600" cy="12170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/>
              <a:t>Fig. 1j (Robustness): DS2 is a reliable alarm system, responding to sensory triggers in the majority (&gt;50%) of trials.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499C24CD-264D-E66A-38F8-A2E175EB2F38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7BC8B8E0-AF31-7795-20E0-4BFE27BB467D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</a:t>
            </a:r>
          </a:p>
        </p:txBody>
      </p:sp>
      <p:sp>
        <p:nvSpPr>
          <p:cNvPr id="2" name="!!M1">
            <a:extLst>
              <a:ext uri="{FF2B5EF4-FFF2-40B4-BE49-F238E27FC236}">
                <a16:creationId xmlns:a16="http://schemas.microsoft.com/office/drawing/2014/main" id="{E18C9094-0FA9-17BD-21FF-7AA6BE8E5AE7}"/>
              </a:ext>
            </a:extLst>
          </p:cNvPr>
          <p:cNvSpPr>
            <a:spLocks/>
          </p:cNvSpPr>
          <p:nvPr/>
        </p:nvSpPr>
        <p:spPr>
          <a:xfrm>
            <a:off x="12880179" y="832180"/>
            <a:ext cx="6557958" cy="36778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</a:rPr>
              <a:t>Fig. 1h (Micro-Arousal): DS2 aligns with rapid pupil dilation.</a:t>
            </a:r>
          </a:p>
        </p:txBody>
      </p:sp>
    </p:spTree>
    <p:extLst>
      <p:ext uri="{BB962C8B-B14F-4D97-AF65-F5344CB8AC3E}">
        <p14:creationId xmlns:p14="http://schemas.microsoft.com/office/powerpoint/2010/main" val="2375332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92EA8-9363-E1B4-3E07-CF046F120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08A1907-C5C3-5A26-966B-E2C55D22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62200" y="587829"/>
            <a:ext cx="19667588" cy="4634149"/>
          </a:xfrm>
          <a:prstGeom prst="rect">
            <a:avLst/>
          </a:prstGeom>
          <a:ln w="38100">
            <a:noFill/>
          </a:ln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FA29C19-FAF3-C4C5-EB5E-736428E8DEF1}"/>
              </a:ext>
            </a:extLst>
          </p:cNvPr>
          <p:cNvSpPr/>
          <p:nvPr/>
        </p:nvSpPr>
        <p:spPr>
          <a:xfrm>
            <a:off x="1281" y="691820"/>
            <a:ext cx="12192000" cy="6172199"/>
          </a:xfrm>
          <a:custGeom>
            <a:avLst/>
            <a:gdLst>
              <a:gd name="csX0" fmla="*/ 1598919 w 12192000"/>
              <a:gd name="csY0" fmla="*/ 70180 h 6172199"/>
              <a:gd name="csX1" fmla="*/ 1598919 w 12192000"/>
              <a:gd name="csY1" fmla="*/ 4413580 h 6172199"/>
              <a:gd name="csX2" fmla="*/ 5256520 w 12192000"/>
              <a:gd name="csY2" fmla="*/ 4413580 h 6172199"/>
              <a:gd name="csX3" fmla="*/ 5256520 w 12192000"/>
              <a:gd name="csY3" fmla="*/ 7018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1598919" y="70180"/>
                </a:moveTo>
                <a:lnTo>
                  <a:pt x="1598919" y="4413580"/>
                </a:lnTo>
                <a:lnTo>
                  <a:pt x="5256520" y="4413580"/>
                </a:lnTo>
                <a:lnTo>
                  <a:pt x="5256520" y="701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930B0750-E0B1-A2BB-FE1D-01A551208E33}"/>
              </a:ext>
            </a:extLst>
          </p:cNvPr>
          <p:cNvSpPr/>
          <p:nvPr/>
        </p:nvSpPr>
        <p:spPr>
          <a:xfrm rot="1810379">
            <a:off x="4282496" y="2464779"/>
            <a:ext cx="533400" cy="1953083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B9D42493-EBCA-FA4A-3650-FD09D5D830D2}"/>
              </a:ext>
            </a:extLst>
          </p:cNvPr>
          <p:cNvSpPr>
            <a:spLocks/>
          </p:cNvSpPr>
          <p:nvPr/>
        </p:nvSpPr>
        <p:spPr>
          <a:xfrm>
            <a:off x="-4648200" y="922089"/>
            <a:ext cx="3630268" cy="570731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700" b="1" dirty="0">
                <a:solidFill>
                  <a:srgbClr val="FF0000"/>
                </a:solidFill>
              </a:rPr>
              <a:t>DS2 is a frequent, independent network event that occurs exclusively during low-arousal immobility.</a:t>
            </a:r>
            <a:endParaRPr lang="en-US" sz="27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1BE87E-6650-8C16-AAA2-A44213C619FE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!!M1">
            <a:extLst>
              <a:ext uri="{FF2B5EF4-FFF2-40B4-BE49-F238E27FC236}">
                <a16:creationId xmlns:a16="http://schemas.microsoft.com/office/drawing/2014/main" id="{BD9E0C5E-6337-2981-797C-51C604B29234}"/>
              </a:ext>
            </a:extLst>
          </p:cNvPr>
          <p:cNvSpPr>
            <a:spLocks/>
          </p:cNvSpPr>
          <p:nvPr/>
        </p:nvSpPr>
        <p:spPr>
          <a:xfrm>
            <a:off x="5486400" y="832180"/>
            <a:ext cx="6557958" cy="36778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</a:rPr>
              <a:t>Fig. 1h (Micro-Arousal): DS2 aligns with rapid pupil dilation.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FEC93EFA-3C02-B0DF-D309-CAC35C01ED28}"/>
              </a:ext>
            </a:extLst>
          </p:cNvPr>
          <p:cNvSpPr>
            <a:spLocks/>
          </p:cNvSpPr>
          <p:nvPr/>
        </p:nvSpPr>
        <p:spPr>
          <a:xfrm>
            <a:off x="228600" y="5229247"/>
            <a:ext cx="1676400" cy="155255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Fig. 1g (Micro-Arousal): DS2 is time-locked to facial movement.</a:t>
            </a: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E7C5B291-4856-404B-C684-3F77BCB1611A}"/>
              </a:ext>
            </a:extLst>
          </p:cNvPr>
          <p:cNvSpPr>
            <a:spLocks/>
          </p:cNvSpPr>
          <p:nvPr/>
        </p:nvSpPr>
        <p:spPr>
          <a:xfrm>
            <a:off x="13868400" y="1295400"/>
            <a:ext cx="3657600" cy="118271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/>
              <a:t>Fig. 1i (Reactivity): Sensory startles can evoke DS2 events.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44DB9D02-EF3C-25AF-2894-13E87CEFEF3C}"/>
              </a:ext>
            </a:extLst>
          </p:cNvPr>
          <p:cNvSpPr>
            <a:spLocks/>
          </p:cNvSpPr>
          <p:nvPr/>
        </p:nvSpPr>
        <p:spPr>
          <a:xfrm>
            <a:off x="13868400" y="2667725"/>
            <a:ext cx="3657600" cy="12170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/>
              <a:t>Fig. 1j (Robustness): DS2 is a reliable alarm system, responding to sensory triggers in the majority (&gt;50%) of trials.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FC25B59F-5253-3421-3C7B-700A73FC3E8E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8FC154CF-7BC3-B34B-3B44-1EB17F9FC61A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</a:t>
            </a:r>
          </a:p>
        </p:txBody>
      </p:sp>
    </p:spTree>
    <p:extLst>
      <p:ext uri="{BB962C8B-B14F-4D97-AF65-F5344CB8AC3E}">
        <p14:creationId xmlns:p14="http://schemas.microsoft.com/office/powerpoint/2010/main" val="3510529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140CB-940A-EDCE-305D-120C42B12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F2E0387-B424-6700-041C-890486412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00800" y="657314"/>
            <a:ext cx="19667588" cy="4634149"/>
          </a:xfrm>
          <a:prstGeom prst="rect">
            <a:avLst/>
          </a:prstGeom>
          <a:ln w="38100">
            <a:noFill/>
          </a:ln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C6E589B-3CA6-1C48-D9C6-A2C7F16E156A}"/>
              </a:ext>
            </a:extLst>
          </p:cNvPr>
          <p:cNvSpPr/>
          <p:nvPr/>
        </p:nvSpPr>
        <p:spPr>
          <a:xfrm>
            <a:off x="1281" y="691820"/>
            <a:ext cx="12192000" cy="6172199"/>
          </a:xfrm>
          <a:custGeom>
            <a:avLst/>
            <a:gdLst>
              <a:gd name="csX0" fmla="*/ 1598919 w 12192000"/>
              <a:gd name="csY0" fmla="*/ 70180 h 6172199"/>
              <a:gd name="csX1" fmla="*/ 1598919 w 12192000"/>
              <a:gd name="csY1" fmla="*/ 4413580 h 6172199"/>
              <a:gd name="csX2" fmla="*/ 5256520 w 12192000"/>
              <a:gd name="csY2" fmla="*/ 4413580 h 6172199"/>
              <a:gd name="csX3" fmla="*/ 5256520 w 12192000"/>
              <a:gd name="csY3" fmla="*/ 7018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1598919" y="70180"/>
                </a:moveTo>
                <a:lnTo>
                  <a:pt x="1598919" y="4413580"/>
                </a:lnTo>
                <a:lnTo>
                  <a:pt x="5256520" y="4413580"/>
                </a:lnTo>
                <a:lnTo>
                  <a:pt x="5256520" y="701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D8A418CF-81EA-6AE3-D6A9-1A20C1EC5BAE}"/>
              </a:ext>
            </a:extLst>
          </p:cNvPr>
          <p:cNvSpPr>
            <a:spLocks/>
          </p:cNvSpPr>
          <p:nvPr/>
        </p:nvSpPr>
        <p:spPr>
          <a:xfrm>
            <a:off x="-4648200" y="922089"/>
            <a:ext cx="3630268" cy="570731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700" b="1" dirty="0">
                <a:solidFill>
                  <a:srgbClr val="FF0000"/>
                </a:solidFill>
              </a:rPr>
              <a:t>DS2 is a frequent, independent network event that occurs exclusively during low-arousal immobility.</a:t>
            </a:r>
            <a:endParaRPr lang="en-US" sz="27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8D9F3B-99E7-E7DC-8812-E2AF5B61D305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!!M1">
            <a:extLst>
              <a:ext uri="{FF2B5EF4-FFF2-40B4-BE49-F238E27FC236}">
                <a16:creationId xmlns:a16="http://schemas.microsoft.com/office/drawing/2014/main" id="{9C39C428-D0BD-0D53-BC09-8C1346C94A79}"/>
              </a:ext>
            </a:extLst>
          </p:cNvPr>
          <p:cNvSpPr>
            <a:spLocks/>
          </p:cNvSpPr>
          <p:nvPr/>
        </p:nvSpPr>
        <p:spPr>
          <a:xfrm>
            <a:off x="5486400" y="832180"/>
            <a:ext cx="6557958" cy="36778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b="1" dirty="0">
                <a:solidFill>
                  <a:srgbClr val="FF0000"/>
                </a:solidFill>
              </a:rPr>
              <a:t>Fig. 1i (Reactivity): Sensory startles reliably evoke DS2 events.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D381775B-2744-0C98-E5E4-CA6333B128B3}"/>
              </a:ext>
            </a:extLst>
          </p:cNvPr>
          <p:cNvSpPr>
            <a:spLocks/>
          </p:cNvSpPr>
          <p:nvPr/>
        </p:nvSpPr>
        <p:spPr>
          <a:xfrm>
            <a:off x="228600" y="5229247"/>
            <a:ext cx="1676400" cy="155255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Fig. 1g (Micro-Arousal): DS2 is time-locked to facial movement.</a:t>
            </a: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5430E09A-ECC1-C106-9840-CF7764FBEB57}"/>
              </a:ext>
            </a:extLst>
          </p:cNvPr>
          <p:cNvSpPr>
            <a:spLocks/>
          </p:cNvSpPr>
          <p:nvPr/>
        </p:nvSpPr>
        <p:spPr>
          <a:xfrm>
            <a:off x="13868400" y="1295400"/>
            <a:ext cx="3657600" cy="118271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/>
              <a:t>Fig. 1i (Reactivity): Sensory startles can evoke DS2 events.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ACB2E13E-8E92-F6B3-533A-C44734B9D66B}"/>
              </a:ext>
            </a:extLst>
          </p:cNvPr>
          <p:cNvSpPr>
            <a:spLocks/>
          </p:cNvSpPr>
          <p:nvPr/>
        </p:nvSpPr>
        <p:spPr>
          <a:xfrm>
            <a:off x="13868400" y="2667725"/>
            <a:ext cx="3657600" cy="12170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/>
              <a:t>Fig. 1j (Robustness): DS2 is a reliable alarm system, responding to sensory triggers in the majority (&gt;50%) of trials.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D16CEE2E-38FA-31A4-CD04-29C4BBDA629E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23884EB6-8C6C-6E74-CE6D-C29DB86DB5FB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</a:t>
            </a:r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21566CC7-9397-35E8-C387-1ADB2643E09C}"/>
              </a:ext>
            </a:extLst>
          </p:cNvPr>
          <p:cNvSpPr/>
          <p:nvPr/>
        </p:nvSpPr>
        <p:spPr>
          <a:xfrm rot="1810379">
            <a:off x="4282496" y="7697937"/>
            <a:ext cx="533400" cy="1953083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!!M1">
            <a:extLst>
              <a:ext uri="{FF2B5EF4-FFF2-40B4-BE49-F238E27FC236}">
                <a16:creationId xmlns:a16="http://schemas.microsoft.com/office/drawing/2014/main" id="{8909825F-8E37-9078-ECF3-C47DF2855988}"/>
              </a:ext>
            </a:extLst>
          </p:cNvPr>
          <p:cNvSpPr>
            <a:spLocks/>
          </p:cNvSpPr>
          <p:nvPr/>
        </p:nvSpPr>
        <p:spPr>
          <a:xfrm>
            <a:off x="2132319" y="5227320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9" name="!!M4">
            <a:extLst>
              <a:ext uri="{FF2B5EF4-FFF2-40B4-BE49-F238E27FC236}">
                <a16:creationId xmlns:a16="http://schemas.microsoft.com/office/drawing/2014/main" id="{E0F1CB14-6373-EE9E-C2E5-4BDE5D0D8C1F}"/>
              </a:ext>
            </a:extLst>
          </p:cNvPr>
          <p:cNvSpPr>
            <a:spLocks/>
          </p:cNvSpPr>
          <p:nvPr/>
        </p:nvSpPr>
        <p:spPr>
          <a:xfrm>
            <a:off x="12426791" y="847016"/>
            <a:ext cx="6257058" cy="349638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Fig. 1j (Robustness): Sensory startles reliably evoke DS2 events.</a:t>
            </a:r>
          </a:p>
        </p:txBody>
      </p:sp>
    </p:spTree>
    <p:extLst>
      <p:ext uri="{BB962C8B-B14F-4D97-AF65-F5344CB8AC3E}">
        <p14:creationId xmlns:p14="http://schemas.microsoft.com/office/powerpoint/2010/main" val="326551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61913-631B-8DB1-758C-618509F3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4F07D1B-80AD-F09F-82D4-90C60D1BF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29800" y="780860"/>
            <a:ext cx="18288000" cy="4309085"/>
          </a:xfrm>
          <a:prstGeom prst="rect">
            <a:avLst/>
          </a:prstGeom>
          <a:ln w="38100">
            <a:noFill/>
          </a:ln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18629F9-D38B-BBD5-60B0-9EC712E52426}"/>
              </a:ext>
            </a:extLst>
          </p:cNvPr>
          <p:cNvSpPr/>
          <p:nvPr/>
        </p:nvSpPr>
        <p:spPr>
          <a:xfrm>
            <a:off x="1281" y="691820"/>
            <a:ext cx="12192000" cy="6172199"/>
          </a:xfrm>
          <a:custGeom>
            <a:avLst/>
            <a:gdLst>
              <a:gd name="csX0" fmla="*/ 1598919 w 12192000"/>
              <a:gd name="csY0" fmla="*/ 70180 h 6172199"/>
              <a:gd name="csX1" fmla="*/ 1598919 w 12192000"/>
              <a:gd name="csY1" fmla="*/ 4413580 h 6172199"/>
              <a:gd name="csX2" fmla="*/ 5256520 w 12192000"/>
              <a:gd name="csY2" fmla="*/ 4413580 h 6172199"/>
              <a:gd name="csX3" fmla="*/ 5256520 w 12192000"/>
              <a:gd name="csY3" fmla="*/ 7018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1598919" y="70180"/>
                </a:moveTo>
                <a:lnTo>
                  <a:pt x="1598919" y="4413580"/>
                </a:lnTo>
                <a:lnTo>
                  <a:pt x="5256520" y="4413580"/>
                </a:lnTo>
                <a:lnTo>
                  <a:pt x="5256520" y="701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8D95AC40-0AF1-553B-3911-2C99CC9A3614}"/>
              </a:ext>
            </a:extLst>
          </p:cNvPr>
          <p:cNvSpPr/>
          <p:nvPr/>
        </p:nvSpPr>
        <p:spPr>
          <a:xfrm rot="5400000">
            <a:off x="3156529" y="6213475"/>
            <a:ext cx="838199" cy="288662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465C49A3-644C-8C2F-A21E-0E68E5DE90EF}"/>
              </a:ext>
            </a:extLst>
          </p:cNvPr>
          <p:cNvSpPr>
            <a:spLocks/>
          </p:cNvSpPr>
          <p:nvPr/>
        </p:nvSpPr>
        <p:spPr>
          <a:xfrm>
            <a:off x="-4648200" y="922089"/>
            <a:ext cx="3630268" cy="570731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700" b="1" dirty="0">
                <a:solidFill>
                  <a:srgbClr val="FF0000"/>
                </a:solidFill>
              </a:rPr>
              <a:t>DS2 is a frequent, independent network event that occurs exclusively during low-arousal immobility.</a:t>
            </a:r>
            <a:endParaRPr lang="en-US" sz="27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C7F84-E158-C0A4-CC55-390ECDA8B072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3">
            <a:extLst>
              <a:ext uri="{FF2B5EF4-FFF2-40B4-BE49-F238E27FC236}">
                <a16:creationId xmlns:a16="http://schemas.microsoft.com/office/drawing/2014/main" id="{AF4E93B5-9681-E440-AF03-7567A80D4392}"/>
              </a:ext>
            </a:extLst>
          </p:cNvPr>
          <p:cNvSpPr>
            <a:spLocks/>
          </p:cNvSpPr>
          <p:nvPr/>
        </p:nvSpPr>
        <p:spPr>
          <a:xfrm>
            <a:off x="228600" y="5229247"/>
            <a:ext cx="1676400" cy="155255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Fig. 1g (Micro-Arousal): DS2 is time-locked to facial movement.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39BF294A-77F8-5365-2A57-77FC89D44F9F}"/>
              </a:ext>
            </a:extLst>
          </p:cNvPr>
          <p:cNvSpPr>
            <a:spLocks/>
          </p:cNvSpPr>
          <p:nvPr/>
        </p:nvSpPr>
        <p:spPr>
          <a:xfrm>
            <a:off x="2132319" y="5227320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45ECE527-1881-10B9-E41B-65F01213E0F7}"/>
              </a:ext>
            </a:extLst>
          </p:cNvPr>
          <p:cNvSpPr>
            <a:spLocks/>
          </p:cNvSpPr>
          <p:nvPr/>
        </p:nvSpPr>
        <p:spPr>
          <a:xfrm>
            <a:off x="5706342" y="847016"/>
            <a:ext cx="6257058" cy="349638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Fig. 1j (Robustness): Sensory startles reliably evoke DS2 events.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010FD2B5-7968-276D-2136-3E424503BEF7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37DCB770-C116-6205-ED99-207637F588F5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F43B5D81-BA30-84AC-315B-A707EF4E08EE}"/>
              </a:ext>
            </a:extLst>
          </p:cNvPr>
          <p:cNvSpPr>
            <a:spLocks/>
          </p:cNvSpPr>
          <p:nvPr/>
        </p:nvSpPr>
        <p:spPr>
          <a:xfrm>
            <a:off x="13639800" y="1143000"/>
            <a:ext cx="3657600" cy="12170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/>
              <a:t>Fig. 1j (Robustness): DS2 is a reliable alarm system, responding to sensory triggers in the majority (&gt;50%) of trials.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!!M1">
            <a:extLst>
              <a:ext uri="{FF2B5EF4-FFF2-40B4-BE49-F238E27FC236}">
                <a16:creationId xmlns:a16="http://schemas.microsoft.com/office/drawing/2014/main" id="{2E627530-1A86-F71C-9C9A-8EAD28485BD8}"/>
              </a:ext>
            </a:extLst>
          </p:cNvPr>
          <p:cNvSpPr>
            <a:spLocks/>
          </p:cNvSpPr>
          <p:nvPr/>
        </p:nvSpPr>
        <p:spPr>
          <a:xfrm>
            <a:off x="4032990" y="524022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Fig. 1i (Reactivity): Sensory startles reliably evoke DS2 events.</a:t>
            </a:r>
          </a:p>
        </p:txBody>
      </p:sp>
    </p:spTree>
    <p:extLst>
      <p:ext uri="{BB962C8B-B14F-4D97-AF65-F5344CB8AC3E}">
        <p14:creationId xmlns:p14="http://schemas.microsoft.com/office/powerpoint/2010/main" val="1457008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2B72F-8BF9-D81C-CC85-121005A65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DAB920A-A1BF-97D6-2B76-F0A180B1C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487400" y="780860"/>
            <a:ext cx="18288000" cy="4309085"/>
          </a:xfrm>
          <a:prstGeom prst="rect">
            <a:avLst/>
          </a:prstGeom>
          <a:ln w="38100">
            <a:noFill/>
          </a:ln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490FFED-0655-44A7-0303-F1FF1DF376C7}"/>
              </a:ext>
            </a:extLst>
          </p:cNvPr>
          <p:cNvSpPr/>
          <p:nvPr/>
        </p:nvSpPr>
        <p:spPr>
          <a:xfrm>
            <a:off x="14514" y="693057"/>
            <a:ext cx="12192000" cy="6172199"/>
          </a:xfrm>
          <a:custGeom>
            <a:avLst/>
            <a:gdLst>
              <a:gd name="csX0" fmla="*/ 1598919 w 12192000"/>
              <a:gd name="csY0" fmla="*/ 70180 h 6172199"/>
              <a:gd name="csX1" fmla="*/ 1598919 w 12192000"/>
              <a:gd name="csY1" fmla="*/ 4413580 h 6172199"/>
              <a:gd name="csX2" fmla="*/ 5256520 w 12192000"/>
              <a:gd name="csY2" fmla="*/ 4413580 h 6172199"/>
              <a:gd name="csX3" fmla="*/ 5256520 w 12192000"/>
              <a:gd name="csY3" fmla="*/ 7018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1598919" y="70180"/>
                </a:moveTo>
                <a:lnTo>
                  <a:pt x="1598919" y="4413580"/>
                </a:lnTo>
                <a:lnTo>
                  <a:pt x="5256520" y="4413580"/>
                </a:lnTo>
                <a:lnTo>
                  <a:pt x="5256520" y="701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A885183C-45F1-6BB9-348F-62EEB3E78BB0}"/>
              </a:ext>
            </a:extLst>
          </p:cNvPr>
          <p:cNvSpPr/>
          <p:nvPr/>
        </p:nvSpPr>
        <p:spPr>
          <a:xfrm rot="5400000">
            <a:off x="3156529" y="6213475"/>
            <a:ext cx="838199" cy="288662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999BE1-5980-ECBD-5E81-1E6DDBFDF1C4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3">
            <a:extLst>
              <a:ext uri="{FF2B5EF4-FFF2-40B4-BE49-F238E27FC236}">
                <a16:creationId xmlns:a16="http://schemas.microsoft.com/office/drawing/2014/main" id="{CD90473C-1689-98F0-014D-BE898228FFFD}"/>
              </a:ext>
            </a:extLst>
          </p:cNvPr>
          <p:cNvSpPr>
            <a:spLocks/>
          </p:cNvSpPr>
          <p:nvPr/>
        </p:nvSpPr>
        <p:spPr>
          <a:xfrm>
            <a:off x="228600" y="5229247"/>
            <a:ext cx="1676400" cy="155255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Fig. 1g (Micro-Arousal): DS2 is time-locked to facial movement.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94C89101-3962-DE36-D43C-8CC87DE9685C}"/>
              </a:ext>
            </a:extLst>
          </p:cNvPr>
          <p:cNvSpPr>
            <a:spLocks/>
          </p:cNvSpPr>
          <p:nvPr/>
        </p:nvSpPr>
        <p:spPr>
          <a:xfrm>
            <a:off x="2132319" y="5227320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D4C873EE-6C54-F6FA-CE2E-B882D05CDE8A}"/>
              </a:ext>
            </a:extLst>
          </p:cNvPr>
          <p:cNvSpPr>
            <a:spLocks/>
          </p:cNvSpPr>
          <p:nvPr/>
        </p:nvSpPr>
        <p:spPr>
          <a:xfrm>
            <a:off x="5923476" y="524022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1j (Robustness): Sensory startles reliably evoke DS2 events.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EC977460-CBF8-4702-A8F6-B2854BC0AF86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D90198E7-084F-49F9-AB2C-002A812AB8C6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2A76C9EC-D3D6-84A5-90DC-34BB240EB9C5}"/>
              </a:ext>
            </a:extLst>
          </p:cNvPr>
          <p:cNvSpPr>
            <a:spLocks/>
          </p:cNvSpPr>
          <p:nvPr/>
        </p:nvSpPr>
        <p:spPr>
          <a:xfrm>
            <a:off x="5819814" y="809001"/>
            <a:ext cx="6144868" cy="330579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highlight>
                  <a:srgbClr val="000000"/>
                </a:highlight>
              </a:rPr>
              <a:t>Fig. 1k (Speed): DS2 follows sensation within 30-40 milliseconds.</a:t>
            </a:r>
          </a:p>
        </p:txBody>
      </p:sp>
      <p:sp>
        <p:nvSpPr>
          <p:cNvPr id="9" name="!!M5">
            <a:extLst>
              <a:ext uri="{FF2B5EF4-FFF2-40B4-BE49-F238E27FC236}">
                <a16:creationId xmlns:a16="http://schemas.microsoft.com/office/drawing/2014/main" id="{91385A2F-AFFD-7A9A-03D3-36BF70D4A3B0}"/>
              </a:ext>
            </a:extLst>
          </p:cNvPr>
          <p:cNvSpPr>
            <a:spLocks/>
          </p:cNvSpPr>
          <p:nvPr/>
        </p:nvSpPr>
        <p:spPr>
          <a:xfrm>
            <a:off x="-13182600" y="1152008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which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0" name="!!M1">
            <a:extLst>
              <a:ext uri="{FF2B5EF4-FFF2-40B4-BE49-F238E27FC236}">
                <a16:creationId xmlns:a16="http://schemas.microsoft.com/office/drawing/2014/main" id="{C7221B86-BC26-5BB4-3189-D4E8DCC55EA6}"/>
              </a:ext>
            </a:extLst>
          </p:cNvPr>
          <p:cNvSpPr>
            <a:spLocks/>
          </p:cNvSpPr>
          <p:nvPr/>
        </p:nvSpPr>
        <p:spPr>
          <a:xfrm>
            <a:off x="4032990" y="524022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Fig. 1i (Reactivity): Sensory startles reliably evoke DS2 events.</a:t>
            </a:r>
          </a:p>
        </p:txBody>
      </p:sp>
    </p:spTree>
    <p:extLst>
      <p:ext uri="{BB962C8B-B14F-4D97-AF65-F5344CB8AC3E}">
        <p14:creationId xmlns:p14="http://schemas.microsoft.com/office/powerpoint/2010/main" val="519735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6542-097D-65B3-3B6E-43CAB87B6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1FE1001-5096-038B-4E3A-65505C45E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" y="2514600"/>
            <a:ext cx="10515600" cy="2477724"/>
          </a:xfrm>
          <a:prstGeom prst="rect">
            <a:avLst/>
          </a:prstGeom>
          <a:solidFill>
            <a:srgbClr val="008A8A"/>
          </a:solidFill>
          <a:ln w="38100">
            <a:solidFill>
              <a:schemeClr val="tx1"/>
            </a:solidFill>
          </a:ln>
        </p:spPr>
      </p:pic>
      <p:sp>
        <p:nvSpPr>
          <p:cNvPr id="30" name="Freeform: Shape 29" hidden="1">
            <a:extLst>
              <a:ext uri="{FF2B5EF4-FFF2-40B4-BE49-F238E27FC236}">
                <a16:creationId xmlns:a16="http://schemas.microsoft.com/office/drawing/2014/main" id="{3F7ABE67-B860-9FBA-CAAB-E0C3188AB935}"/>
              </a:ext>
            </a:extLst>
          </p:cNvPr>
          <p:cNvSpPr/>
          <p:nvPr/>
        </p:nvSpPr>
        <p:spPr>
          <a:xfrm>
            <a:off x="1281" y="691820"/>
            <a:ext cx="12192000" cy="6172199"/>
          </a:xfrm>
          <a:custGeom>
            <a:avLst/>
            <a:gdLst>
              <a:gd name="csX0" fmla="*/ 1598919 w 12192000"/>
              <a:gd name="csY0" fmla="*/ 70180 h 6172199"/>
              <a:gd name="csX1" fmla="*/ 1598919 w 12192000"/>
              <a:gd name="csY1" fmla="*/ 4413580 h 6172199"/>
              <a:gd name="csX2" fmla="*/ 5256520 w 12192000"/>
              <a:gd name="csY2" fmla="*/ 4413580 h 6172199"/>
              <a:gd name="csX3" fmla="*/ 5256520 w 12192000"/>
              <a:gd name="csY3" fmla="*/ 7018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1598919" y="70180"/>
                </a:moveTo>
                <a:lnTo>
                  <a:pt x="1598919" y="4413580"/>
                </a:lnTo>
                <a:lnTo>
                  <a:pt x="5256520" y="4413580"/>
                </a:lnTo>
                <a:lnTo>
                  <a:pt x="5256520" y="701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4E6BDE21-DC55-0CD9-32DA-489ADEC82D84}"/>
              </a:ext>
            </a:extLst>
          </p:cNvPr>
          <p:cNvSpPr/>
          <p:nvPr/>
        </p:nvSpPr>
        <p:spPr>
          <a:xfrm rot="5400000">
            <a:off x="3156529" y="6213475"/>
            <a:ext cx="838199" cy="288662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201B3E93-4F3C-A7FD-6AB7-8221B8BC25D2}"/>
              </a:ext>
            </a:extLst>
          </p:cNvPr>
          <p:cNvSpPr>
            <a:spLocks/>
          </p:cNvSpPr>
          <p:nvPr/>
        </p:nvSpPr>
        <p:spPr>
          <a:xfrm>
            <a:off x="170835" y="1152008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which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13A02C-9429-C5C3-6AF0-41AF474FFA62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3">
            <a:extLst>
              <a:ext uri="{FF2B5EF4-FFF2-40B4-BE49-F238E27FC236}">
                <a16:creationId xmlns:a16="http://schemas.microsoft.com/office/drawing/2014/main" id="{9B36F0E2-078A-8B38-1E64-C02B694CBE9A}"/>
              </a:ext>
            </a:extLst>
          </p:cNvPr>
          <p:cNvSpPr>
            <a:spLocks/>
          </p:cNvSpPr>
          <p:nvPr/>
        </p:nvSpPr>
        <p:spPr>
          <a:xfrm>
            <a:off x="1164629" y="5153944"/>
            <a:ext cx="1676400" cy="155255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Fig. 1g (Micro-Arousal): DS2 is time-locked to facial movement.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284AE7C0-3440-82C0-C100-535E007F66DB}"/>
              </a:ext>
            </a:extLst>
          </p:cNvPr>
          <p:cNvSpPr>
            <a:spLocks/>
          </p:cNvSpPr>
          <p:nvPr/>
        </p:nvSpPr>
        <p:spPr>
          <a:xfrm>
            <a:off x="3295108" y="5153944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EC51D0B5-C1ED-8D6A-038E-BB9514238578}"/>
              </a:ext>
            </a:extLst>
          </p:cNvPr>
          <p:cNvSpPr>
            <a:spLocks/>
          </p:cNvSpPr>
          <p:nvPr/>
        </p:nvSpPr>
        <p:spPr>
          <a:xfrm>
            <a:off x="7549970" y="5153944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1j (Robustness): Sensory startles reliably evoke DS2 events.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A2EBF151-91DC-69E6-966E-3B6445682AC0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5BC4451A-3CC0-5FC4-6907-4BC293CE83D0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D2497684-D4E4-124A-6DF6-C4441CA3CCE2}"/>
              </a:ext>
            </a:extLst>
          </p:cNvPr>
          <p:cNvSpPr>
            <a:spLocks/>
          </p:cNvSpPr>
          <p:nvPr/>
        </p:nvSpPr>
        <p:spPr>
          <a:xfrm>
            <a:off x="9677400" y="5153944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</a:rPr>
              <a:t>Fig. 1k (Speed): DS2 follows sensation within 30-40 milliseconds.</a:t>
            </a:r>
          </a:p>
        </p:txBody>
      </p:sp>
      <p:sp>
        <p:nvSpPr>
          <p:cNvPr id="9" name="!!M1">
            <a:extLst>
              <a:ext uri="{FF2B5EF4-FFF2-40B4-BE49-F238E27FC236}">
                <a16:creationId xmlns:a16="http://schemas.microsoft.com/office/drawing/2014/main" id="{047A8A98-7A2A-5328-76E5-CA8553B87056}"/>
              </a:ext>
            </a:extLst>
          </p:cNvPr>
          <p:cNvSpPr>
            <a:spLocks/>
          </p:cNvSpPr>
          <p:nvPr/>
        </p:nvSpPr>
        <p:spPr>
          <a:xfrm>
            <a:off x="5422538" y="5153944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Fig. 1i (Reactivity): Sensory startles reliably evoke DS2 events.</a:t>
            </a:r>
          </a:p>
        </p:txBody>
      </p:sp>
    </p:spTree>
    <p:extLst>
      <p:ext uri="{BB962C8B-B14F-4D97-AF65-F5344CB8AC3E}">
        <p14:creationId xmlns:p14="http://schemas.microsoft.com/office/powerpoint/2010/main" val="3479906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91AAA-515A-A697-F5BD-1FBD981D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62EB232-950F-F389-ABDE-40D397A19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01400" y="2514600"/>
            <a:ext cx="10515600" cy="2477724"/>
          </a:xfrm>
          <a:prstGeom prst="rect">
            <a:avLst/>
          </a:prstGeom>
          <a:solidFill>
            <a:srgbClr val="008A8A"/>
          </a:solidFill>
          <a:ln w="38100">
            <a:solidFill>
              <a:schemeClr val="tx1"/>
            </a:solidFill>
          </a:ln>
        </p:spPr>
      </p:pic>
      <p:sp>
        <p:nvSpPr>
          <p:cNvPr id="30" name="Freeform: Shape 29" hidden="1">
            <a:extLst>
              <a:ext uri="{FF2B5EF4-FFF2-40B4-BE49-F238E27FC236}">
                <a16:creationId xmlns:a16="http://schemas.microsoft.com/office/drawing/2014/main" id="{F0B2A2EC-6855-83A3-8C7B-319FF4AA29A3}"/>
              </a:ext>
            </a:extLst>
          </p:cNvPr>
          <p:cNvSpPr/>
          <p:nvPr/>
        </p:nvSpPr>
        <p:spPr>
          <a:xfrm>
            <a:off x="1281" y="691820"/>
            <a:ext cx="12192000" cy="6172199"/>
          </a:xfrm>
          <a:custGeom>
            <a:avLst/>
            <a:gdLst>
              <a:gd name="csX0" fmla="*/ 1598919 w 12192000"/>
              <a:gd name="csY0" fmla="*/ 70180 h 6172199"/>
              <a:gd name="csX1" fmla="*/ 1598919 w 12192000"/>
              <a:gd name="csY1" fmla="*/ 4413580 h 6172199"/>
              <a:gd name="csX2" fmla="*/ 5256520 w 12192000"/>
              <a:gd name="csY2" fmla="*/ 4413580 h 6172199"/>
              <a:gd name="csX3" fmla="*/ 5256520 w 12192000"/>
              <a:gd name="csY3" fmla="*/ 7018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1598919" y="70180"/>
                </a:moveTo>
                <a:lnTo>
                  <a:pt x="1598919" y="4413580"/>
                </a:lnTo>
                <a:lnTo>
                  <a:pt x="5256520" y="4413580"/>
                </a:lnTo>
                <a:lnTo>
                  <a:pt x="5256520" y="701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07994484-AF1E-C77A-726B-F9622D63F9FE}"/>
              </a:ext>
            </a:extLst>
          </p:cNvPr>
          <p:cNvSpPr/>
          <p:nvPr/>
        </p:nvSpPr>
        <p:spPr>
          <a:xfrm rot="5400000">
            <a:off x="-3691210" y="6214791"/>
            <a:ext cx="838199" cy="288662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0AD62DDD-CC78-3B63-A3BC-DB50192B4846}"/>
              </a:ext>
            </a:extLst>
          </p:cNvPr>
          <p:cNvSpPr>
            <a:spLocks/>
          </p:cNvSpPr>
          <p:nvPr/>
        </p:nvSpPr>
        <p:spPr>
          <a:xfrm>
            <a:off x="13030200" y="1152008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274093-3492-2A5A-CA72-F8030AF59FF3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!!M2">
            <a:extLst>
              <a:ext uri="{FF2B5EF4-FFF2-40B4-BE49-F238E27FC236}">
                <a16:creationId xmlns:a16="http://schemas.microsoft.com/office/drawing/2014/main" id="{7DF2F1DE-A723-7B43-C435-FEAFD9BB68AB}"/>
              </a:ext>
            </a:extLst>
          </p:cNvPr>
          <p:cNvSpPr>
            <a:spLocks/>
          </p:cNvSpPr>
          <p:nvPr/>
        </p:nvSpPr>
        <p:spPr>
          <a:xfrm>
            <a:off x="5422539" y="7741920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</a:rPr>
              <a:t>Fig. 1i (Reactivity): Sensory startles can evoke DS2 events.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AECC9BF7-4EB3-AB74-0026-E93AF2E80D5E}"/>
              </a:ext>
            </a:extLst>
          </p:cNvPr>
          <p:cNvSpPr>
            <a:spLocks/>
          </p:cNvSpPr>
          <p:nvPr/>
        </p:nvSpPr>
        <p:spPr>
          <a:xfrm>
            <a:off x="1164629" y="7742884"/>
            <a:ext cx="1676400" cy="155255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Fig. 1g (Micro-Arousal): DS2 is time-locked to facial movement.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84B903DE-5806-AF51-3BDF-8531AEA90D9F}"/>
              </a:ext>
            </a:extLst>
          </p:cNvPr>
          <p:cNvSpPr>
            <a:spLocks/>
          </p:cNvSpPr>
          <p:nvPr/>
        </p:nvSpPr>
        <p:spPr>
          <a:xfrm>
            <a:off x="3295108" y="7741920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A74E6A93-CCD3-750E-0470-0FC4484016EC}"/>
              </a:ext>
            </a:extLst>
          </p:cNvPr>
          <p:cNvSpPr>
            <a:spLocks/>
          </p:cNvSpPr>
          <p:nvPr/>
        </p:nvSpPr>
        <p:spPr>
          <a:xfrm>
            <a:off x="7549970" y="7741920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1j (Robustness): Sensory startles reliably evoke DS2 events.</a:t>
            </a:r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22C354FF-E8CD-B8B2-0573-975D0C80C4CE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D34222A3-8985-9232-C8F2-EA73D9ECF7FF}"/>
              </a:ext>
            </a:extLst>
          </p:cNvPr>
          <p:cNvSpPr>
            <a:spLocks/>
          </p:cNvSpPr>
          <p:nvPr/>
        </p:nvSpPr>
        <p:spPr>
          <a:xfrm>
            <a:off x="9677400" y="7741920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</a:rPr>
              <a:t>Fig. 1k (Speed): DS2 follows sensation within 30-40 milliseconds.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92B1B9E5-7F23-B83E-7356-7CD783C777F6}"/>
              </a:ext>
            </a:extLst>
          </p:cNvPr>
          <p:cNvSpPr/>
          <p:nvPr/>
        </p:nvSpPr>
        <p:spPr>
          <a:xfrm>
            <a:off x="2895600" y="4239188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T">
            <a:extLst>
              <a:ext uri="{FF2B5EF4-FFF2-40B4-BE49-F238E27FC236}">
                <a16:creationId xmlns:a16="http://schemas.microsoft.com/office/drawing/2014/main" id="{37CD779E-E4F2-07DA-9F7B-3C489498AAF5}"/>
              </a:ext>
            </a:extLst>
          </p:cNvPr>
          <p:cNvSpPr txBox="1">
            <a:spLocks/>
          </p:cNvSpPr>
          <p:nvPr/>
        </p:nvSpPr>
        <p:spPr>
          <a:xfrm>
            <a:off x="3238500" y="4303383"/>
            <a:ext cx="5715000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Not convinced?</a:t>
            </a:r>
          </a:p>
        </p:txBody>
      </p:sp>
      <p:pic>
        <p:nvPicPr>
          <p:cNvPr id="15362" name="Picture 2" descr="Emoji emoticon with a skeptical look Stock Vector | Adobe Stock">
            <a:extLst>
              <a:ext uri="{FF2B5EF4-FFF2-40B4-BE49-F238E27FC236}">
                <a16:creationId xmlns:a16="http://schemas.microsoft.com/office/drawing/2014/main" id="{86CF8406-BBFB-4C6F-184C-2AB4A1BD5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506" y="275682"/>
            <a:ext cx="3582987" cy="366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617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1ED17-33D6-05B0-1CEA-8CDB770B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D8D7494-1437-00D0-907D-4A4CBF9C4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514" y="200521"/>
            <a:ext cx="5381954" cy="386700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0" name="Freeform: Shape 29" hidden="1">
            <a:extLst>
              <a:ext uri="{FF2B5EF4-FFF2-40B4-BE49-F238E27FC236}">
                <a16:creationId xmlns:a16="http://schemas.microsoft.com/office/drawing/2014/main" id="{96DE9167-359C-CFBF-EE50-7DC31E010720}"/>
              </a:ext>
            </a:extLst>
          </p:cNvPr>
          <p:cNvSpPr/>
          <p:nvPr/>
        </p:nvSpPr>
        <p:spPr>
          <a:xfrm>
            <a:off x="1281" y="691820"/>
            <a:ext cx="12192000" cy="6172199"/>
          </a:xfrm>
          <a:custGeom>
            <a:avLst/>
            <a:gdLst>
              <a:gd name="csX0" fmla="*/ 1598919 w 12192000"/>
              <a:gd name="csY0" fmla="*/ 70180 h 6172199"/>
              <a:gd name="csX1" fmla="*/ 1598919 w 12192000"/>
              <a:gd name="csY1" fmla="*/ 4413580 h 6172199"/>
              <a:gd name="csX2" fmla="*/ 5256520 w 12192000"/>
              <a:gd name="csY2" fmla="*/ 4413580 h 6172199"/>
              <a:gd name="csX3" fmla="*/ 5256520 w 12192000"/>
              <a:gd name="csY3" fmla="*/ 7018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1598919" y="70180"/>
                </a:moveTo>
                <a:lnTo>
                  <a:pt x="1598919" y="4413580"/>
                </a:lnTo>
                <a:lnTo>
                  <a:pt x="5256520" y="4413580"/>
                </a:lnTo>
                <a:lnTo>
                  <a:pt x="5256520" y="7018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CCCC98D7-4052-24C4-04B8-EE4A6BC1CA16}"/>
              </a:ext>
            </a:extLst>
          </p:cNvPr>
          <p:cNvSpPr>
            <a:spLocks/>
          </p:cNvSpPr>
          <p:nvPr/>
        </p:nvSpPr>
        <p:spPr>
          <a:xfrm>
            <a:off x="13030200" y="1152008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3AF375-FFB3-EF14-EB13-C47FAF8EC854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!!M2">
            <a:extLst>
              <a:ext uri="{FF2B5EF4-FFF2-40B4-BE49-F238E27FC236}">
                <a16:creationId xmlns:a16="http://schemas.microsoft.com/office/drawing/2014/main" id="{3D389D2B-2015-C853-44B4-D6CE445CE96E}"/>
              </a:ext>
            </a:extLst>
          </p:cNvPr>
          <p:cNvSpPr>
            <a:spLocks/>
          </p:cNvSpPr>
          <p:nvPr/>
        </p:nvSpPr>
        <p:spPr>
          <a:xfrm>
            <a:off x="5422539" y="7741920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</a:rPr>
              <a:t>Fig. 1i (Reactivity): Sensory startles can evoke DS2 events.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71B8810A-348F-F99C-4FC0-A40601901F71}"/>
              </a:ext>
            </a:extLst>
          </p:cNvPr>
          <p:cNvSpPr>
            <a:spLocks/>
          </p:cNvSpPr>
          <p:nvPr/>
        </p:nvSpPr>
        <p:spPr>
          <a:xfrm>
            <a:off x="1164629" y="7742884"/>
            <a:ext cx="1676400" cy="155255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Fig. 1g (Micro-Arousal): DS2 is time-locked to facial movement.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1E67968C-6335-E0F8-E06D-FFFB4AEE8321}"/>
              </a:ext>
            </a:extLst>
          </p:cNvPr>
          <p:cNvSpPr>
            <a:spLocks/>
          </p:cNvSpPr>
          <p:nvPr/>
        </p:nvSpPr>
        <p:spPr>
          <a:xfrm>
            <a:off x="3295108" y="7741920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2C24E4D2-CF3C-4184-DEA8-63F6AFD5B722}"/>
              </a:ext>
            </a:extLst>
          </p:cNvPr>
          <p:cNvSpPr>
            <a:spLocks/>
          </p:cNvSpPr>
          <p:nvPr/>
        </p:nvSpPr>
        <p:spPr>
          <a:xfrm>
            <a:off x="7549970" y="7741920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1j (Robustness): Sensory startles reliably evoke DS2 events.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34A848AE-7EE3-0FBA-1735-EF94948632BF}"/>
              </a:ext>
            </a:extLst>
          </p:cNvPr>
          <p:cNvSpPr>
            <a:spLocks/>
          </p:cNvSpPr>
          <p:nvPr/>
        </p:nvSpPr>
        <p:spPr>
          <a:xfrm>
            <a:off x="9677400" y="7741920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</a:rPr>
              <a:t>Fig. 1k (Speed): DS2 follows sensation within 30-40 milliseconds.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2BC9F679-3300-6749-2CB2-B41C109FBFAE}"/>
              </a:ext>
            </a:extLst>
          </p:cNvPr>
          <p:cNvSpPr/>
          <p:nvPr/>
        </p:nvSpPr>
        <p:spPr>
          <a:xfrm>
            <a:off x="2895600" y="4239188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T">
            <a:extLst>
              <a:ext uri="{FF2B5EF4-FFF2-40B4-BE49-F238E27FC236}">
                <a16:creationId xmlns:a16="http://schemas.microsoft.com/office/drawing/2014/main" id="{A9BA6FD5-89E6-B932-6798-68562B377D86}"/>
              </a:ext>
            </a:extLst>
          </p:cNvPr>
          <p:cNvSpPr txBox="1">
            <a:spLocks/>
          </p:cNvSpPr>
          <p:nvPr/>
        </p:nvSpPr>
        <p:spPr>
          <a:xfrm>
            <a:off x="3238500" y="4303383"/>
            <a:ext cx="5715000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Why DS2 Is Unique… Extended Figures</a:t>
            </a:r>
          </a:p>
        </p:txBody>
      </p:sp>
      <p:sp>
        <p:nvSpPr>
          <p:cNvPr id="13" name="!!N2">
            <a:extLst>
              <a:ext uri="{FF2B5EF4-FFF2-40B4-BE49-F238E27FC236}">
                <a16:creationId xmlns:a16="http://schemas.microsoft.com/office/drawing/2014/main" id="{16EA530C-DE18-5CA9-A69A-813FD4D0705B}"/>
              </a:ext>
            </a:extLst>
          </p:cNvPr>
          <p:cNvSpPr>
            <a:spLocks/>
          </p:cNvSpPr>
          <p:nvPr/>
        </p:nvSpPr>
        <p:spPr>
          <a:xfrm>
            <a:off x="13190370" y="1607573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Events exceeding the 97.5th percentile (</a:t>
            </a:r>
            <a:r>
              <a:rPr lang="en-US" sz="3200" i="1" dirty="0"/>
              <a:t>P &lt; 0.05</a:t>
            </a:r>
            <a:r>
              <a:rPr lang="en-US" sz="3200" dirty="0"/>
              <a:t>)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2" name="!!M3">
            <a:extLst>
              <a:ext uri="{FF2B5EF4-FFF2-40B4-BE49-F238E27FC236}">
                <a16:creationId xmlns:a16="http://schemas.microsoft.com/office/drawing/2014/main" id="{8B0B7DD2-BF14-4811-7554-F003643D4098}"/>
              </a:ext>
            </a:extLst>
          </p:cNvPr>
          <p:cNvSpPr>
            <a:spLocks/>
          </p:cNvSpPr>
          <p:nvPr/>
        </p:nvSpPr>
        <p:spPr>
          <a:xfrm>
            <a:off x="13190370" y="1078601"/>
            <a:ext cx="4604212" cy="3048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16" name="!!Focus">
            <a:extLst>
              <a:ext uri="{FF2B5EF4-FFF2-40B4-BE49-F238E27FC236}">
                <a16:creationId xmlns:a16="http://schemas.microsoft.com/office/drawing/2014/main" id="{46C4B5C7-7E10-5279-350F-B4E9C9FAB7AD}"/>
              </a:ext>
            </a:extLst>
          </p:cNvPr>
          <p:cNvSpPr/>
          <p:nvPr/>
        </p:nvSpPr>
        <p:spPr>
          <a:xfrm rot="5400000">
            <a:off x="-1803253" y="2203306"/>
            <a:ext cx="1689386" cy="4572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3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7AA6B-D715-0AD8-C3DB-CA4F6AA0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2C4419E-4BBF-C970-B7D3-3F7244A69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05" y="685800"/>
            <a:ext cx="13262264" cy="9529113"/>
          </a:xfrm>
          <a:prstGeom prst="rect">
            <a:avLst/>
          </a:prstGeom>
          <a:ln w="38100">
            <a:noFill/>
          </a:ln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BBD5A6-1E71-093B-BB5B-7535B181A242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762000 w 12192000"/>
              <a:gd name="csY0" fmla="*/ 60960 h 6172199"/>
              <a:gd name="csX1" fmla="*/ 762000 w 12192000"/>
              <a:gd name="csY1" fmla="*/ 6080760 h 6172199"/>
              <a:gd name="csX2" fmla="*/ 6128212 w 12192000"/>
              <a:gd name="csY2" fmla="*/ 6080760 h 6172199"/>
              <a:gd name="csX3" fmla="*/ 6128212 w 12192000"/>
              <a:gd name="csY3" fmla="*/ 6096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762000" y="60960"/>
                </a:moveTo>
                <a:lnTo>
                  <a:pt x="762000" y="6080760"/>
                </a:lnTo>
                <a:lnTo>
                  <a:pt x="6128212" y="6080760"/>
                </a:lnTo>
                <a:lnTo>
                  <a:pt x="6128212" y="6096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00D2BC99-9A11-BA7B-55F9-F484FF8768E4}"/>
              </a:ext>
            </a:extLst>
          </p:cNvPr>
          <p:cNvSpPr/>
          <p:nvPr/>
        </p:nvSpPr>
        <p:spPr>
          <a:xfrm rot="5400000">
            <a:off x="1822305" y="2203306"/>
            <a:ext cx="1689386" cy="4572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B868F22F-AA6D-C334-F7D6-9BC03F9638E2}"/>
              </a:ext>
            </a:extLst>
          </p:cNvPr>
          <p:cNvSpPr>
            <a:spLocks/>
          </p:cNvSpPr>
          <p:nvPr/>
        </p:nvSpPr>
        <p:spPr>
          <a:xfrm>
            <a:off x="13335000" y="1152008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1F5BED-6258-DCF8-07AA-06DE8AE02791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!!M2">
            <a:extLst>
              <a:ext uri="{FF2B5EF4-FFF2-40B4-BE49-F238E27FC236}">
                <a16:creationId xmlns:a16="http://schemas.microsoft.com/office/drawing/2014/main" id="{348E0FE1-2728-0DA6-8135-270BBBB84730}"/>
              </a:ext>
            </a:extLst>
          </p:cNvPr>
          <p:cNvSpPr>
            <a:spLocks/>
          </p:cNvSpPr>
          <p:nvPr/>
        </p:nvSpPr>
        <p:spPr>
          <a:xfrm>
            <a:off x="18126310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</a:rPr>
              <a:t>Fig. 1i (Reactivity): Sensory startles can evoke DS2 events.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ED8835A4-8F6C-7657-1075-930BB592D9F9}"/>
              </a:ext>
            </a:extLst>
          </p:cNvPr>
          <p:cNvSpPr>
            <a:spLocks/>
          </p:cNvSpPr>
          <p:nvPr/>
        </p:nvSpPr>
        <p:spPr>
          <a:xfrm>
            <a:off x="15998879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9E5656C3-F6FC-C71A-8E93-AE38EC27EC10}"/>
              </a:ext>
            </a:extLst>
          </p:cNvPr>
          <p:cNvSpPr>
            <a:spLocks/>
          </p:cNvSpPr>
          <p:nvPr/>
        </p:nvSpPr>
        <p:spPr>
          <a:xfrm>
            <a:off x="2025374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1j (Robustness): Sensory startles reliably evoke DS2 events.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FF862F1C-604A-D0E7-62A8-E4B3B81C9356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8BEEDBFB-74DB-D1C8-D4DC-BEF0A7F06AA8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3C4BED00-7B52-332F-760C-562C1D3AB16F}"/>
              </a:ext>
            </a:extLst>
          </p:cNvPr>
          <p:cNvSpPr>
            <a:spLocks/>
          </p:cNvSpPr>
          <p:nvPr/>
        </p:nvSpPr>
        <p:spPr>
          <a:xfrm>
            <a:off x="2238117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</a:rPr>
              <a:t>Fig. 1k (Speed): DS2 follows sensation within 30-40 milliseconds.</a:t>
            </a:r>
          </a:p>
        </p:txBody>
      </p:sp>
      <p:sp>
        <p:nvSpPr>
          <p:cNvPr id="15" name="!!N2">
            <a:extLst>
              <a:ext uri="{FF2B5EF4-FFF2-40B4-BE49-F238E27FC236}">
                <a16:creationId xmlns:a16="http://schemas.microsoft.com/office/drawing/2014/main" id="{1BE8CB09-3D02-4994-48C8-88279E87E6FB}"/>
              </a:ext>
            </a:extLst>
          </p:cNvPr>
          <p:cNvSpPr>
            <a:spLocks/>
          </p:cNvSpPr>
          <p:nvPr/>
        </p:nvSpPr>
        <p:spPr>
          <a:xfrm>
            <a:off x="6906108" y="1607573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Events exceeding the 97.5th percentile (</a:t>
            </a:r>
            <a:r>
              <a:rPr lang="en-US" sz="3200" i="1" dirty="0"/>
              <a:t>P &lt; 0.05</a:t>
            </a:r>
            <a:r>
              <a:rPr lang="en-US" sz="3200" dirty="0"/>
              <a:t>)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6" name="!!M3">
            <a:extLst>
              <a:ext uri="{FF2B5EF4-FFF2-40B4-BE49-F238E27FC236}">
                <a16:creationId xmlns:a16="http://schemas.microsoft.com/office/drawing/2014/main" id="{A78BC51D-A7D8-C774-ABF9-289F492426D8}"/>
              </a:ext>
            </a:extLst>
          </p:cNvPr>
          <p:cNvSpPr>
            <a:spLocks/>
          </p:cNvSpPr>
          <p:nvPr/>
        </p:nvSpPr>
        <p:spPr>
          <a:xfrm>
            <a:off x="6906108" y="1078601"/>
            <a:ext cx="4604212" cy="3048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3a, b, d, e (Motor Coupling):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DS2 linked with transient physiological arousal; Ripples are absent.</a:t>
            </a:r>
          </a:p>
        </p:txBody>
      </p:sp>
    </p:spTree>
    <p:extLst>
      <p:ext uri="{BB962C8B-B14F-4D97-AF65-F5344CB8AC3E}">
        <p14:creationId xmlns:p14="http://schemas.microsoft.com/office/powerpoint/2010/main" val="1333142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CD3EF-3B2A-BB4F-F901-E809BEE3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5506F6-18D9-430E-3EDE-E430D8BD5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05" y="685800"/>
            <a:ext cx="13262264" cy="9529113"/>
          </a:xfrm>
          <a:prstGeom prst="rect">
            <a:avLst/>
          </a:prstGeom>
          <a:ln w="38100">
            <a:noFill/>
          </a:ln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C375828-1E89-E898-979A-9C2AA2BF7FA3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762000 w 12192000"/>
              <a:gd name="csY0" fmla="*/ 60960 h 6172199"/>
              <a:gd name="csX1" fmla="*/ 762000 w 12192000"/>
              <a:gd name="csY1" fmla="*/ 6080760 h 6172199"/>
              <a:gd name="csX2" fmla="*/ 6128212 w 12192000"/>
              <a:gd name="csY2" fmla="*/ 6080760 h 6172199"/>
              <a:gd name="csX3" fmla="*/ 6128212 w 12192000"/>
              <a:gd name="csY3" fmla="*/ 6096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762000" y="60960"/>
                </a:moveTo>
                <a:lnTo>
                  <a:pt x="762000" y="6080760"/>
                </a:lnTo>
                <a:lnTo>
                  <a:pt x="6128212" y="6080760"/>
                </a:lnTo>
                <a:lnTo>
                  <a:pt x="6128212" y="6096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8AE73F6A-E0E6-8F5F-CB45-BA4D462D5860}"/>
              </a:ext>
            </a:extLst>
          </p:cNvPr>
          <p:cNvSpPr/>
          <p:nvPr/>
        </p:nvSpPr>
        <p:spPr>
          <a:xfrm rot="5400000">
            <a:off x="2797407" y="1926993"/>
            <a:ext cx="2209800" cy="79421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719473EB-EA48-D36E-ADCF-1550FAC21234}"/>
              </a:ext>
            </a:extLst>
          </p:cNvPr>
          <p:cNvSpPr>
            <a:spLocks/>
          </p:cNvSpPr>
          <p:nvPr/>
        </p:nvSpPr>
        <p:spPr>
          <a:xfrm>
            <a:off x="13335000" y="1152008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37D3FC-E3AD-06EE-5809-F6BCBE494B8D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N1">
            <a:extLst>
              <a:ext uri="{FF2B5EF4-FFF2-40B4-BE49-F238E27FC236}">
                <a16:creationId xmlns:a16="http://schemas.microsoft.com/office/drawing/2014/main" id="{1A34CC3F-2B94-EA69-7E12-7F28EAD7DA77}"/>
              </a:ext>
            </a:extLst>
          </p:cNvPr>
          <p:cNvSpPr>
            <a:spLocks/>
          </p:cNvSpPr>
          <p:nvPr/>
        </p:nvSpPr>
        <p:spPr>
          <a:xfrm>
            <a:off x="6863255" y="1828800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/>
              <a:t>Note: </a:t>
            </a:r>
            <a:r>
              <a:rPr lang="en-US" sz="3200" dirty="0"/>
              <a:t>Panel a (Trace): Gaze Speed (Arbitrary Units / </a:t>
            </a:r>
            <a:r>
              <a:rPr lang="en-US" sz="3200" dirty="0" err="1"/>
              <a:t>a.u</a:t>
            </a:r>
            <a:r>
              <a:rPr lang="en-US" sz="3200" dirty="0"/>
              <a:t>.)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A2A1E57A-CB8E-EEC6-05BB-3A31BE5F81D0}"/>
              </a:ext>
            </a:extLst>
          </p:cNvPr>
          <p:cNvSpPr>
            <a:spLocks/>
          </p:cNvSpPr>
          <p:nvPr/>
        </p:nvSpPr>
        <p:spPr>
          <a:xfrm>
            <a:off x="18126310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</a:rPr>
              <a:t>Fig. 1i (Reactivity): Sensory startles can evoke DS2 events.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077E8FC4-935F-0448-4DE8-1B816F5EC6BD}"/>
              </a:ext>
            </a:extLst>
          </p:cNvPr>
          <p:cNvSpPr>
            <a:spLocks/>
          </p:cNvSpPr>
          <p:nvPr/>
        </p:nvSpPr>
        <p:spPr>
          <a:xfrm>
            <a:off x="15998879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CF1015A4-7A61-21E1-0BA0-7C3C95F4C40B}"/>
              </a:ext>
            </a:extLst>
          </p:cNvPr>
          <p:cNvSpPr>
            <a:spLocks/>
          </p:cNvSpPr>
          <p:nvPr/>
        </p:nvSpPr>
        <p:spPr>
          <a:xfrm>
            <a:off x="2025374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1j (Robustness): Sensory startles reliably evoke DS2 events.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F88B6275-8E4F-8C5F-3398-F7E6C917486C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618A61A9-F2D5-3293-5483-8B6F91FAF108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1EFF7A5B-B7C8-29A9-1BA2-D6F546BE4906}"/>
              </a:ext>
            </a:extLst>
          </p:cNvPr>
          <p:cNvSpPr>
            <a:spLocks/>
          </p:cNvSpPr>
          <p:nvPr/>
        </p:nvSpPr>
        <p:spPr>
          <a:xfrm>
            <a:off x="2238117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</a:rPr>
              <a:t>Fig. 1k (Speed): DS2 follows sensation within 30-40 milliseconds.</a:t>
            </a:r>
          </a:p>
        </p:txBody>
      </p:sp>
      <p:sp>
        <p:nvSpPr>
          <p:cNvPr id="11" name="!!N2">
            <a:extLst>
              <a:ext uri="{FF2B5EF4-FFF2-40B4-BE49-F238E27FC236}">
                <a16:creationId xmlns:a16="http://schemas.microsoft.com/office/drawing/2014/main" id="{ECA39DE4-8873-11F2-7585-6CCEBD753F94}"/>
              </a:ext>
            </a:extLst>
          </p:cNvPr>
          <p:cNvSpPr>
            <a:spLocks/>
          </p:cNvSpPr>
          <p:nvPr/>
        </p:nvSpPr>
        <p:spPr>
          <a:xfrm>
            <a:off x="6906108" y="4299843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Events exceeding the 97.5th percentile (</a:t>
            </a:r>
            <a:r>
              <a:rPr lang="en-US" sz="3200" i="1" dirty="0"/>
              <a:t>P &lt; 0.05</a:t>
            </a:r>
            <a:r>
              <a:rPr lang="en-US" sz="3200" dirty="0"/>
              <a:t>)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5" name="!!M3">
            <a:extLst>
              <a:ext uri="{FF2B5EF4-FFF2-40B4-BE49-F238E27FC236}">
                <a16:creationId xmlns:a16="http://schemas.microsoft.com/office/drawing/2014/main" id="{21C659BF-B64E-8F69-B6F3-578D7AEEED7F}"/>
              </a:ext>
            </a:extLst>
          </p:cNvPr>
          <p:cNvSpPr>
            <a:spLocks/>
          </p:cNvSpPr>
          <p:nvPr/>
        </p:nvSpPr>
        <p:spPr>
          <a:xfrm>
            <a:off x="6906108" y="1078601"/>
            <a:ext cx="4604212" cy="3048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3a, b, d, e (Motor Coupling):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DS2 linked with transient physiological arousal; Ripples are absent.</a:t>
            </a:r>
          </a:p>
        </p:txBody>
      </p:sp>
    </p:spTree>
    <p:extLst>
      <p:ext uri="{BB962C8B-B14F-4D97-AF65-F5344CB8AC3E}">
        <p14:creationId xmlns:p14="http://schemas.microsoft.com/office/powerpoint/2010/main" val="4209592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56623-3A1A-677E-FD09-EA9A53869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2A944F7-A38B-EC10-6BF0-092615FEE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05" y="685800"/>
            <a:ext cx="13262264" cy="9529113"/>
          </a:xfrm>
          <a:prstGeom prst="rect">
            <a:avLst/>
          </a:prstGeom>
          <a:ln w="38100">
            <a:noFill/>
          </a:ln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C53B2BB-9581-DA0C-9E09-1032B697C071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762000 w 12192000"/>
              <a:gd name="csY0" fmla="*/ 60960 h 6172199"/>
              <a:gd name="csX1" fmla="*/ 762000 w 12192000"/>
              <a:gd name="csY1" fmla="*/ 6080760 h 6172199"/>
              <a:gd name="csX2" fmla="*/ 6128212 w 12192000"/>
              <a:gd name="csY2" fmla="*/ 6080760 h 6172199"/>
              <a:gd name="csX3" fmla="*/ 6128212 w 12192000"/>
              <a:gd name="csY3" fmla="*/ 6096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762000" y="60960"/>
                </a:moveTo>
                <a:lnTo>
                  <a:pt x="762000" y="6080760"/>
                </a:lnTo>
                <a:lnTo>
                  <a:pt x="6128212" y="6080760"/>
                </a:lnTo>
                <a:lnTo>
                  <a:pt x="6128212" y="6096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18193118-87D3-B110-F3F1-44561AE758E0}"/>
              </a:ext>
            </a:extLst>
          </p:cNvPr>
          <p:cNvSpPr/>
          <p:nvPr/>
        </p:nvSpPr>
        <p:spPr>
          <a:xfrm rot="5400000">
            <a:off x="4789114" y="2536594"/>
            <a:ext cx="1905002" cy="79421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9DE7C0A8-8942-5BA7-9544-E2A4116630D9}"/>
              </a:ext>
            </a:extLst>
          </p:cNvPr>
          <p:cNvSpPr>
            <a:spLocks/>
          </p:cNvSpPr>
          <p:nvPr/>
        </p:nvSpPr>
        <p:spPr>
          <a:xfrm>
            <a:off x="13335000" y="1152008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FD57D5-9598-089F-2C12-3B3D8ACF6481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!!M2">
            <a:extLst>
              <a:ext uri="{FF2B5EF4-FFF2-40B4-BE49-F238E27FC236}">
                <a16:creationId xmlns:a16="http://schemas.microsoft.com/office/drawing/2014/main" id="{B08CD2F8-212C-018D-6A39-56078FCFAA12}"/>
              </a:ext>
            </a:extLst>
          </p:cNvPr>
          <p:cNvSpPr>
            <a:spLocks/>
          </p:cNvSpPr>
          <p:nvPr/>
        </p:nvSpPr>
        <p:spPr>
          <a:xfrm>
            <a:off x="18126310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</a:rPr>
              <a:t>Fig. 1i (Reactivity): Sensory startles can evoke DS2 events.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C7DF13BC-4EA2-AFCE-87CF-480D6C43F078}"/>
              </a:ext>
            </a:extLst>
          </p:cNvPr>
          <p:cNvSpPr>
            <a:spLocks/>
          </p:cNvSpPr>
          <p:nvPr/>
        </p:nvSpPr>
        <p:spPr>
          <a:xfrm>
            <a:off x="15998879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4E7A6A46-EE68-C657-F552-10AC24FBDD70}"/>
              </a:ext>
            </a:extLst>
          </p:cNvPr>
          <p:cNvSpPr>
            <a:spLocks/>
          </p:cNvSpPr>
          <p:nvPr/>
        </p:nvSpPr>
        <p:spPr>
          <a:xfrm>
            <a:off x="2025374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1j (Robustness): Sensory startles reliably evoke DS2 events.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7263034C-9ABB-4F35-824B-DCE239B4B929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75FF138E-9AB0-97C8-DF77-255DC6CF0E6B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FF500A8A-66D1-6025-C7E8-BB34D263C6FF}"/>
              </a:ext>
            </a:extLst>
          </p:cNvPr>
          <p:cNvSpPr>
            <a:spLocks/>
          </p:cNvSpPr>
          <p:nvPr/>
        </p:nvSpPr>
        <p:spPr>
          <a:xfrm>
            <a:off x="2238117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</a:rPr>
              <a:t>Fig. 1k (Speed): DS2 follows sensation within 30-40 milliseconds.</a:t>
            </a:r>
          </a:p>
        </p:txBody>
      </p:sp>
      <p:sp>
        <p:nvSpPr>
          <p:cNvPr id="11" name="!!N2">
            <a:extLst>
              <a:ext uri="{FF2B5EF4-FFF2-40B4-BE49-F238E27FC236}">
                <a16:creationId xmlns:a16="http://schemas.microsoft.com/office/drawing/2014/main" id="{8CDF4618-5AC3-F659-935D-46FADE9252EC}"/>
              </a:ext>
            </a:extLst>
          </p:cNvPr>
          <p:cNvSpPr>
            <a:spLocks/>
          </p:cNvSpPr>
          <p:nvPr/>
        </p:nvSpPr>
        <p:spPr>
          <a:xfrm>
            <a:off x="6906108" y="4299843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Events exceeding the 97.5th percentile (</a:t>
            </a:r>
            <a:r>
              <a:rPr lang="en-US" sz="3200" i="1" dirty="0"/>
              <a:t>P &lt; 0.05</a:t>
            </a:r>
            <a:r>
              <a:rPr lang="en-US" sz="3200" dirty="0"/>
              <a:t>)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5" name="!!M3">
            <a:extLst>
              <a:ext uri="{FF2B5EF4-FFF2-40B4-BE49-F238E27FC236}">
                <a16:creationId xmlns:a16="http://schemas.microsoft.com/office/drawing/2014/main" id="{002412FD-68F4-7F86-DBD8-0BC169CE00AE}"/>
              </a:ext>
            </a:extLst>
          </p:cNvPr>
          <p:cNvSpPr>
            <a:spLocks/>
          </p:cNvSpPr>
          <p:nvPr/>
        </p:nvSpPr>
        <p:spPr>
          <a:xfrm>
            <a:off x="6906108" y="1078601"/>
            <a:ext cx="4604212" cy="3048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3a, b, d, e (Motor Coupling):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DS2 linked with transient physiological arousal; Ripples are absent.</a:t>
            </a:r>
          </a:p>
        </p:txBody>
      </p:sp>
    </p:spTree>
    <p:extLst>
      <p:ext uri="{BB962C8B-B14F-4D97-AF65-F5344CB8AC3E}">
        <p14:creationId xmlns:p14="http://schemas.microsoft.com/office/powerpoint/2010/main" val="76174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062A8-3D37-6CCA-F854-F9443162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DB13658-A6BD-256B-5181-1D6DE343E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05" y="685800"/>
            <a:ext cx="13262264" cy="9529113"/>
          </a:xfrm>
          <a:prstGeom prst="rect">
            <a:avLst/>
          </a:prstGeom>
          <a:ln w="38100">
            <a:noFill/>
          </a:ln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FD364C4-4926-2810-24DE-5EB1A5A48CCB}"/>
              </a:ext>
            </a:extLst>
          </p:cNvPr>
          <p:cNvSpPr/>
          <p:nvPr/>
        </p:nvSpPr>
        <p:spPr>
          <a:xfrm>
            <a:off x="0" y="685800"/>
            <a:ext cx="12192000" cy="6172199"/>
          </a:xfrm>
          <a:custGeom>
            <a:avLst/>
            <a:gdLst>
              <a:gd name="csX0" fmla="*/ 762000 w 12192000"/>
              <a:gd name="csY0" fmla="*/ 60960 h 6172199"/>
              <a:gd name="csX1" fmla="*/ 762000 w 12192000"/>
              <a:gd name="csY1" fmla="*/ 6080760 h 6172199"/>
              <a:gd name="csX2" fmla="*/ 6128212 w 12192000"/>
              <a:gd name="csY2" fmla="*/ 6080760 h 6172199"/>
              <a:gd name="csX3" fmla="*/ 6128212 w 12192000"/>
              <a:gd name="csY3" fmla="*/ 6096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762000" y="60960"/>
                </a:moveTo>
                <a:lnTo>
                  <a:pt x="762000" y="6080760"/>
                </a:lnTo>
                <a:lnTo>
                  <a:pt x="6128212" y="6080760"/>
                </a:lnTo>
                <a:lnTo>
                  <a:pt x="6128212" y="6096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8E8427DA-6FEF-CFFD-416B-0478581BD3B2}"/>
              </a:ext>
            </a:extLst>
          </p:cNvPr>
          <p:cNvSpPr/>
          <p:nvPr/>
        </p:nvSpPr>
        <p:spPr>
          <a:xfrm rot="5400000">
            <a:off x="2133866" y="4593993"/>
            <a:ext cx="1143000" cy="79421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E1522CFA-F34B-2348-3CC7-5314E36AF791}"/>
              </a:ext>
            </a:extLst>
          </p:cNvPr>
          <p:cNvSpPr>
            <a:spLocks/>
          </p:cNvSpPr>
          <p:nvPr/>
        </p:nvSpPr>
        <p:spPr>
          <a:xfrm>
            <a:off x="17145000" y="1070069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9A0505-5DD8-1721-B8D8-1C384DD37E80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!!T-BG">
            <a:extLst>
              <a:ext uri="{FF2B5EF4-FFF2-40B4-BE49-F238E27FC236}">
                <a16:creationId xmlns:a16="http://schemas.microsoft.com/office/drawing/2014/main" id="{92E8293F-5D32-6ADE-C53F-142689DA4BFE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95F2E2F8-6190-D2C9-C013-392EB4360C3C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452A5A2A-4C5F-57E1-FCA0-09626016AC58}"/>
              </a:ext>
            </a:extLst>
          </p:cNvPr>
          <p:cNvSpPr/>
          <p:nvPr/>
        </p:nvSpPr>
        <p:spPr>
          <a:xfrm rot="5400000">
            <a:off x="4780759" y="4847994"/>
            <a:ext cx="2141068" cy="79421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!!N2">
            <a:extLst>
              <a:ext uri="{FF2B5EF4-FFF2-40B4-BE49-F238E27FC236}">
                <a16:creationId xmlns:a16="http://schemas.microsoft.com/office/drawing/2014/main" id="{953CB60B-FE43-300D-29C0-E91C48F5B4DD}"/>
              </a:ext>
            </a:extLst>
          </p:cNvPr>
          <p:cNvSpPr>
            <a:spLocks/>
          </p:cNvSpPr>
          <p:nvPr/>
        </p:nvSpPr>
        <p:spPr>
          <a:xfrm>
            <a:off x="6906108" y="1828800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Events exceeding the 97.5th percentile (</a:t>
            </a:r>
            <a:r>
              <a:rPr lang="en-US" sz="3200" i="1" dirty="0"/>
              <a:t>P &lt; 0.05</a:t>
            </a:r>
            <a:r>
              <a:rPr lang="en-US" sz="3200" dirty="0"/>
              <a:t>)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!!M3">
            <a:extLst>
              <a:ext uri="{FF2B5EF4-FFF2-40B4-BE49-F238E27FC236}">
                <a16:creationId xmlns:a16="http://schemas.microsoft.com/office/drawing/2014/main" id="{3C3BE213-20BF-E1D2-F018-01E833180A96}"/>
              </a:ext>
            </a:extLst>
          </p:cNvPr>
          <p:cNvSpPr>
            <a:spLocks/>
          </p:cNvSpPr>
          <p:nvPr/>
        </p:nvSpPr>
        <p:spPr>
          <a:xfrm>
            <a:off x="6906108" y="1078601"/>
            <a:ext cx="4604212" cy="3048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3a, b, d, e (Motor Coupling):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DS2 linked with transient physiological arousal; Ripples are absent.</a:t>
            </a:r>
          </a:p>
        </p:txBody>
      </p:sp>
      <p:sp>
        <p:nvSpPr>
          <p:cNvPr id="7" name="!!N1">
            <a:extLst>
              <a:ext uri="{FF2B5EF4-FFF2-40B4-BE49-F238E27FC236}">
                <a16:creationId xmlns:a16="http://schemas.microsoft.com/office/drawing/2014/main" id="{51D8F918-5B3A-608E-FF7D-31F1096FD2A9}"/>
              </a:ext>
            </a:extLst>
          </p:cNvPr>
          <p:cNvSpPr>
            <a:spLocks/>
          </p:cNvSpPr>
          <p:nvPr/>
        </p:nvSpPr>
        <p:spPr>
          <a:xfrm>
            <a:off x="13738474" y="2819400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Neural activity patterns were grouped by similarity to show if specific brain states overlapped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1" name="!!M4">
            <a:extLst>
              <a:ext uri="{FF2B5EF4-FFF2-40B4-BE49-F238E27FC236}">
                <a16:creationId xmlns:a16="http://schemas.microsoft.com/office/drawing/2014/main" id="{5D3A1EFC-F1CE-43B1-4CBA-D9F2EA4CFC15}"/>
              </a:ext>
            </a:extLst>
          </p:cNvPr>
          <p:cNvSpPr>
            <a:spLocks/>
          </p:cNvSpPr>
          <p:nvPr/>
        </p:nvSpPr>
        <p:spPr>
          <a:xfrm>
            <a:off x="13738474" y="1949245"/>
            <a:ext cx="4604212" cy="3048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000" b="1" dirty="0">
                <a:solidFill>
                  <a:srgbClr val="FF0000"/>
                </a:solidFill>
              </a:rPr>
              <a:t>Extended Data Fig. 3c, f </a:t>
            </a:r>
            <a:r>
              <a:rPr lang="en-US" sz="3200" b="1" dirty="0">
                <a:solidFill>
                  <a:srgbClr val="FF0000"/>
                </a:solidFill>
              </a:rPr>
              <a:t>(Neural State): DS2 neural dynamics map to arousal</a:t>
            </a:r>
          </a:p>
        </p:txBody>
      </p:sp>
    </p:spTree>
    <p:extLst>
      <p:ext uri="{BB962C8B-B14F-4D97-AF65-F5344CB8AC3E}">
        <p14:creationId xmlns:p14="http://schemas.microsoft.com/office/powerpoint/2010/main" val="199421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99980-CAA0-6493-E669-A049316D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0BCF18-296D-000E-C417-8043BD095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10200" y="831273"/>
            <a:ext cx="12573000" cy="9033868"/>
          </a:xfrm>
          <a:prstGeom prst="rect">
            <a:avLst/>
          </a:prstGeom>
          <a:ln w="38100">
            <a:noFill/>
          </a:ln>
        </p:spPr>
      </p:pic>
      <p:sp>
        <p:nvSpPr>
          <p:cNvPr id="18" name="!!Freeform: Shape 17">
            <a:extLst>
              <a:ext uri="{FF2B5EF4-FFF2-40B4-BE49-F238E27FC236}">
                <a16:creationId xmlns:a16="http://schemas.microsoft.com/office/drawing/2014/main" id="{E3632CC1-93BA-C724-27FC-1C239A146A72}"/>
              </a:ext>
            </a:extLst>
          </p:cNvPr>
          <p:cNvSpPr/>
          <p:nvPr/>
        </p:nvSpPr>
        <p:spPr>
          <a:xfrm>
            <a:off x="-762000" y="685800"/>
            <a:ext cx="14554200" cy="6172199"/>
          </a:xfrm>
          <a:custGeom>
            <a:avLst/>
            <a:gdLst>
              <a:gd name="csX0" fmla="*/ 762000 w 12192000"/>
              <a:gd name="csY0" fmla="*/ 60960 h 6172199"/>
              <a:gd name="csX1" fmla="*/ 762000 w 12192000"/>
              <a:gd name="csY1" fmla="*/ 6080760 h 6172199"/>
              <a:gd name="csX2" fmla="*/ 6128212 w 12192000"/>
              <a:gd name="csY2" fmla="*/ 6080760 h 6172199"/>
              <a:gd name="csX3" fmla="*/ 6128212 w 12192000"/>
              <a:gd name="csY3" fmla="*/ 6096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762000" y="60960"/>
                </a:moveTo>
                <a:lnTo>
                  <a:pt x="762000" y="6080760"/>
                </a:lnTo>
                <a:lnTo>
                  <a:pt x="6128212" y="6080760"/>
                </a:lnTo>
                <a:lnTo>
                  <a:pt x="6128212" y="6096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34719F4E-3A8D-8B70-5AA6-0E9C0E0D9B80}"/>
              </a:ext>
            </a:extLst>
          </p:cNvPr>
          <p:cNvSpPr/>
          <p:nvPr/>
        </p:nvSpPr>
        <p:spPr>
          <a:xfrm rot="5400000">
            <a:off x="3276601" y="-228600"/>
            <a:ext cx="228597" cy="251460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385140E1-5ECA-66E4-9404-A3CABC631A71}"/>
              </a:ext>
            </a:extLst>
          </p:cNvPr>
          <p:cNvSpPr>
            <a:spLocks/>
          </p:cNvSpPr>
          <p:nvPr/>
        </p:nvSpPr>
        <p:spPr>
          <a:xfrm>
            <a:off x="13335000" y="1152008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C71B01-C7D0-2EDB-66DF-946742314544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N2">
            <a:extLst>
              <a:ext uri="{FF2B5EF4-FFF2-40B4-BE49-F238E27FC236}">
                <a16:creationId xmlns:a16="http://schemas.microsoft.com/office/drawing/2014/main" id="{E78B7A41-D093-537F-0CAF-8AD61E5752A3}"/>
              </a:ext>
            </a:extLst>
          </p:cNvPr>
          <p:cNvSpPr>
            <a:spLocks/>
          </p:cNvSpPr>
          <p:nvPr/>
        </p:nvSpPr>
        <p:spPr>
          <a:xfrm>
            <a:off x="6858000" y="914401"/>
            <a:ext cx="4604212" cy="533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/>
              <a:t>Note: </a:t>
            </a:r>
            <a:r>
              <a:rPr lang="en-US" sz="3200" dirty="0"/>
              <a:t>The probability plot (e) resolves the ambiguous overlap in averages (d) by confirming that only DS2 consistently crosses the statistical threshold for a significant motor response.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CA17368C-6566-8D72-C8FC-E3074936E26D}"/>
              </a:ext>
            </a:extLst>
          </p:cNvPr>
          <p:cNvSpPr>
            <a:spLocks/>
          </p:cNvSpPr>
          <p:nvPr/>
        </p:nvSpPr>
        <p:spPr>
          <a:xfrm>
            <a:off x="6858000" y="2819400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Neural activity patterns were grouped by similarity to show if specific brain states overlapped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DEFE94B4-48A5-926C-368D-AE63DC08067E}"/>
              </a:ext>
            </a:extLst>
          </p:cNvPr>
          <p:cNvSpPr>
            <a:spLocks/>
          </p:cNvSpPr>
          <p:nvPr/>
        </p:nvSpPr>
        <p:spPr>
          <a:xfrm>
            <a:off x="18126310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</a:rPr>
              <a:t>Fig. 1i (Reactivity): Sensory startles can evoke DS2 events.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0AAE596A-B393-1A1E-C2D2-9D198EF92333}"/>
              </a:ext>
            </a:extLst>
          </p:cNvPr>
          <p:cNvSpPr>
            <a:spLocks/>
          </p:cNvSpPr>
          <p:nvPr/>
        </p:nvSpPr>
        <p:spPr>
          <a:xfrm>
            <a:off x="68580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A5EF4981-BEF8-838C-0742-EB9D72B7DE9C}"/>
              </a:ext>
            </a:extLst>
          </p:cNvPr>
          <p:cNvSpPr>
            <a:spLocks/>
          </p:cNvSpPr>
          <p:nvPr/>
        </p:nvSpPr>
        <p:spPr>
          <a:xfrm>
            <a:off x="15998879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C58F56DC-F060-1441-442E-485D7252DE26}"/>
              </a:ext>
            </a:extLst>
          </p:cNvPr>
          <p:cNvSpPr>
            <a:spLocks/>
          </p:cNvSpPr>
          <p:nvPr/>
        </p:nvSpPr>
        <p:spPr>
          <a:xfrm>
            <a:off x="2025374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1j (Robustness): Sensory startles reliably evoke DS2 events.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05D38F59-804B-A9BB-2333-96493DB618D4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A1B2E674-DFDB-0035-3A62-D62A4002DA47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436F56D4-2374-42BE-81DA-98B5E1A7B1E0}"/>
              </a:ext>
            </a:extLst>
          </p:cNvPr>
          <p:cNvSpPr>
            <a:spLocks/>
          </p:cNvSpPr>
          <p:nvPr/>
        </p:nvSpPr>
        <p:spPr>
          <a:xfrm>
            <a:off x="2238117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</a:rPr>
              <a:t>Fig. 1k (Speed): DS2 follows sensation within 30-40 milliseconds.</a:t>
            </a:r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E2596F32-2747-5F52-242E-6F3C8DAB9277}"/>
              </a:ext>
            </a:extLst>
          </p:cNvPr>
          <p:cNvSpPr>
            <a:spLocks/>
          </p:cNvSpPr>
          <p:nvPr/>
        </p:nvSpPr>
        <p:spPr>
          <a:xfrm>
            <a:off x="6858000" y="1949245"/>
            <a:ext cx="4604212" cy="3048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000" b="1" dirty="0">
                <a:solidFill>
                  <a:srgbClr val="FF0000"/>
                </a:solidFill>
              </a:rPr>
              <a:t>Extended Data Fig. 3c, f </a:t>
            </a:r>
            <a:r>
              <a:rPr lang="en-US" sz="3200" b="1" dirty="0">
                <a:solidFill>
                  <a:srgbClr val="FF0000"/>
                </a:solidFill>
              </a:rPr>
              <a:t>(Neural State):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 DS2 neural dynamics map to arousal</a:t>
            </a:r>
          </a:p>
        </p:txBody>
      </p:sp>
    </p:spTree>
    <p:extLst>
      <p:ext uri="{BB962C8B-B14F-4D97-AF65-F5344CB8AC3E}">
        <p14:creationId xmlns:p14="http://schemas.microsoft.com/office/powerpoint/2010/main" val="3820128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FF142-581D-FEB6-2238-0A47C037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D41594-24E5-9E4C-51EB-6E19A3CA8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10200" y="831273"/>
            <a:ext cx="12573000" cy="9033868"/>
          </a:xfrm>
          <a:prstGeom prst="rect">
            <a:avLst/>
          </a:prstGeom>
          <a:ln w="38100">
            <a:noFill/>
          </a:ln>
        </p:spPr>
      </p:pic>
      <p:sp>
        <p:nvSpPr>
          <p:cNvPr id="18" name="!!Freeform: Shape 17">
            <a:extLst>
              <a:ext uri="{FF2B5EF4-FFF2-40B4-BE49-F238E27FC236}">
                <a16:creationId xmlns:a16="http://schemas.microsoft.com/office/drawing/2014/main" id="{37F780D0-C223-F369-8752-247030D0B587}"/>
              </a:ext>
            </a:extLst>
          </p:cNvPr>
          <p:cNvSpPr/>
          <p:nvPr/>
        </p:nvSpPr>
        <p:spPr>
          <a:xfrm>
            <a:off x="-762000" y="685800"/>
            <a:ext cx="14554200" cy="6172199"/>
          </a:xfrm>
          <a:custGeom>
            <a:avLst/>
            <a:gdLst>
              <a:gd name="csX0" fmla="*/ 762000 w 12192000"/>
              <a:gd name="csY0" fmla="*/ 60960 h 6172199"/>
              <a:gd name="csX1" fmla="*/ 762000 w 12192000"/>
              <a:gd name="csY1" fmla="*/ 6080760 h 6172199"/>
              <a:gd name="csX2" fmla="*/ 6128212 w 12192000"/>
              <a:gd name="csY2" fmla="*/ 6080760 h 6172199"/>
              <a:gd name="csX3" fmla="*/ 6128212 w 12192000"/>
              <a:gd name="csY3" fmla="*/ 6096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762000" y="60960"/>
                </a:moveTo>
                <a:lnTo>
                  <a:pt x="762000" y="6080760"/>
                </a:lnTo>
                <a:lnTo>
                  <a:pt x="6128212" y="6080760"/>
                </a:lnTo>
                <a:lnTo>
                  <a:pt x="6128212" y="6096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A6A9329F-BA38-8AF3-9C2A-AB6D57A6EC59}"/>
              </a:ext>
            </a:extLst>
          </p:cNvPr>
          <p:cNvSpPr/>
          <p:nvPr/>
        </p:nvSpPr>
        <p:spPr>
          <a:xfrm rot="5400000">
            <a:off x="2019301" y="-731518"/>
            <a:ext cx="2666998" cy="6400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E6784642-E117-A5F2-6F13-7D2C60BA8BF6}"/>
              </a:ext>
            </a:extLst>
          </p:cNvPr>
          <p:cNvSpPr>
            <a:spLocks/>
          </p:cNvSpPr>
          <p:nvPr/>
        </p:nvSpPr>
        <p:spPr>
          <a:xfrm>
            <a:off x="13335000" y="1152008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F55038-95ED-AB23-B1DC-EDACEEF42F20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N2">
            <a:extLst>
              <a:ext uri="{FF2B5EF4-FFF2-40B4-BE49-F238E27FC236}">
                <a16:creationId xmlns:a16="http://schemas.microsoft.com/office/drawing/2014/main" id="{A59BC3DB-D268-EBDE-57DF-BD7762818CFC}"/>
              </a:ext>
            </a:extLst>
          </p:cNvPr>
          <p:cNvSpPr>
            <a:spLocks/>
          </p:cNvSpPr>
          <p:nvPr/>
        </p:nvSpPr>
        <p:spPr>
          <a:xfrm>
            <a:off x="6858000" y="914401"/>
            <a:ext cx="4604212" cy="533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/>
              <a:t>Note: </a:t>
            </a:r>
            <a:r>
              <a:rPr lang="en-US" sz="3200" dirty="0"/>
              <a:t>The probability plot (e) resolves the ambiguous overlap in averages (d) by confirming that only DS2 consistently crosses the statistical threshold for a significant motor response.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0CBC3D4D-C0FD-0296-A507-7AAFECEA86A7}"/>
              </a:ext>
            </a:extLst>
          </p:cNvPr>
          <p:cNvSpPr>
            <a:spLocks/>
          </p:cNvSpPr>
          <p:nvPr/>
        </p:nvSpPr>
        <p:spPr>
          <a:xfrm>
            <a:off x="18126310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</a:rPr>
              <a:t>Fig. 1i (Reactivity): Sensory startles can evoke DS2 events.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0FD19BA2-D073-37AC-99D0-427657E67A69}"/>
              </a:ext>
            </a:extLst>
          </p:cNvPr>
          <p:cNvSpPr>
            <a:spLocks/>
          </p:cNvSpPr>
          <p:nvPr/>
        </p:nvSpPr>
        <p:spPr>
          <a:xfrm>
            <a:off x="68580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13688E77-40EC-FC75-7D1C-930BCC7B0431}"/>
              </a:ext>
            </a:extLst>
          </p:cNvPr>
          <p:cNvSpPr>
            <a:spLocks/>
          </p:cNvSpPr>
          <p:nvPr/>
        </p:nvSpPr>
        <p:spPr>
          <a:xfrm>
            <a:off x="15998879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12F3B380-0ED6-E3A5-E316-AE9355C276B1}"/>
              </a:ext>
            </a:extLst>
          </p:cNvPr>
          <p:cNvSpPr>
            <a:spLocks/>
          </p:cNvSpPr>
          <p:nvPr/>
        </p:nvSpPr>
        <p:spPr>
          <a:xfrm>
            <a:off x="2025374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1j (Robustness): Sensory startles reliably evoke DS2 events.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23A73D88-9D15-96D6-B4FB-561DCE727C6A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19437810-480F-2235-CEC4-9140FF8D1FD9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306CA812-552E-2072-97BD-0FAFA0CA6D75}"/>
              </a:ext>
            </a:extLst>
          </p:cNvPr>
          <p:cNvSpPr>
            <a:spLocks/>
          </p:cNvSpPr>
          <p:nvPr/>
        </p:nvSpPr>
        <p:spPr>
          <a:xfrm>
            <a:off x="2238117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</a:rPr>
              <a:t>Fig. 1k (Speed): DS2 follows sensation within 30-40 milliseconds.</a:t>
            </a:r>
          </a:p>
        </p:txBody>
      </p:sp>
      <p:sp>
        <p:nvSpPr>
          <p:cNvPr id="12" name="!!Focus2" hidden="1">
            <a:extLst>
              <a:ext uri="{FF2B5EF4-FFF2-40B4-BE49-F238E27FC236}">
                <a16:creationId xmlns:a16="http://schemas.microsoft.com/office/drawing/2014/main" id="{8C5B4727-B9D6-708E-29F5-44B641193AD1}"/>
              </a:ext>
            </a:extLst>
          </p:cNvPr>
          <p:cNvSpPr/>
          <p:nvPr/>
        </p:nvSpPr>
        <p:spPr>
          <a:xfrm rot="5400000">
            <a:off x="4764014" y="1917423"/>
            <a:ext cx="2683544" cy="108637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65504092-ECF4-53B3-3089-20C159757A6A}"/>
              </a:ext>
            </a:extLst>
          </p:cNvPr>
          <p:cNvSpPr>
            <a:spLocks/>
          </p:cNvSpPr>
          <p:nvPr/>
        </p:nvSpPr>
        <p:spPr>
          <a:xfrm>
            <a:off x="6858000" y="1905000"/>
            <a:ext cx="4604212" cy="3048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000" b="1" dirty="0">
                <a:solidFill>
                  <a:srgbClr val="FF0000"/>
                </a:solidFill>
              </a:rPr>
              <a:t>Extended Data Fig. 3c, f </a:t>
            </a:r>
            <a:r>
              <a:rPr lang="en-US" sz="3200" b="1" dirty="0">
                <a:solidFill>
                  <a:srgbClr val="FF0000"/>
                </a:solidFill>
              </a:rPr>
              <a:t>(Neural State):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DS2 neural dynamics map to arousal</a:t>
            </a:r>
          </a:p>
        </p:txBody>
      </p:sp>
    </p:spTree>
    <p:extLst>
      <p:ext uri="{BB962C8B-B14F-4D97-AF65-F5344CB8AC3E}">
        <p14:creationId xmlns:p14="http://schemas.microsoft.com/office/powerpoint/2010/main" val="1083205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6CEC8-416B-E82B-1FA1-C53BCF76E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558CFD6-0C47-4AA8-66EC-D6B3EC45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10200" y="831273"/>
            <a:ext cx="12573000" cy="9033868"/>
          </a:xfrm>
          <a:prstGeom prst="rect">
            <a:avLst/>
          </a:prstGeom>
          <a:ln w="38100">
            <a:noFill/>
          </a:ln>
        </p:spPr>
      </p:pic>
      <p:sp>
        <p:nvSpPr>
          <p:cNvPr id="18" name="!!Freeform: Shape 17">
            <a:extLst>
              <a:ext uri="{FF2B5EF4-FFF2-40B4-BE49-F238E27FC236}">
                <a16:creationId xmlns:a16="http://schemas.microsoft.com/office/drawing/2014/main" id="{E76E60C3-CD31-D16F-ED0D-FF4634E8F87D}"/>
              </a:ext>
            </a:extLst>
          </p:cNvPr>
          <p:cNvSpPr/>
          <p:nvPr/>
        </p:nvSpPr>
        <p:spPr>
          <a:xfrm>
            <a:off x="-762000" y="685800"/>
            <a:ext cx="14554200" cy="6172199"/>
          </a:xfrm>
          <a:custGeom>
            <a:avLst/>
            <a:gdLst>
              <a:gd name="csX0" fmla="*/ 762000 w 12192000"/>
              <a:gd name="csY0" fmla="*/ 60960 h 6172199"/>
              <a:gd name="csX1" fmla="*/ 762000 w 12192000"/>
              <a:gd name="csY1" fmla="*/ 6080760 h 6172199"/>
              <a:gd name="csX2" fmla="*/ 6128212 w 12192000"/>
              <a:gd name="csY2" fmla="*/ 6080760 h 6172199"/>
              <a:gd name="csX3" fmla="*/ 6128212 w 12192000"/>
              <a:gd name="csY3" fmla="*/ 6096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762000" y="60960"/>
                </a:moveTo>
                <a:lnTo>
                  <a:pt x="762000" y="6080760"/>
                </a:lnTo>
                <a:lnTo>
                  <a:pt x="6128212" y="6080760"/>
                </a:lnTo>
                <a:lnTo>
                  <a:pt x="6128212" y="6096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E346C1D4-940D-79D8-B19B-1CF2A9DE7950}"/>
              </a:ext>
            </a:extLst>
          </p:cNvPr>
          <p:cNvSpPr/>
          <p:nvPr/>
        </p:nvSpPr>
        <p:spPr>
          <a:xfrm rot="5400000">
            <a:off x="1600201" y="1973582"/>
            <a:ext cx="2666998" cy="9906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FD4AA2BE-2B46-6201-88D5-14FDD0B3E408}"/>
              </a:ext>
            </a:extLst>
          </p:cNvPr>
          <p:cNvSpPr>
            <a:spLocks/>
          </p:cNvSpPr>
          <p:nvPr/>
        </p:nvSpPr>
        <p:spPr>
          <a:xfrm>
            <a:off x="13335000" y="1152008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8A78DF-4A05-121C-D879-EF734A239C1A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N2">
            <a:extLst>
              <a:ext uri="{FF2B5EF4-FFF2-40B4-BE49-F238E27FC236}">
                <a16:creationId xmlns:a16="http://schemas.microsoft.com/office/drawing/2014/main" id="{C2777626-A1FE-8714-AF41-9582FD9EAE2A}"/>
              </a:ext>
            </a:extLst>
          </p:cNvPr>
          <p:cNvSpPr>
            <a:spLocks/>
          </p:cNvSpPr>
          <p:nvPr/>
        </p:nvSpPr>
        <p:spPr>
          <a:xfrm>
            <a:off x="6858000" y="914401"/>
            <a:ext cx="4604212" cy="533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/>
              <a:t>Note: </a:t>
            </a:r>
            <a:r>
              <a:rPr lang="en-US" sz="3200" dirty="0"/>
              <a:t>The probability plot (e) resolves the ambiguous overlap in averages (d) by confirming that only DS2 consistently crosses the statistical threshold for a significant motor response.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!!M2">
            <a:extLst>
              <a:ext uri="{FF2B5EF4-FFF2-40B4-BE49-F238E27FC236}">
                <a16:creationId xmlns:a16="http://schemas.microsoft.com/office/drawing/2014/main" id="{697F1B49-A836-AC0C-5A04-AE0ECC281462}"/>
              </a:ext>
            </a:extLst>
          </p:cNvPr>
          <p:cNvSpPr>
            <a:spLocks/>
          </p:cNvSpPr>
          <p:nvPr/>
        </p:nvSpPr>
        <p:spPr>
          <a:xfrm>
            <a:off x="18126310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00" dirty="0">
                <a:solidFill>
                  <a:schemeClr val="bg1"/>
                </a:solidFill>
              </a:rPr>
              <a:t>Fig. 1i (Reactivity): Sensory startles can evoke DS2 events.</a:t>
            </a: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31472EA2-2E6F-AB33-640E-572FEFE5EF07}"/>
              </a:ext>
            </a:extLst>
          </p:cNvPr>
          <p:cNvSpPr>
            <a:spLocks/>
          </p:cNvSpPr>
          <p:nvPr/>
        </p:nvSpPr>
        <p:spPr>
          <a:xfrm>
            <a:off x="68580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BFC0C601-745B-B751-D953-787F8B3EBAF9}"/>
              </a:ext>
            </a:extLst>
          </p:cNvPr>
          <p:cNvSpPr>
            <a:spLocks/>
          </p:cNvSpPr>
          <p:nvPr/>
        </p:nvSpPr>
        <p:spPr>
          <a:xfrm>
            <a:off x="15998879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100" dirty="0">
                <a:solidFill>
                  <a:schemeClr val="bg1"/>
                </a:solidFill>
              </a:rPr>
              <a:t>Fig. 1h (Micro-Arousal): DS2 aligns with rapid pupil dilation.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1A7D3C11-D607-B628-C840-91374B755901}"/>
              </a:ext>
            </a:extLst>
          </p:cNvPr>
          <p:cNvSpPr>
            <a:spLocks/>
          </p:cNvSpPr>
          <p:nvPr/>
        </p:nvSpPr>
        <p:spPr>
          <a:xfrm>
            <a:off x="2025374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Fig. 1j (Robustness): Sensory startles reliably evoke DS2 events.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B7F8F37E-996B-4EB7-578F-741F2EE2D494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C76E7DBB-5405-0506-F36B-416C3BF507A0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AD717F0C-EA40-DF39-F23B-087023A0E7E3}"/>
              </a:ext>
            </a:extLst>
          </p:cNvPr>
          <p:cNvSpPr>
            <a:spLocks/>
          </p:cNvSpPr>
          <p:nvPr/>
        </p:nvSpPr>
        <p:spPr>
          <a:xfrm>
            <a:off x="22381171" y="6974655"/>
            <a:ext cx="1673352" cy="155448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</a:rPr>
              <a:t>Fig. 1k (Speed): DS2 follows sensation within 30-40 milliseconds.</a:t>
            </a:r>
          </a:p>
        </p:txBody>
      </p:sp>
      <p:sp>
        <p:nvSpPr>
          <p:cNvPr id="15" name="!!N3">
            <a:extLst>
              <a:ext uri="{FF2B5EF4-FFF2-40B4-BE49-F238E27FC236}">
                <a16:creationId xmlns:a16="http://schemas.microsoft.com/office/drawing/2014/main" id="{A6C9B989-D809-1DF0-A954-47ADC2FE576D}"/>
              </a:ext>
            </a:extLst>
          </p:cNvPr>
          <p:cNvSpPr>
            <a:spLocks/>
          </p:cNvSpPr>
          <p:nvPr/>
        </p:nvSpPr>
        <p:spPr>
          <a:xfrm>
            <a:off x="6858000" y="2819400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/>
              <a:t>DS2 n</a:t>
            </a:r>
            <a:r>
              <a:rPr lang="en-US" sz="3200" dirty="0"/>
              <a:t>eural activity patterns overlapped with </a:t>
            </a:r>
            <a:r>
              <a:rPr lang="en-US" sz="3200" b="1" dirty="0"/>
              <a:t>Gaze Movement </a:t>
            </a:r>
            <a:r>
              <a:rPr lang="en-US" sz="3200" dirty="0"/>
              <a:t>and </a:t>
            </a:r>
            <a:r>
              <a:rPr lang="en-US" sz="3200" b="1" dirty="0"/>
              <a:t>Face Movement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94C23CB1-B78A-2E69-437F-80A04975B3E6}"/>
              </a:ext>
            </a:extLst>
          </p:cNvPr>
          <p:cNvSpPr/>
          <p:nvPr/>
        </p:nvSpPr>
        <p:spPr>
          <a:xfrm rot="5400000">
            <a:off x="4764014" y="1917423"/>
            <a:ext cx="2683544" cy="108637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22F38DBD-434A-5743-452C-5644BB8E6F4C}"/>
              </a:ext>
            </a:extLst>
          </p:cNvPr>
          <p:cNvSpPr>
            <a:spLocks/>
          </p:cNvSpPr>
          <p:nvPr/>
        </p:nvSpPr>
        <p:spPr>
          <a:xfrm>
            <a:off x="6858000" y="1905000"/>
            <a:ext cx="4604212" cy="3048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000" b="1" dirty="0">
                <a:solidFill>
                  <a:srgbClr val="FF0000"/>
                </a:solidFill>
              </a:rPr>
              <a:t>Extended Data Fig. 3c, f </a:t>
            </a:r>
            <a:r>
              <a:rPr lang="en-US" sz="3200" b="1" dirty="0">
                <a:solidFill>
                  <a:srgbClr val="FF0000"/>
                </a:solidFill>
              </a:rPr>
              <a:t>(Neural State):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DS2 neural dynamics map to arousal</a:t>
            </a:r>
          </a:p>
        </p:txBody>
      </p:sp>
    </p:spTree>
    <p:extLst>
      <p:ext uri="{BB962C8B-B14F-4D97-AF65-F5344CB8AC3E}">
        <p14:creationId xmlns:p14="http://schemas.microsoft.com/office/powerpoint/2010/main" val="721515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3280A-9DCD-796A-666C-906A3351A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4035154-6C75-8F32-065B-59B1B5310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10200" y="831273"/>
            <a:ext cx="12573000" cy="9033868"/>
          </a:xfrm>
          <a:prstGeom prst="rect">
            <a:avLst/>
          </a:prstGeom>
          <a:ln w="38100">
            <a:noFill/>
          </a:ln>
        </p:spPr>
      </p:pic>
      <p:sp>
        <p:nvSpPr>
          <p:cNvPr id="18" name="!!Freeform: Shape 17">
            <a:extLst>
              <a:ext uri="{FF2B5EF4-FFF2-40B4-BE49-F238E27FC236}">
                <a16:creationId xmlns:a16="http://schemas.microsoft.com/office/drawing/2014/main" id="{4460A1DB-B9C1-D181-ADE6-1485A4B4778E}"/>
              </a:ext>
            </a:extLst>
          </p:cNvPr>
          <p:cNvSpPr/>
          <p:nvPr/>
        </p:nvSpPr>
        <p:spPr>
          <a:xfrm>
            <a:off x="-762000" y="685800"/>
            <a:ext cx="14554200" cy="6172199"/>
          </a:xfrm>
          <a:custGeom>
            <a:avLst/>
            <a:gdLst>
              <a:gd name="csX0" fmla="*/ 762000 w 12192000"/>
              <a:gd name="csY0" fmla="*/ 60960 h 6172199"/>
              <a:gd name="csX1" fmla="*/ 762000 w 12192000"/>
              <a:gd name="csY1" fmla="*/ 6080760 h 6172199"/>
              <a:gd name="csX2" fmla="*/ 6128212 w 12192000"/>
              <a:gd name="csY2" fmla="*/ 6080760 h 6172199"/>
              <a:gd name="csX3" fmla="*/ 6128212 w 12192000"/>
              <a:gd name="csY3" fmla="*/ 60960 h 6172199"/>
              <a:gd name="csX4" fmla="*/ 0 w 12192000"/>
              <a:gd name="csY4" fmla="*/ 0 h 6172199"/>
              <a:gd name="csX5" fmla="*/ 12192000 w 12192000"/>
              <a:gd name="csY5" fmla="*/ 0 h 6172199"/>
              <a:gd name="csX6" fmla="*/ 12192000 w 12192000"/>
              <a:gd name="csY6" fmla="*/ 6172199 h 6172199"/>
              <a:gd name="csX7" fmla="*/ 0 w 12192000"/>
              <a:gd name="csY7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172199">
                <a:moveTo>
                  <a:pt x="762000" y="60960"/>
                </a:moveTo>
                <a:lnTo>
                  <a:pt x="762000" y="6080760"/>
                </a:lnTo>
                <a:lnTo>
                  <a:pt x="6128212" y="6080760"/>
                </a:lnTo>
                <a:lnTo>
                  <a:pt x="6128212" y="6096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z</a:t>
            </a:r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8F53E22C-53EB-7491-4B84-7A5E5EFDB1C5}"/>
              </a:ext>
            </a:extLst>
          </p:cNvPr>
          <p:cNvSpPr/>
          <p:nvPr/>
        </p:nvSpPr>
        <p:spPr>
          <a:xfrm rot="5400000">
            <a:off x="1600201" y="4800601"/>
            <a:ext cx="2666998" cy="9906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76D800D3-853E-18DE-F289-53D8A036944B}"/>
              </a:ext>
            </a:extLst>
          </p:cNvPr>
          <p:cNvSpPr>
            <a:spLocks/>
          </p:cNvSpPr>
          <p:nvPr/>
        </p:nvSpPr>
        <p:spPr>
          <a:xfrm>
            <a:off x="13335000" y="1152008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627909-2007-64F6-7147-F3CF2FAE1C8A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N1">
            <a:extLst>
              <a:ext uri="{FF2B5EF4-FFF2-40B4-BE49-F238E27FC236}">
                <a16:creationId xmlns:a16="http://schemas.microsoft.com/office/drawing/2014/main" id="{DE5761B4-CF6F-4F8C-450B-C941AA8F71AD}"/>
              </a:ext>
            </a:extLst>
          </p:cNvPr>
          <p:cNvSpPr>
            <a:spLocks/>
          </p:cNvSpPr>
          <p:nvPr/>
        </p:nvSpPr>
        <p:spPr>
          <a:xfrm>
            <a:off x="6858000" y="2895600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Neural activity patterns were grouped by similarity to show if specific brain states overlapped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BD722E2C-7832-48E7-B853-C7F9B348B5E0}"/>
              </a:ext>
            </a:extLst>
          </p:cNvPr>
          <p:cNvSpPr>
            <a:spLocks/>
          </p:cNvSpPr>
          <p:nvPr/>
        </p:nvSpPr>
        <p:spPr>
          <a:xfrm>
            <a:off x="68580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D4CA91A6-533A-8DC6-FC62-96F78044D3A2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6F6B2818-915F-6C64-7176-545DA0786856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D1DAFEE4-8B21-E5D5-EA8E-0FCC11A0460A}"/>
              </a:ext>
            </a:extLst>
          </p:cNvPr>
          <p:cNvSpPr/>
          <p:nvPr/>
        </p:nvSpPr>
        <p:spPr>
          <a:xfrm rot="5400000">
            <a:off x="4764014" y="4744442"/>
            <a:ext cx="2683544" cy="108637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0FA9BD25-93F3-5726-AB5A-E829D4A434D8}"/>
              </a:ext>
            </a:extLst>
          </p:cNvPr>
          <p:cNvSpPr>
            <a:spLocks/>
          </p:cNvSpPr>
          <p:nvPr/>
        </p:nvSpPr>
        <p:spPr>
          <a:xfrm>
            <a:off x="6858000" y="1905000"/>
            <a:ext cx="4604212" cy="3048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000" b="1" dirty="0">
                <a:solidFill>
                  <a:srgbClr val="FF0000"/>
                </a:solidFill>
              </a:rPr>
              <a:t>Extended Data Fig. 3c, f </a:t>
            </a:r>
            <a:r>
              <a:rPr lang="en-US" sz="3200" b="1" dirty="0">
                <a:solidFill>
                  <a:srgbClr val="FF0000"/>
                </a:solidFill>
              </a:rPr>
              <a:t>(Neural State):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DS2 neural dynamics map to arousal</a:t>
            </a:r>
          </a:p>
        </p:txBody>
      </p:sp>
      <p:sp>
        <p:nvSpPr>
          <p:cNvPr id="17" name="!!M6">
            <a:extLst>
              <a:ext uri="{FF2B5EF4-FFF2-40B4-BE49-F238E27FC236}">
                <a16:creationId xmlns:a16="http://schemas.microsoft.com/office/drawing/2014/main" id="{8D40BF64-E6B0-D71A-FDC8-1131BCEF256C}"/>
              </a:ext>
            </a:extLst>
          </p:cNvPr>
          <p:cNvSpPr>
            <a:spLocks/>
          </p:cNvSpPr>
          <p:nvPr/>
        </p:nvSpPr>
        <p:spPr>
          <a:xfrm>
            <a:off x="13590564" y="457200"/>
            <a:ext cx="4604212" cy="3048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3g (Sensory Tuning):</a:t>
            </a:r>
            <a:r>
              <a:rPr lang="en-US" sz="3200" dirty="0">
                <a:solidFill>
                  <a:srgbClr val="FF0000"/>
                </a:solidFill>
              </a:rPr>
              <a:t> DS2 functions as a specific alarm, reliably triggered by auditory startles (clicks, tones) but completely unresponsive to visual stimulation (Gabors, white noise).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0" name="!!Focus3">
            <a:extLst>
              <a:ext uri="{FF2B5EF4-FFF2-40B4-BE49-F238E27FC236}">
                <a16:creationId xmlns:a16="http://schemas.microsoft.com/office/drawing/2014/main" id="{0F2FB3E7-9FB0-51AF-B09C-99BDAE81FAC8}"/>
              </a:ext>
            </a:extLst>
          </p:cNvPr>
          <p:cNvSpPr/>
          <p:nvPr/>
        </p:nvSpPr>
        <p:spPr>
          <a:xfrm rot="5400000">
            <a:off x="-380999" y="8077199"/>
            <a:ext cx="2666998" cy="9906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30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6666-317D-9077-1E03-7327EBD94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68B6D27-CA87-B763-975B-9077180DF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01" y="-2219075"/>
            <a:ext cx="12649200" cy="9088619"/>
          </a:xfrm>
          <a:prstGeom prst="rect">
            <a:avLst/>
          </a:prstGeom>
          <a:ln w="38100">
            <a:noFill/>
          </a:ln>
        </p:spPr>
      </p:pic>
      <p:sp>
        <p:nvSpPr>
          <p:cNvPr id="22" name="!!Freeform: Shape 18">
            <a:extLst>
              <a:ext uri="{FF2B5EF4-FFF2-40B4-BE49-F238E27FC236}">
                <a16:creationId xmlns:a16="http://schemas.microsoft.com/office/drawing/2014/main" id="{62859DCC-9FCB-C802-F3C9-34666E513BB1}"/>
              </a:ext>
            </a:extLst>
          </p:cNvPr>
          <p:cNvSpPr/>
          <p:nvPr/>
        </p:nvSpPr>
        <p:spPr>
          <a:xfrm>
            <a:off x="-762000" y="685800"/>
            <a:ext cx="14554200" cy="6172199"/>
          </a:xfrm>
          <a:custGeom>
            <a:avLst/>
            <a:gdLst>
              <a:gd name="csX0" fmla="*/ 914400 w 14554200"/>
              <a:gd name="csY0" fmla="*/ 2971800 h 6172199"/>
              <a:gd name="csX1" fmla="*/ 914400 w 14554200"/>
              <a:gd name="csY1" fmla="*/ 6096000 h 6172199"/>
              <a:gd name="csX2" fmla="*/ 8229600 w 14554200"/>
              <a:gd name="csY2" fmla="*/ 6096000 h 6172199"/>
              <a:gd name="csX3" fmla="*/ 8229600 w 14554200"/>
              <a:gd name="csY3" fmla="*/ 2971800 h 6172199"/>
              <a:gd name="csX4" fmla="*/ 0 w 14554200"/>
              <a:gd name="csY4" fmla="*/ 0 h 6172199"/>
              <a:gd name="csX5" fmla="*/ 685800 w 14554200"/>
              <a:gd name="csY5" fmla="*/ 0 h 6172199"/>
              <a:gd name="csX6" fmla="*/ 7696200 w 14554200"/>
              <a:gd name="csY6" fmla="*/ 0 h 6172199"/>
              <a:gd name="csX7" fmla="*/ 14554200 w 14554200"/>
              <a:gd name="csY7" fmla="*/ 0 h 6172199"/>
              <a:gd name="csX8" fmla="*/ 14554200 w 14554200"/>
              <a:gd name="csY8" fmla="*/ 6172199 h 6172199"/>
              <a:gd name="csX9" fmla="*/ 0 w 14554200"/>
              <a:gd name="csY9" fmla="*/ 6172199 h 61721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554200" h="6172199">
                <a:moveTo>
                  <a:pt x="914400" y="2971800"/>
                </a:moveTo>
                <a:lnTo>
                  <a:pt x="914400" y="6096000"/>
                </a:lnTo>
                <a:lnTo>
                  <a:pt x="8229600" y="6096000"/>
                </a:lnTo>
                <a:lnTo>
                  <a:pt x="8229600" y="2971800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14452C17-D080-C756-C718-67684476DC86}"/>
              </a:ext>
            </a:extLst>
          </p:cNvPr>
          <p:cNvSpPr/>
          <p:nvPr/>
        </p:nvSpPr>
        <p:spPr>
          <a:xfrm rot="5400000">
            <a:off x="3600449" y="5581649"/>
            <a:ext cx="1219200" cy="41910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4AB0DE14-8462-4F23-4231-0BCC6894B0E4}"/>
              </a:ext>
            </a:extLst>
          </p:cNvPr>
          <p:cNvSpPr>
            <a:spLocks/>
          </p:cNvSpPr>
          <p:nvPr/>
        </p:nvSpPr>
        <p:spPr>
          <a:xfrm>
            <a:off x="14554200" y="-1371600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103A61-9E49-D8E9-5162-B24A1E6EA1D7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3">
            <a:extLst>
              <a:ext uri="{FF2B5EF4-FFF2-40B4-BE49-F238E27FC236}">
                <a16:creationId xmlns:a16="http://schemas.microsoft.com/office/drawing/2014/main" id="{C0DAEAD6-731C-A3F7-8C1F-2CEC4930A464}"/>
              </a:ext>
            </a:extLst>
          </p:cNvPr>
          <p:cNvSpPr>
            <a:spLocks/>
          </p:cNvSpPr>
          <p:nvPr/>
        </p:nvSpPr>
        <p:spPr>
          <a:xfrm>
            <a:off x="762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0BC5DBC1-61A5-02B5-001A-6856A521F95E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D38D6A3C-46D8-AF03-6735-20B4D4B2EB2D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D2271BF9-F2B1-92C5-9004-FF90A5BBBF68}"/>
              </a:ext>
            </a:extLst>
          </p:cNvPr>
          <p:cNvSpPr/>
          <p:nvPr/>
        </p:nvSpPr>
        <p:spPr>
          <a:xfrm rot="5400000">
            <a:off x="5867398" y="5600700"/>
            <a:ext cx="1219202" cy="3810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EBB0CC2F-BAA4-B785-5AB4-3293943619EC}"/>
              </a:ext>
            </a:extLst>
          </p:cNvPr>
          <p:cNvSpPr>
            <a:spLocks/>
          </p:cNvSpPr>
          <p:nvPr/>
        </p:nvSpPr>
        <p:spPr>
          <a:xfrm>
            <a:off x="76200" y="17526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3c, f (Neural State): DS2 neural dynamics map to arousal</a:t>
            </a:r>
          </a:p>
        </p:txBody>
      </p:sp>
      <p:sp>
        <p:nvSpPr>
          <p:cNvPr id="23" name="!!M6">
            <a:extLst>
              <a:ext uri="{FF2B5EF4-FFF2-40B4-BE49-F238E27FC236}">
                <a16:creationId xmlns:a16="http://schemas.microsoft.com/office/drawing/2014/main" id="{8F7C2153-C531-637B-09C1-60AA1A939035}"/>
              </a:ext>
            </a:extLst>
          </p:cNvPr>
          <p:cNvSpPr>
            <a:spLocks/>
          </p:cNvSpPr>
          <p:nvPr/>
        </p:nvSpPr>
        <p:spPr>
          <a:xfrm>
            <a:off x="5328111" y="812260"/>
            <a:ext cx="6787689" cy="20071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3g (Sensory Tuning): Auditory stimuli selectively trigger DS2</a:t>
            </a:r>
          </a:p>
        </p:txBody>
      </p:sp>
      <p:sp>
        <p:nvSpPr>
          <p:cNvPr id="24" name="!!Focus3">
            <a:extLst>
              <a:ext uri="{FF2B5EF4-FFF2-40B4-BE49-F238E27FC236}">
                <a16:creationId xmlns:a16="http://schemas.microsoft.com/office/drawing/2014/main" id="{4403AF3F-1663-73AB-9F21-665549E35859}"/>
              </a:ext>
            </a:extLst>
          </p:cNvPr>
          <p:cNvSpPr/>
          <p:nvPr/>
        </p:nvSpPr>
        <p:spPr>
          <a:xfrm rot="5400000">
            <a:off x="1020426" y="5287627"/>
            <a:ext cx="1845345" cy="3810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2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27205-E614-79BA-4769-792646EC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423A27C-C05A-41DF-77BE-95ADA97F4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01" y="-2219075"/>
            <a:ext cx="12649200" cy="9088619"/>
          </a:xfrm>
          <a:prstGeom prst="rect">
            <a:avLst/>
          </a:prstGeom>
          <a:ln w="38100">
            <a:noFill/>
          </a:ln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5D5FB0A-E991-7C33-9692-1CAA8CE1AC4A}"/>
              </a:ext>
            </a:extLst>
          </p:cNvPr>
          <p:cNvSpPr/>
          <p:nvPr/>
        </p:nvSpPr>
        <p:spPr>
          <a:xfrm>
            <a:off x="-762000" y="685799"/>
            <a:ext cx="14554200" cy="6172200"/>
          </a:xfrm>
          <a:custGeom>
            <a:avLst/>
            <a:gdLst>
              <a:gd name="csX0" fmla="*/ 8273588 w 14554200"/>
              <a:gd name="csY0" fmla="*/ 2971801 h 6172200"/>
              <a:gd name="csX1" fmla="*/ 8273588 w 14554200"/>
              <a:gd name="csY1" fmla="*/ 6096001 h 6172200"/>
              <a:gd name="csX2" fmla="*/ 12877800 w 14554200"/>
              <a:gd name="csY2" fmla="*/ 6096001 h 6172200"/>
              <a:gd name="csX3" fmla="*/ 12877800 w 14554200"/>
              <a:gd name="csY3" fmla="*/ 2971801 h 6172200"/>
              <a:gd name="csX4" fmla="*/ 0 w 14554200"/>
              <a:gd name="csY4" fmla="*/ 0 h 6172200"/>
              <a:gd name="csX5" fmla="*/ 685800 w 14554200"/>
              <a:gd name="csY5" fmla="*/ 0 h 6172200"/>
              <a:gd name="csX6" fmla="*/ 7696200 w 14554200"/>
              <a:gd name="csY6" fmla="*/ 0 h 6172200"/>
              <a:gd name="csX7" fmla="*/ 14554200 w 14554200"/>
              <a:gd name="csY7" fmla="*/ 0 h 6172200"/>
              <a:gd name="csX8" fmla="*/ 14554200 w 14554200"/>
              <a:gd name="csY8" fmla="*/ 6172199 h 6172200"/>
              <a:gd name="csX9" fmla="*/ 8534400 w 14554200"/>
              <a:gd name="csY9" fmla="*/ 6172199 h 6172200"/>
              <a:gd name="csX10" fmla="*/ 8534400 w 14554200"/>
              <a:gd name="csY10" fmla="*/ 6172200 h 6172200"/>
              <a:gd name="csX11" fmla="*/ 762000 w 14554200"/>
              <a:gd name="csY11" fmla="*/ 6172200 h 6172200"/>
              <a:gd name="csX12" fmla="*/ 762000 w 14554200"/>
              <a:gd name="csY12" fmla="*/ 6172199 h 6172200"/>
              <a:gd name="csX13" fmla="*/ 0 w 14554200"/>
              <a:gd name="csY13" fmla="*/ 6172199 h 6172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554200" h="6172200">
                <a:moveTo>
                  <a:pt x="8273588" y="2971801"/>
                </a:moveTo>
                <a:lnTo>
                  <a:pt x="8273588" y="6096001"/>
                </a:lnTo>
                <a:lnTo>
                  <a:pt x="12877800" y="6096001"/>
                </a:lnTo>
                <a:lnTo>
                  <a:pt x="12877800" y="29718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8534400" y="6172199"/>
                </a:lnTo>
                <a:lnTo>
                  <a:pt x="85344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F72C5636-A600-BB29-D95E-8C2BF6FCCED7}"/>
              </a:ext>
            </a:extLst>
          </p:cNvPr>
          <p:cNvSpPr/>
          <p:nvPr/>
        </p:nvSpPr>
        <p:spPr>
          <a:xfrm rot="5400000">
            <a:off x="8610600" y="3810001"/>
            <a:ext cx="304799" cy="762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37943726-DF02-846B-510A-06DE2EA12330}"/>
              </a:ext>
            </a:extLst>
          </p:cNvPr>
          <p:cNvSpPr>
            <a:spLocks/>
          </p:cNvSpPr>
          <p:nvPr/>
        </p:nvSpPr>
        <p:spPr>
          <a:xfrm>
            <a:off x="14554200" y="-1371600"/>
            <a:ext cx="11850329" cy="91113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D881CE-6D28-FA50-34A4-2D97672181F3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N1">
            <a:extLst>
              <a:ext uri="{FF2B5EF4-FFF2-40B4-BE49-F238E27FC236}">
                <a16:creationId xmlns:a16="http://schemas.microsoft.com/office/drawing/2014/main" id="{EAFCA06B-F34F-CD49-0285-C64D663AB7B8}"/>
              </a:ext>
            </a:extLst>
          </p:cNvPr>
          <p:cNvSpPr>
            <a:spLocks/>
          </p:cNvSpPr>
          <p:nvPr/>
        </p:nvSpPr>
        <p:spPr>
          <a:xfrm>
            <a:off x="7511588" y="1213742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Neural activity patterns were grouped by similarity to show if specific brain states overlapped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76605447-F30B-0410-E445-17C3BD5AAF71}"/>
              </a:ext>
            </a:extLst>
          </p:cNvPr>
          <p:cNvSpPr>
            <a:spLocks/>
          </p:cNvSpPr>
          <p:nvPr/>
        </p:nvSpPr>
        <p:spPr>
          <a:xfrm>
            <a:off x="762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F523A012-6185-00AF-DBEF-48137D927875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53DBE935-7EFD-888B-B1C1-D628DA1965CF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AF884403-3461-A838-0220-48BE574F3B91}"/>
              </a:ext>
            </a:extLst>
          </p:cNvPr>
          <p:cNvSpPr/>
          <p:nvPr/>
        </p:nvSpPr>
        <p:spPr>
          <a:xfrm rot="5400000">
            <a:off x="10906122" y="3590927"/>
            <a:ext cx="304801" cy="120015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FB6ADFF5-02C1-6799-18CB-3135E393DA4A}"/>
              </a:ext>
            </a:extLst>
          </p:cNvPr>
          <p:cNvSpPr>
            <a:spLocks/>
          </p:cNvSpPr>
          <p:nvPr/>
        </p:nvSpPr>
        <p:spPr>
          <a:xfrm>
            <a:off x="76200" y="17526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3c, f (Neural State): DS2 neural dynamics map to arousal</a:t>
            </a:r>
          </a:p>
        </p:txBody>
      </p:sp>
      <p:sp>
        <p:nvSpPr>
          <p:cNvPr id="23" name="!!M6">
            <a:extLst>
              <a:ext uri="{FF2B5EF4-FFF2-40B4-BE49-F238E27FC236}">
                <a16:creationId xmlns:a16="http://schemas.microsoft.com/office/drawing/2014/main" id="{BF84ADF5-A1F6-E199-CF67-3F9541E3208E}"/>
              </a:ext>
            </a:extLst>
          </p:cNvPr>
          <p:cNvSpPr>
            <a:spLocks/>
          </p:cNvSpPr>
          <p:nvPr/>
        </p:nvSpPr>
        <p:spPr>
          <a:xfrm>
            <a:off x="5328111" y="812260"/>
            <a:ext cx="6787689" cy="20071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3g (Sensory Tuning): Auditory stimuli selectively trigger DS2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4491E4-FAE0-E7BB-E8C5-48866D8DA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7163238"/>
            <a:ext cx="3429000" cy="32761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5391EF-7CB6-C4B0-9BD5-29F0F9756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10578719"/>
            <a:ext cx="4650445" cy="237528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996FA9D-A15D-C3DC-253F-3483ABAA22EE}"/>
              </a:ext>
            </a:extLst>
          </p:cNvPr>
          <p:cNvCxnSpPr>
            <a:cxnSpLocks/>
          </p:cNvCxnSpPr>
          <p:nvPr/>
        </p:nvCxnSpPr>
        <p:spPr>
          <a:xfrm flipH="1">
            <a:off x="2133600" y="7227455"/>
            <a:ext cx="3352800" cy="31357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C39AF88-7E00-C72A-BBAE-37B8E18EFC96}"/>
              </a:ext>
            </a:extLst>
          </p:cNvPr>
          <p:cNvCxnSpPr>
            <a:cxnSpLocks/>
          </p:cNvCxnSpPr>
          <p:nvPr/>
        </p:nvCxnSpPr>
        <p:spPr>
          <a:xfrm>
            <a:off x="2171700" y="7215910"/>
            <a:ext cx="3428999" cy="32234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610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12833-FE75-77D2-7136-63D8F633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7EAB32E-D0A1-D49F-A1D1-5C859EB6B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01" y="-2219075"/>
            <a:ext cx="12649200" cy="9088619"/>
          </a:xfrm>
          <a:prstGeom prst="rect">
            <a:avLst/>
          </a:prstGeom>
          <a:ln w="38100">
            <a:noFill/>
          </a:ln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646284A-D903-8B69-9B03-60122F29A117}"/>
              </a:ext>
            </a:extLst>
          </p:cNvPr>
          <p:cNvSpPr/>
          <p:nvPr/>
        </p:nvSpPr>
        <p:spPr>
          <a:xfrm>
            <a:off x="-762000" y="685799"/>
            <a:ext cx="14554200" cy="6172200"/>
          </a:xfrm>
          <a:custGeom>
            <a:avLst/>
            <a:gdLst>
              <a:gd name="csX0" fmla="*/ 8273588 w 14554200"/>
              <a:gd name="csY0" fmla="*/ 2971801 h 6172200"/>
              <a:gd name="csX1" fmla="*/ 8273588 w 14554200"/>
              <a:gd name="csY1" fmla="*/ 6096001 h 6172200"/>
              <a:gd name="csX2" fmla="*/ 12877800 w 14554200"/>
              <a:gd name="csY2" fmla="*/ 6096001 h 6172200"/>
              <a:gd name="csX3" fmla="*/ 12877800 w 14554200"/>
              <a:gd name="csY3" fmla="*/ 2971801 h 6172200"/>
              <a:gd name="csX4" fmla="*/ 0 w 14554200"/>
              <a:gd name="csY4" fmla="*/ 0 h 6172200"/>
              <a:gd name="csX5" fmla="*/ 685800 w 14554200"/>
              <a:gd name="csY5" fmla="*/ 0 h 6172200"/>
              <a:gd name="csX6" fmla="*/ 7696200 w 14554200"/>
              <a:gd name="csY6" fmla="*/ 0 h 6172200"/>
              <a:gd name="csX7" fmla="*/ 14554200 w 14554200"/>
              <a:gd name="csY7" fmla="*/ 0 h 6172200"/>
              <a:gd name="csX8" fmla="*/ 14554200 w 14554200"/>
              <a:gd name="csY8" fmla="*/ 6172199 h 6172200"/>
              <a:gd name="csX9" fmla="*/ 8534400 w 14554200"/>
              <a:gd name="csY9" fmla="*/ 6172199 h 6172200"/>
              <a:gd name="csX10" fmla="*/ 8534400 w 14554200"/>
              <a:gd name="csY10" fmla="*/ 6172200 h 6172200"/>
              <a:gd name="csX11" fmla="*/ 762000 w 14554200"/>
              <a:gd name="csY11" fmla="*/ 6172200 h 6172200"/>
              <a:gd name="csX12" fmla="*/ 762000 w 14554200"/>
              <a:gd name="csY12" fmla="*/ 6172199 h 6172200"/>
              <a:gd name="csX13" fmla="*/ 0 w 14554200"/>
              <a:gd name="csY13" fmla="*/ 6172199 h 6172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554200" h="6172200">
                <a:moveTo>
                  <a:pt x="8273588" y="2971801"/>
                </a:moveTo>
                <a:lnTo>
                  <a:pt x="8273588" y="6096001"/>
                </a:lnTo>
                <a:lnTo>
                  <a:pt x="12877800" y="6096001"/>
                </a:lnTo>
                <a:lnTo>
                  <a:pt x="12877800" y="29718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8534400" y="6172199"/>
                </a:lnTo>
                <a:lnTo>
                  <a:pt x="85344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106A996A-DC9F-CBE3-99E8-32DBB703CD8D}"/>
              </a:ext>
            </a:extLst>
          </p:cNvPr>
          <p:cNvSpPr/>
          <p:nvPr/>
        </p:nvSpPr>
        <p:spPr>
          <a:xfrm rot="5400000">
            <a:off x="8610600" y="3810001"/>
            <a:ext cx="304799" cy="762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EA2C11-1A70-2FAF-0984-68780AB6A0C4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N1" hidden="1">
            <a:extLst>
              <a:ext uri="{FF2B5EF4-FFF2-40B4-BE49-F238E27FC236}">
                <a16:creationId xmlns:a16="http://schemas.microsoft.com/office/drawing/2014/main" id="{E8E29D86-FF24-D3CD-AB9E-9C8EAE41C045}"/>
              </a:ext>
            </a:extLst>
          </p:cNvPr>
          <p:cNvSpPr>
            <a:spLocks/>
          </p:cNvSpPr>
          <p:nvPr/>
        </p:nvSpPr>
        <p:spPr>
          <a:xfrm>
            <a:off x="7511588" y="1213742"/>
            <a:ext cx="4604212" cy="149135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Neural activity patterns were grouped by similarity to show if specific brain states overlapped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A7043913-1D69-622E-2CBC-AAEBB260618D}"/>
              </a:ext>
            </a:extLst>
          </p:cNvPr>
          <p:cNvSpPr>
            <a:spLocks/>
          </p:cNvSpPr>
          <p:nvPr/>
        </p:nvSpPr>
        <p:spPr>
          <a:xfrm>
            <a:off x="762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4C70E4FA-65A1-463A-5FC3-72C48ADB36C1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8BFFB90A-0258-BEED-AD20-8B0D20D69F35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8B223151-8E34-03F8-545D-78466933986B}"/>
              </a:ext>
            </a:extLst>
          </p:cNvPr>
          <p:cNvSpPr/>
          <p:nvPr/>
        </p:nvSpPr>
        <p:spPr>
          <a:xfrm rot="5400000">
            <a:off x="10906122" y="3590927"/>
            <a:ext cx="304801" cy="120015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ED9AADE8-B108-A6B3-2D49-79F119EB8FA8}"/>
              </a:ext>
            </a:extLst>
          </p:cNvPr>
          <p:cNvSpPr>
            <a:spLocks/>
          </p:cNvSpPr>
          <p:nvPr/>
        </p:nvSpPr>
        <p:spPr>
          <a:xfrm>
            <a:off x="76200" y="17526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3c, f (Neural State): DS2 neural dynamics map to arousal</a:t>
            </a:r>
          </a:p>
        </p:txBody>
      </p:sp>
      <p:sp>
        <p:nvSpPr>
          <p:cNvPr id="23" name="!!M6">
            <a:extLst>
              <a:ext uri="{FF2B5EF4-FFF2-40B4-BE49-F238E27FC236}">
                <a16:creationId xmlns:a16="http://schemas.microsoft.com/office/drawing/2014/main" id="{FB2FBAB1-D55E-00F9-9038-C7F4BCCCDACC}"/>
              </a:ext>
            </a:extLst>
          </p:cNvPr>
          <p:cNvSpPr>
            <a:spLocks/>
          </p:cNvSpPr>
          <p:nvPr/>
        </p:nvSpPr>
        <p:spPr>
          <a:xfrm>
            <a:off x="5328111" y="812260"/>
            <a:ext cx="6787689" cy="20071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3g (Sensory Tuning): Auditory stimuli selectively trigger DS2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72C1D8-CBB8-DD04-D2EB-C2F25399B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3429438"/>
            <a:ext cx="3429000" cy="32761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9528CC-846F-CF19-426D-2CDFC16ED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877" y="7010399"/>
            <a:ext cx="4650445" cy="237528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B32635-4D9D-E47D-C0CB-BD9A829F1354}"/>
              </a:ext>
            </a:extLst>
          </p:cNvPr>
          <p:cNvCxnSpPr>
            <a:cxnSpLocks/>
          </p:cNvCxnSpPr>
          <p:nvPr/>
        </p:nvCxnSpPr>
        <p:spPr>
          <a:xfrm flipH="1">
            <a:off x="2133600" y="3493655"/>
            <a:ext cx="3352800" cy="31357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A012DA-AFC3-2FBE-571B-D8002FA92B84}"/>
              </a:ext>
            </a:extLst>
          </p:cNvPr>
          <p:cNvCxnSpPr>
            <a:cxnSpLocks/>
          </p:cNvCxnSpPr>
          <p:nvPr/>
        </p:nvCxnSpPr>
        <p:spPr>
          <a:xfrm>
            <a:off x="2171700" y="3482110"/>
            <a:ext cx="3428999" cy="32234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535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86D3-98AE-412F-AAB0-9DDA6113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30E22F9-0C30-D6D5-43E4-95CE9E0A2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01" y="-2219075"/>
            <a:ext cx="12649200" cy="9088619"/>
          </a:xfrm>
          <a:prstGeom prst="rect">
            <a:avLst/>
          </a:prstGeom>
          <a:ln w="38100">
            <a:noFill/>
          </a:ln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4AB5AFD-CC38-14BD-E34E-FF1E47748C52}"/>
              </a:ext>
            </a:extLst>
          </p:cNvPr>
          <p:cNvSpPr/>
          <p:nvPr/>
        </p:nvSpPr>
        <p:spPr>
          <a:xfrm>
            <a:off x="-762000" y="685799"/>
            <a:ext cx="14554200" cy="6172200"/>
          </a:xfrm>
          <a:custGeom>
            <a:avLst/>
            <a:gdLst>
              <a:gd name="csX0" fmla="*/ 8273588 w 14554200"/>
              <a:gd name="csY0" fmla="*/ 2971801 h 6172200"/>
              <a:gd name="csX1" fmla="*/ 8273588 w 14554200"/>
              <a:gd name="csY1" fmla="*/ 6096001 h 6172200"/>
              <a:gd name="csX2" fmla="*/ 12877800 w 14554200"/>
              <a:gd name="csY2" fmla="*/ 6096001 h 6172200"/>
              <a:gd name="csX3" fmla="*/ 12877800 w 14554200"/>
              <a:gd name="csY3" fmla="*/ 2971801 h 6172200"/>
              <a:gd name="csX4" fmla="*/ 0 w 14554200"/>
              <a:gd name="csY4" fmla="*/ 0 h 6172200"/>
              <a:gd name="csX5" fmla="*/ 685800 w 14554200"/>
              <a:gd name="csY5" fmla="*/ 0 h 6172200"/>
              <a:gd name="csX6" fmla="*/ 7696200 w 14554200"/>
              <a:gd name="csY6" fmla="*/ 0 h 6172200"/>
              <a:gd name="csX7" fmla="*/ 14554200 w 14554200"/>
              <a:gd name="csY7" fmla="*/ 0 h 6172200"/>
              <a:gd name="csX8" fmla="*/ 14554200 w 14554200"/>
              <a:gd name="csY8" fmla="*/ 6172199 h 6172200"/>
              <a:gd name="csX9" fmla="*/ 8534400 w 14554200"/>
              <a:gd name="csY9" fmla="*/ 6172199 h 6172200"/>
              <a:gd name="csX10" fmla="*/ 8534400 w 14554200"/>
              <a:gd name="csY10" fmla="*/ 6172200 h 6172200"/>
              <a:gd name="csX11" fmla="*/ 762000 w 14554200"/>
              <a:gd name="csY11" fmla="*/ 6172200 h 6172200"/>
              <a:gd name="csX12" fmla="*/ 762000 w 14554200"/>
              <a:gd name="csY12" fmla="*/ 6172199 h 6172200"/>
              <a:gd name="csX13" fmla="*/ 0 w 14554200"/>
              <a:gd name="csY13" fmla="*/ 6172199 h 6172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554200" h="6172200">
                <a:moveTo>
                  <a:pt x="8273588" y="2971801"/>
                </a:moveTo>
                <a:lnTo>
                  <a:pt x="8273588" y="6096001"/>
                </a:lnTo>
                <a:lnTo>
                  <a:pt x="12877800" y="6096001"/>
                </a:lnTo>
                <a:lnTo>
                  <a:pt x="12877800" y="29718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8534400" y="6172199"/>
                </a:lnTo>
                <a:lnTo>
                  <a:pt x="85344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C2C7F6-2270-51CD-D15B-B5D963F6F6A5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3">
            <a:extLst>
              <a:ext uri="{FF2B5EF4-FFF2-40B4-BE49-F238E27FC236}">
                <a16:creationId xmlns:a16="http://schemas.microsoft.com/office/drawing/2014/main" id="{4C9DFAED-72A1-BBDD-6D29-CF93B94EE684}"/>
              </a:ext>
            </a:extLst>
          </p:cNvPr>
          <p:cNvSpPr>
            <a:spLocks/>
          </p:cNvSpPr>
          <p:nvPr/>
        </p:nvSpPr>
        <p:spPr>
          <a:xfrm>
            <a:off x="762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B808DC83-0ABC-AC9C-9670-989660591F18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8E67C515-15D6-D86C-CF38-6E3F15562C32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266BF07E-93BE-7ED7-D5B2-7A6A9602F651}"/>
              </a:ext>
            </a:extLst>
          </p:cNvPr>
          <p:cNvSpPr>
            <a:spLocks/>
          </p:cNvSpPr>
          <p:nvPr/>
        </p:nvSpPr>
        <p:spPr>
          <a:xfrm>
            <a:off x="76200" y="17526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3c, f (Neural State): DS2 neural dynamics map to arousal</a:t>
            </a:r>
          </a:p>
        </p:txBody>
      </p:sp>
      <p:sp>
        <p:nvSpPr>
          <p:cNvPr id="23" name="!!M6">
            <a:extLst>
              <a:ext uri="{FF2B5EF4-FFF2-40B4-BE49-F238E27FC236}">
                <a16:creationId xmlns:a16="http://schemas.microsoft.com/office/drawing/2014/main" id="{47914057-1048-A771-E205-40C516DD4CC1}"/>
              </a:ext>
            </a:extLst>
          </p:cNvPr>
          <p:cNvSpPr>
            <a:spLocks/>
          </p:cNvSpPr>
          <p:nvPr/>
        </p:nvSpPr>
        <p:spPr>
          <a:xfrm>
            <a:off x="5328111" y="812260"/>
            <a:ext cx="6787689" cy="20071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3g (Sensory Tuning): Auditory stimuli selectively trigger DS2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45EE2A-7816-2194-5856-259764BCA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7772838"/>
            <a:ext cx="3429000" cy="32761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5C7960-88A1-2536-CA7C-D64763F1F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877" y="4101719"/>
            <a:ext cx="4650445" cy="237528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F99446-20F0-9BD8-10AF-A42A8D0E8A64}"/>
              </a:ext>
            </a:extLst>
          </p:cNvPr>
          <p:cNvCxnSpPr>
            <a:cxnSpLocks/>
          </p:cNvCxnSpPr>
          <p:nvPr/>
        </p:nvCxnSpPr>
        <p:spPr>
          <a:xfrm flipH="1">
            <a:off x="2133600" y="7837055"/>
            <a:ext cx="3352800" cy="31357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397DB34-9794-D205-EF86-E0B248DE2155}"/>
              </a:ext>
            </a:extLst>
          </p:cNvPr>
          <p:cNvCxnSpPr>
            <a:cxnSpLocks/>
          </p:cNvCxnSpPr>
          <p:nvPr/>
        </p:nvCxnSpPr>
        <p:spPr>
          <a:xfrm>
            <a:off x="2171700" y="7825510"/>
            <a:ext cx="3428999" cy="32234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!!M5">
            <a:extLst>
              <a:ext uri="{FF2B5EF4-FFF2-40B4-BE49-F238E27FC236}">
                <a16:creationId xmlns:a16="http://schemas.microsoft.com/office/drawing/2014/main" id="{E37B233E-D901-5A2A-2866-A9C6CBC36B4F}"/>
              </a:ext>
            </a:extLst>
          </p:cNvPr>
          <p:cNvSpPr>
            <a:spLocks/>
          </p:cNvSpPr>
          <p:nvPr/>
        </p:nvSpPr>
        <p:spPr>
          <a:xfrm>
            <a:off x="-5638800" y="3701688"/>
            <a:ext cx="4509577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2943FC-350C-E85E-75AB-CA10AAC9A1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4823" y="3429000"/>
            <a:ext cx="9221322" cy="3199148"/>
          </a:xfrm>
          <a:prstGeom prst="rect">
            <a:avLst/>
          </a:prstGeom>
        </p:spPr>
      </p:pic>
      <p:sp>
        <p:nvSpPr>
          <p:cNvPr id="11" name="!!N1">
            <a:extLst>
              <a:ext uri="{FF2B5EF4-FFF2-40B4-BE49-F238E27FC236}">
                <a16:creationId xmlns:a16="http://schemas.microsoft.com/office/drawing/2014/main" id="{73D15BBF-F940-FC8A-4E1D-A8BDE22ECA39}"/>
              </a:ext>
            </a:extLst>
          </p:cNvPr>
          <p:cNvSpPr>
            <a:spLocks/>
          </p:cNvSpPr>
          <p:nvPr/>
        </p:nvSpPr>
        <p:spPr>
          <a:xfrm>
            <a:off x="14184823" y="990600"/>
            <a:ext cx="6776067" cy="115246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6" name="!!M7">
            <a:extLst>
              <a:ext uri="{FF2B5EF4-FFF2-40B4-BE49-F238E27FC236}">
                <a16:creationId xmlns:a16="http://schemas.microsoft.com/office/drawing/2014/main" id="{53309A6E-6A63-9CA6-B3F2-55CA3A1CA97A}"/>
              </a:ext>
            </a:extLst>
          </p:cNvPr>
          <p:cNvSpPr>
            <a:spLocks/>
          </p:cNvSpPr>
          <p:nvPr/>
        </p:nvSpPr>
        <p:spPr>
          <a:xfrm>
            <a:off x="14173200" y="812260"/>
            <a:ext cx="6787689" cy="15499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FF219779-F499-34EB-E998-22B7A7C1FFA3}"/>
              </a:ext>
            </a:extLst>
          </p:cNvPr>
          <p:cNvSpPr/>
          <p:nvPr/>
        </p:nvSpPr>
        <p:spPr>
          <a:xfrm rot="5400000">
            <a:off x="10906122" y="3590927"/>
            <a:ext cx="304801" cy="120015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!!Focus">
            <a:extLst>
              <a:ext uri="{FF2B5EF4-FFF2-40B4-BE49-F238E27FC236}">
                <a16:creationId xmlns:a16="http://schemas.microsoft.com/office/drawing/2014/main" id="{A24058FD-C897-1BEC-B929-8CFAEBAABA7B}"/>
              </a:ext>
            </a:extLst>
          </p:cNvPr>
          <p:cNvSpPr/>
          <p:nvPr/>
        </p:nvSpPr>
        <p:spPr>
          <a:xfrm rot="5400000">
            <a:off x="8610600" y="3810001"/>
            <a:ext cx="304799" cy="762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80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627D-F48E-70D2-8EC9-A2F3E9D33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CD4532B-EA04-29C2-6785-8141A4427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60" y="3623505"/>
            <a:ext cx="4009491" cy="28808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6" name="!!Freeform: Shape 17">
            <a:extLst>
              <a:ext uri="{FF2B5EF4-FFF2-40B4-BE49-F238E27FC236}">
                <a16:creationId xmlns:a16="http://schemas.microsoft.com/office/drawing/2014/main" id="{AF8DC9B5-059E-0700-1EFE-6C65DE730224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E121FD-D687-D210-5B0D-4C088B9AC679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N1">
            <a:extLst>
              <a:ext uri="{FF2B5EF4-FFF2-40B4-BE49-F238E27FC236}">
                <a16:creationId xmlns:a16="http://schemas.microsoft.com/office/drawing/2014/main" id="{69D56E4B-7D4E-E4CA-C83B-8050B348A799}"/>
              </a:ext>
            </a:extLst>
          </p:cNvPr>
          <p:cNvSpPr>
            <a:spLocks/>
          </p:cNvSpPr>
          <p:nvPr/>
        </p:nvSpPr>
        <p:spPr>
          <a:xfrm>
            <a:off x="5175711" y="1066800"/>
            <a:ext cx="6787689" cy="115246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746A75DF-92E5-E5D9-1E99-7B495F0BA33F}"/>
              </a:ext>
            </a:extLst>
          </p:cNvPr>
          <p:cNvSpPr>
            <a:spLocks/>
          </p:cNvSpPr>
          <p:nvPr/>
        </p:nvSpPr>
        <p:spPr>
          <a:xfrm>
            <a:off x="762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F6A8E37E-915B-7E88-C5B1-C51787680D25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6E6AFD01-2D4C-D980-F42E-7A5573A90CD0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35FD81CD-D5FD-8E11-CDFD-E0DFB9FB6BDE}"/>
              </a:ext>
            </a:extLst>
          </p:cNvPr>
          <p:cNvSpPr>
            <a:spLocks/>
          </p:cNvSpPr>
          <p:nvPr/>
        </p:nvSpPr>
        <p:spPr>
          <a:xfrm>
            <a:off x="76200" y="17526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3c, f (Neural State): DS2 neural dynamics map to arousal</a:t>
            </a:r>
          </a:p>
        </p:txBody>
      </p:sp>
      <p:sp>
        <p:nvSpPr>
          <p:cNvPr id="23" name="!!M6">
            <a:extLst>
              <a:ext uri="{FF2B5EF4-FFF2-40B4-BE49-F238E27FC236}">
                <a16:creationId xmlns:a16="http://schemas.microsoft.com/office/drawing/2014/main" id="{01882A7D-EB25-7007-FAD2-BAB7799DE0DD}"/>
              </a:ext>
            </a:extLst>
          </p:cNvPr>
          <p:cNvSpPr>
            <a:spLocks/>
          </p:cNvSpPr>
          <p:nvPr/>
        </p:nvSpPr>
        <p:spPr>
          <a:xfrm>
            <a:off x="76201" y="26763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3g (Sensory Tuning): Auditory stimuli selectively trigger DS2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235B08-F561-D60F-2458-2617146F2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7772838"/>
            <a:ext cx="3429000" cy="32761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BFA34B-78FB-7251-88F2-3C397E63C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877" y="8064119"/>
            <a:ext cx="4650445" cy="237528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F7A00F0-277A-2887-707C-08446295D718}"/>
              </a:ext>
            </a:extLst>
          </p:cNvPr>
          <p:cNvCxnSpPr>
            <a:cxnSpLocks/>
          </p:cNvCxnSpPr>
          <p:nvPr/>
        </p:nvCxnSpPr>
        <p:spPr>
          <a:xfrm flipH="1">
            <a:off x="2133600" y="7837055"/>
            <a:ext cx="3352800" cy="31357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7E2C3CD-3CC9-DA35-7390-D2C561538668}"/>
              </a:ext>
            </a:extLst>
          </p:cNvPr>
          <p:cNvCxnSpPr>
            <a:cxnSpLocks/>
          </p:cNvCxnSpPr>
          <p:nvPr/>
        </p:nvCxnSpPr>
        <p:spPr>
          <a:xfrm>
            <a:off x="2171700" y="7825510"/>
            <a:ext cx="3428999" cy="32234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9E65B15-0399-ECE7-EF1E-D7A8AAC62C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400" y="3797707"/>
            <a:ext cx="6918698" cy="2400300"/>
          </a:xfrm>
          <a:prstGeom prst="rect">
            <a:avLst/>
          </a:prstGeom>
        </p:spPr>
      </p:pic>
      <p:sp>
        <p:nvSpPr>
          <p:cNvPr id="6" name="!!M7">
            <a:extLst>
              <a:ext uri="{FF2B5EF4-FFF2-40B4-BE49-F238E27FC236}">
                <a16:creationId xmlns:a16="http://schemas.microsoft.com/office/drawing/2014/main" id="{011061A0-123D-8E50-7810-CCBBBEFFED30}"/>
              </a:ext>
            </a:extLst>
          </p:cNvPr>
          <p:cNvSpPr>
            <a:spLocks/>
          </p:cNvSpPr>
          <p:nvPr/>
        </p:nvSpPr>
        <p:spPr>
          <a:xfrm>
            <a:off x="5175711" y="812260"/>
            <a:ext cx="6787689" cy="15499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4" name="!!Focus3" hidden="1">
            <a:extLst>
              <a:ext uri="{FF2B5EF4-FFF2-40B4-BE49-F238E27FC236}">
                <a16:creationId xmlns:a16="http://schemas.microsoft.com/office/drawing/2014/main" id="{06AC19AD-5508-66C8-0666-AF73CB3F7557}"/>
              </a:ext>
            </a:extLst>
          </p:cNvPr>
          <p:cNvSpPr/>
          <p:nvPr/>
        </p:nvSpPr>
        <p:spPr>
          <a:xfrm rot="5400000">
            <a:off x="10561177" y="3459624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Focus2" hidden="1">
            <a:extLst>
              <a:ext uri="{FF2B5EF4-FFF2-40B4-BE49-F238E27FC236}">
                <a16:creationId xmlns:a16="http://schemas.microsoft.com/office/drawing/2014/main" id="{C766C5B0-5E28-C38F-20AF-A6A9BD4807D2}"/>
              </a:ext>
            </a:extLst>
          </p:cNvPr>
          <p:cNvSpPr/>
          <p:nvPr/>
        </p:nvSpPr>
        <p:spPr>
          <a:xfrm rot="5400000">
            <a:off x="10713577" y="3612024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!!Focus">
            <a:extLst>
              <a:ext uri="{FF2B5EF4-FFF2-40B4-BE49-F238E27FC236}">
                <a16:creationId xmlns:a16="http://schemas.microsoft.com/office/drawing/2014/main" id="{9A973EDE-02BC-4723-09BB-42EC1473847B}"/>
              </a:ext>
            </a:extLst>
          </p:cNvPr>
          <p:cNvSpPr/>
          <p:nvPr/>
        </p:nvSpPr>
        <p:spPr>
          <a:xfrm rot="5400000">
            <a:off x="10972800" y="4038599"/>
            <a:ext cx="457200" cy="10668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28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A0A78-5A6D-45EA-2DFD-A9382BBC8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6E545F3-6012-5586-562F-6AB2DF914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60" y="3623505"/>
            <a:ext cx="4009491" cy="28808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8" name="!!Freeform: Shape 17">
            <a:extLst>
              <a:ext uri="{FF2B5EF4-FFF2-40B4-BE49-F238E27FC236}">
                <a16:creationId xmlns:a16="http://schemas.microsoft.com/office/drawing/2014/main" id="{2D549F2E-D954-76CA-AFF3-6D615E9B799D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3558CF-C44D-5F9D-0343-923B1F203B3B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3">
            <a:extLst>
              <a:ext uri="{FF2B5EF4-FFF2-40B4-BE49-F238E27FC236}">
                <a16:creationId xmlns:a16="http://schemas.microsoft.com/office/drawing/2014/main" id="{46C6CFEB-FD80-4D90-372E-6D39FFBD5E63}"/>
              </a:ext>
            </a:extLst>
          </p:cNvPr>
          <p:cNvSpPr>
            <a:spLocks/>
          </p:cNvSpPr>
          <p:nvPr/>
        </p:nvSpPr>
        <p:spPr>
          <a:xfrm>
            <a:off x="762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2D819E48-61C5-544E-803C-A25D3BE9DADA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639CF499-9A11-A732-766D-A28B7C6FA09A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BB73315A-0D40-A520-CCDF-4E05907AD034}"/>
              </a:ext>
            </a:extLst>
          </p:cNvPr>
          <p:cNvSpPr/>
          <p:nvPr/>
        </p:nvSpPr>
        <p:spPr>
          <a:xfrm rot="5400000">
            <a:off x="11338844" y="6706529"/>
            <a:ext cx="304801" cy="120015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D94C11C8-B210-B730-0E92-6B726A868A13}"/>
              </a:ext>
            </a:extLst>
          </p:cNvPr>
          <p:cNvSpPr>
            <a:spLocks/>
          </p:cNvSpPr>
          <p:nvPr/>
        </p:nvSpPr>
        <p:spPr>
          <a:xfrm>
            <a:off x="76200" y="17526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3c, f (Neural State): DS2 neural dynamics map to arousal</a:t>
            </a:r>
          </a:p>
        </p:txBody>
      </p:sp>
      <p:sp>
        <p:nvSpPr>
          <p:cNvPr id="23" name="!!M6">
            <a:extLst>
              <a:ext uri="{FF2B5EF4-FFF2-40B4-BE49-F238E27FC236}">
                <a16:creationId xmlns:a16="http://schemas.microsoft.com/office/drawing/2014/main" id="{3306EC83-6DC9-2D25-8CC1-09F3D04FD605}"/>
              </a:ext>
            </a:extLst>
          </p:cNvPr>
          <p:cNvSpPr>
            <a:spLocks/>
          </p:cNvSpPr>
          <p:nvPr/>
        </p:nvSpPr>
        <p:spPr>
          <a:xfrm>
            <a:off x="76201" y="26763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3g (Sensory Tuning): Auditory stimuli selectively trigger DS2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C9E0E2-4E79-21BB-CBE5-69AB60431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7772838"/>
            <a:ext cx="3429000" cy="32761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72A045-61A7-5FEB-EECA-58F5F2A79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877" y="8064119"/>
            <a:ext cx="4650445" cy="237528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BD737FF-D1F9-F436-C000-4B2AC50E12A9}"/>
              </a:ext>
            </a:extLst>
          </p:cNvPr>
          <p:cNvCxnSpPr>
            <a:cxnSpLocks/>
          </p:cNvCxnSpPr>
          <p:nvPr/>
        </p:nvCxnSpPr>
        <p:spPr>
          <a:xfrm flipH="1">
            <a:off x="2133600" y="7837055"/>
            <a:ext cx="3352800" cy="31357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B3BEB69-A199-CFB7-9BF2-563C282E61AF}"/>
              </a:ext>
            </a:extLst>
          </p:cNvPr>
          <p:cNvCxnSpPr>
            <a:cxnSpLocks/>
          </p:cNvCxnSpPr>
          <p:nvPr/>
        </p:nvCxnSpPr>
        <p:spPr>
          <a:xfrm>
            <a:off x="2171700" y="7825510"/>
            <a:ext cx="3428999" cy="32234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3728AE2-0578-D232-EA5E-6D3B858C0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400" y="3797707"/>
            <a:ext cx="6918698" cy="2400300"/>
          </a:xfrm>
          <a:prstGeom prst="rect">
            <a:avLst/>
          </a:prstGeom>
        </p:spPr>
      </p:pic>
      <p:sp>
        <p:nvSpPr>
          <p:cNvPr id="6" name="!!M7">
            <a:extLst>
              <a:ext uri="{FF2B5EF4-FFF2-40B4-BE49-F238E27FC236}">
                <a16:creationId xmlns:a16="http://schemas.microsoft.com/office/drawing/2014/main" id="{5EEEA181-C73A-742B-EC9A-1808BCE88E86}"/>
              </a:ext>
            </a:extLst>
          </p:cNvPr>
          <p:cNvSpPr>
            <a:spLocks/>
          </p:cNvSpPr>
          <p:nvPr/>
        </p:nvSpPr>
        <p:spPr>
          <a:xfrm>
            <a:off x="5175711" y="812260"/>
            <a:ext cx="6787689" cy="15499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B6369497-D766-3B65-D9FD-35276B1ADC84}"/>
              </a:ext>
            </a:extLst>
          </p:cNvPr>
          <p:cNvSpPr/>
          <p:nvPr/>
        </p:nvSpPr>
        <p:spPr>
          <a:xfrm rot="5400000">
            <a:off x="10561177" y="3459624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!!Focus2">
            <a:extLst>
              <a:ext uri="{FF2B5EF4-FFF2-40B4-BE49-F238E27FC236}">
                <a16:creationId xmlns:a16="http://schemas.microsoft.com/office/drawing/2014/main" id="{993DCC0B-96F7-C391-75E0-39F1870FF5E5}"/>
              </a:ext>
            </a:extLst>
          </p:cNvPr>
          <p:cNvSpPr/>
          <p:nvPr/>
        </p:nvSpPr>
        <p:spPr>
          <a:xfrm rot="5400000">
            <a:off x="6445936" y="3481397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Focus3">
            <a:extLst>
              <a:ext uri="{FF2B5EF4-FFF2-40B4-BE49-F238E27FC236}">
                <a16:creationId xmlns:a16="http://schemas.microsoft.com/office/drawing/2014/main" id="{2A1FF502-2BFB-80F1-78E4-BEA057D00D19}"/>
              </a:ext>
            </a:extLst>
          </p:cNvPr>
          <p:cNvSpPr/>
          <p:nvPr/>
        </p:nvSpPr>
        <p:spPr>
          <a:xfrm rot="5400000">
            <a:off x="8503778" y="3481397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!!M5">
            <a:extLst>
              <a:ext uri="{FF2B5EF4-FFF2-40B4-BE49-F238E27FC236}">
                <a16:creationId xmlns:a16="http://schemas.microsoft.com/office/drawing/2014/main" id="{EAD40511-0E55-2B58-D180-5D72E7097D41}"/>
              </a:ext>
            </a:extLst>
          </p:cNvPr>
          <p:cNvSpPr>
            <a:spLocks/>
          </p:cNvSpPr>
          <p:nvPr/>
        </p:nvSpPr>
        <p:spPr>
          <a:xfrm>
            <a:off x="5818268" y="7359288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which coincides with Arousal onset 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274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291BD-F714-F3B4-DF92-66A538116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B24C2A7-F5DC-DB2A-877E-D7707A145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60" y="3623505"/>
            <a:ext cx="4009491" cy="28808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4321B7CB-1FD7-C472-CF53-BBEE97CFC597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01F86C68-B899-24F8-ADE5-66AB7A55846E}"/>
              </a:ext>
            </a:extLst>
          </p:cNvPr>
          <p:cNvSpPr>
            <a:spLocks/>
          </p:cNvSpPr>
          <p:nvPr/>
        </p:nvSpPr>
        <p:spPr>
          <a:xfrm>
            <a:off x="5818268" y="3921594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which coincides with arousal onset 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307060-C381-EDBA-2591-C0FBDDE1A73D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N1">
            <a:extLst>
              <a:ext uri="{FF2B5EF4-FFF2-40B4-BE49-F238E27FC236}">
                <a16:creationId xmlns:a16="http://schemas.microsoft.com/office/drawing/2014/main" id="{F2D20675-D090-1CC9-74C7-AE06CD104532}"/>
              </a:ext>
            </a:extLst>
          </p:cNvPr>
          <p:cNvSpPr>
            <a:spLocks/>
          </p:cNvSpPr>
          <p:nvPr/>
        </p:nvSpPr>
        <p:spPr>
          <a:xfrm>
            <a:off x="5175711" y="1066800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FA54061B-7466-4009-5768-1C5CDFD8DD4B}"/>
              </a:ext>
            </a:extLst>
          </p:cNvPr>
          <p:cNvSpPr>
            <a:spLocks/>
          </p:cNvSpPr>
          <p:nvPr/>
        </p:nvSpPr>
        <p:spPr>
          <a:xfrm>
            <a:off x="762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14CC5B1A-57F3-744D-70DE-3B4BB0433618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0C372EFB-877E-FED4-B79C-F1D5B3198520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Why DS2 Is Unique: Extended Figures</a:t>
            </a:r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975B41E5-77D4-58D7-C50C-6EC915C08411}"/>
              </a:ext>
            </a:extLst>
          </p:cNvPr>
          <p:cNvSpPr/>
          <p:nvPr/>
        </p:nvSpPr>
        <p:spPr>
          <a:xfrm rot="5400000">
            <a:off x="11338844" y="6706529"/>
            <a:ext cx="304801" cy="120015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734B41FB-A5DF-1BC0-0C3D-2A024F1D028E}"/>
              </a:ext>
            </a:extLst>
          </p:cNvPr>
          <p:cNvSpPr>
            <a:spLocks/>
          </p:cNvSpPr>
          <p:nvPr/>
        </p:nvSpPr>
        <p:spPr>
          <a:xfrm>
            <a:off x="76200" y="17526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3c, f (Neural State): DS2 neural dynamics map to arousal</a:t>
            </a:r>
          </a:p>
        </p:txBody>
      </p:sp>
      <p:sp>
        <p:nvSpPr>
          <p:cNvPr id="23" name="!!M6">
            <a:extLst>
              <a:ext uri="{FF2B5EF4-FFF2-40B4-BE49-F238E27FC236}">
                <a16:creationId xmlns:a16="http://schemas.microsoft.com/office/drawing/2014/main" id="{25A4700A-C1E6-AB30-28B8-99FBAE1AF06D}"/>
              </a:ext>
            </a:extLst>
          </p:cNvPr>
          <p:cNvSpPr>
            <a:spLocks/>
          </p:cNvSpPr>
          <p:nvPr/>
        </p:nvSpPr>
        <p:spPr>
          <a:xfrm>
            <a:off x="76201" y="26763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3g (Sensory Tuning): Auditory stimuli selectively trigger DS2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6F9625-99F7-B6E2-E65D-7CC23D98A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7772838"/>
            <a:ext cx="3429000" cy="32761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0BA517-74B9-48E0-F675-E2FEA283F9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877" y="8064119"/>
            <a:ext cx="4650445" cy="237528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8403B78-100D-F355-5946-F28542D933C5}"/>
              </a:ext>
            </a:extLst>
          </p:cNvPr>
          <p:cNvCxnSpPr>
            <a:cxnSpLocks/>
          </p:cNvCxnSpPr>
          <p:nvPr/>
        </p:nvCxnSpPr>
        <p:spPr>
          <a:xfrm flipH="1">
            <a:off x="2133600" y="7837055"/>
            <a:ext cx="3352800" cy="31357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112601F-D0B2-D7B9-2B60-CA28E327A2D3}"/>
              </a:ext>
            </a:extLst>
          </p:cNvPr>
          <p:cNvCxnSpPr>
            <a:cxnSpLocks/>
          </p:cNvCxnSpPr>
          <p:nvPr/>
        </p:nvCxnSpPr>
        <p:spPr>
          <a:xfrm>
            <a:off x="2171700" y="7825510"/>
            <a:ext cx="3428999" cy="32234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FCADE10-E3B4-AE4D-C7A4-D2E31EA87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8268" y="1752600"/>
            <a:ext cx="5502574" cy="1909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7">
            <a:extLst>
              <a:ext uri="{FF2B5EF4-FFF2-40B4-BE49-F238E27FC236}">
                <a16:creationId xmlns:a16="http://schemas.microsoft.com/office/drawing/2014/main" id="{3D8C8CC3-30D7-1378-6D5D-01B18703D111}"/>
              </a:ext>
            </a:extLst>
          </p:cNvPr>
          <p:cNvSpPr>
            <a:spLocks/>
          </p:cNvSpPr>
          <p:nvPr/>
        </p:nvSpPr>
        <p:spPr>
          <a:xfrm>
            <a:off x="5175711" y="812260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89F3EE7E-3DE9-BCA5-A7D0-7E28FD0E20DE}"/>
              </a:ext>
            </a:extLst>
          </p:cNvPr>
          <p:cNvSpPr/>
          <p:nvPr/>
        </p:nvSpPr>
        <p:spPr>
          <a:xfrm rot="5400000">
            <a:off x="10561177" y="-2483978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!!Focus2">
            <a:extLst>
              <a:ext uri="{FF2B5EF4-FFF2-40B4-BE49-F238E27FC236}">
                <a16:creationId xmlns:a16="http://schemas.microsoft.com/office/drawing/2014/main" id="{F2BE0C65-7828-6910-288C-4E77700CE7AF}"/>
              </a:ext>
            </a:extLst>
          </p:cNvPr>
          <p:cNvSpPr/>
          <p:nvPr/>
        </p:nvSpPr>
        <p:spPr>
          <a:xfrm rot="5400000">
            <a:off x="6445936" y="-2462205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Focus3">
            <a:extLst>
              <a:ext uri="{FF2B5EF4-FFF2-40B4-BE49-F238E27FC236}">
                <a16:creationId xmlns:a16="http://schemas.microsoft.com/office/drawing/2014/main" id="{7111E659-E589-97A7-D419-FE97D2023B78}"/>
              </a:ext>
            </a:extLst>
          </p:cNvPr>
          <p:cNvSpPr/>
          <p:nvPr/>
        </p:nvSpPr>
        <p:spPr>
          <a:xfrm rot="5400000">
            <a:off x="8503778" y="-2462205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36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DF1D1-0B5E-C895-23A7-B6682B5D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18B3781-865B-B4D5-90AC-E28D40AD7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93840" y="3623505"/>
            <a:ext cx="4009491" cy="28808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334D433E-6EAB-3099-2D32-687DCDD4AEB8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E848FCDD-2374-FE6A-200B-C9FB2887E75B}"/>
              </a:ext>
            </a:extLst>
          </p:cNvPr>
          <p:cNvSpPr>
            <a:spLocks/>
          </p:cNvSpPr>
          <p:nvPr/>
        </p:nvSpPr>
        <p:spPr>
          <a:xfrm>
            <a:off x="13971668" y="3921594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348768-1530-1616-291D-2D478BE66070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N1">
            <a:extLst>
              <a:ext uri="{FF2B5EF4-FFF2-40B4-BE49-F238E27FC236}">
                <a16:creationId xmlns:a16="http://schemas.microsoft.com/office/drawing/2014/main" id="{AB94C8EC-6DF0-4415-9749-B068EC5A5A0F}"/>
              </a:ext>
            </a:extLst>
          </p:cNvPr>
          <p:cNvSpPr>
            <a:spLocks/>
          </p:cNvSpPr>
          <p:nvPr/>
        </p:nvSpPr>
        <p:spPr>
          <a:xfrm>
            <a:off x="13329111" y="1066800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1D920FE5-209D-541F-70CC-904E053D3730}"/>
              </a:ext>
            </a:extLst>
          </p:cNvPr>
          <p:cNvSpPr>
            <a:spLocks/>
          </p:cNvSpPr>
          <p:nvPr/>
        </p:nvSpPr>
        <p:spPr>
          <a:xfrm>
            <a:off x="-57912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91F0C631-2B1F-A25C-D64B-6DDFAF61BCDC}"/>
              </a:ext>
            </a:extLst>
          </p:cNvPr>
          <p:cNvSpPr/>
          <p:nvPr/>
        </p:nvSpPr>
        <p:spPr>
          <a:xfrm rot="5400000">
            <a:off x="11338844" y="6706529"/>
            <a:ext cx="304801" cy="120015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65DBFBFC-7326-5218-F595-4725A23073AC}"/>
              </a:ext>
            </a:extLst>
          </p:cNvPr>
          <p:cNvSpPr>
            <a:spLocks/>
          </p:cNvSpPr>
          <p:nvPr/>
        </p:nvSpPr>
        <p:spPr>
          <a:xfrm>
            <a:off x="-5791200" y="17526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3c, f (Neural State): DS2 neural dynamics map to arousal</a:t>
            </a:r>
          </a:p>
        </p:txBody>
      </p:sp>
      <p:sp>
        <p:nvSpPr>
          <p:cNvPr id="23" name="!!M6">
            <a:extLst>
              <a:ext uri="{FF2B5EF4-FFF2-40B4-BE49-F238E27FC236}">
                <a16:creationId xmlns:a16="http://schemas.microsoft.com/office/drawing/2014/main" id="{A79CD10D-40CB-B73A-02F7-24C729239F4A}"/>
              </a:ext>
            </a:extLst>
          </p:cNvPr>
          <p:cNvSpPr>
            <a:spLocks/>
          </p:cNvSpPr>
          <p:nvPr/>
        </p:nvSpPr>
        <p:spPr>
          <a:xfrm>
            <a:off x="-5791199" y="26763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3g (Sensory Tuning): Auditory stimuli selectively trigger DS2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869F7C-BE45-D573-58A2-1D3FC7BE5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7772838"/>
            <a:ext cx="3429000" cy="32761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1BBEA4-5A7B-FF06-8142-FAF168FD3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877" y="8064119"/>
            <a:ext cx="4650445" cy="237528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B23EAE-20FD-C94D-4274-1547797603AD}"/>
              </a:ext>
            </a:extLst>
          </p:cNvPr>
          <p:cNvCxnSpPr>
            <a:cxnSpLocks/>
          </p:cNvCxnSpPr>
          <p:nvPr/>
        </p:nvCxnSpPr>
        <p:spPr>
          <a:xfrm flipH="1">
            <a:off x="2133600" y="7837055"/>
            <a:ext cx="3352800" cy="31357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966B27-1029-DA24-F4F4-20B5C28B62D1}"/>
              </a:ext>
            </a:extLst>
          </p:cNvPr>
          <p:cNvCxnSpPr>
            <a:cxnSpLocks/>
          </p:cNvCxnSpPr>
          <p:nvPr/>
        </p:nvCxnSpPr>
        <p:spPr>
          <a:xfrm>
            <a:off x="2171700" y="7825510"/>
            <a:ext cx="3428999" cy="32234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0D4B5FD-0A53-20B6-F843-F97CDB3E0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1668" y="1752600"/>
            <a:ext cx="5502574" cy="1909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7">
            <a:extLst>
              <a:ext uri="{FF2B5EF4-FFF2-40B4-BE49-F238E27FC236}">
                <a16:creationId xmlns:a16="http://schemas.microsoft.com/office/drawing/2014/main" id="{23355FA1-0012-A93B-8FA0-3F76B48C9096}"/>
              </a:ext>
            </a:extLst>
          </p:cNvPr>
          <p:cNvSpPr>
            <a:spLocks/>
          </p:cNvSpPr>
          <p:nvPr/>
        </p:nvSpPr>
        <p:spPr>
          <a:xfrm>
            <a:off x="13323222" y="812260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4" name="!!T-BG">
            <a:extLst>
              <a:ext uri="{FF2B5EF4-FFF2-40B4-BE49-F238E27FC236}">
                <a16:creationId xmlns:a16="http://schemas.microsoft.com/office/drawing/2014/main" id="{C82D22D0-9527-C825-7A2E-23E30487108D}"/>
              </a:ext>
            </a:extLst>
          </p:cNvPr>
          <p:cNvSpPr/>
          <p:nvPr/>
        </p:nvSpPr>
        <p:spPr>
          <a:xfrm>
            <a:off x="2941178" y="6096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F1D399C5-5F85-55C6-D715-E06B4ECAB69C}"/>
              </a:ext>
            </a:extLst>
          </p:cNvPr>
          <p:cNvSpPr txBox="1">
            <a:spLocks/>
          </p:cNvSpPr>
          <p:nvPr/>
        </p:nvSpPr>
        <p:spPr>
          <a:xfrm>
            <a:off x="3067050" y="82619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Circuit Mechanisms (The Gatekeepers)</a:t>
            </a:r>
          </a:p>
        </p:txBody>
      </p:sp>
      <p:sp>
        <p:nvSpPr>
          <p:cNvPr id="32" name="!!M3">
            <a:extLst>
              <a:ext uri="{FF2B5EF4-FFF2-40B4-BE49-F238E27FC236}">
                <a16:creationId xmlns:a16="http://schemas.microsoft.com/office/drawing/2014/main" id="{DC05CF56-930B-DD18-ADE6-DD21F5F0B47A}"/>
              </a:ext>
            </a:extLst>
          </p:cNvPr>
          <p:cNvSpPr/>
          <p:nvPr/>
        </p:nvSpPr>
        <p:spPr>
          <a:xfrm>
            <a:off x="1295400" y="3505200"/>
            <a:ext cx="9982199" cy="1219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b="1" dirty="0"/>
              <a:t>The Answer:</a:t>
            </a:r>
            <a:r>
              <a:rPr lang="en-US" sz="2800" dirty="0"/>
              <a:t> Two distinct inhibitory cell types act as opposing “Gatekeepers"</a:t>
            </a:r>
          </a:p>
        </p:txBody>
      </p:sp>
      <p:sp>
        <p:nvSpPr>
          <p:cNvPr id="2" name="!!M3">
            <a:extLst>
              <a:ext uri="{FF2B5EF4-FFF2-40B4-BE49-F238E27FC236}">
                <a16:creationId xmlns:a16="http://schemas.microsoft.com/office/drawing/2014/main" id="{1A3D0A48-8758-6826-3312-1344FC4CD6C0}"/>
              </a:ext>
            </a:extLst>
          </p:cNvPr>
          <p:cNvSpPr/>
          <p:nvPr/>
        </p:nvSpPr>
        <p:spPr>
          <a:xfrm>
            <a:off x="1295400" y="3505199"/>
            <a:ext cx="9982199" cy="1219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b="1" dirty="0"/>
              <a:t>The Question: </a:t>
            </a:r>
            <a:r>
              <a:rPr lang="en-US" sz="2800" dirty="0"/>
              <a:t>How does the hippocampus toggle between "Offline" (SPW-R) and "Online" (via DS2)?</a:t>
            </a:r>
          </a:p>
        </p:txBody>
      </p:sp>
    </p:spTree>
    <p:extLst>
      <p:ext uri="{BB962C8B-B14F-4D97-AF65-F5344CB8AC3E}">
        <p14:creationId xmlns:p14="http://schemas.microsoft.com/office/powerpoint/2010/main" val="3603853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2E44A-F411-B1F6-B56D-7084CE3B8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CD3FB6-0DBC-5926-C6C8-912486E0D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93840" y="3623505"/>
            <a:ext cx="4009491" cy="28808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E6CE0AD1-413A-FCBB-38B0-B8F5F3C12B6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2DED4137-86B9-36CF-3FC0-794BE4019914}"/>
              </a:ext>
            </a:extLst>
          </p:cNvPr>
          <p:cNvSpPr>
            <a:spLocks/>
          </p:cNvSpPr>
          <p:nvPr/>
        </p:nvSpPr>
        <p:spPr>
          <a:xfrm>
            <a:off x="13971668" y="3921594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5522D2-EB49-A549-C7C9-DD6ABADDA1CE}"/>
              </a:ext>
            </a:extLst>
          </p:cNvPr>
          <p:cNvCxnSpPr/>
          <p:nvPr/>
        </p:nvCxnSpPr>
        <p:spPr>
          <a:xfrm>
            <a:off x="-3886200" y="1981200"/>
            <a:ext cx="2057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N1">
            <a:extLst>
              <a:ext uri="{FF2B5EF4-FFF2-40B4-BE49-F238E27FC236}">
                <a16:creationId xmlns:a16="http://schemas.microsoft.com/office/drawing/2014/main" id="{22EF4E3A-F88F-74D4-6ACF-7D80123B6E3D}"/>
              </a:ext>
            </a:extLst>
          </p:cNvPr>
          <p:cNvSpPr>
            <a:spLocks/>
          </p:cNvSpPr>
          <p:nvPr/>
        </p:nvSpPr>
        <p:spPr>
          <a:xfrm>
            <a:off x="13329111" y="1066800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!!M3">
            <a:extLst>
              <a:ext uri="{FF2B5EF4-FFF2-40B4-BE49-F238E27FC236}">
                <a16:creationId xmlns:a16="http://schemas.microsoft.com/office/drawing/2014/main" id="{1D190674-2406-B578-8CF0-775574674AAC}"/>
              </a:ext>
            </a:extLst>
          </p:cNvPr>
          <p:cNvSpPr>
            <a:spLocks/>
          </p:cNvSpPr>
          <p:nvPr/>
        </p:nvSpPr>
        <p:spPr>
          <a:xfrm>
            <a:off x="-5791200" y="838200"/>
            <a:ext cx="4604212" cy="794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3a, b, d, e (Motor Coupling): DS2 linked with transient physiological arousal; Ripples are absent.</a:t>
            </a:r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D34619FD-5ECC-367D-41DE-9B727D916C36}"/>
              </a:ext>
            </a:extLst>
          </p:cNvPr>
          <p:cNvSpPr/>
          <p:nvPr/>
        </p:nvSpPr>
        <p:spPr>
          <a:xfrm rot="5400000">
            <a:off x="11338844" y="6706529"/>
            <a:ext cx="304801" cy="120015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21" name="!!M4">
            <a:extLst>
              <a:ext uri="{FF2B5EF4-FFF2-40B4-BE49-F238E27FC236}">
                <a16:creationId xmlns:a16="http://schemas.microsoft.com/office/drawing/2014/main" id="{55F37FE6-22D4-1AD4-26EE-A745FAE4A572}"/>
              </a:ext>
            </a:extLst>
          </p:cNvPr>
          <p:cNvSpPr>
            <a:spLocks/>
          </p:cNvSpPr>
          <p:nvPr/>
        </p:nvSpPr>
        <p:spPr>
          <a:xfrm>
            <a:off x="-5791200" y="17526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3c, f (Neural State): DS2 neural dynamics map to arousal</a:t>
            </a:r>
          </a:p>
        </p:txBody>
      </p:sp>
      <p:sp>
        <p:nvSpPr>
          <p:cNvPr id="23" name="!!M6">
            <a:extLst>
              <a:ext uri="{FF2B5EF4-FFF2-40B4-BE49-F238E27FC236}">
                <a16:creationId xmlns:a16="http://schemas.microsoft.com/office/drawing/2014/main" id="{250524CD-4E2F-F42B-101B-A9D504F04570}"/>
              </a:ext>
            </a:extLst>
          </p:cNvPr>
          <p:cNvSpPr>
            <a:spLocks/>
          </p:cNvSpPr>
          <p:nvPr/>
        </p:nvSpPr>
        <p:spPr>
          <a:xfrm>
            <a:off x="-5791199" y="2676300"/>
            <a:ext cx="4604212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3g (Sensory Tuning): Auditory stimuli selectively trigger DS2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BED079-147C-5F6A-311F-B4ACEDCE0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7772838"/>
            <a:ext cx="3429000" cy="32761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C7FB60-E7B0-61AE-2F8C-E3BBB4F79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877" y="8064119"/>
            <a:ext cx="4650445" cy="237528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192D60B-ED0A-ADA1-BE86-762E5ECD1C3C}"/>
              </a:ext>
            </a:extLst>
          </p:cNvPr>
          <p:cNvCxnSpPr>
            <a:cxnSpLocks/>
          </p:cNvCxnSpPr>
          <p:nvPr/>
        </p:nvCxnSpPr>
        <p:spPr>
          <a:xfrm flipH="1">
            <a:off x="2133600" y="7837055"/>
            <a:ext cx="3352800" cy="31357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DDC8596-93F7-DD02-F389-3785034DAC53}"/>
              </a:ext>
            </a:extLst>
          </p:cNvPr>
          <p:cNvCxnSpPr>
            <a:cxnSpLocks/>
          </p:cNvCxnSpPr>
          <p:nvPr/>
        </p:nvCxnSpPr>
        <p:spPr>
          <a:xfrm>
            <a:off x="2171700" y="7825510"/>
            <a:ext cx="3428999" cy="322349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E8EF906-30CE-80FF-EAC6-DDBD13D8DC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1668" y="1752600"/>
            <a:ext cx="5502574" cy="1909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7">
            <a:extLst>
              <a:ext uri="{FF2B5EF4-FFF2-40B4-BE49-F238E27FC236}">
                <a16:creationId xmlns:a16="http://schemas.microsoft.com/office/drawing/2014/main" id="{B8B16A50-7DEF-1E64-056B-75820E9055D4}"/>
              </a:ext>
            </a:extLst>
          </p:cNvPr>
          <p:cNvSpPr>
            <a:spLocks/>
          </p:cNvSpPr>
          <p:nvPr/>
        </p:nvSpPr>
        <p:spPr>
          <a:xfrm>
            <a:off x="13323222" y="812260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2BB08A8F-9D19-FDAD-29C1-C63657F790E5}"/>
              </a:ext>
            </a:extLst>
          </p:cNvPr>
          <p:cNvSpPr/>
          <p:nvPr/>
        </p:nvSpPr>
        <p:spPr>
          <a:xfrm rot="5400000">
            <a:off x="10561177" y="6638247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!!Focus2">
            <a:extLst>
              <a:ext uri="{FF2B5EF4-FFF2-40B4-BE49-F238E27FC236}">
                <a16:creationId xmlns:a16="http://schemas.microsoft.com/office/drawing/2014/main" id="{ACD9D746-6CC7-6835-B8FD-2D6AF94A3555}"/>
              </a:ext>
            </a:extLst>
          </p:cNvPr>
          <p:cNvSpPr/>
          <p:nvPr/>
        </p:nvSpPr>
        <p:spPr>
          <a:xfrm rot="5400000">
            <a:off x="6445936" y="6660020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Focus3">
            <a:extLst>
              <a:ext uri="{FF2B5EF4-FFF2-40B4-BE49-F238E27FC236}">
                <a16:creationId xmlns:a16="http://schemas.microsoft.com/office/drawing/2014/main" id="{B105D15C-DC84-4218-1BB7-919991A43DBB}"/>
              </a:ext>
            </a:extLst>
          </p:cNvPr>
          <p:cNvSpPr/>
          <p:nvPr/>
        </p:nvSpPr>
        <p:spPr>
          <a:xfrm rot="5400000">
            <a:off x="8503778" y="6660020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!!T-BG">
            <a:extLst>
              <a:ext uri="{FF2B5EF4-FFF2-40B4-BE49-F238E27FC236}">
                <a16:creationId xmlns:a16="http://schemas.microsoft.com/office/drawing/2014/main" id="{D988BFCD-254F-817C-5D10-A53FE241D794}"/>
              </a:ext>
            </a:extLst>
          </p:cNvPr>
          <p:cNvSpPr/>
          <p:nvPr/>
        </p:nvSpPr>
        <p:spPr>
          <a:xfrm>
            <a:off x="2941178" y="6096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832220D7-0DA7-7CE9-CAAB-0D80489CE735}"/>
              </a:ext>
            </a:extLst>
          </p:cNvPr>
          <p:cNvSpPr txBox="1">
            <a:spLocks/>
          </p:cNvSpPr>
          <p:nvPr/>
        </p:nvSpPr>
        <p:spPr>
          <a:xfrm>
            <a:off x="3067050" y="82619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Circuit Mechanisms (The Gatekeepers)</a:t>
            </a:r>
          </a:p>
        </p:txBody>
      </p:sp>
      <p:sp>
        <p:nvSpPr>
          <p:cNvPr id="32" name="!!M3">
            <a:extLst>
              <a:ext uri="{FF2B5EF4-FFF2-40B4-BE49-F238E27FC236}">
                <a16:creationId xmlns:a16="http://schemas.microsoft.com/office/drawing/2014/main" id="{66EE33B6-FE6B-528E-64C7-2B90AE464632}"/>
              </a:ext>
            </a:extLst>
          </p:cNvPr>
          <p:cNvSpPr/>
          <p:nvPr/>
        </p:nvSpPr>
        <p:spPr>
          <a:xfrm>
            <a:off x="1295400" y="4876799"/>
            <a:ext cx="9982199" cy="1219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b="1" dirty="0"/>
              <a:t>The Answer:</a:t>
            </a:r>
            <a:r>
              <a:rPr lang="en-US" sz="2800" dirty="0"/>
              <a:t> Two distinct inhibitory cell types act as opposing “Gatekeepers"</a:t>
            </a:r>
          </a:p>
        </p:txBody>
      </p:sp>
      <p:sp>
        <p:nvSpPr>
          <p:cNvPr id="20" name="!!M3">
            <a:extLst>
              <a:ext uri="{FF2B5EF4-FFF2-40B4-BE49-F238E27FC236}">
                <a16:creationId xmlns:a16="http://schemas.microsoft.com/office/drawing/2014/main" id="{54DDC191-B3E6-2697-A771-0DDA06FC82F0}"/>
              </a:ext>
            </a:extLst>
          </p:cNvPr>
          <p:cNvSpPr/>
          <p:nvPr/>
        </p:nvSpPr>
        <p:spPr>
          <a:xfrm>
            <a:off x="1295400" y="3505199"/>
            <a:ext cx="9982199" cy="1219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b="1" dirty="0"/>
              <a:t>The Question: </a:t>
            </a:r>
            <a:r>
              <a:rPr lang="en-US" sz="2800" dirty="0"/>
              <a:t>How does the hippocampus toggle between "Offline" (SPW-R) and "Online" (via DS2)?</a:t>
            </a:r>
          </a:p>
        </p:txBody>
      </p:sp>
      <p:pic>
        <p:nvPicPr>
          <p:cNvPr id="5" name="Picture 2" descr="Unexpected Situations Trigger Chandelier Cell Activity">
            <a:extLst>
              <a:ext uri="{FF2B5EF4-FFF2-40B4-BE49-F238E27FC236}">
                <a16:creationId xmlns:a16="http://schemas.microsoft.com/office/drawing/2014/main" id="{D00037E7-F33B-34F5-F670-BC45D6A9EE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-5943600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D30481-7B77-5424-EA3C-66EE3124F0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159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CB5B2AC-174F-0202-2B33-B1F2B0509F53}"/>
              </a:ext>
            </a:extLst>
          </p:cNvPr>
          <p:cNvSpPr txBox="1"/>
          <p:nvPr/>
        </p:nvSpPr>
        <p:spPr>
          <a:xfrm>
            <a:off x="-5929470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AACs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A6A910-C167-17B3-8D16-ACECB26C7D54}"/>
              </a:ext>
            </a:extLst>
          </p:cNvPr>
          <p:cNvSpPr txBox="1"/>
          <p:nvPr/>
        </p:nvSpPr>
        <p:spPr>
          <a:xfrm>
            <a:off x="129159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3280484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6A521-6D5C-E3EB-ED49-26D837DC8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A6BB96FC-792D-8BFF-4F13-00BA9821F16A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469C7646-518F-F50E-D54F-5D25310C660D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12353567-383F-AAE1-37A3-B586E7B0033B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</a:t>
            </a:r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D09B6C47-5232-306A-0080-8C3B5AC37896}"/>
              </a:ext>
            </a:extLst>
          </p:cNvPr>
          <p:cNvSpPr/>
          <p:nvPr/>
        </p:nvSpPr>
        <p:spPr>
          <a:xfrm rot="5400000">
            <a:off x="1809901" y="7041022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M3">
            <a:extLst>
              <a:ext uri="{FF2B5EF4-FFF2-40B4-BE49-F238E27FC236}">
                <a16:creationId xmlns:a16="http://schemas.microsoft.com/office/drawing/2014/main" id="{5E1A526C-151F-DA47-3D62-06A22C1546CE}"/>
              </a:ext>
            </a:extLst>
          </p:cNvPr>
          <p:cNvSpPr/>
          <p:nvPr/>
        </p:nvSpPr>
        <p:spPr>
          <a:xfrm>
            <a:off x="1295400" y="914400"/>
            <a:ext cx="9982199" cy="9144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55000" lnSpcReduction="20000"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b="1" dirty="0"/>
              <a:t>The Question: </a:t>
            </a:r>
            <a:r>
              <a:rPr lang="en-US" sz="2800" dirty="0"/>
              <a:t>How does the hippocampus toggle between “Offline" (SPW-R) and “Online" (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dirty="0"/>
              <a:t>)?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DA56DDA6-C520-7424-A3BD-AF3F9EBBF048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3C0B214F-8C73-EEEA-F031-C629333780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609599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CC6B090-1B71-2F0F-DC3A-E1B41B7E0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4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9DF9120E-E72E-042A-F125-3BEFB25EBF24}"/>
              </a:ext>
            </a:extLst>
          </p:cNvPr>
          <p:cNvSpPr txBox="1"/>
          <p:nvPr/>
        </p:nvSpPr>
        <p:spPr>
          <a:xfrm>
            <a:off x="623729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159F54-248D-4263-671C-FEDC817A7B9F}"/>
              </a:ext>
            </a:extLst>
          </p:cNvPr>
          <p:cNvSpPr txBox="1"/>
          <p:nvPr/>
        </p:nvSpPr>
        <p:spPr>
          <a:xfrm>
            <a:off x="6591303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C78B71D6-50A1-D7F0-7EAC-A5EEA8079EE8}"/>
              </a:ext>
            </a:extLst>
          </p:cNvPr>
          <p:cNvSpPr>
            <a:spLocks/>
          </p:cNvSpPr>
          <p:nvPr/>
        </p:nvSpPr>
        <p:spPr>
          <a:xfrm>
            <a:off x="12741506" y="990599"/>
            <a:ext cx="5317894" cy="183577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The Identity: </a:t>
            </a:r>
            <a:r>
              <a:rPr lang="en-US" sz="3200" dirty="0">
                <a:solidFill>
                  <a:srgbClr val="FF0000"/>
                </a:solidFill>
              </a:rPr>
              <a:t>Inhibitory interneurons visually famous for their chandelier-like shape</a:t>
            </a:r>
          </a:p>
        </p:txBody>
      </p:sp>
      <p:pic>
        <p:nvPicPr>
          <p:cNvPr id="6" name="Picture 2" descr="Hippocamoal Formation">
            <a:extLst>
              <a:ext uri="{FF2B5EF4-FFF2-40B4-BE49-F238E27FC236}">
                <a16:creationId xmlns:a16="http://schemas.microsoft.com/office/drawing/2014/main" id="{B3E87BE5-B851-4836-CF06-01034666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8401050"/>
            <a:ext cx="3009900" cy="333375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0A3138-FBFD-CB57-76F4-490A70E0F716}"/>
              </a:ext>
            </a:extLst>
          </p:cNvPr>
          <p:cNvCxnSpPr>
            <a:cxnSpLocks/>
          </p:cNvCxnSpPr>
          <p:nvPr/>
        </p:nvCxnSpPr>
        <p:spPr>
          <a:xfrm flipH="1">
            <a:off x="9296400" y="9746622"/>
            <a:ext cx="10668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1">
            <a:extLst>
              <a:ext uri="{FF2B5EF4-FFF2-40B4-BE49-F238E27FC236}">
                <a16:creationId xmlns:a16="http://schemas.microsoft.com/office/drawing/2014/main" id="{5951AD4F-B7A6-1003-8699-3291ACB6EB48}"/>
              </a:ext>
            </a:extLst>
          </p:cNvPr>
          <p:cNvSpPr>
            <a:spLocks/>
          </p:cNvSpPr>
          <p:nvPr/>
        </p:nvSpPr>
        <p:spPr>
          <a:xfrm>
            <a:off x="10139266" y="9462038"/>
            <a:ext cx="1943100" cy="56916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YOU ARE HERE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450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950AD-B07E-4D29-901F-5443D70E4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4818413B-99A2-77C5-4C59-12D429042760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4A38760A-745D-5273-D70B-BE7BB55E0ACC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76EFD5C7-B9C9-2555-1241-B6F3DC38C4F4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</a:t>
            </a:r>
          </a:p>
        </p:txBody>
      </p:sp>
      <p:sp>
        <p:nvSpPr>
          <p:cNvPr id="16" name="!!M3">
            <a:extLst>
              <a:ext uri="{FF2B5EF4-FFF2-40B4-BE49-F238E27FC236}">
                <a16:creationId xmlns:a16="http://schemas.microsoft.com/office/drawing/2014/main" id="{95F8FDD6-2AD6-4743-60DF-30B372B402DE}"/>
              </a:ext>
            </a:extLst>
          </p:cNvPr>
          <p:cNvSpPr/>
          <p:nvPr/>
        </p:nvSpPr>
        <p:spPr>
          <a:xfrm>
            <a:off x="1295400" y="914400"/>
            <a:ext cx="9982199" cy="9144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10000"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b="1" dirty="0"/>
              <a:t>The Question: </a:t>
            </a:r>
            <a:r>
              <a:rPr lang="en-US" sz="2800" dirty="0"/>
              <a:t>How does the hippocampus toggle between “Offline" (SPW-R) and “Online" (DS2)?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F9CFDD8E-506A-D336-C41D-59DC7F8C5754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CD19C8D1-89BD-D415-E8FB-7D87B5B31D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609599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691A30B-2A79-F44C-C7BF-889A8B9D88A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91304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7E137CDE-27A0-12F5-E066-A02A799BF1AB}"/>
              </a:ext>
            </a:extLst>
          </p:cNvPr>
          <p:cNvSpPr txBox="1"/>
          <p:nvPr/>
        </p:nvSpPr>
        <p:spPr>
          <a:xfrm>
            <a:off x="623729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FF451D-F231-1FD7-AA39-48B4CA250482}"/>
              </a:ext>
            </a:extLst>
          </p:cNvPr>
          <p:cNvSpPr txBox="1"/>
          <p:nvPr/>
        </p:nvSpPr>
        <p:spPr>
          <a:xfrm>
            <a:off x="6591303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94C4BCA8-9DF6-D912-2767-81B308A470A4}"/>
              </a:ext>
            </a:extLst>
          </p:cNvPr>
          <p:cNvSpPr>
            <a:spLocks/>
          </p:cNvSpPr>
          <p:nvPr/>
        </p:nvSpPr>
        <p:spPr>
          <a:xfrm>
            <a:off x="12741506" y="990599"/>
            <a:ext cx="5317894" cy="183577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The Identity: </a:t>
            </a:r>
            <a:r>
              <a:rPr lang="en-US" sz="3200" dirty="0">
                <a:solidFill>
                  <a:srgbClr val="FF0000"/>
                </a:solidFill>
              </a:rPr>
              <a:t>Inhibitory interneurons visually famous for their chandelier-like shape</a:t>
            </a:r>
          </a:p>
        </p:txBody>
      </p:sp>
      <p:pic>
        <p:nvPicPr>
          <p:cNvPr id="6" name="Picture 2" descr="Hippocamoal Formation">
            <a:extLst>
              <a:ext uri="{FF2B5EF4-FFF2-40B4-BE49-F238E27FC236}">
                <a16:creationId xmlns:a16="http://schemas.microsoft.com/office/drawing/2014/main" id="{70582B4F-9627-1656-5BE5-00A777270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8401050"/>
            <a:ext cx="3009900" cy="333375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29C0C9-FE92-800E-CF77-A9351B58AA40}"/>
              </a:ext>
            </a:extLst>
          </p:cNvPr>
          <p:cNvCxnSpPr>
            <a:cxnSpLocks/>
          </p:cNvCxnSpPr>
          <p:nvPr/>
        </p:nvCxnSpPr>
        <p:spPr>
          <a:xfrm flipH="1">
            <a:off x="9296400" y="9746622"/>
            <a:ext cx="10668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1">
            <a:extLst>
              <a:ext uri="{FF2B5EF4-FFF2-40B4-BE49-F238E27FC236}">
                <a16:creationId xmlns:a16="http://schemas.microsoft.com/office/drawing/2014/main" id="{7E60D3E8-3CBC-FFB0-589D-9017B72F1543}"/>
              </a:ext>
            </a:extLst>
          </p:cNvPr>
          <p:cNvSpPr>
            <a:spLocks/>
          </p:cNvSpPr>
          <p:nvPr/>
        </p:nvSpPr>
        <p:spPr>
          <a:xfrm>
            <a:off x="10139266" y="9462038"/>
            <a:ext cx="1943100" cy="56916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YOU ARE HERE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70ED4D67-B1BB-5A48-FFE9-7B92837238AA}"/>
              </a:ext>
            </a:extLst>
          </p:cNvPr>
          <p:cNvSpPr/>
          <p:nvPr/>
        </p:nvSpPr>
        <p:spPr>
          <a:xfrm rot="5400000">
            <a:off x="1809901" y="7041022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754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AEAE-8B6F-0C36-E125-2198D3A6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4E9957B9-C06C-5C20-201A-181F76716B2E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508637CF-6494-BA95-20DB-9D99D0ADF643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BD5C0110-857B-C112-5F65-2289BF5B980A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AACs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736D5941-B6F4-7805-938B-10597001FC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152400" y="1482342"/>
            <a:ext cx="6172200" cy="452313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46D581B0-0F76-1FEC-84AA-7CF663B3C15E}"/>
              </a:ext>
            </a:extLst>
          </p:cNvPr>
          <p:cNvSpPr txBox="1"/>
          <p:nvPr/>
        </p:nvSpPr>
        <p:spPr>
          <a:xfrm>
            <a:off x="166530" y="846652"/>
            <a:ext cx="617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AAC</a:t>
            </a:r>
            <a:endParaRPr lang="en-US" sz="3200" b="1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6640FE-4D63-4779-BA9C-55F89CF91608}"/>
              </a:ext>
            </a:extLst>
          </p:cNvPr>
          <p:cNvSpPr txBox="1"/>
          <p:nvPr/>
        </p:nvSpPr>
        <p:spPr>
          <a:xfrm>
            <a:off x="13563604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44ABFA02-4F92-7691-007D-34186E757680}"/>
              </a:ext>
            </a:extLst>
          </p:cNvPr>
          <p:cNvSpPr/>
          <p:nvPr/>
        </p:nvSpPr>
        <p:spPr>
          <a:xfrm rot="5400000">
            <a:off x="29576" y="1782176"/>
            <a:ext cx="4360448" cy="3962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2AA47677-21A1-42A6-CE01-38FAA36936FD}"/>
              </a:ext>
            </a:extLst>
          </p:cNvPr>
          <p:cNvSpPr>
            <a:spLocks/>
          </p:cNvSpPr>
          <p:nvPr/>
        </p:nvSpPr>
        <p:spPr>
          <a:xfrm>
            <a:off x="6569307" y="990599"/>
            <a:ext cx="5317894" cy="183577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The Identity: </a:t>
            </a:r>
            <a:r>
              <a:rPr lang="en-US" sz="3200" dirty="0">
                <a:solidFill>
                  <a:srgbClr val="FF0000"/>
                </a:solidFill>
              </a:rPr>
              <a:t>Inhibitory interneurons visually famous for their chandelier-like shape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A1E76B63-44EE-60E4-03FA-D3FDFADAF365}"/>
              </a:ext>
            </a:extLst>
          </p:cNvPr>
          <p:cNvSpPr>
            <a:spLocks/>
          </p:cNvSpPr>
          <p:nvPr/>
        </p:nvSpPr>
        <p:spPr>
          <a:xfrm>
            <a:off x="12496800" y="19812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The "Choke Point" Control</a:t>
            </a:r>
            <a:r>
              <a:rPr lang="en-US" sz="3200" dirty="0">
                <a:solidFill>
                  <a:srgbClr val="FF0000"/>
                </a:solidFill>
              </a:rPr>
              <a:t>: Synapse directly on Axon Initial Segment (AIS), granting them ultimate veto power to stop a signal.</a:t>
            </a:r>
          </a:p>
        </p:txBody>
      </p:sp>
      <p:pic>
        <p:nvPicPr>
          <p:cNvPr id="1026" name="Picture 2" descr="Hippocamoal Formation">
            <a:extLst>
              <a:ext uri="{FF2B5EF4-FFF2-40B4-BE49-F238E27FC236}">
                <a16:creationId xmlns:a16="http://schemas.microsoft.com/office/drawing/2014/main" id="{CC4E45A9-D2A9-EB21-49AB-031A962AB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3150228"/>
            <a:ext cx="3009900" cy="333375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529B45-D3DF-5C0D-B051-064CFEE9F3BE}"/>
              </a:ext>
            </a:extLst>
          </p:cNvPr>
          <p:cNvCxnSpPr>
            <a:cxnSpLocks/>
          </p:cNvCxnSpPr>
          <p:nvPr/>
        </p:nvCxnSpPr>
        <p:spPr>
          <a:xfrm flipH="1">
            <a:off x="9296400" y="4495800"/>
            <a:ext cx="10668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!!M1">
            <a:extLst>
              <a:ext uri="{FF2B5EF4-FFF2-40B4-BE49-F238E27FC236}">
                <a16:creationId xmlns:a16="http://schemas.microsoft.com/office/drawing/2014/main" id="{505F9358-7206-C8C9-0E78-7715F5AA499B}"/>
              </a:ext>
            </a:extLst>
          </p:cNvPr>
          <p:cNvSpPr>
            <a:spLocks/>
          </p:cNvSpPr>
          <p:nvPr/>
        </p:nvSpPr>
        <p:spPr>
          <a:xfrm>
            <a:off x="10139266" y="4211216"/>
            <a:ext cx="1943100" cy="56916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YOU ARE HERE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140F81-1874-020C-95A6-7310290856A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4493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38830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F0AC-D6A2-93A0-5D01-664D8E8E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2767C9BE-13D7-9C82-439E-67329F681F4F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267E8549-502E-91EC-D0E3-E132A00FABD8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D0A73863-8BD5-30DF-3D91-E9B02AFE35B5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AACs</a:t>
            </a:r>
          </a:p>
        </p:txBody>
      </p:sp>
      <p:sp>
        <p:nvSpPr>
          <p:cNvPr id="10" name="!!N1">
            <a:extLst>
              <a:ext uri="{FF2B5EF4-FFF2-40B4-BE49-F238E27FC236}">
                <a16:creationId xmlns:a16="http://schemas.microsoft.com/office/drawing/2014/main" id="{E176BB8D-87EB-0703-D5D4-9F3E07F455E7}"/>
              </a:ext>
            </a:extLst>
          </p:cNvPr>
          <p:cNvSpPr>
            <a:spLocks/>
          </p:cNvSpPr>
          <p:nvPr/>
        </p:nvSpPr>
        <p:spPr>
          <a:xfrm>
            <a:off x="12741506" y="3886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CA1 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FCE28FB8-C93E-0265-693A-19F2BBBF26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152400" y="1482342"/>
            <a:ext cx="6172200" cy="452313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21AD10B-B8B8-6BD4-470F-1E9BC3612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0884E50-3D81-2280-536C-6DA05700EDAB}"/>
              </a:ext>
            </a:extLst>
          </p:cNvPr>
          <p:cNvSpPr txBox="1"/>
          <p:nvPr/>
        </p:nvSpPr>
        <p:spPr>
          <a:xfrm>
            <a:off x="13563604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86018C33-4E39-DE48-95F3-B6D3D46796B3}"/>
              </a:ext>
            </a:extLst>
          </p:cNvPr>
          <p:cNvSpPr/>
          <p:nvPr/>
        </p:nvSpPr>
        <p:spPr>
          <a:xfrm rot="5400000">
            <a:off x="4343400" y="2667000"/>
            <a:ext cx="685800" cy="2971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A1FE7D08-9914-472B-9BD5-487F8D88CD7E}"/>
              </a:ext>
            </a:extLst>
          </p:cNvPr>
          <p:cNvSpPr>
            <a:spLocks/>
          </p:cNvSpPr>
          <p:nvPr/>
        </p:nvSpPr>
        <p:spPr>
          <a:xfrm>
            <a:off x="6569307" y="990599"/>
            <a:ext cx="5317894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Identity: Inhibitory interneurons visually famous for their chandelier-like shape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F28A2F3C-3FD3-E5DB-1901-BA5763C0202D}"/>
              </a:ext>
            </a:extLst>
          </p:cNvPr>
          <p:cNvSpPr>
            <a:spLocks/>
          </p:cNvSpPr>
          <p:nvPr/>
        </p:nvSpPr>
        <p:spPr>
          <a:xfrm>
            <a:off x="6569307" y="19812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The "Choke Point" Control</a:t>
            </a:r>
            <a:r>
              <a:rPr lang="en-US" sz="3200" dirty="0">
                <a:solidFill>
                  <a:srgbClr val="FF0000"/>
                </a:solidFill>
              </a:rPr>
              <a:t>: Synapse directly on Axon Initial Segment (AIS), granting them ultimate veto power to stop a signal.</a:t>
            </a:r>
          </a:p>
        </p:txBody>
      </p:sp>
      <p:sp>
        <p:nvSpPr>
          <p:cNvPr id="7" name="!!M3">
            <a:extLst>
              <a:ext uri="{FF2B5EF4-FFF2-40B4-BE49-F238E27FC236}">
                <a16:creationId xmlns:a16="http://schemas.microsoft.com/office/drawing/2014/main" id="{84467007-DB98-6884-0720-F7328AB64D48}"/>
              </a:ext>
            </a:extLst>
          </p:cNvPr>
          <p:cNvSpPr>
            <a:spLocks/>
          </p:cNvSpPr>
          <p:nvPr/>
        </p:nvSpPr>
        <p:spPr>
          <a:xfrm>
            <a:off x="12741506" y="31242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The Main Output:</a:t>
            </a:r>
            <a:r>
              <a:rPr lang="en-US" sz="3200" dirty="0">
                <a:solidFill>
                  <a:srgbClr val="FF0000"/>
                </a:solidFill>
              </a:rPr>
              <a:t> CA1 Pyramidal neurons broadcast all navigation and memory signals. (A.K.A: Place Cells)</a:t>
            </a:r>
          </a:p>
        </p:txBody>
      </p:sp>
      <p:pic>
        <p:nvPicPr>
          <p:cNvPr id="4" name="Picture 2" descr="Hippocamoal Formation">
            <a:extLst>
              <a:ext uri="{FF2B5EF4-FFF2-40B4-BE49-F238E27FC236}">
                <a16:creationId xmlns:a16="http://schemas.microsoft.com/office/drawing/2014/main" id="{2EA28865-D3FE-5CA2-D387-9E55E5715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99" y="7791450"/>
            <a:ext cx="3009900" cy="333375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1A0693-0C58-2A9E-AD89-9DF70B5B6063}"/>
              </a:ext>
            </a:extLst>
          </p:cNvPr>
          <p:cNvCxnSpPr>
            <a:cxnSpLocks/>
          </p:cNvCxnSpPr>
          <p:nvPr/>
        </p:nvCxnSpPr>
        <p:spPr>
          <a:xfrm flipH="1">
            <a:off x="9296400" y="9137022"/>
            <a:ext cx="10668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!!M1">
            <a:extLst>
              <a:ext uri="{FF2B5EF4-FFF2-40B4-BE49-F238E27FC236}">
                <a16:creationId xmlns:a16="http://schemas.microsoft.com/office/drawing/2014/main" id="{C3A6B2AF-3C7D-4AE2-E790-0F37B8D9EB03}"/>
              </a:ext>
            </a:extLst>
          </p:cNvPr>
          <p:cNvSpPr>
            <a:spLocks/>
          </p:cNvSpPr>
          <p:nvPr/>
        </p:nvSpPr>
        <p:spPr>
          <a:xfrm>
            <a:off x="10139266" y="8852438"/>
            <a:ext cx="1943100" cy="56916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YOU ARE HERE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1" name="!!TextBox 25">
            <a:extLst>
              <a:ext uri="{FF2B5EF4-FFF2-40B4-BE49-F238E27FC236}">
                <a16:creationId xmlns:a16="http://schemas.microsoft.com/office/drawing/2014/main" id="{BE3F8FEA-EBE2-8DF6-64AF-50205697493A}"/>
              </a:ext>
            </a:extLst>
          </p:cNvPr>
          <p:cNvSpPr txBox="1"/>
          <p:nvPr/>
        </p:nvSpPr>
        <p:spPr>
          <a:xfrm>
            <a:off x="166530" y="846652"/>
            <a:ext cx="617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AAC</a:t>
            </a:r>
            <a:endParaRPr lang="en-US" sz="3200" b="1" i="1" dirty="0"/>
          </a:p>
        </p:txBody>
      </p:sp>
    </p:spTree>
    <p:extLst>
      <p:ext uri="{BB962C8B-B14F-4D97-AF65-F5344CB8AC3E}">
        <p14:creationId xmlns:p14="http://schemas.microsoft.com/office/powerpoint/2010/main" val="3825981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4ED48-74EA-4E9B-5681-922007F7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184D3966-FFAC-52DE-CD6E-39AF7318DEE2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095315EB-AC98-C4F3-E6E0-8B6B61ADC70C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1A61BCA0-1C8F-E6EF-4255-7B16A524E73B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AACs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491FC1C9-B1AA-E967-E8DE-9A21117888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152400" y="1482342"/>
            <a:ext cx="6172200" cy="452313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18BDA2A-89B9-DBAE-0216-31013B4C5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8726F35-57F0-3BCC-65D8-7FFF38D23655}"/>
              </a:ext>
            </a:extLst>
          </p:cNvPr>
          <p:cNvSpPr txBox="1"/>
          <p:nvPr/>
        </p:nvSpPr>
        <p:spPr>
          <a:xfrm>
            <a:off x="13563604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22A5C7CA-2B62-6594-F775-0C1A9F00F451}"/>
              </a:ext>
            </a:extLst>
          </p:cNvPr>
          <p:cNvSpPr/>
          <p:nvPr/>
        </p:nvSpPr>
        <p:spPr>
          <a:xfrm rot="5400000">
            <a:off x="2663039" y="2053440"/>
            <a:ext cx="3970321" cy="3048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!!N1">
            <a:extLst>
              <a:ext uri="{FF2B5EF4-FFF2-40B4-BE49-F238E27FC236}">
                <a16:creationId xmlns:a16="http://schemas.microsoft.com/office/drawing/2014/main" id="{A78509B0-8334-60D7-DA7F-3F5F591E9D5A}"/>
              </a:ext>
            </a:extLst>
          </p:cNvPr>
          <p:cNvSpPr>
            <a:spLocks/>
          </p:cNvSpPr>
          <p:nvPr/>
        </p:nvSpPr>
        <p:spPr>
          <a:xfrm>
            <a:off x="6566926" y="4085988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CA1 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3A93DAF0-2E2A-3B8B-54D6-86F470E076BD}"/>
              </a:ext>
            </a:extLst>
          </p:cNvPr>
          <p:cNvSpPr>
            <a:spLocks/>
          </p:cNvSpPr>
          <p:nvPr/>
        </p:nvSpPr>
        <p:spPr>
          <a:xfrm>
            <a:off x="6569307" y="990599"/>
            <a:ext cx="5317894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Identity: Inhibitory interneurons visually famous for their chandelier-like shape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FA685CED-9B92-AC9C-A6FD-A1C48EA8149F}"/>
              </a:ext>
            </a:extLst>
          </p:cNvPr>
          <p:cNvSpPr>
            <a:spLocks/>
          </p:cNvSpPr>
          <p:nvPr/>
        </p:nvSpPr>
        <p:spPr>
          <a:xfrm>
            <a:off x="6569307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"Choke Point" Control: Synapse directly on Axon Initial Segment (AIS), granting them ultimate veto power to stop a signal.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7C098E3C-A09B-C7F8-301B-876E9197C480}"/>
              </a:ext>
            </a:extLst>
          </p:cNvPr>
          <p:cNvSpPr>
            <a:spLocks/>
          </p:cNvSpPr>
          <p:nvPr/>
        </p:nvSpPr>
        <p:spPr>
          <a:xfrm>
            <a:off x="6569307" y="3124199"/>
            <a:ext cx="5317894" cy="24384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The Main Output: </a:t>
            </a:r>
            <a:r>
              <a:rPr lang="en-US" sz="3200" dirty="0">
                <a:solidFill>
                  <a:srgbClr val="FF0000"/>
                </a:solidFill>
              </a:rPr>
              <a:t>CA1 Pyramidal neurons broadcast all navigation and memory signals. (A.K.A: Place Cells)</a:t>
            </a:r>
          </a:p>
        </p:txBody>
      </p:sp>
      <p:sp>
        <p:nvSpPr>
          <p:cNvPr id="8" name="!!M4">
            <a:extLst>
              <a:ext uri="{FF2B5EF4-FFF2-40B4-BE49-F238E27FC236}">
                <a16:creationId xmlns:a16="http://schemas.microsoft.com/office/drawing/2014/main" id="{CF0B4ECA-D36C-6115-1627-9145D87AD401}"/>
              </a:ext>
            </a:extLst>
          </p:cNvPr>
          <p:cNvSpPr>
            <a:spLocks/>
          </p:cNvSpPr>
          <p:nvPr/>
        </p:nvSpPr>
        <p:spPr>
          <a:xfrm>
            <a:off x="128177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AC3BEAF-7063-7AF9-F8F9-0BF1151DC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-5194300"/>
            <a:ext cx="3850742" cy="4953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!!Focus2">
            <a:extLst>
              <a:ext uri="{FF2B5EF4-FFF2-40B4-BE49-F238E27FC236}">
                <a16:creationId xmlns:a16="http://schemas.microsoft.com/office/drawing/2014/main" id="{4D1A3F07-93CF-4DEF-018B-C531B348E608}"/>
              </a:ext>
            </a:extLst>
          </p:cNvPr>
          <p:cNvSpPr/>
          <p:nvPr/>
        </p:nvSpPr>
        <p:spPr>
          <a:xfrm>
            <a:off x="3125015" y="-2600100"/>
            <a:ext cx="901149" cy="78169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!!TextBox 25">
            <a:extLst>
              <a:ext uri="{FF2B5EF4-FFF2-40B4-BE49-F238E27FC236}">
                <a16:creationId xmlns:a16="http://schemas.microsoft.com/office/drawing/2014/main" id="{6A066380-C8E0-BB23-F1D6-DD89C150838F}"/>
              </a:ext>
            </a:extLst>
          </p:cNvPr>
          <p:cNvSpPr txBox="1"/>
          <p:nvPr/>
        </p:nvSpPr>
        <p:spPr>
          <a:xfrm>
            <a:off x="166530" y="846652"/>
            <a:ext cx="617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AAC</a:t>
            </a:r>
            <a:endParaRPr lang="en-US" sz="3200" b="1" i="1" dirty="0"/>
          </a:p>
        </p:txBody>
      </p:sp>
    </p:spTree>
    <p:extLst>
      <p:ext uri="{BB962C8B-B14F-4D97-AF65-F5344CB8AC3E}">
        <p14:creationId xmlns:p14="http://schemas.microsoft.com/office/powerpoint/2010/main" val="3237367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06FA0-66A5-3654-0BED-019A708E3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C95DDC06-0BC5-6F26-98F4-3297411F610D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EEE78444-9F88-DF63-6F23-87400C0DDFD5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7299C093-C591-7F25-11EB-438997F591DE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AACs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6917EF84-25CF-F9ED-9DC3-C2EDBFA75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76200" y="5117923"/>
            <a:ext cx="2240452" cy="164185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E28F717-985D-4234-24DB-29D1B3F8C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605C649F-1684-E7BE-9890-2AA064E166CD}"/>
              </a:ext>
            </a:extLst>
          </p:cNvPr>
          <p:cNvSpPr txBox="1"/>
          <p:nvPr/>
        </p:nvSpPr>
        <p:spPr>
          <a:xfrm>
            <a:off x="335452" y="4724400"/>
            <a:ext cx="1752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AAC</a:t>
            </a:r>
            <a:endParaRPr lang="en-US" sz="1600" b="1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813261-AD3B-38CF-B921-DA260892FABB}"/>
              </a:ext>
            </a:extLst>
          </p:cNvPr>
          <p:cNvSpPr txBox="1"/>
          <p:nvPr/>
        </p:nvSpPr>
        <p:spPr>
          <a:xfrm>
            <a:off x="13563604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F37545B2-DAE1-B426-01FE-3B0FE2E23F46}"/>
              </a:ext>
            </a:extLst>
          </p:cNvPr>
          <p:cNvSpPr/>
          <p:nvPr/>
        </p:nvSpPr>
        <p:spPr>
          <a:xfrm rot="5400000">
            <a:off x="1010915" y="5515717"/>
            <a:ext cx="1441192" cy="86548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5EBAB47B-C8A1-A8E8-6379-BCD42E11F5C5}"/>
              </a:ext>
            </a:extLst>
          </p:cNvPr>
          <p:cNvSpPr>
            <a:spLocks/>
          </p:cNvSpPr>
          <p:nvPr/>
        </p:nvSpPr>
        <p:spPr>
          <a:xfrm>
            <a:off x="6569307" y="990599"/>
            <a:ext cx="5317894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Identity: Inhibitory interneurons visually famous for their chandelier-like shape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2098DB93-5567-5153-2D7C-2F8218150BD2}"/>
              </a:ext>
            </a:extLst>
          </p:cNvPr>
          <p:cNvSpPr>
            <a:spLocks/>
          </p:cNvSpPr>
          <p:nvPr/>
        </p:nvSpPr>
        <p:spPr>
          <a:xfrm>
            <a:off x="6569307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"Choke Point" Control: Synapse directly on Axon Initial Segment (AIS), granting them ultimate veto power to stop a signal.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6D261C3E-ABFD-CF3D-D86A-EA3F2E0F2C5F}"/>
              </a:ext>
            </a:extLst>
          </p:cNvPr>
          <p:cNvSpPr>
            <a:spLocks/>
          </p:cNvSpPr>
          <p:nvPr/>
        </p:nvSpPr>
        <p:spPr>
          <a:xfrm>
            <a:off x="6569307" y="3124199"/>
            <a:ext cx="5317894" cy="24384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The Main Output: </a:t>
            </a:r>
            <a:r>
              <a:rPr lang="en-US" sz="3200" dirty="0">
                <a:solidFill>
                  <a:srgbClr val="FF0000"/>
                </a:solidFill>
              </a:rPr>
              <a:t>CA1 Pyramidal neurons broadcast all navigation and memory signals. (A.K.A: Place Cells)</a:t>
            </a:r>
          </a:p>
        </p:txBody>
      </p:sp>
      <p:sp>
        <p:nvSpPr>
          <p:cNvPr id="8" name="!!M4">
            <a:extLst>
              <a:ext uri="{FF2B5EF4-FFF2-40B4-BE49-F238E27FC236}">
                <a16:creationId xmlns:a16="http://schemas.microsoft.com/office/drawing/2014/main" id="{F1CBAF36-04FA-822E-0C26-061E00A4F2CD}"/>
              </a:ext>
            </a:extLst>
          </p:cNvPr>
          <p:cNvSpPr>
            <a:spLocks/>
          </p:cNvSpPr>
          <p:nvPr/>
        </p:nvSpPr>
        <p:spPr>
          <a:xfrm>
            <a:off x="128177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8920612-6095-B9CF-B6BE-33FAECB03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768036"/>
            <a:ext cx="4595800" cy="591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!!Focus2">
            <a:extLst>
              <a:ext uri="{FF2B5EF4-FFF2-40B4-BE49-F238E27FC236}">
                <a16:creationId xmlns:a16="http://schemas.microsoft.com/office/drawing/2014/main" id="{F4A9EC1C-A42D-BB92-B29D-FB3EC7F2AA5E}"/>
              </a:ext>
            </a:extLst>
          </p:cNvPr>
          <p:cNvSpPr/>
          <p:nvPr/>
        </p:nvSpPr>
        <p:spPr>
          <a:xfrm>
            <a:off x="4572000" y="4782356"/>
            <a:ext cx="1295400" cy="78169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!!Focus2">
            <a:extLst>
              <a:ext uri="{FF2B5EF4-FFF2-40B4-BE49-F238E27FC236}">
                <a16:creationId xmlns:a16="http://schemas.microsoft.com/office/drawing/2014/main" id="{9C70DC33-5F64-70D3-0956-A1CDB27C2A7B}"/>
              </a:ext>
            </a:extLst>
          </p:cNvPr>
          <p:cNvSpPr/>
          <p:nvPr/>
        </p:nvSpPr>
        <p:spPr>
          <a:xfrm>
            <a:off x="3352800" y="1752599"/>
            <a:ext cx="533400" cy="5334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!!N1">
            <a:extLst>
              <a:ext uri="{FF2B5EF4-FFF2-40B4-BE49-F238E27FC236}">
                <a16:creationId xmlns:a16="http://schemas.microsoft.com/office/drawing/2014/main" id="{AB90201C-BC8F-038A-CC43-CD7558CB34AE}"/>
              </a:ext>
            </a:extLst>
          </p:cNvPr>
          <p:cNvSpPr>
            <a:spLocks/>
          </p:cNvSpPr>
          <p:nvPr/>
        </p:nvSpPr>
        <p:spPr>
          <a:xfrm>
            <a:off x="6566926" y="5784222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CA1 </a:t>
            </a:r>
            <a:r>
              <a:rPr lang="en-US" sz="1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164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C1FE-0078-D125-BC9F-F3978D25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06EBD46B-3EE7-25E4-D372-F59BCAB4E918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B640AF46-D672-88E8-E519-C5F5219F618B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F1FC7BF8-9E5C-FA57-9ED8-F88FA6629DB8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AACs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DEC0FE59-9768-5E47-8704-A918179827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76200" y="5117923"/>
            <a:ext cx="2240452" cy="164185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8EFD09B-5333-44DE-9124-78188E749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8BDEE504-2482-E8FE-CC4E-73EAAC64E6EC}"/>
              </a:ext>
            </a:extLst>
          </p:cNvPr>
          <p:cNvSpPr txBox="1"/>
          <p:nvPr/>
        </p:nvSpPr>
        <p:spPr>
          <a:xfrm>
            <a:off x="335452" y="4724400"/>
            <a:ext cx="1752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AAC</a:t>
            </a:r>
            <a:endParaRPr lang="en-US" sz="1600" b="1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52CF8B-3B72-54F0-C932-9114037D4B30}"/>
              </a:ext>
            </a:extLst>
          </p:cNvPr>
          <p:cNvSpPr txBox="1"/>
          <p:nvPr/>
        </p:nvSpPr>
        <p:spPr>
          <a:xfrm>
            <a:off x="13563604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6E3F55A3-0D1E-DE69-FEA8-1676B0015AB3}"/>
              </a:ext>
            </a:extLst>
          </p:cNvPr>
          <p:cNvSpPr/>
          <p:nvPr/>
        </p:nvSpPr>
        <p:spPr>
          <a:xfrm rot="5400000">
            <a:off x="1010915" y="5515717"/>
            <a:ext cx="1441192" cy="86548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!!N1">
            <a:extLst>
              <a:ext uri="{FF2B5EF4-FFF2-40B4-BE49-F238E27FC236}">
                <a16:creationId xmlns:a16="http://schemas.microsoft.com/office/drawing/2014/main" id="{C3306E4D-B907-D294-2393-A80A65753762}"/>
              </a:ext>
            </a:extLst>
          </p:cNvPr>
          <p:cNvSpPr>
            <a:spLocks/>
          </p:cNvSpPr>
          <p:nvPr/>
        </p:nvSpPr>
        <p:spPr>
          <a:xfrm>
            <a:off x="6566926" y="5784222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CA1 </a:t>
            </a:r>
            <a:r>
              <a:rPr lang="en-US" sz="1600" dirty="0">
                <a:solidFill>
                  <a:schemeClr val="bg1"/>
                </a:solidFill>
                <a:sym typeface="Wingdings" panose="05000000000000000000" pitchFamily="2" charset="2"/>
              </a:rPr>
              <a:t> Subiculum 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74754E70-0CB8-927B-7E75-1AF8455CCFC0}"/>
              </a:ext>
            </a:extLst>
          </p:cNvPr>
          <p:cNvSpPr>
            <a:spLocks/>
          </p:cNvSpPr>
          <p:nvPr/>
        </p:nvSpPr>
        <p:spPr>
          <a:xfrm>
            <a:off x="6569307" y="990599"/>
            <a:ext cx="5317894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Identity: Inhibitory interneurons visually famous for their chandelier-like shape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A0413298-55C6-81E3-3134-9C8F9272F368}"/>
              </a:ext>
            </a:extLst>
          </p:cNvPr>
          <p:cNvSpPr>
            <a:spLocks/>
          </p:cNvSpPr>
          <p:nvPr/>
        </p:nvSpPr>
        <p:spPr>
          <a:xfrm>
            <a:off x="6569307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"Choke Point" Control: Synapse directly on Axon Initial Segment (AIS), granting them ultimate veto power to stop a signal.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5BE2DB1C-7429-DDD4-4A5E-33C613A1B4B9}"/>
              </a:ext>
            </a:extLst>
          </p:cNvPr>
          <p:cNvSpPr>
            <a:spLocks/>
          </p:cNvSpPr>
          <p:nvPr/>
        </p:nvSpPr>
        <p:spPr>
          <a:xfrm>
            <a:off x="6569307" y="3124199"/>
            <a:ext cx="5317894" cy="24384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The Main Output: </a:t>
            </a:r>
            <a:r>
              <a:rPr lang="en-US" sz="3200" dirty="0">
                <a:solidFill>
                  <a:srgbClr val="FF0000"/>
                </a:solidFill>
              </a:rPr>
              <a:t>CA1 Pyramidal neurons broadcast all navigation and memory signals. (A.K.A: Place Cells)</a:t>
            </a:r>
          </a:p>
        </p:txBody>
      </p:sp>
      <p:sp>
        <p:nvSpPr>
          <p:cNvPr id="8" name="!!M4">
            <a:extLst>
              <a:ext uri="{FF2B5EF4-FFF2-40B4-BE49-F238E27FC236}">
                <a16:creationId xmlns:a16="http://schemas.microsoft.com/office/drawing/2014/main" id="{09451E76-E9FA-5452-B1BE-4473F5846675}"/>
              </a:ext>
            </a:extLst>
          </p:cNvPr>
          <p:cNvSpPr>
            <a:spLocks/>
          </p:cNvSpPr>
          <p:nvPr/>
        </p:nvSpPr>
        <p:spPr>
          <a:xfrm>
            <a:off x="128177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DB1606D-137B-3579-4DC0-1AFB05613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768036"/>
            <a:ext cx="4595800" cy="591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!!Focus2">
            <a:extLst>
              <a:ext uri="{FF2B5EF4-FFF2-40B4-BE49-F238E27FC236}">
                <a16:creationId xmlns:a16="http://schemas.microsoft.com/office/drawing/2014/main" id="{2F98163C-5264-F988-72CB-E1CDBED529C7}"/>
              </a:ext>
            </a:extLst>
          </p:cNvPr>
          <p:cNvSpPr/>
          <p:nvPr/>
        </p:nvSpPr>
        <p:spPr>
          <a:xfrm>
            <a:off x="4709840" y="4966081"/>
            <a:ext cx="990600" cy="376655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!!Focus2">
            <a:extLst>
              <a:ext uri="{FF2B5EF4-FFF2-40B4-BE49-F238E27FC236}">
                <a16:creationId xmlns:a16="http://schemas.microsoft.com/office/drawing/2014/main" id="{03712B94-B1DE-A6D0-56F3-B3329613CE1F}"/>
              </a:ext>
            </a:extLst>
          </p:cNvPr>
          <p:cNvSpPr/>
          <p:nvPr/>
        </p:nvSpPr>
        <p:spPr>
          <a:xfrm>
            <a:off x="3505200" y="1905000"/>
            <a:ext cx="228600" cy="228600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!!Focus2.1">
            <a:extLst>
              <a:ext uri="{FF2B5EF4-FFF2-40B4-BE49-F238E27FC236}">
                <a16:creationId xmlns:a16="http://schemas.microsoft.com/office/drawing/2014/main" id="{34528505-AB2C-622C-7A5E-A4D4886C1AF7}"/>
              </a:ext>
            </a:extLst>
          </p:cNvPr>
          <p:cNvSpPr/>
          <p:nvPr/>
        </p:nvSpPr>
        <p:spPr>
          <a:xfrm>
            <a:off x="5029199" y="5613661"/>
            <a:ext cx="1206245" cy="55853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B1F59284-FC89-CE01-F78B-D3DFEC4FD32F}"/>
              </a:ext>
            </a:extLst>
          </p:cNvPr>
          <p:cNvSpPr/>
          <p:nvPr/>
        </p:nvSpPr>
        <p:spPr>
          <a:xfrm>
            <a:off x="3952452" y="2114819"/>
            <a:ext cx="467148" cy="32358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E7EEF27-4282-B48C-FC76-BD3FD4C3AB3C}"/>
              </a:ext>
            </a:extLst>
          </p:cNvPr>
          <p:cNvCxnSpPr>
            <a:stCxn id="7" idx="2"/>
            <a:endCxn id="12" idx="1"/>
          </p:cNvCxnSpPr>
          <p:nvPr/>
        </p:nvCxnSpPr>
        <p:spPr>
          <a:xfrm rot="16200000" flipH="1">
            <a:off x="3714471" y="2038629"/>
            <a:ext cx="143010" cy="332952"/>
          </a:xfrm>
          <a:prstGeom prst="bentConnector2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CC6FE90-6E06-5096-0ED8-93EDF555E969}"/>
              </a:ext>
            </a:extLst>
          </p:cNvPr>
          <p:cNvCxnSpPr>
            <a:cxnSpLocks/>
          </p:cNvCxnSpPr>
          <p:nvPr/>
        </p:nvCxnSpPr>
        <p:spPr>
          <a:xfrm>
            <a:off x="5671667" y="5148015"/>
            <a:ext cx="243160" cy="629813"/>
          </a:xfrm>
          <a:prstGeom prst="bentConnector2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643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27462-59C0-08D0-16C4-B67B0EB7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702D6E04-7FF1-8ADE-D09E-4BC79A8AE63B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4309D176-57D8-BDEB-26E1-84FE770F18FD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4A2029D7-F54D-9DCE-ED6B-B034333E4383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AACs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0E909221-F67B-817F-BD11-5DC6BF0B0F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76200" y="5117923"/>
            <a:ext cx="2240452" cy="164185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FD5980-AC60-9066-69BB-FF12E4F4D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33493F7E-403D-2026-EA88-DF2B44BA460C}"/>
              </a:ext>
            </a:extLst>
          </p:cNvPr>
          <p:cNvSpPr txBox="1"/>
          <p:nvPr/>
        </p:nvSpPr>
        <p:spPr>
          <a:xfrm>
            <a:off x="335452" y="4724400"/>
            <a:ext cx="1752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AAC</a:t>
            </a:r>
            <a:endParaRPr lang="en-US" sz="1600" b="1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AC7AB7-9DEC-85B0-B4CE-5403B6F5978F}"/>
              </a:ext>
            </a:extLst>
          </p:cNvPr>
          <p:cNvSpPr txBox="1"/>
          <p:nvPr/>
        </p:nvSpPr>
        <p:spPr>
          <a:xfrm>
            <a:off x="13563604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8E625783-F6E9-DACC-F2DF-923F0A20B491}"/>
              </a:ext>
            </a:extLst>
          </p:cNvPr>
          <p:cNvSpPr/>
          <p:nvPr/>
        </p:nvSpPr>
        <p:spPr>
          <a:xfrm rot="5400000">
            <a:off x="1010915" y="5515717"/>
            <a:ext cx="1441192" cy="86548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!!N1">
            <a:extLst>
              <a:ext uri="{FF2B5EF4-FFF2-40B4-BE49-F238E27FC236}">
                <a16:creationId xmlns:a16="http://schemas.microsoft.com/office/drawing/2014/main" id="{EC21E96A-5FCE-D5D7-01D6-E8D35B18C3D1}"/>
              </a:ext>
            </a:extLst>
          </p:cNvPr>
          <p:cNvSpPr>
            <a:spLocks/>
          </p:cNvSpPr>
          <p:nvPr/>
        </p:nvSpPr>
        <p:spPr>
          <a:xfrm>
            <a:off x="6566926" y="5784222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CA1 </a:t>
            </a:r>
            <a:r>
              <a:rPr lang="en-US" sz="1600" dirty="0">
                <a:solidFill>
                  <a:schemeClr val="bg1"/>
                </a:solidFill>
                <a:sym typeface="Wingdings" panose="05000000000000000000" pitchFamily="2" charset="2"/>
              </a:rPr>
              <a:t> Subiculum Entorhinal Cortex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64933DCB-4A31-82E1-D19E-69CB085E1BBD}"/>
              </a:ext>
            </a:extLst>
          </p:cNvPr>
          <p:cNvSpPr>
            <a:spLocks/>
          </p:cNvSpPr>
          <p:nvPr/>
        </p:nvSpPr>
        <p:spPr>
          <a:xfrm>
            <a:off x="6569307" y="990599"/>
            <a:ext cx="5317894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Identity: Inhibitory interneurons visually famous for their chandelier-like shape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0C8FECE5-AB88-0070-D899-F7A803057245}"/>
              </a:ext>
            </a:extLst>
          </p:cNvPr>
          <p:cNvSpPr>
            <a:spLocks/>
          </p:cNvSpPr>
          <p:nvPr/>
        </p:nvSpPr>
        <p:spPr>
          <a:xfrm>
            <a:off x="6569307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"Choke Point" Control: Synapse directly on Axon Initial Segment (AIS), granting them ultimate veto power to stop a signal.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F0179033-F264-273A-A616-466DD9AEB71F}"/>
              </a:ext>
            </a:extLst>
          </p:cNvPr>
          <p:cNvSpPr>
            <a:spLocks/>
          </p:cNvSpPr>
          <p:nvPr/>
        </p:nvSpPr>
        <p:spPr>
          <a:xfrm>
            <a:off x="6569307" y="3124199"/>
            <a:ext cx="5317894" cy="24384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The Main Output: </a:t>
            </a:r>
            <a:r>
              <a:rPr lang="en-US" sz="3200" dirty="0">
                <a:solidFill>
                  <a:srgbClr val="FF0000"/>
                </a:solidFill>
              </a:rPr>
              <a:t>CA1 Pyramidal neurons broadcast all navigation and memory signals. (A.K.A: Place Cells)</a:t>
            </a:r>
          </a:p>
        </p:txBody>
      </p:sp>
      <p:sp>
        <p:nvSpPr>
          <p:cNvPr id="8" name="!!M4">
            <a:extLst>
              <a:ext uri="{FF2B5EF4-FFF2-40B4-BE49-F238E27FC236}">
                <a16:creationId xmlns:a16="http://schemas.microsoft.com/office/drawing/2014/main" id="{80D2DA25-41C6-6A32-9CA5-4C86D7E352F2}"/>
              </a:ext>
            </a:extLst>
          </p:cNvPr>
          <p:cNvSpPr>
            <a:spLocks/>
          </p:cNvSpPr>
          <p:nvPr/>
        </p:nvSpPr>
        <p:spPr>
          <a:xfrm>
            <a:off x="128177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BE6E4FA-B3F6-58E4-E496-8EE975A088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768036"/>
            <a:ext cx="4595800" cy="591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!!Focus2">
            <a:extLst>
              <a:ext uri="{FF2B5EF4-FFF2-40B4-BE49-F238E27FC236}">
                <a16:creationId xmlns:a16="http://schemas.microsoft.com/office/drawing/2014/main" id="{38BEC476-8ABE-28A7-129A-B34B1584D502}"/>
              </a:ext>
            </a:extLst>
          </p:cNvPr>
          <p:cNvSpPr/>
          <p:nvPr/>
        </p:nvSpPr>
        <p:spPr>
          <a:xfrm>
            <a:off x="4709840" y="4966081"/>
            <a:ext cx="990600" cy="376655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!!Focus2">
            <a:extLst>
              <a:ext uri="{FF2B5EF4-FFF2-40B4-BE49-F238E27FC236}">
                <a16:creationId xmlns:a16="http://schemas.microsoft.com/office/drawing/2014/main" id="{79EC8006-3C8E-1D40-3B28-2EB89E9BE5F2}"/>
              </a:ext>
            </a:extLst>
          </p:cNvPr>
          <p:cNvSpPr/>
          <p:nvPr/>
        </p:nvSpPr>
        <p:spPr>
          <a:xfrm>
            <a:off x="3505200" y="1905000"/>
            <a:ext cx="228600" cy="228600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!!Focus2">
            <a:extLst>
              <a:ext uri="{FF2B5EF4-FFF2-40B4-BE49-F238E27FC236}">
                <a16:creationId xmlns:a16="http://schemas.microsoft.com/office/drawing/2014/main" id="{4BCB438D-15B6-135B-49B9-C7B679F47CD6}"/>
              </a:ext>
            </a:extLst>
          </p:cNvPr>
          <p:cNvSpPr/>
          <p:nvPr/>
        </p:nvSpPr>
        <p:spPr>
          <a:xfrm>
            <a:off x="5139703" y="5719345"/>
            <a:ext cx="1004326" cy="376655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24DD3A3B-AEA7-06DC-C559-C7394A9B649D}"/>
              </a:ext>
            </a:extLst>
          </p:cNvPr>
          <p:cNvSpPr/>
          <p:nvPr/>
        </p:nvSpPr>
        <p:spPr>
          <a:xfrm>
            <a:off x="3952452" y="2193910"/>
            <a:ext cx="467148" cy="182654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8AB179A-BFFE-CE0E-DA4C-2C449FB5A58E}"/>
              </a:ext>
            </a:extLst>
          </p:cNvPr>
          <p:cNvCxnSpPr>
            <a:cxnSpLocks/>
          </p:cNvCxnSpPr>
          <p:nvPr/>
        </p:nvCxnSpPr>
        <p:spPr>
          <a:xfrm>
            <a:off x="5671667" y="5148015"/>
            <a:ext cx="243160" cy="629813"/>
          </a:xfrm>
          <a:prstGeom prst="bentConnector2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!!Focus2">
            <a:extLst>
              <a:ext uri="{FF2B5EF4-FFF2-40B4-BE49-F238E27FC236}">
                <a16:creationId xmlns:a16="http://schemas.microsoft.com/office/drawing/2014/main" id="{DFEBBF0E-D3B1-6D13-D705-ADA76E730B01}"/>
              </a:ext>
            </a:extLst>
          </p:cNvPr>
          <p:cNvSpPr/>
          <p:nvPr/>
        </p:nvSpPr>
        <p:spPr>
          <a:xfrm>
            <a:off x="4012551" y="1680146"/>
            <a:ext cx="565249" cy="32358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!!Focus2.1">
            <a:extLst>
              <a:ext uri="{FF2B5EF4-FFF2-40B4-BE49-F238E27FC236}">
                <a16:creationId xmlns:a16="http://schemas.microsoft.com/office/drawing/2014/main" id="{C2D98489-A70F-3322-F470-E625C51C4C6A}"/>
              </a:ext>
            </a:extLst>
          </p:cNvPr>
          <p:cNvSpPr/>
          <p:nvPr/>
        </p:nvSpPr>
        <p:spPr>
          <a:xfrm>
            <a:off x="1675234" y="5632079"/>
            <a:ext cx="1525166" cy="55853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7B6D20-DCCF-C64D-F72B-257D804DDE3C}"/>
              </a:ext>
            </a:extLst>
          </p:cNvPr>
          <p:cNvCxnSpPr>
            <a:cxnSpLocks/>
          </p:cNvCxnSpPr>
          <p:nvPr/>
        </p:nvCxnSpPr>
        <p:spPr>
          <a:xfrm flipH="1">
            <a:off x="3079369" y="5907673"/>
            <a:ext cx="2070495" cy="3676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250CC98-C273-0091-9075-82EA181232DB}"/>
              </a:ext>
            </a:extLst>
          </p:cNvPr>
          <p:cNvCxnSpPr>
            <a:cxnSpLocks/>
            <a:stCxn id="12" idx="0"/>
            <a:endCxn id="16" idx="2"/>
          </p:cNvCxnSpPr>
          <p:nvPr/>
        </p:nvCxnSpPr>
        <p:spPr>
          <a:xfrm rot="5400000" flipH="1" flipV="1">
            <a:off x="4145510" y="2044244"/>
            <a:ext cx="190182" cy="10915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61B457C-C7E5-C83D-8659-223069A3D72C}"/>
              </a:ext>
            </a:extLst>
          </p:cNvPr>
          <p:cNvCxnSpPr/>
          <p:nvPr/>
        </p:nvCxnSpPr>
        <p:spPr>
          <a:xfrm rot="16200000" flipH="1">
            <a:off x="3714471" y="2038629"/>
            <a:ext cx="143010" cy="332952"/>
          </a:xfrm>
          <a:prstGeom prst="bentConnector2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677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937C7-A1B9-F290-8E43-E8F943639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48BB0882-662B-3821-61B0-92781D93C61E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E85A6DAE-EA19-92D8-C6F3-BF3464C5839C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57A11779-EB0F-A2C6-B2F0-7933688DF787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AACs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A6476793-6E29-E976-4A01-A43DF4CEC5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76200" y="5117923"/>
            <a:ext cx="2240452" cy="164185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5D4D0D-E4E5-929E-30B7-4B3B9A932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37F71F05-6B7D-FC56-938C-7835C9922D3F}"/>
              </a:ext>
            </a:extLst>
          </p:cNvPr>
          <p:cNvSpPr txBox="1"/>
          <p:nvPr/>
        </p:nvSpPr>
        <p:spPr>
          <a:xfrm>
            <a:off x="335452" y="4724400"/>
            <a:ext cx="1752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AAC</a:t>
            </a:r>
            <a:endParaRPr lang="en-US" sz="1600" b="1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C8E7CB-05CB-FB5A-A8E2-D7F8F491702B}"/>
              </a:ext>
            </a:extLst>
          </p:cNvPr>
          <p:cNvSpPr txBox="1"/>
          <p:nvPr/>
        </p:nvSpPr>
        <p:spPr>
          <a:xfrm>
            <a:off x="13563604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370163F9-8324-B3AF-8A70-6C08B99A9DAF}"/>
              </a:ext>
            </a:extLst>
          </p:cNvPr>
          <p:cNvSpPr/>
          <p:nvPr/>
        </p:nvSpPr>
        <p:spPr>
          <a:xfrm rot="5400000">
            <a:off x="1010915" y="5515717"/>
            <a:ext cx="1441192" cy="86548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!!N1">
            <a:extLst>
              <a:ext uri="{FF2B5EF4-FFF2-40B4-BE49-F238E27FC236}">
                <a16:creationId xmlns:a16="http://schemas.microsoft.com/office/drawing/2014/main" id="{D15BBF43-99DC-4F3E-B66B-F73C88110B7E}"/>
              </a:ext>
            </a:extLst>
          </p:cNvPr>
          <p:cNvSpPr>
            <a:spLocks/>
          </p:cNvSpPr>
          <p:nvPr/>
        </p:nvSpPr>
        <p:spPr>
          <a:xfrm>
            <a:off x="6566926" y="5784222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CA1 </a:t>
            </a:r>
            <a:r>
              <a:rPr lang="en-US" sz="1600" dirty="0">
                <a:solidFill>
                  <a:schemeClr val="bg1"/>
                </a:solidFill>
                <a:sym typeface="Wingdings" panose="05000000000000000000" pitchFamily="2" charset="2"/>
              </a:rPr>
              <a:t> Subiculum Entorhinal Cortex  Cortical Areas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E9ED8221-700C-2800-1C31-FED8F0997977}"/>
              </a:ext>
            </a:extLst>
          </p:cNvPr>
          <p:cNvSpPr>
            <a:spLocks/>
          </p:cNvSpPr>
          <p:nvPr/>
        </p:nvSpPr>
        <p:spPr>
          <a:xfrm>
            <a:off x="6569307" y="990599"/>
            <a:ext cx="5317894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Identity: Inhibitory interneurons visually famous for their chandelier-like shape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F9B2987C-D875-E079-3E38-28214D8E087B}"/>
              </a:ext>
            </a:extLst>
          </p:cNvPr>
          <p:cNvSpPr>
            <a:spLocks/>
          </p:cNvSpPr>
          <p:nvPr/>
        </p:nvSpPr>
        <p:spPr>
          <a:xfrm>
            <a:off x="6569307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"Choke Point" Control: Synapse directly on Axon Initial Segment (AIS), granting them ultimate veto power to stop a signal.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19230E20-AFE0-DC63-AAA9-FB57A6F82147}"/>
              </a:ext>
            </a:extLst>
          </p:cNvPr>
          <p:cNvSpPr>
            <a:spLocks/>
          </p:cNvSpPr>
          <p:nvPr/>
        </p:nvSpPr>
        <p:spPr>
          <a:xfrm>
            <a:off x="6569307" y="3124199"/>
            <a:ext cx="5317894" cy="24384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The Main Output: </a:t>
            </a:r>
            <a:r>
              <a:rPr lang="en-US" sz="3200" dirty="0">
                <a:solidFill>
                  <a:srgbClr val="FF0000"/>
                </a:solidFill>
              </a:rPr>
              <a:t>CA1 Pyramidal neurons broadcast all navigation and memory signals. (A.K.A: Place Cells)</a:t>
            </a:r>
          </a:p>
        </p:txBody>
      </p:sp>
      <p:sp>
        <p:nvSpPr>
          <p:cNvPr id="8" name="!!M4">
            <a:extLst>
              <a:ext uri="{FF2B5EF4-FFF2-40B4-BE49-F238E27FC236}">
                <a16:creationId xmlns:a16="http://schemas.microsoft.com/office/drawing/2014/main" id="{997DCB6F-2A93-6813-66F1-16FA2769ED62}"/>
              </a:ext>
            </a:extLst>
          </p:cNvPr>
          <p:cNvSpPr>
            <a:spLocks/>
          </p:cNvSpPr>
          <p:nvPr/>
        </p:nvSpPr>
        <p:spPr>
          <a:xfrm>
            <a:off x="128177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7493178-EF34-E175-EF0A-97DBD5134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768036"/>
            <a:ext cx="4595800" cy="591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!!Focus2">
            <a:extLst>
              <a:ext uri="{FF2B5EF4-FFF2-40B4-BE49-F238E27FC236}">
                <a16:creationId xmlns:a16="http://schemas.microsoft.com/office/drawing/2014/main" id="{121DE113-A9C7-5395-72E0-2605C1DDE3B1}"/>
              </a:ext>
            </a:extLst>
          </p:cNvPr>
          <p:cNvSpPr/>
          <p:nvPr/>
        </p:nvSpPr>
        <p:spPr>
          <a:xfrm>
            <a:off x="4709840" y="4966081"/>
            <a:ext cx="990600" cy="376655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!!Focus2">
            <a:extLst>
              <a:ext uri="{FF2B5EF4-FFF2-40B4-BE49-F238E27FC236}">
                <a16:creationId xmlns:a16="http://schemas.microsoft.com/office/drawing/2014/main" id="{FAC86C82-E8B8-6DF6-F855-38A20B79558A}"/>
              </a:ext>
            </a:extLst>
          </p:cNvPr>
          <p:cNvSpPr/>
          <p:nvPr/>
        </p:nvSpPr>
        <p:spPr>
          <a:xfrm>
            <a:off x="3505200" y="1905000"/>
            <a:ext cx="228600" cy="228600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!!Focus2">
            <a:extLst>
              <a:ext uri="{FF2B5EF4-FFF2-40B4-BE49-F238E27FC236}">
                <a16:creationId xmlns:a16="http://schemas.microsoft.com/office/drawing/2014/main" id="{87B449A9-F4EB-2A79-28E9-93295CAF3F96}"/>
              </a:ext>
            </a:extLst>
          </p:cNvPr>
          <p:cNvSpPr/>
          <p:nvPr/>
        </p:nvSpPr>
        <p:spPr>
          <a:xfrm>
            <a:off x="5139703" y="5719345"/>
            <a:ext cx="1004326" cy="376655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!!Focus2">
            <a:extLst>
              <a:ext uri="{FF2B5EF4-FFF2-40B4-BE49-F238E27FC236}">
                <a16:creationId xmlns:a16="http://schemas.microsoft.com/office/drawing/2014/main" id="{97C44A7B-E799-3EB7-C125-02C5DF6A09D8}"/>
              </a:ext>
            </a:extLst>
          </p:cNvPr>
          <p:cNvSpPr/>
          <p:nvPr/>
        </p:nvSpPr>
        <p:spPr>
          <a:xfrm>
            <a:off x="3952452" y="2193910"/>
            <a:ext cx="467148" cy="182654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518726D-3EE1-0436-8049-EBD310FBD4D8}"/>
              </a:ext>
            </a:extLst>
          </p:cNvPr>
          <p:cNvCxnSpPr>
            <a:cxnSpLocks/>
            <a:stCxn id="7" idx="2"/>
            <a:endCxn id="12" idx="1"/>
          </p:cNvCxnSpPr>
          <p:nvPr/>
        </p:nvCxnSpPr>
        <p:spPr>
          <a:xfrm rot="16200000" flipH="1">
            <a:off x="3710158" y="2042942"/>
            <a:ext cx="151637" cy="332952"/>
          </a:xfrm>
          <a:prstGeom prst="bentConnector2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55716DF-E596-5DB4-9990-170027BCAF54}"/>
              </a:ext>
            </a:extLst>
          </p:cNvPr>
          <p:cNvCxnSpPr>
            <a:cxnSpLocks/>
          </p:cNvCxnSpPr>
          <p:nvPr/>
        </p:nvCxnSpPr>
        <p:spPr>
          <a:xfrm>
            <a:off x="5671667" y="5148015"/>
            <a:ext cx="243160" cy="629813"/>
          </a:xfrm>
          <a:prstGeom prst="bentConnector2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!!Focus2">
            <a:extLst>
              <a:ext uri="{FF2B5EF4-FFF2-40B4-BE49-F238E27FC236}">
                <a16:creationId xmlns:a16="http://schemas.microsoft.com/office/drawing/2014/main" id="{55DF75B3-A629-BF8B-6D5F-67BBE0341D2B}"/>
              </a:ext>
            </a:extLst>
          </p:cNvPr>
          <p:cNvSpPr/>
          <p:nvPr/>
        </p:nvSpPr>
        <p:spPr>
          <a:xfrm>
            <a:off x="4012551" y="1680146"/>
            <a:ext cx="565249" cy="323582"/>
          </a:xfrm>
          <a:prstGeom prst="flowChartProcess">
            <a:avLst/>
          </a:prstGeom>
          <a:solidFill>
            <a:srgbClr val="7030A0">
              <a:alpha val="37000"/>
            </a:srgb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!!Focus2.1">
            <a:extLst>
              <a:ext uri="{FF2B5EF4-FFF2-40B4-BE49-F238E27FC236}">
                <a16:creationId xmlns:a16="http://schemas.microsoft.com/office/drawing/2014/main" id="{690E6BEB-48DC-251B-12BE-8E9F1D6BB349}"/>
              </a:ext>
            </a:extLst>
          </p:cNvPr>
          <p:cNvSpPr/>
          <p:nvPr/>
        </p:nvSpPr>
        <p:spPr>
          <a:xfrm>
            <a:off x="1676400" y="3537916"/>
            <a:ext cx="1447800" cy="43084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1DD9453-917D-5DE1-F43A-BEDEB44AE1A5}"/>
              </a:ext>
            </a:extLst>
          </p:cNvPr>
          <p:cNvCxnSpPr>
            <a:cxnSpLocks/>
          </p:cNvCxnSpPr>
          <p:nvPr/>
        </p:nvCxnSpPr>
        <p:spPr>
          <a:xfrm flipH="1">
            <a:off x="3079369" y="5907673"/>
            <a:ext cx="2070495" cy="3676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D67ED62-882B-E326-FDE7-E982E5C7F666}"/>
              </a:ext>
            </a:extLst>
          </p:cNvPr>
          <p:cNvCxnSpPr>
            <a:cxnSpLocks/>
            <a:stCxn id="12" idx="0"/>
            <a:endCxn id="16" idx="2"/>
          </p:cNvCxnSpPr>
          <p:nvPr/>
        </p:nvCxnSpPr>
        <p:spPr>
          <a:xfrm rot="5400000" flipH="1" flipV="1">
            <a:off x="4145510" y="2044244"/>
            <a:ext cx="190182" cy="10915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!!Focus2">
            <a:extLst>
              <a:ext uri="{FF2B5EF4-FFF2-40B4-BE49-F238E27FC236}">
                <a16:creationId xmlns:a16="http://schemas.microsoft.com/office/drawing/2014/main" id="{332979BF-FD48-3B8A-9B6A-73A8B5C9D51B}"/>
              </a:ext>
            </a:extLst>
          </p:cNvPr>
          <p:cNvSpPr/>
          <p:nvPr/>
        </p:nvSpPr>
        <p:spPr>
          <a:xfrm>
            <a:off x="1693569" y="5715000"/>
            <a:ext cx="1427189" cy="376655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!!Focus2">
            <a:extLst>
              <a:ext uri="{FF2B5EF4-FFF2-40B4-BE49-F238E27FC236}">
                <a16:creationId xmlns:a16="http://schemas.microsoft.com/office/drawing/2014/main" id="{C1657E3E-919C-845C-9014-0C74FE4C7773}"/>
              </a:ext>
            </a:extLst>
          </p:cNvPr>
          <p:cNvSpPr/>
          <p:nvPr/>
        </p:nvSpPr>
        <p:spPr>
          <a:xfrm>
            <a:off x="1697011" y="4303267"/>
            <a:ext cx="1427189" cy="733995"/>
          </a:xfrm>
          <a:prstGeom prst="flowChartProcess">
            <a:avLst/>
          </a:prstGeom>
          <a:solidFill>
            <a:schemeClr val="accent5">
              <a:alpha val="37000"/>
            </a:schemeClr>
          </a:solidFill>
          <a:ln w="44450" cap="rnd" cmpd="tri"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10BED2-8675-D5E6-5C07-DD882E39453C}"/>
              </a:ext>
            </a:extLst>
          </p:cNvPr>
          <p:cNvCxnSpPr>
            <a:cxnSpLocks/>
          </p:cNvCxnSpPr>
          <p:nvPr/>
        </p:nvCxnSpPr>
        <p:spPr>
          <a:xfrm flipV="1">
            <a:off x="2410606" y="4987567"/>
            <a:ext cx="0" cy="762073"/>
          </a:xfrm>
          <a:prstGeom prst="straightConnector1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EBDECBA-94AB-3035-DA09-2D40299EA50E}"/>
              </a:ext>
            </a:extLst>
          </p:cNvPr>
          <p:cNvCxnSpPr>
            <a:cxnSpLocks/>
          </p:cNvCxnSpPr>
          <p:nvPr/>
        </p:nvCxnSpPr>
        <p:spPr>
          <a:xfrm flipV="1">
            <a:off x="2402392" y="3898339"/>
            <a:ext cx="0" cy="473187"/>
          </a:xfrm>
          <a:prstGeom prst="straightConnector1">
            <a:avLst/>
          </a:prstGeom>
          <a:ln w="57150">
            <a:solidFill>
              <a:schemeClr val="accent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49FE4A07-1AF2-AE54-3FA3-2D0697CB857B}"/>
              </a:ext>
            </a:extLst>
          </p:cNvPr>
          <p:cNvCxnSpPr>
            <a:cxnSpLocks/>
            <a:stCxn id="16" idx="0"/>
          </p:cNvCxnSpPr>
          <p:nvPr/>
        </p:nvCxnSpPr>
        <p:spPr>
          <a:xfrm rot="5400000" flipH="1" flipV="1">
            <a:off x="4490897" y="1294243"/>
            <a:ext cx="190182" cy="581624"/>
          </a:xfrm>
          <a:prstGeom prst="curvedConnector2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AAAFA631-7BEE-B7D4-64D9-D2EC4A25206E}"/>
              </a:ext>
            </a:extLst>
          </p:cNvPr>
          <p:cNvCxnSpPr>
            <a:cxnSpLocks/>
          </p:cNvCxnSpPr>
          <p:nvPr/>
        </p:nvCxnSpPr>
        <p:spPr>
          <a:xfrm flipV="1">
            <a:off x="4298732" y="1235649"/>
            <a:ext cx="453644" cy="425834"/>
          </a:xfrm>
          <a:prstGeom prst="curvedConnector3">
            <a:avLst>
              <a:gd name="adj1" fmla="val -40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8D22DC68-A2E6-09FF-3B46-800B7F0D7B06}"/>
              </a:ext>
            </a:extLst>
          </p:cNvPr>
          <p:cNvCxnSpPr>
            <a:cxnSpLocks/>
          </p:cNvCxnSpPr>
          <p:nvPr/>
        </p:nvCxnSpPr>
        <p:spPr>
          <a:xfrm flipV="1">
            <a:off x="4295176" y="1364718"/>
            <a:ext cx="581624" cy="311682"/>
          </a:xfrm>
          <a:prstGeom prst="curvedConnector3">
            <a:avLst>
              <a:gd name="adj1" fmla="val 5474"/>
            </a:avLst>
          </a:prstGeom>
          <a:ln w="127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D899BCB-B457-E0D2-DF57-53D7730B885B}"/>
              </a:ext>
            </a:extLst>
          </p:cNvPr>
          <p:cNvSpPr txBox="1"/>
          <p:nvPr/>
        </p:nvSpPr>
        <p:spPr>
          <a:xfrm>
            <a:off x="4953000" y="1062409"/>
            <a:ext cx="747440" cy="461665"/>
          </a:xfrm>
          <a:prstGeom prst="rect">
            <a:avLst/>
          </a:prstGeom>
          <a:solidFill>
            <a:srgbClr val="838383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E5E862"/>
                </a:solidFill>
              </a:rPr>
              <a:t>Cortical</a:t>
            </a:r>
          </a:p>
          <a:p>
            <a:pPr algn="ctr"/>
            <a:r>
              <a:rPr lang="en-US" sz="1200" b="1" i="1" dirty="0">
                <a:solidFill>
                  <a:srgbClr val="E5E862"/>
                </a:solidFill>
              </a:rPr>
              <a:t>Areas</a:t>
            </a:r>
          </a:p>
        </p:txBody>
      </p:sp>
      <p:sp>
        <p:nvSpPr>
          <p:cNvPr id="50" name="!!Focus2">
            <a:extLst>
              <a:ext uri="{FF2B5EF4-FFF2-40B4-BE49-F238E27FC236}">
                <a16:creationId xmlns:a16="http://schemas.microsoft.com/office/drawing/2014/main" id="{7DEA6A47-6902-7370-B426-990EEB1054A2}"/>
              </a:ext>
            </a:extLst>
          </p:cNvPr>
          <p:cNvSpPr/>
          <p:nvPr/>
        </p:nvSpPr>
        <p:spPr>
          <a:xfrm>
            <a:off x="4953000" y="1066800"/>
            <a:ext cx="747440" cy="44846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9C3C33B0-F231-72E1-7863-8ED0EEC99D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2551" y="714920"/>
            <a:ext cx="4684094" cy="599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09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EC9B6-E17A-49DE-F3B3-824E29E9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3F05039F-5F6D-12FC-0BBF-E2D60D66B121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D3148B4F-5E48-9BDC-1E8D-58890EA65C5C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FAC8C4E9-111F-26BB-12AD-F0ED8C1B3CFB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AACs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06F63CA0-E555-C814-F868-A1AE7A5E9C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76200" y="1745623"/>
            <a:ext cx="6248400" cy="457897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605B66F-F841-E9B5-27FC-40EB6D5CA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72579BEF-E50D-B9F7-24B7-1F14F28262E0}"/>
              </a:ext>
            </a:extLst>
          </p:cNvPr>
          <p:cNvSpPr txBox="1"/>
          <p:nvPr/>
        </p:nvSpPr>
        <p:spPr>
          <a:xfrm>
            <a:off x="2332154" y="1212502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AAC</a:t>
            </a:r>
            <a:endParaRPr lang="en-US" sz="2400" b="1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962AF8-1BC9-D264-1D29-80A8A685A78F}"/>
              </a:ext>
            </a:extLst>
          </p:cNvPr>
          <p:cNvSpPr txBox="1"/>
          <p:nvPr/>
        </p:nvSpPr>
        <p:spPr>
          <a:xfrm>
            <a:off x="13563604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1443968F-3529-C115-C88D-28302B2C08E5}"/>
              </a:ext>
            </a:extLst>
          </p:cNvPr>
          <p:cNvSpPr/>
          <p:nvPr/>
        </p:nvSpPr>
        <p:spPr>
          <a:xfrm rot="5400000">
            <a:off x="3623640" y="3920160"/>
            <a:ext cx="884832" cy="1274113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!!N1">
            <a:extLst>
              <a:ext uri="{FF2B5EF4-FFF2-40B4-BE49-F238E27FC236}">
                <a16:creationId xmlns:a16="http://schemas.microsoft.com/office/drawing/2014/main" id="{CEBCA423-04CC-2AC6-A888-1D93520B9BDB}"/>
              </a:ext>
            </a:extLst>
          </p:cNvPr>
          <p:cNvSpPr>
            <a:spLocks/>
          </p:cNvSpPr>
          <p:nvPr/>
        </p:nvSpPr>
        <p:spPr>
          <a:xfrm>
            <a:off x="6566926" y="30480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CA1 </a:t>
            </a:r>
            <a:r>
              <a:rPr lang="en-US" sz="1600" dirty="0">
                <a:solidFill>
                  <a:schemeClr val="bg1"/>
                </a:solidFill>
                <a:sym typeface="Wingdings" panose="05000000000000000000" pitchFamily="2" charset="2"/>
              </a:rPr>
              <a:t> Subiculum Entorhinal Cortex  Cortical Areas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27E4EC31-C29C-B313-C4CD-ED7AB555A08F}"/>
              </a:ext>
            </a:extLst>
          </p:cNvPr>
          <p:cNvSpPr>
            <a:spLocks/>
          </p:cNvSpPr>
          <p:nvPr/>
        </p:nvSpPr>
        <p:spPr>
          <a:xfrm>
            <a:off x="6569307" y="990599"/>
            <a:ext cx="5317894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Identity: Inhibitory interneurons visually famous for their chandelier-like shape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FD97D2A7-9C82-B7EE-F4D1-81341317DB93}"/>
              </a:ext>
            </a:extLst>
          </p:cNvPr>
          <p:cNvSpPr>
            <a:spLocks/>
          </p:cNvSpPr>
          <p:nvPr/>
        </p:nvSpPr>
        <p:spPr>
          <a:xfrm>
            <a:off x="6569307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"Choke Point" Control: Synapse directly on Axon Initial Segment (AIS), granting them ultimate veto power to stop a signal.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B4010AA5-E40D-6035-9688-FDD9640F2655}"/>
              </a:ext>
            </a:extLst>
          </p:cNvPr>
          <p:cNvSpPr>
            <a:spLocks/>
          </p:cNvSpPr>
          <p:nvPr/>
        </p:nvSpPr>
        <p:spPr>
          <a:xfrm>
            <a:off x="6566926" y="3003673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The Main Output: </a:t>
            </a:r>
            <a:r>
              <a:rPr lang="en-US" sz="3200" dirty="0">
                <a:solidFill>
                  <a:schemeClr val="bg1"/>
                </a:solidFill>
              </a:rPr>
              <a:t>CA1 Pyramidal neurons broadcast all navigation and memory signals. (A.K.A: Place Cells)</a:t>
            </a:r>
          </a:p>
        </p:txBody>
      </p:sp>
      <p:sp>
        <p:nvSpPr>
          <p:cNvPr id="8" name="!!M4">
            <a:extLst>
              <a:ext uri="{FF2B5EF4-FFF2-40B4-BE49-F238E27FC236}">
                <a16:creationId xmlns:a16="http://schemas.microsoft.com/office/drawing/2014/main" id="{8E483036-22D1-FC79-F1CC-91B096C3C89E}"/>
              </a:ext>
            </a:extLst>
          </p:cNvPr>
          <p:cNvSpPr>
            <a:spLocks/>
          </p:cNvSpPr>
          <p:nvPr/>
        </p:nvSpPr>
        <p:spPr>
          <a:xfrm>
            <a:off x="6553200" y="42672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FF4ED1F-D166-6BCB-BC02-F550EC4A1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72" y="833173"/>
            <a:ext cx="2123456" cy="2717083"/>
          </a:xfrm>
          <a:prstGeom prst="rect">
            <a:avLst/>
          </a:prstGeom>
        </p:spPr>
      </p:pic>
      <p:sp>
        <p:nvSpPr>
          <p:cNvPr id="23" name="&quot;Not Allowed&quot; Symbol 22">
            <a:extLst>
              <a:ext uri="{FF2B5EF4-FFF2-40B4-BE49-F238E27FC236}">
                <a16:creationId xmlns:a16="http://schemas.microsoft.com/office/drawing/2014/main" id="{5931193A-E6C6-024F-B904-F6DA30A3E653}"/>
              </a:ext>
            </a:extLst>
          </p:cNvPr>
          <p:cNvSpPr/>
          <p:nvPr/>
        </p:nvSpPr>
        <p:spPr>
          <a:xfrm>
            <a:off x="3703754" y="4267200"/>
            <a:ext cx="715846" cy="5334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3365686D-0E88-E574-E2D0-5E6F420D23EB}"/>
              </a:ext>
            </a:extLst>
          </p:cNvPr>
          <p:cNvSpPr/>
          <p:nvPr/>
        </p:nvSpPr>
        <p:spPr>
          <a:xfrm>
            <a:off x="3703754" y="4267200"/>
            <a:ext cx="715846" cy="5334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!!Connector: Curved 29">
            <a:extLst>
              <a:ext uri="{FF2B5EF4-FFF2-40B4-BE49-F238E27FC236}">
                <a16:creationId xmlns:a16="http://schemas.microsoft.com/office/drawing/2014/main" id="{EE160E12-8CB8-4FEF-BC78-3CBCB52F036A}"/>
              </a:ext>
            </a:extLst>
          </p:cNvPr>
          <p:cNvCxnSpPr>
            <a:cxnSpLocks/>
          </p:cNvCxnSpPr>
          <p:nvPr/>
        </p:nvCxnSpPr>
        <p:spPr>
          <a:xfrm rot="10800000">
            <a:off x="1828800" y="2971800"/>
            <a:ext cx="1874954" cy="1600202"/>
          </a:xfrm>
          <a:prstGeom prst="curvedConnector3">
            <a:avLst>
              <a:gd name="adj1" fmla="val 10077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073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DE698-DBDC-CFF1-CCC4-C94C79CD3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74CB8599-D8F6-B7CC-5EF9-17D109C189D2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28C96532-8166-563C-B328-E281BB09945E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">
            <a:extLst>
              <a:ext uri="{FF2B5EF4-FFF2-40B4-BE49-F238E27FC236}">
                <a16:creationId xmlns:a16="http://schemas.microsoft.com/office/drawing/2014/main" id="{63BD806E-E0B5-3D42-E68A-48D2FC0FD959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AACs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9B96EC43-2E5B-6586-764A-A086B7A268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76200" y="1745623"/>
            <a:ext cx="6248400" cy="457897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DF7DC19-4CBD-49EF-DDB1-074CE9E57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7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C069A727-9057-DDB1-84FD-50C47F6F9CD4}"/>
              </a:ext>
            </a:extLst>
          </p:cNvPr>
          <p:cNvSpPr txBox="1"/>
          <p:nvPr/>
        </p:nvSpPr>
        <p:spPr>
          <a:xfrm>
            <a:off x="2332154" y="1212502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AAC</a:t>
            </a:r>
            <a:endParaRPr lang="en-US" sz="2400" b="1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3B68B9-AD80-7BE7-06BD-2FFB31655AF1}"/>
              </a:ext>
            </a:extLst>
          </p:cNvPr>
          <p:cNvSpPr txBox="1"/>
          <p:nvPr/>
        </p:nvSpPr>
        <p:spPr>
          <a:xfrm>
            <a:off x="13563604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D3EB614C-7EAE-B1ED-E2A0-6973E2F1FC0E}"/>
              </a:ext>
            </a:extLst>
          </p:cNvPr>
          <p:cNvSpPr/>
          <p:nvPr/>
        </p:nvSpPr>
        <p:spPr>
          <a:xfrm rot="5400000">
            <a:off x="3623640" y="3920160"/>
            <a:ext cx="884832" cy="1274113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!!N1">
            <a:extLst>
              <a:ext uri="{FF2B5EF4-FFF2-40B4-BE49-F238E27FC236}">
                <a16:creationId xmlns:a16="http://schemas.microsoft.com/office/drawing/2014/main" id="{71BF9AAD-3E03-AE46-212F-FB846CAFF5C7}"/>
              </a:ext>
            </a:extLst>
          </p:cNvPr>
          <p:cNvSpPr>
            <a:spLocks/>
          </p:cNvSpPr>
          <p:nvPr/>
        </p:nvSpPr>
        <p:spPr>
          <a:xfrm>
            <a:off x="6566926" y="30480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CA1 </a:t>
            </a:r>
            <a:r>
              <a:rPr lang="en-US" sz="1600" dirty="0">
                <a:solidFill>
                  <a:schemeClr val="bg1"/>
                </a:solidFill>
                <a:sym typeface="Wingdings" panose="05000000000000000000" pitchFamily="2" charset="2"/>
              </a:rPr>
              <a:t> Subiculum Entorhinal Cortex  Cortical Areas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3354A43D-FEB1-C248-40EE-F32F9286E5A5}"/>
              </a:ext>
            </a:extLst>
          </p:cNvPr>
          <p:cNvSpPr>
            <a:spLocks/>
          </p:cNvSpPr>
          <p:nvPr/>
        </p:nvSpPr>
        <p:spPr>
          <a:xfrm>
            <a:off x="6569307" y="990599"/>
            <a:ext cx="5317894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Identity: Inhibitory interneurons visually famous for their chandelier-like shape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7FBD8F01-B304-AB91-1359-54D73F3B1C49}"/>
              </a:ext>
            </a:extLst>
          </p:cNvPr>
          <p:cNvSpPr>
            <a:spLocks/>
          </p:cNvSpPr>
          <p:nvPr/>
        </p:nvSpPr>
        <p:spPr>
          <a:xfrm>
            <a:off x="6569307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"Choke Point" Control: Synapse directly on Axon Initial Segment (AIS), granting them ultimate veto power to stop a signal.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8A2809A3-18F2-FF4E-F83E-AFB968B8436E}"/>
              </a:ext>
            </a:extLst>
          </p:cNvPr>
          <p:cNvSpPr>
            <a:spLocks/>
          </p:cNvSpPr>
          <p:nvPr/>
        </p:nvSpPr>
        <p:spPr>
          <a:xfrm>
            <a:off x="6566926" y="3003673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The Main Output: </a:t>
            </a:r>
            <a:r>
              <a:rPr lang="en-US" sz="3200" dirty="0">
                <a:solidFill>
                  <a:schemeClr val="bg1"/>
                </a:solidFill>
              </a:rPr>
              <a:t>CA1 Pyramidal neurons broadcast all navigation and memory signals. (A.K.A: Place Cells)</a:t>
            </a:r>
          </a:p>
        </p:txBody>
      </p:sp>
      <p:sp>
        <p:nvSpPr>
          <p:cNvPr id="8" name="!!M4">
            <a:extLst>
              <a:ext uri="{FF2B5EF4-FFF2-40B4-BE49-F238E27FC236}">
                <a16:creationId xmlns:a16="http://schemas.microsoft.com/office/drawing/2014/main" id="{DB07D9F5-B6F4-2FF5-6E65-0D48A0D37138}"/>
              </a:ext>
            </a:extLst>
          </p:cNvPr>
          <p:cNvSpPr>
            <a:spLocks/>
          </p:cNvSpPr>
          <p:nvPr/>
        </p:nvSpPr>
        <p:spPr>
          <a:xfrm>
            <a:off x="6553200" y="42672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11FD2E81-E2E8-6FB4-80C9-9EAC679CE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72" y="833173"/>
            <a:ext cx="2123456" cy="2717083"/>
          </a:xfrm>
          <a:prstGeom prst="rect">
            <a:avLst/>
          </a:prstGeom>
        </p:spPr>
      </p:pic>
      <p:sp>
        <p:nvSpPr>
          <p:cNvPr id="23" name="&quot;Not Allowed&quot; Symbol 22">
            <a:extLst>
              <a:ext uri="{FF2B5EF4-FFF2-40B4-BE49-F238E27FC236}">
                <a16:creationId xmlns:a16="http://schemas.microsoft.com/office/drawing/2014/main" id="{66CDB582-D202-E319-7B8F-D233D074C7A4}"/>
              </a:ext>
            </a:extLst>
          </p:cNvPr>
          <p:cNvSpPr/>
          <p:nvPr/>
        </p:nvSpPr>
        <p:spPr>
          <a:xfrm>
            <a:off x="3703754" y="4267200"/>
            <a:ext cx="715846" cy="5334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836B7CF4-3B97-4753-CB34-BC4090103ACF}"/>
              </a:ext>
            </a:extLst>
          </p:cNvPr>
          <p:cNvSpPr/>
          <p:nvPr/>
        </p:nvSpPr>
        <p:spPr>
          <a:xfrm>
            <a:off x="76196" y="990600"/>
            <a:ext cx="2255958" cy="21336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!!Connector: Curved 29">
            <a:extLst>
              <a:ext uri="{FF2B5EF4-FFF2-40B4-BE49-F238E27FC236}">
                <a16:creationId xmlns:a16="http://schemas.microsoft.com/office/drawing/2014/main" id="{1F5B04AB-425B-BFC1-58A1-E44587D02D9C}"/>
              </a:ext>
            </a:extLst>
          </p:cNvPr>
          <p:cNvCxnSpPr>
            <a:cxnSpLocks/>
          </p:cNvCxnSpPr>
          <p:nvPr/>
        </p:nvCxnSpPr>
        <p:spPr>
          <a:xfrm rot="10800000">
            <a:off x="1752600" y="3003674"/>
            <a:ext cx="1951154" cy="1568327"/>
          </a:xfrm>
          <a:prstGeom prst="curvedConnector3">
            <a:avLst>
              <a:gd name="adj1" fmla="val 99749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B3A3B21-02F1-C74F-2FD0-F0BFAFCE9F0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4880"/>
          <a:stretch>
            <a:fillRect/>
          </a:stretch>
        </p:blipFill>
        <p:spPr>
          <a:xfrm>
            <a:off x="3086100" y="-5029200"/>
            <a:ext cx="6019800" cy="40416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40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17E68-DD3A-4645-8B57-49FD3266E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5CDAC8A-9D53-B4C3-69FD-65121C932F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3086100" y="320478"/>
            <a:ext cx="6019800" cy="40416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7833A497-18A7-BA1C-6F22-B86411D8655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9A7110-5D1D-5CF1-1C1E-9CB464F17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0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4E5D373-8862-F49A-E13A-A3A3D5DA033E}"/>
              </a:ext>
            </a:extLst>
          </p:cNvPr>
          <p:cNvSpPr txBox="1"/>
          <p:nvPr/>
        </p:nvSpPr>
        <p:spPr>
          <a:xfrm>
            <a:off x="14439903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B3B03FEF-372C-2484-91AF-76B1D4DDE480}"/>
              </a:ext>
            </a:extLst>
          </p:cNvPr>
          <p:cNvSpPr>
            <a:spLocks/>
          </p:cNvSpPr>
          <p:nvPr/>
        </p:nvSpPr>
        <p:spPr>
          <a:xfrm>
            <a:off x="14094325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"Choke Point" Control: Synapse directly on Axon Initial Segment (AIS), granting them ultimate veto power to stop a signal.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020E76F6-23CF-18EB-3BD6-AA0B2657B3CB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0D574FB5-17F7-0A73-DCBE-DC6741E28E86}"/>
              </a:ext>
            </a:extLst>
          </p:cNvPr>
          <p:cNvSpPr>
            <a:spLocks/>
          </p:cNvSpPr>
          <p:nvPr/>
        </p:nvSpPr>
        <p:spPr>
          <a:xfrm>
            <a:off x="141131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8DA1A7F9-E89B-7E2A-9B33-2D7B84BFF47C}"/>
              </a:ext>
            </a:extLst>
          </p:cNvPr>
          <p:cNvSpPr/>
          <p:nvPr/>
        </p:nvSpPr>
        <p:spPr>
          <a:xfrm>
            <a:off x="1600200" y="4648199"/>
            <a:ext cx="9296400" cy="202932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1">
            <a:extLst>
              <a:ext uri="{FF2B5EF4-FFF2-40B4-BE49-F238E27FC236}">
                <a16:creationId xmlns:a16="http://schemas.microsoft.com/office/drawing/2014/main" id="{415EE6EA-01B6-2885-0C93-E8D275838873}"/>
              </a:ext>
            </a:extLst>
          </p:cNvPr>
          <p:cNvSpPr txBox="1">
            <a:spLocks/>
          </p:cNvSpPr>
          <p:nvPr/>
        </p:nvSpPr>
        <p:spPr>
          <a:xfrm>
            <a:off x="1902054" y="4427704"/>
            <a:ext cx="8613546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Linking AACs with DS2</a:t>
            </a:r>
          </a:p>
        </p:txBody>
      </p:sp>
      <p:pic>
        <p:nvPicPr>
          <p:cNvPr id="12" name="Picture 2" descr="Unexpected Situations Trigger Chandelier Cell Activity">
            <a:extLst>
              <a:ext uri="{FF2B5EF4-FFF2-40B4-BE49-F238E27FC236}">
                <a16:creationId xmlns:a16="http://schemas.microsoft.com/office/drawing/2014/main" id="{E213CA4C-C47A-8D5E-4AA1-029EC21A6C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-7772396" y="1745623"/>
            <a:ext cx="6248400" cy="457897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D2C153-C2E8-A025-4A9E-9D85294ACBB9}"/>
              </a:ext>
            </a:extLst>
          </p:cNvPr>
          <p:cNvSpPr txBox="1"/>
          <p:nvPr/>
        </p:nvSpPr>
        <p:spPr>
          <a:xfrm>
            <a:off x="-5516442" y="1212502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AAC</a:t>
            </a:r>
            <a:endParaRPr lang="en-US" sz="2400" b="1" i="1" dirty="0"/>
          </a:p>
        </p:txBody>
      </p:sp>
      <p:sp>
        <p:nvSpPr>
          <p:cNvPr id="15" name="!!Focus">
            <a:extLst>
              <a:ext uri="{FF2B5EF4-FFF2-40B4-BE49-F238E27FC236}">
                <a16:creationId xmlns:a16="http://schemas.microsoft.com/office/drawing/2014/main" id="{823D83C5-4714-F4E2-906A-123EE775CF7A}"/>
              </a:ext>
            </a:extLst>
          </p:cNvPr>
          <p:cNvSpPr/>
          <p:nvPr/>
        </p:nvSpPr>
        <p:spPr>
          <a:xfrm rot="5400000">
            <a:off x="-4224956" y="3920160"/>
            <a:ext cx="884832" cy="1274113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ED1009-A8C7-6CA0-6A34-A7BBF43E4C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653024" y="833173"/>
            <a:ext cx="2123456" cy="2717083"/>
          </a:xfrm>
          <a:prstGeom prst="rect">
            <a:avLst/>
          </a:prstGeom>
        </p:spPr>
      </p:pic>
      <p:sp>
        <p:nvSpPr>
          <p:cNvPr id="17" name="&quot;Not Allowed&quot; Symbol 16">
            <a:extLst>
              <a:ext uri="{FF2B5EF4-FFF2-40B4-BE49-F238E27FC236}">
                <a16:creationId xmlns:a16="http://schemas.microsoft.com/office/drawing/2014/main" id="{4E755601-3013-75C5-E668-B35A542BD3D5}"/>
              </a:ext>
            </a:extLst>
          </p:cNvPr>
          <p:cNvSpPr/>
          <p:nvPr/>
        </p:nvSpPr>
        <p:spPr>
          <a:xfrm>
            <a:off x="-4144842" y="4267200"/>
            <a:ext cx="715846" cy="5334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&quot;Not Allowed&quot; Symbol 18">
            <a:extLst>
              <a:ext uri="{FF2B5EF4-FFF2-40B4-BE49-F238E27FC236}">
                <a16:creationId xmlns:a16="http://schemas.microsoft.com/office/drawing/2014/main" id="{545EA743-DEE4-0242-62DB-481549585FF1}"/>
              </a:ext>
            </a:extLst>
          </p:cNvPr>
          <p:cNvSpPr/>
          <p:nvPr/>
        </p:nvSpPr>
        <p:spPr>
          <a:xfrm>
            <a:off x="-7772400" y="990600"/>
            <a:ext cx="2255958" cy="2133600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0" name="!!Connector: Curved 29">
            <a:extLst>
              <a:ext uri="{FF2B5EF4-FFF2-40B4-BE49-F238E27FC236}">
                <a16:creationId xmlns:a16="http://schemas.microsoft.com/office/drawing/2014/main" id="{EDD8A08A-C085-3C2C-D56D-7F3B5083F6D0}"/>
              </a:ext>
            </a:extLst>
          </p:cNvPr>
          <p:cNvCxnSpPr>
            <a:cxnSpLocks/>
          </p:cNvCxnSpPr>
          <p:nvPr/>
        </p:nvCxnSpPr>
        <p:spPr>
          <a:xfrm rot="10800000">
            <a:off x="-6095996" y="3003674"/>
            <a:ext cx="1951154" cy="1568327"/>
          </a:xfrm>
          <a:prstGeom prst="curvedConnector3">
            <a:avLst>
              <a:gd name="adj1" fmla="val 99749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!!M1">
            <a:extLst>
              <a:ext uri="{FF2B5EF4-FFF2-40B4-BE49-F238E27FC236}">
                <a16:creationId xmlns:a16="http://schemas.microsoft.com/office/drawing/2014/main" id="{8F09B078-64C6-4E9E-F69C-9BB8DA7152A5}"/>
              </a:ext>
            </a:extLst>
          </p:cNvPr>
          <p:cNvSpPr>
            <a:spLocks/>
          </p:cNvSpPr>
          <p:nvPr/>
        </p:nvSpPr>
        <p:spPr>
          <a:xfrm>
            <a:off x="13619703" y="1097959"/>
            <a:ext cx="7259097" cy="301684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6a (Experimental Setup): </a:t>
            </a:r>
            <a:r>
              <a:rPr lang="en-US" sz="3200" dirty="0">
                <a:solidFill>
                  <a:srgbClr val="FF0000"/>
                </a:solidFill>
              </a:rPr>
              <a:t>Imaging AACs during behavior</a:t>
            </a:r>
          </a:p>
        </p:txBody>
      </p:sp>
    </p:spTree>
    <p:extLst>
      <p:ext uri="{BB962C8B-B14F-4D97-AF65-F5344CB8AC3E}">
        <p14:creationId xmlns:p14="http://schemas.microsoft.com/office/powerpoint/2010/main" val="3445176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3589C-7E12-60B9-2C18-E6BB9759B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BCDE902-FE04-F092-D8D7-68B7C96CD0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49508" y="691978"/>
            <a:ext cx="11727252" cy="7873648"/>
          </a:xfrm>
          <a:prstGeom prst="rect">
            <a:avLst/>
          </a:prstGeom>
          <a:ln w="38100">
            <a:noFill/>
          </a:ln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B4B2BA5-BA7B-B732-4D7D-C28BFCEBEA66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914400 w 14554200"/>
              <a:gd name="csY0" fmla="*/ 76201 h 6172201"/>
              <a:gd name="csX1" fmla="*/ 914400 w 14554200"/>
              <a:gd name="csY1" fmla="*/ 3810001 h 6172201"/>
              <a:gd name="csX2" fmla="*/ 5029200 w 14554200"/>
              <a:gd name="csY2" fmla="*/ 3810001 h 6172201"/>
              <a:gd name="csX3" fmla="*/ 5029200 w 14554200"/>
              <a:gd name="csY3" fmla="*/ 76201 h 6172201"/>
              <a:gd name="csX4" fmla="*/ 4876800 w 14554200"/>
              <a:gd name="csY4" fmla="*/ 76201 h 6172201"/>
              <a:gd name="csX5" fmla="*/ 969316 w 14554200"/>
              <a:gd name="csY5" fmla="*/ 76201 h 6172201"/>
              <a:gd name="csX6" fmla="*/ 0 w 14554200"/>
              <a:gd name="csY6" fmla="*/ 0 h 6172201"/>
              <a:gd name="csX7" fmla="*/ 68580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914400" y="76201"/>
                </a:moveTo>
                <a:lnTo>
                  <a:pt x="914400" y="3810001"/>
                </a:lnTo>
                <a:lnTo>
                  <a:pt x="5029200" y="3810001"/>
                </a:lnTo>
                <a:lnTo>
                  <a:pt x="5029200" y="76201"/>
                </a:lnTo>
                <a:lnTo>
                  <a:pt x="4876800" y="76201"/>
                </a:lnTo>
                <a:lnTo>
                  <a:pt x="969316" y="762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2E9A909-04D2-012B-B17E-C4E6147C7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0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66E0DD0-37DA-ECDE-8357-0244F43CDC54}"/>
              </a:ext>
            </a:extLst>
          </p:cNvPr>
          <p:cNvSpPr txBox="1"/>
          <p:nvPr/>
        </p:nvSpPr>
        <p:spPr>
          <a:xfrm>
            <a:off x="14439903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5B9A4215-FAAF-AED2-03B4-D82CB72490B1}"/>
              </a:ext>
            </a:extLst>
          </p:cNvPr>
          <p:cNvSpPr>
            <a:spLocks/>
          </p:cNvSpPr>
          <p:nvPr/>
        </p:nvSpPr>
        <p:spPr>
          <a:xfrm>
            <a:off x="4876796" y="1097959"/>
            <a:ext cx="7259097" cy="301684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6a (Experimental Setup): Imaging AACs during behavior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E9596F88-5C21-45AC-8D7D-AE24F3E855FD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7C323A48-DDC0-D754-2865-45F5401FE689}"/>
              </a:ext>
            </a:extLst>
          </p:cNvPr>
          <p:cNvSpPr>
            <a:spLocks/>
          </p:cNvSpPr>
          <p:nvPr/>
        </p:nvSpPr>
        <p:spPr>
          <a:xfrm>
            <a:off x="141131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B3789E88-C694-9216-3951-BD0FE174362D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5946AB2A-7463-9CB6-280C-5B1B0C8A214E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AACs with DS2</a:t>
            </a:r>
          </a:p>
        </p:txBody>
      </p:sp>
      <p:sp>
        <p:nvSpPr>
          <p:cNvPr id="26" name="!!M2">
            <a:extLst>
              <a:ext uri="{FF2B5EF4-FFF2-40B4-BE49-F238E27FC236}">
                <a16:creationId xmlns:a16="http://schemas.microsoft.com/office/drawing/2014/main" id="{FC16202F-4809-9317-A576-57EB23E165A1}"/>
              </a:ext>
            </a:extLst>
          </p:cNvPr>
          <p:cNvSpPr>
            <a:spLocks/>
          </p:cNvSpPr>
          <p:nvPr/>
        </p:nvSpPr>
        <p:spPr>
          <a:xfrm>
            <a:off x="12787658" y="916704"/>
            <a:ext cx="4662142" cy="361719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6b (Raw Traces): </a:t>
            </a:r>
            <a:r>
              <a:rPr lang="en-US" sz="3200" dirty="0">
                <a:solidFill>
                  <a:srgbClr val="FF0000"/>
                </a:solidFill>
              </a:rPr>
              <a:t>AACs track start of movement and DS2</a:t>
            </a:r>
          </a:p>
        </p:txBody>
      </p:sp>
    </p:spTree>
    <p:extLst>
      <p:ext uri="{BB962C8B-B14F-4D97-AF65-F5344CB8AC3E}">
        <p14:creationId xmlns:p14="http://schemas.microsoft.com/office/powerpoint/2010/main" val="2979677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1B93C-B27A-1756-3215-13710498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1AFC734-1B75-680E-691C-9DD513AD70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-4191000" y="691978"/>
            <a:ext cx="11727252" cy="7873648"/>
          </a:xfrm>
          <a:prstGeom prst="rect">
            <a:avLst/>
          </a:prstGeom>
          <a:ln w="38100">
            <a:noFill/>
          </a:ln>
        </p:spPr>
      </p:pic>
      <p:sp>
        <p:nvSpPr>
          <p:cNvPr id="25" name="!!Freeform: Shape 24">
            <a:extLst>
              <a:ext uri="{FF2B5EF4-FFF2-40B4-BE49-F238E27FC236}">
                <a16:creationId xmlns:a16="http://schemas.microsoft.com/office/drawing/2014/main" id="{AE637A05-1D12-66BA-36F0-A5EC262758A5}"/>
              </a:ext>
            </a:extLst>
          </p:cNvPr>
          <p:cNvSpPr/>
          <p:nvPr/>
        </p:nvSpPr>
        <p:spPr>
          <a:xfrm>
            <a:off x="-1676400" y="685799"/>
            <a:ext cx="25679400" cy="6172201"/>
          </a:xfrm>
          <a:custGeom>
            <a:avLst/>
            <a:gdLst>
              <a:gd name="csX0" fmla="*/ 914400 w 14554200"/>
              <a:gd name="csY0" fmla="*/ 76201 h 6172201"/>
              <a:gd name="csX1" fmla="*/ 914400 w 14554200"/>
              <a:gd name="csY1" fmla="*/ 3810001 h 6172201"/>
              <a:gd name="csX2" fmla="*/ 5029200 w 14554200"/>
              <a:gd name="csY2" fmla="*/ 3810001 h 6172201"/>
              <a:gd name="csX3" fmla="*/ 5029200 w 14554200"/>
              <a:gd name="csY3" fmla="*/ 76201 h 6172201"/>
              <a:gd name="csX4" fmla="*/ 4876800 w 14554200"/>
              <a:gd name="csY4" fmla="*/ 76201 h 6172201"/>
              <a:gd name="csX5" fmla="*/ 969316 w 14554200"/>
              <a:gd name="csY5" fmla="*/ 76201 h 6172201"/>
              <a:gd name="csX6" fmla="*/ 0 w 14554200"/>
              <a:gd name="csY6" fmla="*/ 0 h 6172201"/>
              <a:gd name="csX7" fmla="*/ 68580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914400" y="76201"/>
                </a:moveTo>
                <a:lnTo>
                  <a:pt x="914400" y="3810001"/>
                </a:lnTo>
                <a:lnTo>
                  <a:pt x="5029200" y="3810001"/>
                </a:lnTo>
                <a:lnTo>
                  <a:pt x="5029200" y="76201"/>
                </a:lnTo>
                <a:lnTo>
                  <a:pt x="4876800" y="76201"/>
                </a:lnTo>
                <a:lnTo>
                  <a:pt x="969316" y="762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FFE96D-D2CF-DC6A-9C4E-30B98D45B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0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872E92-BD44-E147-70B5-19EE53782D1C}"/>
              </a:ext>
            </a:extLst>
          </p:cNvPr>
          <p:cNvSpPr txBox="1"/>
          <p:nvPr/>
        </p:nvSpPr>
        <p:spPr>
          <a:xfrm>
            <a:off x="14439903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BCCD7172-9554-3278-1CE7-A6A395C7DBAB}"/>
              </a:ext>
            </a:extLst>
          </p:cNvPr>
          <p:cNvSpPr>
            <a:spLocks/>
          </p:cNvSpPr>
          <p:nvPr/>
        </p:nvSpPr>
        <p:spPr>
          <a:xfrm>
            <a:off x="-53340" y="4533900"/>
            <a:ext cx="2796540" cy="22479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91BEEF95-5C0E-97B7-B921-73DACBF03BC5}"/>
              </a:ext>
            </a:extLst>
          </p:cNvPr>
          <p:cNvSpPr>
            <a:spLocks/>
          </p:cNvSpPr>
          <p:nvPr/>
        </p:nvSpPr>
        <p:spPr>
          <a:xfrm>
            <a:off x="7377458" y="916704"/>
            <a:ext cx="4662142" cy="361719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070703AF-DC86-EC4B-ED5D-BF05992857BF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B9072D54-B3EE-9C7E-63EC-03589183E8CE}"/>
              </a:ext>
            </a:extLst>
          </p:cNvPr>
          <p:cNvSpPr>
            <a:spLocks/>
          </p:cNvSpPr>
          <p:nvPr/>
        </p:nvSpPr>
        <p:spPr>
          <a:xfrm>
            <a:off x="141131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62A78D3C-FDB7-96F9-7518-210DCFA1F64F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669EF00B-A7C9-8C29-8263-16CF56E4F126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AACs with DS2</a:t>
            </a:r>
          </a:p>
        </p:txBody>
      </p:sp>
    </p:spTree>
    <p:extLst>
      <p:ext uri="{BB962C8B-B14F-4D97-AF65-F5344CB8AC3E}">
        <p14:creationId xmlns:p14="http://schemas.microsoft.com/office/powerpoint/2010/main" val="3935819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9212E-7B7C-ABD6-4083-CC6C92033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8A3B4C-D796-7A7B-C2DF-D4EDE10D4A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-4191000" y="691978"/>
            <a:ext cx="11727252" cy="7873648"/>
          </a:xfrm>
          <a:prstGeom prst="rect">
            <a:avLst/>
          </a:prstGeom>
          <a:ln w="38100">
            <a:noFill/>
          </a:ln>
        </p:spPr>
      </p:pic>
      <p:sp>
        <p:nvSpPr>
          <p:cNvPr id="25" name="!!Freeform: Shape 24">
            <a:extLst>
              <a:ext uri="{FF2B5EF4-FFF2-40B4-BE49-F238E27FC236}">
                <a16:creationId xmlns:a16="http://schemas.microsoft.com/office/drawing/2014/main" id="{14DB2B92-93C6-32D2-E198-36984E6523BA}"/>
              </a:ext>
            </a:extLst>
          </p:cNvPr>
          <p:cNvSpPr/>
          <p:nvPr/>
        </p:nvSpPr>
        <p:spPr>
          <a:xfrm>
            <a:off x="-1676400" y="685799"/>
            <a:ext cx="25679400" cy="6172201"/>
          </a:xfrm>
          <a:custGeom>
            <a:avLst/>
            <a:gdLst>
              <a:gd name="csX0" fmla="*/ 914400 w 14554200"/>
              <a:gd name="csY0" fmla="*/ 76201 h 6172201"/>
              <a:gd name="csX1" fmla="*/ 914400 w 14554200"/>
              <a:gd name="csY1" fmla="*/ 3810001 h 6172201"/>
              <a:gd name="csX2" fmla="*/ 5029200 w 14554200"/>
              <a:gd name="csY2" fmla="*/ 3810001 h 6172201"/>
              <a:gd name="csX3" fmla="*/ 5029200 w 14554200"/>
              <a:gd name="csY3" fmla="*/ 76201 h 6172201"/>
              <a:gd name="csX4" fmla="*/ 4876800 w 14554200"/>
              <a:gd name="csY4" fmla="*/ 76201 h 6172201"/>
              <a:gd name="csX5" fmla="*/ 969316 w 14554200"/>
              <a:gd name="csY5" fmla="*/ 76201 h 6172201"/>
              <a:gd name="csX6" fmla="*/ 0 w 14554200"/>
              <a:gd name="csY6" fmla="*/ 0 h 6172201"/>
              <a:gd name="csX7" fmla="*/ 68580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914400" y="76201"/>
                </a:moveTo>
                <a:lnTo>
                  <a:pt x="914400" y="3810001"/>
                </a:lnTo>
                <a:lnTo>
                  <a:pt x="5029200" y="3810001"/>
                </a:lnTo>
                <a:lnTo>
                  <a:pt x="5029200" y="76201"/>
                </a:lnTo>
                <a:lnTo>
                  <a:pt x="4876800" y="76201"/>
                </a:lnTo>
                <a:lnTo>
                  <a:pt x="969316" y="762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8326863-1EAA-BB6A-C47C-9196EF997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0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8F2ABD9-20F8-D7B5-9794-415EB62CF28B}"/>
              </a:ext>
            </a:extLst>
          </p:cNvPr>
          <p:cNvSpPr txBox="1"/>
          <p:nvPr/>
        </p:nvSpPr>
        <p:spPr>
          <a:xfrm>
            <a:off x="14439903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EF8A6AEB-84BA-B702-03CF-9E43C14FE748}"/>
              </a:ext>
            </a:extLst>
          </p:cNvPr>
          <p:cNvSpPr>
            <a:spLocks/>
          </p:cNvSpPr>
          <p:nvPr/>
        </p:nvSpPr>
        <p:spPr>
          <a:xfrm>
            <a:off x="7377458" y="916704"/>
            <a:ext cx="4662142" cy="361719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0678F73E-F7F1-09AD-EFC2-C2570CA13303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1C083A1D-3354-81C4-BC36-58C88FC17466}"/>
              </a:ext>
            </a:extLst>
          </p:cNvPr>
          <p:cNvSpPr>
            <a:spLocks/>
          </p:cNvSpPr>
          <p:nvPr/>
        </p:nvSpPr>
        <p:spPr>
          <a:xfrm>
            <a:off x="141131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5" name="!!Focus">
            <a:extLst>
              <a:ext uri="{FF2B5EF4-FFF2-40B4-BE49-F238E27FC236}">
                <a16:creationId xmlns:a16="http://schemas.microsoft.com/office/drawing/2014/main" id="{F6516F86-13A6-B475-35E4-78916615545E}"/>
              </a:ext>
            </a:extLst>
          </p:cNvPr>
          <p:cNvSpPr/>
          <p:nvPr/>
        </p:nvSpPr>
        <p:spPr>
          <a:xfrm rot="5400000">
            <a:off x="-762003" y="2362201"/>
            <a:ext cx="2819403" cy="6858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12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3963602A-7A05-93A3-4D71-4DBAA3DEDE19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56A9AB09-5D96-CE3D-0C70-C94E95CDD0F1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AACs with DS2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AFBC82-1078-470F-4ADB-B6139C4D57CE}"/>
              </a:ext>
            </a:extLst>
          </p:cNvPr>
          <p:cNvCxnSpPr/>
          <p:nvPr/>
        </p:nvCxnSpPr>
        <p:spPr>
          <a:xfrm>
            <a:off x="651560" y="1477260"/>
            <a:ext cx="0" cy="257245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020E28-10A5-0A75-FF01-F49B78FDF069}"/>
              </a:ext>
            </a:extLst>
          </p:cNvPr>
          <p:cNvCxnSpPr/>
          <p:nvPr/>
        </p:nvCxnSpPr>
        <p:spPr>
          <a:xfrm>
            <a:off x="652357" y="1466141"/>
            <a:ext cx="0" cy="2572459"/>
          </a:xfrm>
          <a:prstGeom prst="line">
            <a:avLst/>
          </a:prstGeom>
          <a:ln w="28575">
            <a:solidFill>
              <a:srgbClr val="007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6992A10-98E6-AB70-B480-C8A26A130AA1}"/>
              </a:ext>
            </a:extLst>
          </p:cNvPr>
          <p:cNvCxnSpPr>
            <a:cxnSpLocks/>
          </p:cNvCxnSpPr>
          <p:nvPr/>
        </p:nvCxnSpPr>
        <p:spPr>
          <a:xfrm flipV="1">
            <a:off x="564208" y="2743200"/>
            <a:ext cx="163469" cy="152400"/>
          </a:xfrm>
          <a:prstGeom prst="straightConnector1">
            <a:avLst/>
          </a:prstGeom>
          <a:ln w="6350" cap="flat">
            <a:solidFill>
              <a:srgbClr val="BA3B88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F6AFF05-9B77-963E-AF2E-3A0A6F4CD744}"/>
              </a:ext>
            </a:extLst>
          </p:cNvPr>
          <p:cNvCxnSpPr>
            <a:cxnSpLocks/>
          </p:cNvCxnSpPr>
          <p:nvPr/>
        </p:nvCxnSpPr>
        <p:spPr>
          <a:xfrm flipV="1">
            <a:off x="564208" y="2182906"/>
            <a:ext cx="163469" cy="152400"/>
          </a:xfrm>
          <a:prstGeom prst="straightConnector1">
            <a:avLst/>
          </a:prstGeom>
          <a:ln w="6350" cap="flat">
            <a:solidFill>
              <a:srgbClr val="BA3B88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CC339F5-06E0-F125-274B-A87AEDBE6434}"/>
              </a:ext>
            </a:extLst>
          </p:cNvPr>
          <p:cNvCxnSpPr>
            <a:cxnSpLocks/>
          </p:cNvCxnSpPr>
          <p:nvPr/>
        </p:nvCxnSpPr>
        <p:spPr>
          <a:xfrm flipV="1">
            <a:off x="564208" y="1723465"/>
            <a:ext cx="163469" cy="152400"/>
          </a:xfrm>
          <a:prstGeom prst="straightConnector1">
            <a:avLst/>
          </a:prstGeom>
          <a:ln w="6350" cap="flat">
            <a:solidFill>
              <a:srgbClr val="BA3B88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E35B993-764B-406E-7DB6-17E6857BF88B}"/>
              </a:ext>
            </a:extLst>
          </p:cNvPr>
          <p:cNvCxnSpPr>
            <a:cxnSpLocks/>
          </p:cNvCxnSpPr>
          <p:nvPr/>
        </p:nvCxnSpPr>
        <p:spPr>
          <a:xfrm flipV="1">
            <a:off x="564208" y="3287177"/>
            <a:ext cx="163469" cy="152400"/>
          </a:xfrm>
          <a:prstGeom prst="straightConnector1">
            <a:avLst/>
          </a:prstGeom>
          <a:ln w="6350" cap="flat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1">
            <a:extLst>
              <a:ext uri="{FF2B5EF4-FFF2-40B4-BE49-F238E27FC236}">
                <a16:creationId xmlns:a16="http://schemas.microsoft.com/office/drawing/2014/main" id="{5078E306-63D4-10E6-BBE8-649A17454843}"/>
              </a:ext>
            </a:extLst>
          </p:cNvPr>
          <p:cNvSpPr>
            <a:spLocks/>
          </p:cNvSpPr>
          <p:nvPr/>
        </p:nvSpPr>
        <p:spPr>
          <a:xfrm>
            <a:off x="-53340" y="4533900"/>
            <a:ext cx="2796540" cy="22479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</p:spTree>
    <p:extLst>
      <p:ext uri="{BB962C8B-B14F-4D97-AF65-F5344CB8AC3E}">
        <p14:creationId xmlns:p14="http://schemas.microsoft.com/office/powerpoint/2010/main" val="1084985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51B2-D9DB-E1EB-0527-32FB440EB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ACF5A6B-5B5A-5E1A-A229-728AB93624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-4191000" y="691978"/>
            <a:ext cx="11727252" cy="7873648"/>
          </a:xfrm>
          <a:prstGeom prst="rect">
            <a:avLst/>
          </a:prstGeom>
          <a:ln w="38100">
            <a:noFill/>
          </a:ln>
        </p:spPr>
      </p:pic>
      <p:sp>
        <p:nvSpPr>
          <p:cNvPr id="25" name="!!Freeform: Shape 24">
            <a:extLst>
              <a:ext uri="{FF2B5EF4-FFF2-40B4-BE49-F238E27FC236}">
                <a16:creationId xmlns:a16="http://schemas.microsoft.com/office/drawing/2014/main" id="{DED65814-4DFF-8E1A-752B-26BF0E50588B}"/>
              </a:ext>
            </a:extLst>
          </p:cNvPr>
          <p:cNvSpPr/>
          <p:nvPr/>
        </p:nvSpPr>
        <p:spPr>
          <a:xfrm>
            <a:off x="-1676400" y="685799"/>
            <a:ext cx="25679400" cy="6172201"/>
          </a:xfrm>
          <a:custGeom>
            <a:avLst/>
            <a:gdLst>
              <a:gd name="csX0" fmla="*/ 914400 w 14554200"/>
              <a:gd name="csY0" fmla="*/ 76201 h 6172201"/>
              <a:gd name="csX1" fmla="*/ 914400 w 14554200"/>
              <a:gd name="csY1" fmla="*/ 3810001 h 6172201"/>
              <a:gd name="csX2" fmla="*/ 5029200 w 14554200"/>
              <a:gd name="csY2" fmla="*/ 3810001 h 6172201"/>
              <a:gd name="csX3" fmla="*/ 5029200 w 14554200"/>
              <a:gd name="csY3" fmla="*/ 76201 h 6172201"/>
              <a:gd name="csX4" fmla="*/ 4876800 w 14554200"/>
              <a:gd name="csY4" fmla="*/ 76201 h 6172201"/>
              <a:gd name="csX5" fmla="*/ 969316 w 14554200"/>
              <a:gd name="csY5" fmla="*/ 76201 h 6172201"/>
              <a:gd name="csX6" fmla="*/ 0 w 14554200"/>
              <a:gd name="csY6" fmla="*/ 0 h 6172201"/>
              <a:gd name="csX7" fmla="*/ 68580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914400" y="76201"/>
                </a:moveTo>
                <a:lnTo>
                  <a:pt x="914400" y="3810001"/>
                </a:lnTo>
                <a:lnTo>
                  <a:pt x="5029200" y="3810001"/>
                </a:lnTo>
                <a:lnTo>
                  <a:pt x="5029200" y="76201"/>
                </a:lnTo>
                <a:lnTo>
                  <a:pt x="4876800" y="76201"/>
                </a:lnTo>
                <a:lnTo>
                  <a:pt x="969316" y="762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B9110E7-8B29-B892-5CEA-715619406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0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E84DF32-743C-B712-3950-0B213B95D94A}"/>
              </a:ext>
            </a:extLst>
          </p:cNvPr>
          <p:cNvSpPr txBox="1"/>
          <p:nvPr/>
        </p:nvSpPr>
        <p:spPr>
          <a:xfrm>
            <a:off x="14439903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5BFB4AE7-BBA6-C4E1-E010-4B59B737F3BA}"/>
              </a:ext>
            </a:extLst>
          </p:cNvPr>
          <p:cNvSpPr>
            <a:spLocks/>
          </p:cNvSpPr>
          <p:nvPr/>
        </p:nvSpPr>
        <p:spPr>
          <a:xfrm>
            <a:off x="7377458" y="916704"/>
            <a:ext cx="4662142" cy="361719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2D37E832-D0C6-8F34-E69D-9BCD1E816C59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63777A2B-6EA3-9D33-636A-FD3DE55D0DE7}"/>
              </a:ext>
            </a:extLst>
          </p:cNvPr>
          <p:cNvSpPr>
            <a:spLocks/>
          </p:cNvSpPr>
          <p:nvPr/>
        </p:nvSpPr>
        <p:spPr>
          <a:xfrm>
            <a:off x="141131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5" name="!!Focus">
            <a:extLst>
              <a:ext uri="{FF2B5EF4-FFF2-40B4-BE49-F238E27FC236}">
                <a16:creationId xmlns:a16="http://schemas.microsoft.com/office/drawing/2014/main" id="{E8B8A201-E270-42D9-729A-7CA49E073EC8}"/>
              </a:ext>
            </a:extLst>
          </p:cNvPr>
          <p:cNvSpPr/>
          <p:nvPr/>
        </p:nvSpPr>
        <p:spPr>
          <a:xfrm rot="5400000">
            <a:off x="1081755" y="2362201"/>
            <a:ext cx="2819403" cy="6858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12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874A3FB1-9489-1A38-405E-B6C527D11A1C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A2B86E05-410B-A257-F9F4-EECD74C39111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AACs with DS2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F8CBFD-F7D4-05CB-FDBF-049A1F420CFF}"/>
              </a:ext>
            </a:extLst>
          </p:cNvPr>
          <p:cNvCxnSpPr/>
          <p:nvPr/>
        </p:nvCxnSpPr>
        <p:spPr>
          <a:xfrm>
            <a:off x="2495318" y="1477260"/>
            <a:ext cx="0" cy="257245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9A165F7-811B-B6FD-9F42-7AE30A86CBC1}"/>
              </a:ext>
            </a:extLst>
          </p:cNvPr>
          <p:cNvCxnSpPr/>
          <p:nvPr/>
        </p:nvCxnSpPr>
        <p:spPr>
          <a:xfrm>
            <a:off x="2496115" y="1466141"/>
            <a:ext cx="0" cy="2572459"/>
          </a:xfrm>
          <a:prstGeom prst="line">
            <a:avLst/>
          </a:prstGeom>
          <a:ln w="28575">
            <a:solidFill>
              <a:srgbClr val="007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D848B2-7DD9-4D71-6D68-5B097EE6099D}"/>
              </a:ext>
            </a:extLst>
          </p:cNvPr>
          <p:cNvCxnSpPr>
            <a:cxnSpLocks/>
          </p:cNvCxnSpPr>
          <p:nvPr/>
        </p:nvCxnSpPr>
        <p:spPr>
          <a:xfrm flipV="1">
            <a:off x="2407966" y="2743200"/>
            <a:ext cx="163469" cy="152400"/>
          </a:xfrm>
          <a:prstGeom prst="straightConnector1">
            <a:avLst/>
          </a:prstGeom>
          <a:ln w="6350" cap="flat">
            <a:solidFill>
              <a:srgbClr val="BA3B88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3EA67F-E2EB-C49B-C5EF-8503428B27BF}"/>
              </a:ext>
            </a:extLst>
          </p:cNvPr>
          <p:cNvCxnSpPr>
            <a:cxnSpLocks/>
          </p:cNvCxnSpPr>
          <p:nvPr/>
        </p:nvCxnSpPr>
        <p:spPr>
          <a:xfrm flipV="1">
            <a:off x="2407966" y="2182906"/>
            <a:ext cx="163469" cy="152400"/>
          </a:xfrm>
          <a:prstGeom prst="straightConnector1">
            <a:avLst/>
          </a:prstGeom>
          <a:ln w="6350" cap="flat">
            <a:solidFill>
              <a:srgbClr val="BA3B88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CB0665-649D-5322-0BF2-ECB2A11E7C43}"/>
              </a:ext>
            </a:extLst>
          </p:cNvPr>
          <p:cNvCxnSpPr>
            <a:cxnSpLocks/>
          </p:cNvCxnSpPr>
          <p:nvPr/>
        </p:nvCxnSpPr>
        <p:spPr>
          <a:xfrm flipV="1">
            <a:off x="2407966" y="1723465"/>
            <a:ext cx="163469" cy="152400"/>
          </a:xfrm>
          <a:prstGeom prst="straightConnector1">
            <a:avLst/>
          </a:prstGeom>
          <a:ln w="6350" cap="flat">
            <a:solidFill>
              <a:srgbClr val="BA3B88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599E7C3-97B3-6C53-FA73-D961D5595CCE}"/>
              </a:ext>
            </a:extLst>
          </p:cNvPr>
          <p:cNvCxnSpPr>
            <a:cxnSpLocks/>
          </p:cNvCxnSpPr>
          <p:nvPr/>
        </p:nvCxnSpPr>
        <p:spPr>
          <a:xfrm flipV="1">
            <a:off x="2407966" y="3287177"/>
            <a:ext cx="163469" cy="152400"/>
          </a:xfrm>
          <a:prstGeom prst="straightConnector1">
            <a:avLst/>
          </a:prstGeom>
          <a:ln w="6350" cap="flat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1">
            <a:extLst>
              <a:ext uri="{FF2B5EF4-FFF2-40B4-BE49-F238E27FC236}">
                <a16:creationId xmlns:a16="http://schemas.microsoft.com/office/drawing/2014/main" id="{029746B7-A597-756A-E3BD-8EA31C1C8025}"/>
              </a:ext>
            </a:extLst>
          </p:cNvPr>
          <p:cNvSpPr>
            <a:spLocks/>
          </p:cNvSpPr>
          <p:nvPr/>
        </p:nvSpPr>
        <p:spPr>
          <a:xfrm>
            <a:off x="-53340" y="4533900"/>
            <a:ext cx="2796540" cy="22479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</p:spTree>
    <p:extLst>
      <p:ext uri="{BB962C8B-B14F-4D97-AF65-F5344CB8AC3E}">
        <p14:creationId xmlns:p14="http://schemas.microsoft.com/office/powerpoint/2010/main" val="3004692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C35FD-7B0C-3B37-BAB2-082AC52E6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8E4AEED-A5AD-B693-AAAC-7704F39843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-4191000" y="691978"/>
            <a:ext cx="11727252" cy="7873648"/>
          </a:xfrm>
          <a:prstGeom prst="rect">
            <a:avLst/>
          </a:prstGeom>
          <a:ln w="38100">
            <a:noFill/>
          </a:ln>
        </p:spPr>
      </p:pic>
      <p:sp>
        <p:nvSpPr>
          <p:cNvPr id="25" name="!!Freeform: Shape 24">
            <a:extLst>
              <a:ext uri="{FF2B5EF4-FFF2-40B4-BE49-F238E27FC236}">
                <a16:creationId xmlns:a16="http://schemas.microsoft.com/office/drawing/2014/main" id="{E19FB40C-92B0-F898-4EE6-7E7019A707E8}"/>
              </a:ext>
            </a:extLst>
          </p:cNvPr>
          <p:cNvSpPr/>
          <p:nvPr/>
        </p:nvSpPr>
        <p:spPr>
          <a:xfrm>
            <a:off x="-1676400" y="685799"/>
            <a:ext cx="25679400" cy="6172201"/>
          </a:xfrm>
          <a:custGeom>
            <a:avLst/>
            <a:gdLst>
              <a:gd name="csX0" fmla="*/ 914400 w 14554200"/>
              <a:gd name="csY0" fmla="*/ 76201 h 6172201"/>
              <a:gd name="csX1" fmla="*/ 914400 w 14554200"/>
              <a:gd name="csY1" fmla="*/ 3810001 h 6172201"/>
              <a:gd name="csX2" fmla="*/ 5029200 w 14554200"/>
              <a:gd name="csY2" fmla="*/ 3810001 h 6172201"/>
              <a:gd name="csX3" fmla="*/ 5029200 w 14554200"/>
              <a:gd name="csY3" fmla="*/ 76201 h 6172201"/>
              <a:gd name="csX4" fmla="*/ 4876800 w 14554200"/>
              <a:gd name="csY4" fmla="*/ 76201 h 6172201"/>
              <a:gd name="csX5" fmla="*/ 969316 w 14554200"/>
              <a:gd name="csY5" fmla="*/ 76201 h 6172201"/>
              <a:gd name="csX6" fmla="*/ 0 w 14554200"/>
              <a:gd name="csY6" fmla="*/ 0 h 6172201"/>
              <a:gd name="csX7" fmla="*/ 68580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914400" y="76201"/>
                </a:moveTo>
                <a:lnTo>
                  <a:pt x="914400" y="3810001"/>
                </a:lnTo>
                <a:lnTo>
                  <a:pt x="5029200" y="3810001"/>
                </a:lnTo>
                <a:lnTo>
                  <a:pt x="5029200" y="76201"/>
                </a:lnTo>
                <a:lnTo>
                  <a:pt x="4876800" y="76201"/>
                </a:lnTo>
                <a:lnTo>
                  <a:pt x="969316" y="762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3136D85-5603-60DA-A754-5D20EB393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0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53F2357-D1F2-0E23-90D6-E91A81A6F2DF}"/>
              </a:ext>
            </a:extLst>
          </p:cNvPr>
          <p:cNvSpPr txBox="1"/>
          <p:nvPr/>
        </p:nvSpPr>
        <p:spPr>
          <a:xfrm>
            <a:off x="14439903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0C60868E-0883-1AE7-3AD3-A9D5395B2525}"/>
              </a:ext>
            </a:extLst>
          </p:cNvPr>
          <p:cNvSpPr>
            <a:spLocks/>
          </p:cNvSpPr>
          <p:nvPr/>
        </p:nvSpPr>
        <p:spPr>
          <a:xfrm>
            <a:off x="7377458" y="916704"/>
            <a:ext cx="4662142" cy="361719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D26F9A33-09B3-3776-C7C3-86F4A3240D1B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C2680FE6-B540-33D8-BAE3-31A241DE30F7}"/>
              </a:ext>
            </a:extLst>
          </p:cNvPr>
          <p:cNvSpPr>
            <a:spLocks/>
          </p:cNvSpPr>
          <p:nvPr/>
        </p:nvSpPr>
        <p:spPr>
          <a:xfrm>
            <a:off x="141131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5" name="!!Focus">
            <a:extLst>
              <a:ext uri="{FF2B5EF4-FFF2-40B4-BE49-F238E27FC236}">
                <a16:creationId xmlns:a16="http://schemas.microsoft.com/office/drawing/2014/main" id="{AF2A9FF7-EC02-FDA9-CC20-E588FC2F1FB4}"/>
              </a:ext>
            </a:extLst>
          </p:cNvPr>
          <p:cNvSpPr/>
          <p:nvPr/>
        </p:nvSpPr>
        <p:spPr>
          <a:xfrm rot="5400000">
            <a:off x="1688979" y="2362201"/>
            <a:ext cx="2819403" cy="6858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12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D7B7F7E5-62CE-04F6-2360-4BCE2B6728E8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1D3A034D-4610-DCA5-17B4-E453C201A920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AACs with DS2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8F4212-5037-E2E9-F24F-D24E808C8DFE}"/>
              </a:ext>
            </a:extLst>
          </p:cNvPr>
          <p:cNvCxnSpPr/>
          <p:nvPr/>
        </p:nvCxnSpPr>
        <p:spPr>
          <a:xfrm>
            <a:off x="3102542" y="1477260"/>
            <a:ext cx="0" cy="257245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74796E-B95B-8F82-5FC9-4AC9B6F2ADD4}"/>
              </a:ext>
            </a:extLst>
          </p:cNvPr>
          <p:cNvCxnSpPr/>
          <p:nvPr/>
        </p:nvCxnSpPr>
        <p:spPr>
          <a:xfrm>
            <a:off x="3103339" y="1466141"/>
            <a:ext cx="0" cy="2572459"/>
          </a:xfrm>
          <a:prstGeom prst="line">
            <a:avLst/>
          </a:prstGeom>
          <a:ln w="28575">
            <a:solidFill>
              <a:srgbClr val="007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15A14-633E-3E77-4E76-B4251F6B4617}"/>
              </a:ext>
            </a:extLst>
          </p:cNvPr>
          <p:cNvCxnSpPr>
            <a:cxnSpLocks/>
          </p:cNvCxnSpPr>
          <p:nvPr/>
        </p:nvCxnSpPr>
        <p:spPr>
          <a:xfrm flipV="1">
            <a:off x="3015190" y="2743200"/>
            <a:ext cx="163469" cy="152400"/>
          </a:xfrm>
          <a:prstGeom prst="straightConnector1">
            <a:avLst/>
          </a:prstGeom>
          <a:ln w="6350" cap="flat">
            <a:solidFill>
              <a:srgbClr val="BA3B88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0782E64-DF2F-E97B-20FC-962ED4D453D5}"/>
              </a:ext>
            </a:extLst>
          </p:cNvPr>
          <p:cNvCxnSpPr>
            <a:cxnSpLocks/>
          </p:cNvCxnSpPr>
          <p:nvPr/>
        </p:nvCxnSpPr>
        <p:spPr>
          <a:xfrm flipV="1">
            <a:off x="3015190" y="2182906"/>
            <a:ext cx="163469" cy="152400"/>
          </a:xfrm>
          <a:prstGeom prst="straightConnector1">
            <a:avLst/>
          </a:prstGeom>
          <a:ln w="6350" cap="flat">
            <a:solidFill>
              <a:srgbClr val="BA3B88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523C53-4F48-47DB-37AC-D03C162B7F58}"/>
              </a:ext>
            </a:extLst>
          </p:cNvPr>
          <p:cNvCxnSpPr>
            <a:cxnSpLocks/>
          </p:cNvCxnSpPr>
          <p:nvPr/>
        </p:nvCxnSpPr>
        <p:spPr>
          <a:xfrm flipV="1">
            <a:off x="3015190" y="1723465"/>
            <a:ext cx="163469" cy="152400"/>
          </a:xfrm>
          <a:prstGeom prst="straightConnector1">
            <a:avLst/>
          </a:prstGeom>
          <a:ln w="6350" cap="flat">
            <a:solidFill>
              <a:srgbClr val="BA3B88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9AC6958-A591-51E8-C4A1-A8EF95F71E6E}"/>
              </a:ext>
            </a:extLst>
          </p:cNvPr>
          <p:cNvCxnSpPr>
            <a:cxnSpLocks/>
          </p:cNvCxnSpPr>
          <p:nvPr/>
        </p:nvCxnSpPr>
        <p:spPr>
          <a:xfrm flipV="1">
            <a:off x="3015190" y="3229342"/>
            <a:ext cx="163469" cy="152400"/>
          </a:xfrm>
          <a:prstGeom prst="straightConnector1">
            <a:avLst/>
          </a:prstGeom>
          <a:ln w="6350" cap="flat"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1">
            <a:extLst>
              <a:ext uri="{FF2B5EF4-FFF2-40B4-BE49-F238E27FC236}">
                <a16:creationId xmlns:a16="http://schemas.microsoft.com/office/drawing/2014/main" id="{687EEC63-7873-0A53-0CBA-0EAA9925861D}"/>
              </a:ext>
            </a:extLst>
          </p:cNvPr>
          <p:cNvSpPr>
            <a:spLocks/>
          </p:cNvSpPr>
          <p:nvPr/>
        </p:nvSpPr>
        <p:spPr>
          <a:xfrm>
            <a:off x="-53340" y="4533900"/>
            <a:ext cx="2796540" cy="22479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</p:spTree>
    <p:extLst>
      <p:ext uri="{BB962C8B-B14F-4D97-AF65-F5344CB8AC3E}">
        <p14:creationId xmlns:p14="http://schemas.microsoft.com/office/powerpoint/2010/main" val="4136071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A3C7-2DBA-2718-0C8A-87FF0D287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FFDCFC2-99AB-F43F-F0E2-D355830B6A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-4191000" y="691978"/>
            <a:ext cx="11727252" cy="7873648"/>
          </a:xfrm>
          <a:prstGeom prst="rect">
            <a:avLst/>
          </a:prstGeom>
          <a:ln w="38100">
            <a:noFill/>
          </a:ln>
        </p:spPr>
      </p:pic>
      <p:sp>
        <p:nvSpPr>
          <p:cNvPr id="25" name="!!Freeform: Shape 24">
            <a:extLst>
              <a:ext uri="{FF2B5EF4-FFF2-40B4-BE49-F238E27FC236}">
                <a16:creationId xmlns:a16="http://schemas.microsoft.com/office/drawing/2014/main" id="{069A64D0-27BB-6307-A447-F282D8627E82}"/>
              </a:ext>
            </a:extLst>
          </p:cNvPr>
          <p:cNvSpPr/>
          <p:nvPr/>
        </p:nvSpPr>
        <p:spPr>
          <a:xfrm>
            <a:off x="-1676400" y="685799"/>
            <a:ext cx="25679400" cy="6172201"/>
          </a:xfrm>
          <a:custGeom>
            <a:avLst/>
            <a:gdLst>
              <a:gd name="csX0" fmla="*/ 914400 w 14554200"/>
              <a:gd name="csY0" fmla="*/ 76201 h 6172201"/>
              <a:gd name="csX1" fmla="*/ 914400 w 14554200"/>
              <a:gd name="csY1" fmla="*/ 3810001 h 6172201"/>
              <a:gd name="csX2" fmla="*/ 5029200 w 14554200"/>
              <a:gd name="csY2" fmla="*/ 3810001 h 6172201"/>
              <a:gd name="csX3" fmla="*/ 5029200 w 14554200"/>
              <a:gd name="csY3" fmla="*/ 76201 h 6172201"/>
              <a:gd name="csX4" fmla="*/ 4876800 w 14554200"/>
              <a:gd name="csY4" fmla="*/ 76201 h 6172201"/>
              <a:gd name="csX5" fmla="*/ 969316 w 14554200"/>
              <a:gd name="csY5" fmla="*/ 76201 h 6172201"/>
              <a:gd name="csX6" fmla="*/ 0 w 14554200"/>
              <a:gd name="csY6" fmla="*/ 0 h 6172201"/>
              <a:gd name="csX7" fmla="*/ 68580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914400" y="76201"/>
                </a:moveTo>
                <a:lnTo>
                  <a:pt x="914400" y="3810001"/>
                </a:lnTo>
                <a:lnTo>
                  <a:pt x="5029200" y="3810001"/>
                </a:lnTo>
                <a:lnTo>
                  <a:pt x="5029200" y="76201"/>
                </a:lnTo>
                <a:lnTo>
                  <a:pt x="4876800" y="76201"/>
                </a:lnTo>
                <a:lnTo>
                  <a:pt x="969316" y="762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43E22C2-39FE-BB3A-9742-FFCD7608B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0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C438188-610F-2F44-FDBC-6589712AD539}"/>
              </a:ext>
            </a:extLst>
          </p:cNvPr>
          <p:cNvSpPr txBox="1"/>
          <p:nvPr/>
        </p:nvSpPr>
        <p:spPr>
          <a:xfrm>
            <a:off x="14439903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1E4E096F-2B9D-A521-2319-404980FFF4DB}"/>
              </a:ext>
            </a:extLst>
          </p:cNvPr>
          <p:cNvSpPr>
            <a:spLocks/>
          </p:cNvSpPr>
          <p:nvPr/>
        </p:nvSpPr>
        <p:spPr>
          <a:xfrm>
            <a:off x="7377458" y="916704"/>
            <a:ext cx="4662142" cy="361719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3CF945DF-92D1-EE2E-4983-E4AB1882F3DB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442F3BA0-F5F0-EF46-E715-58AB12C5C49E}"/>
              </a:ext>
            </a:extLst>
          </p:cNvPr>
          <p:cNvSpPr>
            <a:spLocks/>
          </p:cNvSpPr>
          <p:nvPr/>
        </p:nvSpPr>
        <p:spPr>
          <a:xfrm>
            <a:off x="141131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5" name="!!Focus">
            <a:extLst>
              <a:ext uri="{FF2B5EF4-FFF2-40B4-BE49-F238E27FC236}">
                <a16:creationId xmlns:a16="http://schemas.microsoft.com/office/drawing/2014/main" id="{E976CAC6-ECBB-9006-6002-9FB19812E67E}"/>
              </a:ext>
            </a:extLst>
          </p:cNvPr>
          <p:cNvSpPr/>
          <p:nvPr/>
        </p:nvSpPr>
        <p:spPr>
          <a:xfrm rot="5400000">
            <a:off x="2376827" y="2115098"/>
            <a:ext cx="2819403" cy="111374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12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AC7642D9-2076-24CB-E460-37BE1D1429FC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34A28A35-91FC-778B-861C-EBB34CD516F7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AACs with DS2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86470A-CB45-107D-AB1C-A5DD213B2C14}"/>
              </a:ext>
            </a:extLst>
          </p:cNvPr>
          <p:cNvCxnSpPr/>
          <p:nvPr/>
        </p:nvCxnSpPr>
        <p:spPr>
          <a:xfrm>
            <a:off x="3429000" y="1389941"/>
            <a:ext cx="0" cy="2572459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82D29E-F048-6D71-731C-AD2805464B84}"/>
              </a:ext>
            </a:extLst>
          </p:cNvPr>
          <p:cNvCxnSpPr/>
          <p:nvPr/>
        </p:nvCxnSpPr>
        <p:spPr>
          <a:xfrm>
            <a:off x="3657600" y="1389941"/>
            <a:ext cx="0" cy="2572459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C3F21C-0B07-F412-A113-4E1F768BC80B}"/>
              </a:ext>
            </a:extLst>
          </p:cNvPr>
          <p:cNvCxnSpPr/>
          <p:nvPr/>
        </p:nvCxnSpPr>
        <p:spPr>
          <a:xfrm>
            <a:off x="3886200" y="1389941"/>
            <a:ext cx="0" cy="2572459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6D6029-D979-AD15-4704-11EADA19F558}"/>
              </a:ext>
            </a:extLst>
          </p:cNvPr>
          <p:cNvCxnSpPr/>
          <p:nvPr/>
        </p:nvCxnSpPr>
        <p:spPr>
          <a:xfrm>
            <a:off x="4114800" y="1389941"/>
            <a:ext cx="0" cy="2572459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1">
            <a:extLst>
              <a:ext uri="{FF2B5EF4-FFF2-40B4-BE49-F238E27FC236}">
                <a16:creationId xmlns:a16="http://schemas.microsoft.com/office/drawing/2014/main" id="{BC9D737F-431E-3902-2A80-5284AECE6326}"/>
              </a:ext>
            </a:extLst>
          </p:cNvPr>
          <p:cNvSpPr>
            <a:spLocks/>
          </p:cNvSpPr>
          <p:nvPr/>
        </p:nvSpPr>
        <p:spPr>
          <a:xfrm>
            <a:off x="-53340" y="4533900"/>
            <a:ext cx="2796540" cy="22479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</p:spTree>
    <p:extLst>
      <p:ext uri="{BB962C8B-B14F-4D97-AF65-F5344CB8AC3E}">
        <p14:creationId xmlns:p14="http://schemas.microsoft.com/office/powerpoint/2010/main" val="4100617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86244-FB37-00BA-CB29-E417A8AEC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DF9EF10-31AF-C545-7D71-6F9CDF1954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-4191000" y="691978"/>
            <a:ext cx="11727252" cy="7873648"/>
          </a:xfrm>
          <a:prstGeom prst="rect">
            <a:avLst/>
          </a:prstGeom>
          <a:ln w="38100">
            <a:noFill/>
          </a:ln>
        </p:spPr>
      </p:pic>
      <p:sp>
        <p:nvSpPr>
          <p:cNvPr id="25" name="!!Freeform: Shape 24">
            <a:extLst>
              <a:ext uri="{FF2B5EF4-FFF2-40B4-BE49-F238E27FC236}">
                <a16:creationId xmlns:a16="http://schemas.microsoft.com/office/drawing/2014/main" id="{21FEB0DE-131C-AAFE-57E4-DA0D4C4820DE}"/>
              </a:ext>
            </a:extLst>
          </p:cNvPr>
          <p:cNvSpPr/>
          <p:nvPr/>
        </p:nvSpPr>
        <p:spPr>
          <a:xfrm>
            <a:off x="-1676400" y="685799"/>
            <a:ext cx="25679400" cy="6172201"/>
          </a:xfrm>
          <a:custGeom>
            <a:avLst/>
            <a:gdLst>
              <a:gd name="csX0" fmla="*/ 914400 w 14554200"/>
              <a:gd name="csY0" fmla="*/ 76201 h 6172201"/>
              <a:gd name="csX1" fmla="*/ 914400 w 14554200"/>
              <a:gd name="csY1" fmla="*/ 3810001 h 6172201"/>
              <a:gd name="csX2" fmla="*/ 5029200 w 14554200"/>
              <a:gd name="csY2" fmla="*/ 3810001 h 6172201"/>
              <a:gd name="csX3" fmla="*/ 5029200 w 14554200"/>
              <a:gd name="csY3" fmla="*/ 76201 h 6172201"/>
              <a:gd name="csX4" fmla="*/ 4876800 w 14554200"/>
              <a:gd name="csY4" fmla="*/ 76201 h 6172201"/>
              <a:gd name="csX5" fmla="*/ 969316 w 14554200"/>
              <a:gd name="csY5" fmla="*/ 76201 h 6172201"/>
              <a:gd name="csX6" fmla="*/ 0 w 14554200"/>
              <a:gd name="csY6" fmla="*/ 0 h 6172201"/>
              <a:gd name="csX7" fmla="*/ 68580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914400" y="76201"/>
                </a:moveTo>
                <a:lnTo>
                  <a:pt x="914400" y="3810001"/>
                </a:lnTo>
                <a:lnTo>
                  <a:pt x="5029200" y="3810001"/>
                </a:lnTo>
                <a:lnTo>
                  <a:pt x="5029200" y="76201"/>
                </a:lnTo>
                <a:lnTo>
                  <a:pt x="4876800" y="76201"/>
                </a:lnTo>
                <a:lnTo>
                  <a:pt x="969316" y="762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09C83D-FEB5-36CB-5B6E-D40C8FB3D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0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883CF89-716E-1D98-2340-37A32B09FB83}"/>
              </a:ext>
            </a:extLst>
          </p:cNvPr>
          <p:cNvSpPr txBox="1"/>
          <p:nvPr/>
        </p:nvSpPr>
        <p:spPr>
          <a:xfrm>
            <a:off x="14439903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FC020EDB-6D4E-E88C-8849-4C7A66F32901}"/>
              </a:ext>
            </a:extLst>
          </p:cNvPr>
          <p:cNvSpPr>
            <a:spLocks/>
          </p:cNvSpPr>
          <p:nvPr/>
        </p:nvSpPr>
        <p:spPr>
          <a:xfrm>
            <a:off x="7377458" y="916704"/>
            <a:ext cx="4662142" cy="361719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4C79D05D-D3C7-0ABD-087D-6FC6F87C4814}"/>
              </a:ext>
            </a:extLst>
          </p:cNvPr>
          <p:cNvSpPr>
            <a:spLocks/>
          </p:cNvSpPr>
          <p:nvPr/>
        </p:nvSpPr>
        <p:spPr>
          <a:xfrm>
            <a:off x="141131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8CAEB5D1-56AA-F52E-BE04-530F5F0DB1DA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6403B55D-54B9-34EA-68F0-37169B24915D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AACs with DS2</a:t>
            </a:r>
          </a:p>
        </p:txBody>
      </p:sp>
      <p:sp>
        <p:nvSpPr>
          <p:cNvPr id="8" name="!!Focus">
            <a:extLst>
              <a:ext uri="{FF2B5EF4-FFF2-40B4-BE49-F238E27FC236}">
                <a16:creationId xmlns:a16="http://schemas.microsoft.com/office/drawing/2014/main" id="{5480F508-B922-A435-986F-3ECE72AD5A23}"/>
              </a:ext>
            </a:extLst>
          </p:cNvPr>
          <p:cNvSpPr/>
          <p:nvPr/>
        </p:nvSpPr>
        <p:spPr>
          <a:xfrm rot="5400000">
            <a:off x="3809999" y="2365930"/>
            <a:ext cx="2819403" cy="6858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12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C8E1D5-33F9-0EF8-4AD8-C0DA692E503B}"/>
              </a:ext>
            </a:extLst>
          </p:cNvPr>
          <p:cNvCxnSpPr>
            <a:cxnSpLocks/>
          </p:cNvCxnSpPr>
          <p:nvPr/>
        </p:nvCxnSpPr>
        <p:spPr>
          <a:xfrm>
            <a:off x="5183025" y="1480989"/>
            <a:ext cx="0" cy="2572459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59FDCA-37D8-A297-8BF6-962FAEA8A9BC}"/>
              </a:ext>
            </a:extLst>
          </p:cNvPr>
          <p:cNvCxnSpPr>
            <a:cxnSpLocks/>
          </p:cNvCxnSpPr>
          <p:nvPr/>
        </p:nvCxnSpPr>
        <p:spPr>
          <a:xfrm>
            <a:off x="5183822" y="1469870"/>
            <a:ext cx="0" cy="2572459"/>
          </a:xfrm>
          <a:prstGeom prst="line">
            <a:avLst/>
          </a:prstGeom>
          <a:ln w="28575">
            <a:solidFill>
              <a:srgbClr val="737577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49F3B5-8E1A-464D-E8A7-3D08EA89606A}"/>
              </a:ext>
            </a:extLst>
          </p:cNvPr>
          <p:cNvCxnSpPr>
            <a:cxnSpLocks/>
          </p:cNvCxnSpPr>
          <p:nvPr/>
        </p:nvCxnSpPr>
        <p:spPr>
          <a:xfrm>
            <a:off x="5312727" y="1480989"/>
            <a:ext cx="0" cy="2572459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0237B6-ABF9-4FB1-B69D-C4F38E5B94A1}"/>
              </a:ext>
            </a:extLst>
          </p:cNvPr>
          <p:cNvCxnSpPr>
            <a:cxnSpLocks/>
          </p:cNvCxnSpPr>
          <p:nvPr/>
        </p:nvCxnSpPr>
        <p:spPr>
          <a:xfrm>
            <a:off x="5313524" y="1469870"/>
            <a:ext cx="0" cy="2572459"/>
          </a:xfrm>
          <a:prstGeom prst="line">
            <a:avLst/>
          </a:prstGeom>
          <a:ln w="28575">
            <a:solidFill>
              <a:srgbClr val="737577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BCE1EB-A5DA-9CF6-0741-75F13EF10604}"/>
              </a:ext>
            </a:extLst>
          </p:cNvPr>
          <p:cNvCxnSpPr>
            <a:cxnSpLocks/>
          </p:cNvCxnSpPr>
          <p:nvPr/>
        </p:nvCxnSpPr>
        <p:spPr>
          <a:xfrm>
            <a:off x="5092144" y="1480989"/>
            <a:ext cx="0" cy="2572459"/>
          </a:xfrm>
          <a:prstGeom prst="line">
            <a:avLst/>
          </a:prstGeom>
          <a:ln w="571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6605CA-99A2-8846-9867-4C35AF33536F}"/>
              </a:ext>
            </a:extLst>
          </p:cNvPr>
          <p:cNvCxnSpPr>
            <a:cxnSpLocks/>
          </p:cNvCxnSpPr>
          <p:nvPr/>
        </p:nvCxnSpPr>
        <p:spPr>
          <a:xfrm>
            <a:off x="5092941" y="1469870"/>
            <a:ext cx="0" cy="2572459"/>
          </a:xfrm>
          <a:prstGeom prst="line">
            <a:avLst/>
          </a:prstGeom>
          <a:ln w="57150">
            <a:solidFill>
              <a:srgbClr val="737577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7464DC-38F1-234C-DCDD-91843ABFAE55}"/>
              </a:ext>
            </a:extLst>
          </p:cNvPr>
          <p:cNvCxnSpPr>
            <a:cxnSpLocks/>
          </p:cNvCxnSpPr>
          <p:nvPr/>
        </p:nvCxnSpPr>
        <p:spPr>
          <a:xfrm>
            <a:off x="5013273" y="2794193"/>
            <a:ext cx="350398" cy="0"/>
          </a:xfrm>
          <a:prstGeom prst="straightConnector1">
            <a:avLst/>
          </a:prstGeom>
          <a:ln w="19050" cap="flat">
            <a:solidFill>
              <a:srgbClr val="BA3B88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7A8FF9-0FA4-9F95-421B-DCB70F2D5A63}"/>
              </a:ext>
            </a:extLst>
          </p:cNvPr>
          <p:cNvCxnSpPr>
            <a:cxnSpLocks/>
          </p:cNvCxnSpPr>
          <p:nvPr/>
        </p:nvCxnSpPr>
        <p:spPr>
          <a:xfrm>
            <a:off x="5013273" y="2260793"/>
            <a:ext cx="350398" cy="0"/>
          </a:xfrm>
          <a:prstGeom prst="straightConnector1">
            <a:avLst/>
          </a:prstGeom>
          <a:ln w="19050" cap="flat">
            <a:solidFill>
              <a:srgbClr val="BA3B88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02862C-EDAB-74A2-4031-DC324530DF85}"/>
              </a:ext>
            </a:extLst>
          </p:cNvPr>
          <p:cNvCxnSpPr>
            <a:cxnSpLocks/>
          </p:cNvCxnSpPr>
          <p:nvPr/>
        </p:nvCxnSpPr>
        <p:spPr>
          <a:xfrm>
            <a:off x="5013273" y="1803593"/>
            <a:ext cx="350398" cy="0"/>
          </a:xfrm>
          <a:prstGeom prst="straightConnector1">
            <a:avLst/>
          </a:prstGeom>
          <a:ln w="19050" cap="flat">
            <a:solidFill>
              <a:srgbClr val="BA3B88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358AF29-273E-5784-EF2D-A4C8FE5A879B}"/>
              </a:ext>
            </a:extLst>
          </p:cNvPr>
          <p:cNvCxnSpPr>
            <a:cxnSpLocks/>
          </p:cNvCxnSpPr>
          <p:nvPr/>
        </p:nvCxnSpPr>
        <p:spPr>
          <a:xfrm>
            <a:off x="5013273" y="3356532"/>
            <a:ext cx="350398" cy="0"/>
          </a:xfrm>
          <a:prstGeom prst="straightConnector1">
            <a:avLst/>
          </a:prstGeom>
          <a:ln w="19050" cap="flat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M3">
            <a:extLst>
              <a:ext uri="{FF2B5EF4-FFF2-40B4-BE49-F238E27FC236}">
                <a16:creationId xmlns:a16="http://schemas.microsoft.com/office/drawing/2014/main" id="{FC740370-DC87-099F-D4D3-B0210B47EAC7}"/>
              </a:ext>
            </a:extLst>
          </p:cNvPr>
          <p:cNvSpPr>
            <a:spLocks/>
          </p:cNvSpPr>
          <p:nvPr/>
        </p:nvSpPr>
        <p:spPr>
          <a:xfrm>
            <a:off x="13624040" y="1007910"/>
            <a:ext cx="7102360" cy="290078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6c (Behavioral Correlation): AAC </a:t>
            </a:r>
            <a:r>
              <a:rPr lang="en-US" sz="3200" dirty="0">
                <a:solidFill>
                  <a:srgbClr val="FF0000"/>
                </a:solidFill>
              </a:rPr>
              <a:t>activity correlates with facial motion</a:t>
            </a:r>
          </a:p>
        </p:txBody>
      </p:sp>
      <p:sp>
        <p:nvSpPr>
          <p:cNvPr id="4" name="!!M1">
            <a:extLst>
              <a:ext uri="{FF2B5EF4-FFF2-40B4-BE49-F238E27FC236}">
                <a16:creationId xmlns:a16="http://schemas.microsoft.com/office/drawing/2014/main" id="{AEB6C8BF-0648-C393-152C-E2E1764FA86F}"/>
              </a:ext>
            </a:extLst>
          </p:cNvPr>
          <p:cNvSpPr>
            <a:spLocks/>
          </p:cNvSpPr>
          <p:nvPr/>
        </p:nvSpPr>
        <p:spPr>
          <a:xfrm>
            <a:off x="-53340" y="4533900"/>
            <a:ext cx="2796540" cy="22479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</p:spTree>
    <p:extLst>
      <p:ext uri="{BB962C8B-B14F-4D97-AF65-F5344CB8AC3E}">
        <p14:creationId xmlns:p14="http://schemas.microsoft.com/office/powerpoint/2010/main" val="150911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B506C-D19F-59F3-24DE-E0FA6A42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8AEEEB-D2C2-482F-10F1-FC9E370732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-304800" y="-2810330"/>
            <a:ext cx="11197625" cy="7518058"/>
          </a:xfrm>
          <a:prstGeom prst="rect">
            <a:avLst/>
          </a:prstGeom>
          <a:ln w="38100">
            <a:noFill/>
          </a:ln>
        </p:spPr>
      </p:pic>
      <p:sp>
        <p:nvSpPr>
          <p:cNvPr id="38" name="!!Freeform: Shape 37">
            <a:extLst>
              <a:ext uri="{FF2B5EF4-FFF2-40B4-BE49-F238E27FC236}">
                <a16:creationId xmlns:a16="http://schemas.microsoft.com/office/drawing/2014/main" id="{5CAD1D2A-49D4-C9D2-90FE-D32F2C8B5340}"/>
              </a:ext>
            </a:extLst>
          </p:cNvPr>
          <p:cNvSpPr/>
          <p:nvPr/>
        </p:nvSpPr>
        <p:spPr>
          <a:xfrm>
            <a:off x="-878378" y="685800"/>
            <a:ext cx="13375178" cy="6186165"/>
          </a:xfrm>
          <a:custGeom>
            <a:avLst/>
            <a:gdLst>
              <a:gd name="csX0" fmla="*/ 840325 w 13375178"/>
              <a:gd name="csY0" fmla="*/ 90165 h 6186165"/>
              <a:gd name="csX1" fmla="*/ 840325 w 13375178"/>
              <a:gd name="csY1" fmla="*/ 3823965 h 6186165"/>
              <a:gd name="csX2" fmla="*/ 3773978 w 13375178"/>
              <a:gd name="csY2" fmla="*/ 3823965 h 6186165"/>
              <a:gd name="csX3" fmla="*/ 3773978 w 13375178"/>
              <a:gd name="csY3" fmla="*/ 90165 h 6186165"/>
              <a:gd name="csX4" fmla="*/ 890793 w 13375178"/>
              <a:gd name="csY4" fmla="*/ 90165 h 6186165"/>
              <a:gd name="csX5" fmla="*/ 3773978 w 13375178"/>
              <a:gd name="csY5" fmla="*/ 0 h 6186165"/>
              <a:gd name="csX6" fmla="*/ 4688378 w 13375178"/>
              <a:gd name="csY6" fmla="*/ 0 h 6186165"/>
              <a:gd name="csX7" fmla="*/ 4688378 w 13375178"/>
              <a:gd name="csY7" fmla="*/ 13964 h 6186165"/>
              <a:gd name="csX8" fmla="*/ 7072738 w 13375178"/>
              <a:gd name="csY8" fmla="*/ 13964 h 6186165"/>
              <a:gd name="csX9" fmla="*/ 13375178 w 13375178"/>
              <a:gd name="csY9" fmla="*/ 13964 h 6186165"/>
              <a:gd name="csX10" fmla="*/ 13375178 w 13375178"/>
              <a:gd name="csY10" fmla="*/ 6186163 h 6186165"/>
              <a:gd name="csX11" fmla="*/ 12414140 w 13375178"/>
              <a:gd name="csY11" fmla="*/ 6186163 h 6186165"/>
              <a:gd name="csX12" fmla="*/ 12414140 w 13375178"/>
              <a:gd name="csY12" fmla="*/ 6186165 h 6186165"/>
              <a:gd name="csX13" fmla="*/ 7282820 w 13375178"/>
              <a:gd name="csY13" fmla="*/ 6186165 h 6186165"/>
              <a:gd name="csX14" fmla="*/ 7282820 w 13375178"/>
              <a:gd name="csY14" fmla="*/ 6186164 h 6186165"/>
              <a:gd name="csX15" fmla="*/ 700271 w 13375178"/>
              <a:gd name="csY15" fmla="*/ 6186164 h 6186165"/>
              <a:gd name="csX16" fmla="*/ 700271 w 13375178"/>
              <a:gd name="csY16" fmla="*/ 6186163 h 6186165"/>
              <a:gd name="csX17" fmla="*/ 0 w 13375178"/>
              <a:gd name="csY17" fmla="*/ 6186163 h 6186165"/>
              <a:gd name="csX18" fmla="*/ 0 w 13375178"/>
              <a:gd name="csY18" fmla="*/ 13964 h 6186165"/>
              <a:gd name="csX19" fmla="*/ 630244 w 13375178"/>
              <a:gd name="csY19" fmla="*/ 13964 h 6186165"/>
              <a:gd name="csX20" fmla="*/ 3773978 w 13375178"/>
              <a:gd name="csY20" fmla="*/ 13964 h 6186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3375178" h="6186165">
                <a:moveTo>
                  <a:pt x="840325" y="90165"/>
                </a:moveTo>
                <a:lnTo>
                  <a:pt x="840325" y="3823965"/>
                </a:lnTo>
                <a:lnTo>
                  <a:pt x="3773978" y="3823965"/>
                </a:lnTo>
                <a:lnTo>
                  <a:pt x="3773978" y="90165"/>
                </a:lnTo>
                <a:lnTo>
                  <a:pt x="890793" y="90165"/>
                </a:lnTo>
                <a:close/>
                <a:moveTo>
                  <a:pt x="3773978" y="0"/>
                </a:moveTo>
                <a:lnTo>
                  <a:pt x="4688378" y="0"/>
                </a:lnTo>
                <a:lnTo>
                  <a:pt x="4688378" y="13964"/>
                </a:lnTo>
                <a:lnTo>
                  <a:pt x="7072738" y="13964"/>
                </a:lnTo>
                <a:lnTo>
                  <a:pt x="13375178" y="13964"/>
                </a:lnTo>
                <a:lnTo>
                  <a:pt x="13375178" y="6186163"/>
                </a:lnTo>
                <a:lnTo>
                  <a:pt x="12414140" y="6186163"/>
                </a:lnTo>
                <a:lnTo>
                  <a:pt x="12414140" y="6186165"/>
                </a:lnTo>
                <a:lnTo>
                  <a:pt x="7282820" y="6186165"/>
                </a:lnTo>
                <a:lnTo>
                  <a:pt x="7282820" y="6186164"/>
                </a:lnTo>
                <a:lnTo>
                  <a:pt x="700271" y="6186164"/>
                </a:lnTo>
                <a:lnTo>
                  <a:pt x="700271" y="6186163"/>
                </a:lnTo>
                <a:lnTo>
                  <a:pt x="0" y="6186163"/>
                </a:lnTo>
                <a:lnTo>
                  <a:pt x="0" y="13964"/>
                </a:lnTo>
                <a:lnTo>
                  <a:pt x="630244" y="13964"/>
                </a:lnTo>
                <a:lnTo>
                  <a:pt x="3773978" y="13964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806834F-CA3D-3F33-D59D-248AA9998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0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EEAC310-B90F-049A-8DCE-78ADB499B53E}"/>
              </a:ext>
            </a:extLst>
          </p:cNvPr>
          <p:cNvSpPr txBox="1"/>
          <p:nvPr/>
        </p:nvSpPr>
        <p:spPr>
          <a:xfrm>
            <a:off x="14439903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AD49517F-B930-5E6B-3330-84FEF202A06C}"/>
              </a:ext>
            </a:extLst>
          </p:cNvPr>
          <p:cNvSpPr>
            <a:spLocks/>
          </p:cNvSpPr>
          <p:nvPr/>
        </p:nvSpPr>
        <p:spPr>
          <a:xfrm>
            <a:off x="2895600" y="4532376"/>
            <a:ext cx="2971800" cy="22494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FF73A09A-F3F7-1430-1AC0-03C35C3BBE4D}"/>
              </a:ext>
            </a:extLst>
          </p:cNvPr>
          <p:cNvSpPr>
            <a:spLocks/>
          </p:cNvSpPr>
          <p:nvPr/>
        </p:nvSpPr>
        <p:spPr>
          <a:xfrm>
            <a:off x="3886200" y="1007910"/>
            <a:ext cx="7102360" cy="290078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5" name="!!Focus">
            <a:extLst>
              <a:ext uri="{FF2B5EF4-FFF2-40B4-BE49-F238E27FC236}">
                <a16:creationId xmlns:a16="http://schemas.microsoft.com/office/drawing/2014/main" id="{295C313A-DA59-160A-D091-D983AF5756C8}"/>
              </a:ext>
            </a:extLst>
          </p:cNvPr>
          <p:cNvSpPr/>
          <p:nvPr/>
        </p:nvSpPr>
        <p:spPr>
          <a:xfrm rot="5400000">
            <a:off x="801518" y="953918"/>
            <a:ext cx="1714594" cy="171157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12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31CDD44E-4550-D684-0625-E882E15E44F7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80D38902-ED7C-0495-D608-D2F8F3842F19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AACs with DS2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6A8F95-1A40-36A9-A349-A7D9162196F6}"/>
              </a:ext>
            </a:extLst>
          </p:cNvPr>
          <p:cNvCxnSpPr>
            <a:cxnSpLocks/>
          </p:cNvCxnSpPr>
          <p:nvPr/>
        </p:nvCxnSpPr>
        <p:spPr>
          <a:xfrm>
            <a:off x="9297824" y="-3399540"/>
            <a:ext cx="0" cy="2572459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4C0EB-6947-EBB3-1652-2DA1281D3F2B}"/>
              </a:ext>
            </a:extLst>
          </p:cNvPr>
          <p:cNvCxnSpPr>
            <a:cxnSpLocks/>
          </p:cNvCxnSpPr>
          <p:nvPr/>
        </p:nvCxnSpPr>
        <p:spPr>
          <a:xfrm>
            <a:off x="9298621" y="-3410659"/>
            <a:ext cx="0" cy="2572459"/>
          </a:xfrm>
          <a:prstGeom prst="line">
            <a:avLst/>
          </a:prstGeom>
          <a:ln w="28575">
            <a:solidFill>
              <a:srgbClr val="737577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8CD39C6-6603-920C-0132-595C80E67CA8}"/>
              </a:ext>
            </a:extLst>
          </p:cNvPr>
          <p:cNvCxnSpPr>
            <a:cxnSpLocks/>
          </p:cNvCxnSpPr>
          <p:nvPr/>
        </p:nvCxnSpPr>
        <p:spPr>
          <a:xfrm>
            <a:off x="9427526" y="-3399540"/>
            <a:ext cx="0" cy="2572459"/>
          </a:xfrm>
          <a:prstGeom prst="line">
            <a:avLst/>
          </a:prstGeom>
          <a:ln w="28575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563C427-F5D6-AF84-29ED-BB42C6575D8A}"/>
              </a:ext>
            </a:extLst>
          </p:cNvPr>
          <p:cNvCxnSpPr>
            <a:cxnSpLocks/>
          </p:cNvCxnSpPr>
          <p:nvPr/>
        </p:nvCxnSpPr>
        <p:spPr>
          <a:xfrm>
            <a:off x="9428323" y="-3410659"/>
            <a:ext cx="0" cy="2572459"/>
          </a:xfrm>
          <a:prstGeom prst="line">
            <a:avLst/>
          </a:prstGeom>
          <a:ln w="28575">
            <a:solidFill>
              <a:srgbClr val="737577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FBEFB7-B0FD-215D-B5BC-4B9188DA1BDF}"/>
              </a:ext>
            </a:extLst>
          </p:cNvPr>
          <p:cNvCxnSpPr>
            <a:cxnSpLocks/>
          </p:cNvCxnSpPr>
          <p:nvPr/>
        </p:nvCxnSpPr>
        <p:spPr>
          <a:xfrm>
            <a:off x="9206943" y="-3399540"/>
            <a:ext cx="0" cy="2572459"/>
          </a:xfrm>
          <a:prstGeom prst="line">
            <a:avLst/>
          </a:prstGeom>
          <a:ln w="571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3825AEF-9221-3A2C-6519-63779B985930}"/>
              </a:ext>
            </a:extLst>
          </p:cNvPr>
          <p:cNvCxnSpPr>
            <a:cxnSpLocks/>
          </p:cNvCxnSpPr>
          <p:nvPr/>
        </p:nvCxnSpPr>
        <p:spPr>
          <a:xfrm>
            <a:off x="9207740" y="-3410659"/>
            <a:ext cx="0" cy="2572459"/>
          </a:xfrm>
          <a:prstGeom prst="line">
            <a:avLst/>
          </a:prstGeom>
          <a:ln w="57150">
            <a:solidFill>
              <a:srgbClr val="737577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60ADFEC-4B7E-DA9C-9546-55B29C404A8F}"/>
              </a:ext>
            </a:extLst>
          </p:cNvPr>
          <p:cNvCxnSpPr>
            <a:cxnSpLocks/>
          </p:cNvCxnSpPr>
          <p:nvPr/>
        </p:nvCxnSpPr>
        <p:spPr>
          <a:xfrm>
            <a:off x="9128072" y="-2086336"/>
            <a:ext cx="350398" cy="0"/>
          </a:xfrm>
          <a:prstGeom prst="straightConnector1">
            <a:avLst/>
          </a:prstGeom>
          <a:ln w="19050" cap="flat">
            <a:solidFill>
              <a:srgbClr val="BA3B88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209EB0-9C1B-255C-B598-DF484815419E}"/>
              </a:ext>
            </a:extLst>
          </p:cNvPr>
          <p:cNvCxnSpPr>
            <a:cxnSpLocks/>
          </p:cNvCxnSpPr>
          <p:nvPr/>
        </p:nvCxnSpPr>
        <p:spPr>
          <a:xfrm>
            <a:off x="9128072" y="-2619736"/>
            <a:ext cx="350398" cy="0"/>
          </a:xfrm>
          <a:prstGeom prst="straightConnector1">
            <a:avLst/>
          </a:prstGeom>
          <a:ln w="19050" cap="flat">
            <a:solidFill>
              <a:srgbClr val="BA3B88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2BA51F2-8C0D-74A5-1152-10B886EB75E1}"/>
              </a:ext>
            </a:extLst>
          </p:cNvPr>
          <p:cNvCxnSpPr>
            <a:cxnSpLocks/>
          </p:cNvCxnSpPr>
          <p:nvPr/>
        </p:nvCxnSpPr>
        <p:spPr>
          <a:xfrm>
            <a:off x="9128072" y="-3076936"/>
            <a:ext cx="350398" cy="0"/>
          </a:xfrm>
          <a:prstGeom prst="straightConnector1">
            <a:avLst/>
          </a:prstGeom>
          <a:ln w="19050" cap="flat">
            <a:solidFill>
              <a:srgbClr val="BA3B88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4D63F24-1A2D-EA95-14B8-AF6A8A9053ED}"/>
              </a:ext>
            </a:extLst>
          </p:cNvPr>
          <p:cNvCxnSpPr>
            <a:cxnSpLocks/>
          </p:cNvCxnSpPr>
          <p:nvPr/>
        </p:nvCxnSpPr>
        <p:spPr>
          <a:xfrm>
            <a:off x="9128072" y="-1523997"/>
            <a:ext cx="350398" cy="0"/>
          </a:xfrm>
          <a:prstGeom prst="straightConnector1">
            <a:avLst/>
          </a:prstGeom>
          <a:ln w="19050" cap="flat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M4">
            <a:extLst>
              <a:ext uri="{FF2B5EF4-FFF2-40B4-BE49-F238E27FC236}">
                <a16:creationId xmlns:a16="http://schemas.microsoft.com/office/drawing/2014/main" id="{A216B0AC-8CB1-CDE8-473F-4E6A8BDD161E}"/>
              </a:ext>
            </a:extLst>
          </p:cNvPr>
          <p:cNvSpPr>
            <a:spLocks/>
          </p:cNvSpPr>
          <p:nvPr/>
        </p:nvSpPr>
        <p:spPr>
          <a:xfrm>
            <a:off x="14782800" y="843713"/>
            <a:ext cx="7592132" cy="359849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74AE600B-7768-0EE2-97DE-ADB6B25A3F12}"/>
              </a:ext>
            </a:extLst>
          </p:cNvPr>
          <p:cNvSpPr>
            <a:spLocks/>
          </p:cNvSpPr>
          <p:nvPr/>
        </p:nvSpPr>
        <p:spPr>
          <a:xfrm>
            <a:off x="-53340" y="4533900"/>
            <a:ext cx="2796540" cy="22479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</p:spTree>
    <p:extLst>
      <p:ext uri="{BB962C8B-B14F-4D97-AF65-F5344CB8AC3E}">
        <p14:creationId xmlns:p14="http://schemas.microsoft.com/office/powerpoint/2010/main" val="295924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80DAF-48E6-E0B9-04F4-21059E606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BD5DBE6-06DE-771F-743E-662C9265EB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-3276600" y="-2810330"/>
            <a:ext cx="11197625" cy="7518058"/>
          </a:xfrm>
          <a:prstGeom prst="rect">
            <a:avLst/>
          </a:prstGeom>
          <a:ln w="38100">
            <a:noFill/>
          </a:ln>
        </p:spPr>
      </p:pic>
      <p:sp>
        <p:nvSpPr>
          <p:cNvPr id="38" name="!!Shadow">
            <a:extLst>
              <a:ext uri="{FF2B5EF4-FFF2-40B4-BE49-F238E27FC236}">
                <a16:creationId xmlns:a16="http://schemas.microsoft.com/office/drawing/2014/main" id="{EB6592F6-F65A-2602-0CFD-DCB0038E2BE8}"/>
              </a:ext>
            </a:extLst>
          </p:cNvPr>
          <p:cNvSpPr/>
          <p:nvPr/>
        </p:nvSpPr>
        <p:spPr>
          <a:xfrm>
            <a:off x="-878378" y="685800"/>
            <a:ext cx="16499378" cy="6186165"/>
          </a:xfrm>
          <a:custGeom>
            <a:avLst/>
            <a:gdLst>
              <a:gd name="csX0" fmla="*/ 840325 w 13375178"/>
              <a:gd name="csY0" fmla="*/ 90165 h 6186165"/>
              <a:gd name="csX1" fmla="*/ 840325 w 13375178"/>
              <a:gd name="csY1" fmla="*/ 3823965 h 6186165"/>
              <a:gd name="csX2" fmla="*/ 3773978 w 13375178"/>
              <a:gd name="csY2" fmla="*/ 3823965 h 6186165"/>
              <a:gd name="csX3" fmla="*/ 3773978 w 13375178"/>
              <a:gd name="csY3" fmla="*/ 90165 h 6186165"/>
              <a:gd name="csX4" fmla="*/ 890793 w 13375178"/>
              <a:gd name="csY4" fmla="*/ 90165 h 6186165"/>
              <a:gd name="csX5" fmla="*/ 3773978 w 13375178"/>
              <a:gd name="csY5" fmla="*/ 0 h 6186165"/>
              <a:gd name="csX6" fmla="*/ 4688378 w 13375178"/>
              <a:gd name="csY6" fmla="*/ 0 h 6186165"/>
              <a:gd name="csX7" fmla="*/ 4688378 w 13375178"/>
              <a:gd name="csY7" fmla="*/ 13964 h 6186165"/>
              <a:gd name="csX8" fmla="*/ 7072738 w 13375178"/>
              <a:gd name="csY8" fmla="*/ 13964 h 6186165"/>
              <a:gd name="csX9" fmla="*/ 13375178 w 13375178"/>
              <a:gd name="csY9" fmla="*/ 13964 h 6186165"/>
              <a:gd name="csX10" fmla="*/ 13375178 w 13375178"/>
              <a:gd name="csY10" fmla="*/ 6186163 h 6186165"/>
              <a:gd name="csX11" fmla="*/ 12414140 w 13375178"/>
              <a:gd name="csY11" fmla="*/ 6186163 h 6186165"/>
              <a:gd name="csX12" fmla="*/ 12414140 w 13375178"/>
              <a:gd name="csY12" fmla="*/ 6186165 h 6186165"/>
              <a:gd name="csX13" fmla="*/ 7282820 w 13375178"/>
              <a:gd name="csY13" fmla="*/ 6186165 h 6186165"/>
              <a:gd name="csX14" fmla="*/ 7282820 w 13375178"/>
              <a:gd name="csY14" fmla="*/ 6186164 h 6186165"/>
              <a:gd name="csX15" fmla="*/ 700271 w 13375178"/>
              <a:gd name="csY15" fmla="*/ 6186164 h 6186165"/>
              <a:gd name="csX16" fmla="*/ 700271 w 13375178"/>
              <a:gd name="csY16" fmla="*/ 6186163 h 6186165"/>
              <a:gd name="csX17" fmla="*/ 0 w 13375178"/>
              <a:gd name="csY17" fmla="*/ 6186163 h 6186165"/>
              <a:gd name="csX18" fmla="*/ 0 w 13375178"/>
              <a:gd name="csY18" fmla="*/ 13964 h 6186165"/>
              <a:gd name="csX19" fmla="*/ 630244 w 13375178"/>
              <a:gd name="csY19" fmla="*/ 13964 h 6186165"/>
              <a:gd name="csX20" fmla="*/ 3773978 w 13375178"/>
              <a:gd name="csY20" fmla="*/ 13964 h 6186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3375178" h="6186165">
                <a:moveTo>
                  <a:pt x="840325" y="90165"/>
                </a:moveTo>
                <a:lnTo>
                  <a:pt x="840325" y="3823965"/>
                </a:lnTo>
                <a:lnTo>
                  <a:pt x="3773978" y="3823965"/>
                </a:lnTo>
                <a:lnTo>
                  <a:pt x="3773978" y="90165"/>
                </a:lnTo>
                <a:lnTo>
                  <a:pt x="890793" y="90165"/>
                </a:lnTo>
                <a:close/>
                <a:moveTo>
                  <a:pt x="3773978" y="0"/>
                </a:moveTo>
                <a:lnTo>
                  <a:pt x="4688378" y="0"/>
                </a:lnTo>
                <a:lnTo>
                  <a:pt x="4688378" y="13964"/>
                </a:lnTo>
                <a:lnTo>
                  <a:pt x="7072738" y="13964"/>
                </a:lnTo>
                <a:lnTo>
                  <a:pt x="13375178" y="13964"/>
                </a:lnTo>
                <a:lnTo>
                  <a:pt x="13375178" y="6186163"/>
                </a:lnTo>
                <a:lnTo>
                  <a:pt x="12414140" y="6186163"/>
                </a:lnTo>
                <a:lnTo>
                  <a:pt x="12414140" y="6186165"/>
                </a:lnTo>
                <a:lnTo>
                  <a:pt x="7282820" y="6186165"/>
                </a:lnTo>
                <a:lnTo>
                  <a:pt x="7282820" y="6186164"/>
                </a:lnTo>
                <a:lnTo>
                  <a:pt x="700271" y="6186164"/>
                </a:lnTo>
                <a:lnTo>
                  <a:pt x="700271" y="6186163"/>
                </a:lnTo>
                <a:lnTo>
                  <a:pt x="0" y="6186163"/>
                </a:lnTo>
                <a:lnTo>
                  <a:pt x="0" y="13964"/>
                </a:lnTo>
                <a:lnTo>
                  <a:pt x="630244" y="13964"/>
                </a:lnTo>
                <a:lnTo>
                  <a:pt x="3773978" y="13964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3BD1B67-0044-79E8-F7AD-F0DF03602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0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4FC6CDC-BAED-B939-CA9D-B81CFFBC2701}"/>
              </a:ext>
            </a:extLst>
          </p:cNvPr>
          <p:cNvSpPr txBox="1"/>
          <p:nvPr/>
        </p:nvSpPr>
        <p:spPr>
          <a:xfrm>
            <a:off x="14439903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3A60D540-CED8-F863-0E02-C15C23CC2D33}"/>
              </a:ext>
            </a:extLst>
          </p:cNvPr>
          <p:cNvSpPr>
            <a:spLocks/>
          </p:cNvSpPr>
          <p:nvPr/>
        </p:nvSpPr>
        <p:spPr>
          <a:xfrm>
            <a:off x="2895600" y="4532376"/>
            <a:ext cx="2971800" cy="22494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FAD138A0-7AD4-BB88-49E0-D647CDBEE13A}"/>
              </a:ext>
            </a:extLst>
          </p:cNvPr>
          <p:cNvSpPr>
            <a:spLocks/>
          </p:cNvSpPr>
          <p:nvPr/>
        </p:nvSpPr>
        <p:spPr>
          <a:xfrm>
            <a:off x="6084474" y="4620052"/>
            <a:ext cx="2971800" cy="22494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1D92F708-F025-090B-4903-53D192F067A7}"/>
              </a:ext>
            </a:extLst>
          </p:cNvPr>
          <p:cNvSpPr>
            <a:spLocks/>
          </p:cNvSpPr>
          <p:nvPr/>
        </p:nvSpPr>
        <p:spPr>
          <a:xfrm>
            <a:off x="4218868" y="843713"/>
            <a:ext cx="7592132" cy="359849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15" name="!!Focus">
            <a:extLst>
              <a:ext uri="{FF2B5EF4-FFF2-40B4-BE49-F238E27FC236}">
                <a16:creationId xmlns:a16="http://schemas.microsoft.com/office/drawing/2014/main" id="{C530CD95-825A-3AB1-D85C-523BFA99B021}"/>
              </a:ext>
            </a:extLst>
          </p:cNvPr>
          <p:cNvSpPr/>
          <p:nvPr/>
        </p:nvSpPr>
        <p:spPr>
          <a:xfrm rot="5400000">
            <a:off x="1274117" y="2417116"/>
            <a:ext cx="2328566" cy="6096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12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864CF9FE-EEC0-D1E3-A4AB-9EC8171D9511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12B0DBA0-30CE-2112-F953-A68B80F47C88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AACs with DS2</a:t>
            </a:r>
          </a:p>
        </p:txBody>
      </p:sp>
      <p:sp>
        <p:nvSpPr>
          <p:cNvPr id="12" name="!!M5">
            <a:extLst>
              <a:ext uri="{FF2B5EF4-FFF2-40B4-BE49-F238E27FC236}">
                <a16:creationId xmlns:a16="http://schemas.microsoft.com/office/drawing/2014/main" id="{3328C69F-2004-3E14-7D92-9981B5C85DC5}"/>
              </a:ext>
            </a:extLst>
          </p:cNvPr>
          <p:cNvSpPr>
            <a:spLocks/>
          </p:cNvSpPr>
          <p:nvPr/>
        </p:nvSpPr>
        <p:spPr>
          <a:xfrm>
            <a:off x="16535400" y="977612"/>
            <a:ext cx="7315200" cy="334004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</a:rPr>
              <a:t>Sensory stimuli evoke AAC activity</a:t>
            </a:r>
          </a:p>
        </p:txBody>
      </p:sp>
      <p:sp>
        <p:nvSpPr>
          <p:cNvPr id="8" name="!!M1">
            <a:extLst>
              <a:ext uri="{FF2B5EF4-FFF2-40B4-BE49-F238E27FC236}">
                <a16:creationId xmlns:a16="http://schemas.microsoft.com/office/drawing/2014/main" id="{F22E943E-081B-F6EF-D00D-DEEA3F5BCE7D}"/>
              </a:ext>
            </a:extLst>
          </p:cNvPr>
          <p:cNvSpPr>
            <a:spLocks/>
          </p:cNvSpPr>
          <p:nvPr/>
        </p:nvSpPr>
        <p:spPr>
          <a:xfrm>
            <a:off x="-53340" y="4533900"/>
            <a:ext cx="2796540" cy="22479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</p:spTree>
    <p:extLst>
      <p:ext uri="{BB962C8B-B14F-4D97-AF65-F5344CB8AC3E}">
        <p14:creationId xmlns:p14="http://schemas.microsoft.com/office/powerpoint/2010/main" val="3649832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5CFDB-9A4B-7862-95AC-4DA1B1D46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8B9AE91-1EB1-6943-7CB9-F47A841936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-6820572" y="-2946058"/>
            <a:ext cx="11197625" cy="7518058"/>
          </a:xfrm>
          <a:prstGeom prst="rect">
            <a:avLst/>
          </a:prstGeom>
          <a:ln w="38100">
            <a:noFill/>
          </a:ln>
        </p:spPr>
      </p:pic>
      <p:sp>
        <p:nvSpPr>
          <p:cNvPr id="38" name="!!Shadow_">
            <a:extLst>
              <a:ext uri="{FF2B5EF4-FFF2-40B4-BE49-F238E27FC236}">
                <a16:creationId xmlns:a16="http://schemas.microsoft.com/office/drawing/2014/main" id="{1F1566F5-77AD-E768-6DFA-2BC0A355892E}"/>
              </a:ext>
            </a:extLst>
          </p:cNvPr>
          <p:cNvSpPr/>
          <p:nvPr/>
        </p:nvSpPr>
        <p:spPr>
          <a:xfrm>
            <a:off x="-878378" y="685800"/>
            <a:ext cx="17413778" cy="6186165"/>
          </a:xfrm>
          <a:custGeom>
            <a:avLst/>
            <a:gdLst>
              <a:gd name="csX0" fmla="*/ 840325 w 13375178"/>
              <a:gd name="csY0" fmla="*/ 90165 h 6186165"/>
              <a:gd name="csX1" fmla="*/ 840325 w 13375178"/>
              <a:gd name="csY1" fmla="*/ 3823965 h 6186165"/>
              <a:gd name="csX2" fmla="*/ 3773978 w 13375178"/>
              <a:gd name="csY2" fmla="*/ 3823965 h 6186165"/>
              <a:gd name="csX3" fmla="*/ 3773978 w 13375178"/>
              <a:gd name="csY3" fmla="*/ 90165 h 6186165"/>
              <a:gd name="csX4" fmla="*/ 890793 w 13375178"/>
              <a:gd name="csY4" fmla="*/ 90165 h 6186165"/>
              <a:gd name="csX5" fmla="*/ 3773978 w 13375178"/>
              <a:gd name="csY5" fmla="*/ 0 h 6186165"/>
              <a:gd name="csX6" fmla="*/ 4688378 w 13375178"/>
              <a:gd name="csY6" fmla="*/ 0 h 6186165"/>
              <a:gd name="csX7" fmla="*/ 4688378 w 13375178"/>
              <a:gd name="csY7" fmla="*/ 13964 h 6186165"/>
              <a:gd name="csX8" fmla="*/ 7072738 w 13375178"/>
              <a:gd name="csY8" fmla="*/ 13964 h 6186165"/>
              <a:gd name="csX9" fmla="*/ 13375178 w 13375178"/>
              <a:gd name="csY9" fmla="*/ 13964 h 6186165"/>
              <a:gd name="csX10" fmla="*/ 13375178 w 13375178"/>
              <a:gd name="csY10" fmla="*/ 6186163 h 6186165"/>
              <a:gd name="csX11" fmla="*/ 12414140 w 13375178"/>
              <a:gd name="csY11" fmla="*/ 6186163 h 6186165"/>
              <a:gd name="csX12" fmla="*/ 12414140 w 13375178"/>
              <a:gd name="csY12" fmla="*/ 6186165 h 6186165"/>
              <a:gd name="csX13" fmla="*/ 7282820 w 13375178"/>
              <a:gd name="csY13" fmla="*/ 6186165 h 6186165"/>
              <a:gd name="csX14" fmla="*/ 7282820 w 13375178"/>
              <a:gd name="csY14" fmla="*/ 6186164 h 6186165"/>
              <a:gd name="csX15" fmla="*/ 700271 w 13375178"/>
              <a:gd name="csY15" fmla="*/ 6186164 h 6186165"/>
              <a:gd name="csX16" fmla="*/ 700271 w 13375178"/>
              <a:gd name="csY16" fmla="*/ 6186163 h 6186165"/>
              <a:gd name="csX17" fmla="*/ 0 w 13375178"/>
              <a:gd name="csY17" fmla="*/ 6186163 h 6186165"/>
              <a:gd name="csX18" fmla="*/ 0 w 13375178"/>
              <a:gd name="csY18" fmla="*/ 13964 h 6186165"/>
              <a:gd name="csX19" fmla="*/ 630244 w 13375178"/>
              <a:gd name="csY19" fmla="*/ 13964 h 6186165"/>
              <a:gd name="csX20" fmla="*/ 3773978 w 13375178"/>
              <a:gd name="csY20" fmla="*/ 13964 h 6186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3375178" h="6186165">
                <a:moveTo>
                  <a:pt x="840325" y="90165"/>
                </a:moveTo>
                <a:lnTo>
                  <a:pt x="840325" y="3823965"/>
                </a:lnTo>
                <a:lnTo>
                  <a:pt x="3773978" y="3823965"/>
                </a:lnTo>
                <a:lnTo>
                  <a:pt x="3773978" y="90165"/>
                </a:lnTo>
                <a:lnTo>
                  <a:pt x="890793" y="90165"/>
                </a:lnTo>
                <a:close/>
                <a:moveTo>
                  <a:pt x="3773978" y="0"/>
                </a:moveTo>
                <a:lnTo>
                  <a:pt x="4688378" y="0"/>
                </a:lnTo>
                <a:lnTo>
                  <a:pt x="4688378" y="13964"/>
                </a:lnTo>
                <a:lnTo>
                  <a:pt x="7072738" y="13964"/>
                </a:lnTo>
                <a:lnTo>
                  <a:pt x="13375178" y="13964"/>
                </a:lnTo>
                <a:lnTo>
                  <a:pt x="13375178" y="6186163"/>
                </a:lnTo>
                <a:lnTo>
                  <a:pt x="12414140" y="6186163"/>
                </a:lnTo>
                <a:lnTo>
                  <a:pt x="12414140" y="6186165"/>
                </a:lnTo>
                <a:lnTo>
                  <a:pt x="7282820" y="6186165"/>
                </a:lnTo>
                <a:lnTo>
                  <a:pt x="7282820" y="6186164"/>
                </a:lnTo>
                <a:lnTo>
                  <a:pt x="700271" y="6186164"/>
                </a:lnTo>
                <a:lnTo>
                  <a:pt x="700271" y="6186163"/>
                </a:lnTo>
                <a:lnTo>
                  <a:pt x="0" y="6186163"/>
                </a:lnTo>
                <a:lnTo>
                  <a:pt x="0" y="13964"/>
                </a:lnTo>
                <a:lnTo>
                  <a:pt x="630244" y="13964"/>
                </a:lnTo>
                <a:lnTo>
                  <a:pt x="3773978" y="13964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9D06C01-9E5F-5103-43D9-09C0EB565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0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E928F75-EF64-BDBE-D899-9FECB9F4181F}"/>
              </a:ext>
            </a:extLst>
          </p:cNvPr>
          <p:cNvSpPr txBox="1"/>
          <p:nvPr/>
        </p:nvSpPr>
        <p:spPr>
          <a:xfrm>
            <a:off x="14439903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C750B719-82EC-A384-0BD5-E52628B1B12D}"/>
              </a:ext>
            </a:extLst>
          </p:cNvPr>
          <p:cNvSpPr>
            <a:spLocks/>
          </p:cNvSpPr>
          <p:nvPr/>
        </p:nvSpPr>
        <p:spPr>
          <a:xfrm>
            <a:off x="2895600" y="4532376"/>
            <a:ext cx="2971800" cy="22494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83644621-CC5E-0227-A023-E675CACBADE8}"/>
              </a:ext>
            </a:extLst>
          </p:cNvPr>
          <p:cNvSpPr>
            <a:spLocks/>
          </p:cNvSpPr>
          <p:nvPr/>
        </p:nvSpPr>
        <p:spPr>
          <a:xfrm>
            <a:off x="6057900" y="4597112"/>
            <a:ext cx="2971800" cy="22494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B0EECBEA-F644-30F7-D9DD-B2618415D1DF}"/>
              </a:ext>
            </a:extLst>
          </p:cNvPr>
          <p:cNvSpPr>
            <a:spLocks/>
          </p:cNvSpPr>
          <p:nvPr/>
        </p:nvSpPr>
        <p:spPr>
          <a:xfrm>
            <a:off x="9220200" y="4645245"/>
            <a:ext cx="2971800" cy="22494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8" name="!!M5">
            <a:extLst>
              <a:ext uri="{FF2B5EF4-FFF2-40B4-BE49-F238E27FC236}">
                <a16:creationId xmlns:a16="http://schemas.microsoft.com/office/drawing/2014/main" id="{8C17E040-773E-A203-ED23-2F156A12422A}"/>
              </a:ext>
            </a:extLst>
          </p:cNvPr>
          <p:cNvSpPr>
            <a:spLocks/>
          </p:cNvSpPr>
          <p:nvPr/>
        </p:nvSpPr>
        <p:spPr>
          <a:xfrm>
            <a:off x="4495800" y="977612"/>
            <a:ext cx="7315200" cy="334004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Sensory stimuli evoke AAC activity</a:t>
            </a:r>
          </a:p>
        </p:txBody>
      </p:sp>
      <p:sp>
        <p:nvSpPr>
          <p:cNvPr id="15" name="!!Focus">
            <a:extLst>
              <a:ext uri="{FF2B5EF4-FFF2-40B4-BE49-F238E27FC236}">
                <a16:creationId xmlns:a16="http://schemas.microsoft.com/office/drawing/2014/main" id="{087CBFBD-4AB2-B0EB-3E64-D197B033F829}"/>
              </a:ext>
            </a:extLst>
          </p:cNvPr>
          <p:cNvSpPr/>
          <p:nvPr/>
        </p:nvSpPr>
        <p:spPr>
          <a:xfrm rot="5400000">
            <a:off x="2340917" y="2002483"/>
            <a:ext cx="2328566" cy="10668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12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8094CFC3-A47D-09BE-8B04-E4AEB1657E5A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F5A91D32-BB23-3170-8478-F9EF47F6B11A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AACs with DS2</a:t>
            </a:r>
          </a:p>
        </p:txBody>
      </p:sp>
      <p:pic>
        <p:nvPicPr>
          <p:cNvPr id="13" name="Picture 2" descr="Unexpected Situations Trigger Chandelier Cell Activity">
            <a:extLst>
              <a:ext uri="{FF2B5EF4-FFF2-40B4-BE49-F238E27FC236}">
                <a16:creationId xmlns:a16="http://schemas.microsoft.com/office/drawing/2014/main" id="{FA33CA15-B808-1995-D298-9C892671E8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9220200" y="8253530"/>
            <a:ext cx="2869789" cy="241447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!!Focus">
            <a:extLst>
              <a:ext uri="{FF2B5EF4-FFF2-40B4-BE49-F238E27FC236}">
                <a16:creationId xmlns:a16="http://schemas.microsoft.com/office/drawing/2014/main" id="{F9D08256-0AC5-5D81-098F-4298B287966B}"/>
              </a:ext>
            </a:extLst>
          </p:cNvPr>
          <p:cNvSpPr/>
          <p:nvPr/>
        </p:nvSpPr>
        <p:spPr>
          <a:xfrm rot="5400000">
            <a:off x="10819393" y="9443478"/>
            <a:ext cx="466567" cy="58517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C6A3FB-57AA-8314-2AB6-BA7BB5CAFD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026" y="7772400"/>
            <a:ext cx="975269" cy="1432703"/>
          </a:xfrm>
          <a:prstGeom prst="rect">
            <a:avLst/>
          </a:prstGeom>
        </p:spPr>
      </p:pic>
      <p:sp>
        <p:nvSpPr>
          <p:cNvPr id="17" name="&quot;Not Allowed&quot; Symbol 16">
            <a:extLst>
              <a:ext uri="{FF2B5EF4-FFF2-40B4-BE49-F238E27FC236}">
                <a16:creationId xmlns:a16="http://schemas.microsoft.com/office/drawing/2014/main" id="{9D72078C-36D0-D901-A7D3-BEC8D3637F80}"/>
              </a:ext>
            </a:extLst>
          </p:cNvPr>
          <p:cNvSpPr/>
          <p:nvPr/>
        </p:nvSpPr>
        <p:spPr>
          <a:xfrm>
            <a:off x="10886277" y="9583144"/>
            <a:ext cx="328776" cy="281259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&quot;Not Allowed&quot; Symbol 18">
            <a:extLst>
              <a:ext uri="{FF2B5EF4-FFF2-40B4-BE49-F238E27FC236}">
                <a16:creationId xmlns:a16="http://schemas.microsoft.com/office/drawing/2014/main" id="{F0C78E7E-6FED-D8E5-67C6-8FA10196B2CD}"/>
              </a:ext>
            </a:extLst>
          </p:cNvPr>
          <p:cNvSpPr/>
          <p:nvPr/>
        </p:nvSpPr>
        <p:spPr>
          <a:xfrm>
            <a:off x="10886277" y="9583144"/>
            <a:ext cx="328776" cy="281259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0" name="!!Connector: Curved 29">
            <a:extLst>
              <a:ext uri="{FF2B5EF4-FFF2-40B4-BE49-F238E27FC236}">
                <a16:creationId xmlns:a16="http://schemas.microsoft.com/office/drawing/2014/main" id="{B323520B-F5D8-A89D-08D9-03744E915C72}"/>
              </a:ext>
            </a:extLst>
          </p:cNvPr>
          <p:cNvCxnSpPr>
            <a:cxnSpLocks/>
          </p:cNvCxnSpPr>
          <p:nvPr/>
        </p:nvCxnSpPr>
        <p:spPr>
          <a:xfrm rot="10800000">
            <a:off x="10025141" y="8900087"/>
            <a:ext cx="861136" cy="843778"/>
          </a:xfrm>
          <a:prstGeom prst="curvedConnector3">
            <a:avLst>
              <a:gd name="adj1" fmla="val 10077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!!M5">
            <a:extLst>
              <a:ext uri="{FF2B5EF4-FFF2-40B4-BE49-F238E27FC236}">
                <a16:creationId xmlns:a16="http://schemas.microsoft.com/office/drawing/2014/main" id="{E2F05EB8-47AA-223B-C23D-DC502EF218BD}"/>
              </a:ext>
            </a:extLst>
          </p:cNvPr>
          <p:cNvSpPr>
            <a:spLocks/>
          </p:cNvSpPr>
          <p:nvPr/>
        </p:nvSpPr>
        <p:spPr>
          <a:xfrm>
            <a:off x="126762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0" name="!!M1">
            <a:extLst>
              <a:ext uri="{FF2B5EF4-FFF2-40B4-BE49-F238E27FC236}">
                <a16:creationId xmlns:a16="http://schemas.microsoft.com/office/drawing/2014/main" id="{1AC67200-8754-4743-DA04-77C72250EA97}"/>
              </a:ext>
            </a:extLst>
          </p:cNvPr>
          <p:cNvSpPr>
            <a:spLocks/>
          </p:cNvSpPr>
          <p:nvPr/>
        </p:nvSpPr>
        <p:spPr>
          <a:xfrm>
            <a:off x="-53340" y="4533900"/>
            <a:ext cx="2796540" cy="22479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</p:spTree>
    <p:extLst>
      <p:ext uri="{BB962C8B-B14F-4D97-AF65-F5344CB8AC3E}">
        <p14:creationId xmlns:p14="http://schemas.microsoft.com/office/powerpoint/2010/main" val="1884171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91F83-179C-DCD0-9996-DBB3E11D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90C89B9-2080-9D68-E4DD-5EEAF6F6CE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880"/>
          <a:stretch>
            <a:fillRect/>
          </a:stretch>
        </p:blipFill>
        <p:spPr>
          <a:xfrm>
            <a:off x="5672868" y="4191000"/>
            <a:ext cx="3371769" cy="24247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8" name="!!Shadow_" hidden="1">
            <a:extLst>
              <a:ext uri="{FF2B5EF4-FFF2-40B4-BE49-F238E27FC236}">
                <a16:creationId xmlns:a16="http://schemas.microsoft.com/office/drawing/2014/main" id="{A2C856B9-7BC1-2222-7CB0-1D83D6723A4F}"/>
              </a:ext>
            </a:extLst>
          </p:cNvPr>
          <p:cNvSpPr/>
          <p:nvPr/>
        </p:nvSpPr>
        <p:spPr>
          <a:xfrm>
            <a:off x="-878378" y="685800"/>
            <a:ext cx="17413778" cy="6186165"/>
          </a:xfrm>
          <a:custGeom>
            <a:avLst/>
            <a:gdLst>
              <a:gd name="csX0" fmla="*/ 840325 w 13375178"/>
              <a:gd name="csY0" fmla="*/ 90165 h 6186165"/>
              <a:gd name="csX1" fmla="*/ 840325 w 13375178"/>
              <a:gd name="csY1" fmla="*/ 3823965 h 6186165"/>
              <a:gd name="csX2" fmla="*/ 3773978 w 13375178"/>
              <a:gd name="csY2" fmla="*/ 3823965 h 6186165"/>
              <a:gd name="csX3" fmla="*/ 3773978 w 13375178"/>
              <a:gd name="csY3" fmla="*/ 90165 h 6186165"/>
              <a:gd name="csX4" fmla="*/ 890793 w 13375178"/>
              <a:gd name="csY4" fmla="*/ 90165 h 6186165"/>
              <a:gd name="csX5" fmla="*/ 3773978 w 13375178"/>
              <a:gd name="csY5" fmla="*/ 0 h 6186165"/>
              <a:gd name="csX6" fmla="*/ 4688378 w 13375178"/>
              <a:gd name="csY6" fmla="*/ 0 h 6186165"/>
              <a:gd name="csX7" fmla="*/ 4688378 w 13375178"/>
              <a:gd name="csY7" fmla="*/ 13964 h 6186165"/>
              <a:gd name="csX8" fmla="*/ 7072738 w 13375178"/>
              <a:gd name="csY8" fmla="*/ 13964 h 6186165"/>
              <a:gd name="csX9" fmla="*/ 13375178 w 13375178"/>
              <a:gd name="csY9" fmla="*/ 13964 h 6186165"/>
              <a:gd name="csX10" fmla="*/ 13375178 w 13375178"/>
              <a:gd name="csY10" fmla="*/ 6186163 h 6186165"/>
              <a:gd name="csX11" fmla="*/ 12414140 w 13375178"/>
              <a:gd name="csY11" fmla="*/ 6186163 h 6186165"/>
              <a:gd name="csX12" fmla="*/ 12414140 w 13375178"/>
              <a:gd name="csY12" fmla="*/ 6186165 h 6186165"/>
              <a:gd name="csX13" fmla="*/ 7282820 w 13375178"/>
              <a:gd name="csY13" fmla="*/ 6186165 h 6186165"/>
              <a:gd name="csX14" fmla="*/ 7282820 w 13375178"/>
              <a:gd name="csY14" fmla="*/ 6186164 h 6186165"/>
              <a:gd name="csX15" fmla="*/ 700271 w 13375178"/>
              <a:gd name="csY15" fmla="*/ 6186164 h 6186165"/>
              <a:gd name="csX16" fmla="*/ 700271 w 13375178"/>
              <a:gd name="csY16" fmla="*/ 6186163 h 6186165"/>
              <a:gd name="csX17" fmla="*/ 0 w 13375178"/>
              <a:gd name="csY17" fmla="*/ 6186163 h 6186165"/>
              <a:gd name="csX18" fmla="*/ 0 w 13375178"/>
              <a:gd name="csY18" fmla="*/ 13964 h 6186165"/>
              <a:gd name="csX19" fmla="*/ 630244 w 13375178"/>
              <a:gd name="csY19" fmla="*/ 13964 h 6186165"/>
              <a:gd name="csX20" fmla="*/ 3773978 w 13375178"/>
              <a:gd name="csY20" fmla="*/ 13964 h 6186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13375178" h="6186165">
                <a:moveTo>
                  <a:pt x="840325" y="90165"/>
                </a:moveTo>
                <a:lnTo>
                  <a:pt x="840325" y="3823965"/>
                </a:lnTo>
                <a:lnTo>
                  <a:pt x="3773978" y="3823965"/>
                </a:lnTo>
                <a:lnTo>
                  <a:pt x="3773978" y="90165"/>
                </a:lnTo>
                <a:lnTo>
                  <a:pt x="890793" y="90165"/>
                </a:lnTo>
                <a:close/>
                <a:moveTo>
                  <a:pt x="3773978" y="0"/>
                </a:moveTo>
                <a:lnTo>
                  <a:pt x="4688378" y="0"/>
                </a:lnTo>
                <a:lnTo>
                  <a:pt x="4688378" y="13964"/>
                </a:lnTo>
                <a:lnTo>
                  <a:pt x="7072738" y="13964"/>
                </a:lnTo>
                <a:lnTo>
                  <a:pt x="13375178" y="13964"/>
                </a:lnTo>
                <a:lnTo>
                  <a:pt x="13375178" y="6186163"/>
                </a:lnTo>
                <a:lnTo>
                  <a:pt x="12414140" y="6186163"/>
                </a:lnTo>
                <a:lnTo>
                  <a:pt x="12414140" y="6186165"/>
                </a:lnTo>
                <a:lnTo>
                  <a:pt x="7282820" y="6186165"/>
                </a:lnTo>
                <a:lnTo>
                  <a:pt x="7282820" y="6186164"/>
                </a:lnTo>
                <a:lnTo>
                  <a:pt x="700271" y="6186164"/>
                </a:lnTo>
                <a:lnTo>
                  <a:pt x="700271" y="6186163"/>
                </a:lnTo>
                <a:lnTo>
                  <a:pt x="0" y="6186163"/>
                </a:lnTo>
                <a:lnTo>
                  <a:pt x="0" y="13964"/>
                </a:lnTo>
                <a:lnTo>
                  <a:pt x="630244" y="13964"/>
                </a:lnTo>
                <a:lnTo>
                  <a:pt x="3773978" y="13964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F753537-3CE8-CBBD-6D53-04D4ED6DCC0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683832" y="2958105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1C15296-F597-5742-B3F5-3C752E55DD33}"/>
              </a:ext>
            </a:extLst>
          </p:cNvPr>
          <p:cNvSpPr txBox="1"/>
          <p:nvPr/>
        </p:nvSpPr>
        <p:spPr>
          <a:xfrm>
            <a:off x="12645735" y="2267269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52278EFC-0828-0F0C-73E0-DBE1F261FC29}"/>
              </a:ext>
            </a:extLst>
          </p:cNvPr>
          <p:cNvSpPr>
            <a:spLocks/>
          </p:cNvSpPr>
          <p:nvPr/>
        </p:nvSpPr>
        <p:spPr>
          <a:xfrm>
            <a:off x="3342615" y="946015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D8B3BCDA-CFAB-A1BF-C33C-000E1CB7BBAD}"/>
              </a:ext>
            </a:extLst>
          </p:cNvPr>
          <p:cNvSpPr>
            <a:spLocks/>
          </p:cNvSpPr>
          <p:nvPr/>
        </p:nvSpPr>
        <p:spPr>
          <a:xfrm>
            <a:off x="1117189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9874F97E-1CCB-E848-F174-096D27F3B430}"/>
              </a:ext>
            </a:extLst>
          </p:cNvPr>
          <p:cNvSpPr>
            <a:spLocks/>
          </p:cNvSpPr>
          <p:nvPr/>
        </p:nvSpPr>
        <p:spPr>
          <a:xfrm>
            <a:off x="3352800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8" name="!!M5">
            <a:extLst>
              <a:ext uri="{FF2B5EF4-FFF2-40B4-BE49-F238E27FC236}">
                <a16:creationId xmlns:a16="http://schemas.microsoft.com/office/drawing/2014/main" id="{95F6FF3A-6D2F-8126-B7D5-0983C5E80CBB}"/>
              </a:ext>
            </a:extLst>
          </p:cNvPr>
          <p:cNvSpPr>
            <a:spLocks/>
          </p:cNvSpPr>
          <p:nvPr/>
        </p:nvSpPr>
        <p:spPr>
          <a:xfrm>
            <a:off x="2350725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sp>
        <p:nvSpPr>
          <p:cNvPr id="15" name="!!Focus">
            <a:extLst>
              <a:ext uri="{FF2B5EF4-FFF2-40B4-BE49-F238E27FC236}">
                <a16:creationId xmlns:a16="http://schemas.microsoft.com/office/drawing/2014/main" id="{F21E6BA9-590F-8DFF-6128-5DAF6AA33E7B}"/>
              </a:ext>
            </a:extLst>
          </p:cNvPr>
          <p:cNvSpPr/>
          <p:nvPr/>
        </p:nvSpPr>
        <p:spPr>
          <a:xfrm rot="5400000">
            <a:off x="12551717" y="10799116"/>
            <a:ext cx="2328566" cy="10668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12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601E9055-15FE-8297-D8BC-34195E051608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9B865733-BA12-4753-B89E-FA391F98933F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AACs with DS2</a:t>
            </a:r>
          </a:p>
        </p:txBody>
      </p:sp>
      <p:sp>
        <p:nvSpPr>
          <p:cNvPr id="27" name="!!M5">
            <a:extLst>
              <a:ext uri="{FF2B5EF4-FFF2-40B4-BE49-F238E27FC236}">
                <a16:creationId xmlns:a16="http://schemas.microsoft.com/office/drawing/2014/main" id="{ABA9594D-28DF-A562-4036-EF4A02CC9805}"/>
              </a:ext>
            </a:extLst>
          </p:cNvPr>
          <p:cNvSpPr>
            <a:spLocks/>
          </p:cNvSpPr>
          <p:nvPr/>
        </p:nvSpPr>
        <p:spPr>
          <a:xfrm>
            <a:off x="6210299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pic>
        <p:nvPicPr>
          <p:cNvPr id="12" name="Picture 2" descr="Unexpected Situations Trigger Chandelier Cell Activity">
            <a:extLst>
              <a:ext uri="{FF2B5EF4-FFF2-40B4-BE49-F238E27FC236}">
                <a16:creationId xmlns:a16="http://schemas.microsoft.com/office/drawing/2014/main" id="{0FE2B387-5C81-F019-AB20-5764015D91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9220200" y="4214930"/>
            <a:ext cx="2869789" cy="241447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!!Focus">
            <a:extLst>
              <a:ext uri="{FF2B5EF4-FFF2-40B4-BE49-F238E27FC236}">
                <a16:creationId xmlns:a16="http://schemas.microsoft.com/office/drawing/2014/main" id="{F61B137B-821B-DDA5-9E70-FB73ABBACEF1}"/>
              </a:ext>
            </a:extLst>
          </p:cNvPr>
          <p:cNvSpPr/>
          <p:nvPr/>
        </p:nvSpPr>
        <p:spPr>
          <a:xfrm rot="5400000">
            <a:off x="10819393" y="5404878"/>
            <a:ext cx="466567" cy="58517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D058CA-85B5-5DC5-26AE-B8C24C25BF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026" y="3733800"/>
            <a:ext cx="975269" cy="1432703"/>
          </a:xfrm>
          <a:prstGeom prst="rect">
            <a:avLst/>
          </a:prstGeom>
        </p:spPr>
      </p:pic>
      <p:sp>
        <p:nvSpPr>
          <p:cNvPr id="17" name="&quot;Not Allowed&quot; Symbol 16">
            <a:extLst>
              <a:ext uri="{FF2B5EF4-FFF2-40B4-BE49-F238E27FC236}">
                <a16:creationId xmlns:a16="http://schemas.microsoft.com/office/drawing/2014/main" id="{A1C4FD97-51EF-EB68-CC34-5CF302B5B97E}"/>
              </a:ext>
            </a:extLst>
          </p:cNvPr>
          <p:cNvSpPr/>
          <p:nvPr/>
        </p:nvSpPr>
        <p:spPr>
          <a:xfrm>
            <a:off x="10886277" y="5544544"/>
            <a:ext cx="328776" cy="281259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00">
              <a:solidFill>
                <a:schemeClr val="tx1"/>
              </a:solidFill>
            </a:endParaRPr>
          </a:p>
        </p:txBody>
      </p:sp>
      <p:sp>
        <p:nvSpPr>
          <p:cNvPr id="19" name="&quot;Not Allowed&quot; Symbol 18">
            <a:extLst>
              <a:ext uri="{FF2B5EF4-FFF2-40B4-BE49-F238E27FC236}">
                <a16:creationId xmlns:a16="http://schemas.microsoft.com/office/drawing/2014/main" id="{71DA00BF-3EDC-C232-06B8-35CD95C32395}"/>
              </a:ext>
            </a:extLst>
          </p:cNvPr>
          <p:cNvSpPr/>
          <p:nvPr/>
        </p:nvSpPr>
        <p:spPr>
          <a:xfrm>
            <a:off x="10886277" y="5544544"/>
            <a:ext cx="328776" cy="281259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00">
              <a:solidFill>
                <a:schemeClr val="tx1"/>
              </a:solidFill>
            </a:endParaRPr>
          </a:p>
        </p:txBody>
      </p:sp>
      <p:cxnSp>
        <p:nvCxnSpPr>
          <p:cNvPr id="20" name="!!Connector: Curved 29">
            <a:extLst>
              <a:ext uri="{FF2B5EF4-FFF2-40B4-BE49-F238E27FC236}">
                <a16:creationId xmlns:a16="http://schemas.microsoft.com/office/drawing/2014/main" id="{CBE2A647-AA1F-5B1F-81F6-F46F6ACDC35E}"/>
              </a:ext>
            </a:extLst>
          </p:cNvPr>
          <p:cNvCxnSpPr>
            <a:cxnSpLocks/>
          </p:cNvCxnSpPr>
          <p:nvPr/>
        </p:nvCxnSpPr>
        <p:spPr>
          <a:xfrm rot="10800000">
            <a:off x="10025141" y="4861487"/>
            <a:ext cx="861136" cy="843778"/>
          </a:xfrm>
          <a:prstGeom prst="curvedConnector3">
            <a:avLst>
              <a:gd name="adj1" fmla="val 10077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!!M1">
            <a:extLst>
              <a:ext uri="{FF2B5EF4-FFF2-40B4-BE49-F238E27FC236}">
                <a16:creationId xmlns:a16="http://schemas.microsoft.com/office/drawing/2014/main" id="{3733733A-A484-1A24-F478-DFD12217E979}"/>
              </a:ext>
            </a:extLst>
          </p:cNvPr>
          <p:cNvSpPr>
            <a:spLocks/>
          </p:cNvSpPr>
          <p:nvPr/>
        </p:nvSpPr>
        <p:spPr>
          <a:xfrm>
            <a:off x="1119520" y="946015"/>
            <a:ext cx="2066544" cy="1655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</p:spTree>
    <p:extLst>
      <p:ext uri="{BB962C8B-B14F-4D97-AF65-F5344CB8AC3E}">
        <p14:creationId xmlns:p14="http://schemas.microsoft.com/office/powerpoint/2010/main" val="327991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C526C-E6DA-3C1C-8367-350D3522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26B88503-5BCB-B022-1716-55234C6CF66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755D8AB7-49FE-3542-633C-F57EC1001A0F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BBDB799C-BBE5-2784-6E18-BBEC5F994EA7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1A1B825B-F21E-CBA2-D150-51AA37EF8FD1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58C941D2-9E72-879D-395F-DDAC360523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609599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FBAFFE-10C0-73A5-8232-F8382515313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91304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B92B09FA-1A7C-C9D2-6511-72D5CB543C4D}"/>
              </a:ext>
            </a:extLst>
          </p:cNvPr>
          <p:cNvSpPr txBox="1"/>
          <p:nvPr/>
        </p:nvSpPr>
        <p:spPr>
          <a:xfrm>
            <a:off x="623729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5E715D-FFEF-5535-850F-60F46F98C101}"/>
              </a:ext>
            </a:extLst>
          </p:cNvPr>
          <p:cNvSpPr txBox="1"/>
          <p:nvPr/>
        </p:nvSpPr>
        <p:spPr>
          <a:xfrm>
            <a:off x="6591303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" name="!!M5">
            <a:extLst>
              <a:ext uri="{FF2B5EF4-FFF2-40B4-BE49-F238E27FC236}">
                <a16:creationId xmlns:a16="http://schemas.microsoft.com/office/drawing/2014/main" id="{076A6319-3B82-90B7-457F-209FFC069469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">
            <a:extLst>
              <a:ext uri="{FF2B5EF4-FFF2-40B4-BE49-F238E27FC236}">
                <a16:creationId xmlns:a16="http://schemas.microsoft.com/office/drawing/2014/main" id="{8AD6C98C-0726-8BA4-E2B2-B1E0752A108F}"/>
              </a:ext>
            </a:extLst>
          </p:cNvPr>
          <p:cNvSpPr>
            <a:spLocks/>
          </p:cNvSpPr>
          <p:nvPr/>
        </p:nvSpPr>
        <p:spPr>
          <a:xfrm>
            <a:off x="-5257800" y="929733"/>
            <a:ext cx="2068875" cy="16495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EB6A663B-CF64-390A-9908-42D17238AE9C}"/>
              </a:ext>
            </a:extLst>
          </p:cNvPr>
          <p:cNvSpPr>
            <a:spLocks/>
          </p:cNvSpPr>
          <p:nvPr/>
        </p:nvSpPr>
        <p:spPr>
          <a:xfrm>
            <a:off x="-3032374" y="946015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0776F515-2921-9B27-E9CC-3DB0FE264794}"/>
              </a:ext>
            </a:extLst>
          </p:cNvPr>
          <p:cNvSpPr>
            <a:spLocks/>
          </p:cNvSpPr>
          <p:nvPr/>
        </p:nvSpPr>
        <p:spPr>
          <a:xfrm>
            <a:off x="-5257800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166F1D31-8C1E-2204-225A-13AE47C2C12C}"/>
              </a:ext>
            </a:extLst>
          </p:cNvPr>
          <p:cNvSpPr>
            <a:spLocks/>
          </p:cNvSpPr>
          <p:nvPr/>
        </p:nvSpPr>
        <p:spPr>
          <a:xfrm>
            <a:off x="-3022189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06103292-A9FD-7F98-E5BD-321C4D0992E5}"/>
              </a:ext>
            </a:extLst>
          </p:cNvPr>
          <p:cNvSpPr>
            <a:spLocks/>
          </p:cNvSpPr>
          <p:nvPr/>
        </p:nvSpPr>
        <p:spPr>
          <a:xfrm>
            <a:off x="-4024264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sp>
        <p:nvSpPr>
          <p:cNvPr id="6" name="!!Focus">
            <a:extLst>
              <a:ext uri="{FF2B5EF4-FFF2-40B4-BE49-F238E27FC236}">
                <a16:creationId xmlns:a16="http://schemas.microsoft.com/office/drawing/2014/main" id="{6918C63F-8FFC-0E5E-8705-BDD0077FD68F}"/>
              </a:ext>
            </a:extLst>
          </p:cNvPr>
          <p:cNvSpPr/>
          <p:nvPr/>
        </p:nvSpPr>
        <p:spPr>
          <a:xfrm rot="5400000">
            <a:off x="10819393" y="7779927"/>
            <a:ext cx="466567" cy="58517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00" dirty="0"/>
          </a:p>
        </p:txBody>
      </p:sp>
    </p:spTree>
    <p:extLst>
      <p:ext uri="{BB962C8B-B14F-4D97-AF65-F5344CB8AC3E}">
        <p14:creationId xmlns:p14="http://schemas.microsoft.com/office/powerpoint/2010/main" val="3176280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8711A-15FB-F721-D4C7-7C98C62D9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A7BDA30A-6822-B0F0-C25E-11C810D68B20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C2A3D164-A0AB-C8C1-6CCB-EA631C406D79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7A70D2B2-71BF-880F-6998-B8B6F90476CA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</a:t>
            </a:r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D5C0E946-07AD-3C1F-874B-A801CF257362}"/>
              </a:ext>
            </a:extLst>
          </p:cNvPr>
          <p:cNvSpPr/>
          <p:nvPr/>
        </p:nvSpPr>
        <p:spPr>
          <a:xfrm rot="5400000">
            <a:off x="1809901" y="7041022"/>
            <a:ext cx="381001" cy="13865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E64957AE-B338-FD09-1412-A31978EF4A9D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DD8F942A-E16E-1BB4-5D6E-2619040A76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609599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67463C-DCF4-3410-B8B5-F6A3F459B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4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518C5923-27CD-65CE-725F-2AAF73928C63}"/>
              </a:ext>
            </a:extLst>
          </p:cNvPr>
          <p:cNvSpPr txBox="1"/>
          <p:nvPr/>
        </p:nvSpPr>
        <p:spPr>
          <a:xfrm>
            <a:off x="623729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783540-5745-64AF-3C42-E36C535D30BB}"/>
              </a:ext>
            </a:extLst>
          </p:cNvPr>
          <p:cNvSpPr txBox="1"/>
          <p:nvPr/>
        </p:nvSpPr>
        <p:spPr>
          <a:xfrm>
            <a:off x="6591303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E565AB12-B5BE-7A19-54A7-B6E77631D335}"/>
              </a:ext>
            </a:extLst>
          </p:cNvPr>
          <p:cNvSpPr>
            <a:spLocks/>
          </p:cNvSpPr>
          <p:nvPr/>
        </p:nvSpPr>
        <p:spPr>
          <a:xfrm>
            <a:off x="12649199" y="-2606597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1950203D-E515-38C9-88EE-29F0EC0B9DA6}"/>
              </a:ext>
            </a:extLst>
          </p:cNvPr>
          <p:cNvSpPr>
            <a:spLocks/>
          </p:cNvSpPr>
          <p:nvPr/>
        </p:nvSpPr>
        <p:spPr>
          <a:xfrm>
            <a:off x="12925184" y="929733"/>
            <a:ext cx="2068875" cy="16495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  <p:sp>
        <p:nvSpPr>
          <p:cNvPr id="15" name="!!M2" hidden="1">
            <a:extLst>
              <a:ext uri="{FF2B5EF4-FFF2-40B4-BE49-F238E27FC236}">
                <a16:creationId xmlns:a16="http://schemas.microsoft.com/office/drawing/2014/main" id="{10188A9F-3E1F-CBCA-E0E0-BFC593C8C769}"/>
              </a:ext>
            </a:extLst>
          </p:cNvPr>
          <p:cNvSpPr>
            <a:spLocks/>
          </p:cNvSpPr>
          <p:nvPr/>
        </p:nvSpPr>
        <p:spPr>
          <a:xfrm>
            <a:off x="15150610" y="946015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17" name="!!M3" hidden="1">
            <a:extLst>
              <a:ext uri="{FF2B5EF4-FFF2-40B4-BE49-F238E27FC236}">
                <a16:creationId xmlns:a16="http://schemas.microsoft.com/office/drawing/2014/main" id="{7ABB185C-3B83-FE71-8B21-8E33DCAA6E35}"/>
              </a:ext>
            </a:extLst>
          </p:cNvPr>
          <p:cNvSpPr>
            <a:spLocks/>
          </p:cNvSpPr>
          <p:nvPr/>
        </p:nvSpPr>
        <p:spPr>
          <a:xfrm>
            <a:off x="1292518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 hidden="1">
            <a:extLst>
              <a:ext uri="{FF2B5EF4-FFF2-40B4-BE49-F238E27FC236}">
                <a16:creationId xmlns:a16="http://schemas.microsoft.com/office/drawing/2014/main" id="{27B0E63E-23F3-09F4-FDEC-E5D5741E2B2C}"/>
              </a:ext>
            </a:extLst>
          </p:cNvPr>
          <p:cNvSpPr>
            <a:spLocks/>
          </p:cNvSpPr>
          <p:nvPr/>
        </p:nvSpPr>
        <p:spPr>
          <a:xfrm>
            <a:off x="1516079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 hidden="1">
            <a:extLst>
              <a:ext uri="{FF2B5EF4-FFF2-40B4-BE49-F238E27FC236}">
                <a16:creationId xmlns:a16="http://schemas.microsoft.com/office/drawing/2014/main" id="{5EC09016-EFD5-B15B-D0CD-435A32101E48}"/>
              </a:ext>
            </a:extLst>
          </p:cNvPr>
          <p:cNvSpPr>
            <a:spLocks/>
          </p:cNvSpPr>
          <p:nvPr/>
        </p:nvSpPr>
        <p:spPr>
          <a:xfrm>
            <a:off x="1415872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5DB8E6-9790-A80F-004F-E46449398D39}"/>
              </a:ext>
            </a:extLst>
          </p:cNvPr>
          <p:cNvGrpSpPr/>
          <p:nvPr/>
        </p:nvGrpSpPr>
        <p:grpSpPr>
          <a:xfrm>
            <a:off x="4724400" y="7536822"/>
            <a:ext cx="3658620" cy="2369178"/>
            <a:chOff x="6934199" y="3150228"/>
            <a:chExt cx="5148167" cy="3333750"/>
          </a:xfrm>
        </p:grpSpPr>
        <p:pic>
          <p:nvPicPr>
            <p:cNvPr id="7" name="Picture 2" descr="Hippocamoal Formation">
              <a:extLst>
                <a:ext uri="{FF2B5EF4-FFF2-40B4-BE49-F238E27FC236}">
                  <a16:creationId xmlns:a16="http://schemas.microsoft.com/office/drawing/2014/main" id="{D0B16B02-5EA9-16B9-D8D9-35F4800A0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DC8FED5-AD13-A8D4-C67D-1745B02159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!!M1">
              <a:extLst>
                <a:ext uri="{FF2B5EF4-FFF2-40B4-BE49-F238E27FC236}">
                  <a16:creationId xmlns:a16="http://schemas.microsoft.com/office/drawing/2014/main" id="{18A754B3-AFC9-0546-E90E-5B54D9B0330B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!!M1_">
            <a:extLst>
              <a:ext uri="{FF2B5EF4-FFF2-40B4-BE49-F238E27FC236}">
                <a16:creationId xmlns:a16="http://schemas.microsoft.com/office/drawing/2014/main" id="{F6D5D3F2-066B-BE67-A075-C522D44335FC}"/>
              </a:ext>
            </a:extLst>
          </p:cNvPr>
          <p:cNvSpPr>
            <a:spLocks/>
          </p:cNvSpPr>
          <p:nvPr/>
        </p:nvSpPr>
        <p:spPr>
          <a:xfrm>
            <a:off x="12674651" y="2233913"/>
            <a:ext cx="5765749" cy="1804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A specific class of GABAergic neurons located in the CA1 region.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2A5792-E8A9-3028-E4C5-81B0303B3A0D}"/>
              </a:ext>
            </a:extLst>
          </p:cNvPr>
          <p:cNvGrpSpPr/>
          <p:nvPr/>
        </p:nvGrpSpPr>
        <p:grpSpPr>
          <a:xfrm>
            <a:off x="12420600" y="2826378"/>
            <a:ext cx="5771993" cy="3703407"/>
            <a:chOff x="5871340" y="2826378"/>
            <a:chExt cx="5771993" cy="370340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607942A-8639-E491-4048-44F31232F6E3}"/>
                </a:ext>
              </a:extLst>
            </p:cNvPr>
            <p:cNvGrpSpPr/>
            <p:nvPr/>
          </p:nvGrpSpPr>
          <p:grpSpPr>
            <a:xfrm>
              <a:off x="5871341" y="2854552"/>
              <a:ext cx="5767805" cy="3675233"/>
              <a:chOff x="5871341" y="2774154"/>
              <a:chExt cx="5767805" cy="3755632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07605FF-E25D-BACF-79E8-D019399283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71341" y="2774154"/>
                <a:ext cx="5765749" cy="641783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4CC22B54-DD78-A275-1EDD-72ED82F30D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01821" y="3592897"/>
                <a:ext cx="3539205" cy="1650658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22CF3AFD-9952-0A73-8E61-971992F04F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58233" y="3136256"/>
                <a:ext cx="2180913" cy="2615471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990DE49-A5E0-8686-9942-CF65957C32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71341" y="5308970"/>
                <a:ext cx="5767001" cy="1220816"/>
              </a:xfrm>
              <a:prstGeom prst="rect">
                <a:avLst/>
              </a:prstGeom>
            </p:spPr>
          </p:pic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2D3F512-A70D-368D-7D48-C4393405402F}"/>
                </a:ext>
              </a:extLst>
            </p:cNvPr>
            <p:cNvSpPr/>
            <p:nvPr/>
          </p:nvSpPr>
          <p:spPr>
            <a:xfrm>
              <a:off x="5871340" y="2826378"/>
              <a:ext cx="5771993" cy="3703407"/>
            </a:xfrm>
            <a:prstGeom prst="rect">
              <a:avLst/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4396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E71A7-949B-C6D3-D9FA-AD67C74AE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AAEADFBA-20D1-1647-E42E-12330AFA839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240049C0-7092-BE4B-B2EE-B6A35027DCF6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19F5C621-24DB-FD86-1034-BD67F1D5221F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4375368E-D45D-C5DC-751A-687C5B876B16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DCC0CA04-0CC9-ED40-BEB6-D30BCA25FA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-6248400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BAE7B86-BF84-45EE-3D5D-06912A18C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1A4C2D7E-7FE7-64B1-626F-AF0ADFC16387}"/>
              </a:ext>
            </a:extLst>
          </p:cNvPr>
          <p:cNvSpPr txBox="1"/>
          <p:nvPr/>
        </p:nvSpPr>
        <p:spPr>
          <a:xfrm>
            <a:off x="-6234270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18D0F2-01C7-C771-A0A2-5B841A29EE0B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4" name="!!N1">
            <a:extLst>
              <a:ext uri="{FF2B5EF4-FFF2-40B4-BE49-F238E27FC236}">
                <a16:creationId xmlns:a16="http://schemas.microsoft.com/office/drawing/2014/main" id="{53BB1CA0-A1AD-2D05-54B8-B38529A4AA1E}"/>
              </a:ext>
            </a:extLst>
          </p:cNvPr>
          <p:cNvSpPr>
            <a:spLocks/>
          </p:cNvSpPr>
          <p:nvPr/>
        </p:nvSpPr>
        <p:spPr>
          <a:xfrm>
            <a:off x="13807466" y="3352800"/>
            <a:ext cx="40995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Arousal 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 Ach flood TORO inhibition  Theta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40C1047A-9F63-D449-D898-1C42B60F3070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63E19B8B-9415-CCC1-6C95-0F62CCA8EB39}"/>
              </a:ext>
            </a:extLst>
          </p:cNvPr>
          <p:cNvSpPr>
            <a:spLocks/>
          </p:cNvSpPr>
          <p:nvPr/>
        </p:nvSpPr>
        <p:spPr>
          <a:xfrm>
            <a:off x="12674651" y="2233913"/>
            <a:ext cx="5765749" cy="1804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A specific class of GABAergic neurons located in the CA1 region.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168DD1B5-54FC-D83F-B643-4475877F6897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053FBD4B-401F-FE3A-C94E-10B2C65F609A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1B69C5D4-ECBD-560B-BCE8-78195BF145A1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185532F-932A-BF7F-5F49-CFF8A783B6DA}"/>
              </a:ext>
            </a:extLst>
          </p:cNvPr>
          <p:cNvGrpSpPr/>
          <p:nvPr/>
        </p:nvGrpSpPr>
        <p:grpSpPr>
          <a:xfrm>
            <a:off x="4724400" y="7460622"/>
            <a:ext cx="3658620" cy="2369178"/>
            <a:chOff x="6934199" y="3150228"/>
            <a:chExt cx="5148167" cy="3333750"/>
          </a:xfrm>
        </p:grpSpPr>
        <p:pic>
          <p:nvPicPr>
            <p:cNvPr id="6" name="Picture 2" descr="Hippocamoal Formation">
              <a:extLst>
                <a:ext uri="{FF2B5EF4-FFF2-40B4-BE49-F238E27FC236}">
                  <a16:creationId xmlns:a16="http://schemas.microsoft.com/office/drawing/2014/main" id="{886F5B05-53E3-69C4-11B3-D7492607A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2E72F73-F728-144D-6443-A4E3513E69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!!M1">
              <a:extLst>
                <a:ext uri="{FF2B5EF4-FFF2-40B4-BE49-F238E27FC236}">
                  <a16:creationId xmlns:a16="http://schemas.microsoft.com/office/drawing/2014/main" id="{F63B906C-04F6-D04E-A412-97D5A730AC99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7CAFA5E4-1B0A-B6F1-F641-1450C77333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909" y="7269603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5EFBBA82-7B65-959E-6CC6-C742C010F674}"/>
              </a:ext>
            </a:extLst>
          </p:cNvPr>
          <p:cNvGrpSpPr/>
          <p:nvPr/>
        </p:nvGrpSpPr>
        <p:grpSpPr>
          <a:xfrm>
            <a:off x="5871340" y="2826378"/>
            <a:ext cx="5771993" cy="3703407"/>
            <a:chOff x="5871340" y="2826378"/>
            <a:chExt cx="5771993" cy="370340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87F596A-E17C-712F-BBD5-EDE92CA7EFAC}"/>
                </a:ext>
              </a:extLst>
            </p:cNvPr>
            <p:cNvGrpSpPr/>
            <p:nvPr/>
          </p:nvGrpSpPr>
          <p:grpSpPr>
            <a:xfrm>
              <a:off x="5871341" y="2854552"/>
              <a:ext cx="5767805" cy="3675233"/>
              <a:chOff x="5871341" y="2774154"/>
              <a:chExt cx="5767805" cy="3755632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684C1A6-9294-2F51-1C1A-23BE253F0D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71341" y="2774154"/>
                <a:ext cx="5765749" cy="641783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BA03965-B115-3F7D-2AFD-4DE33CB07B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1821" y="3592897"/>
                <a:ext cx="3539205" cy="1650658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D70A0566-8174-30D4-6640-491F4F4F6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58233" y="3136256"/>
                <a:ext cx="2180913" cy="2615471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2CF60968-8A6E-3A20-70FA-3F4CCD5C4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71341" y="5308970"/>
                <a:ext cx="5767001" cy="1220816"/>
              </a:xfrm>
              <a:prstGeom prst="rect">
                <a:avLst/>
              </a:prstGeom>
            </p:spPr>
          </p:pic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1A4FA59-E236-EBC3-1D83-4F51F28A4CA0}"/>
                </a:ext>
              </a:extLst>
            </p:cNvPr>
            <p:cNvSpPr/>
            <p:nvPr/>
          </p:nvSpPr>
          <p:spPr>
            <a:xfrm>
              <a:off x="5871340" y="2826378"/>
              <a:ext cx="5771993" cy="3703407"/>
            </a:xfrm>
            <a:prstGeom prst="rect">
              <a:avLst/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!!Focus">
            <a:extLst>
              <a:ext uri="{FF2B5EF4-FFF2-40B4-BE49-F238E27FC236}">
                <a16:creationId xmlns:a16="http://schemas.microsoft.com/office/drawing/2014/main" id="{0AC1E351-3606-B123-4A9A-1A8F18196DBD}"/>
              </a:ext>
            </a:extLst>
          </p:cNvPr>
          <p:cNvSpPr/>
          <p:nvPr/>
        </p:nvSpPr>
        <p:spPr>
          <a:xfrm rot="5400000">
            <a:off x="2785824" y="7586427"/>
            <a:ext cx="810172" cy="78098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!!M2">
            <a:extLst>
              <a:ext uri="{FF2B5EF4-FFF2-40B4-BE49-F238E27FC236}">
                <a16:creationId xmlns:a16="http://schemas.microsoft.com/office/drawing/2014/main" id="{7224D277-F2BD-C2A2-ADA5-4F0D3FF4D56E}"/>
              </a:ext>
            </a:extLst>
          </p:cNvPr>
          <p:cNvSpPr>
            <a:spLocks/>
          </p:cNvSpPr>
          <p:nvPr/>
        </p:nvSpPr>
        <p:spPr>
          <a:xfrm>
            <a:off x="12488181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1C326F-C566-B391-4B44-B4575C74A6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8368" y="8040549"/>
            <a:ext cx="4278232" cy="28560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ocus">
            <a:extLst>
              <a:ext uri="{FF2B5EF4-FFF2-40B4-BE49-F238E27FC236}">
                <a16:creationId xmlns:a16="http://schemas.microsoft.com/office/drawing/2014/main" id="{6A3D6DD8-165C-36BC-EAF9-ED37A28C4AF9}"/>
              </a:ext>
            </a:extLst>
          </p:cNvPr>
          <p:cNvSpPr/>
          <p:nvPr/>
        </p:nvSpPr>
        <p:spPr>
          <a:xfrm rot="5400000">
            <a:off x="8199183" y="3395448"/>
            <a:ext cx="493252" cy="154877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56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6F641-484A-E620-9C53-872730CB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744110C2-0F88-FF3D-BE54-21A8BFDA4B9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ED0A8869-3009-8417-2744-9E7954A8A5C8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09F68D96-867B-FEE1-B69A-ED6AF26F8D89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C13D0975-C05B-46AB-2E81-890796E0409D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26B8BEFA-3A51-D1A7-594D-B42B8377FD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-6248400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78FDD73-F712-B7D9-5A96-47E772DBA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AF654337-44A0-BB66-679C-DDD0BA96EEFC}"/>
              </a:ext>
            </a:extLst>
          </p:cNvPr>
          <p:cNvSpPr txBox="1"/>
          <p:nvPr/>
        </p:nvSpPr>
        <p:spPr>
          <a:xfrm>
            <a:off x="-6234270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9287EB-9FD7-1C70-EBB0-24628BC9D22F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4" name="!!N1">
            <a:extLst>
              <a:ext uri="{FF2B5EF4-FFF2-40B4-BE49-F238E27FC236}">
                <a16:creationId xmlns:a16="http://schemas.microsoft.com/office/drawing/2014/main" id="{999390F1-6BE8-B3FD-581D-3DFC64608185}"/>
              </a:ext>
            </a:extLst>
          </p:cNvPr>
          <p:cNvSpPr>
            <a:spLocks/>
          </p:cNvSpPr>
          <p:nvPr/>
        </p:nvSpPr>
        <p:spPr>
          <a:xfrm>
            <a:off x="13807466" y="3352800"/>
            <a:ext cx="40995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Arousal 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 Ach flood TORO inhibition  Theta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B34A412F-497E-BA9C-D605-4AE535F0E857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9882A01A-9AAE-8FD5-ECDC-8B65C4F03B3B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1804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A specific class of GABAergic neurons located in the CA1 region.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ABDEFB9B-32B1-768B-C2AA-46E2C03B516C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1F3D6748-06F8-C309-4523-0B9F6152A541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880B2765-E5EB-CFD4-EC8C-F054AB7C6F00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C895D8-76C4-7F80-A549-5582D8245D1D}"/>
              </a:ext>
            </a:extLst>
          </p:cNvPr>
          <p:cNvGrpSpPr/>
          <p:nvPr/>
        </p:nvGrpSpPr>
        <p:grpSpPr>
          <a:xfrm>
            <a:off x="4724400" y="4385982"/>
            <a:ext cx="3658620" cy="2369178"/>
            <a:chOff x="6934199" y="3150228"/>
            <a:chExt cx="5148167" cy="3333750"/>
          </a:xfrm>
        </p:grpSpPr>
        <p:pic>
          <p:nvPicPr>
            <p:cNvPr id="6" name="Picture 2" descr="Hippocamoal Formation">
              <a:extLst>
                <a:ext uri="{FF2B5EF4-FFF2-40B4-BE49-F238E27FC236}">
                  <a16:creationId xmlns:a16="http://schemas.microsoft.com/office/drawing/2014/main" id="{E5C425AE-A2AA-19CC-2FE7-8BDE877341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F874B57-9DF1-6A6C-6938-310164D85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!!M1">
              <a:extLst>
                <a:ext uri="{FF2B5EF4-FFF2-40B4-BE49-F238E27FC236}">
                  <a16:creationId xmlns:a16="http://schemas.microsoft.com/office/drawing/2014/main" id="{EAB90D9B-D7BF-7361-3638-B98FB69CD90B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!!Focus">
            <a:extLst>
              <a:ext uri="{FF2B5EF4-FFF2-40B4-BE49-F238E27FC236}">
                <a16:creationId xmlns:a16="http://schemas.microsoft.com/office/drawing/2014/main" id="{CE3C89E6-F125-98FC-FC42-862B4F9CEF4C}"/>
              </a:ext>
            </a:extLst>
          </p:cNvPr>
          <p:cNvSpPr/>
          <p:nvPr/>
        </p:nvSpPr>
        <p:spPr>
          <a:xfrm rot="5400000">
            <a:off x="1306607" y="3785719"/>
            <a:ext cx="3314173" cy="169135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6564D47-7DB3-8276-4550-4E1EE3CB7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909" y="7269603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7" name="!!Focus">
            <a:extLst>
              <a:ext uri="{FF2B5EF4-FFF2-40B4-BE49-F238E27FC236}">
                <a16:creationId xmlns:a16="http://schemas.microsoft.com/office/drawing/2014/main" id="{812CD0B9-7447-AAA2-FC96-049A7BD16051}"/>
              </a:ext>
            </a:extLst>
          </p:cNvPr>
          <p:cNvSpPr/>
          <p:nvPr/>
        </p:nvSpPr>
        <p:spPr>
          <a:xfrm rot="5400000">
            <a:off x="2785824" y="7586427"/>
            <a:ext cx="810172" cy="78098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!!M2">
            <a:extLst>
              <a:ext uri="{FF2B5EF4-FFF2-40B4-BE49-F238E27FC236}">
                <a16:creationId xmlns:a16="http://schemas.microsoft.com/office/drawing/2014/main" id="{4F83838B-21D8-4D64-36E6-6B900CF0B7ED}"/>
              </a:ext>
            </a:extLst>
          </p:cNvPr>
          <p:cNvSpPr>
            <a:spLocks/>
          </p:cNvSpPr>
          <p:nvPr/>
        </p:nvSpPr>
        <p:spPr>
          <a:xfrm>
            <a:off x="12488181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DA15B0-94BB-DFC6-1682-7F160B2E05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8368" y="8040549"/>
            <a:ext cx="4278232" cy="28560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603066E-8461-B6F7-263E-3C75CE2E5C2E}"/>
              </a:ext>
            </a:extLst>
          </p:cNvPr>
          <p:cNvGrpSpPr/>
          <p:nvPr/>
        </p:nvGrpSpPr>
        <p:grpSpPr>
          <a:xfrm>
            <a:off x="12420600" y="7269393"/>
            <a:ext cx="5771993" cy="3703407"/>
            <a:chOff x="5871340" y="2826378"/>
            <a:chExt cx="5771993" cy="370340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17896D8-D375-CB33-6D75-D2394F3C5CAF}"/>
                </a:ext>
              </a:extLst>
            </p:cNvPr>
            <p:cNvGrpSpPr/>
            <p:nvPr/>
          </p:nvGrpSpPr>
          <p:grpSpPr>
            <a:xfrm>
              <a:off x="5871341" y="2854552"/>
              <a:ext cx="5767805" cy="3675233"/>
              <a:chOff x="5871341" y="2774154"/>
              <a:chExt cx="5767805" cy="375563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236EF271-3241-5EE9-CB24-081FB772BF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71341" y="2774154"/>
                <a:ext cx="5765749" cy="641783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65C4F170-8712-DF07-6F8B-DF1DCEF314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01821" y="3592897"/>
                <a:ext cx="3539205" cy="1650658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ACDD7629-7357-63E8-EBC1-5628E3E3A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58233" y="3136256"/>
                <a:ext cx="2180913" cy="2615471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C0D024C4-F99A-D16D-A6B6-521588F25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71341" y="5308970"/>
                <a:ext cx="5767001" cy="1220816"/>
              </a:xfrm>
              <a:prstGeom prst="rect">
                <a:avLst/>
              </a:prstGeom>
            </p:spPr>
          </p:pic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BAD7AE6-3B9B-C8C0-1FED-4FB4CE47E18F}"/>
                </a:ext>
              </a:extLst>
            </p:cNvPr>
            <p:cNvSpPr/>
            <p:nvPr/>
          </p:nvSpPr>
          <p:spPr>
            <a:xfrm>
              <a:off x="5871340" y="2826378"/>
              <a:ext cx="5771993" cy="3703407"/>
            </a:xfrm>
            <a:prstGeom prst="rect">
              <a:avLst/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3322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D3A9-2F8C-A9D1-2960-817263F9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FC59B4BC-C98A-DD6E-8CAA-8314C9ED3A01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CB73CE05-35B7-3F56-2A88-C026C3C8EA12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9E92388F-00C7-0C1A-4A08-F15C3D815686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B0DD1953-2329-ADD1-62E9-2E0350488A4C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B8C1BEB2-7700-77C9-3A39-65236ACDF5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-6248400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4A3F4B-79C4-4D26-DFA8-E5E7DDB4E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7549D29E-65DA-CB87-8B51-0C9691F95CCD}"/>
              </a:ext>
            </a:extLst>
          </p:cNvPr>
          <p:cNvSpPr txBox="1"/>
          <p:nvPr/>
        </p:nvSpPr>
        <p:spPr>
          <a:xfrm>
            <a:off x="-6234270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97C201-8156-B59F-FAF7-D2A88A49102F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0EC607A9-11E3-6C18-46A0-9D151692E35F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5C9E1ADF-CE7C-DC21-52F1-8F61EFC7EE41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CEE28247-F3CB-4B5D-E931-FF584F246987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6916BE6E-F41C-E955-F376-B2A33A21B33C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40459FFF-1318-A69F-AF05-D73C97346947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118AC0-53C9-4B1B-79D3-8B88777A2EBF}"/>
              </a:ext>
            </a:extLst>
          </p:cNvPr>
          <p:cNvGrpSpPr/>
          <p:nvPr/>
        </p:nvGrpSpPr>
        <p:grpSpPr>
          <a:xfrm>
            <a:off x="4724400" y="7308222"/>
            <a:ext cx="3658620" cy="2369178"/>
            <a:chOff x="6934199" y="3150228"/>
            <a:chExt cx="5148167" cy="3333750"/>
          </a:xfrm>
        </p:grpSpPr>
        <p:pic>
          <p:nvPicPr>
            <p:cNvPr id="6" name="Picture 2" descr="Hippocamoal Formation">
              <a:extLst>
                <a:ext uri="{FF2B5EF4-FFF2-40B4-BE49-F238E27FC236}">
                  <a16:creationId xmlns:a16="http://schemas.microsoft.com/office/drawing/2014/main" id="{B4D325F2-B359-80D6-A15A-BDABA31B5B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4FA7B19-A402-68EC-48BE-7692ACE60C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!!M1">
              <a:extLst>
                <a:ext uri="{FF2B5EF4-FFF2-40B4-BE49-F238E27FC236}">
                  <a16:creationId xmlns:a16="http://schemas.microsoft.com/office/drawing/2014/main" id="{1635E12A-096A-C3C9-A83D-03A2F80E86D0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4CE86120-CDB4-5A89-E6CE-49AA0AC9D8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8368" y="3287967"/>
            <a:ext cx="4278232" cy="28560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CEA71BF-8598-32BD-4212-B7ADE80152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30" y="3348027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0" name="!!Focus">
            <a:extLst>
              <a:ext uri="{FF2B5EF4-FFF2-40B4-BE49-F238E27FC236}">
                <a16:creationId xmlns:a16="http://schemas.microsoft.com/office/drawing/2014/main" id="{72268F41-9F87-B2AF-0E27-CEC8ABBA3F49}"/>
              </a:ext>
            </a:extLst>
          </p:cNvPr>
          <p:cNvSpPr/>
          <p:nvPr/>
        </p:nvSpPr>
        <p:spPr>
          <a:xfrm rot="5400000">
            <a:off x="2133582" y="7701588"/>
            <a:ext cx="810172" cy="78098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Picture 22">
            <a:extLst>
              <a:ext uri="{FF2B5EF4-FFF2-40B4-BE49-F238E27FC236}">
                <a16:creationId xmlns:a16="http://schemas.microsoft.com/office/drawing/2014/main" id="{0CFF44AB-B542-66F5-646D-23E4FEC2D4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6101" r="54294"/>
          <a:stretch>
            <a:fillRect/>
          </a:stretch>
        </p:blipFill>
        <p:spPr>
          <a:xfrm>
            <a:off x="5867400" y="7010133"/>
            <a:ext cx="1231722" cy="6098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9656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F557-B27F-3E0B-18AC-6D0071572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86051A2D-35FC-FA29-F3F8-55CB21D93EC6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8AA9F67A-A6CC-A06F-BF54-358845C8E03E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CE06D4B6-3D72-5B51-6B78-171316C39580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92C4624F-61FB-7B8F-A2C7-C50DC947AECF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EB31A90A-7D4C-FEBB-C800-3AA0DCF280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-6248400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0A8E5AF-700B-7B56-D2BF-22E98AAFD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27E34E68-83BD-DAF1-387E-4EF2A5F3F961}"/>
              </a:ext>
            </a:extLst>
          </p:cNvPr>
          <p:cNvSpPr txBox="1"/>
          <p:nvPr/>
        </p:nvSpPr>
        <p:spPr>
          <a:xfrm>
            <a:off x="-6234270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94F057-A85D-7EFC-9F7D-235DAAF3E397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3" name="!!N1">
            <a:extLst>
              <a:ext uri="{FF2B5EF4-FFF2-40B4-BE49-F238E27FC236}">
                <a16:creationId xmlns:a16="http://schemas.microsoft.com/office/drawing/2014/main" id="{9F9DD37B-00DC-8FB5-622D-4D2E99A86F83}"/>
              </a:ext>
            </a:extLst>
          </p:cNvPr>
          <p:cNvSpPr>
            <a:spLocks/>
          </p:cNvSpPr>
          <p:nvPr/>
        </p:nvSpPr>
        <p:spPr>
          <a:xfrm>
            <a:off x="5867400" y="3581400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4A17A16D-5D5A-B170-CF6C-3ED8502B402A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D0BB9874-BE80-E98B-ADF2-669B939BD47F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14B8FD4B-87C2-2C7C-0F21-581F9384B9DB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BB06541C-41A4-B6AE-9C01-D63C636C778A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BCF5524C-4B46-AB0A-DD70-580D0E5D763F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ACCA9A24-E2C3-4D10-6E06-F680A751ED10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1283CD-7950-68B9-93E7-1571FBC3FC1C}"/>
              </a:ext>
            </a:extLst>
          </p:cNvPr>
          <p:cNvGrpSpPr/>
          <p:nvPr/>
        </p:nvGrpSpPr>
        <p:grpSpPr>
          <a:xfrm>
            <a:off x="4724400" y="7308222"/>
            <a:ext cx="3658620" cy="2369178"/>
            <a:chOff x="6934199" y="3150228"/>
            <a:chExt cx="5148167" cy="3333750"/>
          </a:xfrm>
        </p:grpSpPr>
        <p:pic>
          <p:nvPicPr>
            <p:cNvPr id="6" name="Picture 2" descr="Hippocamoal Formation">
              <a:extLst>
                <a:ext uri="{FF2B5EF4-FFF2-40B4-BE49-F238E27FC236}">
                  <a16:creationId xmlns:a16="http://schemas.microsoft.com/office/drawing/2014/main" id="{126B001C-8FC6-E708-F503-88938F4D5B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DE866BF-CC22-5D80-6B22-44F34846E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!!M1">
              <a:extLst>
                <a:ext uri="{FF2B5EF4-FFF2-40B4-BE49-F238E27FC236}">
                  <a16:creationId xmlns:a16="http://schemas.microsoft.com/office/drawing/2014/main" id="{988FD1F3-29A4-4818-B3E3-5C858A28A34C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6FF79224-7EFE-1888-6FB1-8E5F4C63B7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30" y="3348027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0" name="!!Focus">
            <a:extLst>
              <a:ext uri="{FF2B5EF4-FFF2-40B4-BE49-F238E27FC236}">
                <a16:creationId xmlns:a16="http://schemas.microsoft.com/office/drawing/2014/main" id="{C621B5F6-BEEC-1ECB-0831-A94A8E3180B6}"/>
              </a:ext>
            </a:extLst>
          </p:cNvPr>
          <p:cNvSpPr/>
          <p:nvPr/>
        </p:nvSpPr>
        <p:spPr>
          <a:xfrm rot="5400000">
            <a:off x="2785824" y="3547827"/>
            <a:ext cx="810172" cy="78098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Picture 22">
            <a:extLst>
              <a:ext uri="{FF2B5EF4-FFF2-40B4-BE49-F238E27FC236}">
                <a16:creationId xmlns:a16="http://schemas.microsoft.com/office/drawing/2014/main" id="{88752F4F-F8F2-33B6-ED1C-25C4EEAC7D7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6101" r="54294"/>
          <a:stretch>
            <a:fillRect/>
          </a:stretch>
        </p:blipFill>
        <p:spPr>
          <a:xfrm>
            <a:off x="5867400" y="7010133"/>
            <a:ext cx="1231722" cy="6098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39A902-273B-CD4E-E9D3-B0F52A7485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8368" y="8802549"/>
            <a:ext cx="4278232" cy="28560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577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A406-B161-63A3-C0CF-398CECF5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0B0570AE-2148-933A-4ACA-7B0309220BBC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2662E8AE-31C0-DE54-57B8-C645EBA76263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DB0D9020-27FF-0403-ED1F-6683C8892382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BAEB570F-38EA-8C1B-DC01-318C627EC4FC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959FF670-C8AA-391F-16AB-C1471E166A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-6248400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30BF84-0A07-2059-234F-C3F1AC040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7702F891-515C-1C6A-9332-762FC99126F9}"/>
              </a:ext>
            </a:extLst>
          </p:cNvPr>
          <p:cNvSpPr txBox="1"/>
          <p:nvPr/>
        </p:nvSpPr>
        <p:spPr>
          <a:xfrm>
            <a:off x="-6234270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8C49FF-9ECB-03B3-11F1-BB667487879E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3" name="!!N1">
            <a:extLst>
              <a:ext uri="{FF2B5EF4-FFF2-40B4-BE49-F238E27FC236}">
                <a16:creationId xmlns:a16="http://schemas.microsoft.com/office/drawing/2014/main" id="{8B242B6C-47FE-2410-FAC8-FA33095212B4}"/>
              </a:ext>
            </a:extLst>
          </p:cNvPr>
          <p:cNvSpPr>
            <a:spLocks/>
          </p:cNvSpPr>
          <p:nvPr/>
        </p:nvSpPr>
        <p:spPr>
          <a:xfrm>
            <a:off x="5867400" y="3581400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9D60403F-74BC-A952-CF14-5517707691D8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4A063CDE-6529-F554-1F5E-7E5D346DC008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95B07B9F-B2CF-FA8A-97C3-F5E7E743BB5E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BC2AFA11-7E47-1664-5A15-B9926A1AE6BC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9E56EF0D-BCC8-3E7B-04AD-CBDF2D91E1F8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9CF0FDB1-7067-AE0C-E46A-D9ED18125F8D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C3E537-E261-D502-F3B6-69F824676A63}"/>
              </a:ext>
            </a:extLst>
          </p:cNvPr>
          <p:cNvGrpSpPr/>
          <p:nvPr/>
        </p:nvGrpSpPr>
        <p:grpSpPr>
          <a:xfrm>
            <a:off x="4724400" y="7308222"/>
            <a:ext cx="3658620" cy="2369178"/>
            <a:chOff x="6934199" y="3150228"/>
            <a:chExt cx="5148167" cy="3333750"/>
          </a:xfrm>
        </p:grpSpPr>
        <p:pic>
          <p:nvPicPr>
            <p:cNvPr id="6" name="Picture 2" descr="Hippocamoal Formation">
              <a:extLst>
                <a:ext uri="{FF2B5EF4-FFF2-40B4-BE49-F238E27FC236}">
                  <a16:creationId xmlns:a16="http://schemas.microsoft.com/office/drawing/2014/main" id="{811E9FF6-E1E7-F87E-EBA5-A0D7EEF233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CBB5001-B2FF-6F2C-BBB7-C6A6F06421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!!M1">
              <a:extLst>
                <a:ext uri="{FF2B5EF4-FFF2-40B4-BE49-F238E27FC236}">
                  <a16:creationId xmlns:a16="http://schemas.microsoft.com/office/drawing/2014/main" id="{1E8CD47D-528E-7F37-37B7-9E029A7E7BE0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9468F3C5-CF9B-8957-B3DF-298F7EC1C0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7509730"/>
            <a:ext cx="10272967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FD22578-9F5C-B4BC-91D6-3C95E2919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30" y="3348027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0" name="!!Focus">
            <a:extLst>
              <a:ext uri="{FF2B5EF4-FFF2-40B4-BE49-F238E27FC236}">
                <a16:creationId xmlns:a16="http://schemas.microsoft.com/office/drawing/2014/main" id="{C349DEC1-10DE-47D5-3BCA-5B7183023147}"/>
              </a:ext>
            </a:extLst>
          </p:cNvPr>
          <p:cNvSpPr/>
          <p:nvPr/>
        </p:nvSpPr>
        <p:spPr>
          <a:xfrm rot="5400000">
            <a:off x="1165312" y="1715247"/>
            <a:ext cx="707886" cy="122869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Picture 22">
            <a:extLst>
              <a:ext uri="{FF2B5EF4-FFF2-40B4-BE49-F238E27FC236}">
                <a16:creationId xmlns:a16="http://schemas.microsoft.com/office/drawing/2014/main" id="{AE6A208E-95BF-64DE-9AD9-3E8B78E303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6101" r="54294"/>
          <a:stretch>
            <a:fillRect/>
          </a:stretch>
        </p:blipFill>
        <p:spPr>
          <a:xfrm>
            <a:off x="5867400" y="7010133"/>
            <a:ext cx="1231722" cy="6098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0896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02C41-7D28-23FA-2BE5-1C5228A7F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49E599CC-195C-6526-BADD-A2A8CCEBFDAA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7CCA57F9-DCE6-0CED-FA62-3CE58ECB1C90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9E1740B3-668C-C684-A6BA-2CD3FDB40454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1EC41414-669B-58A8-186A-6E828560CEB9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945D6B6-78D7-CABC-05AF-A9F8C6D48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E9FEC2D-05BE-8269-D312-5A2960BC9359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1" name="!!N1">
            <a:extLst>
              <a:ext uri="{FF2B5EF4-FFF2-40B4-BE49-F238E27FC236}">
                <a16:creationId xmlns:a16="http://schemas.microsoft.com/office/drawing/2014/main" id="{D9B6E5E4-8A39-881D-B136-7935AA6CA4C1}"/>
              </a:ext>
            </a:extLst>
          </p:cNvPr>
          <p:cNvSpPr>
            <a:spLocks/>
          </p:cNvSpPr>
          <p:nvPr/>
        </p:nvSpPr>
        <p:spPr>
          <a:xfrm>
            <a:off x="5867400" y="4571734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8A8C3866-A627-142E-AE3B-F7EDDB7FA107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74CB9C06-315D-CE07-BCD3-E0C51CF9BFE7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AA114431-A888-F984-7DA7-8F7CD196A71E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8E5E08A8-FE2F-612B-3CAD-0576C27C88C0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CBBEB6C6-4334-9CA9-357E-CB691ED521E5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3BA8FCC0-771E-0BAA-2829-3CD61D32DD6F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3AE2838-14D7-3589-70DE-5A38577D0AD6}"/>
              </a:ext>
            </a:extLst>
          </p:cNvPr>
          <p:cNvGrpSpPr/>
          <p:nvPr/>
        </p:nvGrpSpPr>
        <p:grpSpPr>
          <a:xfrm>
            <a:off x="4724400" y="7308222"/>
            <a:ext cx="3658620" cy="2369178"/>
            <a:chOff x="6934199" y="3150228"/>
            <a:chExt cx="5148167" cy="3333750"/>
          </a:xfrm>
        </p:grpSpPr>
        <p:pic>
          <p:nvPicPr>
            <p:cNvPr id="6" name="Picture 2" descr="Hippocamoal Formation">
              <a:extLst>
                <a:ext uri="{FF2B5EF4-FFF2-40B4-BE49-F238E27FC236}">
                  <a16:creationId xmlns:a16="http://schemas.microsoft.com/office/drawing/2014/main" id="{39219C7A-188C-378A-D845-20BCF2C5B4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EEB9717-F386-9E4D-0400-4B4478E589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!!M1">
              <a:extLst>
                <a:ext uri="{FF2B5EF4-FFF2-40B4-BE49-F238E27FC236}">
                  <a16:creationId xmlns:a16="http://schemas.microsoft.com/office/drawing/2014/main" id="{8D9F690E-0576-53DA-9655-E560960B3D91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B485BFCF-3DF1-5CBB-CA8D-216AA9E70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453" y="7216782"/>
            <a:ext cx="10272967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DDCCCA-C612-9696-623E-C9FD16C42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30" y="3505200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88DED14-CEAF-6FCD-7A17-212790714A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101" r="54294"/>
          <a:stretch>
            <a:fillRect/>
          </a:stretch>
        </p:blipFill>
        <p:spPr>
          <a:xfrm>
            <a:off x="5867400" y="5275355"/>
            <a:ext cx="1231722" cy="6098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ocus">
            <a:extLst>
              <a:ext uri="{FF2B5EF4-FFF2-40B4-BE49-F238E27FC236}">
                <a16:creationId xmlns:a16="http://schemas.microsoft.com/office/drawing/2014/main" id="{E88F9369-FEB0-2B9F-571F-93E482BC05E5}"/>
              </a:ext>
            </a:extLst>
          </p:cNvPr>
          <p:cNvSpPr/>
          <p:nvPr/>
        </p:nvSpPr>
        <p:spPr>
          <a:xfrm rot="5400000">
            <a:off x="5832090" y="4614420"/>
            <a:ext cx="1340604" cy="1317756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!!Picture 28">
            <a:extLst>
              <a:ext uri="{FF2B5EF4-FFF2-40B4-BE49-F238E27FC236}">
                <a16:creationId xmlns:a16="http://schemas.microsoft.com/office/drawing/2014/main" id="{103B4F21-4D40-3811-C8F0-C34D2DB307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3009" y="3864830"/>
            <a:ext cx="1316850" cy="40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99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81AB1-5BF9-91AE-FE5B-2B34B9D5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71019345-22FE-D939-B8ED-F2B5DCB161E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77CD7FB8-0B63-CB47-3349-89F68B21EC47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9B998EF6-2D80-DCBF-DAC6-03F7C0640F4C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6FC1A68F-F7AC-EF53-8CE3-E7D441AA42CE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B80A0D8-7AFF-F808-FC7B-D39C38084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BBD3393-2B8A-8664-09D6-9455E04CB5E3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9" name="!!N1">
            <a:extLst>
              <a:ext uri="{FF2B5EF4-FFF2-40B4-BE49-F238E27FC236}">
                <a16:creationId xmlns:a16="http://schemas.microsoft.com/office/drawing/2014/main" id="{BF32A52D-B308-DCAC-F61F-4C97AB429022}"/>
              </a:ext>
            </a:extLst>
          </p:cNvPr>
          <p:cNvSpPr>
            <a:spLocks/>
          </p:cNvSpPr>
          <p:nvPr/>
        </p:nvSpPr>
        <p:spPr>
          <a:xfrm>
            <a:off x="5867400" y="4571734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     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8D383135-95C6-0D8F-FD9D-DF06C3DD36D5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F82E4C9A-2702-4EAF-A591-2B6F9DFBC433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6FACE649-8421-06E4-38B2-C1CF6EC4604F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DCD0D25B-AC0D-023F-E801-38968A4A638B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F0FB6687-8104-7B9B-962D-CF73402654E6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E350475B-A18B-B82B-3217-59CAF9979B5A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EE197D-25FC-AED0-1FE7-F7D55B94E3E1}"/>
              </a:ext>
            </a:extLst>
          </p:cNvPr>
          <p:cNvGrpSpPr/>
          <p:nvPr/>
        </p:nvGrpSpPr>
        <p:grpSpPr>
          <a:xfrm>
            <a:off x="4724400" y="7308222"/>
            <a:ext cx="3658620" cy="2369178"/>
            <a:chOff x="6934199" y="3150228"/>
            <a:chExt cx="5148167" cy="3333750"/>
          </a:xfrm>
        </p:grpSpPr>
        <p:pic>
          <p:nvPicPr>
            <p:cNvPr id="6" name="Picture 2" descr="Hippocamoal Formation">
              <a:extLst>
                <a:ext uri="{FF2B5EF4-FFF2-40B4-BE49-F238E27FC236}">
                  <a16:creationId xmlns:a16="http://schemas.microsoft.com/office/drawing/2014/main" id="{C697FC2E-8638-2252-AA5E-0B6C01E19B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D14A8B5-CFF9-71CF-386C-4F8CB5EACA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!!M1">
              <a:extLst>
                <a:ext uri="{FF2B5EF4-FFF2-40B4-BE49-F238E27FC236}">
                  <a16:creationId xmlns:a16="http://schemas.microsoft.com/office/drawing/2014/main" id="{FA083B60-5ED2-CE13-518E-DB46EC1C3579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D4DA1D2-878E-E0AA-3A38-5F876ECA9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30" y="3505200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8FD83BE-80A1-833D-E467-8BA5B75881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6101" r="54294"/>
          <a:stretch>
            <a:fillRect/>
          </a:stretch>
        </p:blipFill>
        <p:spPr>
          <a:xfrm>
            <a:off x="5867400" y="5275355"/>
            <a:ext cx="1231722" cy="6098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!!Picture 28">
            <a:extLst>
              <a:ext uri="{FF2B5EF4-FFF2-40B4-BE49-F238E27FC236}">
                <a16:creationId xmlns:a16="http://schemas.microsoft.com/office/drawing/2014/main" id="{4703AFD5-EC3D-525B-EDD8-67CE6411BE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839" y="5422271"/>
            <a:ext cx="1167907" cy="3568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ocus">
            <a:extLst>
              <a:ext uri="{FF2B5EF4-FFF2-40B4-BE49-F238E27FC236}">
                <a16:creationId xmlns:a16="http://schemas.microsoft.com/office/drawing/2014/main" id="{0C18153C-237B-9DDD-BEFC-2848F4EF7224}"/>
              </a:ext>
            </a:extLst>
          </p:cNvPr>
          <p:cNvSpPr/>
          <p:nvPr/>
        </p:nvSpPr>
        <p:spPr>
          <a:xfrm rot="5400000">
            <a:off x="7313416" y="4575786"/>
            <a:ext cx="1199110" cy="123172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Focus2">
            <a:extLst>
              <a:ext uri="{FF2B5EF4-FFF2-40B4-BE49-F238E27FC236}">
                <a16:creationId xmlns:a16="http://schemas.microsoft.com/office/drawing/2014/main" id="{DD12BFA5-DBCF-F9A8-BF11-6BFCEFB9F565}"/>
              </a:ext>
            </a:extLst>
          </p:cNvPr>
          <p:cNvSpPr/>
          <p:nvPr/>
        </p:nvSpPr>
        <p:spPr>
          <a:xfrm rot="5400000">
            <a:off x="3712218" y="3331218"/>
            <a:ext cx="483415" cy="1388548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E1B71E-C2D2-43EB-0D38-36312D2263D5}"/>
              </a:ext>
            </a:extLst>
          </p:cNvPr>
          <p:cNvCxnSpPr>
            <a:cxnSpLocks/>
          </p:cNvCxnSpPr>
          <p:nvPr/>
        </p:nvCxnSpPr>
        <p:spPr>
          <a:xfrm flipV="1">
            <a:off x="7239000" y="5410200"/>
            <a:ext cx="0" cy="38100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AD18FD-B0F5-9F75-97C3-92F04A17D794}"/>
              </a:ext>
            </a:extLst>
          </p:cNvPr>
          <p:cNvCxnSpPr>
            <a:cxnSpLocks/>
          </p:cNvCxnSpPr>
          <p:nvPr/>
        </p:nvCxnSpPr>
        <p:spPr>
          <a:xfrm flipV="1">
            <a:off x="3706935" y="4076699"/>
            <a:ext cx="0" cy="38100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796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FED52-D8F6-A410-2947-05089CCB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EF61EA64-D4FF-0792-CCFB-AF891FF3DB8F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4DD69A27-D8A9-2A94-37AF-8D2F05167641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7BB1B80D-67CC-3424-4E47-8E5F1DF6314B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4347166C-FF65-350A-59FA-0E2EF7CFE6DB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C40324D-912E-E49D-ACDA-485E162F8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C0D9DFE-CF0F-ED6E-0532-F7EDAC70BA55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5" name="!!N1">
            <a:extLst>
              <a:ext uri="{FF2B5EF4-FFF2-40B4-BE49-F238E27FC236}">
                <a16:creationId xmlns:a16="http://schemas.microsoft.com/office/drawing/2014/main" id="{B83B7137-E283-B2CB-AD1B-AFC94B254ABE}"/>
              </a:ext>
            </a:extLst>
          </p:cNvPr>
          <p:cNvSpPr>
            <a:spLocks/>
          </p:cNvSpPr>
          <p:nvPr/>
        </p:nvSpPr>
        <p:spPr>
          <a:xfrm>
            <a:off x="5867400" y="4571734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     TORO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Off       </a:t>
            </a:r>
            <a:r>
              <a:rPr lang="en-US" sz="1500" b="1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C913951A-0991-DC27-FFA2-949AE5F92403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81AED064-94F4-9C5D-CC9D-AE310F436AB4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FA359321-E3BB-8B08-464C-DF40E624DFD6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33E5E4B4-D46F-EEC2-0F22-F0C79EF2ABDF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E732F81E-1285-6992-D617-991ABEB37133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E7843E8F-F807-4BCC-9A1F-67C62862AF3D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C832D7-B066-B74E-7891-21CD8F290CE8}"/>
              </a:ext>
            </a:extLst>
          </p:cNvPr>
          <p:cNvGrpSpPr/>
          <p:nvPr/>
        </p:nvGrpSpPr>
        <p:grpSpPr>
          <a:xfrm>
            <a:off x="4724400" y="7308222"/>
            <a:ext cx="3658620" cy="2369178"/>
            <a:chOff x="6934199" y="3150228"/>
            <a:chExt cx="5148167" cy="3333750"/>
          </a:xfrm>
        </p:grpSpPr>
        <p:pic>
          <p:nvPicPr>
            <p:cNvPr id="6" name="Picture 2" descr="Hippocamoal Formation">
              <a:extLst>
                <a:ext uri="{FF2B5EF4-FFF2-40B4-BE49-F238E27FC236}">
                  <a16:creationId xmlns:a16="http://schemas.microsoft.com/office/drawing/2014/main" id="{71D1A740-BF93-FABC-6277-33DB7F383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7BB0304-0078-B291-A5C7-F4937AE02E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!!M1">
              <a:extLst>
                <a:ext uri="{FF2B5EF4-FFF2-40B4-BE49-F238E27FC236}">
                  <a16:creationId xmlns:a16="http://schemas.microsoft.com/office/drawing/2014/main" id="{B383976D-0BF0-AC7C-2958-92A8FDFB4DD5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DFEDC79-1244-CA20-2E9F-3E0C57B57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30" y="3505200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1A2CFC-599E-7A7D-530C-69DA98434C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033" r="54294" b="30752"/>
          <a:stretch>
            <a:fillRect/>
          </a:stretch>
        </p:blipFill>
        <p:spPr>
          <a:xfrm>
            <a:off x="10063890" y="7412195"/>
            <a:ext cx="964297" cy="665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B828D4-BF87-C8E8-904F-7FBF4771C72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6101" r="54294"/>
          <a:stretch>
            <a:fillRect/>
          </a:stretch>
        </p:blipFill>
        <p:spPr>
          <a:xfrm>
            <a:off x="5867400" y="5275355"/>
            <a:ext cx="1231722" cy="6098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!!Picture 28">
            <a:extLst>
              <a:ext uri="{FF2B5EF4-FFF2-40B4-BE49-F238E27FC236}">
                <a16:creationId xmlns:a16="http://schemas.microsoft.com/office/drawing/2014/main" id="{24D5C91D-7960-01E7-916B-922F444E0B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839" y="5422271"/>
            <a:ext cx="1167907" cy="3568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ocus">
            <a:extLst>
              <a:ext uri="{FF2B5EF4-FFF2-40B4-BE49-F238E27FC236}">
                <a16:creationId xmlns:a16="http://schemas.microsoft.com/office/drawing/2014/main" id="{C0E08D49-63A1-9826-4A83-CEFD334F6C7B}"/>
              </a:ext>
            </a:extLst>
          </p:cNvPr>
          <p:cNvSpPr/>
          <p:nvPr/>
        </p:nvSpPr>
        <p:spPr>
          <a:xfrm rot="5400000">
            <a:off x="8489812" y="4682294"/>
            <a:ext cx="1443290" cy="123172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Focus2">
            <a:extLst>
              <a:ext uri="{FF2B5EF4-FFF2-40B4-BE49-F238E27FC236}">
                <a16:creationId xmlns:a16="http://schemas.microsoft.com/office/drawing/2014/main" id="{B90FDAD5-22D5-9EA7-448A-1D66149D8380}"/>
              </a:ext>
            </a:extLst>
          </p:cNvPr>
          <p:cNvSpPr/>
          <p:nvPr/>
        </p:nvSpPr>
        <p:spPr>
          <a:xfrm rot="5400000">
            <a:off x="2567705" y="3874237"/>
            <a:ext cx="931206" cy="1388548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&quot;Not Allowed&quot; Symbol 20">
            <a:extLst>
              <a:ext uri="{FF2B5EF4-FFF2-40B4-BE49-F238E27FC236}">
                <a16:creationId xmlns:a16="http://schemas.microsoft.com/office/drawing/2014/main" id="{801DA00E-F01A-6B96-2AC2-E1D1495805DE}"/>
              </a:ext>
            </a:extLst>
          </p:cNvPr>
          <p:cNvSpPr/>
          <p:nvPr/>
        </p:nvSpPr>
        <p:spPr>
          <a:xfrm>
            <a:off x="2781170" y="4254016"/>
            <a:ext cx="381000" cy="32489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90015051-9746-4CC6-661C-B7B21D9B6F10}"/>
              </a:ext>
            </a:extLst>
          </p:cNvPr>
          <p:cNvSpPr/>
          <p:nvPr/>
        </p:nvSpPr>
        <p:spPr>
          <a:xfrm>
            <a:off x="8991600" y="5417842"/>
            <a:ext cx="381000" cy="32489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C6866BE-0A82-BCE9-D0DF-F284993E6728}"/>
              </a:ext>
            </a:extLst>
          </p:cNvPr>
          <p:cNvCxnSpPr>
            <a:cxnSpLocks/>
          </p:cNvCxnSpPr>
          <p:nvPr/>
        </p:nvCxnSpPr>
        <p:spPr>
          <a:xfrm flipV="1">
            <a:off x="7239000" y="5410200"/>
            <a:ext cx="0" cy="38100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80CB2AC-6407-B1DB-7699-12EA1DD19842}"/>
              </a:ext>
            </a:extLst>
          </p:cNvPr>
          <p:cNvCxnSpPr>
            <a:cxnSpLocks/>
          </p:cNvCxnSpPr>
          <p:nvPr/>
        </p:nvCxnSpPr>
        <p:spPr>
          <a:xfrm flipV="1">
            <a:off x="3706935" y="4076699"/>
            <a:ext cx="0" cy="38100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012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26629-21AB-36F7-737F-C36E99624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6481D786-A07C-CA93-BEE4-DCA7B95F02E4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58F9C1D1-91B7-AFBD-FB77-1F64C087D34B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078CED56-0A6B-7D79-1B2A-BFFB46643A94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13074AA3-C0CD-E668-393F-C851F535CBC2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D1C4BD6-6362-22D3-CC7B-B9D0D8E61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89051F3-AF4B-B42E-89DE-46B259A7E9B1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11" name="!!N1">
            <a:extLst>
              <a:ext uri="{FF2B5EF4-FFF2-40B4-BE49-F238E27FC236}">
                <a16:creationId xmlns:a16="http://schemas.microsoft.com/office/drawing/2014/main" id="{0A7FE4D7-3C3C-5976-5209-07A8D685216C}"/>
              </a:ext>
            </a:extLst>
          </p:cNvPr>
          <p:cNvSpPr>
            <a:spLocks/>
          </p:cNvSpPr>
          <p:nvPr/>
        </p:nvSpPr>
        <p:spPr>
          <a:xfrm>
            <a:off x="5867400" y="4571734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     TORO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Off       </a:t>
            </a:r>
            <a:r>
              <a:rPr lang="en-US" sz="1500" b="1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Theta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1BC73856-8924-190C-36B0-01B531D62A25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B9DE62B7-CA0C-7AA3-9158-EBAD1371897B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3B3359E7-2511-E18C-360A-B40EBBC70F09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16F7B160-A050-1C05-62BF-23C884011462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07F299A6-2F44-15F7-032C-63B8483DD929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E14DC3F4-189A-0BF1-8A8E-F1B15D45AB5F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46FDFA-C4BD-51BE-3C49-0F03F13AD25A}"/>
              </a:ext>
            </a:extLst>
          </p:cNvPr>
          <p:cNvGrpSpPr/>
          <p:nvPr/>
        </p:nvGrpSpPr>
        <p:grpSpPr>
          <a:xfrm>
            <a:off x="4724400" y="7308222"/>
            <a:ext cx="3658620" cy="2369178"/>
            <a:chOff x="6934199" y="3150228"/>
            <a:chExt cx="5148167" cy="3333750"/>
          </a:xfrm>
        </p:grpSpPr>
        <p:pic>
          <p:nvPicPr>
            <p:cNvPr id="6" name="Picture 2" descr="Hippocamoal Formation">
              <a:extLst>
                <a:ext uri="{FF2B5EF4-FFF2-40B4-BE49-F238E27FC236}">
                  <a16:creationId xmlns:a16="http://schemas.microsoft.com/office/drawing/2014/main" id="{1F1BB3FA-F74D-4B75-FC5B-4A5C22A307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45EDC96-D8DD-5749-22FE-30FACAFB8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!!M1">
              <a:extLst>
                <a:ext uri="{FF2B5EF4-FFF2-40B4-BE49-F238E27FC236}">
                  <a16:creationId xmlns:a16="http://schemas.microsoft.com/office/drawing/2014/main" id="{2065E76C-4862-3986-B237-465E8C861BE9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D46C8E4-007E-1679-731B-AA8E45B4C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30" y="3505200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E31EEA-5E8C-CFC8-BD9E-9BEEF99C08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033" r="54294" b="30752"/>
          <a:stretch>
            <a:fillRect/>
          </a:stretch>
        </p:blipFill>
        <p:spPr>
          <a:xfrm>
            <a:off x="10063890" y="5278595"/>
            <a:ext cx="964297" cy="665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E0CCC83-E213-56A8-CD4D-958E1D519F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6101" r="54294"/>
          <a:stretch>
            <a:fillRect/>
          </a:stretch>
        </p:blipFill>
        <p:spPr>
          <a:xfrm>
            <a:off x="5867400" y="5275355"/>
            <a:ext cx="1231722" cy="6098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!!Picture 28">
            <a:extLst>
              <a:ext uri="{FF2B5EF4-FFF2-40B4-BE49-F238E27FC236}">
                <a16:creationId xmlns:a16="http://schemas.microsoft.com/office/drawing/2014/main" id="{718CFCA3-FADE-E6CD-FAE2-389194060E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839" y="5422271"/>
            <a:ext cx="1167907" cy="3568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ocus">
            <a:extLst>
              <a:ext uri="{FF2B5EF4-FFF2-40B4-BE49-F238E27FC236}">
                <a16:creationId xmlns:a16="http://schemas.microsoft.com/office/drawing/2014/main" id="{03B75D48-532D-189B-C9DC-C3E9896545E6}"/>
              </a:ext>
            </a:extLst>
          </p:cNvPr>
          <p:cNvSpPr/>
          <p:nvPr/>
        </p:nvSpPr>
        <p:spPr>
          <a:xfrm rot="5400000">
            <a:off x="9832123" y="4714201"/>
            <a:ext cx="1443290" cy="116790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Focus2">
            <a:extLst>
              <a:ext uri="{FF2B5EF4-FFF2-40B4-BE49-F238E27FC236}">
                <a16:creationId xmlns:a16="http://schemas.microsoft.com/office/drawing/2014/main" id="{A0057651-B8C6-628C-99EE-6AC2EC3F9D13}"/>
              </a:ext>
            </a:extLst>
          </p:cNvPr>
          <p:cNvSpPr/>
          <p:nvPr/>
        </p:nvSpPr>
        <p:spPr>
          <a:xfrm rot="5400000">
            <a:off x="696675" y="4092478"/>
            <a:ext cx="1850449" cy="231854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&quot;Not Allowed&quot; Symbol 20">
            <a:extLst>
              <a:ext uri="{FF2B5EF4-FFF2-40B4-BE49-F238E27FC236}">
                <a16:creationId xmlns:a16="http://schemas.microsoft.com/office/drawing/2014/main" id="{39F9638C-4635-7518-DBD0-20A83695C5DE}"/>
              </a:ext>
            </a:extLst>
          </p:cNvPr>
          <p:cNvSpPr/>
          <p:nvPr/>
        </p:nvSpPr>
        <p:spPr>
          <a:xfrm>
            <a:off x="2781170" y="4254016"/>
            <a:ext cx="381000" cy="32489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CAA6E86D-E3DE-1154-BA46-C0D7AB0296DE}"/>
              </a:ext>
            </a:extLst>
          </p:cNvPr>
          <p:cNvSpPr/>
          <p:nvPr/>
        </p:nvSpPr>
        <p:spPr>
          <a:xfrm>
            <a:off x="8991600" y="5417842"/>
            <a:ext cx="381000" cy="32489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DA1456-E393-5FD2-F8ED-E58E262BD8F7}"/>
              </a:ext>
            </a:extLst>
          </p:cNvPr>
          <p:cNvCxnSpPr>
            <a:cxnSpLocks/>
          </p:cNvCxnSpPr>
          <p:nvPr/>
        </p:nvCxnSpPr>
        <p:spPr>
          <a:xfrm flipV="1">
            <a:off x="7239000" y="5410200"/>
            <a:ext cx="0" cy="38100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FA1433-F5AD-635D-6260-CC76EB181F4A}"/>
              </a:ext>
            </a:extLst>
          </p:cNvPr>
          <p:cNvCxnSpPr>
            <a:cxnSpLocks/>
          </p:cNvCxnSpPr>
          <p:nvPr/>
        </p:nvCxnSpPr>
        <p:spPr>
          <a:xfrm flipV="1">
            <a:off x="3706935" y="4076699"/>
            <a:ext cx="0" cy="38100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563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794AE-5C75-680D-46C6-745B775C6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75D23A2B-7B53-0903-EA0D-FF9BAEC89A4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94AC456C-8BE2-5ACE-2734-BF47A4721214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44F2A604-5FA5-A5A7-000B-ED5A6E6DA9B5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AAEDE3EF-E98E-E7AC-FED2-041167518D27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9409DEB-C90A-38B1-21AC-E1A60E810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E173CB3-5831-1AB8-0220-E6D928E8E76B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11" name="!!N1">
            <a:extLst>
              <a:ext uri="{FF2B5EF4-FFF2-40B4-BE49-F238E27FC236}">
                <a16:creationId xmlns:a16="http://schemas.microsoft.com/office/drawing/2014/main" id="{BED17E2E-2DA5-0D5B-1715-4994F2F99680}"/>
              </a:ext>
            </a:extLst>
          </p:cNvPr>
          <p:cNvSpPr>
            <a:spLocks/>
          </p:cNvSpPr>
          <p:nvPr/>
        </p:nvSpPr>
        <p:spPr>
          <a:xfrm>
            <a:off x="5867400" y="4571734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     TORO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Off       </a:t>
            </a:r>
            <a:r>
              <a:rPr lang="en-US" sz="1500" b="1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Theta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C24C195B-AB8F-6410-2558-94BC319D0EA8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CDF65B87-7191-FB55-79C0-A2E69410DCC8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59915AB9-3237-596C-5123-01CFC597884F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6A35DAEA-5EE8-E97A-F2EF-3285F78CF0AC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9BC7172D-F1D3-F7E4-C018-508A6E012100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865304E3-A789-22C3-1D0F-0FC30301A4EF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95CF5C-255E-2EB0-D5B3-0BFAC9A337C9}"/>
              </a:ext>
            </a:extLst>
          </p:cNvPr>
          <p:cNvGrpSpPr/>
          <p:nvPr/>
        </p:nvGrpSpPr>
        <p:grpSpPr>
          <a:xfrm>
            <a:off x="4724400" y="7308222"/>
            <a:ext cx="3658620" cy="2369178"/>
            <a:chOff x="6934199" y="3150228"/>
            <a:chExt cx="5148167" cy="3333750"/>
          </a:xfrm>
        </p:grpSpPr>
        <p:pic>
          <p:nvPicPr>
            <p:cNvPr id="6" name="Picture 2" descr="Hippocamoal Formation">
              <a:extLst>
                <a:ext uri="{FF2B5EF4-FFF2-40B4-BE49-F238E27FC236}">
                  <a16:creationId xmlns:a16="http://schemas.microsoft.com/office/drawing/2014/main" id="{4A4FDE23-7F32-4C49-D2DD-3CE1497B4F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0506A24-475F-15F4-A3E0-88D38BDA0D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!!M1">
              <a:extLst>
                <a:ext uri="{FF2B5EF4-FFF2-40B4-BE49-F238E27FC236}">
                  <a16:creationId xmlns:a16="http://schemas.microsoft.com/office/drawing/2014/main" id="{FFEB439B-9BD7-5BEC-70EE-555E8EC5BF61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C441136-F57A-381E-A2E2-9F3232BBC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30" y="3505200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A913D4-BDB8-DF44-8F68-66CF4D02EA7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033" r="54294" b="30752"/>
          <a:stretch>
            <a:fillRect/>
          </a:stretch>
        </p:blipFill>
        <p:spPr>
          <a:xfrm>
            <a:off x="10063890" y="5278595"/>
            <a:ext cx="964297" cy="665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11E4493-5CCC-42A1-04AF-283F367FB7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6101" r="54294"/>
          <a:stretch>
            <a:fillRect/>
          </a:stretch>
        </p:blipFill>
        <p:spPr>
          <a:xfrm>
            <a:off x="5867400" y="5275355"/>
            <a:ext cx="1231722" cy="6098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!!Picture 28">
            <a:extLst>
              <a:ext uri="{FF2B5EF4-FFF2-40B4-BE49-F238E27FC236}">
                <a16:creationId xmlns:a16="http://schemas.microsoft.com/office/drawing/2014/main" id="{8E004676-1A24-00AA-15B3-CEAB068A56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839" y="5422271"/>
            <a:ext cx="1167907" cy="3568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ocus">
            <a:extLst>
              <a:ext uri="{FF2B5EF4-FFF2-40B4-BE49-F238E27FC236}">
                <a16:creationId xmlns:a16="http://schemas.microsoft.com/office/drawing/2014/main" id="{584C82F7-7777-2606-87D8-79671DCF90AC}"/>
              </a:ext>
            </a:extLst>
          </p:cNvPr>
          <p:cNvSpPr/>
          <p:nvPr/>
        </p:nvSpPr>
        <p:spPr>
          <a:xfrm rot="5400000">
            <a:off x="1172833" y="1722768"/>
            <a:ext cx="626134" cy="1295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Focus2">
            <a:extLst>
              <a:ext uri="{FF2B5EF4-FFF2-40B4-BE49-F238E27FC236}">
                <a16:creationId xmlns:a16="http://schemas.microsoft.com/office/drawing/2014/main" id="{11B399F5-C5DE-455F-5C40-971D63B9C28F}"/>
              </a:ext>
            </a:extLst>
          </p:cNvPr>
          <p:cNvSpPr/>
          <p:nvPr/>
        </p:nvSpPr>
        <p:spPr>
          <a:xfrm rot="5400000">
            <a:off x="1181101" y="1714501"/>
            <a:ext cx="609598" cy="1295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&quot;Not Allowed&quot; Symbol 20">
            <a:extLst>
              <a:ext uri="{FF2B5EF4-FFF2-40B4-BE49-F238E27FC236}">
                <a16:creationId xmlns:a16="http://schemas.microsoft.com/office/drawing/2014/main" id="{BC2F7339-1480-88BE-F7C8-190F2B15A00F}"/>
              </a:ext>
            </a:extLst>
          </p:cNvPr>
          <p:cNvSpPr/>
          <p:nvPr/>
        </p:nvSpPr>
        <p:spPr>
          <a:xfrm>
            <a:off x="2781170" y="4254016"/>
            <a:ext cx="381000" cy="32489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B46D72C6-43AB-BE06-1CB9-6F7F37C60E05}"/>
              </a:ext>
            </a:extLst>
          </p:cNvPr>
          <p:cNvSpPr/>
          <p:nvPr/>
        </p:nvSpPr>
        <p:spPr>
          <a:xfrm>
            <a:off x="8991600" y="5417842"/>
            <a:ext cx="381000" cy="32489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D298262-65DC-0682-AA16-6AF86D0084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9838" t="70103" r="2000"/>
          <a:stretch>
            <a:fillRect/>
          </a:stretch>
        </p:blipFill>
        <p:spPr>
          <a:xfrm>
            <a:off x="6019174" y="7182472"/>
            <a:ext cx="871917" cy="36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!!Picture 29">
            <a:extLst>
              <a:ext uri="{FF2B5EF4-FFF2-40B4-BE49-F238E27FC236}">
                <a16:creationId xmlns:a16="http://schemas.microsoft.com/office/drawing/2014/main" id="{6C1D533D-C17A-3A24-827E-7B32A0BE35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3009" y="3864830"/>
            <a:ext cx="1316850" cy="402371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4D15F96-B4DC-082C-E945-3FADADCBBCC4}"/>
              </a:ext>
            </a:extLst>
          </p:cNvPr>
          <p:cNvCxnSpPr>
            <a:cxnSpLocks/>
          </p:cNvCxnSpPr>
          <p:nvPr/>
        </p:nvCxnSpPr>
        <p:spPr>
          <a:xfrm flipV="1">
            <a:off x="7239000" y="5410200"/>
            <a:ext cx="0" cy="38100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6D26A07-EE52-EF14-E2BE-B64D79FE8D1C}"/>
              </a:ext>
            </a:extLst>
          </p:cNvPr>
          <p:cNvCxnSpPr>
            <a:cxnSpLocks/>
          </p:cNvCxnSpPr>
          <p:nvPr/>
        </p:nvCxnSpPr>
        <p:spPr>
          <a:xfrm flipV="1">
            <a:off x="3706935" y="4076699"/>
            <a:ext cx="0" cy="38100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026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A24A3-6AA2-9873-C491-AD79AED3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7CBA29D0-77A3-5DEC-F71E-15911FDE95B9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CE6DAA65-0D51-5FE6-2D40-6108193FC6E1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DE3E3908-1329-9AAA-E8E1-B0651D4F9375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0600F7FA-E184-B3DE-5F30-3CBEAAF53B21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DCEAEC-4D83-FBEF-C83A-DE6E294D7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82C3546-A623-7D50-EECA-60AFD693AF34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11" name="!!N1">
            <a:extLst>
              <a:ext uri="{FF2B5EF4-FFF2-40B4-BE49-F238E27FC236}">
                <a16:creationId xmlns:a16="http://schemas.microsoft.com/office/drawing/2014/main" id="{D47F9AA4-5FF5-ADE7-9D9E-8A1EC24F26C6}"/>
              </a:ext>
            </a:extLst>
          </p:cNvPr>
          <p:cNvSpPr>
            <a:spLocks/>
          </p:cNvSpPr>
          <p:nvPr/>
        </p:nvSpPr>
        <p:spPr>
          <a:xfrm>
            <a:off x="5867400" y="4571734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     TORO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Off       </a:t>
            </a:r>
            <a:r>
              <a:rPr lang="en-US" sz="1500" b="1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Theta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D5A6C86E-24EE-19BF-ED6C-8C5F229D4C51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660FE211-62D4-AB0B-6C39-65DC4BECBDC3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ECD9493C-706D-7833-F24C-D1766B94237D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1672F35B-81CE-92A6-308A-4A844C63650D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02178E0A-2978-B847-E72B-9D9E8DAEDD3A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3BE8104F-C630-C70E-24E2-FAAD44B2158C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631311-41EC-34B3-8044-40C4C6E93EA4}"/>
              </a:ext>
            </a:extLst>
          </p:cNvPr>
          <p:cNvGrpSpPr/>
          <p:nvPr/>
        </p:nvGrpSpPr>
        <p:grpSpPr>
          <a:xfrm>
            <a:off x="4724400" y="7308222"/>
            <a:ext cx="3658620" cy="2369178"/>
            <a:chOff x="6934199" y="3150228"/>
            <a:chExt cx="5148167" cy="3333750"/>
          </a:xfrm>
        </p:grpSpPr>
        <p:pic>
          <p:nvPicPr>
            <p:cNvPr id="6" name="Picture 2" descr="Hippocamoal Formation">
              <a:extLst>
                <a:ext uri="{FF2B5EF4-FFF2-40B4-BE49-F238E27FC236}">
                  <a16:creationId xmlns:a16="http://schemas.microsoft.com/office/drawing/2014/main" id="{2C808BE7-0BF9-5C58-8A9B-A92D48A908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199" y="3150228"/>
              <a:ext cx="3009900" cy="33337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32004B1-93DC-A6CC-2CB3-99FBB60578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96400" y="4495800"/>
              <a:ext cx="106680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!!M1">
              <a:extLst>
                <a:ext uri="{FF2B5EF4-FFF2-40B4-BE49-F238E27FC236}">
                  <a16:creationId xmlns:a16="http://schemas.microsoft.com/office/drawing/2014/main" id="{C1D893F0-05E2-2C7F-EE03-98D92386282D}"/>
                </a:ext>
              </a:extLst>
            </p:cNvPr>
            <p:cNvSpPr>
              <a:spLocks/>
            </p:cNvSpPr>
            <p:nvPr/>
          </p:nvSpPr>
          <p:spPr>
            <a:xfrm>
              <a:off x="10139266" y="4211216"/>
              <a:ext cx="1943100" cy="569167"/>
            </a:xfrm>
            <a:prstGeom prst="snip2Diag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91440" tIns="0" rIns="0" bIns="0" rtlCol="0" anchor="t" anchorCtr="0">
              <a:normAutofit fontScale="40000" lnSpcReduction="20000"/>
            </a:bodyPr>
            <a:lstStyle/>
            <a:p>
              <a:pPr eaLnBrk="0" fontAlgn="base" hangingPunct="0">
                <a:lnSpc>
                  <a:spcPct val="150000"/>
                </a:lnSpc>
              </a:pPr>
              <a:r>
                <a:rPr lang="en-US" sz="3200" b="1" dirty="0">
                  <a:solidFill>
                    <a:srgbClr val="FF0000"/>
                  </a:solidFill>
                </a:rPr>
                <a:t>YOU ARE HERE</a:t>
              </a:r>
              <a:endParaRPr lang="en-US" sz="32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975FFD3-2177-8767-78AF-3F59DCC1A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30" y="3505200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E1EC87-D63B-5DAA-76CB-8986F273A00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033" r="54294" b="30752"/>
          <a:stretch>
            <a:fillRect/>
          </a:stretch>
        </p:blipFill>
        <p:spPr>
          <a:xfrm>
            <a:off x="10063890" y="5278595"/>
            <a:ext cx="964297" cy="665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0B73BDD-F932-A419-64F6-CEA25C51B8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6101" r="54294"/>
          <a:stretch>
            <a:fillRect/>
          </a:stretch>
        </p:blipFill>
        <p:spPr>
          <a:xfrm>
            <a:off x="5867400" y="5275355"/>
            <a:ext cx="1231722" cy="6098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!!Picture 28">
            <a:extLst>
              <a:ext uri="{FF2B5EF4-FFF2-40B4-BE49-F238E27FC236}">
                <a16:creationId xmlns:a16="http://schemas.microsoft.com/office/drawing/2014/main" id="{70C1C768-C699-96C3-2CC9-5F5DC60346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839" y="5422271"/>
            <a:ext cx="1167907" cy="3568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ocus">
            <a:extLst>
              <a:ext uri="{FF2B5EF4-FFF2-40B4-BE49-F238E27FC236}">
                <a16:creationId xmlns:a16="http://schemas.microsoft.com/office/drawing/2014/main" id="{14C49E30-E76C-D80D-1DFA-F53F6C651198}"/>
              </a:ext>
            </a:extLst>
          </p:cNvPr>
          <p:cNvSpPr/>
          <p:nvPr/>
        </p:nvSpPr>
        <p:spPr>
          <a:xfrm rot="5400000">
            <a:off x="2468233" y="1722768"/>
            <a:ext cx="626134" cy="1295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&quot;Not Allowed&quot; Symbol 20">
            <a:extLst>
              <a:ext uri="{FF2B5EF4-FFF2-40B4-BE49-F238E27FC236}">
                <a16:creationId xmlns:a16="http://schemas.microsoft.com/office/drawing/2014/main" id="{F1B85229-1550-C21D-F8A2-E044CC2F0C8C}"/>
              </a:ext>
            </a:extLst>
          </p:cNvPr>
          <p:cNvSpPr/>
          <p:nvPr/>
        </p:nvSpPr>
        <p:spPr>
          <a:xfrm>
            <a:off x="2781170" y="4254016"/>
            <a:ext cx="381000" cy="32489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C3DCF2DA-3D02-430A-300B-FE6C4B163B1E}"/>
              </a:ext>
            </a:extLst>
          </p:cNvPr>
          <p:cNvSpPr/>
          <p:nvPr/>
        </p:nvSpPr>
        <p:spPr>
          <a:xfrm>
            <a:off x="8991600" y="5417842"/>
            <a:ext cx="381000" cy="32489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581F66D-5FD9-AF66-8D86-9379A1B3187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9838" t="70103" r="2000"/>
          <a:stretch>
            <a:fillRect/>
          </a:stretch>
        </p:blipFill>
        <p:spPr>
          <a:xfrm>
            <a:off x="6019174" y="7182472"/>
            <a:ext cx="871917" cy="36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!!Picture 29">
            <a:extLst>
              <a:ext uri="{FF2B5EF4-FFF2-40B4-BE49-F238E27FC236}">
                <a16:creationId xmlns:a16="http://schemas.microsoft.com/office/drawing/2014/main" id="{FB55F7DF-3714-65CC-7AC7-ED0F6C26C3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3009" y="3864830"/>
            <a:ext cx="1316850" cy="402371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29AD57D-D313-A318-5454-66079B85DE65}"/>
              </a:ext>
            </a:extLst>
          </p:cNvPr>
          <p:cNvCxnSpPr>
            <a:cxnSpLocks/>
          </p:cNvCxnSpPr>
          <p:nvPr/>
        </p:nvCxnSpPr>
        <p:spPr>
          <a:xfrm flipV="1">
            <a:off x="7239000" y="5410200"/>
            <a:ext cx="0" cy="38100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1112C9-D70E-108D-0099-E101EA01C0B0}"/>
              </a:ext>
            </a:extLst>
          </p:cNvPr>
          <p:cNvCxnSpPr>
            <a:cxnSpLocks/>
          </p:cNvCxnSpPr>
          <p:nvPr/>
        </p:nvCxnSpPr>
        <p:spPr>
          <a:xfrm flipV="1">
            <a:off x="3706935" y="4076699"/>
            <a:ext cx="0" cy="381002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838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F650-93E8-EA7A-1D8D-8D61CDBDE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9AC658FA-D504-9FAF-9B8B-301DC78EC3B9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153757FD-D229-B72D-B348-7A12AEA1A075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AF4DDA7A-3E04-05EC-C440-C474539FF97F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D4C7938F-6D01-EE84-D0CE-C7946579B9CA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7B0D0F6-666E-3E36-5BB5-23D7E1DFD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DB3DAB4-3DD9-A7E7-351A-540B7E0EB10C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11" name="!!N1">
            <a:extLst>
              <a:ext uri="{FF2B5EF4-FFF2-40B4-BE49-F238E27FC236}">
                <a16:creationId xmlns:a16="http://schemas.microsoft.com/office/drawing/2014/main" id="{3E962A60-743F-830E-5B50-8C5A0E7CF84D}"/>
              </a:ext>
            </a:extLst>
          </p:cNvPr>
          <p:cNvSpPr>
            <a:spLocks/>
          </p:cNvSpPr>
          <p:nvPr/>
        </p:nvSpPr>
        <p:spPr>
          <a:xfrm>
            <a:off x="5867400" y="4571734"/>
            <a:ext cx="5775934" cy="3845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     TORO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Off       </a:t>
            </a:r>
            <a:r>
              <a:rPr lang="en-US" sz="1500" b="1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Theta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8FB51128-552B-81FD-C6D4-E0FB18BDC2CA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DFD1D8F6-CDCB-E591-9F5A-BF397295E26A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4D9E48D1-AF4A-15DB-6EE3-43B96B908574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23691E24-F689-8227-0FB3-5EBE5A67E498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F09DFCC9-2B46-2292-0626-1794CC90465C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2442C99F-4B99-DD70-021A-253DDA8CA6C7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D52C1D-4777-ACEB-A56C-C221FDABC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30" y="3505200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1A91AA-AE5C-1AC3-4B4C-90671ED222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033" r="54294" b="30752"/>
          <a:stretch>
            <a:fillRect/>
          </a:stretch>
        </p:blipFill>
        <p:spPr>
          <a:xfrm>
            <a:off x="10216724" y="5029200"/>
            <a:ext cx="658628" cy="4542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B0322DD-D80A-8158-C6E9-4851E78FD0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101" r="54294"/>
          <a:stretch>
            <a:fillRect/>
          </a:stretch>
        </p:blipFill>
        <p:spPr>
          <a:xfrm>
            <a:off x="6062620" y="5066859"/>
            <a:ext cx="841283" cy="4165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!!Picture 28">
            <a:extLst>
              <a:ext uri="{FF2B5EF4-FFF2-40B4-BE49-F238E27FC236}">
                <a16:creationId xmlns:a16="http://schemas.microsoft.com/office/drawing/2014/main" id="{BDF93D71-18DA-7610-F453-B5EDFB72A8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944" y="5173676"/>
            <a:ext cx="797696" cy="24374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1" name="&quot;Not Allowed&quot; Symbol 20">
            <a:extLst>
              <a:ext uri="{FF2B5EF4-FFF2-40B4-BE49-F238E27FC236}">
                <a16:creationId xmlns:a16="http://schemas.microsoft.com/office/drawing/2014/main" id="{34C5A852-1EE5-37C5-FC0C-4D042B9E6F1F}"/>
              </a:ext>
            </a:extLst>
          </p:cNvPr>
          <p:cNvSpPr/>
          <p:nvPr/>
        </p:nvSpPr>
        <p:spPr>
          <a:xfrm>
            <a:off x="2781170" y="4254016"/>
            <a:ext cx="381000" cy="32489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D6E86EE1-3ACE-CC00-1A23-E095D83AA219}"/>
              </a:ext>
            </a:extLst>
          </p:cNvPr>
          <p:cNvSpPr/>
          <p:nvPr/>
        </p:nvSpPr>
        <p:spPr>
          <a:xfrm>
            <a:off x="9008918" y="5153085"/>
            <a:ext cx="346364" cy="244096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!!N1">
            <a:extLst>
              <a:ext uri="{FF2B5EF4-FFF2-40B4-BE49-F238E27FC236}">
                <a16:creationId xmlns:a16="http://schemas.microsoft.com/office/drawing/2014/main" id="{DBB0C9E5-4294-5A99-9DFD-09227CA66D8B}"/>
              </a:ext>
            </a:extLst>
          </p:cNvPr>
          <p:cNvSpPr>
            <a:spLocks/>
          </p:cNvSpPr>
          <p:nvPr/>
        </p:nvSpPr>
        <p:spPr>
          <a:xfrm>
            <a:off x="5867400" y="5638800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    Rest  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US" sz="1500" b="1" dirty="0">
              <a:solidFill>
                <a:srgbClr val="FF0000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CEAEEBB-5E87-3C31-317C-5273CEB36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0400" y="8077200"/>
            <a:ext cx="10272967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4FB7710-22AB-1233-7F1E-EFF9451816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838" t="70103" r="2000"/>
          <a:stretch>
            <a:fillRect/>
          </a:stretch>
        </p:blipFill>
        <p:spPr>
          <a:xfrm>
            <a:off x="6019174" y="6371691"/>
            <a:ext cx="871917" cy="36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ocus">
            <a:extLst>
              <a:ext uri="{FF2B5EF4-FFF2-40B4-BE49-F238E27FC236}">
                <a16:creationId xmlns:a16="http://schemas.microsoft.com/office/drawing/2014/main" id="{3D9BD073-067F-9073-A778-BCA7101E490E}"/>
              </a:ext>
            </a:extLst>
          </p:cNvPr>
          <p:cNvSpPr/>
          <p:nvPr/>
        </p:nvSpPr>
        <p:spPr>
          <a:xfrm rot="5400000">
            <a:off x="5808754" y="5656354"/>
            <a:ext cx="1236406" cy="1166885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!!Picture 29">
            <a:extLst>
              <a:ext uri="{FF2B5EF4-FFF2-40B4-BE49-F238E27FC236}">
                <a16:creationId xmlns:a16="http://schemas.microsoft.com/office/drawing/2014/main" id="{BF0405AC-1F58-638B-F0A6-E70B368C81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3009" y="3864830"/>
            <a:ext cx="1316850" cy="402371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EC63FD5-AE5A-0B1B-2167-0628EFD46A2E}"/>
              </a:ext>
            </a:extLst>
          </p:cNvPr>
          <p:cNvCxnSpPr>
            <a:cxnSpLocks/>
          </p:cNvCxnSpPr>
          <p:nvPr/>
        </p:nvCxnSpPr>
        <p:spPr>
          <a:xfrm flipV="1">
            <a:off x="7405775" y="5153085"/>
            <a:ext cx="0" cy="26433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172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D62F-F1A3-E03B-2306-A976AA4F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A1D8CA66-676E-E199-CDB1-AEA5E1F0EF2D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F77BBA1A-8299-A241-8B79-B4DFBDEB58F1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8688AD3D-A443-5FB6-9893-888B1948C648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FC7EA38B-8951-88D2-7583-37A7DFAAC89E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4620A1C-F105-3619-DC34-F5C17C997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0DEEB47-4935-88C3-280E-50851C29519F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11" name="!!N1">
            <a:extLst>
              <a:ext uri="{FF2B5EF4-FFF2-40B4-BE49-F238E27FC236}">
                <a16:creationId xmlns:a16="http://schemas.microsoft.com/office/drawing/2014/main" id="{A7DCB25E-568D-5333-75E6-9687B0BDA41A}"/>
              </a:ext>
            </a:extLst>
          </p:cNvPr>
          <p:cNvSpPr>
            <a:spLocks/>
          </p:cNvSpPr>
          <p:nvPr/>
        </p:nvSpPr>
        <p:spPr>
          <a:xfrm>
            <a:off x="5867400" y="4571734"/>
            <a:ext cx="5775934" cy="3845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     TORO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Off       </a:t>
            </a:r>
            <a:r>
              <a:rPr lang="en-US" sz="1500" b="1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Theta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22E91093-5F96-AF36-9274-49BC38EB3220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C95B214A-9443-AC1B-8CFF-0BDD477ACAA4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01DCACC2-C9C6-411B-DEB0-4ADD2EB0CB1C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7FE6C0FF-9E3D-AE7F-B1E5-AE8D0A1F1E51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0C54526F-97C7-34B7-C63D-38F9335FBB61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31072A42-B7B7-2B88-0AB6-31956804166E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DEBEF8-A5BC-D03D-9742-5711BCC2B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30" y="3505200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E13B6D-3427-5629-6B6D-4EDEC143D7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033" r="54294" b="30752"/>
          <a:stretch>
            <a:fillRect/>
          </a:stretch>
        </p:blipFill>
        <p:spPr>
          <a:xfrm>
            <a:off x="10216724" y="5029200"/>
            <a:ext cx="658628" cy="4542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B20E5C-F04F-6996-48C9-FC3C29B405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101" r="54294"/>
          <a:stretch>
            <a:fillRect/>
          </a:stretch>
        </p:blipFill>
        <p:spPr>
          <a:xfrm>
            <a:off x="6062620" y="5066859"/>
            <a:ext cx="841283" cy="4165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!!Picture 28">
            <a:extLst>
              <a:ext uri="{FF2B5EF4-FFF2-40B4-BE49-F238E27FC236}">
                <a16:creationId xmlns:a16="http://schemas.microsoft.com/office/drawing/2014/main" id="{028E2C1A-8618-11B5-13CC-84B5491A4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944" y="5173676"/>
            <a:ext cx="797696" cy="24374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1" name="&quot;Not Allowed&quot; Symbol 20">
            <a:extLst>
              <a:ext uri="{FF2B5EF4-FFF2-40B4-BE49-F238E27FC236}">
                <a16:creationId xmlns:a16="http://schemas.microsoft.com/office/drawing/2014/main" id="{DDEE8385-29E4-A694-DE7B-474194CD2E48}"/>
              </a:ext>
            </a:extLst>
          </p:cNvPr>
          <p:cNvSpPr/>
          <p:nvPr/>
        </p:nvSpPr>
        <p:spPr>
          <a:xfrm>
            <a:off x="2781170" y="4254016"/>
            <a:ext cx="381000" cy="32489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C9EE4C62-771D-C435-786C-AD52DBF776F6}"/>
              </a:ext>
            </a:extLst>
          </p:cNvPr>
          <p:cNvSpPr/>
          <p:nvPr/>
        </p:nvSpPr>
        <p:spPr>
          <a:xfrm>
            <a:off x="9008918" y="5153085"/>
            <a:ext cx="346364" cy="244096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!!N1">
            <a:extLst>
              <a:ext uri="{FF2B5EF4-FFF2-40B4-BE49-F238E27FC236}">
                <a16:creationId xmlns:a16="http://schemas.microsoft.com/office/drawing/2014/main" id="{98BB0B7A-CD85-C8EF-36B8-D7FA988D9274}"/>
              </a:ext>
            </a:extLst>
          </p:cNvPr>
          <p:cNvSpPr>
            <a:spLocks/>
          </p:cNvSpPr>
          <p:nvPr/>
        </p:nvSpPr>
        <p:spPr>
          <a:xfrm>
            <a:off x="5867400" y="5638800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    Rest  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No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</a:t>
            </a:r>
            <a:endParaRPr lang="en-US" sz="1500" b="1" dirty="0">
              <a:solidFill>
                <a:srgbClr val="FF0000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E7F2325-1482-DF31-E607-97F0DE2017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838" t="70103" r="2000"/>
          <a:stretch>
            <a:fillRect/>
          </a:stretch>
        </p:blipFill>
        <p:spPr>
          <a:xfrm>
            <a:off x="6019174" y="6371691"/>
            <a:ext cx="871917" cy="36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ocus">
            <a:extLst>
              <a:ext uri="{FF2B5EF4-FFF2-40B4-BE49-F238E27FC236}">
                <a16:creationId xmlns:a16="http://schemas.microsoft.com/office/drawing/2014/main" id="{E59A24A6-DCA1-A8EE-ED9C-09156738FCA8}"/>
              </a:ext>
            </a:extLst>
          </p:cNvPr>
          <p:cNvSpPr/>
          <p:nvPr/>
        </p:nvSpPr>
        <p:spPr>
          <a:xfrm rot="5400000">
            <a:off x="7419402" y="5451443"/>
            <a:ext cx="1236406" cy="1603188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!!Picture 29">
            <a:extLst>
              <a:ext uri="{FF2B5EF4-FFF2-40B4-BE49-F238E27FC236}">
                <a16:creationId xmlns:a16="http://schemas.microsoft.com/office/drawing/2014/main" id="{E7DE0001-6483-2FA0-BAF4-4DD284DB92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214" y="6448690"/>
            <a:ext cx="802425" cy="24518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3C06F0-D61B-B3AD-5400-635A4D9D1B0F}"/>
              </a:ext>
            </a:extLst>
          </p:cNvPr>
          <p:cNvCxnSpPr/>
          <p:nvPr/>
        </p:nvCxnSpPr>
        <p:spPr>
          <a:xfrm>
            <a:off x="3722694" y="4034898"/>
            <a:ext cx="0" cy="30480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A2F4459-F2E3-7BDA-A5FF-F596EC5A156D}"/>
              </a:ext>
            </a:extLst>
          </p:cNvPr>
          <p:cNvCxnSpPr/>
          <p:nvPr/>
        </p:nvCxnSpPr>
        <p:spPr>
          <a:xfrm>
            <a:off x="7380294" y="6424517"/>
            <a:ext cx="0" cy="30480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!!Focus2">
            <a:extLst>
              <a:ext uri="{FF2B5EF4-FFF2-40B4-BE49-F238E27FC236}">
                <a16:creationId xmlns:a16="http://schemas.microsoft.com/office/drawing/2014/main" id="{1BB1CC03-0EF8-73B4-AD0A-878BD3DF1802}"/>
              </a:ext>
            </a:extLst>
          </p:cNvPr>
          <p:cNvSpPr/>
          <p:nvPr/>
        </p:nvSpPr>
        <p:spPr>
          <a:xfrm rot="5400000">
            <a:off x="3712218" y="3407418"/>
            <a:ext cx="483415" cy="1388548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E07517-FEA2-2D00-2E34-A580B3270908}"/>
              </a:ext>
            </a:extLst>
          </p:cNvPr>
          <p:cNvCxnSpPr>
            <a:cxnSpLocks/>
          </p:cNvCxnSpPr>
          <p:nvPr/>
        </p:nvCxnSpPr>
        <p:spPr>
          <a:xfrm flipV="1">
            <a:off x="7405775" y="5153085"/>
            <a:ext cx="0" cy="26433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61A73A1-0ED8-19D5-CCFD-6B6E70CC43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629" t="16666" r="2359" b="28889"/>
          <a:stretch>
            <a:fillRect/>
          </a:stretch>
        </p:blipFill>
        <p:spPr>
          <a:xfrm>
            <a:off x="10147785" y="7239464"/>
            <a:ext cx="747989" cy="53293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4918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C0091-548F-927B-C20A-2B9CBCCD6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7A328588-72F0-A115-3129-A661EE09B7EB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01CC24EB-E666-1F4F-45C1-30A39777C85C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F8CA5D54-C5C4-FD9A-2290-5950D5E55C6C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A2F1C408-33E8-016F-02F7-9D401E0763A1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0795A8A-078C-B4FA-AA4E-DC11A818E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9C67E39-6F60-CDBB-58B0-0806502F2385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11" name="!!N1">
            <a:extLst>
              <a:ext uri="{FF2B5EF4-FFF2-40B4-BE49-F238E27FC236}">
                <a16:creationId xmlns:a16="http://schemas.microsoft.com/office/drawing/2014/main" id="{424B00E5-252C-ACB9-1897-284AF2EAB900}"/>
              </a:ext>
            </a:extLst>
          </p:cNvPr>
          <p:cNvSpPr>
            <a:spLocks/>
          </p:cNvSpPr>
          <p:nvPr/>
        </p:nvSpPr>
        <p:spPr>
          <a:xfrm>
            <a:off x="5867400" y="4571734"/>
            <a:ext cx="5775934" cy="3845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     TORO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Off       </a:t>
            </a:r>
            <a:r>
              <a:rPr lang="en-US" sz="1500" b="1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Theta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60AE165F-989B-DCA8-C770-3D97F79A2C3D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772C306F-0431-B482-E4A5-6BED436176FB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E2FB6BF1-FDED-FC49-CED0-E5E358BE22E5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8031DCA2-85AE-9FDE-1ADE-8305DBF75A4E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F7DCA081-6B46-F7D7-7D9E-F8CF180B39D2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CC401EA5-F183-62C9-634B-C41990D4B432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55BACC-0F01-B214-06D0-0135B2A53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30" y="3505200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262266-D52D-8B69-6567-CC3BC31BE5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033" r="54294" b="30752"/>
          <a:stretch>
            <a:fillRect/>
          </a:stretch>
        </p:blipFill>
        <p:spPr>
          <a:xfrm>
            <a:off x="10216724" y="5029200"/>
            <a:ext cx="658628" cy="4542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605170-6E7A-2484-8693-1DF054B62D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101" r="54294"/>
          <a:stretch>
            <a:fillRect/>
          </a:stretch>
        </p:blipFill>
        <p:spPr>
          <a:xfrm>
            <a:off x="6062620" y="5066859"/>
            <a:ext cx="841283" cy="4165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!!Picture 28">
            <a:extLst>
              <a:ext uri="{FF2B5EF4-FFF2-40B4-BE49-F238E27FC236}">
                <a16:creationId xmlns:a16="http://schemas.microsoft.com/office/drawing/2014/main" id="{30C32907-4BC1-FD1B-AD79-54D18C247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944" y="5173676"/>
            <a:ext cx="797696" cy="24374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8507E83E-C8A2-7DB3-B1E4-629178D0ED64}"/>
              </a:ext>
            </a:extLst>
          </p:cNvPr>
          <p:cNvSpPr/>
          <p:nvPr/>
        </p:nvSpPr>
        <p:spPr>
          <a:xfrm>
            <a:off x="9008918" y="5153085"/>
            <a:ext cx="346364" cy="244096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!!N1">
            <a:extLst>
              <a:ext uri="{FF2B5EF4-FFF2-40B4-BE49-F238E27FC236}">
                <a16:creationId xmlns:a16="http://schemas.microsoft.com/office/drawing/2014/main" id="{93C5999E-0DFF-2E9D-1B70-530EFF594A5A}"/>
              </a:ext>
            </a:extLst>
          </p:cNvPr>
          <p:cNvSpPr>
            <a:spLocks/>
          </p:cNvSpPr>
          <p:nvPr/>
        </p:nvSpPr>
        <p:spPr>
          <a:xfrm>
            <a:off x="5867400" y="5638800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    Rest  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No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 TORO </a:t>
            </a:r>
            <a:r>
              <a:rPr lang="en-US" sz="1500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On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      </a:t>
            </a:r>
            <a:endParaRPr lang="en-US" sz="15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5016180-A809-CD10-D213-F77BCC1ABD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629" t="16666" r="2359" b="28889"/>
          <a:stretch>
            <a:fillRect/>
          </a:stretch>
        </p:blipFill>
        <p:spPr>
          <a:xfrm>
            <a:off x="10147785" y="7239464"/>
            <a:ext cx="747989" cy="53293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DE8E154-136F-655F-3C90-8B51316DBD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838" t="70103" r="2000"/>
          <a:stretch>
            <a:fillRect/>
          </a:stretch>
        </p:blipFill>
        <p:spPr>
          <a:xfrm>
            <a:off x="6019174" y="6371691"/>
            <a:ext cx="871917" cy="36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5A534BD-15B2-CA63-EDFC-AFC721EC52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7019" y="6358991"/>
            <a:ext cx="385108" cy="467507"/>
          </a:xfrm>
          <a:prstGeom prst="rect">
            <a:avLst/>
          </a:prstGeom>
        </p:spPr>
      </p:pic>
      <p:pic>
        <p:nvPicPr>
          <p:cNvPr id="30" name="!!Picture 29">
            <a:extLst>
              <a:ext uri="{FF2B5EF4-FFF2-40B4-BE49-F238E27FC236}">
                <a16:creationId xmlns:a16="http://schemas.microsoft.com/office/drawing/2014/main" id="{F18FEE95-6AD4-E9EC-1044-958737FF9C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214" y="6448690"/>
            <a:ext cx="802425" cy="24518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16CB026-3A6A-5EDD-B527-713CA6ACE50B}"/>
              </a:ext>
            </a:extLst>
          </p:cNvPr>
          <p:cNvCxnSpPr/>
          <p:nvPr/>
        </p:nvCxnSpPr>
        <p:spPr>
          <a:xfrm>
            <a:off x="3722694" y="4034898"/>
            <a:ext cx="0" cy="30480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60445DE-67AC-2426-933B-827665EB1DF5}"/>
              </a:ext>
            </a:extLst>
          </p:cNvPr>
          <p:cNvCxnSpPr/>
          <p:nvPr/>
        </p:nvCxnSpPr>
        <p:spPr>
          <a:xfrm>
            <a:off x="7380294" y="6424517"/>
            <a:ext cx="0" cy="30480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96A15B98-F00F-397C-A3C6-941FEFB6F6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3575" y="4304827"/>
            <a:ext cx="184563" cy="266907"/>
          </a:xfrm>
          <a:prstGeom prst="rect">
            <a:avLst/>
          </a:prstGeom>
        </p:spPr>
      </p:pic>
      <p:sp>
        <p:nvSpPr>
          <p:cNvPr id="2" name="!!Focus">
            <a:extLst>
              <a:ext uri="{FF2B5EF4-FFF2-40B4-BE49-F238E27FC236}">
                <a16:creationId xmlns:a16="http://schemas.microsoft.com/office/drawing/2014/main" id="{992BE2D2-7B05-6440-CF74-77A47A9448B2}"/>
              </a:ext>
            </a:extLst>
          </p:cNvPr>
          <p:cNvSpPr/>
          <p:nvPr/>
        </p:nvSpPr>
        <p:spPr>
          <a:xfrm rot="5400000">
            <a:off x="8551954" y="5673561"/>
            <a:ext cx="1236406" cy="1166885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!!Focus2">
            <a:extLst>
              <a:ext uri="{FF2B5EF4-FFF2-40B4-BE49-F238E27FC236}">
                <a16:creationId xmlns:a16="http://schemas.microsoft.com/office/drawing/2014/main" id="{BA8F2905-0C8B-3977-0870-64F2AC357BD3}"/>
              </a:ext>
            </a:extLst>
          </p:cNvPr>
          <p:cNvSpPr/>
          <p:nvPr/>
        </p:nvSpPr>
        <p:spPr>
          <a:xfrm rot="5400000">
            <a:off x="2689078" y="3673223"/>
            <a:ext cx="1181500" cy="1225656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14B64F1-8056-2FD4-2B23-12F9A7F3AEA1}"/>
              </a:ext>
            </a:extLst>
          </p:cNvPr>
          <p:cNvCxnSpPr>
            <a:cxnSpLocks/>
          </p:cNvCxnSpPr>
          <p:nvPr/>
        </p:nvCxnSpPr>
        <p:spPr>
          <a:xfrm flipV="1">
            <a:off x="7405775" y="5153085"/>
            <a:ext cx="0" cy="26433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710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D2537-0217-3003-B26B-AEB27A9A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6F29AFDA-6DBE-79C9-8A70-54C5F2028188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BAEA263E-441A-901A-C9C5-60932BA70BDC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B398A7D1-FEF2-6271-6CD8-CAC5D10DE317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B73A0B00-FF68-7517-4023-881302006142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8E9026E-0CED-B1F6-F156-B9E6DBD7C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67501FF-5B6E-28EA-93E1-B5B1530F56D5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11" name="!!N1">
            <a:extLst>
              <a:ext uri="{FF2B5EF4-FFF2-40B4-BE49-F238E27FC236}">
                <a16:creationId xmlns:a16="http://schemas.microsoft.com/office/drawing/2014/main" id="{C97C363B-191E-2E63-E436-3CECAF6E5C53}"/>
              </a:ext>
            </a:extLst>
          </p:cNvPr>
          <p:cNvSpPr>
            <a:spLocks/>
          </p:cNvSpPr>
          <p:nvPr/>
        </p:nvSpPr>
        <p:spPr>
          <a:xfrm>
            <a:off x="5867400" y="4571734"/>
            <a:ext cx="5775934" cy="3845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     TORO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Off       </a:t>
            </a:r>
            <a:r>
              <a:rPr lang="en-US" sz="1500" b="1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Theta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9B1AFDFD-712C-5EA6-6B4C-117131FBF3D7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8492ABA1-00E1-057A-6DF7-602B9EB7C202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05A30510-2078-8CC5-40BC-9B03481A8E79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FDED2303-DE81-DA6E-4156-99CE52002A00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0A23EA05-3A16-B6BD-01B1-59E504CE95E5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157C411B-AB8A-A347-3743-73B4AF2FBCC8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7FC08E-62BA-AA82-7233-B44EEAA2E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30" y="3505200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079D64-365B-E6B7-6921-1233C58F23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033" r="54294" b="30752"/>
          <a:stretch>
            <a:fillRect/>
          </a:stretch>
        </p:blipFill>
        <p:spPr>
          <a:xfrm>
            <a:off x="10216724" y="5029200"/>
            <a:ext cx="658628" cy="4542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7F47A2-5D3D-3E60-2DCE-7F7D674B7C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101" r="54294"/>
          <a:stretch>
            <a:fillRect/>
          </a:stretch>
        </p:blipFill>
        <p:spPr>
          <a:xfrm>
            <a:off x="6062620" y="5066859"/>
            <a:ext cx="841283" cy="4165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!!Picture 28">
            <a:extLst>
              <a:ext uri="{FF2B5EF4-FFF2-40B4-BE49-F238E27FC236}">
                <a16:creationId xmlns:a16="http://schemas.microsoft.com/office/drawing/2014/main" id="{4F5A50D5-5443-65D8-8915-DE65FCF072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944" y="5173676"/>
            <a:ext cx="797696" cy="24374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C296375F-43C6-DC55-EDE0-43C994157664}"/>
              </a:ext>
            </a:extLst>
          </p:cNvPr>
          <p:cNvSpPr/>
          <p:nvPr/>
        </p:nvSpPr>
        <p:spPr>
          <a:xfrm>
            <a:off x="9008918" y="5153085"/>
            <a:ext cx="346364" cy="244096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!!N1">
            <a:extLst>
              <a:ext uri="{FF2B5EF4-FFF2-40B4-BE49-F238E27FC236}">
                <a16:creationId xmlns:a16="http://schemas.microsoft.com/office/drawing/2014/main" id="{3FEAD9E1-BAFB-D793-0625-5D385AE5CB45}"/>
              </a:ext>
            </a:extLst>
          </p:cNvPr>
          <p:cNvSpPr>
            <a:spLocks/>
          </p:cNvSpPr>
          <p:nvPr/>
        </p:nvSpPr>
        <p:spPr>
          <a:xfrm>
            <a:off x="5867400" y="5638800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    Rest  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No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 TORO </a:t>
            </a:r>
            <a:r>
              <a:rPr lang="en-US" sz="1500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On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           </a:t>
            </a:r>
            <a:r>
              <a:rPr lang="en-US" sz="1500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SPW-R</a:t>
            </a:r>
            <a:r>
              <a:rPr lang="en-US" sz="15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</a:t>
            </a:r>
            <a:endParaRPr lang="en-US" sz="15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51B67B9-2DBB-526D-DB6C-D514667EA9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629" t="16666" r="2359" b="28889"/>
          <a:stretch>
            <a:fillRect/>
          </a:stretch>
        </p:blipFill>
        <p:spPr>
          <a:xfrm>
            <a:off x="10189070" y="6327431"/>
            <a:ext cx="679990" cy="48448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A081136-2BD2-C247-B03C-7489008874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838" t="70103" r="2000"/>
          <a:stretch>
            <a:fillRect/>
          </a:stretch>
        </p:blipFill>
        <p:spPr>
          <a:xfrm>
            <a:off x="6019174" y="6371691"/>
            <a:ext cx="871917" cy="36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4A50B1F-017F-F01A-7170-53C061BD77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7019" y="6358991"/>
            <a:ext cx="385108" cy="467507"/>
          </a:xfrm>
          <a:prstGeom prst="rect">
            <a:avLst/>
          </a:prstGeom>
        </p:spPr>
      </p:pic>
      <p:pic>
        <p:nvPicPr>
          <p:cNvPr id="30" name="!!Picture 29">
            <a:extLst>
              <a:ext uri="{FF2B5EF4-FFF2-40B4-BE49-F238E27FC236}">
                <a16:creationId xmlns:a16="http://schemas.microsoft.com/office/drawing/2014/main" id="{8326E9D4-DE1D-67CF-3EFB-1B792F76F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214" y="6448690"/>
            <a:ext cx="802425" cy="24518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EDF9E1-38A2-8291-856A-929CDC5E2365}"/>
              </a:ext>
            </a:extLst>
          </p:cNvPr>
          <p:cNvCxnSpPr/>
          <p:nvPr/>
        </p:nvCxnSpPr>
        <p:spPr>
          <a:xfrm>
            <a:off x="3722694" y="4034898"/>
            <a:ext cx="0" cy="30480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7948A6D-40B1-317E-7DDA-4A03784D2FC2}"/>
              </a:ext>
            </a:extLst>
          </p:cNvPr>
          <p:cNvCxnSpPr/>
          <p:nvPr/>
        </p:nvCxnSpPr>
        <p:spPr>
          <a:xfrm>
            <a:off x="7380294" y="6424517"/>
            <a:ext cx="0" cy="30480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9B68D515-7867-8596-7C95-32F7ECD679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3575" y="4304827"/>
            <a:ext cx="184563" cy="266907"/>
          </a:xfrm>
          <a:prstGeom prst="rect">
            <a:avLst/>
          </a:prstGeom>
        </p:spPr>
      </p:pic>
      <p:sp>
        <p:nvSpPr>
          <p:cNvPr id="2" name="!!Focus">
            <a:extLst>
              <a:ext uri="{FF2B5EF4-FFF2-40B4-BE49-F238E27FC236}">
                <a16:creationId xmlns:a16="http://schemas.microsoft.com/office/drawing/2014/main" id="{6298FC55-3ADA-EE7D-77DE-72594D01B7CD}"/>
              </a:ext>
            </a:extLst>
          </p:cNvPr>
          <p:cNvSpPr/>
          <p:nvPr/>
        </p:nvSpPr>
        <p:spPr>
          <a:xfrm rot="5400000">
            <a:off x="9871240" y="5656354"/>
            <a:ext cx="1236406" cy="1166885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!!Focus2">
            <a:extLst>
              <a:ext uri="{FF2B5EF4-FFF2-40B4-BE49-F238E27FC236}">
                <a16:creationId xmlns:a16="http://schemas.microsoft.com/office/drawing/2014/main" id="{CF57BFD4-4993-0FE7-5EC6-8F339CBDE0E5}"/>
              </a:ext>
            </a:extLst>
          </p:cNvPr>
          <p:cNvSpPr/>
          <p:nvPr/>
        </p:nvSpPr>
        <p:spPr>
          <a:xfrm rot="5400000">
            <a:off x="524226" y="4066325"/>
            <a:ext cx="1967431" cy="2253868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71AECF3-9A7C-12FE-FC01-4AA0540C4D40}"/>
              </a:ext>
            </a:extLst>
          </p:cNvPr>
          <p:cNvCxnSpPr>
            <a:cxnSpLocks/>
          </p:cNvCxnSpPr>
          <p:nvPr/>
        </p:nvCxnSpPr>
        <p:spPr>
          <a:xfrm flipV="1">
            <a:off x="7405775" y="5153085"/>
            <a:ext cx="0" cy="26433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526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35526-EB58-12B5-13FF-213222863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N1">
            <a:extLst>
              <a:ext uri="{FF2B5EF4-FFF2-40B4-BE49-F238E27FC236}">
                <a16:creationId xmlns:a16="http://schemas.microsoft.com/office/drawing/2014/main" id="{9466DD92-DEFE-29AB-18A3-6A53D0631931}"/>
              </a:ext>
            </a:extLst>
          </p:cNvPr>
          <p:cNvSpPr>
            <a:spLocks/>
          </p:cNvSpPr>
          <p:nvPr/>
        </p:nvSpPr>
        <p:spPr>
          <a:xfrm>
            <a:off x="5867400" y="4571734"/>
            <a:ext cx="5775934" cy="3845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     TORO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Off       </a:t>
            </a:r>
            <a:r>
              <a:rPr lang="en-US" sz="1500" b="1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Theta</a:t>
            </a:r>
            <a:endParaRPr lang="en-US" sz="1500" b="1" dirty="0">
              <a:solidFill>
                <a:srgbClr val="FF0000"/>
              </a:solidFill>
            </a:endParaRP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11C904E8-91A7-262B-9F80-0FA40BEC62F4}"/>
              </a:ext>
            </a:extLst>
          </p:cNvPr>
          <p:cNvSpPr>
            <a:spLocks/>
          </p:cNvSpPr>
          <p:nvPr/>
        </p:nvSpPr>
        <p:spPr>
          <a:xfrm>
            <a:off x="5867400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037020AC-264F-B722-F664-E81B9CD8FE5D}"/>
              </a:ext>
            </a:extLst>
          </p:cNvPr>
          <p:cNvSpPr>
            <a:spLocks/>
          </p:cNvSpPr>
          <p:nvPr/>
        </p:nvSpPr>
        <p:spPr>
          <a:xfrm>
            <a:off x="5843515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B34E8E9E-6323-2320-BE9B-F88E17DF9306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5A4B9CB9-9BDB-8B61-5496-CB83D81367EB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CDFA34C6-4E83-5567-6223-C3EA6B57C754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3177359C-2DCA-7C84-C5AC-E0354E6998A4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CF52B68-E7D2-D588-5B55-51776BDBC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E435E12-139A-E7B4-E6C6-CA21233092E3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" name="!!C1">
            <a:extLst>
              <a:ext uri="{FF2B5EF4-FFF2-40B4-BE49-F238E27FC236}">
                <a16:creationId xmlns:a16="http://schemas.microsoft.com/office/drawing/2014/main" id="{F98050C3-7A19-6D32-8D03-13AEDE8FBBF1}"/>
              </a:ext>
            </a:extLst>
          </p:cNvPr>
          <p:cNvSpPr>
            <a:spLocks/>
          </p:cNvSpPr>
          <p:nvPr/>
        </p:nvSpPr>
        <p:spPr>
          <a:xfrm>
            <a:off x="13209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B8B12472-A36A-D9F3-B7B9-45238A9B4628}"/>
              </a:ext>
            </a:extLst>
          </p:cNvPr>
          <p:cNvSpPr>
            <a:spLocks/>
          </p:cNvSpPr>
          <p:nvPr/>
        </p:nvSpPr>
        <p:spPr>
          <a:xfrm>
            <a:off x="12889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5432D1AC-1614-E2FF-BB3D-435A771AD933}"/>
              </a:ext>
            </a:extLst>
          </p:cNvPr>
          <p:cNvSpPr>
            <a:spLocks/>
          </p:cNvSpPr>
          <p:nvPr/>
        </p:nvSpPr>
        <p:spPr>
          <a:xfrm>
            <a:off x="15125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AD8C2352-5040-9F47-9DD1-D62CEF0E4CF7}"/>
              </a:ext>
            </a:extLst>
          </p:cNvPr>
          <p:cNvSpPr>
            <a:spLocks/>
          </p:cNvSpPr>
          <p:nvPr/>
        </p:nvSpPr>
        <p:spPr>
          <a:xfrm>
            <a:off x="14123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F44B00-C5E6-04EA-DD94-E81785A6D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30" y="3505200"/>
            <a:ext cx="4947570" cy="26717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3CBF8C-B208-483B-2B0A-AAB1A8C036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033" r="54294" b="30752"/>
          <a:stretch>
            <a:fillRect/>
          </a:stretch>
        </p:blipFill>
        <p:spPr>
          <a:xfrm>
            <a:off x="10216724" y="5029200"/>
            <a:ext cx="658628" cy="4542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CF0B5EE-EF14-AFD7-2850-E01DD0EE69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101" r="54294"/>
          <a:stretch>
            <a:fillRect/>
          </a:stretch>
        </p:blipFill>
        <p:spPr>
          <a:xfrm>
            <a:off x="6062620" y="5066859"/>
            <a:ext cx="841283" cy="4165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!!Picture 28">
            <a:extLst>
              <a:ext uri="{FF2B5EF4-FFF2-40B4-BE49-F238E27FC236}">
                <a16:creationId xmlns:a16="http://schemas.microsoft.com/office/drawing/2014/main" id="{B45D2E15-116C-3132-884E-DEE5CD96F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944" y="5173676"/>
            <a:ext cx="797696" cy="24374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5" name="!!N1">
            <a:extLst>
              <a:ext uri="{FF2B5EF4-FFF2-40B4-BE49-F238E27FC236}">
                <a16:creationId xmlns:a16="http://schemas.microsoft.com/office/drawing/2014/main" id="{539271C3-0D63-8475-AECB-A1AFF8244AF0}"/>
              </a:ext>
            </a:extLst>
          </p:cNvPr>
          <p:cNvSpPr>
            <a:spLocks/>
          </p:cNvSpPr>
          <p:nvPr/>
        </p:nvSpPr>
        <p:spPr>
          <a:xfrm>
            <a:off x="5867400" y="5638800"/>
            <a:ext cx="5775934" cy="6098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    Rest  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No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 TORO </a:t>
            </a:r>
            <a:r>
              <a:rPr lang="en-US" sz="1500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On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           </a:t>
            </a:r>
            <a:r>
              <a:rPr lang="en-US" sz="1500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SPW-R</a:t>
            </a:r>
            <a:r>
              <a:rPr lang="en-US" sz="15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</a:t>
            </a:r>
            <a:endParaRPr lang="en-US" sz="15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2265BBB-AC66-2EF7-4869-7CC1DACCE1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629" t="16666" r="2359" b="28889"/>
          <a:stretch>
            <a:fillRect/>
          </a:stretch>
        </p:blipFill>
        <p:spPr>
          <a:xfrm>
            <a:off x="10189070" y="6327431"/>
            <a:ext cx="679990" cy="48448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70CDE2D-A6D7-9484-3114-6B0CA5D67E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838" t="70103" r="2000"/>
          <a:stretch>
            <a:fillRect/>
          </a:stretch>
        </p:blipFill>
        <p:spPr>
          <a:xfrm>
            <a:off x="6019174" y="6371691"/>
            <a:ext cx="871917" cy="36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CB421DF6-7F29-B588-7174-5856F9A16D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7019" y="6358991"/>
            <a:ext cx="385108" cy="467507"/>
          </a:xfrm>
          <a:prstGeom prst="rect">
            <a:avLst/>
          </a:prstGeom>
        </p:spPr>
      </p:pic>
      <p:pic>
        <p:nvPicPr>
          <p:cNvPr id="30" name="!!Picture 29">
            <a:extLst>
              <a:ext uri="{FF2B5EF4-FFF2-40B4-BE49-F238E27FC236}">
                <a16:creationId xmlns:a16="http://schemas.microsoft.com/office/drawing/2014/main" id="{EAFEB8DE-11D1-FFCB-77A7-D43E841B1A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214" y="6448690"/>
            <a:ext cx="802425" cy="24518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B09FCFE-2898-237C-D189-FECB49D00478}"/>
              </a:ext>
            </a:extLst>
          </p:cNvPr>
          <p:cNvCxnSpPr/>
          <p:nvPr/>
        </p:nvCxnSpPr>
        <p:spPr>
          <a:xfrm>
            <a:off x="3722694" y="4034898"/>
            <a:ext cx="0" cy="30480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B9EA44-DF26-CE06-5BC8-A696A367DCAB}"/>
              </a:ext>
            </a:extLst>
          </p:cNvPr>
          <p:cNvCxnSpPr/>
          <p:nvPr/>
        </p:nvCxnSpPr>
        <p:spPr>
          <a:xfrm>
            <a:off x="7380294" y="6424517"/>
            <a:ext cx="0" cy="30480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6690B46-40A8-26A8-DAA9-6FE758BC03C9}"/>
              </a:ext>
            </a:extLst>
          </p:cNvPr>
          <p:cNvCxnSpPr>
            <a:cxnSpLocks/>
          </p:cNvCxnSpPr>
          <p:nvPr/>
        </p:nvCxnSpPr>
        <p:spPr>
          <a:xfrm flipV="1">
            <a:off x="7405775" y="5153085"/>
            <a:ext cx="0" cy="26433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!!Focus">
            <a:extLst>
              <a:ext uri="{FF2B5EF4-FFF2-40B4-BE49-F238E27FC236}">
                <a16:creationId xmlns:a16="http://schemas.microsoft.com/office/drawing/2014/main" id="{16C713FD-AC07-0FA2-B106-08C741E2B23C}"/>
              </a:ext>
            </a:extLst>
          </p:cNvPr>
          <p:cNvSpPr/>
          <p:nvPr/>
        </p:nvSpPr>
        <p:spPr>
          <a:xfrm rot="5400000">
            <a:off x="2468233" y="1722768"/>
            <a:ext cx="626134" cy="1295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!!Focus2">
            <a:extLst>
              <a:ext uri="{FF2B5EF4-FFF2-40B4-BE49-F238E27FC236}">
                <a16:creationId xmlns:a16="http://schemas.microsoft.com/office/drawing/2014/main" id="{FA7ED3D5-18D0-1AB3-7AFD-231D6DA115C6}"/>
              </a:ext>
            </a:extLst>
          </p:cNvPr>
          <p:cNvSpPr/>
          <p:nvPr/>
        </p:nvSpPr>
        <p:spPr>
          <a:xfrm rot="5400000">
            <a:off x="2476501" y="1714501"/>
            <a:ext cx="609598" cy="1295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66CF1-2104-8AA4-3054-776A82C2C6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53532" y="2090180"/>
            <a:ext cx="3600868" cy="240385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4" name="!!P1">
            <a:extLst>
              <a:ext uri="{FF2B5EF4-FFF2-40B4-BE49-F238E27FC236}">
                <a16:creationId xmlns:a16="http://schemas.microsoft.com/office/drawing/2014/main" id="{CA4EA881-7A10-DB7D-B822-ECD6744D46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101" r="54294"/>
          <a:stretch>
            <a:fillRect/>
          </a:stretch>
        </p:blipFill>
        <p:spPr>
          <a:xfrm>
            <a:off x="6053848" y="5069852"/>
            <a:ext cx="841283" cy="4165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5" name="!!P2">
            <a:extLst>
              <a:ext uri="{FF2B5EF4-FFF2-40B4-BE49-F238E27FC236}">
                <a16:creationId xmlns:a16="http://schemas.microsoft.com/office/drawing/2014/main" id="{AA7F2A70-A5D2-AE47-1DEF-5D2037E83C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838" t="70103" r="2000"/>
          <a:stretch>
            <a:fillRect/>
          </a:stretch>
        </p:blipFill>
        <p:spPr>
          <a:xfrm>
            <a:off x="6019173" y="6371691"/>
            <a:ext cx="871917" cy="361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6" name="!!P3">
            <a:extLst>
              <a:ext uri="{FF2B5EF4-FFF2-40B4-BE49-F238E27FC236}">
                <a16:creationId xmlns:a16="http://schemas.microsoft.com/office/drawing/2014/main" id="{5DA49B4D-C62B-23D7-E64C-34F7DD5705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033" r="54294" b="30752"/>
          <a:stretch>
            <a:fillRect/>
          </a:stretch>
        </p:blipFill>
        <p:spPr>
          <a:xfrm>
            <a:off x="10210800" y="5029200"/>
            <a:ext cx="658628" cy="45420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!!P4">
            <a:extLst>
              <a:ext uri="{FF2B5EF4-FFF2-40B4-BE49-F238E27FC236}">
                <a16:creationId xmlns:a16="http://schemas.microsoft.com/office/drawing/2014/main" id="{EA1262E6-C371-6234-2279-A1481F03BA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629" t="16666" r="2359" b="28889"/>
          <a:stretch>
            <a:fillRect/>
          </a:stretch>
        </p:blipFill>
        <p:spPr>
          <a:xfrm>
            <a:off x="10190925" y="6335995"/>
            <a:ext cx="679990" cy="48448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8" name="!!P5">
            <a:extLst>
              <a:ext uri="{FF2B5EF4-FFF2-40B4-BE49-F238E27FC236}">
                <a16:creationId xmlns:a16="http://schemas.microsoft.com/office/drawing/2014/main" id="{F3E9DE11-D808-0C82-23A5-EF32A02A4D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5996" y="6370365"/>
            <a:ext cx="385108" cy="467507"/>
          </a:xfrm>
          <a:prstGeom prst="rect">
            <a:avLst/>
          </a:prstGeom>
        </p:spPr>
      </p:pic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492D33BD-4903-A35D-4FF2-2414B7672967}"/>
              </a:ext>
            </a:extLst>
          </p:cNvPr>
          <p:cNvSpPr/>
          <p:nvPr/>
        </p:nvSpPr>
        <p:spPr>
          <a:xfrm>
            <a:off x="9008918" y="5153085"/>
            <a:ext cx="346364" cy="244096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5FC9654-65B6-2ADA-7124-8320633E7A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3575" y="4304827"/>
            <a:ext cx="184563" cy="26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980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B39C1-7B7C-4216-7E0C-55E56333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C1">
            <a:extLst>
              <a:ext uri="{FF2B5EF4-FFF2-40B4-BE49-F238E27FC236}">
                <a16:creationId xmlns:a16="http://schemas.microsoft.com/office/drawing/2014/main" id="{9FF46D6E-F284-A164-C130-4190F76DC82A}"/>
              </a:ext>
            </a:extLst>
          </p:cNvPr>
          <p:cNvSpPr>
            <a:spLocks/>
          </p:cNvSpPr>
          <p:nvPr/>
        </p:nvSpPr>
        <p:spPr>
          <a:xfrm>
            <a:off x="19686668" y="830625"/>
            <a:ext cx="5230732" cy="30925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AACs are selectively recruited to "direct information flow" during the onset of the Online (DS2) state, while remaining strictly silent during Offline (SPW-R) replay.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9" name="!!M4">
            <a:extLst>
              <a:ext uri="{FF2B5EF4-FFF2-40B4-BE49-F238E27FC236}">
                <a16:creationId xmlns:a16="http://schemas.microsoft.com/office/drawing/2014/main" id="{3F212F9E-EA4D-714B-1DDB-94662B72B027}"/>
              </a:ext>
            </a:extLst>
          </p:cNvPr>
          <p:cNvSpPr>
            <a:spLocks/>
          </p:cNvSpPr>
          <p:nvPr/>
        </p:nvSpPr>
        <p:spPr>
          <a:xfrm>
            <a:off x="21602235" y="276894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20" name="!!M5">
            <a:extLst>
              <a:ext uri="{FF2B5EF4-FFF2-40B4-BE49-F238E27FC236}">
                <a16:creationId xmlns:a16="http://schemas.microsoft.com/office/drawing/2014/main" id="{CD3DC3F9-3F09-D285-097E-C1C73619048E}"/>
              </a:ext>
            </a:extLst>
          </p:cNvPr>
          <p:cNvSpPr>
            <a:spLocks/>
          </p:cNvSpPr>
          <p:nvPr/>
        </p:nvSpPr>
        <p:spPr>
          <a:xfrm>
            <a:off x="20600160" y="460299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sp>
        <p:nvSpPr>
          <p:cNvPr id="14" name="!!M1_">
            <a:extLst>
              <a:ext uri="{FF2B5EF4-FFF2-40B4-BE49-F238E27FC236}">
                <a16:creationId xmlns:a16="http://schemas.microsoft.com/office/drawing/2014/main" id="{83B45620-4957-A5C5-B40C-FD08A831BFB4}"/>
              </a:ext>
            </a:extLst>
          </p:cNvPr>
          <p:cNvSpPr>
            <a:spLocks/>
          </p:cNvSpPr>
          <p:nvPr/>
        </p:nvSpPr>
        <p:spPr>
          <a:xfrm>
            <a:off x="19751066" y="2233913"/>
            <a:ext cx="5765749" cy="44962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 specific class of GABAergic neurons located in the CA1 region.</a:t>
            </a:r>
          </a:p>
        </p:txBody>
      </p:sp>
      <p:sp>
        <p:nvSpPr>
          <p:cNvPr id="15" name="!!M2">
            <a:extLst>
              <a:ext uri="{FF2B5EF4-FFF2-40B4-BE49-F238E27FC236}">
                <a16:creationId xmlns:a16="http://schemas.microsoft.com/office/drawing/2014/main" id="{161C7921-21B8-AD3D-C4CA-3D287E822AC2}"/>
              </a:ext>
            </a:extLst>
          </p:cNvPr>
          <p:cNvSpPr>
            <a:spLocks/>
          </p:cNvSpPr>
          <p:nvPr/>
        </p:nvSpPr>
        <p:spPr>
          <a:xfrm>
            <a:off x="19727181" y="2854553"/>
            <a:ext cx="5799819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M2 receptors; sensitive to Acetylcholine (the "Alertness/Arousal" neurotransmitter).</a:t>
            </a: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53CE5B6A-8C3E-34A9-0323-597926041109}"/>
              </a:ext>
            </a:extLst>
          </p:cNvPr>
          <p:cNvSpPr>
            <a:spLocks/>
          </p:cNvSpPr>
          <p:nvPr/>
        </p:nvSpPr>
        <p:spPr>
          <a:xfrm>
            <a:off x="19366624" y="2765804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11" name="!!N1" hidden="1">
            <a:extLst>
              <a:ext uri="{FF2B5EF4-FFF2-40B4-BE49-F238E27FC236}">
                <a16:creationId xmlns:a16="http://schemas.microsoft.com/office/drawing/2014/main" id="{E03E2E67-D2FF-64A5-AE23-D73C264773DF}"/>
              </a:ext>
            </a:extLst>
          </p:cNvPr>
          <p:cNvSpPr>
            <a:spLocks/>
          </p:cNvSpPr>
          <p:nvPr/>
        </p:nvSpPr>
        <p:spPr>
          <a:xfrm>
            <a:off x="6969194" y="2743200"/>
            <a:ext cx="2624480" cy="2402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Arousal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     TORO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Off       </a:t>
            </a:r>
            <a:r>
              <a:rPr lang="en-US" sz="1500" b="1" dirty="0">
                <a:solidFill>
                  <a:schemeClr val="bg1"/>
                </a:solidFill>
                <a:sym typeface="Wingdings" panose="05000000000000000000" pitchFamily="2" charset="2"/>
              </a:rPr>
              <a:t>     </a:t>
            </a:r>
            <a:r>
              <a:rPr lang="en-US" sz="1500" b="1" dirty="0">
                <a:solidFill>
                  <a:srgbClr val="FF0000"/>
                </a:solidFill>
                <a:sym typeface="Wingdings" panose="05000000000000000000" pitchFamily="2" charset="2"/>
              </a:rPr>
              <a:t>Theta</a:t>
            </a:r>
            <a:endParaRPr lang="en-US" sz="1500" b="1" dirty="0">
              <a:solidFill>
                <a:srgbClr val="FF0000"/>
              </a:solidFill>
            </a:endParaRPr>
          </a:p>
        </p:txBody>
      </p:sp>
      <p:cxnSp>
        <p:nvCxnSpPr>
          <p:cNvPr id="49" name="Straight Arrow Connector 48" hidden="1">
            <a:extLst>
              <a:ext uri="{FF2B5EF4-FFF2-40B4-BE49-F238E27FC236}">
                <a16:creationId xmlns:a16="http://schemas.microsoft.com/office/drawing/2014/main" id="{B7ABC598-9241-E919-7595-2BA9C388EF38}"/>
              </a:ext>
            </a:extLst>
          </p:cNvPr>
          <p:cNvCxnSpPr>
            <a:cxnSpLocks/>
          </p:cNvCxnSpPr>
          <p:nvPr/>
        </p:nvCxnSpPr>
        <p:spPr>
          <a:xfrm flipV="1">
            <a:off x="8507569" y="3489686"/>
            <a:ext cx="0" cy="99196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 hidden="1">
            <a:extLst>
              <a:ext uri="{FF2B5EF4-FFF2-40B4-BE49-F238E27FC236}">
                <a16:creationId xmlns:a16="http://schemas.microsoft.com/office/drawing/2014/main" id="{530642BC-F413-3622-03C8-9A00646B4AC5}"/>
              </a:ext>
            </a:extLst>
          </p:cNvPr>
          <p:cNvCxnSpPr>
            <a:cxnSpLocks/>
          </p:cNvCxnSpPr>
          <p:nvPr/>
        </p:nvCxnSpPr>
        <p:spPr>
          <a:xfrm>
            <a:off x="8480495" y="4051266"/>
            <a:ext cx="0" cy="19041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!!N1" hidden="1">
            <a:extLst>
              <a:ext uri="{FF2B5EF4-FFF2-40B4-BE49-F238E27FC236}">
                <a16:creationId xmlns:a16="http://schemas.microsoft.com/office/drawing/2014/main" id="{9A7B5729-3D40-BC66-C46E-D94D169DF1F3}"/>
              </a:ext>
            </a:extLst>
          </p:cNvPr>
          <p:cNvSpPr>
            <a:spLocks/>
          </p:cNvSpPr>
          <p:nvPr/>
        </p:nvSpPr>
        <p:spPr>
          <a:xfrm>
            <a:off x="6969194" y="3810266"/>
            <a:ext cx="2624480" cy="381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     Rest              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 No </a:t>
            </a:r>
            <a:r>
              <a:rPr lang="en-US" sz="1500" dirty="0" err="1">
                <a:solidFill>
                  <a:schemeClr val="bg1"/>
                </a:solidFill>
                <a:sym typeface="Wingdings" panose="05000000000000000000" pitchFamily="2" charset="2"/>
              </a:rPr>
              <a:t>ACh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Flood    TORO </a:t>
            </a:r>
            <a:r>
              <a:rPr lang="en-US" sz="1500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On</a:t>
            </a:r>
            <a:r>
              <a:rPr lang="en-US" sz="1500" dirty="0">
                <a:solidFill>
                  <a:schemeClr val="bg1"/>
                </a:solidFill>
                <a:sym typeface="Wingdings" panose="05000000000000000000" pitchFamily="2" charset="2"/>
              </a:rPr>
              <a:t>            </a:t>
            </a:r>
            <a:r>
              <a:rPr lang="en-US" sz="1500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SPW-R</a:t>
            </a:r>
            <a:r>
              <a:rPr lang="en-US" sz="1500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  </a:t>
            </a:r>
            <a:endParaRPr lang="en-US" sz="15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8F1569-7ABD-81E2-1D93-B1267150A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623" y="2133600"/>
            <a:ext cx="3600868" cy="240385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CA66A762-04CA-288D-0C22-7992D3C48D07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DE212C47-7C80-FD36-0685-0D4A73403170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448925D9-417F-F538-8630-945678569813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Gatekeepers: Meet The TORO Cells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5321BB59-2442-D8B0-4B7C-8FF2935031A5}"/>
              </a:ext>
            </a:extLst>
          </p:cNvPr>
          <p:cNvSpPr/>
          <p:nvPr/>
        </p:nvSpPr>
        <p:spPr>
          <a:xfrm>
            <a:off x="1295400" y="914401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07C47D5-0DE7-2F62-DC4F-0BB317C7E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0A874F6-517B-A5DE-150D-941CCF970B71}"/>
              </a:ext>
            </a:extLst>
          </p:cNvPr>
          <p:cNvSpPr txBox="1"/>
          <p:nvPr/>
        </p:nvSpPr>
        <p:spPr>
          <a:xfrm>
            <a:off x="4191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1AB527-9D9C-B977-EE3C-8BACDAD34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623" y="4788983"/>
            <a:ext cx="3610437" cy="194969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!!P3">
            <a:extLst>
              <a:ext uri="{FF2B5EF4-FFF2-40B4-BE49-F238E27FC236}">
                <a16:creationId xmlns:a16="http://schemas.microsoft.com/office/drawing/2014/main" id="{E0CE5B6A-7C3E-F641-C3AF-D7B67DF762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033" r="54294" b="30752"/>
          <a:stretch>
            <a:fillRect/>
          </a:stretch>
        </p:blipFill>
        <p:spPr>
          <a:xfrm>
            <a:off x="6910248" y="2641167"/>
            <a:ext cx="1581632" cy="109073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!!P1">
            <a:extLst>
              <a:ext uri="{FF2B5EF4-FFF2-40B4-BE49-F238E27FC236}">
                <a16:creationId xmlns:a16="http://schemas.microsoft.com/office/drawing/2014/main" id="{1ED57E98-AEFE-A295-F11D-EEAE13831C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101" r="54294"/>
          <a:stretch>
            <a:fillRect/>
          </a:stretch>
        </p:blipFill>
        <p:spPr>
          <a:xfrm>
            <a:off x="6919864" y="3780598"/>
            <a:ext cx="1490909" cy="7382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!!Picture 28">
            <a:extLst>
              <a:ext uri="{FF2B5EF4-FFF2-40B4-BE49-F238E27FC236}">
                <a16:creationId xmlns:a16="http://schemas.microsoft.com/office/drawing/2014/main" id="{64C0191D-3256-E75D-8612-0C1A15FA58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0709" y="5080444"/>
            <a:ext cx="797696" cy="24374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4" name="&quot;Not Allowed&quot; Symbol 23" hidden="1">
            <a:extLst>
              <a:ext uri="{FF2B5EF4-FFF2-40B4-BE49-F238E27FC236}">
                <a16:creationId xmlns:a16="http://schemas.microsoft.com/office/drawing/2014/main" id="{D3F43232-3F5B-2B41-1861-158B81D7148D}"/>
              </a:ext>
            </a:extLst>
          </p:cNvPr>
          <p:cNvSpPr/>
          <p:nvPr/>
        </p:nvSpPr>
        <p:spPr>
          <a:xfrm>
            <a:off x="10110712" y="3324551"/>
            <a:ext cx="157382" cy="152493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6" name="!!P4">
            <a:extLst>
              <a:ext uri="{FF2B5EF4-FFF2-40B4-BE49-F238E27FC236}">
                <a16:creationId xmlns:a16="http://schemas.microsoft.com/office/drawing/2014/main" id="{DDD41C0F-F547-98EE-429A-E5A0F2F32A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629" t="16666" r="2359" b="28889"/>
          <a:stretch>
            <a:fillRect/>
          </a:stretch>
        </p:blipFill>
        <p:spPr>
          <a:xfrm>
            <a:off x="8607310" y="2613569"/>
            <a:ext cx="1679689" cy="11967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5" name="Picture 44" hidden="1">
            <a:extLst>
              <a:ext uri="{FF2B5EF4-FFF2-40B4-BE49-F238E27FC236}">
                <a16:creationId xmlns:a16="http://schemas.microsoft.com/office/drawing/2014/main" id="{C278681B-F775-4EC6-5965-0104E10C3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7849" y="3974438"/>
            <a:ext cx="240587" cy="292064"/>
          </a:xfrm>
          <a:prstGeom prst="rect">
            <a:avLst/>
          </a:prstGeom>
        </p:spPr>
      </p:pic>
      <p:pic>
        <p:nvPicPr>
          <p:cNvPr id="29" name="!!P2">
            <a:extLst>
              <a:ext uri="{FF2B5EF4-FFF2-40B4-BE49-F238E27FC236}">
                <a16:creationId xmlns:a16="http://schemas.microsoft.com/office/drawing/2014/main" id="{89DFECE5-4FD9-4A4C-28DE-7F55F06FB7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838" t="70103" r="2000"/>
          <a:stretch>
            <a:fillRect/>
          </a:stretch>
        </p:blipFill>
        <p:spPr>
          <a:xfrm>
            <a:off x="8622481" y="3780597"/>
            <a:ext cx="1740719" cy="7213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0" name="!!Picture 29">
            <a:extLst>
              <a:ext uri="{FF2B5EF4-FFF2-40B4-BE49-F238E27FC236}">
                <a16:creationId xmlns:a16="http://schemas.microsoft.com/office/drawing/2014/main" id="{2CD600B1-7234-474F-6E1E-A475F9CF30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1376" y="5082605"/>
            <a:ext cx="802425" cy="24518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Focus" hidden="1">
            <a:extLst>
              <a:ext uri="{FF2B5EF4-FFF2-40B4-BE49-F238E27FC236}">
                <a16:creationId xmlns:a16="http://schemas.microsoft.com/office/drawing/2014/main" id="{5EC049BC-73BE-1EE0-2BC5-F767001A7066}"/>
              </a:ext>
            </a:extLst>
          </p:cNvPr>
          <p:cNvSpPr/>
          <p:nvPr/>
        </p:nvSpPr>
        <p:spPr>
          <a:xfrm rot="5400000">
            <a:off x="-1103430" y="1722768"/>
            <a:ext cx="626134" cy="1295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&quot;Not Allowed&quot; Symbol 20">
            <a:extLst>
              <a:ext uri="{FF2B5EF4-FFF2-40B4-BE49-F238E27FC236}">
                <a16:creationId xmlns:a16="http://schemas.microsoft.com/office/drawing/2014/main" id="{CCA04895-597F-A54E-F639-D3AF03848E32}"/>
              </a:ext>
            </a:extLst>
          </p:cNvPr>
          <p:cNvSpPr/>
          <p:nvPr/>
        </p:nvSpPr>
        <p:spPr>
          <a:xfrm>
            <a:off x="7714712" y="3156964"/>
            <a:ext cx="346364" cy="244096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4" name="!!P5">
            <a:extLst>
              <a:ext uri="{FF2B5EF4-FFF2-40B4-BE49-F238E27FC236}">
                <a16:creationId xmlns:a16="http://schemas.microsoft.com/office/drawing/2014/main" id="{5816ED65-B625-D412-8079-817269EEF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7053" y="3401060"/>
            <a:ext cx="226688" cy="32782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C1AC766-8B30-748D-F034-D744C3710B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4027" y="-4267200"/>
            <a:ext cx="8229600" cy="350204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2594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6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6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0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6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75CE-0381-A2E6-8637-4AE8A1FF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944522C-50CF-5F05-BC01-BD154B258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027" y="652768"/>
            <a:ext cx="8229600" cy="350204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CA8441F5-6AFA-C45C-7F4F-78AF5E03F301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41386530-B71C-FD78-472B-CB83445DEC68}"/>
              </a:ext>
            </a:extLst>
          </p:cNvPr>
          <p:cNvSpPr>
            <a:spLocks/>
          </p:cNvSpPr>
          <p:nvPr/>
        </p:nvSpPr>
        <p:spPr>
          <a:xfrm>
            <a:off x="14094325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"Choke Point" Control: Synapse directly on Axon Initial Segment (AIS), granting them ultimate veto power to stop a signal.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613BBD56-945B-4D55-4E3D-4AA1C2CE8F6F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637D4BF9-FD26-6688-F92E-211A88B085CE}"/>
              </a:ext>
            </a:extLst>
          </p:cNvPr>
          <p:cNvSpPr>
            <a:spLocks/>
          </p:cNvSpPr>
          <p:nvPr/>
        </p:nvSpPr>
        <p:spPr>
          <a:xfrm>
            <a:off x="14113106" y="41148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979E6F-96E2-4751-2074-252CCFE1C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867399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21C3F8-2A6D-1BB6-D0FB-B49162874057}"/>
              </a:ext>
            </a:extLst>
          </p:cNvPr>
          <p:cNvSpPr txBox="1"/>
          <p:nvPr/>
        </p:nvSpPr>
        <p:spPr>
          <a:xfrm>
            <a:off x="-58674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7EE91-F696-94AF-2EA2-8B68B81C3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8363" y="2133600"/>
            <a:ext cx="3600868" cy="240385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CD1020-6E22-C5D8-B4C2-E339EEDBD3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58363" y="4788983"/>
            <a:ext cx="3610437" cy="194969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3" name="!!M3">
            <a:extLst>
              <a:ext uri="{FF2B5EF4-FFF2-40B4-BE49-F238E27FC236}">
                <a16:creationId xmlns:a16="http://schemas.microsoft.com/office/drawing/2014/main" id="{1B98A7E4-75C4-4209-3B9A-6B5FE5FB6F97}"/>
              </a:ext>
            </a:extLst>
          </p:cNvPr>
          <p:cNvSpPr/>
          <p:nvPr/>
        </p:nvSpPr>
        <p:spPr>
          <a:xfrm>
            <a:off x="1295400" y="7391400"/>
            <a:ext cx="9982199" cy="9144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400" b="1" dirty="0"/>
              <a:t>Two distinct inhibitory cell types act as opposing “Gatekeepers"</a:t>
            </a:r>
          </a:p>
        </p:txBody>
      </p:sp>
      <p:sp>
        <p:nvSpPr>
          <p:cNvPr id="24" name="!!Focus">
            <a:extLst>
              <a:ext uri="{FF2B5EF4-FFF2-40B4-BE49-F238E27FC236}">
                <a16:creationId xmlns:a16="http://schemas.microsoft.com/office/drawing/2014/main" id="{B9046F57-0408-995F-49E7-6F333E695FDD}"/>
              </a:ext>
            </a:extLst>
          </p:cNvPr>
          <p:cNvSpPr/>
          <p:nvPr/>
        </p:nvSpPr>
        <p:spPr>
          <a:xfrm rot="5400000">
            <a:off x="-3054104" y="2673105"/>
            <a:ext cx="3060209" cy="4572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16510D7B-269A-D21E-574B-9C84EF46D811}"/>
              </a:ext>
            </a:extLst>
          </p:cNvPr>
          <p:cNvSpPr/>
          <p:nvPr/>
        </p:nvSpPr>
        <p:spPr>
          <a:xfrm>
            <a:off x="1600200" y="4648199"/>
            <a:ext cx="9296400" cy="202932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1">
            <a:extLst>
              <a:ext uri="{FF2B5EF4-FFF2-40B4-BE49-F238E27FC236}">
                <a16:creationId xmlns:a16="http://schemas.microsoft.com/office/drawing/2014/main" id="{6A1B6D96-8DD0-71C2-CA57-052C15E025FB}"/>
              </a:ext>
            </a:extLst>
          </p:cNvPr>
          <p:cNvSpPr txBox="1">
            <a:spLocks/>
          </p:cNvSpPr>
          <p:nvPr/>
        </p:nvSpPr>
        <p:spPr>
          <a:xfrm>
            <a:off x="1902054" y="4427704"/>
            <a:ext cx="8613546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Linking TORO Cells With SPW-R (And Not DS2)</a:t>
            </a: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F0B058D3-BC3A-4682-3DBE-296A5B27DF8B}"/>
              </a:ext>
            </a:extLst>
          </p:cNvPr>
          <p:cNvSpPr>
            <a:spLocks/>
          </p:cNvSpPr>
          <p:nvPr/>
        </p:nvSpPr>
        <p:spPr>
          <a:xfrm>
            <a:off x="13458363" y="1317957"/>
            <a:ext cx="6878097" cy="40160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Extended Data Fig. 6f (TORO Cell Identification):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TORO cells identified; favor ripples over locomotion</a:t>
            </a:r>
          </a:p>
        </p:txBody>
      </p:sp>
    </p:spTree>
    <p:extLst>
      <p:ext uri="{BB962C8B-B14F-4D97-AF65-F5344CB8AC3E}">
        <p14:creationId xmlns:p14="http://schemas.microsoft.com/office/powerpoint/2010/main" val="1779677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B0C83-E8EF-DBC9-0DB2-06E106F23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43A8274-3609-14C3-2579-B7C4F9D0C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066800"/>
            <a:ext cx="9906000" cy="4215421"/>
          </a:xfrm>
          <a:prstGeom prst="rect">
            <a:avLst/>
          </a:prstGeom>
          <a:ln w="38100">
            <a:noFill/>
          </a:ln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E2AB26-704C-2745-4AF1-25D66925D7AD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1066800 w 14554200"/>
              <a:gd name="csY0" fmla="*/ 381001 h 6172201"/>
              <a:gd name="csX1" fmla="*/ 1066800 w 14554200"/>
              <a:gd name="csY1" fmla="*/ 4648201 h 6172201"/>
              <a:gd name="csX2" fmla="*/ 5867401 w 14554200"/>
              <a:gd name="csY2" fmla="*/ 4648201 h 6172201"/>
              <a:gd name="csX3" fmla="*/ 5867401 w 14554200"/>
              <a:gd name="csY3" fmla="*/ 381001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7696200 w 14554200"/>
              <a:gd name="csY6" fmla="*/ 0 h 6172201"/>
              <a:gd name="csX7" fmla="*/ 14554200 w 14554200"/>
              <a:gd name="csY7" fmla="*/ 0 h 6172201"/>
              <a:gd name="csX8" fmla="*/ 14554200 w 14554200"/>
              <a:gd name="csY8" fmla="*/ 6172199 h 6172201"/>
              <a:gd name="csX9" fmla="*/ 13508447 w 14554200"/>
              <a:gd name="csY9" fmla="*/ 6172199 h 6172201"/>
              <a:gd name="csX10" fmla="*/ 13508447 w 14554200"/>
              <a:gd name="csY10" fmla="*/ 6172201 h 6172201"/>
              <a:gd name="csX11" fmla="*/ 7924800 w 14554200"/>
              <a:gd name="csY11" fmla="*/ 6172201 h 6172201"/>
              <a:gd name="csX12" fmla="*/ 7924800 w 14554200"/>
              <a:gd name="csY12" fmla="*/ 6172200 h 6172201"/>
              <a:gd name="csX13" fmla="*/ 762000 w 14554200"/>
              <a:gd name="csY13" fmla="*/ 6172200 h 6172201"/>
              <a:gd name="csX14" fmla="*/ 762000 w 14554200"/>
              <a:gd name="csY14" fmla="*/ 6172199 h 6172201"/>
              <a:gd name="csX15" fmla="*/ 0 w 14554200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4200" h="6172201">
                <a:moveTo>
                  <a:pt x="1066800" y="381001"/>
                </a:moveTo>
                <a:lnTo>
                  <a:pt x="1066800" y="4648201"/>
                </a:lnTo>
                <a:lnTo>
                  <a:pt x="5867401" y="4648201"/>
                </a:lnTo>
                <a:lnTo>
                  <a:pt x="5867401" y="3810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8E0AFEBD-74FC-656D-9DE0-70B2933F54E7}"/>
              </a:ext>
            </a:extLst>
          </p:cNvPr>
          <p:cNvSpPr>
            <a:spLocks/>
          </p:cNvSpPr>
          <p:nvPr/>
        </p:nvSpPr>
        <p:spPr>
          <a:xfrm>
            <a:off x="5257800" y="1317957"/>
            <a:ext cx="6878097" cy="40160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Extended Data Fig. 6f (TORO Cell Identification):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TORO cells identified; favor ripples over locomotion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0636055B-05D6-7AC6-E97E-227A33B2AEE7}"/>
              </a:ext>
            </a:extLst>
          </p:cNvPr>
          <p:cNvSpPr>
            <a:spLocks/>
          </p:cNvSpPr>
          <p:nvPr/>
        </p:nvSpPr>
        <p:spPr>
          <a:xfrm>
            <a:off x="14094325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/>
              <a:t>Extended Data Extended Data Fig. 6b (Real-Time Switching):</a:t>
            </a:r>
            <a:r>
              <a:rPr lang="en-US" sz="3200" dirty="0"/>
              <a:t> Raw data traces reveal a binary operating mode where AACs fire rapidly during arousal (facial movement) but remain strictly silent during "offline" Sharp-Wave Ripples .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74E647DE-5A27-0D2D-18BF-614D0C8C5C9F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868060BC-9641-136C-EA0C-EA4B157C87C0}"/>
              </a:ext>
            </a:extLst>
          </p:cNvPr>
          <p:cNvSpPr>
            <a:spLocks/>
          </p:cNvSpPr>
          <p:nvPr/>
        </p:nvSpPr>
        <p:spPr>
          <a:xfrm>
            <a:off x="13868400" y="45720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0467B99C-584F-9BE6-1163-1345382D326D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271AA6AB-D92E-B6F3-3A24-40F5C8D58E1E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TORO Cells With SPW-R </a:t>
            </a:r>
          </a:p>
        </p:txBody>
      </p:sp>
      <p:sp>
        <p:nvSpPr>
          <p:cNvPr id="12" name="!!Focus">
            <a:extLst>
              <a:ext uri="{FF2B5EF4-FFF2-40B4-BE49-F238E27FC236}">
                <a16:creationId xmlns:a16="http://schemas.microsoft.com/office/drawing/2014/main" id="{32A1139A-8150-5BAB-5EB5-3F190EA063AA}"/>
              </a:ext>
            </a:extLst>
          </p:cNvPr>
          <p:cNvSpPr/>
          <p:nvPr/>
        </p:nvSpPr>
        <p:spPr>
          <a:xfrm rot="5400000">
            <a:off x="-539505" y="2673105"/>
            <a:ext cx="3060209" cy="4572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587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67394-B3C3-25E1-D583-A08B9712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5D20FF-2B8B-E269-D000-67C48814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066800"/>
            <a:ext cx="9906000" cy="4215421"/>
          </a:xfrm>
          <a:prstGeom prst="rect">
            <a:avLst/>
          </a:prstGeom>
          <a:ln w="38100"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3F6AF5E-84F3-6434-0BF5-C419535D7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697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03231B-300B-6C45-CDF3-4633B69E8934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1066800 w 14554200"/>
              <a:gd name="csY0" fmla="*/ 381001 h 6172201"/>
              <a:gd name="csX1" fmla="*/ 1066800 w 14554200"/>
              <a:gd name="csY1" fmla="*/ 4648201 h 6172201"/>
              <a:gd name="csX2" fmla="*/ 5867401 w 14554200"/>
              <a:gd name="csY2" fmla="*/ 4648201 h 6172201"/>
              <a:gd name="csX3" fmla="*/ 5867401 w 14554200"/>
              <a:gd name="csY3" fmla="*/ 381001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7696200 w 14554200"/>
              <a:gd name="csY6" fmla="*/ 0 h 6172201"/>
              <a:gd name="csX7" fmla="*/ 14554200 w 14554200"/>
              <a:gd name="csY7" fmla="*/ 0 h 6172201"/>
              <a:gd name="csX8" fmla="*/ 14554200 w 14554200"/>
              <a:gd name="csY8" fmla="*/ 6172199 h 6172201"/>
              <a:gd name="csX9" fmla="*/ 13508447 w 14554200"/>
              <a:gd name="csY9" fmla="*/ 6172199 h 6172201"/>
              <a:gd name="csX10" fmla="*/ 13508447 w 14554200"/>
              <a:gd name="csY10" fmla="*/ 6172201 h 6172201"/>
              <a:gd name="csX11" fmla="*/ 7924800 w 14554200"/>
              <a:gd name="csY11" fmla="*/ 6172201 h 6172201"/>
              <a:gd name="csX12" fmla="*/ 7924800 w 14554200"/>
              <a:gd name="csY12" fmla="*/ 6172200 h 6172201"/>
              <a:gd name="csX13" fmla="*/ 762000 w 14554200"/>
              <a:gd name="csY13" fmla="*/ 6172200 h 6172201"/>
              <a:gd name="csX14" fmla="*/ 762000 w 14554200"/>
              <a:gd name="csY14" fmla="*/ 6172199 h 6172201"/>
              <a:gd name="csX15" fmla="*/ 0 w 14554200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4200" h="6172201">
                <a:moveTo>
                  <a:pt x="1066800" y="381001"/>
                </a:moveTo>
                <a:lnTo>
                  <a:pt x="1066800" y="4648201"/>
                </a:lnTo>
                <a:lnTo>
                  <a:pt x="5867401" y="4648201"/>
                </a:lnTo>
                <a:lnTo>
                  <a:pt x="5867401" y="3810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D88B58-E692-CC79-3A8B-B22336345693}"/>
              </a:ext>
            </a:extLst>
          </p:cNvPr>
          <p:cNvSpPr txBox="1"/>
          <p:nvPr/>
        </p:nvSpPr>
        <p:spPr>
          <a:xfrm>
            <a:off x="7467600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8DF568D3-F359-41E6-BB2F-9800135DBE1C}"/>
              </a:ext>
            </a:extLst>
          </p:cNvPr>
          <p:cNvSpPr>
            <a:spLocks/>
          </p:cNvSpPr>
          <p:nvPr/>
        </p:nvSpPr>
        <p:spPr>
          <a:xfrm>
            <a:off x="5257800" y="1317957"/>
            <a:ext cx="6878097" cy="40160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Extended Data Fig. 6f (TORO Cell Identification):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TORO cells identified; favor ripples over locomotion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125E5D8F-38E7-1B4D-C4A0-9CCF66058B4C}"/>
              </a:ext>
            </a:extLst>
          </p:cNvPr>
          <p:cNvSpPr>
            <a:spLocks/>
          </p:cNvSpPr>
          <p:nvPr/>
        </p:nvSpPr>
        <p:spPr>
          <a:xfrm>
            <a:off x="14094325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/>
              <a:t>Extended Data Extended Data Fig. 6b (Real-Time Switching):</a:t>
            </a:r>
            <a:r>
              <a:rPr lang="en-US" sz="3200" dirty="0"/>
              <a:t> Raw data traces reveal a binary operating mode where AACs fire rapidly during arousal (facial movement) but remain strictly silent during "offline" Sharp-Wave Ripples .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FB31DDEC-00EF-8169-2B8F-209F128DD9E9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D1DE9E12-9604-61AD-1F62-AB87D74C9EC9}"/>
              </a:ext>
            </a:extLst>
          </p:cNvPr>
          <p:cNvSpPr>
            <a:spLocks/>
          </p:cNvSpPr>
          <p:nvPr/>
        </p:nvSpPr>
        <p:spPr>
          <a:xfrm>
            <a:off x="13868400" y="45720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B6CE64D6-93AC-FB12-E123-A5B01AC43B81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F5FA03E1-CF14-0270-3BBB-BB92FB4E91C9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TORO Cells With SPW-R </a:t>
            </a:r>
          </a:p>
        </p:txBody>
      </p:sp>
      <p:sp>
        <p:nvSpPr>
          <p:cNvPr id="12" name="!!Focus">
            <a:extLst>
              <a:ext uri="{FF2B5EF4-FFF2-40B4-BE49-F238E27FC236}">
                <a16:creationId xmlns:a16="http://schemas.microsoft.com/office/drawing/2014/main" id="{B536BA6A-F3F6-D234-EA4B-870418F575AB}"/>
              </a:ext>
            </a:extLst>
          </p:cNvPr>
          <p:cNvSpPr/>
          <p:nvPr/>
        </p:nvSpPr>
        <p:spPr>
          <a:xfrm rot="10800000">
            <a:off x="1172818" y="4724400"/>
            <a:ext cx="3856381" cy="4572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525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6DCD3-01C5-038D-CC54-D49993570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CE05C9-E4F2-B212-4584-DC5300F8C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066800"/>
            <a:ext cx="9906000" cy="4215421"/>
          </a:xfrm>
          <a:prstGeom prst="rect">
            <a:avLst/>
          </a:prstGeom>
          <a:ln w="38100"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9FA48F7-EB18-D52C-5389-A76B2B999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697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3C46FB8-CF42-651C-39FC-454298778232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1066800 w 14554200"/>
              <a:gd name="csY0" fmla="*/ 381001 h 6172201"/>
              <a:gd name="csX1" fmla="*/ 1066800 w 14554200"/>
              <a:gd name="csY1" fmla="*/ 4648201 h 6172201"/>
              <a:gd name="csX2" fmla="*/ 5867401 w 14554200"/>
              <a:gd name="csY2" fmla="*/ 4648201 h 6172201"/>
              <a:gd name="csX3" fmla="*/ 5867401 w 14554200"/>
              <a:gd name="csY3" fmla="*/ 381001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7696200 w 14554200"/>
              <a:gd name="csY6" fmla="*/ 0 h 6172201"/>
              <a:gd name="csX7" fmla="*/ 14554200 w 14554200"/>
              <a:gd name="csY7" fmla="*/ 0 h 6172201"/>
              <a:gd name="csX8" fmla="*/ 14554200 w 14554200"/>
              <a:gd name="csY8" fmla="*/ 6172199 h 6172201"/>
              <a:gd name="csX9" fmla="*/ 13508447 w 14554200"/>
              <a:gd name="csY9" fmla="*/ 6172199 h 6172201"/>
              <a:gd name="csX10" fmla="*/ 13508447 w 14554200"/>
              <a:gd name="csY10" fmla="*/ 6172201 h 6172201"/>
              <a:gd name="csX11" fmla="*/ 7924800 w 14554200"/>
              <a:gd name="csY11" fmla="*/ 6172201 h 6172201"/>
              <a:gd name="csX12" fmla="*/ 7924800 w 14554200"/>
              <a:gd name="csY12" fmla="*/ 6172200 h 6172201"/>
              <a:gd name="csX13" fmla="*/ 762000 w 14554200"/>
              <a:gd name="csY13" fmla="*/ 6172200 h 6172201"/>
              <a:gd name="csX14" fmla="*/ 762000 w 14554200"/>
              <a:gd name="csY14" fmla="*/ 6172199 h 6172201"/>
              <a:gd name="csX15" fmla="*/ 0 w 14554200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4200" h="6172201">
                <a:moveTo>
                  <a:pt x="1066800" y="381001"/>
                </a:moveTo>
                <a:lnTo>
                  <a:pt x="1066800" y="4648201"/>
                </a:lnTo>
                <a:lnTo>
                  <a:pt x="5867401" y="4648201"/>
                </a:lnTo>
                <a:lnTo>
                  <a:pt x="5867401" y="3810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B50E48-ABBA-EC43-1D30-CBC9EC70D1B3}"/>
              </a:ext>
            </a:extLst>
          </p:cNvPr>
          <p:cNvSpPr txBox="1"/>
          <p:nvPr/>
        </p:nvSpPr>
        <p:spPr>
          <a:xfrm>
            <a:off x="7467600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0123FA1F-F3A2-AE4C-B41C-65A48A25927C}"/>
              </a:ext>
            </a:extLst>
          </p:cNvPr>
          <p:cNvSpPr>
            <a:spLocks/>
          </p:cNvSpPr>
          <p:nvPr/>
        </p:nvSpPr>
        <p:spPr>
          <a:xfrm>
            <a:off x="5257800" y="1317957"/>
            <a:ext cx="6878097" cy="40160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Extended Data Fig. 6f (TORO Cell Identification):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TORO cells identified; favor ripples over locomotion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8180E0EC-2519-8C49-9358-841E505C59E1}"/>
              </a:ext>
            </a:extLst>
          </p:cNvPr>
          <p:cNvSpPr>
            <a:spLocks/>
          </p:cNvSpPr>
          <p:nvPr/>
        </p:nvSpPr>
        <p:spPr>
          <a:xfrm>
            <a:off x="14094325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/>
              <a:t>Extended Data Extended Data Fig. 6b (Real-Time Switching):</a:t>
            </a:r>
            <a:r>
              <a:rPr lang="en-US" sz="3200" dirty="0"/>
              <a:t> Raw data traces reveal a binary operating mode where AACs fire rapidly during arousal (facial movement) but remain strictly silent during "offline" Sharp-Wave Ripples .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97B036F5-5A4C-7162-B8EB-1F7C11D5B482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255DB61E-861B-4918-5BA5-29CBB69FF8A7}"/>
              </a:ext>
            </a:extLst>
          </p:cNvPr>
          <p:cNvSpPr>
            <a:spLocks/>
          </p:cNvSpPr>
          <p:nvPr/>
        </p:nvSpPr>
        <p:spPr>
          <a:xfrm>
            <a:off x="13868400" y="45720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E3C02B11-3202-745B-DF1B-66C26908B8A5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93D1EDA6-B94F-8A32-09A9-75C62B344519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TORO Cells With SPW-R </a:t>
            </a:r>
          </a:p>
        </p:txBody>
      </p:sp>
      <p:sp>
        <p:nvSpPr>
          <p:cNvPr id="12" name="!!Focus">
            <a:extLst>
              <a:ext uri="{FF2B5EF4-FFF2-40B4-BE49-F238E27FC236}">
                <a16:creationId xmlns:a16="http://schemas.microsoft.com/office/drawing/2014/main" id="{A4BBCA65-4310-4847-49FC-3C9DAE0CF5D7}"/>
              </a:ext>
            </a:extLst>
          </p:cNvPr>
          <p:cNvSpPr/>
          <p:nvPr/>
        </p:nvSpPr>
        <p:spPr>
          <a:xfrm rot="5400000">
            <a:off x="495298" y="2705101"/>
            <a:ext cx="2971803" cy="4572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!!M1">
            <a:extLst>
              <a:ext uri="{FF2B5EF4-FFF2-40B4-BE49-F238E27FC236}">
                <a16:creationId xmlns:a16="http://schemas.microsoft.com/office/drawing/2014/main" id="{F6FFCF6A-4633-A08C-94C9-436519EEB78A}"/>
              </a:ext>
            </a:extLst>
          </p:cNvPr>
          <p:cNvSpPr>
            <a:spLocks/>
          </p:cNvSpPr>
          <p:nvPr/>
        </p:nvSpPr>
        <p:spPr>
          <a:xfrm>
            <a:off x="13010103" y="1851357"/>
            <a:ext cx="6878097" cy="40160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Extended Data Fig. 6g (Opposite Tuning):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TORO cells selective for SPW-R</a:t>
            </a:r>
          </a:p>
        </p:txBody>
      </p:sp>
    </p:spTree>
    <p:extLst>
      <p:ext uri="{BB962C8B-B14F-4D97-AF65-F5344CB8AC3E}">
        <p14:creationId xmlns:p14="http://schemas.microsoft.com/office/powerpoint/2010/main" val="4175319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FD188-61AA-D88D-D58A-566A6B03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4017B6-B755-EF69-B765-E79678A7F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0" y="1066800"/>
            <a:ext cx="9906000" cy="4215421"/>
          </a:xfrm>
          <a:prstGeom prst="rect">
            <a:avLst/>
          </a:prstGeom>
          <a:ln w="38100"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E5ACEE4-FED8-D45A-8EF3-CAB65B07A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697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F52647B-AD7C-C7E8-BD86-0AD379D09B67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1066800 w 14554200"/>
              <a:gd name="csY0" fmla="*/ 381001 h 6172201"/>
              <a:gd name="csX1" fmla="*/ 1066800 w 14554200"/>
              <a:gd name="csY1" fmla="*/ 4648201 h 6172201"/>
              <a:gd name="csX2" fmla="*/ 5867401 w 14554200"/>
              <a:gd name="csY2" fmla="*/ 4648201 h 6172201"/>
              <a:gd name="csX3" fmla="*/ 5867401 w 14554200"/>
              <a:gd name="csY3" fmla="*/ 381001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7696200 w 14554200"/>
              <a:gd name="csY6" fmla="*/ 0 h 6172201"/>
              <a:gd name="csX7" fmla="*/ 14554200 w 14554200"/>
              <a:gd name="csY7" fmla="*/ 0 h 6172201"/>
              <a:gd name="csX8" fmla="*/ 14554200 w 14554200"/>
              <a:gd name="csY8" fmla="*/ 6172199 h 6172201"/>
              <a:gd name="csX9" fmla="*/ 13508447 w 14554200"/>
              <a:gd name="csY9" fmla="*/ 6172199 h 6172201"/>
              <a:gd name="csX10" fmla="*/ 13508447 w 14554200"/>
              <a:gd name="csY10" fmla="*/ 6172201 h 6172201"/>
              <a:gd name="csX11" fmla="*/ 7924800 w 14554200"/>
              <a:gd name="csY11" fmla="*/ 6172201 h 6172201"/>
              <a:gd name="csX12" fmla="*/ 7924800 w 14554200"/>
              <a:gd name="csY12" fmla="*/ 6172200 h 6172201"/>
              <a:gd name="csX13" fmla="*/ 762000 w 14554200"/>
              <a:gd name="csY13" fmla="*/ 6172200 h 6172201"/>
              <a:gd name="csX14" fmla="*/ 762000 w 14554200"/>
              <a:gd name="csY14" fmla="*/ 6172199 h 6172201"/>
              <a:gd name="csX15" fmla="*/ 0 w 14554200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4200" h="6172201">
                <a:moveTo>
                  <a:pt x="1066800" y="381001"/>
                </a:moveTo>
                <a:lnTo>
                  <a:pt x="1066800" y="4648201"/>
                </a:lnTo>
                <a:lnTo>
                  <a:pt x="5867401" y="4648201"/>
                </a:lnTo>
                <a:lnTo>
                  <a:pt x="5867401" y="3810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2AEEC1-5BAD-935F-5E52-F02190131628}"/>
              </a:ext>
            </a:extLst>
          </p:cNvPr>
          <p:cNvSpPr txBox="1"/>
          <p:nvPr/>
        </p:nvSpPr>
        <p:spPr>
          <a:xfrm>
            <a:off x="7467600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3AF506A2-23E3-1365-7F8E-F7A4AC16DD65}"/>
              </a:ext>
            </a:extLst>
          </p:cNvPr>
          <p:cNvSpPr>
            <a:spLocks/>
          </p:cNvSpPr>
          <p:nvPr/>
        </p:nvSpPr>
        <p:spPr>
          <a:xfrm>
            <a:off x="5257800" y="838200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AEF6F3F7-6FC4-4F77-7107-FB36148B18AF}"/>
              </a:ext>
            </a:extLst>
          </p:cNvPr>
          <p:cNvSpPr>
            <a:spLocks/>
          </p:cNvSpPr>
          <p:nvPr/>
        </p:nvSpPr>
        <p:spPr>
          <a:xfrm>
            <a:off x="14094325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/>
              <a:t>Extended Data Extended Data Fig. 6b (Real-Time Switching):</a:t>
            </a:r>
            <a:r>
              <a:rPr lang="en-US" sz="3200" dirty="0"/>
              <a:t> Raw data traces reveal a binary operating mode where AACs fire rapidly during arousal (facial movement) but remain strictly silent during "offline" Sharp-Wave Ripples .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F1BA258F-F04F-9E31-5A48-050107132703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C588039E-CEEA-104F-FBD5-FCC48DF2F540}"/>
              </a:ext>
            </a:extLst>
          </p:cNvPr>
          <p:cNvSpPr>
            <a:spLocks/>
          </p:cNvSpPr>
          <p:nvPr/>
        </p:nvSpPr>
        <p:spPr>
          <a:xfrm>
            <a:off x="13868400" y="45720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2692F824-42FF-268E-B842-33D259F0F5D7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01C9DACC-7BCB-7D1C-F131-7F0F17BD8C5D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TORO Cells With SPW-R </a:t>
            </a:r>
          </a:p>
        </p:txBody>
      </p:sp>
      <p:sp>
        <p:nvSpPr>
          <p:cNvPr id="12" name="!!Focus">
            <a:extLst>
              <a:ext uri="{FF2B5EF4-FFF2-40B4-BE49-F238E27FC236}">
                <a16:creationId xmlns:a16="http://schemas.microsoft.com/office/drawing/2014/main" id="{E53CD9EE-2059-229C-89EF-AC4899EDAEE0}"/>
              </a:ext>
            </a:extLst>
          </p:cNvPr>
          <p:cNvSpPr/>
          <p:nvPr/>
        </p:nvSpPr>
        <p:spPr>
          <a:xfrm rot="5400000">
            <a:off x="1440335" y="2597778"/>
            <a:ext cx="2971803" cy="4572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M1">
            <a:extLst>
              <a:ext uri="{FF2B5EF4-FFF2-40B4-BE49-F238E27FC236}">
                <a16:creationId xmlns:a16="http://schemas.microsoft.com/office/drawing/2014/main" id="{25ED4A59-768E-1C25-B6AC-3C9011DF0273}"/>
              </a:ext>
            </a:extLst>
          </p:cNvPr>
          <p:cNvSpPr>
            <a:spLocks/>
          </p:cNvSpPr>
          <p:nvPr/>
        </p:nvSpPr>
        <p:spPr>
          <a:xfrm>
            <a:off x="5257800" y="1851357"/>
            <a:ext cx="6878097" cy="40160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Extended Data Fig. 6g (Opposite Tuning):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TORO cells selective for SPW-R</a:t>
            </a:r>
          </a:p>
        </p:txBody>
      </p:sp>
    </p:spTree>
    <p:extLst>
      <p:ext uri="{BB962C8B-B14F-4D97-AF65-F5344CB8AC3E}">
        <p14:creationId xmlns:p14="http://schemas.microsoft.com/office/powerpoint/2010/main" val="2084311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6090-2424-51B5-7991-4EAECB18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40643E3-DE48-8B8A-B133-A3879A254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0" y="1066800"/>
            <a:ext cx="9906000" cy="4215421"/>
          </a:xfrm>
          <a:prstGeom prst="rect">
            <a:avLst/>
          </a:prstGeom>
          <a:ln w="38100"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C692B37-030A-F982-EDAF-C0C2D47E1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697" y="-44958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38D319E-0D82-77C5-C907-8C8F5493334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1066800 w 14554200"/>
              <a:gd name="csY0" fmla="*/ 381001 h 6172201"/>
              <a:gd name="csX1" fmla="*/ 1066800 w 14554200"/>
              <a:gd name="csY1" fmla="*/ 4648201 h 6172201"/>
              <a:gd name="csX2" fmla="*/ 5867401 w 14554200"/>
              <a:gd name="csY2" fmla="*/ 4648201 h 6172201"/>
              <a:gd name="csX3" fmla="*/ 5867401 w 14554200"/>
              <a:gd name="csY3" fmla="*/ 381001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7696200 w 14554200"/>
              <a:gd name="csY6" fmla="*/ 0 h 6172201"/>
              <a:gd name="csX7" fmla="*/ 14554200 w 14554200"/>
              <a:gd name="csY7" fmla="*/ 0 h 6172201"/>
              <a:gd name="csX8" fmla="*/ 14554200 w 14554200"/>
              <a:gd name="csY8" fmla="*/ 6172199 h 6172201"/>
              <a:gd name="csX9" fmla="*/ 13508447 w 14554200"/>
              <a:gd name="csY9" fmla="*/ 6172199 h 6172201"/>
              <a:gd name="csX10" fmla="*/ 13508447 w 14554200"/>
              <a:gd name="csY10" fmla="*/ 6172201 h 6172201"/>
              <a:gd name="csX11" fmla="*/ 7924800 w 14554200"/>
              <a:gd name="csY11" fmla="*/ 6172201 h 6172201"/>
              <a:gd name="csX12" fmla="*/ 7924800 w 14554200"/>
              <a:gd name="csY12" fmla="*/ 6172200 h 6172201"/>
              <a:gd name="csX13" fmla="*/ 762000 w 14554200"/>
              <a:gd name="csY13" fmla="*/ 6172200 h 6172201"/>
              <a:gd name="csX14" fmla="*/ 762000 w 14554200"/>
              <a:gd name="csY14" fmla="*/ 6172199 h 6172201"/>
              <a:gd name="csX15" fmla="*/ 0 w 14554200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4200" h="6172201">
                <a:moveTo>
                  <a:pt x="1066800" y="381001"/>
                </a:moveTo>
                <a:lnTo>
                  <a:pt x="1066800" y="4648201"/>
                </a:lnTo>
                <a:lnTo>
                  <a:pt x="5867401" y="4648201"/>
                </a:lnTo>
                <a:lnTo>
                  <a:pt x="5867401" y="3810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65CD81-29F1-53EE-5A93-8C9630CBB1AB}"/>
              </a:ext>
            </a:extLst>
          </p:cNvPr>
          <p:cNvSpPr txBox="1"/>
          <p:nvPr/>
        </p:nvSpPr>
        <p:spPr>
          <a:xfrm>
            <a:off x="7467600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05338335-A809-E232-1FAF-4D9991183C02}"/>
              </a:ext>
            </a:extLst>
          </p:cNvPr>
          <p:cNvSpPr>
            <a:spLocks/>
          </p:cNvSpPr>
          <p:nvPr/>
        </p:nvSpPr>
        <p:spPr>
          <a:xfrm>
            <a:off x="5257800" y="838200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49D500E9-FF4E-B8B5-7BCE-51B01574E066}"/>
              </a:ext>
            </a:extLst>
          </p:cNvPr>
          <p:cNvSpPr>
            <a:spLocks/>
          </p:cNvSpPr>
          <p:nvPr/>
        </p:nvSpPr>
        <p:spPr>
          <a:xfrm>
            <a:off x="14094325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/>
              <a:t>Extended Data Extended Data Fig. 6b (Real-Time Switching):</a:t>
            </a:r>
            <a:r>
              <a:rPr lang="en-US" sz="3200" dirty="0"/>
              <a:t> Raw data traces reveal a binary operating mode where AACs fire rapidly during arousal (facial movement) but remain strictly silent during "offline" Sharp-Wave Ripples .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60A538F9-8277-A0B3-F638-9C08CE047C23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0E48C1BA-80D7-CFCF-F066-B7D880985FAD}"/>
              </a:ext>
            </a:extLst>
          </p:cNvPr>
          <p:cNvSpPr>
            <a:spLocks/>
          </p:cNvSpPr>
          <p:nvPr/>
        </p:nvSpPr>
        <p:spPr>
          <a:xfrm>
            <a:off x="13868400" y="45720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DC43EFB0-311A-983D-065E-7EB137F41744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BB6C451D-9452-AD5E-5A85-4209C71B601A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TORO Cells With SPW-R </a:t>
            </a:r>
          </a:p>
        </p:txBody>
      </p:sp>
      <p:sp>
        <p:nvSpPr>
          <p:cNvPr id="12" name="!!Focus">
            <a:extLst>
              <a:ext uri="{FF2B5EF4-FFF2-40B4-BE49-F238E27FC236}">
                <a16:creationId xmlns:a16="http://schemas.microsoft.com/office/drawing/2014/main" id="{14F89DD1-D7AC-A26A-ED17-F538E8474829}"/>
              </a:ext>
            </a:extLst>
          </p:cNvPr>
          <p:cNvSpPr/>
          <p:nvPr/>
        </p:nvSpPr>
        <p:spPr>
          <a:xfrm rot="5400000">
            <a:off x="2683322" y="3793678"/>
            <a:ext cx="424556" cy="4572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M1">
            <a:extLst>
              <a:ext uri="{FF2B5EF4-FFF2-40B4-BE49-F238E27FC236}">
                <a16:creationId xmlns:a16="http://schemas.microsoft.com/office/drawing/2014/main" id="{35216831-33E4-6036-6F46-8BA5911EF303}"/>
              </a:ext>
            </a:extLst>
          </p:cNvPr>
          <p:cNvSpPr>
            <a:spLocks/>
          </p:cNvSpPr>
          <p:nvPr/>
        </p:nvSpPr>
        <p:spPr>
          <a:xfrm>
            <a:off x="5257800" y="1851357"/>
            <a:ext cx="6878097" cy="40160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Extended Data Fig. 6g (Opposite Tuning):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TORO cells selective for SPW-R</a:t>
            </a:r>
          </a:p>
        </p:txBody>
      </p:sp>
      <p:sp>
        <p:nvSpPr>
          <p:cNvPr id="11" name="!!M5">
            <a:extLst>
              <a:ext uri="{FF2B5EF4-FFF2-40B4-BE49-F238E27FC236}">
                <a16:creationId xmlns:a16="http://schemas.microsoft.com/office/drawing/2014/main" id="{C2CD8302-474E-86F2-B395-2B4CE9B1D5F7}"/>
              </a:ext>
            </a:extLst>
          </p:cNvPr>
          <p:cNvSpPr>
            <a:spLocks/>
          </p:cNvSpPr>
          <p:nvPr/>
        </p:nvSpPr>
        <p:spPr>
          <a:xfrm>
            <a:off x="-5791200" y="816769"/>
            <a:ext cx="4752101" cy="498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TORO cells surge during Ripples but remain silent during DS2, confirming these events engage opposing neural circuits 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783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D5D1-1254-6196-7216-2A1396BE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30B57D-35ED-73F8-5A05-FB4555F6C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231" y="2895600"/>
            <a:ext cx="6838997" cy="291028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" name="Freeform: Shape 13" hidden="1">
            <a:extLst>
              <a:ext uri="{FF2B5EF4-FFF2-40B4-BE49-F238E27FC236}">
                <a16:creationId xmlns:a16="http://schemas.microsoft.com/office/drawing/2014/main" id="{2348E73D-E4D4-C99C-A9A7-4678A5CCD839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1066800 w 14554200"/>
              <a:gd name="csY0" fmla="*/ 381001 h 6172201"/>
              <a:gd name="csX1" fmla="*/ 1066800 w 14554200"/>
              <a:gd name="csY1" fmla="*/ 4648201 h 6172201"/>
              <a:gd name="csX2" fmla="*/ 5867401 w 14554200"/>
              <a:gd name="csY2" fmla="*/ 4648201 h 6172201"/>
              <a:gd name="csX3" fmla="*/ 5867401 w 14554200"/>
              <a:gd name="csY3" fmla="*/ 381001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7696200 w 14554200"/>
              <a:gd name="csY6" fmla="*/ 0 h 6172201"/>
              <a:gd name="csX7" fmla="*/ 14554200 w 14554200"/>
              <a:gd name="csY7" fmla="*/ 0 h 6172201"/>
              <a:gd name="csX8" fmla="*/ 14554200 w 14554200"/>
              <a:gd name="csY8" fmla="*/ 6172199 h 6172201"/>
              <a:gd name="csX9" fmla="*/ 13508447 w 14554200"/>
              <a:gd name="csY9" fmla="*/ 6172199 h 6172201"/>
              <a:gd name="csX10" fmla="*/ 13508447 w 14554200"/>
              <a:gd name="csY10" fmla="*/ 6172201 h 6172201"/>
              <a:gd name="csX11" fmla="*/ 7924800 w 14554200"/>
              <a:gd name="csY11" fmla="*/ 6172201 h 6172201"/>
              <a:gd name="csX12" fmla="*/ 7924800 w 14554200"/>
              <a:gd name="csY12" fmla="*/ 6172200 h 6172201"/>
              <a:gd name="csX13" fmla="*/ 762000 w 14554200"/>
              <a:gd name="csY13" fmla="*/ 6172200 h 6172201"/>
              <a:gd name="csX14" fmla="*/ 762000 w 14554200"/>
              <a:gd name="csY14" fmla="*/ 6172199 h 6172201"/>
              <a:gd name="csX15" fmla="*/ 0 w 14554200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4200" h="6172201">
                <a:moveTo>
                  <a:pt x="1066800" y="381001"/>
                </a:moveTo>
                <a:lnTo>
                  <a:pt x="1066800" y="4648201"/>
                </a:lnTo>
                <a:lnTo>
                  <a:pt x="5867401" y="4648201"/>
                </a:lnTo>
                <a:lnTo>
                  <a:pt x="5867401" y="3810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B5978D-7708-A67C-7A7F-11FD93B8D069}"/>
              </a:ext>
            </a:extLst>
          </p:cNvPr>
          <p:cNvSpPr txBox="1"/>
          <p:nvPr/>
        </p:nvSpPr>
        <p:spPr>
          <a:xfrm>
            <a:off x="7467600" y="-5186636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A886A16A-54CA-B185-7B9A-5FD08682013A}"/>
              </a:ext>
            </a:extLst>
          </p:cNvPr>
          <p:cNvSpPr>
            <a:spLocks/>
          </p:cNvSpPr>
          <p:nvPr/>
        </p:nvSpPr>
        <p:spPr>
          <a:xfrm>
            <a:off x="5257800" y="838200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EB893AEF-2C24-E4D3-5901-2691F96E9EA9}"/>
              </a:ext>
            </a:extLst>
          </p:cNvPr>
          <p:cNvSpPr>
            <a:spLocks/>
          </p:cNvSpPr>
          <p:nvPr/>
        </p:nvSpPr>
        <p:spPr>
          <a:xfrm>
            <a:off x="14094325" y="1981200"/>
            <a:ext cx="5317894" cy="84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/>
              <a:t>Extended Data Extended Data Fig. 6b (Real-Time Switching):</a:t>
            </a:r>
            <a:r>
              <a:rPr lang="en-US" sz="3200" dirty="0"/>
              <a:t> Raw data traces reveal a binary operating mode where AACs fire rapidly during arousal (facial movement) but remain strictly silent during "offline" Sharp-Wave Ripples .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0775EDEF-39BB-D487-DEAD-14EE9EE7A9E7}"/>
              </a:ext>
            </a:extLst>
          </p:cNvPr>
          <p:cNvSpPr>
            <a:spLocks/>
          </p:cNvSpPr>
          <p:nvPr/>
        </p:nvSpPr>
        <p:spPr>
          <a:xfrm>
            <a:off x="14094325" y="3046476"/>
            <a:ext cx="5317894" cy="8412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The Main Output: CA1 Pyramidal neurons broadcast all navigation and memory signals. (A.K.A: Place Cells)</a:t>
            </a: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79A6811D-0822-E8C9-A159-CEFA8D4BFE90}"/>
              </a:ext>
            </a:extLst>
          </p:cNvPr>
          <p:cNvSpPr>
            <a:spLocks/>
          </p:cNvSpPr>
          <p:nvPr/>
        </p:nvSpPr>
        <p:spPr>
          <a:xfrm>
            <a:off x="13868400" y="4572000"/>
            <a:ext cx="5317894" cy="1905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AACs hold the "mute button" that decides when the brain can update its map or store a memory.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0CCD18BF-0DBD-808D-D71D-3DA32FC58C52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">
            <a:extLst>
              <a:ext uri="{FF2B5EF4-FFF2-40B4-BE49-F238E27FC236}">
                <a16:creationId xmlns:a16="http://schemas.microsoft.com/office/drawing/2014/main" id="{8997C063-7CA3-837B-FDD9-245F54E2EA8B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Linking TORO Cells With SPW-R </a:t>
            </a:r>
          </a:p>
        </p:txBody>
      </p:sp>
      <p:sp>
        <p:nvSpPr>
          <p:cNvPr id="9" name="!!M1">
            <a:extLst>
              <a:ext uri="{FF2B5EF4-FFF2-40B4-BE49-F238E27FC236}">
                <a16:creationId xmlns:a16="http://schemas.microsoft.com/office/drawing/2014/main" id="{AB8242CD-37D2-F153-6DD4-937E0D13A467}"/>
              </a:ext>
            </a:extLst>
          </p:cNvPr>
          <p:cNvSpPr>
            <a:spLocks/>
          </p:cNvSpPr>
          <p:nvPr/>
        </p:nvSpPr>
        <p:spPr>
          <a:xfrm>
            <a:off x="5257800" y="1851357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F0869137-151D-B9B7-E6D3-3B6F8C94BB93}"/>
              </a:ext>
            </a:extLst>
          </p:cNvPr>
          <p:cNvSpPr>
            <a:spLocks/>
          </p:cNvSpPr>
          <p:nvPr/>
        </p:nvSpPr>
        <p:spPr>
          <a:xfrm>
            <a:off x="228600" y="816769"/>
            <a:ext cx="4752101" cy="498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TORO cells surge during Ripples but remain silent during DS2, confirming these events engage opposing neural circuits 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1" name="!!M3_">
            <a:extLst>
              <a:ext uri="{FF2B5EF4-FFF2-40B4-BE49-F238E27FC236}">
                <a16:creationId xmlns:a16="http://schemas.microsoft.com/office/drawing/2014/main" id="{4FAD9342-234D-ADEB-951C-D96D733747E7}"/>
              </a:ext>
            </a:extLst>
          </p:cNvPr>
          <p:cNvSpPr/>
          <p:nvPr/>
        </p:nvSpPr>
        <p:spPr>
          <a:xfrm>
            <a:off x="1295400" y="7772399"/>
            <a:ext cx="9982199" cy="1219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b="1" dirty="0"/>
              <a:t>The Question: </a:t>
            </a:r>
            <a:r>
              <a:rPr lang="en-US" sz="2800" dirty="0"/>
              <a:t>How does the hippocampus toggle between “Offline" (SPW-R) and “Online" (DS2)?</a:t>
            </a:r>
          </a:p>
        </p:txBody>
      </p:sp>
      <p:sp>
        <p:nvSpPr>
          <p:cNvPr id="13" name="!!Focus">
            <a:extLst>
              <a:ext uri="{FF2B5EF4-FFF2-40B4-BE49-F238E27FC236}">
                <a16:creationId xmlns:a16="http://schemas.microsoft.com/office/drawing/2014/main" id="{B1C80FB2-E684-49BB-9BF2-E325DCDC9678}"/>
              </a:ext>
            </a:extLst>
          </p:cNvPr>
          <p:cNvSpPr/>
          <p:nvPr/>
        </p:nvSpPr>
        <p:spPr>
          <a:xfrm rot="5400000">
            <a:off x="12513122" y="3793678"/>
            <a:ext cx="424556" cy="4572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224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7071-A144-8E39-6CD8-FCE2C8C1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843A9541-D717-8CAE-CD7D-6DF0F6B05BCA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03DED62B-F678-40E8-4278-2642509BBC21}"/>
              </a:ext>
            </a:extLst>
          </p:cNvPr>
          <p:cNvSpPr>
            <a:spLocks/>
          </p:cNvSpPr>
          <p:nvPr/>
        </p:nvSpPr>
        <p:spPr>
          <a:xfrm>
            <a:off x="13971668" y="3921594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9E30EFC0-C2FE-F670-ACA7-359B6FD08F9D}"/>
              </a:ext>
            </a:extLst>
          </p:cNvPr>
          <p:cNvSpPr>
            <a:spLocks/>
          </p:cNvSpPr>
          <p:nvPr/>
        </p:nvSpPr>
        <p:spPr>
          <a:xfrm>
            <a:off x="13329111" y="1066800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D32F91-0E3C-6601-9F56-684C9B77B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1668" y="1752600"/>
            <a:ext cx="5502574" cy="1909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7">
            <a:extLst>
              <a:ext uri="{FF2B5EF4-FFF2-40B4-BE49-F238E27FC236}">
                <a16:creationId xmlns:a16="http://schemas.microsoft.com/office/drawing/2014/main" id="{E748A8F5-AE99-47DA-F514-43020D73FD6C}"/>
              </a:ext>
            </a:extLst>
          </p:cNvPr>
          <p:cNvSpPr>
            <a:spLocks/>
          </p:cNvSpPr>
          <p:nvPr/>
        </p:nvSpPr>
        <p:spPr>
          <a:xfrm>
            <a:off x="13323222" y="812260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4" name="!!T-BG">
            <a:extLst>
              <a:ext uri="{FF2B5EF4-FFF2-40B4-BE49-F238E27FC236}">
                <a16:creationId xmlns:a16="http://schemas.microsoft.com/office/drawing/2014/main" id="{3B9B0594-695E-DD23-01B3-AA3451759930}"/>
              </a:ext>
            </a:extLst>
          </p:cNvPr>
          <p:cNvSpPr/>
          <p:nvPr/>
        </p:nvSpPr>
        <p:spPr>
          <a:xfrm>
            <a:off x="2941178" y="6096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8E5B485F-6D05-EB5C-4BE5-180AAE379B33}"/>
              </a:ext>
            </a:extLst>
          </p:cNvPr>
          <p:cNvSpPr txBox="1">
            <a:spLocks/>
          </p:cNvSpPr>
          <p:nvPr/>
        </p:nvSpPr>
        <p:spPr>
          <a:xfrm>
            <a:off x="3067050" y="82619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Circuit Mechanisms (The Gatekeepers)</a:t>
            </a:r>
          </a:p>
        </p:txBody>
      </p:sp>
      <p:sp>
        <p:nvSpPr>
          <p:cNvPr id="20" name="!!M3_">
            <a:extLst>
              <a:ext uri="{FF2B5EF4-FFF2-40B4-BE49-F238E27FC236}">
                <a16:creationId xmlns:a16="http://schemas.microsoft.com/office/drawing/2014/main" id="{81188E56-9465-78CE-2180-1736BBF6B214}"/>
              </a:ext>
            </a:extLst>
          </p:cNvPr>
          <p:cNvSpPr/>
          <p:nvPr/>
        </p:nvSpPr>
        <p:spPr>
          <a:xfrm>
            <a:off x="1295400" y="3505199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b="1" dirty="0"/>
              <a:t>The Question: </a:t>
            </a:r>
            <a:r>
              <a:rPr lang="en-US" sz="2800" dirty="0"/>
              <a:t>How does the hippocampus toggle between "Offline" (SPW-R) and "Online" (via DS2)?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619B60-78EC-5F7D-1618-B8662AA19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9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F9F3550-3DFB-32DC-5277-367B55E45DEF}"/>
              </a:ext>
            </a:extLst>
          </p:cNvPr>
          <p:cNvSpPr txBox="1"/>
          <p:nvPr/>
        </p:nvSpPr>
        <p:spPr>
          <a:xfrm>
            <a:off x="129159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B0B38E6-8DD1-B0C6-7F5A-3042EBA54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1534" y="2895600"/>
            <a:ext cx="6838997" cy="291028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!!M1">
            <a:extLst>
              <a:ext uri="{FF2B5EF4-FFF2-40B4-BE49-F238E27FC236}">
                <a16:creationId xmlns:a16="http://schemas.microsoft.com/office/drawing/2014/main" id="{57444166-9489-95F6-8A71-EABCB73CB6D8}"/>
              </a:ext>
            </a:extLst>
          </p:cNvPr>
          <p:cNvSpPr>
            <a:spLocks/>
          </p:cNvSpPr>
          <p:nvPr/>
        </p:nvSpPr>
        <p:spPr>
          <a:xfrm>
            <a:off x="13010103" y="838200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42A44EC3-9652-AC0C-6B70-588AAEF033EC}"/>
              </a:ext>
            </a:extLst>
          </p:cNvPr>
          <p:cNvSpPr>
            <a:spLocks/>
          </p:cNvSpPr>
          <p:nvPr/>
        </p:nvSpPr>
        <p:spPr>
          <a:xfrm>
            <a:off x="13010103" y="1851357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30" name="!!M5">
            <a:extLst>
              <a:ext uri="{FF2B5EF4-FFF2-40B4-BE49-F238E27FC236}">
                <a16:creationId xmlns:a16="http://schemas.microsoft.com/office/drawing/2014/main" id="{90857F91-D856-74A1-0060-6409DB86D88D}"/>
              </a:ext>
            </a:extLst>
          </p:cNvPr>
          <p:cNvSpPr>
            <a:spLocks/>
          </p:cNvSpPr>
          <p:nvPr/>
        </p:nvSpPr>
        <p:spPr>
          <a:xfrm>
            <a:off x="-4800600" y="816769"/>
            <a:ext cx="4752101" cy="498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The Physiological Contrast: TORO cells fire intensely during Ripples but are strictly silent during DS2, confirming that these two events engage opposite cellular mechanisms.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pic>
        <p:nvPicPr>
          <p:cNvPr id="31" name="Picture 2" descr="Unexpected Situations Trigger Chandelier Cell Activity">
            <a:extLst>
              <a:ext uri="{FF2B5EF4-FFF2-40B4-BE49-F238E27FC236}">
                <a16:creationId xmlns:a16="http://schemas.microsoft.com/office/drawing/2014/main" id="{351DA78D-F695-2624-A42D-7C0AAE6DCF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609599" y="8077202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0BE0B87-FD2E-A1FB-C61D-3B08B9379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4" y="80772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4" name="!!TextBox 25">
            <a:extLst>
              <a:ext uri="{FF2B5EF4-FFF2-40B4-BE49-F238E27FC236}">
                <a16:creationId xmlns:a16="http://schemas.microsoft.com/office/drawing/2014/main" id="{7CE32D17-29D6-DEB5-799D-B4D49B0C70FD}"/>
              </a:ext>
            </a:extLst>
          </p:cNvPr>
          <p:cNvSpPr txBox="1"/>
          <p:nvPr/>
        </p:nvSpPr>
        <p:spPr>
          <a:xfrm>
            <a:off x="623729" y="7226471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167275-BB1A-6ECA-59E8-613F9DD3CCE1}"/>
              </a:ext>
            </a:extLst>
          </p:cNvPr>
          <p:cNvSpPr txBox="1"/>
          <p:nvPr/>
        </p:nvSpPr>
        <p:spPr>
          <a:xfrm>
            <a:off x="6591303" y="7386364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1136313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E0CA-4A4E-9938-1AF5-6CA126732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76691A88-AB1A-AA55-9359-5E5EF465C813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ABA9DD1F-BE99-20BD-2B38-E5D964509D36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F33D9272-4A3A-55D4-FCA1-AB352CBB95EC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4F01FB62-26E8-F06F-C4AF-CA211F4992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609599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76CCE6D-99EF-3749-5328-C2A36DD0E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4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96BA6A48-58FC-9C64-8A6A-334EECB452B5}"/>
              </a:ext>
            </a:extLst>
          </p:cNvPr>
          <p:cNvSpPr txBox="1"/>
          <p:nvPr/>
        </p:nvSpPr>
        <p:spPr>
          <a:xfrm>
            <a:off x="623729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515C54-1D08-8F24-5A13-B49B1690D3FF}"/>
              </a:ext>
            </a:extLst>
          </p:cNvPr>
          <p:cNvSpPr txBox="1"/>
          <p:nvPr/>
        </p:nvSpPr>
        <p:spPr>
          <a:xfrm>
            <a:off x="6591303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7" name="!!M3_">
            <a:extLst>
              <a:ext uri="{FF2B5EF4-FFF2-40B4-BE49-F238E27FC236}">
                <a16:creationId xmlns:a16="http://schemas.microsoft.com/office/drawing/2014/main" id="{4199184B-94C9-19E8-66BA-C9AAB163538E}"/>
              </a:ext>
            </a:extLst>
          </p:cNvPr>
          <p:cNvSpPr/>
          <p:nvPr/>
        </p:nvSpPr>
        <p:spPr>
          <a:xfrm>
            <a:off x="1295400" y="838200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b="1" dirty="0"/>
              <a:t>The Question: </a:t>
            </a:r>
            <a:r>
              <a:rPr lang="en-US" sz="2800" dirty="0"/>
              <a:t>How does the hippocampus toggle between “Offline" (SPW-R) and “Online" (DS2)?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47860B3-16BB-D639-C74A-FA3FD57C7F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-4953000" y="5115991"/>
            <a:ext cx="2209800" cy="15891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4063B866-759C-7A16-384D-811C0E69BE93}"/>
              </a:ext>
            </a:extLst>
          </p:cNvPr>
          <p:cNvGrpSpPr/>
          <p:nvPr/>
        </p:nvGrpSpPr>
        <p:grpSpPr>
          <a:xfrm>
            <a:off x="-4953000" y="2630781"/>
            <a:ext cx="3959613" cy="2408244"/>
            <a:chOff x="152400" y="2617798"/>
            <a:chExt cx="3959613" cy="2408244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BDC6A53-C6DF-C2D5-D3AF-1C4235D14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2400" y="2617798"/>
              <a:ext cx="1875614" cy="2398365"/>
            </a:xfrm>
            <a:prstGeom prst="rect">
              <a:avLst/>
            </a:prstGeom>
          </p:spPr>
        </p:pic>
        <p:sp>
          <p:nvSpPr>
            <p:cNvPr id="35" name="&quot;Not Allowed&quot; Symbol 34">
              <a:extLst>
                <a:ext uri="{FF2B5EF4-FFF2-40B4-BE49-F238E27FC236}">
                  <a16:creationId xmlns:a16="http://schemas.microsoft.com/office/drawing/2014/main" id="{C2FCC280-CEDF-C43D-643E-5F2CE2B0A275}"/>
                </a:ext>
              </a:extLst>
            </p:cNvPr>
            <p:cNvSpPr/>
            <p:nvPr/>
          </p:nvSpPr>
          <p:spPr>
            <a:xfrm>
              <a:off x="3479719" y="4555211"/>
              <a:ext cx="632294" cy="470831"/>
            </a:xfrm>
            <a:prstGeom prst="noSmoking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00">
                <a:solidFill>
                  <a:schemeClr val="tx1"/>
                </a:solidFill>
              </a:endParaRPr>
            </a:p>
          </p:txBody>
        </p:sp>
        <p:cxnSp>
          <p:nvCxnSpPr>
            <p:cNvPr id="36" name="!!Connector: Curved 29">
              <a:extLst>
                <a:ext uri="{FF2B5EF4-FFF2-40B4-BE49-F238E27FC236}">
                  <a16:creationId xmlns:a16="http://schemas.microsoft.com/office/drawing/2014/main" id="{54A99E59-EE50-BCC7-439C-AD3C47B1DB1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600201" y="4495800"/>
              <a:ext cx="1879519" cy="328460"/>
            </a:xfrm>
            <a:prstGeom prst="curvedConnector3">
              <a:avLst>
                <a:gd name="adj1" fmla="val 99993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984386E-6860-206A-A3C0-D4A23E38FA22}"/>
              </a:ext>
            </a:extLst>
          </p:cNvPr>
          <p:cNvGrpSpPr/>
          <p:nvPr/>
        </p:nvGrpSpPr>
        <p:grpSpPr>
          <a:xfrm>
            <a:off x="12968087" y="3714580"/>
            <a:ext cx="4710313" cy="3100551"/>
            <a:chOff x="7456124" y="3714580"/>
            <a:chExt cx="4710313" cy="3100551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AD8436DB-8E0C-CFCB-C653-DA324FF54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56124" y="5427244"/>
              <a:ext cx="3261455" cy="1387887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D32CCE3-D726-2595-E25C-7616CF499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93151" y="3714580"/>
              <a:ext cx="1735203" cy="1158382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94EF6A3F-75EF-DF2B-443F-9EAF29DFC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100207" y="5039025"/>
              <a:ext cx="2066230" cy="11158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171950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93F5-7463-EE49-CA7C-934A7BF70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E9039B8F-275D-9274-67EF-DB9E6901A6C7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5E724D40-98F4-EF63-FF9F-17669C1DD858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314A7A63-89B0-DF32-952D-1305A317D77E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The Gatekeepers</a:t>
            </a:r>
          </a:p>
        </p:txBody>
      </p:sp>
      <p:pic>
        <p:nvPicPr>
          <p:cNvPr id="5122" name="Picture 2" descr="Unexpected Situations Trigger Chandelier Cell Activity">
            <a:extLst>
              <a:ext uri="{FF2B5EF4-FFF2-40B4-BE49-F238E27FC236}">
                <a16:creationId xmlns:a16="http://schemas.microsoft.com/office/drawing/2014/main" id="{FF37D281-6278-072B-1E1C-B6211BED5B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609599" y="2826380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AA2FF67-14B5-0319-F1D7-39B617639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4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6" name="!!TextBox 25">
            <a:extLst>
              <a:ext uri="{FF2B5EF4-FFF2-40B4-BE49-F238E27FC236}">
                <a16:creationId xmlns:a16="http://schemas.microsoft.com/office/drawing/2014/main" id="{C5D0D3A1-BFAA-4242-1D49-93DC8EC3CC7C}"/>
              </a:ext>
            </a:extLst>
          </p:cNvPr>
          <p:cNvSpPr txBox="1"/>
          <p:nvPr/>
        </p:nvSpPr>
        <p:spPr>
          <a:xfrm>
            <a:off x="623729" y="1975649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3A7226-97FF-9C00-8A68-D79F59E2A242}"/>
              </a:ext>
            </a:extLst>
          </p:cNvPr>
          <p:cNvSpPr txBox="1"/>
          <p:nvPr/>
        </p:nvSpPr>
        <p:spPr>
          <a:xfrm>
            <a:off x="6591303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7" name="!!M3_">
            <a:extLst>
              <a:ext uri="{FF2B5EF4-FFF2-40B4-BE49-F238E27FC236}">
                <a16:creationId xmlns:a16="http://schemas.microsoft.com/office/drawing/2014/main" id="{796E53EE-EBA9-669A-7F10-9279CEFEC1D6}"/>
              </a:ext>
            </a:extLst>
          </p:cNvPr>
          <p:cNvSpPr/>
          <p:nvPr/>
        </p:nvSpPr>
        <p:spPr>
          <a:xfrm>
            <a:off x="1295400" y="838200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b="1" dirty="0"/>
              <a:t>The Question: </a:t>
            </a:r>
            <a:r>
              <a:rPr lang="en-US" sz="2800" dirty="0"/>
              <a:t>How does the hippocampus toggle between "Offline" (SPW-R) and "Online" ( via DS2)?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5015CF-8CA6-ED66-65CD-59DF633793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163646" y="5115991"/>
            <a:ext cx="2209800" cy="15891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286B460-2A40-3F00-7EFD-4934E1232B85}"/>
              </a:ext>
            </a:extLst>
          </p:cNvPr>
          <p:cNvGrpSpPr/>
          <p:nvPr/>
        </p:nvGrpSpPr>
        <p:grpSpPr>
          <a:xfrm>
            <a:off x="163646" y="2630781"/>
            <a:ext cx="3959613" cy="2408244"/>
            <a:chOff x="152400" y="2617798"/>
            <a:chExt cx="3959613" cy="240824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2D9DD65-B0B1-C723-6B21-13CEE6D7A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2400" y="2617798"/>
              <a:ext cx="1875614" cy="2398365"/>
            </a:xfrm>
            <a:prstGeom prst="rect">
              <a:avLst/>
            </a:prstGeom>
          </p:spPr>
        </p:pic>
        <p:sp>
          <p:nvSpPr>
            <p:cNvPr id="24" name="&quot;Not Allowed&quot; Symbol 23">
              <a:extLst>
                <a:ext uri="{FF2B5EF4-FFF2-40B4-BE49-F238E27FC236}">
                  <a16:creationId xmlns:a16="http://schemas.microsoft.com/office/drawing/2014/main" id="{3F0FFE45-BAA0-9E8B-EC60-D12A72C32A0E}"/>
                </a:ext>
              </a:extLst>
            </p:cNvPr>
            <p:cNvSpPr/>
            <p:nvPr/>
          </p:nvSpPr>
          <p:spPr>
            <a:xfrm>
              <a:off x="3479719" y="4555211"/>
              <a:ext cx="632294" cy="470831"/>
            </a:xfrm>
            <a:prstGeom prst="noSmoking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00">
                <a:solidFill>
                  <a:schemeClr val="tx1"/>
                </a:solidFill>
              </a:endParaRPr>
            </a:p>
          </p:txBody>
        </p:sp>
        <p:cxnSp>
          <p:nvCxnSpPr>
            <p:cNvPr id="25" name="!!Connector: Curved 29">
              <a:extLst>
                <a:ext uri="{FF2B5EF4-FFF2-40B4-BE49-F238E27FC236}">
                  <a16:creationId xmlns:a16="http://schemas.microsoft.com/office/drawing/2014/main" id="{349BB44E-3964-0D04-B381-BAFE5B2C431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600201" y="4495800"/>
              <a:ext cx="1879519" cy="328460"/>
            </a:xfrm>
            <a:prstGeom prst="curvedConnector3">
              <a:avLst>
                <a:gd name="adj1" fmla="val 99993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EEC234-1EA6-E104-0FE0-F5A364EC2B6B}"/>
              </a:ext>
            </a:extLst>
          </p:cNvPr>
          <p:cNvGrpSpPr/>
          <p:nvPr/>
        </p:nvGrpSpPr>
        <p:grpSpPr>
          <a:xfrm>
            <a:off x="7456124" y="3714580"/>
            <a:ext cx="4710313" cy="3100551"/>
            <a:chOff x="7456124" y="3714580"/>
            <a:chExt cx="4710313" cy="310055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742E0CA-E146-459F-FE4B-960134DF8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56124" y="5427244"/>
              <a:ext cx="3261455" cy="1387887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69ED00F-66B3-C124-2CC0-1B47DAF44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93151" y="3714580"/>
              <a:ext cx="1735203" cy="1158382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9211B30-AF2E-C295-8162-F5A918C94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100207" y="5039025"/>
              <a:ext cx="2066230" cy="11158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</p:grpSp>
      <p:sp>
        <p:nvSpPr>
          <p:cNvPr id="16" name="!!M3_">
            <a:extLst>
              <a:ext uri="{FF2B5EF4-FFF2-40B4-BE49-F238E27FC236}">
                <a16:creationId xmlns:a16="http://schemas.microsoft.com/office/drawing/2014/main" id="{EF1B9624-CC1E-BC1C-0027-A2A6A22B0202}"/>
              </a:ext>
            </a:extLst>
          </p:cNvPr>
          <p:cNvSpPr/>
          <p:nvPr/>
        </p:nvSpPr>
        <p:spPr>
          <a:xfrm>
            <a:off x="1295400" y="7772399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2800" dirty="0"/>
              <a:t>Because DS2 represents "transient arousal," the authors predicted it would drive a distinct global brain state, unlike the localized "Offline" Ripple.</a:t>
            </a:r>
          </a:p>
        </p:txBody>
      </p:sp>
    </p:spTree>
    <p:extLst>
      <p:ext uri="{BB962C8B-B14F-4D97-AF65-F5344CB8AC3E}">
        <p14:creationId xmlns:p14="http://schemas.microsoft.com/office/powerpoint/2010/main" val="3914054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A09B9-3AFA-70FC-8596-482CC969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6AF9C585-5FE3-5EDC-8FB1-F3974BD78742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1691F98F-DF0A-C237-67CC-0498B56933A4}"/>
              </a:ext>
            </a:extLst>
          </p:cNvPr>
          <p:cNvSpPr>
            <a:spLocks/>
          </p:cNvSpPr>
          <p:nvPr/>
        </p:nvSpPr>
        <p:spPr>
          <a:xfrm>
            <a:off x="13971668" y="3921594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87DEDCF2-873B-ADA0-9372-63AF4206F526}"/>
              </a:ext>
            </a:extLst>
          </p:cNvPr>
          <p:cNvSpPr>
            <a:spLocks/>
          </p:cNvSpPr>
          <p:nvPr/>
        </p:nvSpPr>
        <p:spPr>
          <a:xfrm>
            <a:off x="13329111" y="1066800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C8A92A-6BE5-0F79-B063-9B9B4D98A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1668" y="1752600"/>
            <a:ext cx="5502574" cy="190900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7">
            <a:extLst>
              <a:ext uri="{FF2B5EF4-FFF2-40B4-BE49-F238E27FC236}">
                <a16:creationId xmlns:a16="http://schemas.microsoft.com/office/drawing/2014/main" id="{DCD0F9E2-BA29-A0D6-1DA8-F9886391AD97}"/>
              </a:ext>
            </a:extLst>
          </p:cNvPr>
          <p:cNvSpPr>
            <a:spLocks/>
          </p:cNvSpPr>
          <p:nvPr/>
        </p:nvSpPr>
        <p:spPr>
          <a:xfrm>
            <a:off x="13323222" y="812260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4" name="!!T-BG">
            <a:extLst>
              <a:ext uri="{FF2B5EF4-FFF2-40B4-BE49-F238E27FC236}">
                <a16:creationId xmlns:a16="http://schemas.microsoft.com/office/drawing/2014/main" id="{4A2A70DA-A2B6-00F6-3B0E-3FC32EE3A33E}"/>
              </a:ext>
            </a:extLst>
          </p:cNvPr>
          <p:cNvSpPr/>
          <p:nvPr/>
        </p:nvSpPr>
        <p:spPr>
          <a:xfrm>
            <a:off x="2941178" y="6096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75CDD1C5-1CC0-DFCD-351A-94D460D885A2}"/>
              </a:ext>
            </a:extLst>
          </p:cNvPr>
          <p:cNvSpPr txBox="1">
            <a:spLocks/>
          </p:cNvSpPr>
          <p:nvPr/>
        </p:nvSpPr>
        <p:spPr>
          <a:xfrm>
            <a:off x="3067050" y="82619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Global Hypothesis</a:t>
            </a:r>
          </a:p>
        </p:txBody>
      </p:sp>
      <p:sp>
        <p:nvSpPr>
          <p:cNvPr id="20" name="!!M3_">
            <a:extLst>
              <a:ext uri="{FF2B5EF4-FFF2-40B4-BE49-F238E27FC236}">
                <a16:creationId xmlns:a16="http://schemas.microsoft.com/office/drawing/2014/main" id="{134BFD84-8150-8DDE-E690-126DD3358204}"/>
              </a:ext>
            </a:extLst>
          </p:cNvPr>
          <p:cNvSpPr/>
          <p:nvPr/>
        </p:nvSpPr>
        <p:spPr>
          <a:xfrm>
            <a:off x="1295400" y="3505199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Because DS2 represents "transient arousal," the authors predicted it would drive a distinct global brain state.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AEB496-738B-FB05-88BE-D0A6B83AE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901" y="2826378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292C2B7-4444-ABFA-D4B1-677DCDE9DB0D}"/>
              </a:ext>
            </a:extLst>
          </p:cNvPr>
          <p:cNvSpPr txBox="1"/>
          <p:nvPr/>
        </p:nvSpPr>
        <p:spPr>
          <a:xfrm>
            <a:off x="129159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8315FF1-2E77-35DD-8838-FA9DE8930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1534" y="2895600"/>
            <a:ext cx="6838997" cy="291028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!!M1">
            <a:extLst>
              <a:ext uri="{FF2B5EF4-FFF2-40B4-BE49-F238E27FC236}">
                <a16:creationId xmlns:a16="http://schemas.microsoft.com/office/drawing/2014/main" id="{B9601BF1-7804-2745-FB1A-152A01A65EEF}"/>
              </a:ext>
            </a:extLst>
          </p:cNvPr>
          <p:cNvSpPr>
            <a:spLocks/>
          </p:cNvSpPr>
          <p:nvPr/>
        </p:nvSpPr>
        <p:spPr>
          <a:xfrm>
            <a:off x="13010103" y="838200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8BF45847-7CFC-E627-9CD3-AB215CA514AB}"/>
              </a:ext>
            </a:extLst>
          </p:cNvPr>
          <p:cNvSpPr>
            <a:spLocks/>
          </p:cNvSpPr>
          <p:nvPr/>
        </p:nvSpPr>
        <p:spPr>
          <a:xfrm>
            <a:off x="13010103" y="1851357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30" name="!!M5">
            <a:extLst>
              <a:ext uri="{FF2B5EF4-FFF2-40B4-BE49-F238E27FC236}">
                <a16:creationId xmlns:a16="http://schemas.microsoft.com/office/drawing/2014/main" id="{D56BB415-7BD3-E31A-C898-1A31EB9D613C}"/>
              </a:ext>
            </a:extLst>
          </p:cNvPr>
          <p:cNvSpPr>
            <a:spLocks/>
          </p:cNvSpPr>
          <p:nvPr/>
        </p:nvSpPr>
        <p:spPr>
          <a:xfrm>
            <a:off x="-4800600" y="816769"/>
            <a:ext cx="4752101" cy="498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The Physiological Contrast: TORO cells fire intensely during Ripples but are strictly silent during DS2, confirming that these two events engage opposite cellular mechanisms.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pic>
        <p:nvPicPr>
          <p:cNvPr id="31" name="Picture 2" descr="Unexpected Situations Trigger Chandelier Cell Activity">
            <a:extLst>
              <a:ext uri="{FF2B5EF4-FFF2-40B4-BE49-F238E27FC236}">
                <a16:creationId xmlns:a16="http://schemas.microsoft.com/office/drawing/2014/main" id="{20251D58-C13E-063B-4CDE-9E2001FD00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1" t="9058" r="8259" b="4964"/>
          <a:stretch>
            <a:fillRect/>
          </a:stretch>
        </p:blipFill>
        <p:spPr bwMode="auto">
          <a:xfrm>
            <a:off x="609599" y="8077202"/>
            <a:ext cx="4991099" cy="3657598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CB35312-5D3C-CB6A-DCAD-166CDC208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4" y="8077200"/>
            <a:ext cx="4991099" cy="36576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4" name="!!TextBox 25">
            <a:extLst>
              <a:ext uri="{FF2B5EF4-FFF2-40B4-BE49-F238E27FC236}">
                <a16:creationId xmlns:a16="http://schemas.microsoft.com/office/drawing/2014/main" id="{43DC59A2-58BC-77A3-3129-91493A5E67A4}"/>
              </a:ext>
            </a:extLst>
          </p:cNvPr>
          <p:cNvSpPr txBox="1"/>
          <p:nvPr/>
        </p:nvSpPr>
        <p:spPr>
          <a:xfrm>
            <a:off x="623729" y="7226471"/>
            <a:ext cx="4991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GABAergic axo-axonic cell (AAC)</a:t>
            </a:r>
          </a:p>
          <a:p>
            <a:pPr algn="ctr"/>
            <a:r>
              <a:rPr lang="en-US" sz="2000" b="1" i="1" dirty="0" err="1"/>
              <a:t>a.k.a</a:t>
            </a:r>
            <a:r>
              <a:rPr lang="en-US" sz="2000" b="1" i="1" dirty="0"/>
              <a:t>  Chandelier Cells (</a:t>
            </a:r>
            <a:r>
              <a:rPr lang="en-US" sz="2000" b="1" i="1" dirty="0" err="1"/>
              <a:t>ChC</a:t>
            </a:r>
            <a:r>
              <a:rPr lang="en-US" sz="2000" b="1" i="1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9CECC4-2228-BA06-4A05-E264DB4415EB}"/>
              </a:ext>
            </a:extLst>
          </p:cNvPr>
          <p:cNvSpPr txBox="1"/>
          <p:nvPr/>
        </p:nvSpPr>
        <p:spPr>
          <a:xfrm>
            <a:off x="6591303" y="7386364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FF9DB0-E828-C797-5F0B-190F7926F9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4880"/>
          <a:stretch>
            <a:fillRect/>
          </a:stretch>
        </p:blipFill>
        <p:spPr>
          <a:xfrm>
            <a:off x="-4724400" y="5115991"/>
            <a:ext cx="2209800" cy="15891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01E5797-862A-3B8E-8EEF-41D27DC90AED}"/>
              </a:ext>
            </a:extLst>
          </p:cNvPr>
          <p:cNvGrpSpPr/>
          <p:nvPr/>
        </p:nvGrpSpPr>
        <p:grpSpPr>
          <a:xfrm>
            <a:off x="-4724400" y="2630781"/>
            <a:ext cx="3959613" cy="2408244"/>
            <a:chOff x="152400" y="2617798"/>
            <a:chExt cx="3959613" cy="240824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5EC411A-53B2-C20A-907E-4748FCE6B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2400" y="2617798"/>
              <a:ext cx="1875614" cy="2398365"/>
            </a:xfrm>
            <a:prstGeom prst="rect">
              <a:avLst/>
            </a:prstGeom>
          </p:spPr>
        </p:pic>
        <p:sp>
          <p:nvSpPr>
            <p:cNvPr id="8" name="&quot;Not Allowed&quot; Symbol 7">
              <a:extLst>
                <a:ext uri="{FF2B5EF4-FFF2-40B4-BE49-F238E27FC236}">
                  <a16:creationId xmlns:a16="http://schemas.microsoft.com/office/drawing/2014/main" id="{E8298E83-4365-E1F9-9B92-A3A4C88373BE}"/>
                </a:ext>
              </a:extLst>
            </p:cNvPr>
            <p:cNvSpPr/>
            <p:nvPr/>
          </p:nvSpPr>
          <p:spPr>
            <a:xfrm>
              <a:off x="3479719" y="4555211"/>
              <a:ext cx="632294" cy="470831"/>
            </a:xfrm>
            <a:prstGeom prst="noSmoking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00">
                <a:solidFill>
                  <a:schemeClr val="tx1"/>
                </a:solidFill>
              </a:endParaRPr>
            </a:p>
          </p:txBody>
        </p:sp>
        <p:cxnSp>
          <p:nvCxnSpPr>
            <p:cNvPr id="9" name="!!Connector: Curved 29">
              <a:extLst>
                <a:ext uri="{FF2B5EF4-FFF2-40B4-BE49-F238E27FC236}">
                  <a16:creationId xmlns:a16="http://schemas.microsoft.com/office/drawing/2014/main" id="{598AFC63-4337-C0E4-CFF6-734F3D14B61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600201" y="4495800"/>
              <a:ext cx="1879519" cy="328460"/>
            </a:xfrm>
            <a:prstGeom prst="curvedConnector3">
              <a:avLst>
                <a:gd name="adj1" fmla="val 99993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207915-F10C-5075-D75D-3DE3CB576995}"/>
              </a:ext>
            </a:extLst>
          </p:cNvPr>
          <p:cNvGrpSpPr/>
          <p:nvPr/>
        </p:nvGrpSpPr>
        <p:grpSpPr>
          <a:xfrm>
            <a:off x="13196687" y="3714580"/>
            <a:ext cx="4710313" cy="3100551"/>
            <a:chOff x="7456124" y="3714580"/>
            <a:chExt cx="4710313" cy="310055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73D6D7A-35F2-1377-B4D4-6A798D3BD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56124" y="5427244"/>
              <a:ext cx="3261455" cy="1387887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6EA76D7-979D-B471-7A35-0DBBB28E8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293151" y="3714580"/>
              <a:ext cx="1735203" cy="1158382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A52932B-3D64-AA31-3686-BD54B9224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100207" y="5039025"/>
              <a:ext cx="2066230" cy="11158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</p:grpSp>
      <p:sp>
        <p:nvSpPr>
          <p:cNvPr id="17" name="!!M3">
            <a:extLst>
              <a:ext uri="{FF2B5EF4-FFF2-40B4-BE49-F238E27FC236}">
                <a16:creationId xmlns:a16="http://schemas.microsoft.com/office/drawing/2014/main" id="{3814D950-F3B7-A1A3-369C-CDBFFDDE1AED}"/>
              </a:ext>
            </a:extLst>
          </p:cNvPr>
          <p:cNvSpPr/>
          <p:nvPr/>
        </p:nvSpPr>
        <p:spPr>
          <a:xfrm>
            <a:off x="3263620" y="7467599"/>
            <a:ext cx="6198160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800" dirty="0"/>
              <a:t>Spoiler Alert: DS2 </a:t>
            </a:r>
            <a:r>
              <a:rPr lang="en-US" sz="2800" i="1" dirty="0"/>
              <a:t>is </a:t>
            </a:r>
            <a:r>
              <a:rPr lang="en-US" sz="2800" dirty="0"/>
              <a:t>a global </a:t>
            </a:r>
            <a:r>
              <a:rPr lang="en-US" sz="2800" dirty="0" err="1"/>
              <a:t>spkie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084389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BE1F5-CE5E-F0C7-91F8-3A9A47F1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C53AB064-094A-1C97-14D3-2E3DA62FA40E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F4A08A19-1EAA-1E65-6850-717EDC01873B}"/>
              </a:ext>
            </a:extLst>
          </p:cNvPr>
          <p:cNvSpPr>
            <a:spLocks/>
          </p:cNvSpPr>
          <p:nvPr/>
        </p:nvSpPr>
        <p:spPr>
          <a:xfrm>
            <a:off x="13971668" y="3921594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F6E7EAFE-DEA2-0A0B-3872-AF07EC421B44}"/>
              </a:ext>
            </a:extLst>
          </p:cNvPr>
          <p:cNvSpPr>
            <a:spLocks/>
          </p:cNvSpPr>
          <p:nvPr/>
        </p:nvSpPr>
        <p:spPr>
          <a:xfrm>
            <a:off x="13329111" y="1066800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FA73D3A1-62DA-265F-A84F-44F898C07D71}"/>
              </a:ext>
            </a:extLst>
          </p:cNvPr>
          <p:cNvSpPr>
            <a:spLocks/>
          </p:cNvSpPr>
          <p:nvPr/>
        </p:nvSpPr>
        <p:spPr>
          <a:xfrm>
            <a:off x="13323222" y="812260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4" name="!!T-BG">
            <a:extLst>
              <a:ext uri="{FF2B5EF4-FFF2-40B4-BE49-F238E27FC236}">
                <a16:creationId xmlns:a16="http://schemas.microsoft.com/office/drawing/2014/main" id="{D7AAE2A8-3A62-45D4-A84F-CD3C6FB60AA4}"/>
              </a:ext>
            </a:extLst>
          </p:cNvPr>
          <p:cNvSpPr/>
          <p:nvPr/>
        </p:nvSpPr>
        <p:spPr>
          <a:xfrm>
            <a:off x="2941178" y="6096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BED500FD-6521-96CB-0C09-44D3D0E0B091}"/>
              </a:ext>
            </a:extLst>
          </p:cNvPr>
          <p:cNvSpPr txBox="1">
            <a:spLocks/>
          </p:cNvSpPr>
          <p:nvPr/>
        </p:nvSpPr>
        <p:spPr>
          <a:xfrm>
            <a:off x="3067050" y="82619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Global Hypothesis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BEA9FB-0E55-8B37-AB2B-29CA7B07C4A1}"/>
              </a:ext>
            </a:extLst>
          </p:cNvPr>
          <p:cNvSpPr txBox="1"/>
          <p:nvPr/>
        </p:nvSpPr>
        <p:spPr>
          <a:xfrm>
            <a:off x="12915900" y="2135542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C3240E44-F6AF-92EB-7C3B-5A3E14EFBD14}"/>
              </a:ext>
            </a:extLst>
          </p:cNvPr>
          <p:cNvSpPr>
            <a:spLocks/>
          </p:cNvSpPr>
          <p:nvPr/>
        </p:nvSpPr>
        <p:spPr>
          <a:xfrm>
            <a:off x="13010103" y="838200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8A37405D-C376-0003-3E18-EB2E024C11B1}"/>
              </a:ext>
            </a:extLst>
          </p:cNvPr>
          <p:cNvSpPr>
            <a:spLocks/>
          </p:cNvSpPr>
          <p:nvPr/>
        </p:nvSpPr>
        <p:spPr>
          <a:xfrm>
            <a:off x="13010103" y="1851357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30" name="!!M5">
            <a:extLst>
              <a:ext uri="{FF2B5EF4-FFF2-40B4-BE49-F238E27FC236}">
                <a16:creationId xmlns:a16="http://schemas.microsoft.com/office/drawing/2014/main" id="{5BF3968F-92DA-CA55-6398-10A2EBEE5D12}"/>
              </a:ext>
            </a:extLst>
          </p:cNvPr>
          <p:cNvSpPr>
            <a:spLocks/>
          </p:cNvSpPr>
          <p:nvPr/>
        </p:nvSpPr>
        <p:spPr>
          <a:xfrm>
            <a:off x="-7437945" y="652670"/>
            <a:ext cx="4752101" cy="498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The Physiological Contrast: TORO cells fire intensely during Ripples but are strictly silent during DS2, confirming that these two events engage opposite cellular mechanisms.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7" name="!!M3">
            <a:extLst>
              <a:ext uri="{FF2B5EF4-FFF2-40B4-BE49-F238E27FC236}">
                <a16:creationId xmlns:a16="http://schemas.microsoft.com/office/drawing/2014/main" id="{BB764AFF-33E7-599C-3108-26393092745E}"/>
              </a:ext>
            </a:extLst>
          </p:cNvPr>
          <p:cNvSpPr/>
          <p:nvPr/>
        </p:nvSpPr>
        <p:spPr>
          <a:xfrm>
            <a:off x="3263620" y="4876799"/>
            <a:ext cx="6198160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800" dirty="0"/>
              <a:t>Spoiler Alert: DS2 </a:t>
            </a:r>
            <a:r>
              <a:rPr lang="en-US" sz="2800" i="1" dirty="0"/>
              <a:t>is </a:t>
            </a:r>
            <a:r>
              <a:rPr lang="en-US" sz="2800" dirty="0"/>
              <a:t>a global spike</a:t>
            </a:r>
            <a:endParaRPr lang="en-US" sz="2800" i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3EF921-0D78-04A4-77F8-0987BC514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" y="7848600"/>
            <a:ext cx="431274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FE107EE-4D76-997C-1992-30D5B8F42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307" y="7848708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A50B855-1DB2-23C6-E14C-0C9AD5E09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326" y="7848600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6" name="!!M3_">
            <a:extLst>
              <a:ext uri="{FF2B5EF4-FFF2-40B4-BE49-F238E27FC236}">
                <a16:creationId xmlns:a16="http://schemas.microsoft.com/office/drawing/2014/main" id="{78E2D4FF-0993-94DC-0A83-F573C788746F}"/>
              </a:ext>
            </a:extLst>
          </p:cNvPr>
          <p:cNvSpPr/>
          <p:nvPr/>
        </p:nvSpPr>
        <p:spPr>
          <a:xfrm>
            <a:off x="1295400" y="3505199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Because DS2 represents "transient arousal," the authors predicted it would drive a distinct global brain state.</a:t>
            </a:r>
          </a:p>
        </p:txBody>
      </p:sp>
    </p:spTree>
    <p:extLst>
      <p:ext uri="{BB962C8B-B14F-4D97-AF65-F5344CB8AC3E}">
        <p14:creationId xmlns:p14="http://schemas.microsoft.com/office/powerpoint/2010/main" val="2514464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12381-DDD9-20D1-ED42-DBF67F09F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E819D893-5ED3-904E-CA1D-4AB14C3A1156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96D2DE0C-A0AC-6AB5-890B-0AC99C82034B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38494A32-BC6A-34B9-07BE-7F3BFD66C9CC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B8E56C-F02E-B930-748D-845A513FD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" y="1406862"/>
            <a:ext cx="431274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4E3408-F6E2-ADE5-9002-9DC7F02FA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30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1EFEDA-F4B4-1443-AC8D-17FCB70ECB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32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004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26A1-EE0A-E587-36D3-CC9D367A7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276BC397-1070-5057-4889-16D3BE495246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9F008EB1-7586-28F7-FD9D-949FC5270089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F711BAA4-573B-3D52-5C80-2B1B64ED5F34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2F36C1-925D-9DA0-BBB9-87F444A74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" y="1406862"/>
            <a:ext cx="431274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453993-77FF-472E-7D1D-2501338ED0E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1630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FEC2A8-6D8A-BE6D-F3AF-EDAB01F34CB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6832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!!N1">
            <a:extLst>
              <a:ext uri="{FF2B5EF4-FFF2-40B4-BE49-F238E27FC236}">
                <a16:creationId xmlns:a16="http://schemas.microsoft.com/office/drawing/2014/main" id="{A90E02DB-DCDA-0D6A-EA97-2A33E7441F60}"/>
              </a:ext>
            </a:extLst>
          </p:cNvPr>
          <p:cNvSpPr>
            <a:spLocks/>
          </p:cNvSpPr>
          <p:nvPr/>
        </p:nvSpPr>
        <p:spPr>
          <a:xfrm>
            <a:off x="5103140" y="8763000"/>
            <a:ext cx="6858000" cy="1192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Left Y-axis: Grouped Brain Regions</a:t>
            </a:r>
          </a:p>
        </p:txBody>
      </p:sp>
      <p:sp>
        <p:nvSpPr>
          <p:cNvPr id="2" name="!!M1">
            <a:extLst>
              <a:ext uri="{FF2B5EF4-FFF2-40B4-BE49-F238E27FC236}">
                <a16:creationId xmlns:a16="http://schemas.microsoft.com/office/drawing/2014/main" id="{4011852C-A5A2-4DBA-B069-D5ED0B468FF1}"/>
              </a:ext>
            </a:extLst>
          </p:cNvPr>
          <p:cNvSpPr>
            <a:spLocks/>
          </p:cNvSpPr>
          <p:nvPr/>
        </p:nvSpPr>
        <p:spPr>
          <a:xfrm>
            <a:off x="5103140" y="7433591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Figure 2a (The "Eye Test" Heatmap): DS2 drives widespread elevated firing</a:t>
            </a:r>
          </a:p>
        </p:txBody>
      </p:sp>
    </p:spTree>
    <p:extLst>
      <p:ext uri="{BB962C8B-B14F-4D97-AF65-F5344CB8AC3E}">
        <p14:creationId xmlns:p14="http://schemas.microsoft.com/office/powerpoint/2010/main" val="3396443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343E9-37FA-BCBD-9532-5B527960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78DC2B4-5AD9-5F5E-95D2-44CCA077D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05" y="762000"/>
            <a:ext cx="9029395" cy="8308659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3A15718-1236-F9B1-60D2-1D6FF7D167F8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914400 w 14554200"/>
              <a:gd name="csY0" fmla="*/ 76201 h 6172201"/>
              <a:gd name="csX1" fmla="*/ 914400 w 14554200"/>
              <a:gd name="csY1" fmla="*/ 4648201 h 6172201"/>
              <a:gd name="csX2" fmla="*/ 914400 w 14554200"/>
              <a:gd name="csY2" fmla="*/ 6096001 h 6172201"/>
              <a:gd name="csX3" fmla="*/ 5486400 w 14554200"/>
              <a:gd name="csY3" fmla="*/ 6096001 h 6172201"/>
              <a:gd name="csX4" fmla="*/ 5486400 w 14554200"/>
              <a:gd name="csY4" fmla="*/ 76201 h 6172201"/>
              <a:gd name="csX5" fmla="*/ 4343400 w 14554200"/>
              <a:gd name="csY5" fmla="*/ 76201 h 6172201"/>
              <a:gd name="csX6" fmla="*/ 0 w 14554200"/>
              <a:gd name="csY6" fmla="*/ 0 h 6172201"/>
              <a:gd name="csX7" fmla="*/ 68580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914400" y="76201"/>
                </a:moveTo>
                <a:lnTo>
                  <a:pt x="914400" y="4648201"/>
                </a:lnTo>
                <a:lnTo>
                  <a:pt x="914400" y="6096001"/>
                </a:lnTo>
                <a:lnTo>
                  <a:pt x="5486400" y="6096001"/>
                </a:lnTo>
                <a:lnTo>
                  <a:pt x="5486400" y="76201"/>
                </a:lnTo>
                <a:lnTo>
                  <a:pt x="4343400" y="762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5F8582-944D-4F45-6E2D-14F0A714D3A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6111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0DA3DF-E307-0214-22C6-8382B35F5E0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2631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T-BG">
            <a:extLst>
              <a:ext uri="{FF2B5EF4-FFF2-40B4-BE49-F238E27FC236}">
                <a16:creationId xmlns:a16="http://schemas.microsoft.com/office/drawing/2014/main" id="{A4CB2636-4183-4E76-4B55-609EE409B2F8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EEE71341-246B-2DAA-C3B8-3FB59ADFF5A6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sp>
        <p:nvSpPr>
          <p:cNvPr id="22" name="!!N1">
            <a:extLst>
              <a:ext uri="{FF2B5EF4-FFF2-40B4-BE49-F238E27FC236}">
                <a16:creationId xmlns:a16="http://schemas.microsoft.com/office/drawing/2014/main" id="{C9A3D15D-8350-F408-8B0B-3C33188BBA0F}"/>
              </a:ext>
            </a:extLst>
          </p:cNvPr>
          <p:cNvSpPr>
            <a:spLocks/>
          </p:cNvSpPr>
          <p:nvPr/>
        </p:nvSpPr>
        <p:spPr>
          <a:xfrm>
            <a:off x="5103140" y="1676400"/>
            <a:ext cx="6858000" cy="1192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Left Y-axis: Grouped Brain Regions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47FFFCEF-7502-7F31-A4D4-8E9640B4FFD3}"/>
              </a:ext>
            </a:extLst>
          </p:cNvPr>
          <p:cNvSpPr>
            <a:spLocks/>
          </p:cNvSpPr>
          <p:nvPr/>
        </p:nvSpPr>
        <p:spPr>
          <a:xfrm>
            <a:off x="14707890" y="2667623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6F4DEE83-8581-DFA9-435D-37DF7D188AD2}"/>
              </a:ext>
            </a:extLst>
          </p:cNvPr>
          <p:cNvSpPr>
            <a:spLocks/>
          </p:cNvSpPr>
          <p:nvPr/>
        </p:nvSpPr>
        <p:spPr>
          <a:xfrm>
            <a:off x="12482464" y="448741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CF4A1B70-CAE8-C2B3-8849-A7DCBA70E40E}"/>
              </a:ext>
            </a:extLst>
          </p:cNvPr>
          <p:cNvSpPr>
            <a:spLocks/>
          </p:cNvSpPr>
          <p:nvPr/>
        </p:nvSpPr>
        <p:spPr>
          <a:xfrm>
            <a:off x="14718075" y="4490550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7" name="!!M5">
            <a:extLst>
              <a:ext uri="{FF2B5EF4-FFF2-40B4-BE49-F238E27FC236}">
                <a16:creationId xmlns:a16="http://schemas.microsoft.com/office/drawing/2014/main" id="{D26A0B6B-9EDC-D722-68E0-F945C148BD20}"/>
              </a:ext>
            </a:extLst>
          </p:cNvPr>
          <p:cNvSpPr>
            <a:spLocks/>
          </p:cNvSpPr>
          <p:nvPr/>
        </p:nvSpPr>
        <p:spPr>
          <a:xfrm>
            <a:off x="13716000" y="6324600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sp>
        <p:nvSpPr>
          <p:cNvPr id="14" name="!!M1">
            <a:extLst>
              <a:ext uri="{FF2B5EF4-FFF2-40B4-BE49-F238E27FC236}">
                <a16:creationId xmlns:a16="http://schemas.microsoft.com/office/drawing/2014/main" id="{9661FBB0-89AC-7A02-D065-846F47360E0E}"/>
              </a:ext>
            </a:extLst>
          </p:cNvPr>
          <p:cNvSpPr>
            <a:spLocks/>
          </p:cNvSpPr>
          <p:nvPr/>
        </p:nvSpPr>
        <p:spPr>
          <a:xfrm>
            <a:off x="5103140" y="804190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0" name="!!Focus">
            <a:extLst>
              <a:ext uri="{FF2B5EF4-FFF2-40B4-BE49-F238E27FC236}">
                <a16:creationId xmlns:a16="http://schemas.microsoft.com/office/drawing/2014/main" id="{9A090BFA-21C3-EAF0-A90C-943DD47D730C}"/>
              </a:ext>
            </a:extLst>
          </p:cNvPr>
          <p:cNvSpPr/>
          <p:nvPr/>
        </p:nvSpPr>
        <p:spPr>
          <a:xfrm rot="5400000">
            <a:off x="-3100854" y="3604748"/>
            <a:ext cx="5363509" cy="685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043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CE33E-E1F3-8942-BADC-3C019DCA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B6D8CFE-646E-9863-2212-3711B806E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05" y="762000"/>
            <a:ext cx="9029395" cy="8308659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C8AD331-5325-0CB2-8105-45BF92B17B74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914400 w 14554200"/>
              <a:gd name="csY0" fmla="*/ 76201 h 6172201"/>
              <a:gd name="csX1" fmla="*/ 914400 w 14554200"/>
              <a:gd name="csY1" fmla="*/ 4648201 h 6172201"/>
              <a:gd name="csX2" fmla="*/ 914400 w 14554200"/>
              <a:gd name="csY2" fmla="*/ 6096001 h 6172201"/>
              <a:gd name="csX3" fmla="*/ 5486400 w 14554200"/>
              <a:gd name="csY3" fmla="*/ 6096001 h 6172201"/>
              <a:gd name="csX4" fmla="*/ 5486400 w 14554200"/>
              <a:gd name="csY4" fmla="*/ 76201 h 6172201"/>
              <a:gd name="csX5" fmla="*/ 4343400 w 14554200"/>
              <a:gd name="csY5" fmla="*/ 76201 h 6172201"/>
              <a:gd name="csX6" fmla="*/ 0 w 14554200"/>
              <a:gd name="csY6" fmla="*/ 0 h 6172201"/>
              <a:gd name="csX7" fmla="*/ 68580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914400" y="76201"/>
                </a:moveTo>
                <a:lnTo>
                  <a:pt x="914400" y="4648201"/>
                </a:lnTo>
                <a:lnTo>
                  <a:pt x="914400" y="6096001"/>
                </a:lnTo>
                <a:lnTo>
                  <a:pt x="5486400" y="6096001"/>
                </a:lnTo>
                <a:lnTo>
                  <a:pt x="5486400" y="76201"/>
                </a:lnTo>
                <a:lnTo>
                  <a:pt x="4343400" y="762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F2635E7D-ED39-0022-9545-45B238C420A4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80AC22A9-5132-F437-2FD1-3918E8A006CB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F24D17-061C-47E1-962C-2EFED608A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6FA379-487B-7357-8637-6AE75E49F3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!!N2">
            <a:extLst>
              <a:ext uri="{FF2B5EF4-FFF2-40B4-BE49-F238E27FC236}">
                <a16:creationId xmlns:a16="http://schemas.microsoft.com/office/drawing/2014/main" id="{E7233863-7289-AF30-8A9D-75865EE01C39}"/>
              </a:ext>
            </a:extLst>
          </p:cNvPr>
          <p:cNvSpPr>
            <a:spLocks/>
          </p:cNvSpPr>
          <p:nvPr/>
        </p:nvSpPr>
        <p:spPr>
          <a:xfrm>
            <a:off x="5105400" y="1524000"/>
            <a:ext cx="6858000" cy="1192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Columns: Activity of each brain regions for each spike</a:t>
            </a:r>
          </a:p>
        </p:txBody>
      </p:sp>
      <p:sp>
        <p:nvSpPr>
          <p:cNvPr id="16" name="!!N1">
            <a:extLst>
              <a:ext uri="{FF2B5EF4-FFF2-40B4-BE49-F238E27FC236}">
                <a16:creationId xmlns:a16="http://schemas.microsoft.com/office/drawing/2014/main" id="{90DEA21F-B510-2DB3-95F1-D9F72CF6256D}"/>
              </a:ext>
            </a:extLst>
          </p:cNvPr>
          <p:cNvSpPr>
            <a:spLocks/>
          </p:cNvSpPr>
          <p:nvPr/>
        </p:nvSpPr>
        <p:spPr>
          <a:xfrm>
            <a:off x="5103140" y="3684460"/>
            <a:ext cx="6858000" cy="1192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Left Y-axis: Grouped Brain Regions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98D25327-8FA6-1EE7-E74F-D28B480C3FCC}"/>
              </a:ext>
            </a:extLst>
          </p:cNvPr>
          <p:cNvSpPr>
            <a:spLocks/>
          </p:cNvSpPr>
          <p:nvPr/>
        </p:nvSpPr>
        <p:spPr>
          <a:xfrm>
            <a:off x="14707890" y="2667623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5542B3CA-A428-A4BE-7879-0B6FC02D4457}"/>
              </a:ext>
            </a:extLst>
          </p:cNvPr>
          <p:cNvSpPr>
            <a:spLocks/>
          </p:cNvSpPr>
          <p:nvPr/>
        </p:nvSpPr>
        <p:spPr>
          <a:xfrm>
            <a:off x="12482464" y="448741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9F9EC5A7-7C64-1966-2676-99D1E294AE81}"/>
              </a:ext>
            </a:extLst>
          </p:cNvPr>
          <p:cNvSpPr>
            <a:spLocks/>
          </p:cNvSpPr>
          <p:nvPr/>
        </p:nvSpPr>
        <p:spPr>
          <a:xfrm>
            <a:off x="14718075" y="4490550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7" name="!!M5">
            <a:extLst>
              <a:ext uri="{FF2B5EF4-FFF2-40B4-BE49-F238E27FC236}">
                <a16:creationId xmlns:a16="http://schemas.microsoft.com/office/drawing/2014/main" id="{819BC02C-E27D-9BCC-8D3C-931E6283DC46}"/>
              </a:ext>
            </a:extLst>
          </p:cNvPr>
          <p:cNvSpPr>
            <a:spLocks/>
          </p:cNvSpPr>
          <p:nvPr/>
        </p:nvSpPr>
        <p:spPr>
          <a:xfrm>
            <a:off x="13716000" y="6324600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sp>
        <p:nvSpPr>
          <p:cNvPr id="14" name="!!M1">
            <a:extLst>
              <a:ext uri="{FF2B5EF4-FFF2-40B4-BE49-F238E27FC236}">
                <a16:creationId xmlns:a16="http://schemas.microsoft.com/office/drawing/2014/main" id="{CF4AE3F1-4BAB-06A1-FFEC-5C8A7AB733F9}"/>
              </a:ext>
            </a:extLst>
          </p:cNvPr>
          <p:cNvSpPr>
            <a:spLocks/>
          </p:cNvSpPr>
          <p:nvPr/>
        </p:nvSpPr>
        <p:spPr>
          <a:xfrm>
            <a:off x="5103140" y="804190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0" name="!!Focus">
            <a:extLst>
              <a:ext uri="{FF2B5EF4-FFF2-40B4-BE49-F238E27FC236}">
                <a16:creationId xmlns:a16="http://schemas.microsoft.com/office/drawing/2014/main" id="{F8006801-E253-CC13-7ED2-FFB9FA26F390}"/>
              </a:ext>
            </a:extLst>
          </p:cNvPr>
          <p:cNvSpPr/>
          <p:nvPr/>
        </p:nvSpPr>
        <p:spPr>
          <a:xfrm rot="5400000">
            <a:off x="-1957855" y="3604748"/>
            <a:ext cx="5363509" cy="685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AA66E999-621C-320C-29C6-454C83A66028}"/>
              </a:ext>
            </a:extLst>
          </p:cNvPr>
          <p:cNvSpPr>
            <a:spLocks/>
          </p:cNvSpPr>
          <p:nvPr/>
        </p:nvSpPr>
        <p:spPr>
          <a:xfrm>
            <a:off x="5105400" y="7662191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Figure 2a (The "Eye Test" Heatmap): DS2 drives widespread elevated firing</a:t>
            </a:r>
          </a:p>
        </p:txBody>
      </p:sp>
    </p:spTree>
    <p:extLst>
      <p:ext uri="{BB962C8B-B14F-4D97-AF65-F5344CB8AC3E}">
        <p14:creationId xmlns:p14="http://schemas.microsoft.com/office/powerpoint/2010/main" val="1793373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3393B-2E7A-7BB0-B330-F7AF6E3C9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4DD77B-02DD-1C9B-47CF-7CB44956C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05" y="762000"/>
            <a:ext cx="9029395" cy="8308659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179835B-F106-5B26-49CF-510773074C94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914400 w 14554200"/>
              <a:gd name="csY0" fmla="*/ 76201 h 6172201"/>
              <a:gd name="csX1" fmla="*/ 914400 w 14554200"/>
              <a:gd name="csY1" fmla="*/ 4648201 h 6172201"/>
              <a:gd name="csX2" fmla="*/ 914400 w 14554200"/>
              <a:gd name="csY2" fmla="*/ 6096001 h 6172201"/>
              <a:gd name="csX3" fmla="*/ 5486400 w 14554200"/>
              <a:gd name="csY3" fmla="*/ 6096001 h 6172201"/>
              <a:gd name="csX4" fmla="*/ 5486400 w 14554200"/>
              <a:gd name="csY4" fmla="*/ 76201 h 6172201"/>
              <a:gd name="csX5" fmla="*/ 4343400 w 14554200"/>
              <a:gd name="csY5" fmla="*/ 76201 h 6172201"/>
              <a:gd name="csX6" fmla="*/ 0 w 14554200"/>
              <a:gd name="csY6" fmla="*/ 0 h 6172201"/>
              <a:gd name="csX7" fmla="*/ 68580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914400" y="76201"/>
                </a:moveTo>
                <a:lnTo>
                  <a:pt x="914400" y="4648201"/>
                </a:lnTo>
                <a:lnTo>
                  <a:pt x="914400" y="6096001"/>
                </a:lnTo>
                <a:lnTo>
                  <a:pt x="5486400" y="6096001"/>
                </a:lnTo>
                <a:lnTo>
                  <a:pt x="5486400" y="76201"/>
                </a:lnTo>
                <a:lnTo>
                  <a:pt x="4343400" y="762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5DFA2A06-A0F0-F812-896B-B9A1840C9BCC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40C40221-207E-14EF-DEC0-B0EC1B9ABDDE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AC4E8A-45A1-E601-011A-E65B840D4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834D14-A010-FC08-2A68-7BCC33090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1" name="!!N1">
            <a:extLst>
              <a:ext uri="{FF2B5EF4-FFF2-40B4-BE49-F238E27FC236}">
                <a16:creationId xmlns:a16="http://schemas.microsoft.com/office/drawing/2014/main" id="{11A6A99B-753D-33B7-952E-4B5F5BC49F59}"/>
              </a:ext>
            </a:extLst>
          </p:cNvPr>
          <p:cNvSpPr>
            <a:spLocks/>
          </p:cNvSpPr>
          <p:nvPr/>
        </p:nvSpPr>
        <p:spPr>
          <a:xfrm>
            <a:off x="5103140" y="1828800"/>
            <a:ext cx="6858000" cy="1192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Eye balling it: DS2 &gt; SPW-R &gt; DS1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CA0C59AE-CFFE-DDEE-1FE8-ADB8C6B98B9F}"/>
              </a:ext>
            </a:extLst>
          </p:cNvPr>
          <p:cNvSpPr>
            <a:spLocks/>
          </p:cNvSpPr>
          <p:nvPr/>
        </p:nvSpPr>
        <p:spPr>
          <a:xfrm>
            <a:off x="14707890" y="2667623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AA6BAC52-2858-6DA1-D46D-158FFA6FC576}"/>
              </a:ext>
            </a:extLst>
          </p:cNvPr>
          <p:cNvSpPr>
            <a:spLocks/>
          </p:cNvSpPr>
          <p:nvPr/>
        </p:nvSpPr>
        <p:spPr>
          <a:xfrm>
            <a:off x="12482464" y="448741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6A03E8FE-1123-03BD-FC42-BFD3DDCE7CE9}"/>
              </a:ext>
            </a:extLst>
          </p:cNvPr>
          <p:cNvSpPr>
            <a:spLocks/>
          </p:cNvSpPr>
          <p:nvPr/>
        </p:nvSpPr>
        <p:spPr>
          <a:xfrm>
            <a:off x="14718075" y="4490550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7" name="!!M5">
            <a:extLst>
              <a:ext uri="{FF2B5EF4-FFF2-40B4-BE49-F238E27FC236}">
                <a16:creationId xmlns:a16="http://schemas.microsoft.com/office/drawing/2014/main" id="{2DAC6BA7-F544-D741-D802-01D9953EABC6}"/>
              </a:ext>
            </a:extLst>
          </p:cNvPr>
          <p:cNvSpPr>
            <a:spLocks/>
          </p:cNvSpPr>
          <p:nvPr/>
        </p:nvSpPr>
        <p:spPr>
          <a:xfrm>
            <a:off x="13716000" y="6324600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sp>
        <p:nvSpPr>
          <p:cNvPr id="20" name="!!Focus">
            <a:extLst>
              <a:ext uri="{FF2B5EF4-FFF2-40B4-BE49-F238E27FC236}">
                <a16:creationId xmlns:a16="http://schemas.microsoft.com/office/drawing/2014/main" id="{11D65CDB-F302-E305-1E07-9CB853B9B45A}"/>
              </a:ext>
            </a:extLst>
          </p:cNvPr>
          <p:cNvSpPr/>
          <p:nvPr/>
        </p:nvSpPr>
        <p:spPr>
          <a:xfrm rot="5400000">
            <a:off x="-1177430" y="3558054"/>
            <a:ext cx="5363509" cy="685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N2">
            <a:extLst>
              <a:ext uri="{FF2B5EF4-FFF2-40B4-BE49-F238E27FC236}">
                <a16:creationId xmlns:a16="http://schemas.microsoft.com/office/drawing/2014/main" id="{8017074A-5169-3170-CAA0-CB0E6272A1B7}"/>
              </a:ext>
            </a:extLst>
          </p:cNvPr>
          <p:cNvSpPr>
            <a:spLocks/>
          </p:cNvSpPr>
          <p:nvPr/>
        </p:nvSpPr>
        <p:spPr>
          <a:xfrm>
            <a:off x="5105400" y="3657600"/>
            <a:ext cx="6858000" cy="1192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Columns: Activity of each brain regions for each spike</a:t>
            </a:r>
          </a:p>
        </p:txBody>
      </p:sp>
      <p:sp>
        <p:nvSpPr>
          <p:cNvPr id="11" name="!!Focus">
            <a:extLst>
              <a:ext uri="{FF2B5EF4-FFF2-40B4-BE49-F238E27FC236}">
                <a16:creationId xmlns:a16="http://schemas.microsoft.com/office/drawing/2014/main" id="{C07AD8CC-FDDD-54B4-C2C8-424B6D4DF0F5}"/>
              </a:ext>
            </a:extLst>
          </p:cNvPr>
          <p:cNvSpPr/>
          <p:nvPr/>
        </p:nvSpPr>
        <p:spPr>
          <a:xfrm rot="5400000">
            <a:off x="35420" y="3558055"/>
            <a:ext cx="5363509" cy="685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!!Focus">
            <a:extLst>
              <a:ext uri="{FF2B5EF4-FFF2-40B4-BE49-F238E27FC236}">
                <a16:creationId xmlns:a16="http://schemas.microsoft.com/office/drawing/2014/main" id="{CB52385D-EDB3-F65F-E39F-C332E0734C8F}"/>
              </a:ext>
            </a:extLst>
          </p:cNvPr>
          <p:cNvSpPr/>
          <p:nvPr/>
        </p:nvSpPr>
        <p:spPr>
          <a:xfrm rot="5400000">
            <a:off x="1232385" y="3558056"/>
            <a:ext cx="5363509" cy="685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061D646A-2160-4CF7-E2D0-742DCA81D404}"/>
              </a:ext>
            </a:extLst>
          </p:cNvPr>
          <p:cNvSpPr>
            <a:spLocks/>
          </p:cNvSpPr>
          <p:nvPr/>
        </p:nvSpPr>
        <p:spPr>
          <a:xfrm>
            <a:off x="5103140" y="804190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Figure 2a (The "Eye Test" Heatmap): DS2 drives widespread elevated firing</a:t>
            </a:r>
          </a:p>
        </p:txBody>
      </p:sp>
    </p:spTree>
    <p:extLst>
      <p:ext uri="{BB962C8B-B14F-4D97-AF65-F5344CB8AC3E}">
        <p14:creationId xmlns:p14="http://schemas.microsoft.com/office/powerpoint/2010/main" val="4031030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DD3B-A1F1-6A51-A32D-649BB6233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054924-4A7F-1F51-93C3-782E119E5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05" y="762000"/>
            <a:ext cx="9029395" cy="8308659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6846C4B-0551-AA7C-E106-9C4DC6D43968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914400 w 14554200"/>
              <a:gd name="csY0" fmla="*/ 76201 h 6172201"/>
              <a:gd name="csX1" fmla="*/ 914400 w 14554200"/>
              <a:gd name="csY1" fmla="*/ 4648201 h 6172201"/>
              <a:gd name="csX2" fmla="*/ 914400 w 14554200"/>
              <a:gd name="csY2" fmla="*/ 6096001 h 6172201"/>
              <a:gd name="csX3" fmla="*/ 5486400 w 14554200"/>
              <a:gd name="csY3" fmla="*/ 6096001 h 6172201"/>
              <a:gd name="csX4" fmla="*/ 5486400 w 14554200"/>
              <a:gd name="csY4" fmla="*/ 76201 h 6172201"/>
              <a:gd name="csX5" fmla="*/ 4343400 w 14554200"/>
              <a:gd name="csY5" fmla="*/ 76201 h 6172201"/>
              <a:gd name="csX6" fmla="*/ 0 w 14554200"/>
              <a:gd name="csY6" fmla="*/ 0 h 6172201"/>
              <a:gd name="csX7" fmla="*/ 68580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914400" y="76201"/>
                </a:moveTo>
                <a:lnTo>
                  <a:pt x="914400" y="4648201"/>
                </a:lnTo>
                <a:lnTo>
                  <a:pt x="914400" y="6096001"/>
                </a:lnTo>
                <a:lnTo>
                  <a:pt x="5486400" y="6096001"/>
                </a:lnTo>
                <a:lnTo>
                  <a:pt x="5486400" y="76201"/>
                </a:lnTo>
                <a:lnTo>
                  <a:pt x="4343400" y="7620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94CF8771-4D4C-C79D-6BC6-BB23B8949A94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924F13CF-E4E9-CED6-A114-9BC14B51D68E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4D8D56-6F38-66E9-6E75-B1E65D77CF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972544-CFDF-C895-D97D-06C826CE2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!!N4">
            <a:extLst>
              <a:ext uri="{FF2B5EF4-FFF2-40B4-BE49-F238E27FC236}">
                <a16:creationId xmlns:a16="http://schemas.microsoft.com/office/drawing/2014/main" id="{F7BDC8CD-0343-1A76-9AAE-7C9D74DCF25E}"/>
              </a:ext>
            </a:extLst>
          </p:cNvPr>
          <p:cNvSpPr>
            <a:spLocks/>
          </p:cNvSpPr>
          <p:nvPr/>
        </p:nvSpPr>
        <p:spPr>
          <a:xfrm>
            <a:off x="5092089" y="8571234"/>
            <a:ext cx="6858000" cy="678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Global Firing Rate &gt; SPW-R Global Firing Rate</a:t>
            </a:r>
          </a:p>
        </p:txBody>
      </p:sp>
      <p:sp>
        <p:nvSpPr>
          <p:cNvPr id="17" name="!!N3">
            <a:extLst>
              <a:ext uri="{FF2B5EF4-FFF2-40B4-BE49-F238E27FC236}">
                <a16:creationId xmlns:a16="http://schemas.microsoft.com/office/drawing/2014/main" id="{BF5F7DEB-ADE4-0DD8-6199-F71CE8DCF5A8}"/>
              </a:ext>
            </a:extLst>
          </p:cNvPr>
          <p:cNvSpPr>
            <a:spLocks/>
          </p:cNvSpPr>
          <p:nvPr/>
        </p:nvSpPr>
        <p:spPr>
          <a:xfrm>
            <a:off x="5103140" y="8305800"/>
            <a:ext cx="6858000" cy="678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X-axis: (DS2 Firing Rate) minus (SPW-R Firing Rate)</a:t>
            </a:r>
          </a:p>
        </p:txBody>
      </p:sp>
      <p:sp>
        <p:nvSpPr>
          <p:cNvPr id="2" name="!!M1">
            <a:extLst>
              <a:ext uri="{FF2B5EF4-FFF2-40B4-BE49-F238E27FC236}">
                <a16:creationId xmlns:a16="http://schemas.microsoft.com/office/drawing/2014/main" id="{60099862-9179-3CC3-27FE-D772B8CBD004}"/>
              </a:ext>
            </a:extLst>
          </p:cNvPr>
          <p:cNvSpPr>
            <a:spLocks/>
          </p:cNvSpPr>
          <p:nvPr/>
        </p:nvSpPr>
        <p:spPr>
          <a:xfrm>
            <a:off x="12482464" y="2566340"/>
            <a:ext cx="2068875" cy="16495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Extended Data Fig. 6a (Experimental Setup):Imaging AACs during behavior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F33A672E-3FF8-FFEB-6139-9BB683F3115B}"/>
              </a:ext>
            </a:extLst>
          </p:cNvPr>
          <p:cNvSpPr>
            <a:spLocks/>
          </p:cNvSpPr>
          <p:nvPr/>
        </p:nvSpPr>
        <p:spPr>
          <a:xfrm>
            <a:off x="14707890" y="2667623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6b (Raw Traces): AACs track start of movement and DS2</a:t>
            </a:r>
          </a:p>
        </p:txBody>
      </p:sp>
      <p:sp>
        <p:nvSpPr>
          <p:cNvPr id="4" name="!!M3">
            <a:extLst>
              <a:ext uri="{FF2B5EF4-FFF2-40B4-BE49-F238E27FC236}">
                <a16:creationId xmlns:a16="http://schemas.microsoft.com/office/drawing/2014/main" id="{40ACF263-BE0B-F82F-B18E-AEE55E9EE8A5}"/>
              </a:ext>
            </a:extLst>
          </p:cNvPr>
          <p:cNvSpPr>
            <a:spLocks/>
          </p:cNvSpPr>
          <p:nvPr/>
        </p:nvSpPr>
        <p:spPr>
          <a:xfrm>
            <a:off x="12482464" y="4487412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6c (Behavioral Correlation): AAC activity correlates with facial motion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3497091D-3962-DFE4-7968-1ED99F5B6DB0}"/>
              </a:ext>
            </a:extLst>
          </p:cNvPr>
          <p:cNvSpPr>
            <a:spLocks/>
          </p:cNvSpPr>
          <p:nvPr/>
        </p:nvSpPr>
        <p:spPr>
          <a:xfrm>
            <a:off x="14718075" y="4490550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6d (Event Coupling): AACs selectively active during DS2</a:t>
            </a:r>
          </a:p>
        </p:txBody>
      </p:sp>
      <p:sp>
        <p:nvSpPr>
          <p:cNvPr id="7" name="!!M5">
            <a:extLst>
              <a:ext uri="{FF2B5EF4-FFF2-40B4-BE49-F238E27FC236}">
                <a16:creationId xmlns:a16="http://schemas.microsoft.com/office/drawing/2014/main" id="{478EE71A-3C83-43F7-4C42-19F3F681373E}"/>
              </a:ext>
            </a:extLst>
          </p:cNvPr>
          <p:cNvSpPr>
            <a:spLocks/>
          </p:cNvSpPr>
          <p:nvPr/>
        </p:nvSpPr>
        <p:spPr>
          <a:xfrm>
            <a:off x="13716000" y="6324600"/>
            <a:ext cx="2068875" cy="16506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Extended Data Fig. 6e (Sensory Response):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Sensory stimuli evoke AAC activity</a:t>
            </a:r>
          </a:p>
        </p:txBody>
      </p:sp>
      <p:sp>
        <p:nvSpPr>
          <p:cNvPr id="20" name="!!Focus">
            <a:extLst>
              <a:ext uri="{FF2B5EF4-FFF2-40B4-BE49-F238E27FC236}">
                <a16:creationId xmlns:a16="http://schemas.microsoft.com/office/drawing/2014/main" id="{CBB17D20-21A0-360B-830E-6A7D47AD7F55}"/>
              </a:ext>
            </a:extLst>
          </p:cNvPr>
          <p:cNvSpPr/>
          <p:nvPr/>
        </p:nvSpPr>
        <p:spPr>
          <a:xfrm rot="5400000">
            <a:off x="900968" y="2909032"/>
            <a:ext cx="1169859" cy="38100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N2">
            <a:extLst>
              <a:ext uri="{FF2B5EF4-FFF2-40B4-BE49-F238E27FC236}">
                <a16:creationId xmlns:a16="http://schemas.microsoft.com/office/drawing/2014/main" id="{CC9477DB-6366-0001-DF01-748551D9EF8C}"/>
              </a:ext>
            </a:extLst>
          </p:cNvPr>
          <p:cNvSpPr>
            <a:spLocks/>
          </p:cNvSpPr>
          <p:nvPr/>
        </p:nvSpPr>
        <p:spPr>
          <a:xfrm>
            <a:off x="5105400" y="1600200"/>
            <a:ext cx="6858000" cy="1192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Columns: Activity of each brain regions for each spike</a:t>
            </a:r>
          </a:p>
        </p:txBody>
      </p:sp>
      <p:sp>
        <p:nvSpPr>
          <p:cNvPr id="11" name="!!Focus">
            <a:extLst>
              <a:ext uri="{FF2B5EF4-FFF2-40B4-BE49-F238E27FC236}">
                <a16:creationId xmlns:a16="http://schemas.microsoft.com/office/drawing/2014/main" id="{669C118B-DC6E-91F0-9631-B1FA7DFD4AA6}"/>
              </a:ext>
            </a:extLst>
          </p:cNvPr>
          <p:cNvSpPr/>
          <p:nvPr/>
        </p:nvSpPr>
        <p:spPr>
          <a:xfrm rot="5400000">
            <a:off x="1757140" y="2357660"/>
            <a:ext cx="1981202" cy="31388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!!Focus">
            <a:extLst>
              <a:ext uri="{FF2B5EF4-FFF2-40B4-BE49-F238E27FC236}">
                <a16:creationId xmlns:a16="http://schemas.microsoft.com/office/drawing/2014/main" id="{DDB26610-014C-6EC5-99B0-767E4A5227D9}"/>
              </a:ext>
            </a:extLst>
          </p:cNvPr>
          <p:cNvSpPr/>
          <p:nvPr/>
        </p:nvSpPr>
        <p:spPr>
          <a:xfrm rot="5400000">
            <a:off x="1427331" y="3713336"/>
            <a:ext cx="4993937" cy="381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6E8FE397-4A4F-4213-CF07-AEFC798E9549}"/>
              </a:ext>
            </a:extLst>
          </p:cNvPr>
          <p:cNvSpPr>
            <a:spLocks/>
          </p:cNvSpPr>
          <p:nvPr/>
        </p:nvSpPr>
        <p:spPr>
          <a:xfrm>
            <a:off x="5103140" y="804190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14" name="!!N1">
            <a:extLst>
              <a:ext uri="{FF2B5EF4-FFF2-40B4-BE49-F238E27FC236}">
                <a16:creationId xmlns:a16="http://schemas.microsoft.com/office/drawing/2014/main" id="{B1CE3EB4-C3B0-A957-16D9-0E151F376343}"/>
              </a:ext>
            </a:extLst>
          </p:cNvPr>
          <p:cNvSpPr>
            <a:spLocks/>
          </p:cNvSpPr>
          <p:nvPr/>
        </p:nvSpPr>
        <p:spPr>
          <a:xfrm>
            <a:off x="5103140" y="3684460"/>
            <a:ext cx="6858000" cy="1192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Eye balling it: DS2 &gt; SPW-R &gt; DS1</a:t>
            </a:r>
          </a:p>
        </p:txBody>
      </p:sp>
      <p:sp>
        <p:nvSpPr>
          <p:cNvPr id="16" name="!!M2">
            <a:extLst>
              <a:ext uri="{FF2B5EF4-FFF2-40B4-BE49-F238E27FC236}">
                <a16:creationId xmlns:a16="http://schemas.microsoft.com/office/drawing/2014/main" id="{793DEE4E-C9A2-2F85-D58E-350D9386711E}"/>
              </a:ext>
            </a:extLst>
          </p:cNvPr>
          <p:cNvSpPr>
            <a:spLocks/>
          </p:cNvSpPr>
          <p:nvPr/>
        </p:nvSpPr>
        <p:spPr>
          <a:xfrm>
            <a:off x="5105400" y="7204991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2b (The Difference Ranking): DS2 firing exceeds SPW-R brain-wide</a:t>
            </a:r>
          </a:p>
        </p:txBody>
      </p:sp>
    </p:spTree>
    <p:extLst>
      <p:ext uri="{BB962C8B-B14F-4D97-AF65-F5344CB8AC3E}">
        <p14:creationId xmlns:p14="http://schemas.microsoft.com/office/powerpoint/2010/main" val="2263785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B9836-A3B0-C83D-DF89-14F865632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6611204-74D4-05C5-3CA4-F31D7B6FD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66995" y="762000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21" name="!!Freeform: Shape 20">
            <a:extLst>
              <a:ext uri="{FF2B5EF4-FFF2-40B4-BE49-F238E27FC236}">
                <a16:creationId xmlns:a16="http://schemas.microsoft.com/office/drawing/2014/main" id="{7B9CAD0C-9E17-4BDF-D0D1-D8AEF16FF4A8}"/>
              </a:ext>
            </a:extLst>
          </p:cNvPr>
          <p:cNvSpPr/>
          <p:nvPr/>
        </p:nvSpPr>
        <p:spPr>
          <a:xfrm>
            <a:off x="-762000" y="685799"/>
            <a:ext cx="13322282" cy="6172201"/>
          </a:xfrm>
          <a:custGeom>
            <a:avLst/>
            <a:gdLst>
              <a:gd name="csX0" fmla="*/ 2590799 w 13322282"/>
              <a:gd name="csY0" fmla="*/ 76201 h 6172201"/>
              <a:gd name="csX1" fmla="*/ 2590799 w 13322282"/>
              <a:gd name="csY1" fmla="*/ 6096001 h 6172201"/>
              <a:gd name="csX2" fmla="*/ 5022012 w 13322282"/>
              <a:gd name="csY2" fmla="*/ 6096001 h 6172201"/>
              <a:gd name="csX3" fmla="*/ 5022012 w 13322282"/>
              <a:gd name="csY3" fmla="*/ 76201 h 6172201"/>
              <a:gd name="csX4" fmla="*/ 3975760 w 13322282"/>
              <a:gd name="csY4" fmla="*/ 76201 h 6172201"/>
              <a:gd name="csX5" fmla="*/ 0 w 13322282"/>
              <a:gd name="csY5" fmla="*/ 0 h 6172201"/>
              <a:gd name="csX6" fmla="*/ 627752 w 13322282"/>
              <a:gd name="csY6" fmla="*/ 0 h 6172201"/>
              <a:gd name="csX7" fmla="*/ 7044767 w 13322282"/>
              <a:gd name="csY7" fmla="*/ 0 h 6172201"/>
              <a:gd name="csX8" fmla="*/ 13322282 w 13322282"/>
              <a:gd name="csY8" fmla="*/ 0 h 6172201"/>
              <a:gd name="csX9" fmla="*/ 13322282 w 13322282"/>
              <a:gd name="csY9" fmla="*/ 6172199 h 6172201"/>
              <a:gd name="csX10" fmla="*/ 12365045 w 13322282"/>
              <a:gd name="csY10" fmla="*/ 6172199 h 6172201"/>
              <a:gd name="csX11" fmla="*/ 12365045 w 13322282"/>
              <a:gd name="csY11" fmla="*/ 6172201 h 6172201"/>
              <a:gd name="csX12" fmla="*/ 7254018 w 13322282"/>
              <a:gd name="csY12" fmla="*/ 6172201 h 6172201"/>
              <a:gd name="csX13" fmla="*/ 7254018 w 13322282"/>
              <a:gd name="csY13" fmla="*/ 6172200 h 6172201"/>
              <a:gd name="csX14" fmla="*/ 697502 w 13322282"/>
              <a:gd name="csY14" fmla="*/ 6172200 h 6172201"/>
              <a:gd name="csX15" fmla="*/ 697502 w 13322282"/>
              <a:gd name="csY15" fmla="*/ 6172199 h 6172201"/>
              <a:gd name="csX16" fmla="*/ 0 w 13322282"/>
              <a:gd name="csY16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3322282" h="6172201">
                <a:moveTo>
                  <a:pt x="2590799" y="76201"/>
                </a:moveTo>
                <a:lnTo>
                  <a:pt x="2590799" y="6096001"/>
                </a:lnTo>
                <a:lnTo>
                  <a:pt x="5022012" y="6096001"/>
                </a:lnTo>
                <a:lnTo>
                  <a:pt x="5022012" y="76201"/>
                </a:lnTo>
                <a:lnTo>
                  <a:pt x="3975760" y="762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E4143A50-1098-905D-A4AC-1BF13C8793A4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3A79E8B9-A01B-63EA-6B39-CC412CAA7132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sp>
        <p:nvSpPr>
          <p:cNvPr id="25" name="!!N4">
            <a:extLst>
              <a:ext uri="{FF2B5EF4-FFF2-40B4-BE49-F238E27FC236}">
                <a16:creationId xmlns:a16="http://schemas.microsoft.com/office/drawing/2014/main" id="{01F3261F-37DA-74AC-2F85-A9026BB28097}"/>
              </a:ext>
            </a:extLst>
          </p:cNvPr>
          <p:cNvSpPr>
            <a:spLocks/>
          </p:cNvSpPr>
          <p:nvPr/>
        </p:nvSpPr>
        <p:spPr>
          <a:xfrm>
            <a:off x="5105400" y="3124200"/>
            <a:ext cx="6858000" cy="678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Global Firing Rate &gt; SPW-R Global Firing Rate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714AAC-788A-2CAA-9494-816F310BE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A11699-7FF3-903E-F4FF-F584DE4D3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4" name="!!N1">
            <a:extLst>
              <a:ext uri="{FF2B5EF4-FFF2-40B4-BE49-F238E27FC236}">
                <a16:creationId xmlns:a16="http://schemas.microsoft.com/office/drawing/2014/main" id="{D5FAE88B-0E2B-AD97-0D72-255A2B4B305E}"/>
              </a:ext>
            </a:extLst>
          </p:cNvPr>
          <p:cNvSpPr>
            <a:spLocks/>
          </p:cNvSpPr>
          <p:nvPr/>
        </p:nvSpPr>
        <p:spPr>
          <a:xfrm>
            <a:off x="5103140" y="914400"/>
            <a:ext cx="6858000" cy="430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Eye balling it: DS2 &gt; SPW-R &gt; DS1</a:t>
            </a:r>
          </a:p>
        </p:txBody>
      </p:sp>
      <p:sp>
        <p:nvSpPr>
          <p:cNvPr id="20" name="!!Focus">
            <a:extLst>
              <a:ext uri="{FF2B5EF4-FFF2-40B4-BE49-F238E27FC236}">
                <a16:creationId xmlns:a16="http://schemas.microsoft.com/office/drawing/2014/main" id="{1D9413F8-D70B-1815-CA4E-35319BB8C2CA}"/>
              </a:ext>
            </a:extLst>
          </p:cNvPr>
          <p:cNvSpPr/>
          <p:nvPr/>
        </p:nvSpPr>
        <p:spPr>
          <a:xfrm rot="5400000">
            <a:off x="2705098" y="5407962"/>
            <a:ext cx="533403" cy="21336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N2">
            <a:extLst>
              <a:ext uri="{FF2B5EF4-FFF2-40B4-BE49-F238E27FC236}">
                <a16:creationId xmlns:a16="http://schemas.microsoft.com/office/drawing/2014/main" id="{278E5A69-6CC4-C6FF-9124-940391B03A94}"/>
              </a:ext>
            </a:extLst>
          </p:cNvPr>
          <p:cNvSpPr>
            <a:spLocks/>
          </p:cNvSpPr>
          <p:nvPr/>
        </p:nvSpPr>
        <p:spPr>
          <a:xfrm>
            <a:off x="5105400" y="914400"/>
            <a:ext cx="6858000" cy="381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Columns: Activity of each brain regions for each spike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5B20AEE7-08B6-2D00-87BB-9D96B84088B8}"/>
              </a:ext>
            </a:extLst>
          </p:cNvPr>
          <p:cNvSpPr>
            <a:spLocks/>
          </p:cNvSpPr>
          <p:nvPr/>
        </p:nvSpPr>
        <p:spPr>
          <a:xfrm>
            <a:off x="5103140" y="804191"/>
            <a:ext cx="686026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D71393B4-925C-9BF3-3693-7B392A5E079B}"/>
              </a:ext>
            </a:extLst>
          </p:cNvPr>
          <p:cNvSpPr>
            <a:spLocks/>
          </p:cNvSpPr>
          <p:nvPr/>
        </p:nvSpPr>
        <p:spPr>
          <a:xfrm>
            <a:off x="5103140" y="1600200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23" name="!!N3">
            <a:extLst>
              <a:ext uri="{FF2B5EF4-FFF2-40B4-BE49-F238E27FC236}">
                <a16:creationId xmlns:a16="http://schemas.microsoft.com/office/drawing/2014/main" id="{D26847D9-318E-D230-DF62-892CAC1A7B24}"/>
              </a:ext>
            </a:extLst>
          </p:cNvPr>
          <p:cNvSpPr>
            <a:spLocks/>
          </p:cNvSpPr>
          <p:nvPr/>
        </p:nvSpPr>
        <p:spPr>
          <a:xfrm>
            <a:off x="5103140" y="4502915"/>
            <a:ext cx="6858000" cy="678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X-axis: (DS2 Firing Rate) minus (SPW-R Firing Rate)</a:t>
            </a:r>
          </a:p>
        </p:txBody>
      </p:sp>
    </p:spTree>
    <p:extLst>
      <p:ext uri="{BB962C8B-B14F-4D97-AF65-F5344CB8AC3E}">
        <p14:creationId xmlns:p14="http://schemas.microsoft.com/office/powerpoint/2010/main" val="4184880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B132-2BE8-FACB-41C6-159E2144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8969D8-C079-1EAF-C27B-0C66AA841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66995" y="762000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21" name="!!Freeform: Shape 20">
            <a:extLst>
              <a:ext uri="{FF2B5EF4-FFF2-40B4-BE49-F238E27FC236}">
                <a16:creationId xmlns:a16="http://schemas.microsoft.com/office/drawing/2014/main" id="{6DC2721F-F051-D491-AB03-F86ABE3C7443}"/>
              </a:ext>
            </a:extLst>
          </p:cNvPr>
          <p:cNvSpPr/>
          <p:nvPr/>
        </p:nvSpPr>
        <p:spPr>
          <a:xfrm>
            <a:off x="-762000" y="685799"/>
            <a:ext cx="13322282" cy="6172201"/>
          </a:xfrm>
          <a:custGeom>
            <a:avLst/>
            <a:gdLst>
              <a:gd name="csX0" fmla="*/ 2590799 w 13322282"/>
              <a:gd name="csY0" fmla="*/ 76201 h 6172201"/>
              <a:gd name="csX1" fmla="*/ 2590799 w 13322282"/>
              <a:gd name="csY1" fmla="*/ 6096001 h 6172201"/>
              <a:gd name="csX2" fmla="*/ 5022012 w 13322282"/>
              <a:gd name="csY2" fmla="*/ 6096001 h 6172201"/>
              <a:gd name="csX3" fmla="*/ 5022012 w 13322282"/>
              <a:gd name="csY3" fmla="*/ 76201 h 6172201"/>
              <a:gd name="csX4" fmla="*/ 3975760 w 13322282"/>
              <a:gd name="csY4" fmla="*/ 76201 h 6172201"/>
              <a:gd name="csX5" fmla="*/ 0 w 13322282"/>
              <a:gd name="csY5" fmla="*/ 0 h 6172201"/>
              <a:gd name="csX6" fmla="*/ 627752 w 13322282"/>
              <a:gd name="csY6" fmla="*/ 0 h 6172201"/>
              <a:gd name="csX7" fmla="*/ 7044767 w 13322282"/>
              <a:gd name="csY7" fmla="*/ 0 h 6172201"/>
              <a:gd name="csX8" fmla="*/ 13322282 w 13322282"/>
              <a:gd name="csY8" fmla="*/ 0 h 6172201"/>
              <a:gd name="csX9" fmla="*/ 13322282 w 13322282"/>
              <a:gd name="csY9" fmla="*/ 6172199 h 6172201"/>
              <a:gd name="csX10" fmla="*/ 12365045 w 13322282"/>
              <a:gd name="csY10" fmla="*/ 6172199 h 6172201"/>
              <a:gd name="csX11" fmla="*/ 12365045 w 13322282"/>
              <a:gd name="csY11" fmla="*/ 6172201 h 6172201"/>
              <a:gd name="csX12" fmla="*/ 7254018 w 13322282"/>
              <a:gd name="csY12" fmla="*/ 6172201 h 6172201"/>
              <a:gd name="csX13" fmla="*/ 7254018 w 13322282"/>
              <a:gd name="csY13" fmla="*/ 6172200 h 6172201"/>
              <a:gd name="csX14" fmla="*/ 697502 w 13322282"/>
              <a:gd name="csY14" fmla="*/ 6172200 h 6172201"/>
              <a:gd name="csX15" fmla="*/ 697502 w 13322282"/>
              <a:gd name="csY15" fmla="*/ 6172199 h 6172201"/>
              <a:gd name="csX16" fmla="*/ 0 w 13322282"/>
              <a:gd name="csY16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3322282" h="6172201">
                <a:moveTo>
                  <a:pt x="2590799" y="76201"/>
                </a:moveTo>
                <a:lnTo>
                  <a:pt x="2590799" y="6096001"/>
                </a:lnTo>
                <a:lnTo>
                  <a:pt x="5022012" y="6096001"/>
                </a:lnTo>
                <a:lnTo>
                  <a:pt x="5022012" y="76201"/>
                </a:lnTo>
                <a:lnTo>
                  <a:pt x="3975760" y="762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1E89BCC3-D5CB-970C-1DCA-9A910CF91810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FB959287-6F99-4E8A-CAA6-C2237040B3C5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sp>
        <p:nvSpPr>
          <p:cNvPr id="6" name="!!N5">
            <a:extLst>
              <a:ext uri="{FF2B5EF4-FFF2-40B4-BE49-F238E27FC236}">
                <a16:creationId xmlns:a16="http://schemas.microsoft.com/office/drawing/2014/main" id="{1EA32520-C41F-FC26-7756-B95FFD183802}"/>
              </a:ext>
            </a:extLst>
          </p:cNvPr>
          <p:cNvSpPr>
            <a:spLocks/>
          </p:cNvSpPr>
          <p:nvPr/>
        </p:nvSpPr>
        <p:spPr>
          <a:xfrm>
            <a:off x="5105400" y="2971800"/>
            <a:ext cx="6858000" cy="678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Local Firing Rate &gt; SPW-R Global Firing Rate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3E03F3-3FC5-1C4A-5749-90552718A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7D6D5A-74CF-D2AC-E5EC-D3F6CC6DB6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3" name="!!N3">
            <a:extLst>
              <a:ext uri="{FF2B5EF4-FFF2-40B4-BE49-F238E27FC236}">
                <a16:creationId xmlns:a16="http://schemas.microsoft.com/office/drawing/2014/main" id="{1EB35111-8685-9530-06F4-34C125CBFE62}"/>
              </a:ext>
            </a:extLst>
          </p:cNvPr>
          <p:cNvSpPr>
            <a:spLocks/>
          </p:cNvSpPr>
          <p:nvPr/>
        </p:nvSpPr>
        <p:spPr>
          <a:xfrm>
            <a:off x="5103140" y="3200400"/>
            <a:ext cx="6858000" cy="678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X-axis: (DS2 Firing Rate) minus (SPW-R Firing Rate)</a:t>
            </a:r>
          </a:p>
        </p:txBody>
      </p:sp>
      <p:sp>
        <p:nvSpPr>
          <p:cNvPr id="14" name="!!N1">
            <a:extLst>
              <a:ext uri="{FF2B5EF4-FFF2-40B4-BE49-F238E27FC236}">
                <a16:creationId xmlns:a16="http://schemas.microsoft.com/office/drawing/2014/main" id="{D50320BD-A77E-E277-D4BC-B51FEA645CA0}"/>
              </a:ext>
            </a:extLst>
          </p:cNvPr>
          <p:cNvSpPr>
            <a:spLocks/>
          </p:cNvSpPr>
          <p:nvPr/>
        </p:nvSpPr>
        <p:spPr>
          <a:xfrm>
            <a:off x="5103140" y="914400"/>
            <a:ext cx="6858000" cy="430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Eye balling it: DS2 &gt; SPW-R &gt; DS1</a:t>
            </a:r>
          </a:p>
        </p:txBody>
      </p:sp>
      <p:sp>
        <p:nvSpPr>
          <p:cNvPr id="20" name="!!Focus">
            <a:extLst>
              <a:ext uri="{FF2B5EF4-FFF2-40B4-BE49-F238E27FC236}">
                <a16:creationId xmlns:a16="http://schemas.microsoft.com/office/drawing/2014/main" id="{63E6F266-B4D1-2CBC-339D-92A8C6A6CFE8}"/>
              </a:ext>
            </a:extLst>
          </p:cNvPr>
          <p:cNvSpPr/>
          <p:nvPr/>
        </p:nvSpPr>
        <p:spPr>
          <a:xfrm rot="5400000">
            <a:off x="959157" y="2102162"/>
            <a:ext cx="4343404" cy="196788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N2">
            <a:extLst>
              <a:ext uri="{FF2B5EF4-FFF2-40B4-BE49-F238E27FC236}">
                <a16:creationId xmlns:a16="http://schemas.microsoft.com/office/drawing/2014/main" id="{317E390D-F04C-EDC5-91AA-131C0460DB5C}"/>
              </a:ext>
            </a:extLst>
          </p:cNvPr>
          <p:cNvSpPr>
            <a:spLocks/>
          </p:cNvSpPr>
          <p:nvPr/>
        </p:nvSpPr>
        <p:spPr>
          <a:xfrm>
            <a:off x="5105400" y="914400"/>
            <a:ext cx="6858000" cy="381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Columns: Activity of each brain regions for each spike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C1EFD69B-8426-8A70-AF81-0E45864BFA61}"/>
              </a:ext>
            </a:extLst>
          </p:cNvPr>
          <p:cNvSpPr>
            <a:spLocks/>
          </p:cNvSpPr>
          <p:nvPr/>
        </p:nvSpPr>
        <p:spPr>
          <a:xfrm>
            <a:off x="5103140" y="804191"/>
            <a:ext cx="686026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D0448F6A-22E8-4F11-D089-2365463D351D}"/>
              </a:ext>
            </a:extLst>
          </p:cNvPr>
          <p:cNvSpPr>
            <a:spLocks/>
          </p:cNvSpPr>
          <p:nvPr/>
        </p:nvSpPr>
        <p:spPr>
          <a:xfrm>
            <a:off x="5103140" y="1600200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2" name="!!N4">
            <a:extLst>
              <a:ext uri="{FF2B5EF4-FFF2-40B4-BE49-F238E27FC236}">
                <a16:creationId xmlns:a16="http://schemas.microsoft.com/office/drawing/2014/main" id="{03E864C5-5334-3C01-00D7-EAE92F915B09}"/>
              </a:ext>
            </a:extLst>
          </p:cNvPr>
          <p:cNvSpPr>
            <a:spLocks/>
          </p:cNvSpPr>
          <p:nvPr/>
        </p:nvSpPr>
        <p:spPr>
          <a:xfrm>
            <a:off x="5105400" y="4419600"/>
            <a:ext cx="6858000" cy="678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Global Firing Rate &gt; SPW-R Global Firing Rate</a:t>
            </a:r>
          </a:p>
        </p:txBody>
      </p:sp>
    </p:spTree>
    <p:extLst>
      <p:ext uri="{BB962C8B-B14F-4D97-AF65-F5344CB8AC3E}">
        <p14:creationId xmlns:p14="http://schemas.microsoft.com/office/powerpoint/2010/main" val="3408085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0881-651D-455C-C0D7-BF365B816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7A4E15-117A-A0EC-C64E-63524E7D3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66995" y="762000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21" name="!!Freeform: Shape 20">
            <a:extLst>
              <a:ext uri="{FF2B5EF4-FFF2-40B4-BE49-F238E27FC236}">
                <a16:creationId xmlns:a16="http://schemas.microsoft.com/office/drawing/2014/main" id="{EB45816A-5656-4646-0991-ADC6EADEEB41}"/>
              </a:ext>
            </a:extLst>
          </p:cNvPr>
          <p:cNvSpPr/>
          <p:nvPr/>
        </p:nvSpPr>
        <p:spPr>
          <a:xfrm>
            <a:off x="-762000" y="685799"/>
            <a:ext cx="13322282" cy="6172201"/>
          </a:xfrm>
          <a:custGeom>
            <a:avLst/>
            <a:gdLst>
              <a:gd name="csX0" fmla="*/ 2590799 w 13322282"/>
              <a:gd name="csY0" fmla="*/ 76201 h 6172201"/>
              <a:gd name="csX1" fmla="*/ 2590799 w 13322282"/>
              <a:gd name="csY1" fmla="*/ 6096001 h 6172201"/>
              <a:gd name="csX2" fmla="*/ 5022012 w 13322282"/>
              <a:gd name="csY2" fmla="*/ 6096001 h 6172201"/>
              <a:gd name="csX3" fmla="*/ 5022012 w 13322282"/>
              <a:gd name="csY3" fmla="*/ 76201 h 6172201"/>
              <a:gd name="csX4" fmla="*/ 3975760 w 13322282"/>
              <a:gd name="csY4" fmla="*/ 76201 h 6172201"/>
              <a:gd name="csX5" fmla="*/ 0 w 13322282"/>
              <a:gd name="csY5" fmla="*/ 0 h 6172201"/>
              <a:gd name="csX6" fmla="*/ 627752 w 13322282"/>
              <a:gd name="csY6" fmla="*/ 0 h 6172201"/>
              <a:gd name="csX7" fmla="*/ 7044767 w 13322282"/>
              <a:gd name="csY7" fmla="*/ 0 h 6172201"/>
              <a:gd name="csX8" fmla="*/ 13322282 w 13322282"/>
              <a:gd name="csY8" fmla="*/ 0 h 6172201"/>
              <a:gd name="csX9" fmla="*/ 13322282 w 13322282"/>
              <a:gd name="csY9" fmla="*/ 6172199 h 6172201"/>
              <a:gd name="csX10" fmla="*/ 12365045 w 13322282"/>
              <a:gd name="csY10" fmla="*/ 6172199 h 6172201"/>
              <a:gd name="csX11" fmla="*/ 12365045 w 13322282"/>
              <a:gd name="csY11" fmla="*/ 6172201 h 6172201"/>
              <a:gd name="csX12" fmla="*/ 7254018 w 13322282"/>
              <a:gd name="csY12" fmla="*/ 6172201 h 6172201"/>
              <a:gd name="csX13" fmla="*/ 7254018 w 13322282"/>
              <a:gd name="csY13" fmla="*/ 6172200 h 6172201"/>
              <a:gd name="csX14" fmla="*/ 697502 w 13322282"/>
              <a:gd name="csY14" fmla="*/ 6172200 h 6172201"/>
              <a:gd name="csX15" fmla="*/ 697502 w 13322282"/>
              <a:gd name="csY15" fmla="*/ 6172199 h 6172201"/>
              <a:gd name="csX16" fmla="*/ 0 w 13322282"/>
              <a:gd name="csY16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3322282" h="6172201">
                <a:moveTo>
                  <a:pt x="2590799" y="76201"/>
                </a:moveTo>
                <a:lnTo>
                  <a:pt x="2590799" y="6096001"/>
                </a:lnTo>
                <a:lnTo>
                  <a:pt x="5022012" y="6096001"/>
                </a:lnTo>
                <a:lnTo>
                  <a:pt x="5022012" y="76201"/>
                </a:lnTo>
                <a:lnTo>
                  <a:pt x="3975760" y="762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BDC53830-495F-9383-6AE4-8B78B2B91FC6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DD56DF04-D76D-7E3A-4E9E-DDEB6D1F3F7A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sp>
        <p:nvSpPr>
          <p:cNvPr id="4" name="!!N5">
            <a:extLst>
              <a:ext uri="{FF2B5EF4-FFF2-40B4-BE49-F238E27FC236}">
                <a16:creationId xmlns:a16="http://schemas.microsoft.com/office/drawing/2014/main" id="{4786AF67-352C-00B2-A5CD-AB3ED65CC5F9}"/>
              </a:ext>
            </a:extLst>
          </p:cNvPr>
          <p:cNvSpPr>
            <a:spLocks/>
          </p:cNvSpPr>
          <p:nvPr/>
        </p:nvSpPr>
        <p:spPr>
          <a:xfrm>
            <a:off x="5105400" y="4495800"/>
            <a:ext cx="6858000" cy="678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Local Firing Rate &lt; SPW-R Global Firing Rate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A45F72-7E23-9F43-C6D7-8A480E1C4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FC7491-09DD-02A1-51E1-DEC4DEFB9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N4">
            <a:extLst>
              <a:ext uri="{FF2B5EF4-FFF2-40B4-BE49-F238E27FC236}">
                <a16:creationId xmlns:a16="http://schemas.microsoft.com/office/drawing/2014/main" id="{535C0C52-0E57-A07E-F6A6-AE0761EADD01}"/>
              </a:ext>
            </a:extLst>
          </p:cNvPr>
          <p:cNvSpPr>
            <a:spLocks/>
          </p:cNvSpPr>
          <p:nvPr/>
        </p:nvSpPr>
        <p:spPr>
          <a:xfrm>
            <a:off x="5105400" y="3048000"/>
            <a:ext cx="6858000" cy="678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Global Firing Rate &gt; SPW-R Global Firing Rate</a:t>
            </a:r>
          </a:p>
        </p:txBody>
      </p:sp>
      <p:sp>
        <p:nvSpPr>
          <p:cNvPr id="23" name="!!N3">
            <a:extLst>
              <a:ext uri="{FF2B5EF4-FFF2-40B4-BE49-F238E27FC236}">
                <a16:creationId xmlns:a16="http://schemas.microsoft.com/office/drawing/2014/main" id="{DE3896DE-EF2A-2AF8-8B84-1C4134556CD4}"/>
              </a:ext>
            </a:extLst>
          </p:cNvPr>
          <p:cNvSpPr>
            <a:spLocks/>
          </p:cNvSpPr>
          <p:nvPr/>
        </p:nvSpPr>
        <p:spPr>
          <a:xfrm>
            <a:off x="5103140" y="3200400"/>
            <a:ext cx="6858000" cy="6786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X-axis: (DS2 Firing Rate) minus (SPW-R Firing Rate)</a:t>
            </a:r>
          </a:p>
        </p:txBody>
      </p:sp>
      <p:sp>
        <p:nvSpPr>
          <p:cNvPr id="14" name="!!N1">
            <a:extLst>
              <a:ext uri="{FF2B5EF4-FFF2-40B4-BE49-F238E27FC236}">
                <a16:creationId xmlns:a16="http://schemas.microsoft.com/office/drawing/2014/main" id="{A5C101BC-E9ED-1222-FEA9-C352A7309788}"/>
              </a:ext>
            </a:extLst>
          </p:cNvPr>
          <p:cNvSpPr>
            <a:spLocks/>
          </p:cNvSpPr>
          <p:nvPr/>
        </p:nvSpPr>
        <p:spPr>
          <a:xfrm>
            <a:off x="5103140" y="914400"/>
            <a:ext cx="6858000" cy="430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Eye balling it: DS2 &gt; SPW-R &gt; DS1</a:t>
            </a:r>
          </a:p>
        </p:txBody>
      </p:sp>
      <p:sp>
        <p:nvSpPr>
          <p:cNvPr id="20" name="!!Focus">
            <a:extLst>
              <a:ext uri="{FF2B5EF4-FFF2-40B4-BE49-F238E27FC236}">
                <a16:creationId xmlns:a16="http://schemas.microsoft.com/office/drawing/2014/main" id="{F4BAB2FC-7A57-4FE9-CC47-C5B0846F2B05}"/>
              </a:ext>
            </a:extLst>
          </p:cNvPr>
          <p:cNvSpPr/>
          <p:nvPr/>
        </p:nvSpPr>
        <p:spPr>
          <a:xfrm rot="5400000">
            <a:off x="2019300" y="5143504"/>
            <a:ext cx="914399" cy="12954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N2">
            <a:extLst>
              <a:ext uri="{FF2B5EF4-FFF2-40B4-BE49-F238E27FC236}">
                <a16:creationId xmlns:a16="http://schemas.microsoft.com/office/drawing/2014/main" id="{CE00FDCF-8CE3-F2A2-49A9-F5C8009673AB}"/>
              </a:ext>
            </a:extLst>
          </p:cNvPr>
          <p:cNvSpPr>
            <a:spLocks/>
          </p:cNvSpPr>
          <p:nvPr/>
        </p:nvSpPr>
        <p:spPr>
          <a:xfrm>
            <a:off x="5105400" y="914400"/>
            <a:ext cx="6858000" cy="381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Columns: Activity of each brain regions for each spike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EDF9AA52-971F-65FF-3FF8-AEE27D089461}"/>
              </a:ext>
            </a:extLst>
          </p:cNvPr>
          <p:cNvSpPr>
            <a:spLocks/>
          </p:cNvSpPr>
          <p:nvPr/>
        </p:nvSpPr>
        <p:spPr>
          <a:xfrm>
            <a:off x="5103140" y="804191"/>
            <a:ext cx="686026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984450ED-49B7-A29E-01E4-4ED1EBCBD07C}"/>
              </a:ext>
            </a:extLst>
          </p:cNvPr>
          <p:cNvSpPr>
            <a:spLocks/>
          </p:cNvSpPr>
          <p:nvPr/>
        </p:nvSpPr>
        <p:spPr>
          <a:xfrm>
            <a:off x="5103140" y="1600200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6" name="!!M2">
            <a:extLst>
              <a:ext uri="{FF2B5EF4-FFF2-40B4-BE49-F238E27FC236}">
                <a16:creationId xmlns:a16="http://schemas.microsoft.com/office/drawing/2014/main" id="{66BC98D7-3F77-FAD5-572A-D53AF150AC31}"/>
              </a:ext>
            </a:extLst>
          </p:cNvPr>
          <p:cNvSpPr>
            <a:spLocks/>
          </p:cNvSpPr>
          <p:nvPr/>
        </p:nvSpPr>
        <p:spPr>
          <a:xfrm>
            <a:off x="5100880" y="7315200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2c (Neural Recruitment): Neurons preferentially fire during DS2</a:t>
            </a:r>
          </a:p>
        </p:txBody>
      </p:sp>
    </p:spTree>
    <p:extLst>
      <p:ext uri="{BB962C8B-B14F-4D97-AF65-F5344CB8AC3E}">
        <p14:creationId xmlns:p14="http://schemas.microsoft.com/office/powerpoint/2010/main" val="3955956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14993-4717-6041-04F8-3F173BADE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ABA64C2-04A3-E650-9A07-2E020A991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57795" y="762000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21" name="!!Freeform: Shape 20">
            <a:extLst>
              <a:ext uri="{FF2B5EF4-FFF2-40B4-BE49-F238E27FC236}">
                <a16:creationId xmlns:a16="http://schemas.microsoft.com/office/drawing/2014/main" id="{6482ED24-7968-7F9F-0644-3F5E362D6DB6}"/>
              </a:ext>
            </a:extLst>
          </p:cNvPr>
          <p:cNvSpPr/>
          <p:nvPr/>
        </p:nvSpPr>
        <p:spPr>
          <a:xfrm>
            <a:off x="-762000" y="685799"/>
            <a:ext cx="13322282" cy="6172201"/>
          </a:xfrm>
          <a:custGeom>
            <a:avLst/>
            <a:gdLst>
              <a:gd name="csX0" fmla="*/ 2590799 w 13322282"/>
              <a:gd name="csY0" fmla="*/ 76201 h 6172201"/>
              <a:gd name="csX1" fmla="*/ 2590799 w 13322282"/>
              <a:gd name="csY1" fmla="*/ 6096001 h 6172201"/>
              <a:gd name="csX2" fmla="*/ 5022012 w 13322282"/>
              <a:gd name="csY2" fmla="*/ 6096001 h 6172201"/>
              <a:gd name="csX3" fmla="*/ 5022012 w 13322282"/>
              <a:gd name="csY3" fmla="*/ 76201 h 6172201"/>
              <a:gd name="csX4" fmla="*/ 3975760 w 13322282"/>
              <a:gd name="csY4" fmla="*/ 76201 h 6172201"/>
              <a:gd name="csX5" fmla="*/ 0 w 13322282"/>
              <a:gd name="csY5" fmla="*/ 0 h 6172201"/>
              <a:gd name="csX6" fmla="*/ 627752 w 13322282"/>
              <a:gd name="csY6" fmla="*/ 0 h 6172201"/>
              <a:gd name="csX7" fmla="*/ 7044767 w 13322282"/>
              <a:gd name="csY7" fmla="*/ 0 h 6172201"/>
              <a:gd name="csX8" fmla="*/ 13322282 w 13322282"/>
              <a:gd name="csY8" fmla="*/ 0 h 6172201"/>
              <a:gd name="csX9" fmla="*/ 13322282 w 13322282"/>
              <a:gd name="csY9" fmla="*/ 6172199 h 6172201"/>
              <a:gd name="csX10" fmla="*/ 12365045 w 13322282"/>
              <a:gd name="csY10" fmla="*/ 6172199 h 6172201"/>
              <a:gd name="csX11" fmla="*/ 12365045 w 13322282"/>
              <a:gd name="csY11" fmla="*/ 6172201 h 6172201"/>
              <a:gd name="csX12" fmla="*/ 7254018 w 13322282"/>
              <a:gd name="csY12" fmla="*/ 6172201 h 6172201"/>
              <a:gd name="csX13" fmla="*/ 7254018 w 13322282"/>
              <a:gd name="csY13" fmla="*/ 6172200 h 6172201"/>
              <a:gd name="csX14" fmla="*/ 697502 w 13322282"/>
              <a:gd name="csY14" fmla="*/ 6172200 h 6172201"/>
              <a:gd name="csX15" fmla="*/ 697502 w 13322282"/>
              <a:gd name="csY15" fmla="*/ 6172199 h 6172201"/>
              <a:gd name="csX16" fmla="*/ 0 w 13322282"/>
              <a:gd name="csY16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3322282" h="6172201">
                <a:moveTo>
                  <a:pt x="2590799" y="76201"/>
                </a:moveTo>
                <a:lnTo>
                  <a:pt x="2590799" y="6096001"/>
                </a:lnTo>
                <a:lnTo>
                  <a:pt x="5022012" y="6096001"/>
                </a:lnTo>
                <a:lnTo>
                  <a:pt x="5022012" y="76201"/>
                </a:lnTo>
                <a:lnTo>
                  <a:pt x="3975760" y="762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051D9001-46C6-16B8-542B-536BE2CEB6E5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4B2B7A4F-D80A-7144-9DE4-BAC33219B8DA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sp>
        <p:nvSpPr>
          <p:cNvPr id="7" name="!!N1">
            <a:extLst>
              <a:ext uri="{FF2B5EF4-FFF2-40B4-BE49-F238E27FC236}">
                <a16:creationId xmlns:a16="http://schemas.microsoft.com/office/drawing/2014/main" id="{BEFF3209-E470-D007-1877-8536D460A22F}"/>
              </a:ext>
            </a:extLst>
          </p:cNvPr>
          <p:cNvSpPr>
            <a:spLocks/>
          </p:cNvSpPr>
          <p:nvPr/>
        </p:nvSpPr>
        <p:spPr>
          <a:xfrm>
            <a:off x="15694940" y="2590800"/>
            <a:ext cx="4955260" cy="12364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Anatomical hierarchy score: ranking regions from primary sensory processing to higher-order association areas</a:t>
            </a:r>
          </a:p>
        </p:txBody>
      </p:sp>
      <p:sp>
        <p:nvSpPr>
          <p:cNvPr id="4" name="!!N5">
            <a:extLst>
              <a:ext uri="{FF2B5EF4-FFF2-40B4-BE49-F238E27FC236}">
                <a16:creationId xmlns:a16="http://schemas.microsoft.com/office/drawing/2014/main" id="{E8455575-96FB-D963-5A67-EC7509F1E717}"/>
              </a:ext>
            </a:extLst>
          </p:cNvPr>
          <p:cNvSpPr>
            <a:spLocks/>
          </p:cNvSpPr>
          <p:nvPr/>
        </p:nvSpPr>
        <p:spPr>
          <a:xfrm>
            <a:off x="5105400" y="1752600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Local Firing Rate &gt; SPW-R Global Firing Rate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74E07F-74EF-8415-EA87-3DD351A6C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32A0BC-CF6C-6D66-EEBC-0C0433592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N4">
            <a:extLst>
              <a:ext uri="{FF2B5EF4-FFF2-40B4-BE49-F238E27FC236}">
                <a16:creationId xmlns:a16="http://schemas.microsoft.com/office/drawing/2014/main" id="{2C998614-26A5-AB0A-6EEB-6A21563B2D28}"/>
              </a:ext>
            </a:extLst>
          </p:cNvPr>
          <p:cNvSpPr>
            <a:spLocks/>
          </p:cNvSpPr>
          <p:nvPr/>
        </p:nvSpPr>
        <p:spPr>
          <a:xfrm>
            <a:off x="5105400" y="1607314"/>
            <a:ext cx="6858000" cy="5262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Global Firing Rate &gt; SPW-R Global Firing Rate</a:t>
            </a:r>
          </a:p>
        </p:txBody>
      </p:sp>
      <p:sp>
        <p:nvSpPr>
          <p:cNvPr id="23" name="!!N3">
            <a:extLst>
              <a:ext uri="{FF2B5EF4-FFF2-40B4-BE49-F238E27FC236}">
                <a16:creationId xmlns:a16="http://schemas.microsoft.com/office/drawing/2014/main" id="{AEE6E836-1BFA-2652-E7AF-BBEAB875EB06}"/>
              </a:ext>
            </a:extLst>
          </p:cNvPr>
          <p:cNvSpPr>
            <a:spLocks/>
          </p:cNvSpPr>
          <p:nvPr/>
        </p:nvSpPr>
        <p:spPr>
          <a:xfrm>
            <a:off x="5103140" y="1676400"/>
            <a:ext cx="6858000" cy="3881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X-axis: (DS2 Firing Rate) minus (SPW-R Firing Rate)</a:t>
            </a:r>
          </a:p>
        </p:txBody>
      </p:sp>
      <p:sp>
        <p:nvSpPr>
          <p:cNvPr id="14" name="!!N1">
            <a:extLst>
              <a:ext uri="{FF2B5EF4-FFF2-40B4-BE49-F238E27FC236}">
                <a16:creationId xmlns:a16="http://schemas.microsoft.com/office/drawing/2014/main" id="{48D7710E-BEB1-8BA1-20DD-8208E1176AE4}"/>
              </a:ext>
            </a:extLst>
          </p:cNvPr>
          <p:cNvSpPr>
            <a:spLocks/>
          </p:cNvSpPr>
          <p:nvPr/>
        </p:nvSpPr>
        <p:spPr>
          <a:xfrm>
            <a:off x="5103140" y="914400"/>
            <a:ext cx="6858000" cy="430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Eye balling it: DS2 &gt; SPW-R &gt; DS1</a:t>
            </a:r>
          </a:p>
        </p:txBody>
      </p:sp>
      <p:sp>
        <p:nvSpPr>
          <p:cNvPr id="20" name="!!Focus">
            <a:extLst>
              <a:ext uri="{FF2B5EF4-FFF2-40B4-BE49-F238E27FC236}">
                <a16:creationId xmlns:a16="http://schemas.microsoft.com/office/drawing/2014/main" id="{8C087044-53EE-D817-0097-ACDF48963BBF}"/>
              </a:ext>
            </a:extLst>
          </p:cNvPr>
          <p:cNvSpPr/>
          <p:nvPr/>
        </p:nvSpPr>
        <p:spPr>
          <a:xfrm rot="5400000">
            <a:off x="1011696" y="2417305"/>
            <a:ext cx="4453608" cy="16002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N2">
            <a:extLst>
              <a:ext uri="{FF2B5EF4-FFF2-40B4-BE49-F238E27FC236}">
                <a16:creationId xmlns:a16="http://schemas.microsoft.com/office/drawing/2014/main" id="{30DA87BB-40AA-2E90-93AD-16795FD6C7D6}"/>
              </a:ext>
            </a:extLst>
          </p:cNvPr>
          <p:cNvSpPr>
            <a:spLocks/>
          </p:cNvSpPr>
          <p:nvPr/>
        </p:nvSpPr>
        <p:spPr>
          <a:xfrm>
            <a:off x="5105400" y="914400"/>
            <a:ext cx="6858000" cy="381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Columns: Activity of each brain regions for each spike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CEAC7DFD-B632-3303-D259-CBC8DBC8FCDA}"/>
              </a:ext>
            </a:extLst>
          </p:cNvPr>
          <p:cNvSpPr>
            <a:spLocks/>
          </p:cNvSpPr>
          <p:nvPr/>
        </p:nvSpPr>
        <p:spPr>
          <a:xfrm>
            <a:off x="5103140" y="804191"/>
            <a:ext cx="686026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D9484CC1-4270-022C-1B6F-FDB128C9494C}"/>
              </a:ext>
            </a:extLst>
          </p:cNvPr>
          <p:cNvSpPr>
            <a:spLocks/>
          </p:cNvSpPr>
          <p:nvPr/>
        </p:nvSpPr>
        <p:spPr>
          <a:xfrm>
            <a:off x="5103140" y="1530096"/>
            <a:ext cx="6860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DB967563-368D-5820-BF70-CCCA3BC78F9E}"/>
              </a:ext>
            </a:extLst>
          </p:cNvPr>
          <p:cNvSpPr>
            <a:spLocks/>
          </p:cNvSpPr>
          <p:nvPr/>
        </p:nvSpPr>
        <p:spPr>
          <a:xfrm>
            <a:off x="5103140" y="2286000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2c (Neural Recruitment): Neurons preferentially fire during DS2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E3364B41-A92A-8AE6-A387-707D9BC084E8}"/>
              </a:ext>
            </a:extLst>
          </p:cNvPr>
          <p:cNvSpPr>
            <a:spLocks/>
          </p:cNvSpPr>
          <p:nvPr/>
        </p:nvSpPr>
        <p:spPr>
          <a:xfrm>
            <a:off x="12801600" y="1010368"/>
            <a:ext cx="5334000" cy="379023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2d (Hierarchical Activation): DS2 recruits higher-order brain networks</a:t>
            </a:r>
          </a:p>
        </p:txBody>
      </p:sp>
    </p:spTree>
    <p:extLst>
      <p:ext uri="{BB962C8B-B14F-4D97-AF65-F5344CB8AC3E}">
        <p14:creationId xmlns:p14="http://schemas.microsoft.com/office/powerpoint/2010/main" val="1520938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55B4C-6CD5-A114-9D32-C7270D43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8AFD07-39DC-30B3-4965-257744C4B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57795" y="762000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21" name="!!Freeform: Shape 20">
            <a:extLst>
              <a:ext uri="{FF2B5EF4-FFF2-40B4-BE49-F238E27FC236}">
                <a16:creationId xmlns:a16="http://schemas.microsoft.com/office/drawing/2014/main" id="{5AD29C98-D7AE-726B-4BA7-44895DA27B66}"/>
              </a:ext>
            </a:extLst>
          </p:cNvPr>
          <p:cNvSpPr/>
          <p:nvPr/>
        </p:nvSpPr>
        <p:spPr>
          <a:xfrm>
            <a:off x="-762000" y="685799"/>
            <a:ext cx="13322282" cy="6172201"/>
          </a:xfrm>
          <a:custGeom>
            <a:avLst/>
            <a:gdLst>
              <a:gd name="csX0" fmla="*/ 2590799 w 13322282"/>
              <a:gd name="csY0" fmla="*/ 76201 h 6172201"/>
              <a:gd name="csX1" fmla="*/ 2590799 w 13322282"/>
              <a:gd name="csY1" fmla="*/ 6096001 h 6172201"/>
              <a:gd name="csX2" fmla="*/ 5022012 w 13322282"/>
              <a:gd name="csY2" fmla="*/ 6096001 h 6172201"/>
              <a:gd name="csX3" fmla="*/ 5022012 w 13322282"/>
              <a:gd name="csY3" fmla="*/ 76201 h 6172201"/>
              <a:gd name="csX4" fmla="*/ 3975760 w 13322282"/>
              <a:gd name="csY4" fmla="*/ 76201 h 6172201"/>
              <a:gd name="csX5" fmla="*/ 0 w 13322282"/>
              <a:gd name="csY5" fmla="*/ 0 h 6172201"/>
              <a:gd name="csX6" fmla="*/ 627752 w 13322282"/>
              <a:gd name="csY6" fmla="*/ 0 h 6172201"/>
              <a:gd name="csX7" fmla="*/ 7044767 w 13322282"/>
              <a:gd name="csY7" fmla="*/ 0 h 6172201"/>
              <a:gd name="csX8" fmla="*/ 13322282 w 13322282"/>
              <a:gd name="csY8" fmla="*/ 0 h 6172201"/>
              <a:gd name="csX9" fmla="*/ 13322282 w 13322282"/>
              <a:gd name="csY9" fmla="*/ 6172199 h 6172201"/>
              <a:gd name="csX10" fmla="*/ 12365045 w 13322282"/>
              <a:gd name="csY10" fmla="*/ 6172199 h 6172201"/>
              <a:gd name="csX11" fmla="*/ 12365045 w 13322282"/>
              <a:gd name="csY11" fmla="*/ 6172201 h 6172201"/>
              <a:gd name="csX12" fmla="*/ 7254018 w 13322282"/>
              <a:gd name="csY12" fmla="*/ 6172201 h 6172201"/>
              <a:gd name="csX13" fmla="*/ 7254018 w 13322282"/>
              <a:gd name="csY13" fmla="*/ 6172200 h 6172201"/>
              <a:gd name="csX14" fmla="*/ 697502 w 13322282"/>
              <a:gd name="csY14" fmla="*/ 6172200 h 6172201"/>
              <a:gd name="csX15" fmla="*/ 697502 w 13322282"/>
              <a:gd name="csY15" fmla="*/ 6172199 h 6172201"/>
              <a:gd name="csX16" fmla="*/ 0 w 13322282"/>
              <a:gd name="csY16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3322282" h="6172201">
                <a:moveTo>
                  <a:pt x="2590799" y="76201"/>
                </a:moveTo>
                <a:lnTo>
                  <a:pt x="2590799" y="6096001"/>
                </a:lnTo>
                <a:lnTo>
                  <a:pt x="5022012" y="6096001"/>
                </a:lnTo>
                <a:lnTo>
                  <a:pt x="5022012" y="76201"/>
                </a:lnTo>
                <a:lnTo>
                  <a:pt x="3975760" y="762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0B871D4E-CB21-F965-AD1F-D68B4E946F2B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AE5E4607-E9B9-31A4-3411-3B942BEDFB7A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sp>
        <p:nvSpPr>
          <p:cNvPr id="7" name="!!N1">
            <a:extLst>
              <a:ext uri="{FF2B5EF4-FFF2-40B4-BE49-F238E27FC236}">
                <a16:creationId xmlns:a16="http://schemas.microsoft.com/office/drawing/2014/main" id="{243EC70F-B8E4-B1D4-E419-25011758EDEC}"/>
              </a:ext>
            </a:extLst>
          </p:cNvPr>
          <p:cNvSpPr>
            <a:spLocks/>
          </p:cNvSpPr>
          <p:nvPr/>
        </p:nvSpPr>
        <p:spPr>
          <a:xfrm>
            <a:off x="15694940" y="2590800"/>
            <a:ext cx="4955260" cy="12364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Anatomical hierarchy score: ranking regions from primary sensory processing to higher-order association areas</a:t>
            </a:r>
          </a:p>
        </p:txBody>
      </p:sp>
      <p:sp>
        <p:nvSpPr>
          <p:cNvPr id="4" name="!!N5">
            <a:extLst>
              <a:ext uri="{FF2B5EF4-FFF2-40B4-BE49-F238E27FC236}">
                <a16:creationId xmlns:a16="http://schemas.microsoft.com/office/drawing/2014/main" id="{27A01241-3C0B-0608-6103-98DD8E6E6565}"/>
              </a:ext>
            </a:extLst>
          </p:cNvPr>
          <p:cNvSpPr>
            <a:spLocks/>
          </p:cNvSpPr>
          <p:nvPr/>
        </p:nvSpPr>
        <p:spPr>
          <a:xfrm>
            <a:off x="5105400" y="1752600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Local Firing Rate &gt; SPW-R Global Firing Rate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559D48-F68E-4430-07A3-DD50DF09F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952379-2F7C-E0AE-62B0-C9BDC3848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N4">
            <a:extLst>
              <a:ext uri="{FF2B5EF4-FFF2-40B4-BE49-F238E27FC236}">
                <a16:creationId xmlns:a16="http://schemas.microsoft.com/office/drawing/2014/main" id="{7837FA14-26E0-EB68-CF58-13DB5C7B948A}"/>
              </a:ext>
            </a:extLst>
          </p:cNvPr>
          <p:cNvSpPr>
            <a:spLocks/>
          </p:cNvSpPr>
          <p:nvPr/>
        </p:nvSpPr>
        <p:spPr>
          <a:xfrm>
            <a:off x="5105400" y="1607314"/>
            <a:ext cx="6858000" cy="5262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Global Firing Rate &gt; SPW-R Global Firing Rate</a:t>
            </a:r>
          </a:p>
        </p:txBody>
      </p:sp>
      <p:sp>
        <p:nvSpPr>
          <p:cNvPr id="23" name="!!N3">
            <a:extLst>
              <a:ext uri="{FF2B5EF4-FFF2-40B4-BE49-F238E27FC236}">
                <a16:creationId xmlns:a16="http://schemas.microsoft.com/office/drawing/2014/main" id="{DCD92F2D-7C1F-0229-A908-BAAD549827E2}"/>
              </a:ext>
            </a:extLst>
          </p:cNvPr>
          <p:cNvSpPr>
            <a:spLocks/>
          </p:cNvSpPr>
          <p:nvPr/>
        </p:nvSpPr>
        <p:spPr>
          <a:xfrm>
            <a:off x="5103140" y="1676400"/>
            <a:ext cx="6858000" cy="3881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X-axis: (DS2 Firing Rate) minus (SPW-R Firing Rate)</a:t>
            </a:r>
          </a:p>
        </p:txBody>
      </p:sp>
      <p:sp>
        <p:nvSpPr>
          <p:cNvPr id="14" name="!!N1">
            <a:extLst>
              <a:ext uri="{FF2B5EF4-FFF2-40B4-BE49-F238E27FC236}">
                <a16:creationId xmlns:a16="http://schemas.microsoft.com/office/drawing/2014/main" id="{027885BB-1CA7-0037-E9F8-977CFB8A749C}"/>
              </a:ext>
            </a:extLst>
          </p:cNvPr>
          <p:cNvSpPr>
            <a:spLocks/>
          </p:cNvSpPr>
          <p:nvPr/>
        </p:nvSpPr>
        <p:spPr>
          <a:xfrm>
            <a:off x="5103140" y="914400"/>
            <a:ext cx="6858000" cy="430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Eye balling it: DS2 &gt; SPW-R &gt; DS1</a:t>
            </a:r>
          </a:p>
        </p:txBody>
      </p:sp>
      <p:sp>
        <p:nvSpPr>
          <p:cNvPr id="20" name="!!Focus">
            <a:extLst>
              <a:ext uri="{FF2B5EF4-FFF2-40B4-BE49-F238E27FC236}">
                <a16:creationId xmlns:a16="http://schemas.microsoft.com/office/drawing/2014/main" id="{7C3F64F7-4935-865A-17FC-BCA19E4E2E14}"/>
              </a:ext>
            </a:extLst>
          </p:cNvPr>
          <p:cNvSpPr/>
          <p:nvPr/>
        </p:nvSpPr>
        <p:spPr>
          <a:xfrm rot="5400000">
            <a:off x="2420924" y="5164126"/>
            <a:ext cx="949352" cy="13716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N2">
            <a:extLst>
              <a:ext uri="{FF2B5EF4-FFF2-40B4-BE49-F238E27FC236}">
                <a16:creationId xmlns:a16="http://schemas.microsoft.com/office/drawing/2014/main" id="{653C0F8A-52BB-EBA9-8A90-C4A2BC3A32D4}"/>
              </a:ext>
            </a:extLst>
          </p:cNvPr>
          <p:cNvSpPr>
            <a:spLocks/>
          </p:cNvSpPr>
          <p:nvPr/>
        </p:nvSpPr>
        <p:spPr>
          <a:xfrm>
            <a:off x="5105400" y="914400"/>
            <a:ext cx="6858000" cy="381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Columns: Activity of each brain regions for each spike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3E7D481E-633A-ABA8-58BD-30D257A3EB15}"/>
              </a:ext>
            </a:extLst>
          </p:cNvPr>
          <p:cNvSpPr>
            <a:spLocks/>
          </p:cNvSpPr>
          <p:nvPr/>
        </p:nvSpPr>
        <p:spPr>
          <a:xfrm>
            <a:off x="5103140" y="804191"/>
            <a:ext cx="686026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C5E167C1-3EB8-46DD-D706-4C00BE858333}"/>
              </a:ext>
            </a:extLst>
          </p:cNvPr>
          <p:cNvSpPr>
            <a:spLocks/>
          </p:cNvSpPr>
          <p:nvPr/>
        </p:nvSpPr>
        <p:spPr>
          <a:xfrm>
            <a:off x="5103140" y="1530096"/>
            <a:ext cx="6860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0FE4444B-88C1-D130-71DE-F59F6F0EE426}"/>
              </a:ext>
            </a:extLst>
          </p:cNvPr>
          <p:cNvSpPr>
            <a:spLocks/>
          </p:cNvSpPr>
          <p:nvPr/>
        </p:nvSpPr>
        <p:spPr>
          <a:xfrm>
            <a:off x="5103140" y="2286000"/>
            <a:ext cx="6860260" cy="270100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2c (Neural Recruitment): Neurons preferentially fire during DS2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CCE4639C-1F5A-F9EE-CCC8-921CF29F0944}"/>
              </a:ext>
            </a:extLst>
          </p:cNvPr>
          <p:cNvSpPr>
            <a:spLocks/>
          </p:cNvSpPr>
          <p:nvPr/>
        </p:nvSpPr>
        <p:spPr>
          <a:xfrm>
            <a:off x="12801600" y="1010368"/>
            <a:ext cx="5334000" cy="379023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2d (Hierarchical Activation): DS2 recruits higher-order brain networks</a:t>
            </a:r>
          </a:p>
        </p:txBody>
      </p:sp>
    </p:spTree>
    <p:extLst>
      <p:ext uri="{BB962C8B-B14F-4D97-AF65-F5344CB8AC3E}">
        <p14:creationId xmlns:p14="http://schemas.microsoft.com/office/powerpoint/2010/main" val="2075401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97F8-B634-4219-7E95-196F4831A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E091BDD-4F18-3ACA-4803-1C77BB570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-8001000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58AA296-2B70-DF92-1789-2BF8B2E0324C}"/>
              </a:ext>
            </a:extLst>
          </p:cNvPr>
          <p:cNvSpPr/>
          <p:nvPr/>
        </p:nvSpPr>
        <p:spPr>
          <a:xfrm>
            <a:off x="-762000" y="685799"/>
            <a:ext cx="13322282" cy="6172201"/>
          </a:xfrm>
          <a:custGeom>
            <a:avLst/>
            <a:gdLst>
              <a:gd name="csX0" fmla="*/ 762000 w 13322282"/>
              <a:gd name="csY0" fmla="*/ 228601 h 6172201"/>
              <a:gd name="csX1" fmla="*/ 762000 w 13322282"/>
              <a:gd name="csY1" fmla="*/ 2917389 h 6172201"/>
              <a:gd name="csX2" fmla="*/ 7543800 w 13322282"/>
              <a:gd name="csY2" fmla="*/ 2917389 h 6172201"/>
              <a:gd name="csX3" fmla="*/ 7543800 w 13322282"/>
              <a:gd name="csY3" fmla="*/ 228601 h 6172201"/>
              <a:gd name="csX4" fmla="*/ 0 w 13322282"/>
              <a:gd name="csY4" fmla="*/ 0 h 6172201"/>
              <a:gd name="csX5" fmla="*/ 627752 w 13322282"/>
              <a:gd name="csY5" fmla="*/ 0 h 6172201"/>
              <a:gd name="csX6" fmla="*/ 7044767 w 13322282"/>
              <a:gd name="csY6" fmla="*/ 0 h 6172201"/>
              <a:gd name="csX7" fmla="*/ 13322282 w 13322282"/>
              <a:gd name="csY7" fmla="*/ 0 h 6172201"/>
              <a:gd name="csX8" fmla="*/ 13322282 w 13322282"/>
              <a:gd name="csY8" fmla="*/ 6172199 h 6172201"/>
              <a:gd name="csX9" fmla="*/ 12365045 w 13322282"/>
              <a:gd name="csY9" fmla="*/ 6172199 h 6172201"/>
              <a:gd name="csX10" fmla="*/ 12365045 w 13322282"/>
              <a:gd name="csY10" fmla="*/ 6172201 h 6172201"/>
              <a:gd name="csX11" fmla="*/ 7254018 w 13322282"/>
              <a:gd name="csY11" fmla="*/ 6172201 h 6172201"/>
              <a:gd name="csX12" fmla="*/ 7254018 w 13322282"/>
              <a:gd name="csY12" fmla="*/ 6172200 h 6172201"/>
              <a:gd name="csX13" fmla="*/ 697502 w 13322282"/>
              <a:gd name="csY13" fmla="*/ 6172200 h 6172201"/>
              <a:gd name="csX14" fmla="*/ 697502 w 13322282"/>
              <a:gd name="csY14" fmla="*/ 6172199 h 6172201"/>
              <a:gd name="csX15" fmla="*/ 0 w 13322282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3322282" h="6172201">
                <a:moveTo>
                  <a:pt x="762000" y="228601"/>
                </a:moveTo>
                <a:lnTo>
                  <a:pt x="762000" y="2917389"/>
                </a:lnTo>
                <a:lnTo>
                  <a:pt x="7543800" y="2917389"/>
                </a:lnTo>
                <a:lnTo>
                  <a:pt x="7543800" y="2286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9C5770D1-B6AC-ACBE-D023-7291F81804DD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BDC9D108-E233-74DA-8381-DA3D3529016C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sp>
        <p:nvSpPr>
          <p:cNvPr id="26" name="!!N1">
            <a:extLst>
              <a:ext uri="{FF2B5EF4-FFF2-40B4-BE49-F238E27FC236}">
                <a16:creationId xmlns:a16="http://schemas.microsoft.com/office/drawing/2014/main" id="{F26D5FA0-05EB-42C4-C763-9EA0C6D5D903}"/>
              </a:ext>
            </a:extLst>
          </p:cNvPr>
          <p:cNvSpPr>
            <a:spLocks/>
          </p:cNvSpPr>
          <p:nvPr/>
        </p:nvSpPr>
        <p:spPr>
          <a:xfrm>
            <a:off x="7082444" y="3276600"/>
            <a:ext cx="4955260" cy="12364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Anatomical hierarchy score: ranking regions from primary sensory processing to higher-order association areas</a:t>
            </a:r>
          </a:p>
        </p:txBody>
      </p:sp>
      <p:sp>
        <p:nvSpPr>
          <p:cNvPr id="4" name="!!N5">
            <a:extLst>
              <a:ext uri="{FF2B5EF4-FFF2-40B4-BE49-F238E27FC236}">
                <a16:creationId xmlns:a16="http://schemas.microsoft.com/office/drawing/2014/main" id="{12D9ACC5-5F43-DFBA-D28F-5DDEA58BD52A}"/>
              </a:ext>
            </a:extLst>
          </p:cNvPr>
          <p:cNvSpPr>
            <a:spLocks/>
          </p:cNvSpPr>
          <p:nvPr/>
        </p:nvSpPr>
        <p:spPr>
          <a:xfrm>
            <a:off x="150140" y="5520409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Local Firing Rate &gt; SPW-R Global Firing Rate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68FEE-9231-D1CA-E9F7-199DA8B21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9DA324-BB57-144E-C915-4B9C87E31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N4">
            <a:extLst>
              <a:ext uri="{FF2B5EF4-FFF2-40B4-BE49-F238E27FC236}">
                <a16:creationId xmlns:a16="http://schemas.microsoft.com/office/drawing/2014/main" id="{A821C31F-3519-BF1B-B7F6-606ACF47FA10}"/>
              </a:ext>
            </a:extLst>
          </p:cNvPr>
          <p:cNvSpPr>
            <a:spLocks/>
          </p:cNvSpPr>
          <p:nvPr/>
        </p:nvSpPr>
        <p:spPr>
          <a:xfrm>
            <a:off x="150140" y="5375123"/>
            <a:ext cx="6858000" cy="5262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Global Firing Rate &gt; SPW-R Global Firing Rate</a:t>
            </a:r>
          </a:p>
        </p:txBody>
      </p:sp>
      <p:sp>
        <p:nvSpPr>
          <p:cNvPr id="23" name="!!N3">
            <a:extLst>
              <a:ext uri="{FF2B5EF4-FFF2-40B4-BE49-F238E27FC236}">
                <a16:creationId xmlns:a16="http://schemas.microsoft.com/office/drawing/2014/main" id="{BB32CE12-E0E8-5572-05B1-CBE7B4EAF18E}"/>
              </a:ext>
            </a:extLst>
          </p:cNvPr>
          <p:cNvSpPr>
            <a:spLocks/>
          </p:cNvSpPr>
          <p:nvPr/>
        </p:nvSpPr>
        <p:spPr>
          <a:xfrm>
            <a:off x="147880" y="5444209"/>
            <a:ext cx="6858000" cy="3881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X-axis: (DS2 Firing Rate) minus (SPW-R Firing Rate)</a:t>
            </a:r>
          </a:p>
        </p:txBody>
      </p:sp>
      <p:sp>
        <p:nvSpPr>
          <p:cNvPr id="14" name="!!N1">
            <a:extLst>
              <a:ext uri="{FF2B5EF4-FFF2-40B4-BE49-F238E27FC236}">
                <a16:creationId xmlns:a16="http://schemas.microsoft.com/office/drawing/2014/main" id="{D5F61C81-52C7-1209-979D-868A3F5D4281}"/>
              </a:ext>
            </a:extLst>
          </p:cNvPr>
          <p:cNvSpPr>
            <a:spLocks/>
          </p:cNvSpPr>
          <p:nvPr/>
        </p:nvSpPr>
        <p:spPr>
          <a:xfrm>
            <a:off x="147880" y="4682209"/>
            <a:ext cx="6858000" cy="430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Eye balling it: DS2 &gt; SPW-R &gt; DS1</a:t>
            </a:r>
          </a:p>
        </p:txBody>
      </p:sp>
      <p:sp>
        <p:nvSpPr>
          <p:cNvPr id="9" name="!!N2">
            <a:extLst>
              <a:ext uri="{FF2B5EF4-FFF2-40B4-BE49-F238E27FC236}">
                <a16:creationId xmlns:a16="http://schemas.microsoft.com/office/drawing/2014/main" id="{3A653233-C655-256D-F074-44A71CB412E5}"/>
              </a:ext>
            </a:extLst>
          </p:cNvPr>
          <p:cNvSpPr>
            <a:spLocks/>
          </p:cNvSpPr>
          <p:nvPr/>
        </p:nvSpPr>
        <p:spPr>
          <a:xfrm>
            <a:off x="150140" y="4682209"/>
            <a:ext cx="6858000" cy="381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Columns: Activity of each brain regions for each spike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B35FD3B0-3FE5-B5CA-ACF0-E7D87C0497CE}"/>
              </a:ext>
            </a:extLst>
          </p:cNvPr>
          <p:cNvSpPr>
            <a:spLocks/>
          </p:cNvSpPr>
          <p:nvPr/>
        </p:nvSpPr>
        <p:spPr>
          <a:xfrm>
            <a:off x="150140" y="3810000"/>
            <a:ext cx="686026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519D733F-B4FA-DB11-1A75-6041296A0E19}"/>
              </a:ext>
            </a:extLst>
          </p:cNvPr>
          <p:cNvSpPr>
            <a:spLocks/>
          </p:cNvSpPr>
          <p:nvPr/>
        </p:nvSpPr>
        <p:spPr>
          <a:xfrm>
            <a:off x="150140" y="4535905"/>
            <a:ext cx="6860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7F0BAC30-0DB8-D8B9-FF98-E9E25250FB81}"/>
              </a:ext>
            </a:extLst>
          </p:cNvPr>
          <p:cNvSpPr>
            <a:spLocks/>
          </p:cNvSpPr>
          <p:nvPr/>
        </p:nvSpPr>
        <p:spPr>
          <a:xfrm>
            <a:off x="150140" y="5291809"/>
            <a:ext cx="6860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D33E86FC-EC70-2248-ED09-6129E74D5AF2}"/>
              </a:ext>
            </a:extLst>
          </p:cNvPr>
          <p:cNvSpPr>
            <a:spLocks/>
          </p:cNvSpPr>
          <p:nvPr/>
        </p:nvSpPr>
        <p:spPr>
          <a:xfrm>
            <a:off x="7086600" y="1010367"/>
            <a:ext cx="4955260" cy="424743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9" name="a">
            <a:extLst>
              <a:ext uri="{FF2B5EF4-FFF2-40B4-BE49-F238E27FC236}">
                <a16:creationId xmlns:a16="http://schemas.microsoft.com/office/drawing/2014/main" id="{CC21F66D-A137-3EA9-DA5E-D404FB55E823}"/>
              </a:ext>
            </a:extLst>
          </p:cNvPr>
          <p:cNvSpPr>
            <a:spLocks/>
          </p:cNvSpPr>
          <p:nvPr/>
        </p:nvSpPr>
        <p:spPr>
          <a:xfrm>
            <a:off x="7086600" y="9448800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</a:t>
            </a:r>
          </a:p>
          <a:p>
            <a:pPr eaLnBrk="0" fontAlgn="base" hangingPunct="0">
              <a:lnSpc>
                <a:spcPct val="150000"/>
              </a:lnSpc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7" name="!!Focus">
            <a:extLst>
              <a:ext uri="{FF2B5EF4-FFF2-40B4-BE49-F238E27FC236}">
                <a16:creationId xmlns:a16="http://schemas.microsoft.com/office/drawing/2014/main" id="{DCCB1DBA-15C6-B171-0AD1-E56DF598246F}"/>
              </a:ext>
            </a:extLst>
          </p:cNvPr>
          <p:cNvSpPr/>
          <p:nvPr/>
        </p:nvSpPr>
        <p:spPr>
          <a:xfrm rot="5400000">
            <a:off x="-3065207" y="2548812"/>
            <a:ext cx="309583" cy="179916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305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33D60-0EF0-587E-282F-E36FAF176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C00EC7-F01E-8509-E4BA-556DE8CC3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-8001000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96A4F0E-650A-B975-DCDB-26933E85BCB6}"/>
              </a:ext>
            </a:extLst>
          </p:cNvPr>
          <p:cNvSpPr/>
          <p:nvPr/>
        </p:nvSpPr>
        <p:spPr>
          <a:xfrm>
            <a:off x="-762000" y="685799"/>
            <a:ext cx="13322282" cy="6172201"/>
          </a:xfrm>
          <a:custGeom>
            <a:avLst/>
            <a:gdLst>
              <a:gd name="csX0" fmla="*/ 762000 w 13322282"/>
              <a:gd name="csY0" fmla="*/ 228601 h 6172201"/>
              <a:gd name="csX1" fmla="*/ 762000 w 13322282"/>
              <a:gd name="csY1" fmla="*/ 2917389 h 6172201"/>
              <a:gd name="csX2" fmla="*/ 7543800 w 13322282"/>
              <a:gd name="csY2" fmla="*/ 2917389 h 6172201"/>
              <a:gd name="csX3" fmla="*/ 7543800 w 13322282"/>
              <a:gd name="csY3" fmla="*/ 228601 h 6172201"/>
              <a:gd name="csX4" fmla="*/ 0 w 13322282"/>
              <a:gd name="csY4" fmla="*/ 0 h 6172201"/>
              <a:gd name="csX5" fmla="*/ 627752 w 13322282"/>
              <a:gd name="csY5" fmla="*/ 0 h 6172201"/>
              <a:gd name="csX6" fmla="*/ 7044767 w 13322282"/>
              <a:gd name="csY6" fmla="*/ 0 h 6172201"/>
              <a:gd name="csX7" fmla="*/ 13322282 w 13322282"/>
              <a:gd name="csY7" fmla="*/ 0 h 6172201"/>
              <a:gd name="csX8" fmla="*/ 13322282 w 13322282"/>
              <a:gd name="csY8" fmla="*/ 6172199 h 6172201"/>
              <a:gd name="csX9" fmla="*/ 12365045 w 13322282"/>
              <a:gd name="csY9" fmla="*/ 6172199 h 6172201"/>
              <a:gd name="csX10" fmla="*/ 12365045 w 13322282"/>
              <a:gd name="csY10" fmla="*/ 6172201 h 6172201"/>
              <a:gd name="csX11" fmla="*/ 7254018 w 13322282"/>
              <a:gd name="csY11" fmla="*/ 6172201 h 6172201"/>
              <a:gd name="csX12" fmla="*/ 7254018 w 13322282"/>
              <a:gd name="csY12" fmla="*/ 6172200 h 6172201"/>
              <a:gd name="csX13" fmla="*/ 697502 w 13322282"/>
              <a:gd name="csY13" fmla="*/ 6172200 h 6172201"/>
              <a:gd name="csX14" fmla="*/ 697502 w 13322282"/>
              <a:gd name="csY14" fmla="*/ 6172199 h 6172201"/>
              <a:gd name="csX15" fmla="*/ 0 w 13322282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3322282" h="6172201">
                <a:moveTo>
                  <a:pt x="762000" y="228601"/>
                </a:moveTo>
                <a:lnTo>
                  <a:pt x="762000" y="2917389"/>
                </a:lnTo>
                <a:lnTo>
                  <a:pt x="7543800" y="2917389"/>
                </a:lnTo>
                <a:lnTo>
                  <a:pt x="7543800" y="2286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3DB012C1-CCD6-F17E-6E96-13CC0887103A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!!N1">
            <a:extLst>
              <a:ext uri="{FF2B5EF4-FFF2-40B4-BE49-F238E27FC236}">
                <a16:creationId xmlns:a16="http://schemas.microsoft.com/office/drawing/2014/main" id="{11E63A34-CD90-DE51-3F02-8986E0DC5BC7}"/>
              </a:ext>
            </a:extLst>
          </p:cNvPr>
          <p:cNvSpPr>
            <a:spLocks/>
          </p:cNvSpPr>
          <p:nvPr/>
        </p:nvSpPr>
        <p:spPr>
          <a:xfrm>
            <a:off x="7082444" y="5392928"/>
            <a:ext cx="4955260" cy="12364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Anatomical hierarchy score: ranking regions from primary sensory processing to higher-order association areas</a:t>
            </a:r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164BB91C-A504-1019-2CDF-7859AC1B6DFD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sp>
        <p:nvSpPr>
          <p:cNvPr id="4" name="!!N5">
            <a:extLst>
              <a:ext uri="{FF2B5EF4-FFF2-40B4-BE49-F238E27FC236}">
                <a16:creationId xmlns:a16="http://schemas.microsoft.com/office/drawing/2014/main" id="{E134A259-172A-6E76-E70F-E63A70445A8F}"/>
              </a:ext>
            </a:extLst>
          </p:cNvPr>
          <p:cNvSpPr>
            <a:spLocks/>
          </p:cNvSpPr>
          <p:nvPr/>
        </p:nvSpPr>
        <p:spPr>
          <a:xfrm>
            <a:off x="150140" y="5520409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Local Firing Rate &gt; SPW-R Global Firing Rate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6CAAF2-82C6-C1AC-EDBA-DF977FF04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4E64F4-4F5E-255A-C713-35E96A432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N4">
            <a:extLst>
              <a:ext uri="{FF2B5EF4-FFF2-40B4-BE49-F238E27FC236}">
                <a16:creationId xmlns:a16="http://schemas.microsoft.com/office/drawing/2014/main" id="{156C8EEF-87A2-0D02-EE2B-5420DDFFB211}"/>
              </a:ext>
            </a:extLst>
          </p:cNvPr>
          <p:cNvSpPr>
            <a:spLocks/>
          </p:cNvSpPr>
          <p:nvPr/>
        </p:nvSpPr>
        <p:spPr>
          <a:xfrm>
            <a:off x="150140" y="5375123"/>
            <a:ext cx="6858000" cy="5262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DS2 Global Firing Rate &gt; SPW-R Global Firing Rate</a:t>
            </a:r>
          </a:p>
        </p:txBody>
      </p:sp>
      <p:sp>
        <p:nvSpPr>
          <p:cNvPr id="23" name="!!N3">
            <a:extLst>
              <a:ext uri="{FF2B5EF4-FFF2-40B4-BE49-F238E27FC236}">
                <a16:creationId xmlns:a16="http://schemas.microsoft.com/office/drawing/2014/main" id="{B73BD1DA-EF7F-DEF7-B292-45E75CCEA868}"/>
              </a:ext>
            </a:extLst>
          </p:cNvPr>
          <p:cNvSpPr>
            <a:spLocks/>
          </p:cNvSpPr>
          <p:nvPr/>
        </p:nvSpPr>
        <p:spPr>
          <a:xfrm>
            <a:off x="147880" y="5444209"/>
            <a:ext cx="6858000" cy="3881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X-axis: (DS2 Firing Rate) minus (SPW-R Firing Rate)</a:t>
            </a:r>
          </a:p>
        </p:txBody>
      </p:sp>
      <p:sp>
        <p:nvSpPr>
          <p:cNvPr id="14" name="!!N1">
            <a:extLst>
              <a:ext uri="{FF2B5EF4-FFF2-40B4-BE49-F238E27FC236}">
                <a16:creationId xmlns:a16="http://schemas.microsoft.com/office/drawing/2014/main" id="{12957848-41B4-46DF-1D78-FC61801D85D0}"/>
              </a:ext>
            </a:extLst>
          </p:cNvPr>
          <p:cNvSpPr>
            <a:spLocks/>
          </p:cNvSpPr>
          <p:nvPr/>
        </p:nvSpPr>
        <p:spPr>
          <a:xfrm>
            <a:off x="147880" y="4682209"/>
            <a:ext cx="6858000" cy="43034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Eye balling it: DS2 &gt; SPW-R &gt; DS1</a:t>
            </a:r>
          </a:p>
        </p:txBody>
      </p:sp>
      <p:sp>
        <p:nvSpPr>
          <p:cNvPr id="20" name="!!Focus">
            <a:extLst>
              <a:ext uri="{FF2B5EF4-FFF2-40B4-BE49-F238E27FC236}">
                <a16:creationId xmlns:a16="http://schemas.microsoft.com/office/drawing/2014/main" id="{F33041FA-2E3E-BA89-A9A2-260B1F48F10D}"/>
              </a:ext>
            </a:extLst>
          </p:cNvPr>
          <p:cNvSpPr/>
          <p:nvPr/>
        </p:nvSpPr>
        <p:spPr>
          <a:xfrm rot="5400000">
            <a:off x="3517624" y="2548812"/>
            <a:ext cx="309583" cy="179916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N2">
            <a:extLst>
              <a:ext uri="{FF2B5EF4-FFF2-40B4-BE49-F238E27FC236}">
                <a16:creationId xmlns:a16="http://schemas.microsoft.com/office/drawing/2014/main" id="{F77ED1F8-61FA-BE0B-3033-518F1743D132}"/>
              </a:ext>
            </a:extLst>
          </p:cNvPr>
          <p:cNvSpPr>
            <a:spLocks/>
          </p:cNvSpPr>
          <p:nvPr/>
        </p:nvSpPr>
        <p:spPr>
          <a:xfrm>
            <a:off x="150140" y="4682209"/>
            <a:ext cx="6858000" cy="3810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Columns: Activity of each brain regions for each spike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7544A44F-6783-3AB0-9B22-07A5522B350F}"/>
              </a:ext>
            </a:extLst>
          </p:cNvPr>
          <p:cNvSpPr>
            <a:spLocks/>
          </p:cNvSpPr>
          <p:nvPr/>
        </p:nvSpPr>
        <p:spPr>
          <a:xfrm>
            <a:off x="150140" y="3810000"/>
            <a:ext cx="686026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E8B9E298-EE3F-636F-8BEB-6478C0E8B8F3}"/>
              </a:ext>
            </a:extLst>
          </p:cNvPr>
          <p:cNvSpPr>
            <a:spLocks/>
          </p:cNvSpPr>
          <p:nvPr/>
        </p:nvSpPr>
        <p:spPr>
          <a:xfrm>
            <a:off x="150140" y="4535905"/>
            <a:ext cx="6860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D2BB7AA6-F3D6-FEF3-0C39-42CA653CC077}"/>
              </a:ext>
            </a:extLst>
          </p:cNvPr>
          <p:cNvSpPr>
            <a:spLocks/>
          </p:cNvSpPr>
          <p:nvPr/>
        </p:nvSpPr>
        <p:spPr>
          <a:xfrm>
            <a:off x="150140" y="5291809"/>
            <a:ext cx="6860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6EBB345A-788B-4DE0-88AC-C5D6AF3163EA}"/>
              </a:ext>
            </a:extLst>
          </p:cNvPr>
          <p:cNvSpPr>
            <a:spLocks/>
          </p:cNvSpPr>
          <p:nvPr/>
        </p:nvSpPr>
        <p:spPr>
          <a:xfrm>
            <a:off x="7086600" y="1010367"/>
            <a:ext cx="4955260" cy="424743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9" name="a">
            <a:extLst>
              <a:ext uri="{FF2B5EF4-FFF2-40B4-BE49-F238E27FC236}">
                <a16:creationId xmlns:a16="http://schemas.microsoft.com/office/drawing/2014/main" id="{DAB6AC52-9EFF-1C1C-67AB-019972C27B87}"/>
              </a:ext>
            </a:extLst>
          </p:cNvPr>
          <p:cNvSpPr>
            <a:spLocks/>
          </p:cNvSpPr>
          <p:nvPr/>
        </p:nvSpPr>
        <p:spPr>
          <a:xfrm>
            <a:off x="7086600" y="9448800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</a:t>
            </a:r>
          </a:p>
          <a:p>
            <a:pPr eaLnBrk="0" fontAlgn="base" hangingPunct="0">
              <a:lnSpc>
                <a:spcPct val="150000"/>
              </a:lnSpc>
            </a:pP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87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AE4C-B074-B8A9-E3D5-8558ABD29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611819-55EC-C59C-2220-35B806044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-8001000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EECFBCA-AAA7-8BAB-0B91-B39B76C22EDB}"/>
              </a:ext>
            </a:extLst>
          </p:cNvPr>
          <p:cNvSpPr/>
          <p:nvPr/>
        </p:nvSpPr>
        <p:spPr>
          <a:xfrm>
            <a:off x="-762000" y="685799"/>
            <a:ext cx="13322282" cy="6172201"/>
          </a:xfrm>
          <a:custGeom>
            <a:avLst/>
            <a:gdLst>
              <a:gd name="csX0" fmla="*/ 762000 w 13322282"/>
              <a:gd name="csY0" fmla="*/ 228601 h 6172201"/>
              <a:gd name="csX1" fmla="*/ 762000 w 13322282"/>
              <a:gd name="csY1" fmla="*/ 2917389 h 6172201"/>
              <a:gd name="csX2" fmla="*/ 7543800 w 13322282"/>
              <a:gd name="csY2" fmla="*/ 2917389 h 6172201"/>
              <a:gd name="csX3" fmla="*/ 7543800 w 13322282"/>
              <a:gd name="csY3" fmla="*/ 228601 h 6172201"/>
              <a:gd name="csX4" fmla="*/ 0 w 13322282"/>
              <a:gd name="csY4" fmla="*/ 0 h 6172201"/>
              <a:gd name="csX5" fmla="*/ 627752 w 13322282"/>
              <a:gd name="csY5" fmla="*/ 0 h 6172201"/>
              <a:gd name="csX6" fmla="*/ 7044767 w 13322282"/>
              <a:gd name="csY6" fmla="*/ 0 h 6172201"/>
              <a:gd name="csX7" fmla="*/ 13322282 w 13322282"/>
              <a:gd name="csY7" fmla="*/ 0 h 6172201"/>
              <a:gd name="csX8" fmla="*/ 13322282 w 13322282"/>
              <a:gd name="csY8" fmla="*/ 6172199 h 6172201"/>
              <a:gd name="csX9" fmla="*/ 12365045 w 13322282"/>
              <a:gd name="csY9" fmla="*/ 6172199 h 6172201"/>
              <a:gd name="csX10" fmla="*/ 12365045 w 13322282"/>
              <a:gd name="csY10" fmla="*/ 6172201 h 6172201"/>
              <a:gd name="csX11" fmla="*/ 7254018 w 13322282"/>
              <a:gd name="csY11" fmla="*/ 6172201 h 6172201"/>
              <a:gd name="csX12" fmla="*/ 7254018 w 13322282"/>
              <a:gd name="csY12" fmla="*/ 6172200 h 6172201"/>
              <a:gd name="csX13" fmla="*/ 697502 w 13322282"/>
              <a:gd name="csY13" fmla="*/ 6172200 h 6172201"/>
              <a:gd name="csX14" fmla="*/ 697502 w 13322282"/>
              <a:gd name="csY14" fmla="*/ 6172199 h 6172201"/>
              <a:gd name="csX15" fmla="*/ 0 w 13322282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3322282" h="6172201">
                <a:moveTo>
                  <a:pt x="762000" y="228601"/>
                </a:moveTo>
                <a:lnTo>
                  <a:pt x="762000" y="2917389"/>
                </a:lnTo>
                <a:lnTo>
                  <a:pt x="7543800" y="2917389"/>
                </a:lnTo>
                <a:lnTo>
                  <a:pt x="7543800" y="2286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EB4D5878-7062-7591-8832-628DAA09115C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!!N1">
            <a:extLst>
              <a:ext uri="{FF2B5EF4-FFF2-40B4-BE49-F238E27FC236}">
                <a16:creationId xmlns:a16="http://schemas.microsoft.com/office/drawing/2014/main" id="{11EB93CC-34F2-5834-EB34-2C9D18663225}"/>
              </a:ext>
            </a:extLst>
          </p:cNvPr>
          <p:cNvSpPr>
            <a:spLocks/>
          </p:cNvSpPr>
          <p:nvPr/>
        </p:nvSpPr>
        <p:spPr>
          <a:xfrm>
            <a:off x="7082444" y="3200400"/>
            <a:ext cx="4955260" cy="12364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Anatomical hierarchy score: ranking regions from primary sensory processing to higher-order association areas</a:t>
            </a:r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0D137308-211E-FFAE-C8A8-3ECC5AE53EF4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E708BE-ECB5-1FAC-98CB-2639F376E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1AF3E1-510C-0BF5-EBEE-9A8E63AB5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Focus">
            <a:extLst>
              <a:ext uri="{FF2B5EF4-FFF2-40B4-BE49-F238E27FC236}">
                <a16:creationId xmlns:a16="http://schemas.microsoft.com/office/drawing/2014/main" id="{B8FB8762-700F-BFC5-10DA-7E9201B2C966}"/>
              </a:ext>
            </a:extLst>
          </p:cNvPr>
          <p:cNvSpPr/>
          <p:nvPr/>
        </p:nvSpPr>
        <p:spPr>
          <a:xfrm rot="5400000">
            <a:off x="4686301" y="995749"/>
            <a:ext cx="685798" cy="762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A4F7578D-30A2-835A-66C2-086A135D4846}"/>
              </a:ext>
            </a:extLst>
          </p:cNvPr>
          <p:cNvSpPr>
            <a:spLocks/>
          </p:cNvSpPr>
          <p:nvPr/>
        </p:nvSpPr>
        <p:spPr>
          <a:xfrm>
            <a:off x="150140" y="3810000"/>
            <a:ext cx="686026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A0C27CBD-178A-4F9C-3242-8FDF49DBBA98}"/>
              </a:ext>
            </a:extLst>
          </p:cNvPr>
          <p:cNvSpPr>
            <a:spLocks/>
          </p:cNvSpPr>
          <p:nvPr/>
        </p:nvSpPr>
        <p:spPr>
          <a:xfrm>
            <a:off x="150140" y="4535905"/>
            <a:ext cx="6860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D2D4C321-0361-B1C3-6E6F-C30F2CEBB25F}"/>
              </a:ext>
            </a:extLst>
          </p:cNvPr>
          <p:cNvSpPr>
            <a:spLocks/>
          </p:cNvSpPr>
          <p:nvPr/>
        </p:nvSpPr>
        <p:spPr>
          <a:xfrm>
            <a:off x="150140" y="5291809"/>
            <a:ext cx="6860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BAAA7422-9416-7B3E-5427-3A74C072BBD4}"/>
              </a:ext>
            </a:extLst>
          </p:cNvPr>
          <p:cNvSpPr>
            <a:spLocks/>
          </p:cNvSpPr>
          <p:nvPr/>
        </p:nvSpPr>
        <p:spPr>
          <a:xfrm>
            <a:off x="7086600" y="1010367"/>
            <a:ext cx="4955260" cy="424743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9" name="a">
            <a:extLst>
              <a:ext uri="{FF2B5EF4-FFF2-40B4-BE49-F238E27FC236}">
                <a16:creationId xmlns:a16="http://schemas.microsoft.com/office/drawing/2014/main" id="{5A947F16-F732-9F76-4667-2AD98A346463}"/>
              </a:ext>
            </a:extLst>
          </p:cNvPr>
          <p:cNvSpPr>
            <a:spLocks/>
          </p:cNvSpPr>
          <p:nvPr/>
        </p:nvSpPr>
        <p:spPr>
          <a:xfrm>
            <a:off x="7086600" y="9448800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</a:t>
            </a:r>
          </a:p>
          <a:p>
            <a:pPr eaLnBrk="0" fontAlgn="base" hangingPunct="0">
              <a:lnSpc>
                <a:spcPct val="150000"/>
              </a:lnSpc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7" name="!!M4">
            <a:extLst>
              <a:ext uri="{FF2B5EF4-FFF2-40B4-BE49-F238E27FC236}">
                <a16:creationId xmlns:a16="http://schemas.microsoft.com/office/drawing/2014/main" id="{2C786ED8-AAAE-8CAD-148A-4BACBD7559BB}"/>
              </a:ext>
            </a:extLst>
          </p:cNvPr>
          <p:cNvSpPr>
            <a:spLocks/>
          </p:cNvSpPr>
          <p:nvPr/>
        </p:nvSpPr>
        <p:spPr>
          <a:xfrm>
            <a:off x="7096167" y="7508171"/>
            <a:ext cx="4955260" cy="285502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2e (Peak Firing Intensity): DS2 yields highest global firing</a:t>
            </a:r>
          </a:p>
        </p:txBody>
      </p:sp>
    </p:spTree>
    <p:extLst>
      <p:ext uri="{BB962C8B-B14F-4D97-AF65-F5344CB8AC3E}">
        <p14:creationId xmlns:p14="http://schemas.microsoft.com/office/powerpoint/2010/main" val="784478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49CFD-926A-8A73-085B-E8067EC1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870FF4-B133-5C9A-471F-7D3AF4A47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00800" y="-5279588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26" name="!!Freeform: Shape 25">
            <a:extLst>
              <a:ext uri="{FF2B5EF4-FFF2-40B4-BE49-F238E27FC236}">
                <a16:creationId xmlns:a16="http://schemas.microsoft.com/office/drawing/2014/main" id="{2A900CE8-9471-3BCA-0CC5-D2667ED15D17}"/>
              </a:ext>
            </a:extLst>
          </p:cNvPr>
          <p:cNvSpPr/>
          <p:nvPr/>
        </p:nvSpPr>
        <p:spPr>
          <a:xfrm>
            <a:off x="-762000" y="685799"/>
            <a:ext cx="13322282" cy="6172201"/>
          </a:xfrm>
          <a:custGeom>
            <a:avLst/>
            <a:gdLst>
              <a:gd name="csX0" fmla="*/ 1143000 w 13322282"/>
              <a:gd name="csY0" fmla="*/ 2986504 h 6172201"/>
              <a:gd name="csX1" fmla="*/ 1143000 w 13322282"/>
              <a:gd name="csY1" fmla="*/ 5638801 h 6172201"/>
              <a:gd name="csX2" fmla="*/ 2286000 w 13322282"/>
              <a:gd name="csY2" fmla="*/ 5638801 h 6172201"/>
              <a:gd name="csX3" fmla="*/ 2286000 w 13322282"/>
              <a:gd name="csY3" fmla="*/ 2986504 h 6172201"/>
              <a:gd name="csX4" fmla="*/ 0 w 13322282"/>
              <a:gd name="csY4" fmla="*/ 0 h 6172201"/>
              <a:gd name="csX5" fmla="*/ 627752 w 13322282"/>
              <a:gd name="csY5" fmla="*/ 0 h 6172201"/>
              <a:gd name="csX6" fmla="*/ 7044767 w 13322282"/>
              <a:gd name="csY6" fmla="*/ 0 h 6172201"/>
              <a:gd name="csX7" fmla="*/ 13322282 w 13322282"/>
              <a:gd name="csY7" fmla="*/ 0 h 6172201"/>
              <a:gd name="csX8" fmla="*/ 13322282 w 13322282"/>
              <a:gd name="csY8" fmla="*/ 6172199 h 6172201"/>
              <a:gd name="csX9" fmla="*/ 12365045 w 13322282"/>
              <a:gd name="csY9" fmla="*/ 6172199 h 6172201"/>
              <a:gd name="csX10" fmla="*/ 12365045 w 13322282"/>
              <a:gd name="csY10" fmla="*/ 6172201 h 6172201"/>
              <a:gd name="csX11" fmla="*/ 7254018 w 13322282"/>
              <a:gd name="csY11" fmla="*/ 6172201 h 6172201"/>
              <a:gd name="csX12" fmla="*/ 7254018 w 13322282"/>
              <a:gd name="csY12" fmla="*/ 6172200 h 6172201"/>
              <a:gd name="csX13" fmla="*/ 697502 w 13322282"/>
              <a:gd name="csY13" fmla="*/ 6172200 h 6172201"/>
              <a:gd name="csX14" fmla="*/ 697502 w 13322282"/>
              <a:gd name="csY14" fmla="*/ 6172199 h 6172201"/>
              <a:gd name="csX15" fmla="*/ 0 w 13322282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3322282" h="6172201">
                <a:moveTo>
                  <a:pt x="1143000" y="2986504"/>
                </a:moveTo>
                <a:lnTo>
                  <a:pt x="1143000" y="5638801"/>
                </a:lnTo>
                <a:lnTo>
                  <a:pt x="2286000" y="5638801"/>
                </a:lnTo>
                <a:lnTo>
                  <a:pt x="2286000" y="2986504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768DD767-226C-45B0-0168-7763A15EEB0E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1640AC29-D592-CC04-87AC-C542EB28EBC2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CCCE98-2BCC-62DE-2634-1887AB8F5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888E0F-D9D6-D379-4A3F-6D5BD381E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8" name="!!M1">
            <a:extLst>
              <a:ext uri="{FF2B5EF4-FFF2-40B4-BE49-F238E27FC236}">
                <a16:creationId xmlns:a16="http://schemas.microsoft.com/office/drawing/2014/main" id="{0E6CEA68-5CBC-F76E-EB54-4F78DEDC54D0}"/>
              </a:ext>
            </a:extLst>
          </p:cNvPr>
          <p:cNvSpPr>
            <a:spLocks/>
          </p:cNvSpPr>
          <p:nvPr/>
        </p:nvSpPr>
        <p:spPr>
          <a:xfrm>
            <a:off x="7086600" y="838200"/>
            <a:ext cx="495300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F4BC5AC1-7EBE-3743-2B92-2A1490561621}"/>
              </a:ext>
            </a:extLst>
          </p:cNvPr>
          <p:cNvSpPr>
            <a:spLocks/>
          </p:cNvSpPr>
          <p:nvPr/>
        </p:nvSpPr>
        <p:spPr>
          <a:xfrm>
            <a:off x="7086600" y="1564105"/>
            <a:ext cx="49530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5BCDD438-A335-D51B-8084-924737C245D3}"/>
              </a:ext>
            </a:extLst>
          </p:cNvPr>
          <p:cNvSpPr>
            <a:spLocks/>
          </p:cNvSpPr>
          <p:nvPr/>
        </p:nvSpPr>
        <p:spPr>
          <a:xfrm>
            <a:off x="7086600" y="2320009"/>
            <a:ext cx="49530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0BEAF7CB-3E85-C845-43F6-41C1E8146936}"/>
              </a:ext>
            </a:extLst>
          </p:cNvPr>
          <p:cNvSpPr>
            <a:spLocks/>
          </p:cNvSpPr>
          <p:nvPr/>
        </p:nvSpPr>
        <p:spPr>
          <a:xfrm>
            <a:off x="7096167" y="3068799"/>
            <a:ext cx="4938912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9" name="a">
            <a:extLst>
              <a:ext uri="{FF2B5EF4-FFF2-40B4-BE49-F238E27FC236}">
                <a16:creationId xmlns:a16="http://schemas.microsoft.com/office/drawing/2014/main" id="{E7903929-7E95-CD35-096C-7FDF969DF729}"/>
              </a:ext>
            </a:extLst>
          </p:cNvPr>
          <p:cNvSpPr>
            <a:spLocks/>
          </p:cNvSpPr>
          <p:nvPr/>
        </p:nvSpPr>
        <p:spPr>
          <a:xfrm>
            <a:off x="7086600" y="9448800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</a:t>
            </a:r>
          </a:p>
          <a:p>
            <a:pPr eaLnBrk="0" fontAlgn="base" hangingPunct="0">
              <a:lnSpc>
                <a:spcPct val="150000"/>
              </a:lnSpc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7" name="!!M4">
            <a:extLst>
              <a:ext uri="{FF2B5EF4-FFF2-40B4-BE49-F238E27FC236}">
                <a16:creationId xmlns:a16="http://schemas.microsoft.com/office/drawing/2014/main" id="{6A81FFD9-A6D2-4DB2-65B1-C7405BC025ED}"/>
              </a:ext>
            </a:extLst>
          </p:cNvPr>
          <p:cNvSpPr>
            <a:spLocks/>
          </p:cNvSpPr>
          <p:nvPr/>
        </p:nvSpPr>
        <p:spPr>
          <a:xfrm>
            <a:off x="7096167" y="3796158"/>
            <a:ext cx="4955260" cy="285502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2e (Peak Firing Intensity): DS2 yields highest global firing</a:t>
            </a:r>
          </a:p>
        </p:txBody>
      </p:sp>
      <p:sp>
        <p:nvSpPr>
          <p:cNvPr id="28" name="!!M4">
            <a:extLst>
              <a:ext uri="{FF2B5EF4-FFF2-40B4-BE49-F238E27FC236}">
                <a16:creationId xmlns:a16="http://schemas.microsoft.com/office/drawing/2014/main" id="{991F35E4-08E1-EE55-C933-BAC8C8A0D5F6}"/>
              </a:ext>
            </a:extLst>
          </p:cNvPr>
          <p:cNvSpPr>
            <a:spLocks/>
          </p:cNvSpPr>
          <p:nvPr/>
        </p:nvSpPr>
        <p:spPr>
          <a:xfrm>
            <a:off x="7096167" y="7064813"/>
            <a:ext cx="4955260" cy="207918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2f (Network Connectivity): Dense brain-wide coupling during DS2</a:t>
            </a:r>
          </a:p>
        </p:txBody>
      </p:sp>
    </p:spTree>
    <p:extLst>
      <p:ext uri="{BB962C8B-B14F-4D97-AF65-F5344CB8AC3E}">
        <p14:creationId xmlns:p14="http://schemas.microsoft.com/office/powerpoint/2010/main" val="3262562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9A44F-B5BB-F3FB-8963-EBAD2C47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!N1">
            <a:extLst>
              <a:ext uri="{FF2B5EF4-FFF2-40B4-BE49-F238E27FC236}">
                <a16:creationId xmlns:a16="http://schemas.microsoft.com/office/drawing/2014/main" id="{5F56BAAC-5038-1E05-5E91-5BCBFC618760}"/>
              </a:ext>
            </a:extLst>
          </p:cNvPr>
          <p:cNvSpPr>
            <a:spLocks/>
          </p:cNvSpPr>
          <p:nvPr/>
        </p:nvSpPr>
        <p:spPr>
          <a:xfrm>
            <a:off x="7086600" y="7162800"/>
            <a:ext cx="10668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773C6C-5552-32A2-51C6-7C0B6CC12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00800" y="-5279588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3963AB7-FDF4-260C-DEAF-2FF6CC4F1821}"/>
              </a:ext>
            </a:extLst>
          </p:cNvPr>
          <p:cNvSpPr/>
          <p:nvPr/>
        </p:nvSpPr>
        <p:spPr>
          <a:xfrm>
            <a:off x="-762000" y="685799"/>
            <a:ext cx="13322282" cy="6172201"/>
          </a:xfrm>
          <a:custGeom>
            <a:avLst/>
            <a:gdLst>
              <a:gd name="csX0" fmla="*/ 914400 w 13322282"/>
              <a:gd name="csY0" fmla="*/ 152401 h 6172201"/>
              <a:gd name="csX1" fmla="*/ 914400 w 13322282"/>
              <a:gd name="csY1" fmla="*/ 2986504 h 6172201"/>
              <a:gd name="csX2" fmla="*/ 2209800 w 13322282"/>
              <a:gd name="csY2" fmla="*/ 2986504 h 6172201"/>
              <a:gd name="csX3" fmla="*/ 2209800 w 13322282"/>
              <a:gd name="csY3" fmla="*/ 5638801 h 6172201"/>
              <a:gd name="csX4" fmla="*/ 4876800 w 13322282"/>
              <a:gd name="csY4" fmla="*/ 5638801 h 6172201"/>
              <a:gd name="csX5" fmla="*/ 4876800 w 13322282"/>
              <a:gd name="csY5" fmla="*/ 2986504 h 6172201"/>
              <a:gd name="csX6" fmla="*/ 6400800 w 13322282"/>
              <a:gd name="csY6" fmla="*/ 2986504 h 6172201"/>
              <a:gd name="csX7" fmla="*/ 6400800 w 13322282"/>
              <a:gd name="csY7" fmla="*/ 152401 h 6172201"/>
              <a:gd name="csX8" fmla="*/ 0 w 13322282"/>
              <a:gd name="csY8" fmla="*/ 0 h 6172201"/>
              <a:gd name="csX9" fmla="*/ 627752 w 13322282"/>
              <a:gd name="csY9" fmla="*/ 0 h 6172201"/>
              <a:gd name="csX10" fmla="*/ 7044767 w 13322282"/>
              <a:gd name="csY10" fmla="*/ 0 h 6172201"/>
              <a:gd name="csX11" fmla="*/ 13322282 w 13322282"/>
              <a:gd name="csY11" fmla="*/ 0 h 6172201"/>
              <a:gd name="csX12" fmla="*/ 13322282 w 13322282"/>
              <a:gd name="csY12" fmla="*/ 6172199 h 6172201"/>
              <a:gd name="csX13" fmla="*/ 12365045 w 13322282"/>
              <a:gd name="csY13" fmla="*/ 6172199 h 6172201"/>
              <a:gd name="csX14" fmla="*/ 12365045 w 13322282"/>
              <a:gd name="csY14" fmla="*/ 6172201 h 6172201"/>
              <a:gd name="csX15" fmla="*/ 7254018 w 13322282"/>
              <a:gd name="csY15" fmla="*/ 6172201 h 6172201"/>
              <a:gd name="csX16" fmla="*/ 7254018 w 13322282"/>
              <a:gd name="csY16" fmla="*/ 6172200 h 6172201"/>
              <a:gd name="csX17" fmla="*/ 697502 w 13322282"/>
              <a:gd name="csY17" fmla="*/ 6172200 h 6172201"/>
              <a:gd name="csX18" fmla="*/ 697502 w 13322282"/>
              <a:gd name="csY18" fmla="*/ 6172199 h 6172201"/>
              <a:gd name="csX19" fmla="*/ 0 w 13322282"/>
              <a:gd name="csY19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3322282" h="6172201">
                <a:moveTo>
                  <a:pt x="914400" y="152401"/>
                </a:moveTo>
                <a:lnTo>
                  <a:pt x="914400" y="2986504"/>
                </a:lnTo>
                <a:lnTo>
                  <a:pt x="2209800" y="2986504"/>
                </a:lnTo>
                <a:lnTo>
                  <a:pt x="2209800" y="5638801"/>
                </a:lnTo>
                <a:lnTo>
                  <a:pt x="4876800" y="5638801"/>
                </a:lnTo>
                <a:lnTo>
                  <a:pt x="4876800" y="2986504"/>
                </a:lnTo>
                <a:lnTo>
                  <a:pt x="6400800" y="2986504"/>
                </a:lnTo>
                <a:lnTo>
                  <a:pt x="6400800" y="1524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186264EC-5699-B85D-E20C-23D80AA1FD6B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B49E0CBC-62BC-F4B6-9E7D-7E3D6BD9BE0D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4E966A-102A-E119-A9BE-DB1F2197E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BD3B2C-49D4-243D-A434-D8727FFFB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8" name="!!M1">
            <a:extLst>
              <a:ext uri="{FF2B5EF4-FFF2-40B4-BE49-F238E27FC236}">
                <a16:creationId xmlns:a16="http://schemas.microsoft.com/office/drawing/2014/main" id="{98467978-0991-B5DF-2A15-098982EC1A18}"/>
              </a:ext>
            </a:extLst>
          </p:cNvPr>
          <p:cNvSpPr>
            <a:spLocks/>
          </p:cNvSpPr>
          <p:nvPr/>
        </p:nvSpPr>
        <p:spPr>
          <a:xfrm>
            <a:off x="7086600" y="838200"/>
            <a:ext cx="495300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A26F4557-E624-1F10-5241-DCDB5947B79D}"/>
              </a:ext>
            </a:extLst>
          </p:cNvPr>
          <p:cNvSpPr>
            <a:spLocks/>
          </p:cNvSpPr>
          <p:nvPr/>
        </p:nvSpPr>
        <p:spPr>
          <a:xfrm>
            <a:off x="7086600" y="1564105"/>
            <a:ext cx="49530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D5BC80DA-6344-7E39-76A8-FBBF5D222885}"/>
              </a:ext>
            </a:extLst>
          </p:cNvPr>
          <p:cNvSpPr>
            <a:spLocks/>
          </p:cNvSpPr>
          <p:nvPr/>
        </p:nvSpPr>
        <p:spPr>
          <a:xfrm>
            <a:off x="7086600" y="2320009"/>
            <a:ext cx="49530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DF56FC0C-44DA-66FD-8D19-85667D65D76F}"/>
              </a:ext>
            </a:extLst>
          </p:cNvPr>
          <p:cNvSpPr>
            <a:spLocks/>
          </p:cNvSpPr>
          <p:nvPr/>
        </p:nvSpPr>
        <p:spPr>
          <a:xfrm>
            <a:off x="7096167" y="3068799"/>
            <a:ext cx="4938912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9" name="a">
            <a:extLst>
              <a:ext uri="{FF2B5EF4-FFF2-40B4-BE49-F238E27FC236}">
                <a16:creationId xmlns:a16="http://schemas.microsoft.com/office/drawing/2014/main" id="{43D048DD-0209-C0AF-E024-529719995F1F}"/>
              </a:ext>
            </a:extLst>
          </p:cNvPr>
          <p:cNvSpPr>
            <a:spLocks/>
          </p:cNvSpPr>
          <p:nvPr/>
        </p:nvSpPr>
        <p:spPr>
          <a:xfrm>
            <a:off x="7086600" y="9448800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</a:t>
            </a:r>
          </a:p>
          <a:p>
            <a:pPr eaLnBrk="0" fontAlgn="base" hangingPunct="0">
              <a:lnSpc>
                <a:spcPct val="150000"/>
              </a:lnSpc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7" name="!!M4">
            <a:extLst>
              <a:ext uri="{FF2B5EF4-FFF2-40B4-BE49-F238E27FC236}">
                <a16:creationId xmlns:a16="http://schemas.microsoft.com/office/drawing/2014/main" id="{5C60AE23-09CE-EA5B-9746-7C890DF16A9C}"/>
              </a:ext>
            </a:extLst>
          </p:cNvPr>
          <p:cNvSpPr>
            <a:spLocks/>
          </p:cNvSpPr>
          <p:nvPr/>
        </p:nvSpPr>
        <p:spPr>
          <a:xfrm>
            <a:off x="7096167" y="3796158"/>
            <a:ext cx="4955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6A81FFD9-A6D2-4DB2-65B1-C7405BC025ED}"/>
              </a:ext>
            </a:extLst>
          </p:cNvPr>
          <p:cNvSpPr>
            <a:spLocks/>
          </p:cNvSpPr>
          <p:nvPr/>
        </p:nvSpPr>
        <p:spPr>
          <a:xfrm>
            <a:off x="7096167" y="4572000"/>
            <a:ext cx="4955260" cy="207918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824006AF-EE94-6D42-D400-640269C7BC6A}"/>
              </a:ext>
            </a:extLst>
          </p:cNvPr>
          <p:cNvSpPr>
            <a:spLocks/>
          </p:cNvSpPr>
          <p:nvPr/>
        </p:nvSpPr>
        <p:spPr>
          <a:xfrm>
            <a:off x="7096167" y="7162800"/>
            <a:ext cx="4955260" cy="1828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Figures 2g-h (Global Coordination): DS2 maximizes brain-wide information flow</a:t>
            </a:r>
          </a:p>
        </p:txBody>
      </p:sp>
      <p:sp>
        <p:nvSpPr>
          <p:cNvPr id="23" name="!!Focus">
            <a:extLst>
              <a:ext uri="{FF2B5EF4-FFF2-40B4-BE49-F238E27FC236}">
                <a16:creationId xmlns:a16="http://schemas.microsoft.com/office/drawing/2014/main" id="{F979107F-81B3-40F7-68BC-BF9DB0DB0045}"/>
              </a:ext>
            </a:extLst>
          </p:cNvPr>
          <p:cNvSpPr/>
          <p:nvPr/>
        </p:nvSpPr>
        <p:spPr>
          <a:xfrm rot="5400000">
            <a:off x="3041994" y="7613994"/>
            <a:ext cx="2450411" cy="1066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84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91F82-3A9F-5362-C7F0-3D70B17F3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075FF1F-9CF9-6046-1A7D-60061B6BF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81800" y="-5279588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2" name="!!Freeform: Shape 11">
            <a:extLst>
              <a:ext uri="{FF2B5EF4-FFF2-40B4-BE49-F238E27FC236}">
                <a16:creationId xmlns:a16="http://schemas.microsoft.com/office/drawing/2014/main" id="{AFDEEE4F-BE60-7777-AC60-65611CE1F896}"/>
              </a:ext>
            </a:extLst>
          </p:cNvPr>
          <p:cNvSpPr/>
          <p:nvPr/>
        </p:nvSpPr>
        <p:spPr>
          <a:xfrm>
            <a:off x="-1143000" y="685799"/>
            <a:ext cx="13322282" cy="6172201"/>
          </a:xfrm>
          <a:custGeom>
            <a:avLst/>
            <a:gdLst>
              <a:gd name="csX0" fmla="*/ 4876800 w 13322282"/>
              <a:gd name="csY0" fmla="*/ 3048001 h 6172201"/>
              <a:gd name="csX1" fmla="*/ 4876800 w 13322282"/>
              <a:gd name="csY1" fmla="*/ 5715001 h 6172201"/>
              <a:gd name="csX2" fmla="*/ 7086600 w 13322282"/>
              <a:gd name="csY2" fmla="*/ 5715001 h 6172201"/>
              <a:gd name="csX3" fmla="*/ 7086600 w 13322282"/>
              <a:gd name="csY3" fmla="*/ 3048001 h 6172201"/>
              <a:gd name="csX4" fmla="*/ 0 w 13322282"/>
              <a:gd name="csY4" fmla="*/ 0 h 6172201"/>
              <a:gd name="csX5" fmla="*/ 627752 w 13322282"/>
              <a:gd name="csY5" fmla="*/ 0 h 6172201"/>
              <a:gd name="csX6" fmla="*/ 7044767 w 13322282"/>
              <a:gd name="csY6" fmla="*/ 0 h 6172201"/>
              <a:gd name="csX7" fmla="*/ 13322282 w 13322282"/>
              <a:gd name="csY7" fmla="*/ 0 h 6172201"/>
              <a:gd name="csX8" fmla="*/ 13322282 w 13322282"/>
              <a:gd name="csY8" fmla="*/ 6172199 h 6172201"/>
              <a:gd name="csX9" fmla="*/ 12365045 w 13322282"/>
              <a:gd name="csY9" fmla="*/ 6172199 h 6172201"/>
              <a:gd name="csX10" fmla="*/ 12365045 w 13322282"/>
              <a:gd name="csY10" fmla="*/ 6172201 h 6172201"/>
              <a:gd name="csX11" fmla="*/ 7254018 w 13322282"/>
              <a:gd name="csY11" fmla="*/ 6172201 h 6172201"/>
              <a:gd name="csX12" fmla="*/ 7254018 w 13322282"/>
              <a:gd name="csY12" fmla="*/ 6172200 h 6172201"/>
              <a:gd name="csX13" fmla="*/ 697502 w 13322282"/>
              <a:gd name="csY13" fmla="*/ 6172200 h 6172201"/>
              <a:gd name="csX14" fmla="*/ 697502 w 13322282"/>
              <a:gd name="csY14" fmla="*/ 6172199 h 6172201"/>
              <a:gd name="csX15" fmla="*/ 0 w 13322282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3322282" h="6172201">
                <a:moveTo>
                  <a:pt x="4876800" y="3048001"/>
                </a:moveTo>
                <a:lnTo>
                  <a:pt x="4876800" y="5715001"/>
                </a:lnTo>
                <a:lnTo>
                  <a:pt x="7086600" y="5715001"/>
                </a:lnTo>
                <a:lnTo>
                  <a:pt x="7086600" y="30480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3E1F47F9-602D-8E43-8159-A007703ECFCE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!!N1">
            <a:extLst>
              <a:ext uri="{FF2B5EF4-FFF2-40B4-BE49-F238E27FC236}">
                <a16:creationId xmlns:a16="http://schemas.microsoft.com/office/drawing/2014/main" id="{DD434DB4-D721-870F-C584-F39A940D7954}"/>
              </a:ext>
            </a:extLst>
          </p:cNvPr>
          <p:cNvSpPr>
            <a:spLocks/>
          </p:cNvSpPr>
          <p:nvPr/>
        </p:nvSpPr>
        <p:spPr>
          <a:xfrm>
            <a:off x="7086600" y="4953001"/>
            <a:ext cx="10668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BE141190-242E-5D77-D624-C4ADFCD38B60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FD660A-EB41-6AA9-226C-A5C56BB35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C4C78A-526F-9067-11C9-582BEA17B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Focus">
            <a:extLst>
              <a:ext uri="{FF2B5EF4-FFF2-40B4-BE49-F238E27FC236}">
                <a16:creationId xmlns:a16="http://schemas.microsoft.com/office/drawing/2014/main" id="{7AC5ED6B-DBBF-65CA-C94B-A7A119EC5C9B}"/>
              </a:ext>
            </a:extLst>
          </p:cNvPr>
          <p:cNvSpPr/>
          <p:nvPr/>
        </p:nvSpPr>
        <p:spPr>
          <a:xfrm rot="5400000">
            <a:off x="3041994" y="8223594"/>
            <a:ext cx="2450411" cy="1066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49FEA5A5-38C3-0E89-27A6-3200904FAF09}"/>
              </a:ext>
            </a:extLst>
          </p:cNvPr>
          <p:cNvSpPr>
            <a:spLocks/>
          </p:cNvSpPr>
          <p:nvPr/>
        </p:nvSpPr>
        <p:spPr>
          <a:xfrm>
            <a:off x="7086600" y="762000"/>
            <a:ext cx="495300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0611D92B-1B5D-6592-FE19-9C2F5D2FB952}"/>
              </a:ext>
            </a:extLst>
          </p:cNvPr>
          <p:cNvSpPr>
            <a:spLocks/>
          </p:cNvSpPr>
          <p:nvPr/>
        </p:nvSpPr>
        <p:spPr>
          <a:xfrm>
            <a:off x="7086600" y="1447800"/>
            <a:ext cx="49530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8D6CE9AF-E571-5B65-B57E-84FE152CE0C9}"/>
              </a:ext>
            </a:extLst>
          </p:cNvPr>
          <p:cNvSpPr>
            <a:spLocks/>
          </p:cNvSpPr>
          <p:nvPr/>
        </p:nvSpPr>
        <p:spPr>
          <a:xfrm>
            <a:off x="7086600" y="2133600"/>
            <a:ext cx="49530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B6975D0E-CB89-5F71-DD6D-4D322F729292}"/>
              </a:ext>
            </a:extLst>
          </p:cNvPr>
          <p:cNvSpPr>
            <a:spLocks/>
          </p:cNvSpPr>
          <p:nvPr/>
        </p:nvSpPr>
        <p:spPr>
          <a:xfrm>
            <a:off x="7096167" y="2819400"/>
            <a:ext cx="4938912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9" name="a">
            <a:extLst>
              <a:ext uri="{FF2B5EF4-FFF2-40B4-BE49-F238E27FC236}">
                <a16:creationId xmlns:a16="http://schemas.microsoft.com/office/drawing/2014/main" id="{C0620694-C6F7-9A57-9892-4A4E1F2BBE75}"/>
              </a:ext>
            </a:extLst>
          </p:cNvPr>
          <p:cNvSpPr>
            <a:spLocks/>
          </p:cNvSpPr>
          <p:nvPr/>
        </p:nvSpPr>
        <p:spPr>
          <a:xfrm>
            <a:off x="7086600" y="9448800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</a:t>
            </a:r>
          </a:p>
          <a:p>
            <a:pPr eaLnBrk="0" fontAlgn="base" hangingPunct="0">
              <a:lnSpc>
                <a:spcPct val="150000"/>
              </a:lnSpc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7" name="!!M4">
            <a:extLst>
              <a:ext uri="{FF2B5EF4-FFF2-40B4-BE49-F238E27FC236}">
                <a16:creationId xmlns:a16="http://schemas.microsoft.com/office/drawing/2014/main" id="{5D23B3EF-CFD0-98F2-8D22-D1FD19285DFD}"/>
              </a:ext>
            </a:extLst>
          </p:cNvPr>
          <p:cNvSpPr>
            <a:spLocks/>
          </p:cNvSpPr>
          <p:nvPr/>
        </p:nvSpPr>
        <p:spPr>
          <a:xfrm>
            <a:off x="7096167" y="3505200"/>
            <a:ext cx="4955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CC453000-F110-9A60-CA43-DB1612D68CB3}"/>
              </a:ext>
            </a:extLst>
          </p:cNvPr>
          <p:cNvSpPr>
            <a:spLocks/>
          </p:cNvSpPr>
          <p:nvPr/>
        </p:nvSpPr>
        <p:spPr>
          <a:xfrm>
            <a:off x="7096167" y="4191000"/>
            <a:ext cx="4955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4" name="!!M4">
            <a:extLst>
              <a:ext uri="{FF2B5EF4-FFF2-40B4-BE49-F238E27FC236}">
                <a16:creationId xmlns:a16="http://schemas.microsoft.com/office/drawing/2014/main" id="{C29E5A87-9E7D-66F2-4979-D2E9B3EBCCA8}"/>
              </a:ext>
            </a:extLst>
          </p:cNvPr>
          <p:cNvSpPr>
            <a:spLocks/>
          </p:cNvSpPr>
          <p:nvPr/>
        </p:nvSpPr>
        <p:spPr>
          <a:xfrm>
            <a:off x="7096167" y="4953001"/>
            <a:ext cx="4955260" cy="1828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Figures 2g-h (Global Coordination): DS2 maximizes brain-wide information flow</a:t>
            </a:r>
          </a:p>
        </p:txBody>
      </p:sp>
    </p:spTree>
    <p:extLst>
      <p:ext uri="{BB962C8B-B14F-4D97-AF65-F5344CB8AC3E}">
        <p14:creationId xmlns:p14="http://schemas.microsoft.com/office/powerpoint/2010/main" val="905646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E04EF-BB6F-2487-9ADD-FD7B38811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FADB948-27EB-7263-1FA8-9724425F6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81800" y="-5279588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2" name="!!Freeform: Shape 11">
            <a:extLst>
              <a:ext uri="{FF2B5EF4-FFF2-40B4-BE49-F238E27FC236}">
                <a16:creationId xmlns:a16="http://schemas.microsoft.com/office/drawing/2014/main" id="{584370E7-F7B4-38FE-FE56-ACF6F2E6195E}"/>
              </a:ext>
            </a:extLst>
          </p:cNvPr>
          <p:cNvSpPr/>
          <p:nvPr/>
        </p:nvSpPr>
        <p:spPr>
          <a:xfrm>
            <a:off x="-1143000" y="685799"/>
            <a:ext cx="13322282" cy="6172201"/>
          </a:xfrm>
          <a:custGeom>
            <a:avLst/>
            <a:gdLst>
              <a:gd name="csX0" fmla="*/ 4876800 w 13322282"/>
              <a:gd name="csY0" fmla="*/ 3048001 h 6172201"/>
              <a:gd name="csX1" fmla="*/ 4876800 w 13322282"/>
              <a:gd name="csY1" fmla="*/ 5715001 h 6172201"/>
              <a:gd name="csX2" fmla="*/ 7086600 w 13322282"/>
              <a:gd name="csY2" fmla="*/ 5715001 h 6172201"/>
              <a:gd name="csX3" fmla="*/ 7086600 w 13322282"/>
              <a:gd name="csY3" fmla="*/ 3048001 h 6172201"/>
              <a:gd name="csX4" fmla="*/ 0 w 13322282"/>
              <a:gd name="csY4" fmla="*/ 0 h 6172201"/>
              <a:gd name="csX5" fmla="*/ 627752 w 13322282"/>
              <a:gd name="csY5" fmla="*/ 0 h 6172201"/>
              <a:gd name="csX6" fmla="*/ 7044767 w 13322282"/>
              <a:gd name="csY6" fmla="*/ 0 h 6172201"/>
              <a:gd name="csX7" fmla="*/ 13322282 w 13322282"/>
              <a:gd name="csY7" fmla="*/ 0 h 6172201"/>
              <a:gd name="csX8" fmla="*/ 13322282 w 13322282"/>
              <a:gd name="csY8" fmla="*/ 6172199 h 6172201"/>
              <a:gd name="csX9" fmla="*/ 12365045 w 13322282"/>
              <a:gd name="csY9" fmla="*/ 6172199 h 6172201"/>
              <a:gd name="csX10" fmla="*/ 12365045 w 13322282"/>
              <a:gd name="csY10" fmla="*/ 6172201 h 6172201"/>
              <a:gd name="csX11" fmla="*/ 7254018 w 13322282"/>
              <a:gd name="csY11" fmla="*/ 6172201 h 6172201"/>
              <a:gd name="csX12" fmla="*/ 7254018 w 13322282"/>
              <a:gd name="csY12" fmla="*/ 6172200 h 6172201"/>
              <a:gd name="csX13" fmla="*/ 697502 w 13322282"/>
              <a:gd name="csY13" fmla="*/ 6172200 h 6172201"/>
              <a:gd name="csX14" fmla="*/ 697502 w 13322282"/>
              <a:gd name="csY14" fmla="*/ 6172199 h 6172201"/>
              <a:gd name="csX15" fmla="*/ 0 w 13322282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3322282" h="6172201">
                <a:moveTo>
                  <a:pt x="4876800" y="3048001"/>
                </a:moveTo>
                <a:lnTo>
                  <a:pt x="4876800" y="5715001"/>
                </a:lnTo>
                <a:lnTo>
                  <a:pt x="7086600" y="5715001"/>
                </a:lnTo>
                <a:lnTo>
                  <a:pt x="7086600" y="30480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2060A641-1867-A807-3514-7E3791BD277A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!!N1">
            <a:extLst>
              <a:ext uri="{FF2B5EF4-FFF2-40B4-BE49-F238E27FC236}">
                <a16:creationId xmlns:a16="http://schemas.microsoft.com/office/drawing/2014/main" id="{7D970276-0A75-4FBC-AC36-7FC10BF2F029}"/>
              </a:ext>
            </a:extLst>
          </p:cNvPr>
          <p:cNvSpPr>
            <a:spLocks/>
          </p:cNvSpPr>
          <p:nvPr/>
        </p:nvSpPr>
        <p:spPr>
          <a:xfrm>
            <a:off x="5981230" y="4953001"/>
            <a:ext cx="10668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21" name="!!N1">
            <a:extLst>
              <a:ext uri="{FF2B5EF4-FFF2-40B4-BE49-F238E27FC236}">
                <a16:creationId xmlns:a16="http://schemas.microsoft.com/office/drawing/2014/main" id="{F974F84B-F1F4-3F70-D59B-C5B7E1C33743}"/>
              </a:ext>
            </a:extLst>
          </p:cNvPr>
          <p:cNvSpPr>
            <a:spLocks/>
          </p:cNvSpPr>
          <p:nvPr/>
        </p:nvSpPr>
        <p:spPr>
          <a:xfrm>
            <a:off x="7162800" y="5638800"/>
            <a:ext cx="10668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ACB3EF01-9564-20E5-782E-820B7A06344E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1BD1E7-7E8F-D91D-F691-87E0ED634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99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99681E-94BC-718F-9C33-21AF910AB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19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Focus">
            <a:extLst>
              <a:ext uri="{FF2B5EF4-FFF2-40B4-BE49-F238E27FC236}">
                <a16:creationId xmlns:a16="http://schemas.microsoft.com/office/drawing/2014/main" id="{7FF00311-FDB0-0430-0C06-F3AC01F019AC}"/>
              </a:ext>
            </a:extLst>
          </p:cNvPr>
          <p:cNvSpPr/>
          <p:nvPr/>
        </p:nvSpPr>
        <p:spPr>
          <a:xfrm rot="5400000">
            <a:off x="3041994" y="4489794"/>
            <a:ext cx="2450411" cy="1066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FF38F965-CFB8-A057-55DC-730F0D5EC8C0}"/>
              </a:ext>
            </a:extLst>
          </p:cNvPr>
          <p:cNvSpPr>
            <a:spLocks/>
          </p:cNvSpPr>
          <p:nvPr/>
        </p:nvSpPr>
        <p:spPr>
          <a:xfrm>
            <a:off x="7086600" y="762000"/>
            <a:ext cx="495300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B8B71246-170F-4E51-86B4-2D27BA0DF71B}"/>
              </a:ext>
            </a:extLst>
          </p:cNvPr>
          <p:cNvSpPr>
            <a:spLocks/>
          </p:cNvSpPr>
          <p:nvPr/>
        </p:nvSpPr>
        <p:spPr>
          <a:xfrm>
            <a:off x="7086600" y="1447800"/>
            <a:ext cx="49530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DE9313CC-4054-C8EE-E858-DCD1D378436F}"/>
              </a:ext>
            </a:extLst>
          </p:cNvPr>
          <p:cNvSpPr>
            <a:spLocks/>
          </p:cNvSpPr>
          <p:nvPr/>
        </p:nvSpPr>
        <p:spPr>
          <a:xfrm>
            <a:off x="7086600" y="2133600"/>
            <a:ext cx="49530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555EF1CE-7FFB-FF73-7F32-44088949E4F9}"/>
              </a:ext>
            </a:extLst>
          </p:cNvPr>
          <p:cNvSpPr>
            <a:spLocks/>
          </p:cNvSpPr>
          <p:nvPr/>
        </p:nvSpPr>
        <p:spPr>
          <a:xfrm>
            <a:off x="7096167" y="2819400"/>
            <a:ext cx="4938912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9" name="a">
            <a:extLst>
              <a:ext uri="{FF2B5EF4-FFF2-40B4-BE49-F238E27FC236}">
                <a16:creationId xmlns:a16="http://schemas.microsoft.com/office/drawing/2014/main" id="{069B6D32-B6F2-4BF0-455B-25601297FCCA}"/>
              </a:ext>
            </a:extLst>
          </p:cNvPr>
          <p:cNvSpPr>
            <a:spLocks/>
          </p:cNvSpPr>
          <p:nvPr/>
        </p:nvSpPr>
        <p:spPr>
          <a:xfrm>
            <a:off x="7086600" y="9448800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</a:t>
            </a:r>
          </a:p>
          <a:p>
            <a:pPr eaLnBrk="0" fontAlgn="base" hangingPunct="0">
              <a:lnSpc>
                <a:spcPct val="150000"/>
              </a:lnSpc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7" name="!!M4">
            <a:extLst>
              <a:ext uri="{FF2B5EF4-FFF2-40B4-BE49-F238E27FC236}">
                <a16:creationId xmlns:a16="http://schemas.microsoft.com/office/drawing/2014/main" id="{8E5B3214-5A7A-6FF2-264D-0120A94467D2}"/>
              </a:ext>
            </a:extLst>
          </p:cNvPr>
          <p:cNvSpPr>
            <a:spLocks/>
          </p:cNvSpPr>
          <p:nvPr/>
        </p:nvSpPr>
        <p:spPr>
          <a:xfrm>
            <a:off x="7096167" y="3505200"/>
            <a:ext cx="4955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C5A47DDB-6B7D-9E52-82BF-ACDE0D13528E}"/>
              </a:ext>
            </a:extLst>
          </p:cNvPr>
          <p:cNvSpPr>
            <a:spLocks/>
          </p:cNvSpPr>
          <p:nvPr/>
        </p:nvSpPr>
        <p:spPr>
          <a:xfrm>
            <a:off x="7096167" y="4191000"/>
            <a:ext cx="4955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4" name="!!M4">
            <a:extLst>
              <a:ext uri="{FF2B5EF4-FFF2-40B4-BE49-F238E27FC236}">
                <a16:creationId xmlns:a16="http://schemas.microsoft.com/office/drawing/2014/main" id="{304AAB1D-A8F3-20AD-5E97-978A55832BC1}"/>
              </a:ext>
            </a:extLst>
          </p:cNvPr>
          <p:cNvSpPr>
            <a:spLocks/>
          </p:cNvSpPr>
          <p:nvPr/>
        </p:nvSpPr>
        <p:spPr>
          <a:xfrm>
            <a:off x="7096167" y="4953001"/>
            <a:ext cx="4955260" cy="1828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Figures 2g-h (Global Coordination): </a:t>
            </a:r>
            <a:r>
              <a:rPr lang="en-US" sz="2000" dirty="0">
                <a:solidFill>
                  <a:srgbClr val="FF0000"/>
                </a:solidFill>
              </a:rPr>
              <a:t>DS2 maximizes brain-wide information flow</a:t>
            </a:r>
          </a:p>
        </p:txBody>
      </p:sp>
    </p:spTree>
    <p:extLst>
      <p:ext uri="{BB962C8B-B14F-4D97-AF65-F5344CB8AC3E}">
        <p14:creationId xmlns:p14="http://schemas.microsoft.com/office/powerpoint/2010/main" val="1856601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25E21-58E7-9E0E-E05E-EB9B87858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0DB552-E58F-8F27-B628-33EF0A3F6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81800" y="-5279588"/>
            <a:ext cx="12610795" cy="11604188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12" name="!!Freeform: Shape 11">
            <a:extLst>
              <a:ext uri="{FF2B5EF4-FFF2-40B4-BE49-F238E27FC236}">
                <a16:creationId xmlns:a16="http://schemas.microsoft.com/office/drawing/2014/main" id="{8A65D38A-C689-D643-90CB-6C7DAA45797A}"/>
              </a:ext>
            </a:extLst>
          </p:cNvPr>
          <p:cNvSpPr/>
          <p:nvPr/>
        </p:nvSpPr>
        <p:spPr>
          <a:xfrm>
            <a:off x="-1143000" y="685799"/>
            <a:ext cx="13322282" cy="6172201"/>
          </a:xfrm>
          <a:custGeom>
            <a:avLst/>
            <a:gdLst>
              <a:gd name="csX0" fmla="*/ 4876800 w 13322282"/>
              <a:gd name="csY0" fmla="*/ 3048001 h 6172201"/>
              <a:gd name="csX1" fmla="*/ 4876800 w 13322282"/>
              <a:gd name="csY1" fmla="*/ 5715001 h 6172201"/>
              <a:gd name="csX2" fmla="*/ 7086600 w 13322282"/>
              <a:gd name="csY2" fmla="*/ 5715001 h 6172201"/>
              <a:gd name="csX3" fmla="*/ 7086600 w 13322282"/>
              <a:gd name="csY3" fmla="*/ 3048001 h 6172201"/>
              <a:gd name="csX4" fmla="*/ 0 w 13322282"/>
              <a:gd name="csY4" fmla="*/ 0 h 6172201"/>
              <a:gd name="csX5" fmla="*/ 627752 w 13322282"/>
              <a:gd name="csY5" fmla="*/ 0 h 6172201"/>
              <a:gd name="csX6" fmla="*/ 7044767 w 13322282"/>
              <a:gd name="csY6" fmla="*/ 0 h 6172201"/>
              <a:gd name="csX7" fmla="*/ 13322282 w 13322282"/>
              <a:gd name="csY7" fmla="*/ 0 h 6172201"/>
              <a:gd name="csX8" fmla="*/ 13322282 w 13322282"/>
              <a:gd name="csY8" fmla="*/ 6172199 h 6172201"/>
              <a:gd name="csX9" fmla="*/ 12365045 w 13322282"/>
              <a:gd name="csY9" fmla="*/ 6172199 h 6172201"/>
              <a:gd name="csX10" fmla="*/ 12365045 w 13322282"/>
              <a:gd name="csY10" fmla="*/ 6172201 h 6172201"/>
              <a:gd name="csX11" fmla="*/ 7254018 w 13322282"/>
              <a:gd name="csY11" fmla="*/ 6172201 h 6172201"/>
              <a:gd name="csX12" fmla="*/ 7254018 w 13322282"/>
              <a:gd name="csY12" fmla="*/ 6172200 h 6172201"/>
              <a:gd name="csX13" fmla="*/ 697502 w 13322282"/>
              <a:gd name="csY13" fmla="*/ 6172200 h 6172201"/>
              <a:gd name="csX14" fmla="*/ 697502 w 13322282"/>
              <a:gd name="csY14" fmla="*/ 6172199 h 6172201"/>
              <a:gd name="csX15" fmla="*/ 0 w 13322282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3322282" h="6172201">
                <a:moveTo>
                  <a:pt x="4876800" y="3048001"/>
                </a:moveTo>
                <a:lnTo>
                  <a:pt x="4876800" y="5715001"/>
                </a:lnTo>
                <a:lnTo>
                  <a:pt x="7086600" y="5715001"/>
                </a:lnTo>
                <a:lnTo>
                  <a:pt x="7086600" y="3048001"/>
                </a:lnTo>
                <a:close/>
                <a:moveTo>
                  <a:pt x="0" y="0"/>
                </a:moveTo>
                <a:lnTo>
                  <a:pt x="627752" y="0"/>
                </a:lnTo>
                <a:lnTo>
                  <a:pt x="7044767" y="0"/>
                </a:lnTo>
                <a:lnTo>
                  <a:pt x="13322282" y="0"/>
                </a:lnTo>
                <a:lnTo>
                  <a:pt x="13322282" y="6172199"/>
                </a:lnTo>
                <a:lnTo>
                  <a:pt x="12365045" y="6172199"/>
                </a:lnTo>
                <a:lnTo>
                  <a:pt x="12365045" y="6172201"/>
                </a:lnTo>
                <a:lnTo>
                  <a:pt x="7254018" y="6172201"/>
                </a:lnTo>
                <a:lnTo>
                  <a:pt x="7254018" y="6172200"/>
                </a:lnTo>
                <a:lnTo>
                  <a:pt x="697502" y="6172200"/>
                </a:lnTo>
                <a:lnTo>
                  <a:pt x="697502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10C07101-FBF5-EBE3-2AB0-9C862716849B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!!N1">
            <a:extLst>
              <a:ext uri="{FF2B5EF4-FFF2-40B4-BE49-F238E27FC236}">
                <a16:creationId xmlns:a16="http://schemas.microsoft.com/office/drawing/2014/main" id="{C52A2FAE-CD36-638E-CC07-41F25BF7693A}"/>
              </a:ext>
            </a:extLst>
          </p:cNvPr>
          <p:cNvSpPr>
            <a:spLocks/>
          </p:cNvSpPr>
          <p:nvPr/>
        </p:nvSpPr>
        <p:spPr>
          <a:xfrm>
            <a:off x="5981230" y="4953001"/>
            <a:ext cx="10668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21" name="!!N1">
            <a:extLst>
              <a:ext uri="{FF2B5EF4-FFF2-40B4-BE49-F238E27FC236}">
                <a16:creationId xmlns:a16="http://schemas.microsoft.com/office/drawing/2014/main" id="{7E5A8933-A89F-4BAD-45CF-145D3D87E97D}"/>
              </a:ext>
            </a:extLst>
          </p:cNvPr>
          <p:cNvSpPr>
            <a:spLocks/>
          </p:cNvSpPr>
          <p:nvPr/>
        </p:nvSpPr>
        <p:spPr>
          <a:xfrm>
            <a:off x="5978390" y="5638800"/>
            <a:ext cx="10668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F0899D2A-31A0-B5FD-847F-760A21A25E51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sp>
        <p:nvSpPr>
          <p:cNvPr id="20" name="!!Focus">
            <a:extLst>
              <a:ext uri="{FF2B5EF4-FFF2-40B4-BE49-F238E27FC236}">
                <a16:creationId xmlns:a16="http://schemas.microsoft.com/office/drawing/2014/main" id="{82A65D2B-D30F-A1A3-D7C3-99C3D49B0A85}"/>
              </a:ext>
            </a:extLst>
          </p:cNvPr>
          <p:cNvSpPr/>
          <p:nvPr/>
        </p:nvSpPr>
        <p:spPr>
          <a:xfrm rot="5400000">
            <a:off x="4062415" y="4489794"/>
            <a:ext cx="2450411" cy="10668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DAAC7EE0-9D37-926C-C734-3A0B286BEA43}"/>
              </a:ext>
            </a:extLst>
          </p:cNvPr>
          <p:cNvSpPr>
            <a:spLocks/>
          </p:cNvSpPr>
          <p:nvPr/>
        </p:nvSpPr>
        <p:spPr>
          <a:xfrm>
            <a:off x="7086600" y="762000"/>
            <a:ext cx="4953000" cy="6026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22" name="!!M2">
            <a:extLst>
              <a:ext uri="{FF2B5EF4-FFF2-40B4-BE49-F238E27FC236}">
                <a16:creationId xmlns:a16="http://schemas.microsoft.com/office/drawing/2014/main" id="{B6178415-EBB7-9F53-DF91-77DF9E6E4342}"/>
              </a:ext>
            </a:extLst>
          </p:cNvPr>
          <p:cNvSpPr>
            <a:spLocks/>
          </p:cNvSpPr>
          <p:nvPr/>
        </p:nvSpPr>
        <p:spPr>
          <a:xfrm>
            <a:off x="7086600" y="1447800"/>
            <a:ext cx="49530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3" name="!!M2">
            <a:extLst>
              <a:ext uri="{FF2B5EF4-FFF2-40B4-BE49-F238E27FC236}">
                <a16:creationId xmlns:a16="http://schemas.microsoft.com/office/drawing/2014/main" id="{19B8BF7F-4B8D-D655-C02E-850BA1D03D1C}"/>
              </a:ext>
            </a:extLst>
          </p:cNvPr>
          <p:cNvSpPr>
            <a:spLocks/>
          </p:cNvSpPr>
          <p:nvPr/>
        </p:nvSpPr>
        <p:spPr>
          <a:xfrm>
            <a:off x="7086600" y="2133600"/>
            <a:ext cx="495300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6" name="!!M4">
            <a:extLst>
              <a:ext uri="{FF2B5EF4-FFF2-40B4-BE49-F238E27FC236}">
                <a16:creationId xmlns:a16="http://schemas.microsoft.com/office/drawing/2014/main" id="{A6CC0EE0-4FEF-B4C9-EB54-A14A93E45602}"/>
              </a:ext>
            </a:extLst>
          </p:cNvPr>
          <p:cNvSpPr>
            <a:spLocks/>
          </p:cNvSpPr>
          <p:nvPr/>
        </p:nvSpPr>
        <p:spPr>
          <a:xfrm>
            <a:off x="7096167" y="2819400"/>
            <a:ext cx="4938912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9" name="a">
            <a:extLst>
              <a:ext uri="{FF2B5EF4-FFF2-40B4-BE49-F238E27FC236}">
                <a16:creationId xmlns:a16="http://schemas.microsoft.com/office/drawing/2014/main" id="{0BA158D4-B231-42E5-7CCF-229982ED7E0E}"/>
              </a:ext>
            </a:extLst>
          </p:cNvPr>
          <p:cNvSpPr>
            <a:spLocks/>
          </p:cNvSpPr>
          <p:nvPr/>
        </p:nvSpPr>
        <p:spPr>
          <a:xfrm>
            <a:off x="7086600" y="9448800"/>
            <a:ext cx="6858000" cy="228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A</a:t>
            </a:r>
          </a:p>
          <a:p>
            <a:pPr eaLnBrk="0" fontAlgn="base" hangingPunct="0">
              <a:lnSpc>
                <a:spcPct val="150000"/>
              </a:lnSpc>
            </a:pP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27" name="!!M4">
            <a:extLst>
              <a:ext uri="{FF2B5EF4-FFF2-40B4-BE49-F238E27FC236}">
                <a16:creationId xmlns:a16="http://schemas.microsoft.com/office/drawing/2014/main" id="{43B3A8E1-D867-647A-0F0D-F9122AD65B91}"/>
              </a:ext>
            </a:extLst>
          </p:cNvPr>
          <p:cNvSpPr>
            <a:spLocks/>
          </p:cNvSpPr>
          <p:nvPr/>
        </p:nvSpPr>
        <p:spPr>
          <a:xfrm>
            <a:off x="7096167" y="3505200"/>
            <a:ext cx="4955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2" name="!!M4">
            <a:extLst>
              <a:ext uri="{FF2B5EF4-FFF2-40B4-BE49-F238E27FC236}">
                <a16:creationId xmlns:a16="http://schemas.microsoft.com/office/drawing/2014/main" id="{CAA6B363-EFCD-FB6A-9754-F8DDDFB6FF4E}"/>
              </a:ext>
            </a:extLst>
          </p:cNvPr>
          <p:cNvSpPr>
            <a:spLocks/>
          </p:cNvSpPr>
          <p:nvPr/>
        </p:nvSpPr>
        <p:spPr>
          <a:xfrm>
            <a:off x="7096167" y="4191000"/>
            <a:ext cx="4955260" cy="60350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4" name="!!M4">
            <a:extLst>
              <a:ext uri="{FF2B5EF4-FFF2-40B4-BE49-F238E27FC236}">
                <a16:creationId xmlns:a16="http://schemas.microsoft.com/office/drawing/2014/main" id="{226B24BD-C5A0-54B7-30B6-529C575A83C8}"/>
              </a:ext>
            </a:extLst>
          </p:cNvPr>
          <p:cNvSpPr>
            <a:spLocks/>
          </p:cNvSpPr>
          <p:nvPr/>
        </p:nvSpPr>
        <p:spPr>
          <a:xfrm>
            <a:off x="7096167" y="4953001"/>
            <a:ext cx="4955260" cy="1828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3884C6-4FF6-DCE6-C3A8-C056E69B4A5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43055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DA97E7-03D9-AD7A-C16A-BEB1CE89F9D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0825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2954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C4B14-BF91-8D61-8FB5-B655C830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8709037C-7C61-8466-50C5-3004EBDBFD07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87D9BD7B-F703-AEE1-B96E-AD7765FCA91F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67BB5005-9F23-7196-42D4-39CDAEFB0A4F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835155-EC1C-0AE6-E27A-A19F17E2C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9DF2D0F0-CE0F-D6EB-C64B-D4D48E382CD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1630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77798E-4EA9-BFB5-38F7-42039E74591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836832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!!N1">
            <a:extLst>
              <a:ext uri="{FF2B5EF4-FFF2-40B4-BE49-F238E27FC236}">
                <a16:creationId xmlns:a16="http://schemas.microsoft.com/office/drawing/2014/main" id="{FF1E0A14-9632-464E-8CD2-EFAFE47FFBED}"/>
              </a:ext>
            </a:extLst>
          </p:cNvPr>
          <p:cNvSpPr>
            <a:spLocks/>
          </p:cNvSpPr>
          <p:nvPr/>
        </p:nvSpPr>
        <p:spPr>
          <a:xfrm>
            <a:off x="149349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F210E0B2-974E-0FE8-6005-CB2AC310FAD6}"/>
              </a:ext>
            </a:extLst>
          </p:cNvPr>
          <p:cNvSpPr>
            <a:spLocks/>
          </p:cNvSpPr>
          <p:nvPr/>
        </p:nvSpPr>
        <p:spPr>
          <a:xfrm>
            <a:off x="149349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65116657-D8D7-FB8C-3A23-B816051521EE}"/>
              </a:ext>
            </a:extLst>
          </p:cNvPr>
          <p:cNvSpPr>
            <a:spLocks/>
          </p:cNvSpPr>
          <p:nvPr/>
        </p:nvSpPr>
        <p:spPr>
          <a:xfrm>
            <a:off x="52252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30A3B93D-77E2-FD69-5A21-07149D3FBA86}"/>
              </a:ext>
            </a:extLst>
          </p:cNvPr>
          <p:cNvSpPr>
            <a:spLocks/>
          </p:cNvSpPr>
          <p:nvPr/>
        </p:nvSpPr>
        <p:spPr>
          <a:xfrm>
            <a:off x="52252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20E625FE-CAE1-CBC4-3771-060A4609F7A5}"/>
              </a:ext>
            </a:extLst>
          </p:cNvPr>
          <p:cNvSpPr>
            <a:spLocks/>
          </p:cNvSpPr>
          <p:nvPr/>
        </p:nvSpPr>
        <p:spPr>
          <a:xfrm>
            <a:off x="52252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CA988076-293B-4C4E-F8B3-4EA5F6EA4A9B}"/>
              </a:ext>
            </a:extLst>
          </p:cNvPr>
          <p:cNvSpPr>
            <a:spLocks/>
          </p:cNvSpPr>
          <p:nvPr/>
        </p:nvSpPr>
        <p:spPr>
          <a:xfrm>
            <a:off x="61819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E5033B99-144B-CCE9-CB89-671339FA0CFA}"/>
              </a:ext>
            </a:extLst>
          </p:cNvPr>
          <p:cNvSpPr>
            <a:spLocks/>
          </p:cNvSpPr>
          <p:nvPr/>
        </p:nvSpPr>
        <p:spPr>
          <a:xfrm>
            <a:off x="61819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B94A6EF8-2523-CC69-D925-754165EC027C}"/>
              </a:ext>
            </a:extLst>
          </p:cNvPr>
          <p:cNvSpPr>
            <a:spLocks/>
          </p:cNvSpPr>
          <p:nvPr/>
        </p:nvSpPr>
        <p:spPr>
          <a:xfrm>
            <a:off x="61819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50DF2355-1FFF-FE97-C9F9-92E38D354A81}"/>
              </a:ext>
            </a:extLst>
          </p:cNvPr>
          <p:cNvSpPr>
            <a:spLocks/>
          </p:cNvSpPr>
          <p:nvPr/>
        </p:nvSpPr>
        <p:spPr>
          <a:xfrm>
            <a:off x="61819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3997FB58-03E3-5477-C515-ACC93E0F31D9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4730882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B7966209-288D-9269-34B8-AC51C44676C6}"/>
              </a:ext>
            </a:extLst>
          </p:cNvPr>
          <p:cNvSpPr>
            <a:spLocks/>
          </p:cNvSpPr>
          <p:nvPr/>
        </p:nvSpPr>
        <p:spPr>
          <a:xfrm>
            <a:off x="228600" y="7023434"/>
            <a:ext cx="11722570" cy="18157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Extended Data Fig. 7: (Global Activity) DS2 and SPW-R recruit distinct neurons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D59CBF7A-81CA-E5CB-3772-25FA54BFC51A}"/>
              </a:ext>
            </a:extLst>
          </p:cNvPr>
          <p:cNvSpPr/>
          <p:nvPr/>
        </p:nvSpPr>
        <p:spPr>
          <a:xfrm rot="5400000">
            <a:off x="-2358221" y="461182"/>
            <a:ext cx="1058842" cy="1524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44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737E2-4CD2-7482-7DB9-472B9387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>
            <a:extLst>
              <a:ext uri="{FF2B5EF4-FFF2-40B4-BE49-F238E27FC236}">
                <a16:creationId xmlns:a16="http://schemas.microsoft.com/office/drawing/2014/main" id="{0EED3AF8-3223-5594-B84E-7DF0CC550484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02279EB5-2F77-EF71-EF38-61B3F66E4748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B1471395-8D91-06B1-609F-469E149D3B6B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61ADF5-5E83-E79C-2CCD-60965F997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576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709898-EF8A-6C81-59DE-89FDB0E54B0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8247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M1">
            <a:extLst>
              <a:ext uri="{FF2B5EF4-FFF2-40B4-BE49-F238E27FC236}">
                <a16:creationId xmlns:a16="http://schemas.microsoft.com/office/drawing/2014/main" id="{6CE7BA7D-C24F-FF8B-C17A-05F67FFC04F1}"/>
              </a:ext>
            </a:extLst>
          </p:cNvPr>
          <p:cNvSpPr>
            <a:spLocks/>
          </p:cNvSpPr>
          <p:nvPr/>
        </p:nvSpPr>
        <p:spPr>
          <a:xfrm>
            <a:off x="228600" y="4883318"/>
            <a:ext cx="11722570" cy="83168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Extended Data Fig. 7: (Global Activity) DS2 and SPW-R recruit distinct neurons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!!N1">
            <a:extLst>
              <a:ext uri="{FF2B5EF4-FFF2-40B4-BE49-F238E27FC236}">
                <a16:creationId xmlns:a16="http://schemas.microsoft.com/office/drawing/2014/main" id="{8D55A472-A603-3F74-BDD1-E6514F32C25E}"/>
              </a:ext>
            </a:extLst>
          </p:cNvPr>
          <p:cNvSpPr>
            <a:spLocks/>
          </p:cNvSpPr>
          <p:nvPr/>
        </p:nvSpPr>
        <p:spPr>
          <a:xfrm>
            <a:off x="-54655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B97B691D-C6D2-870B-A032-C9666936C304}"/>
              </a:ext>
            </a:extLst>
          </p:cNvPr>
          <p:cNvSpPr>
            <a:spLocks/>
          </p:cNvSpPr>
          <p:nvPr/>
        </p:nvSpPr>
        <p:spPr>
          <a:xfrm>
            <a:off x="-54655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4940BB66-FDCE-8B03-4265-D6273129BE97}"/>
              </a:ext>
            </a:extLst>
          </p:cNvPr>
          <p:cNvSpPr>
            <a:spLocks/>
          </p:cNvSpPr>
          <p:nvPr/>
        </p:nvSpPr>
        <p:spPr>
          <a:xfrm>
            <a:off x="-55626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6FDB3C73-87DB-B735-AA6E-217FA41CE07E}"/>
              </a:ext>
            </a:extLst>
          </p:cNvPr>
          <p:cNvSpPr>
            <a:spLocks/>
          </p:cNvSpPr>
          <p:nvPr/>
        </p:nvSpPr>
        <p:spPr>
          <a:xfrm>
            <a:off x="-55626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66F30725-0E09-1EB1-1480-98175AD90C99}"/>
              </a:ext>
            </a:extLst>
          </p:cNvPr>
          <p:cNvSpPr>
            <a:spLocks/>
          </p:cNvSpPr>
          <p:nvPr/>
        </p:nvSpPr>
        <p:spPr>
          <a:xfrm>
            <a:off x="-55626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F3E98020-D0AD-C7CC-9EEA-55E9DB745FF7}"/>
              </a:ext>
            </a:extLst>
          </p:cNvPr>
          <p:cNvSpPr>
            <a:spLocks/>
          </p:cNvSpPr>
          <p:nvPr/>
        </p:nvSpPr>
        <p:spPr>
          <a:xfrm>
            <a:off x="-55530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C40510B2-C3A5-00A4-23C0-70E1A8DEA1B6}"/>
              </a:ext>
            </a:extLst>
          </p:cNvPr>
          <p:cNvSpPr>
            <a:spLocks/>
          </p:cNvSpPr>
          <p:nvPr/>
        </p:nvSpPr>
        <p:spPr>
          <a:xfrm>
            <a:off x="-55530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BA1256C4-8EBD-DC87-CC67-69742AFF76CB}"/>
              </a:ext>
            </a:extLst>
          </p:cNvPr>
          <p:cNvSpPr>
            <a:spLocks/>
          </p:cNvSpPr>
          <p:nvPr/>
        </p:nvSpPr>
        <p:spPr>
          <a:xfrm>
            <a:off x="-55530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41196501-01F0-2E9C-6965-8107F23C6F28}"/>
              </a:ext>
            </a:extLst>
          </p:cNvPr>
          <p:cNvSpPr>
            <a:spLocks/>
          </p:cNvSpPr>
          <p:nvPr/>
        </p:nvSpPr>
        <p:spPr>
          <a:xfrm>
            <a:off x="-55530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0" name="!!P1">
            <a:extLst>
              <a:ext uri="{FF2B5EF4-FFF2-40B4-BE49-F238E27FC236}">
                <a16:creationId xmlns:a16="http://schemas.microsoft.com/office/drawing/2014/main" id="{381C11DB-6DF2-1A21-E54F-A65AAC6BCF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3" t="394" r="54" b="48050"/>
          <a:stretch>
            <a:fillRect/>
          </a:stretch>
        </p:blipFill>
        <p:spPr>
          <a:xfrm>
            <a:off x="177632" y="838198"/>
            <a:ext cx="5902190" cy="3733801"/>
          </a:xfrm>
          <a:prstGeom prst="rect">
            <a:avLst/>
          </a:prstGeom>
          <a:ln w="38100">
            <a:noFill/>
          </a:ln>
        </p:spPr>
      </p:pic>
      <p:pic>
        <p:nvPicPr>
          <p:cNvPr id="19" name="!!P2">
            <a:extLst>
              <a:ext uri="{FF2B5EF4-FFF2-40B4-BE49-F238E27FC236}">
                <a16:creationId xmlns:a16="http://schemas.microsoft.com/office/drawing/2014/main" id="{BAC3CF9E-B81F-22EE-B2CF-DB408CDEE1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518"/>
          <a:stretch>
            <a:fillRect/>
          </a:stretch>
        </p:blipFill>
        <p:spPr>
          <a:xfrm>
            <a:off x="6265123" y="838198"/>
            <a:ext cx="5926877" cy="3583614"/>
          </a:xfrm>
          <a:prstGeom prst="rect">
            <a:avLst/>
          </a:prstGeom>
          <a:ln w="38100">
            <a:noFill/>
          </a:ln>
        </p:spPr>
      </p:pic>
      <p:sp>
        <p:nvSpPr>
          <p:cNvPr id="22" name="!!Focus">
            <a:extLst>
              <a:ext uri="{FF2B5EF4-FFF2-40B4-BE49-F238E27FC236}">
                <a16:creationId xmlns:a16="http://schemas.microsoft.com/office/drawing/2014/main" id="{9451CF01-E713-8450-B1D8-22C1EA368D3D}"/>
              </a:ext>
            </a:extLst>
          </p:cNvPr>
          <p:cNvSpPr/>
          <p:nvPr/>
        </p:nvSpPr>
        <p:spPr>
          <a:xfrm>
            <a:off x="762001" y="838200"/>
            <a:ext cx="838200" cy="76200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!!Focus2" hidden="1">
            <a:extLst>
              <a:ext uri="{FF2B5EF4-FFF2-40B4-BE49-F238E27FC236}">
                <a16:creationId xmlns:a16="http://schemas.microsoft.com/office/drawing/2014/main" id="{8F812CB1-0DC8-240C-4AC6-7764CAF9B718}"/>
              </a:ext>
            </a:extLst>
          </p:cNvPr>
          <p:cNvSpPr/>
          <p:nvPr/>
        </p:nvSpPr>
        <p:spPr>
          <a:xfrm rot="5400000">
            <a:off x="963213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64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CD20D-D6C6-C2FA-3545-5DE4861E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>
            <a:extLst>
              <a:ext uri="{FF2B5EF4-FFF2-40B4-BE49-F238E27FC236}">
                <a16:creationId xmlns:a16="http://schemas.microsoft.com/office/drawing/2014/main" id="{D9116DFF-A640-9C23-19B8-D64AAB16B95D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88EEDACF-675A-F147-792D-9B832340B211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523979AF-20F5-7DED-9520-F52DAFBF15BA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8B8EDE-D9B3-4892-A1A5-5D55B6774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576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76F9E5-F1D5-124F-A888-5C2369F41FD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8247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!!N1">
            <a:extLst>
              <a:ext uri="{FF2B5EF4-FFF2-40B4-BE49-F238E27FC236}">
                <a16:creationId xmlns:a16="http://schemas.microsoft.com/office/drawing/2014/main" id="{E7203969-EB69-7120-B30C-8046191AAE3D}"/>
              </a:ext>
            </a:extLst>
          </p:cNvPr>
          <p:cNvSpPr>
            <a:spLocks/>
          </p:cNvSpPr>
          <p:nvPr/>
        </p:nvSpPr>
        <p:spPr>
          <a:xfrm>
            <a:off x="-54655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B27A314F-E9D6-B8F3-9428-4858A8A8ABAA}"/>
              </a:ext>
            </a:extLst>
          </p:cNvPr>
          <p:cNvSpPr>
            <a:spLocks/>
          </p:cNvSpPr>
          <p:nvPr/>
        </p:nvSpPr>
        <p:spPr>
          <a:xfrm>
            <a:off x="-54655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7936D714-7B2D-F999-9F87-B8BC347A62A1}"/>
              </a:ext>
            </a:extLst>
          </p:cNvPr>
          <p:cNvSpPr>
            <a:spLocks/>
          </p:cNvSpPr>
          <p:nvPr/>
        </p:nvSpPr>
        <p:spPr>
          <a:xfrm>
            <a:off x="-55626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6EC1A514-8ACC-222A-1BF8-361565621ECF}"/>
              </a:ext>
            </a:extLst>
          </p:cNvPr>
          <p:cNvSpPr>
            <a:spLocks/>
          </p:cNvSpPr>
          <p:nvPr/>
        </p:nvSpPr>
        <p:spPr>
          <a:xfrm>
            <a:off x="-55626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88D91703-948F-CBC3-683D-D915370A4A48}"/>
              </a:ext>
            </a:extLst>
          </p:cNvPr>
          <p:cNvSpPr>
            <a:spLocks/>
          </p:cNvSpPr>
          <p:nvPr/>
        </p:nvSpPr>
        <p:spPr>
          <a:xfrm>
            <a:off x="-55626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EB47F19F-772D-1117-1A74-8FE5407F73E7}"/>
              </a:ext>
            </a:extLst>
          </p:cNvPr>
          <p:cNvSpPr>
            <a:spLocks/>
          </p:cNvSpPr>
          <p:nvPr/>
        </p:nvSpPr>
        <p:spPr>
          <a:xfrm>
            <a:off x="-55530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11180A9D-DE1F-D8AA-26F2-29E34F6BA00B}"/>
              </a:ext>
            </a:extLst>
          </p:cNvPr>
          <p:cNvSpPr>
            <a:spLocks/>
          </p:cNvSpPr>
          <p:nvPr/>
        </p:nvSpPr>
        <p:spPr>
          <a:xfrm>
            <a:off x="-55530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BCC686D0-6056-84AB-41D6-DB03A058AB5B}"/>
              </a:ext>
            </a:extLst>
          </p:cNvPr>
          <p:cNvSpPr>
            <a:spLocks/>
          </p:cNvSpPr>
          <p:nvPr/>
        </p:nvSpPr>
        <p:spPr>
          <a:xfrm>
            <a:off x="-55530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D41E24D7-5676-E7BD-B444-8E9B26C92668}"/>
              </a:ext>
            </a:extLst>
          </p:cNvPr>
          <p:cNvSpPr>
            <a:spLocks/>
          </p:cNvSpPr>
          <p:nvPr/>
        </p:nvSpPr>
        <p:spPr>
          <a:xfrm>
            <a:off x="-55530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0" name="!!P1">
            <a:extLst>
              <a:ext uri="{FF2B5EF4-FFF2-40B4-BE49-F238E27FC236}">
                <a16:creationId xmlns:a16="http://schemas.microsoft.com/office/drawing/2014/main" id="{4503A1B9-2C8C-AA03-FA6A-30A32F9D83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3" t="394" r="54" b="48050"/>
          <a:stretch>
            <a:fillRect/>
          </a:stretch>
        </p:blipFill>
        <p:spPr>
          <a:xfrm>
            <a:off x="177632" y="838198"/>
            <a:ext cx="5902190" cy="3733801"/>
          </a:xfrm>
          <a:prstGeom prst="rect">
            <a:avLst/>
          </a:prstGeom>
          <a:ln w="38100">
            <a:noFill/>
          </a:ln>
        </p:spPr>
      </p:pic>
      <p:pic>
        <p:nvPicPr>
          <p:cNvPr id="19" name="!!P2">
            <a:extLst>
              <a:ext uri="{FF2B5EF4-FFF2-40B4-BE49-F238E27FC236}">
                <a16:creationId xmlns:a16="http://schemas.microsoft.com/office/drawing/2014/main" id="{9CCC708B-21BB-D037-591E-8FF4F4207E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518"/>
          <a:stretch>
            <a:fillRect/>
          </a:stretch>
        </p:blipFill>
        <p:spPr>
          <a:xfrm>
            <a:off x="6265123" y="838198"/>
            <a:ext cx="5926877" cy="3583614"/>
          </a:xfrm>
          <a:prstGeom prst="rect">
            <a:avLst/>
          </a:prstGeom>
          <a:ln w="38100">
            <a:noFill/>
          </a:ln>
        </p:spPr>
      </p:pic>
      <p:sp>
        <p:nvSpPr>
          <p:cNvPr id="22" name="!!Focus2">
            <a:extLst>
              <a:ext uri="{FF2B5EF4-FFF2-40B4-BE49-F238E27FC236}">
                <a16:creationId xmlns:a16="http://schemas.microsoft.com/office/drawing/2014/main" id="{B71E70AD-3840-D051-EA03-9A992E732802}"/>
              </a:ext>
            </a:extLst>
          </p:cNvPr>
          <p:cNvSpPr/>
          <p:nvPr/>
        </p:nvSpPr>
        <p:spPr>
          <a:xfrm rot="5400000">
            <a:off x="963213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!!Focus2">
            <a:extLst>
              <a:ext uri="{FF2B5EF4-FFF2-40B4-BE49-F238E27FC236}">
                <a16:creationId xmlns:a16="http://schemas.microsoft.com/office/drawing/2014/main" id="{9FFB3FBC-DCD7-38FD-0AA9-FB74953582D1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Focus2">
            <a:extLst>
              <a:ext uri="{FF2B5EF4-FFF2-40B4-BE49-F238E27FC236}">
                <a16:creationId xmlns:a16="http://schemas.microsoft.com/office/drawing/2014/main" id="{B3DD23CD-0D59-D07D-1EAD-11E7A19762CE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Focus2">
            <a:extLst>
              <a:ext uri="{FF2B5EF4-FFF2-40B4-BE49-F238E27FC236}">
                <a16:creationId xmlns:a16="http://schemas.microsoft.com/office/drawing/2014/main" id="{09891F35-FBBC-3725-7C1C-F327DB3AA3B7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!!Focus2">
            <a:extLst>
              <a:ext uri="{FF2B5EF4-FFF2-40B4-BE49-F238E27FC236}">
                <a16:creationId xmlns:a16="http://schemas.microsoft.com/office/drawing/2014/main" id="{6BB9DD7B-2E4F-92DC-73A2-7DAA9F4927B8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!!Focus2">
            <a:extLst>
              <a:ext uri="{FF2B5EF4-FFF2-40B4-BE49-F238E27FC236}">
                <a16:creationId xmlns:a16="http://schemas.microsoft.com/office/drawing/2014/main" id="{E09C982F-1E8C-A601-26F1-D92FADB75F55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!!Focus2">
            <a:extLst>
              <a:ext uri="{FF2B5EF4-FFF2-40B4-BE49-F238E27FC236}">
                <a16:creationId xmlns:a16="http://schemas.microsoft.com/office/drawing/2014/main" id="{904EC99F-F677-BD91-8601-CE3380526FC2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!!Focus2">
            <a:extLst>
              <a:ext uri="{FF2B5EF4-FFF2-40B4-BE49-F238E27FC236}">
                <a16:creationId xmlns:a16="http://schemas.microsoft.com/office/drawing/2014/main" id="{4472CCA8-00EB-2B4C-9697-5F0E0917D6B3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!!Focus2">
            <a:extLst>
              <a:ext uri="{FF2B5EF4-FFF2-40B4-BE49-F238E27FC236}">
                <a16:creationId xmlns:a16="http://schemas.microsoft.com/office/drawing/2014/main" id="{B6FA02D0-A761-C0A4-3535-DC134CE1DE57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Focus2">
            <a:extLst>
              <a:ext uri="{FF2B5EF4-FFF2-40B4-BE49-F238E27FC236}">
                <a16:creationId xmlns:a16="http://schemas.microsoft.com/office/drawing/2014/main" id="{125A442A-3C7A-89CF-49C7-C2F60A419B53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!!Focus2">
            <a:extLst>
              <a:ext uri="{FF2B5EF4-FFF2-40B4-BE49-F238E27FC236}">
                <a16:creationId xmlns:a16="http://schemas.microsoft.com/office/drawing/2014/main" id="{3023D8A4-992D-BDA8-5EC9-A87190B9A0A8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!!Focus2">
            <a:extLst>
              <a:ext uri="{FF2B5EF4-FFF2-40B4-BE49-F238E27FC236}">
                <a16:creationId xmlns:a16="http://schemas.microsoft.com/office/drawing/2014/main" id="{44DBC521-E3E3-AE38-AF37-C2E02AFB5788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Focus2">
            <a:extLst>
              <a:ext uri="{FF2B5EF4-FFF2-40B4-BE49-F238E27FC236}">
                <a16:creationId xmlns:a16="http://schemas.microsoft.com/office/drawing/2014/main" id="{6E2094DB-B400-4265-FCD3-8A13186C06EA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!!Focus2">
            <a:extLst>
              <a:ext uri="{FF2B5EF4-FFF2-40B4-BE49-F238E27FC236}">
                <a16:creationId xmlns:a16="http://schemas.microsoft.com/office/drawing/2014/main" id="{E8B5BACC-9810-90A7-773F-D5B5FB0F57C3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!!Focus2">
            <a:extLst>
              <a:ext uri="{FF2B5EF4-FFF2-40B4-BE49-F238E27FC236}">
                <a16:creationId xmlns:a16="http://schemas.microsoft.com/office/drawing/2014/main" id="{7CD384FA-EDDE-76F3-1BAD-98AC176BF909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!!Focus2">
            <a:extLst>
              <a:ext uri="{FF2B5EF4-FFF2-40B4-BE49-F238E27FC236}">
                <a16:creationId xmlns:a16="http://schemas.microsoft.com/office/drawing/2014/main" id="{B38D5E98-5A48-A62D-2D26-59423C5DA325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!!Focus2">
            <a:extLst>
              <a:ext uri="{FF2B5EF4-FFF2-40B4-BE49-F238E27FC236}">
                <a16:creationId xmlns:a16="http://schemas.microsoft.com/office/drawing/2014/main" id="{8524B3AF-8BBC-83DA-1C68-6814ADE4F505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!!Focus2">
            <a:extLst>
              <a:ext uri="{FF2B5EF4-FFF2-40B4-BE49-F238E27FC236}">
                <a16:creationId xmlns:a16="http://schemas.microsoft.com/office/drawing/2014/main" id="{D4CF8EA6-2EC2-BEEE-CD2B-A10EAEA2D459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!!Focus2">
            <a:extLst>
              <a:ext uri="{FF2B5EF4-FFF2-40B4-BE49-F238E27FC236}">
                <a16:creationId xmlns:a16="http://schemas.microsoft.com/office/drawing/2014/main" id="{5038D8B1-7338-5DB9-267E-AE54E50AC679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!!Focus2">
            <a:extLst>
              <a:ext uri="{FF2B5EF4-FFF2-40B4-BE49-F238E27FC236}">
                <a16:creationId xmlns:a16="http://schemas.microsoft.com/office/drawing/2014/main" id="{EE64679E-0370-3149-986A-6C4A8D7CD74B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!!Focus2">
            <a:extLst>
              <a:ext uri="{FF2B5EF4-FFF2-40B4-BE49-F238E27FC236}">
                <a16:creationId xmlns:a16="http://schemas.microsoft.com/office/drawing/2014/main" id="{AF53DADD-F8C5-1B4C-1638-A8103FE1AACC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!!Focus2">
            <a:extLst>
              <a:ext uri="{FF2B5EF4-FFF2-40B4-BE49-F238E27FC236}">
                <a16:creationId xmlns:a16="http://schemas.microsoft.com/office/drawing/2014/main" id="{A80A0302-C17F-6E5E-7640-8ED269F019EA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!!Focus2">
            <a:extLst>
              <a:ext uri="{FF2B5EF4-FFF2-40B4-BE49-F238E27FC236}">
                <a16:creationId xmlns:a16="http://schemas.microsoft.com/office/drawing/2014/main" id="{219F9E5C-CDEA-16CD-ED36-982F0D73C0AD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!!Focus2">
            <a:extLst>
              <a:ext uri="{FF2B5EF4-FFF2-40B4-BE49-F238E27FC236}">
                <a16:creationId xmlns:a16="http://schemas.microsoft.com/office/drawing/2014/main" id="{B769A270-B592-0D68-9ABA-78B918FA24AE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!!Focus2">
            <a:extLst>
              <a:ext uri="{FF2B5EF4-FFF2-40B4-BE49-F238E27FC236}">
                <a16:creationId xmlns:a16="http://schemas.microsoft.com/office/drawing/2014/main" id="{98B74E1C-2C36-F546-0D8D-21CCC7CF61F3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!!Focus2">
            <a:extLst>
              <a:ext uri="{FF2B5EF4-FFF2-40B4-BE49-F238E27FC236}">
                <a16:creationId xmlns:a16="http://schemas.microsoft.com/office/drawing/2014/main" id="{E273424F-3450-D193-9BEA-A57DEC435152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!!Focus2">
            <a:extLst>
              <a:ext uri="{FF2B5EF4-FFF2-40B4-BE49-F238E27FC236}">
                <a16:creationId xmlns:a16="http://schemas.microsoft.com/office/drawing/2014/main" id="{297BB819-29BC-268B-7150-47E0705BDA00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!!Focus2">
            <a:extLst>
              <a:ext uri="{FF2B5EF4-FFF2-40B4-BE49-F238E27FC236}">
                <a16:creationId xmlns:a16="http://schemas.microsoft.com/office/drawing/2014/main" id="{D29518AB-BD64-2A8F-774D-4552AAB71343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!!Focus2">
            <a:extLst>
              <a:ext uri="{FF2B5EF4-FFF2-40B4-BE49-F238E27FC236}">
                <a16:creationId xmlns:a16="http://schemas.microsoft.com/office/drawing/2014/main" id="{D436C21B-8250-89AD-6A9A-A239EC470FAA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!!Focus2">
            <a:extLst>
              <a:ext uri="{FF2B5EF4-FFF2-40B4-BE49-F238E27FC236}">
                <a16:creationId xmlns:a16="http://schemas.microsoft.com/office/drawing/2014/main" id="{EB4D6959-64A1-06F5-F944-4E28AB29EC8F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!!Focus2">
            <a:extLst>
              <a:ext uri="{FF2B5EF4-FFF2-40B4-BE49-F238E27FC236}">
                <a16:creationId xmlns:a16="http://schemas.microsoft.com/office/drawing/2014/main" id="{2C39E3DE-4A01-879B-1AD1-B9643DC4ABA7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!!Focus2">
            <a:extLst>
              <a:ext uri="{FF2B5EF4-FFF2-40B4-BE49-F238E27FC236}">
                <a16:creationId xmlns:a16="http://schemas.microsoft.com/office/drawing/2014/main" id="{23883374-486E-1479-B59F-05AD214D5C52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!!Focus2">
            <a:extLst>
              <a:ext uri="{FF2B5EF4-FFF2-40B4-BE49-F238E27FC236}">
                <a16:creationId xmlns:a16="http://schemas.microsoft.com/office/drawing/2014/main" id="{1E3A3D10-3BD3-206A-D144-F2023126C4A4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!!Focus2">
            <a:extLst>
              <a:ext uri="{FF2B5EF4-FFF2-40B4-BE49-F238E27FC236}">
                <a16:creationId xmlns:a16="http://schemas.microsoft.com/office/drawing/2014/main" id="{F02B24C6-0D4A-8511-B7CB-C64D80B0E95A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!!Focus2">
            <a:extLst>
              <a:ext uri="{FF2B5EF4-FFF2-40B4-BE49-F238E27FC236}">
                <a16:creationId xmlns:a16="http://schemas.microsoft.com/office/drawing/2014/main" id="{E3F11EE5-7435-E816-D1C5-70E48AF32F86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!!Focus2">
            <a:extLst>
              <a:ext uri="{FF2B5EF4-FFF2-40B4-BE49-F238E27FC236}">
                <a16:creationId xmlns:a16="http://schemas.microsoft.com/office/drawing/2014/main" id="{AF91B131-46E0-4887-C300-D7F1D28C6CF7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!!Focus2">
            <a:extLst>
              <a:ext uri="{FF2B5EF4-FFF2-40B4-BE49-F238E27FC236}">
                <a16:creationId xmlns:a16="http://schemas.microsoft.com/office/drawing/2014/main" id="{BDF1C9B7-0D9F-C650-F9CE-6EBC75B20023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!!Focus2">
            <a:extLst>
              <a:ext uri="{FF2B5EF4-FFF2-40B4-BE49-F238E27FC236}">
                <a16:creationId xmlns:a16="http://schemas.microsoft.com/office/drawing/2014/main" id="{65282BF9-5562-CF0C-CA55-7BCB7C0D5D32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!!Focus2">
            <a:extLst>
              <a:ext uri="{FF2B5EF4-FFF2-40B4-BE49-F238E27FC236}">
                <a16:creationId xmlns:a16="http://schemas.microsoft.com/office/drawing/2014/main" id="{AE7D50EA-BDDA-E4D9-1D97-8995D7FCF565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!!Focus2">
            <a:extLst>
              <a:ext uri="{FF2B5EF4-FFF2-40B4-BE49-F238E27FC236}">
                <a16:creationId xmlns:a16="http://schemas.microsoft.com/office/drawing/2014/main" id="{2CD09D8E-6019-D3C3-1785-F272135A51E6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!!Focus2">
            <a:extLst>
              <a:ext uri="{FF2B5EF4-FFF2-40B4-BE49-F238E27FC236}">
                <a16:creationId xmlns:a16="http://schemas.microsoft.com/office/drawing/2014/main" id="{01E115AB-6153-13AE-20E6-E32B876AE014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!!Focus2">
            <a:extLst>
              <a:ext uri="{FF2B5EF4-FFF2-40B4-BE49-F238E27FC236}">
                <a16:creationId xmlns:a16="http://schemas.microsoft.com/office/drawing/2014/main" id="{A31F4F90-A32D-7B9C-56B0-D089D7535522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!!Focus2">
            <a:extLst>
              <a:ext uri="{FF2B5EF4-FFF2-40B4-BE49-F238E27FC236}">
                <a16:creationId xmlns:a16="http://schemas.microsoft.com/office/drawing/2014/main" id="{9C968909-B7DD-53D8-B357-6BB6D2193E12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!!Focus2">
            <a:extLst>
              <a:ext uri="{FF2B5EF4-FFF2-40B4-BE49-F238E27FC236}">
                <a16:creationId xmlns:a16="http://schemas.microsoft.com/office/drawing/2014/main" id="{0D67A573-5D02-D129-D888-3E321FB793BB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!!Focus2">
            <a:extLst>
              <a:ext uri="{FF2B5EF4-FFF2-40B4-BE49-F238E27FC236}">
                <a16:creationId xmlns:a16="http://schemas.microsoft.com/office/drawing/2014/main" id="{FA040081-9184-3FAE-F5A1-446E2229093D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!!Focus2">
            <a:extLst>
              <a:ext uri="{FF2B5EF4-FFF2-40B4-BE49-F238E27FC236}">
                <a16:creationId xmlns:a16="http://schemas.microsoft.com/office/drawing/2014/main" id="{A5E47458-644A-E88D-8376-428D965C502E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!!Focus2">
            <a:extLst>
              <a:ext uri="{FF2B5EF4-FFF2-40B4-BE49-F238E27FC236}">
                <a16:creationId xmlns:a16="http://schemas.microsoft.com/office/drawing/2014/main" id="{D6CED104-6619-79A0-4BEA-67D6045883D3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!!Focus2">
            <a:extLst>
              <a:ext uri="{FF2B5EF4-FFF2-40B4-BE49-F238E27FC236}">
                <a16:creationId xmlns:a16="http://schemas.microsoft.com/office/drawing/2014/main" id="{FF54240E-3EA0-45FF-971C-C04628E8CA2C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!!Focus2">
            <a:extLst>
              <a:ext uri="{FF2B5EF4-FFF2-40B4-BE49-F238E27FC236}">
                <a16:creationId xmlns:a16="http://schemas.microsoft.com/office/drawing/2014/main" id="{44C1BE09-A3D0-F7A9-8E6A-A4F054075B38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!!Focus2">
            <a:extLst>
              <a:ext uri="{FF2B5EF4-FFF2-40B4-BE49-F238E27FC236}">
                <a16:creationId xmlns:a16="http://schemas.microsoft.com/office/drawing/2014/main" id="{425A5D3B-B1DB-7AD4-2388-F6E8B1A85BC9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!!Focus2">
            <a:extLst>
              <a:ext uri="{FF2B5EF4-FFF2-40B4-BE49-F238E27FC236}">
                <a16:creationId xmlns:a16="http://schemas.microsoft.com/office/drawing/2014/main" id="{36D9A69D-35B9-EB71-6DA3-32DAEC68BD7B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!!Focus2">
            <a:extLst>
              <a:ext uri="{FF2B5EF4-FFF2-40B4-BE49-F238E27FC236}">
                <a16:creationId xmlns:a16="http://schemas.microsoft.com/office/drawing/2014/main" id="{F4D817AA-F1D5-5E3F-B921-4A83886D4AF4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!!Focus2">
            <a:extLst>
              <a:ext uri="{FF2B5EF4-FFF2-40B4-BE49-F238E27FC236}">
                <a16:creationId xmlns:a16="http://schemas.microsoft.com/office/drawing/2014/main" id="{50773AFD-F9C7-1794-574E-B3A239FA776D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!!Focus2">
            <a:extLst>
              <a:ext uri="{FF2B5EF4-FFF2-40B4-BE49-F238E27FC236}">
                <a16:creationId xmlns:a16="http://schemas.microsoft.com/office/drawing/2014/main" id="{6BA0DB24-63FC-0C8C-D658-6735BA077084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!!Focus2">
            <a:extLst>
              <a:ext uri="{FF2B5EF4-FFF2-40B4-BE49-F238E27FC236}">
                <a16:creationId xmlns:a16="http://schemas.microsoft.com/office/drawing/2014/main" id="{E4340739-E3F7-4190-FD79-E50997F038F6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!!Focus2">
            <a:extLst>
              <a:ext uri="{FF2B5EF4-FFF2-40B4-BE49-F238E27FC236}">
                <a16:creationId xmlns:a16="http://schemas.microsoft.com/office/drawing/2014/main" id="{A7DAF4F0-7322-D1B8-C383-3A1B3F89276A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!!Focus2">
            <a:extLst>
              <a:ext uri="{FF2B5EF4-FFF2-40B4-BE49-F238E27FC236}">
                <a16:creationId xmlns:a16="http://schemas.microsoft.com/office/drawing/2014/main" id="{3D674743-143F-CB64-BCE5-33A9E6A94195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!!Focus2">
            <a:extLst>
              <a:ext uri="{FF2B5EF4-FFF2-40B4-BE49-F238E27FC236}">
                <a16:creationId xmlns:a16="http://schemas.microsoft.com/office/drawing/2014/main" id="{3D2BC5EB-B25A-A7D3-9631-60D1F1FCBBE2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!!Focus2">
            <a:extLst>
              <a:ext uri="{FF2B5EF4-FFF2-40B4-BE49-F238E27FC236}">
                <a16:creationId xmlns:a16="http://schemas.microsoft.com/office/drawing/2014/main" id="{2BE38AA2-0FCF-5BB7-A62D-2C01E764A511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C9291CFD-62E6-B739-531E-0D45334ECF77}"/>
              </a:ext>
            </a:extLst>
          </p:cNvPr>
          <p:cNvSpPr>
            <a:spLocks/>
          </p:cNvSpPr>
          <p:nvPr/>
        </p:nvSpPr>
        <p:spPr>
          <a:xfrm>
            <a:off x="228600" y="4883318"/>
            <a:ext cx="11722570" cy="83168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Extended Data Fig. 7: (Global Activity) DS2 and SPW-R recruit distinct neurons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593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FA826-29B6-D745-A899-014D0494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>
            <a:extLst>
              <a:ext uri="{FF2B5EF4-FFF2-40B4-BE49-F238E27FC236}">
                <a16:creationId xmlns:a16="http://schemas.microsoft.com/office/drawing/2014/main" id="{78669B45-2096-AED1-2FB2-59776DCF8B21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57C06372-76E5-EAA0-F0C0-3F8BF9400ABF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917BF60E-617D-32E7-B052-EFAEF437F033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5C1073-DA70-FCF1-5EDF-4B9E2C442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576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A93C8B-5C8C-EE64-924E-83EEE4CDFEB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8247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!!N1">
            <a:extLst>
              <a:ext uri="{FF2B5EF4-FFF2-40B4-BE49-F238E27FC236}">
                <a16:creationId xmlns:a16="http://schemas.microsoft.com/office/drawing/2014/main" id="{9960B688-90E1-E7AB-1D43-A46F8DA879A5}"/>
              </a:ext>
            </a:extLst>
          </p:cNvPr>
          <p:cNvSpPr>
            <a:spLocks/>
          </p:cNvSpPr>
          <p:nvPr/>
        </p:nvSpPr>
        <p:spPr>
          <a:xfrm>
            <a:off x="-54655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0BD0444E-6094-A8AD-7151-E209E552C2D3}"/>
              </a:ext>
            </a:extLst>
          </p:cNvPr>
          <p:cNvSpPr>
            <a:spLocks/>
          </p:cNvSpPr>
          <p:nvPr/>
        </p:nvSpPr>
        <p:spPr>
          <a:xfrm>
            <a:off x="-54655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BED5F9FA-3980-9C87-2FA3-5285D0CF25A6}"/>
              </a:ext>
            </a:extLst>
          </p:cNvPr>
          <p:cNvSpPr>
            <a:spLocks/>
          </p:cNvSpPr>
          <p:nvPr/>
        </p:nvSpPr>
        <p:spPr>
          <a:xfrm>
            <a:off x="-55626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1381B531-4B93-DB99-A86F-21F3970FCEA1}"/>
              </a:ext>
            </a:extLst>
          </p:cNvPr>
          <p:cNvSpPr>
            <a:spLocks/>
          </p:cNvSpPr>
          <p:nvPr/>
        </p:nvSpPr>
        <p:spPr>
          <a:xfrm>
            <a:off x="-55626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3D192079-D2BA-5B1A-B48F-DA1EA6625639}"/>
              </a:ext>
            </a:extLst>
          </p:cNvPr>
          <p:cNvSpPr>
            <a:spLocks/>
          </p:cNvSpPr>
          <p:nvPr/>
        </p:nvSpPr>
        <p:spPr>
          <a:xfrm>
            <a:off x="-55626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533F72CA-481B-896C-C52D-CD87389CAC05}"/>
              </a:ext>
            </a:extLst>
          </p:cNvPr>
          <p:cNvSpPr>
            <a:spLocks/>
          </p:cNvSpPr>
          <p:nvPr/>
        </p:nvSpPr>
        <p:spPr>
          <a:xfrm>
            <a:off x="-55530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C8192F71-C42F-0A8C-E79E-AC0787DEB2D9}"/>
              </a:ext>
            </a:extLst>
          </p:cNvPr>
          <p:cNvSpPr>
            <a:spLocks/>
          </p:cNvSpPr>
          <p:nvPr/>
        </p:nvSpPr>
        <p:spPr>
          <a:xfrm>
            <a:off x="-55530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827E2543-5DA5-8D8D-7E14-17D846787E50}"/>
              </a:ext>
            </a:extLst>
          </p:cNvPr>
          <p:cNvSpPr>
            <a:spLocks/>
          </p:cNvSpPr>
          <p:nvPr/>
        </p:nvSpPr>
        <p:spPr>
          <a:xfrm>
            <a:off x="-55530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15CB7BDF-2518-A0E2-BD03-BE47C2B40D11}"/>
              </a:ext>
            </a:extLst>
          </p:cNvPr>
          <p:cNvSpPr>
            <a:spLocks/>
          </p:cNvSpPr>
          <p:nvPr/>
        </p:nvSpPr>
        <p:spPr>
          <a:xfrm>
            <a:off x="-55530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0" name="!!P1">
            <a:extLst>
              <a:ext uri="{FF2B5EF4-FFF2-40B4-BE49-F238E27FC236}">
                <a16:creationId xmlns:a16="http://schemas.microsoft.com/office/drawing/2014/main" id="{29E5A472-D5FF-7058-C29E-BBB59A5E1F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3" t="394" r="54" b="48050"/>
          <a:stretch>
            <a:fillRect/>
          </a:stretch>
        </p:blipFill>
        <p:spPr>
          <a:xfrm>
            <a:off x="177632" y="838198"/>
            <a:ext cx="5902190" cy="3733801"/>
          </a:xfrm>
          <a:prstGeom prst="rect">
            <a:avLst/>
          </a:prstGeom>
          <a:ln w="38100">
            <a:noFill/>
          </a:ln>
        </p:spPr>
      </p:pic>
      <p:pic>
        <p:nvPicPr>
          <p:cNvPr id="19" name="!!P2">
            <a:extLst>
              <a:ext uri="{FF2B5EF4-FFF2-40B4-BE49-F238E27FC236}">
                <a16:creationId xmlns:a16="http://schemas.microsoft.com/office/drawing/2014/main" id="{DF80FAA5-477E-F28E-C2BC-6F085D7BA3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518"/>
          <a:stretch>
            <a:fillRect/>
          </a:stretch>
        </p:blipFill>
        <p:spPr>
          <a:xfrm>
            <a:off x="6265123" y="838198"/>
            <a:ext cx="5926877" cy="3583614"/>
          </a:xfrm>
          <a:prstGeom prst="rect">
            <a:avLst/>
          </a:prstGeom>
          <a:ln w="38100">
            <a:noFill/>
          </a:ln>
        </p:spPr>
      </p:pic>
      <p:sp>
        <p:nvSpPr>
          <p:cNvPr id="22" name="!!Focus2">
            <a:extLst>
              <a:ext uri="{FF2B5EF4-FFF2-40B4-BE49-F238E27FC236}">
                <a16:creationId xmlns:a16="http://schemas.microsoft.com/office/drawing/2014/main" id="{245D9FCC-BA4C-8DD5-9084-0A40DB5D39D9}"/>
              </a:ext>
            </a:extLst>
          </p:cNvPr>
          <p:cNvSpPr/>
          <p:nvPr/>
        </p:nvSpPr>
        <p:spPr>
          <a:xfrm rot="5400000">
            <a:off x="963213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!!Focus2">
            <a:extLst>
              <a:ext uri="{FF2B5EF4-FFF2-40B4-BE49-F238E27FC236}">
                <a16:creationId xmlns:a16="http://schemas.microsoft.com/office/drawing/2014/main" id="{438A4D17-88FD-8E61-D3FC-598FB1FEC902}"/>
              </a:ext>
            </a:extLst>
          </p:cNvPr>
          <p:cNvSpPr/>
          <p:nvPr/>
        </p:nvSpPr>
        <p:spPr>
          <a:xfrm rot="5400000">
            <a:off x="353618" y="166998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!!Focus2">
            <a:extLst>
              <a:ext uri="{FF2B5EF4-FFF2-40B4-BE49-F238E27FC236}">
                <a16:creationId xmlns:a16="http://schemas.microsoft.com/office/drawing/2014/main" id="{681CE951-FDF1-448E-3C5F-F52DD449CF53}"/>
              </a:ext>
            </a:extLst>
          </p:cNvPr>
          <p:cNvSpPr/>
          <p:nvPr/>
        </p:nvSpPr>
        <p:spPr>
          <a:xfrm rot="5400000">
            <a:off x="1191818" y="166998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!!Focus2">
            <a:extLst>
              <a:ext uri="{FF2B5EF4-FFF2-40B4-BE49-F238E27FC236}">
                <a16:creationId xmlns:a16="http://schemas.microsoft.com/office/drawing/2014/main" id="{88E4FF08-BAE7-ED99-0E60-B4C7272C8A87}"/>
              </a:ext>
            </a:extLst>
          </p:cNvPr>
          <p:cNvSpPr/>
          <p:nvPr/>
        </p:nvSpPr>
        <p:spPr>
          <a:xfrm rot="5400000">
            <a:off x="1996417" y="166998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!!Focus2">
            <a:extLst>
              <a:ext uri="{FF2B5EF4-FFF2-40B4-BE49-F238E27FC236}">
                <a16:creationId xmlns:a16="http://schemas.microsoft.com/office/drawing/2014/main" id="{0E21BB60-47AC-8E6A-C530-DC5B5DABA744}"/>
              </a:ext>
            </a:extLst>
          </p:cNvPr>
          <p:cNvSpPr/>
          <p:nvPr/>
        </p:nvSpPr>
        <p:spPr>
          <a:xfrm rot="5400000">
            <a:off x="2804671" y="166998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!!Focus2">
            <a:extLst>
              <a:ext uri="{FF2B5EF4-FFF2-40B4-BE49-F238E27FC236}">
                <a16:creationId xmlns:a16="http://schemas.microsoft.com/office/drawing/2014/main" id="{AA0B8D98-4D8B-1ACA-06AA-0EC5B130D6AD}"/>
              </a:ext>
            </a:extLst>
          </p:cNvPr>
          <p:cNvSpPr/>
          <p:nvPr/>
        </p:nvSpPr>
        <p:spPr>
          <a:xfrm rot="5400000">
            <a:off x="3642871" y="166998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!!Focus2">
            <a:extLst>
              <a:ext uri="{FF2B5EF4-FFF2-40B4-BE49-F238E27FC236}">
                <a16:creationId xmlns:a16="http://schemas.microsoft.com/office/drawing/2014/main" id="{7BA251B6-0E1A-9E92-3F60-B2679D034B23}"/>
              </a:ext>
            </a:extLst>
          </p:cNvPr>
          <p:cNvSpPr/>
          <p:nvPr/>
        </p:nvSpPr>
        <p:spPr>
          <a:xfrm rot="5400000">
            <a:off x="4447470" y="166998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!!Focus2">
            <a:extLst>
              <a:ext uri="{FF2B5EF4-FFF2-40B4-BE49-F238E27FC236}">
                <a16:creationId xmlns:a16="http://schemas.microsoft.com/office/drawing/2014/main" id="{3FBEF838-1845-A674-6BFD-BFEA2DA5D5A2}"/>
              </a:ext>
            </a:extLst>
          </p:cNvPr>
          <p:cNvSpPr/>
          <p:nvPr/>
        </p:nvSpPr>
        <p:spPr>
          <a:xfrm rot="5400000">
            <a:off x="353618" y="237065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!!Focus2">
            <a:extLst>
              <a:ext uri="{FF2B5EF4-FFF2-40B4-BE49-F238E27FC236}">
                <a16:creationId xmlns:a16="http://schemas.microsoft.com/office/drawing/2014/main" id="{49B0ADCE-A9D7-EF5A-0581-DBFEC2E9B223}"/>
              </a:ext>
            </a:extLst>
          </p:cNvPr>
          <p:cNvSpPr/>
          <p:nvPr/>
        </p:nvSpPr>
        <p:spPr>
          <a:xfrm rot="5400000">
            <a:off x="1191818" y="237065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!!Focus2">
            <a:extLst>
              <a:ext uri="{FF2B5EF4-FFF2-40B4-BE49-F238E27FC236}">
                <a16:creationId xmlns:a16="http://schemas.microsoft.com/office/drawing/2014/main" id="{DBBE5CF3-0381-43CA-F400-C42316D47068}"/>
              </a:ext>
            </a:extLst>
          </p:cNvPr>
          <p:cNvSpPr/>
          <p:nvPr/>
        </p:nvSpPr>
        <p:spPr>
          <a:xfrm rot="5400000">
            <a:off x="1996417" y="237065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!!Focus2">
            <a:extLst>
              <a:ext uri="{FF2B5EF4-FFF2-40B4-BE49-F238E27FC236}">
                <a16:creationId xmlns:a16="http://schemas.microsoft.com/office/drawing/2014/main" id="{6E22221D-FE3D-3559-45F6-3DDA3A507257}"/>
              </a:ext>
            </a:extLst>
          </p:cNvPr>
          <p:cNvSpPr/>
          <p:nvPr/>
        </p:nvSpPr>
        <p:spPr>
          <a:xfrm rot="5400000">
            <a:off x="2804671" y="2370657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37000"/>
            </a:srgbClr>
          </a:solidFill>
          <a:ln w="44450" cap="rnd" cmpd="tri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!!Focus2">
            <a:extLst>
              <a:ext uri="{FF2B5EF4-FFF2-40B4-BE49-F238E27FC236}">
                <a16:creationId xmlns:a16="http://schemas.microsoft.com/office/drawing/2014/main" id="{83F9E4B4-1984-7519-0C38-926BBBACA4FF}"/>
              </a:ext>
            </a:extLst>
          </p:cNvPr>
          <p:cNvSpPr/>
          <p:nvPr/>
        </p:nvSpPr>
        <p:spPr>
          <a:xfrm rot="5400000">
            <a:off x="3642871" y="237065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Focus2">
            <a:extLst>
              <a:ext uri="{FF2B5EF4-FFF2-40B4-BE49-F238E27FC236}">
                <a16:creationId xmlns:a16="http://schemas.microsoft.com/office/drawing/2014/main" id="{8C2E679E-14FC-B7F5-FBD9-987409606238}"/>
              </a:ext>
            </a:extLst>
          </p:cNvPr>
          <p:cNvSpPr/>
          <p:nvPr/>
        </p:nvSpPr>
        <p:spPr>
          <a:xfrm rot="5400000">
            <a:off x="4447470" y="237065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!!Focus2">
            <a:extLst>
              <a:ext uri="{FF2B5EF4-FFF2-40B4-BE49-F238E27FC236}">
                <a16:creationId xmlns:a16="http://schemas.microsoft.com/office/drawing/2014/main" id="{43C433D2-20F6-22C7-DFDF-0CBD40548031}"/>
              </a:ext>
            </a:extLst>
          </p:cNvPr>
          <p:cNvSpPr/>
          <p:nvPr/>
        </p:nvSpPr>
        <p:spPr>
          <a:xfrm rot="5400000">
            <a:off x="353618" y="307132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!!Focus2">
            <a:extLst>
              <a:ext uri="{FF2B5EF4-FFF2-40B4-BE49-F238E27FC236}">
                <a16:creationId xmlns:a16="http://schemas.microsoft.com/office/drawing/2014/main" id="{8166C98B-8612-18B0-2C98-88F47719C999}"/>
              </a:ext>
            </a:extLst>
          </p:cNvPr>
          <p:cNvSpPr/>
          <p:nvPr/>
        </p:nvSpPr>
        <p:spPr>
          <a:xfrm rot="5400000">
            <a:off x="1191818" y="307132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!!Focus2">
            <a:extLst>
              <a:ext uri="{FF2B5EF4-FFF2-40B4-BE49-F238E27FC236}">
                <a16:creationId xmlns:a16="http://schemas.microsoft.com/office/drawing/2014/main" id="{B849753A-61D2-A8AC-F65C-8041448201FE}"/>
              </a:ext>
            </a:extLst>
          </p:cNvPr>
          <p:cNvSpPr/>
          <p:nvPr/>
        </p:nvSpPr>
        <p:spPr>
          <a:xfrm rot="5400000">
            <a:off x="1996417" y="307132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!!Focus2">
            <a:extLst>
              <a:ext uri="{FF2B5EF4-FFF2-40B4-BE49-F238E27FC236}">
                <a16:creationId xmlns:a16="http://schemas.microsoft.com/office/drawing/2014/main" id="{A8644E18-B28D-D2D2-1257-B265511E88EB}"/>
              </a:ext>
            </a:extLst>
          </p:cNvPr>
          <p:cNvSpPr/>
          <p:nvPr/>
        </p:nvSpPr>
        <p:spPr>
          <a:xfrm rot="5400000">
            <a:off x="2804671" y="307132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!!Focus2">
            <a:extLst>
              <a:ext uri="{FF2B5EF4-FFF2-40B4-BE49-F238E27FC236}">
                <a16:creationId xmlns:a16="http://schemas.microsoft.com/office/drawing/2014/main" id="{FD9412D2-9AA4-FD29-D0AB-DB627B54383D}"/>
              </a:ext>
            </a:extLst>
          </p:cNvPr>
          <p:cNvSpPr/>
          <p:nvPr/>
        </p:nvSpPr>
        <p:spPr>
          <a:xfrm rot="5400000">
            <a:off x="3642871" y="307132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!!Focus2">
            <a:extLst>
              <a:ext uri="{FF2B5EF4-FFF2-40B4-BE49-F238E27FC236}">
                <a16:creationId xmlns:a16="http://schemas.microsoft.com/office/drawing/2014/main" id="{1740FABF-F4AC-F629-410D-63CC1B851568}"/>
              </a:ext>
            </a:extLst>
          </p:cNvPr>
          <p:cNvSpPr/>
          <p:nvPr/>
        </p:nvSpPr>
        <p:spPr>
          <a:xfrm rot="5400000">
            <a:off x="4447470" y="307132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!!Focus2">
            <a:extLst>
              <a:ext uri="{FF2B5EF4-FFF2-40B4-BE49-F238E27FC236}">
                <a16:creationId xmlns:a16="http://schemas.microsoft.com/office/drawing/2014/main" id="{908CE2CC-D758-FF9C-FD75-A34A5672EFB3}"/>
              </a:ext>
            </a:extLst>
          </p:cNvPr>
          <p:cNvSpPr/>
          <p:nvPr/>
        </p:nvSpPr>
        <p:spPr>
          <a:xfrm rot="5400000">
            <a:off x="353618" y="3856309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!!Focus2">
            <a:extLst>
              <a:ext uri="{FF2B5EF4-FFF2-40B4-BE49-F238E27FC236}">
                <a16:creationId xmlns:a16="http://schemas.microsoft.com/office/drawing/2014/main" id="{C090038A-B2D1-4C1F-621B-8BB04B669138}"/>
              </a:ext>
            </a:extLst>
          </p:cNvPr>
          <p:cNvSpPr/>
          <p:nvPr/>
        </p:nvSpPr>
        <p:spPr>
          <a:xfrm rot="5400000">
            <a:off x="1191818" y="3856309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!!Focus2">
            <a:extLst>
              <a:ext uri="{FF2B5EF4-FFF2-40B4-BE49-F238E27FC236}">
                <a16:creationId xmlns:a16="http://schemas.microsoft.com/office/drawing/2014/main" id="{D733C614-F66A-C26F-9B80-07D25B27DF8F}"/>
              </a:ext>
            </a:extLst>
          </p:cNvPr>
          <p:cNvSpPr/>
          <p:nvPr/>
        </p:nvSpPr>
        <p:spPr>
          <a:xfrm rot="5400000">
            <a:off x="1996417" y="3856309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!!Focus2">
            <a:extLst>
              <a:ext uri="{FF2B5EF4-FFF2-40B4-BE49-F238E27FC236}">
                <a16:creationId xmlns:a16="http://schemas.microsoft.com/office/drawing/2014/main" id="{BFA6A86A-BF32-7C1D-9EF5-985BEF894B26}"/>
              </a:ext>
            </a:extLst>
          </p:cNvPr>
          <p:cNvSpPr/>
          <p:nvPr/>
        </p:nvSpPr>
        <p:spPr>
          <a:xfrm rot="5400000">
            <a:off x="2804671" y="3856309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!!Focus2">
            <a:extLst>
              <a:ext uri="{FF2B5EF4-FFF2-40B4-BE49-F238E27FC236}">
                <a16:creationId xmlns:a16="http://schemas.microsoft.com/office/drawing/2014/main" id="{05BCEAC0-96AC-88F0-7602-06F9A8D2495B}"/>
              </a:ext>
            </a:extLst>
          </p:cNvPr>
          <p:cNvSpPr/>
          <p:nvPr/>
        </p:nvSpPr>
        <p:spPr>
          <a:xfrm rot="5400000">
            <a:off x="3642871" y="3856309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!!Focus2">
            <a:extLst>
              <a:ext uri="{FF2B5EF4-FFF2-40B4-BE49-F238E27FC236}">
                <a16:creationId xmlns:a16="http://schemas.microsoft.com/office/drawing/2014/main" id="{3ED70214-D951-D6CC-E62A-9ABA799A0C5E}"/>
              </a:ext>
            </a:extLst>
          </p:cNvPr>
          <p:cNvSpPr/>
          <p:nvPr/>
        </p:nvSpPr>
        <p:spPr>
          <a:xfrm rot="5400000">
            <a:off x="4447470" y="3856309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!!Focus2">
            <a:extLst>
              <a:ext uri="{FF2B5EF4-FFF2-40B4-BE49-F238E27FC236}">
                <a16:creationId xmlns:a16="http://schemas.microsoft.com/office/drawing/2014/main" id="{91EDF0DF-A1FE-ADF5-9433-8B008C8AB6A8}"/>
              </a:ext>
            </a:extLst>
          </p:cNvPr>
          <p:cNvSpPr/>
          <p:nvPr/>
        </p:nvSpPr>
        <p:spPr>
          <a:xfrm rot="5400000">
            <a:off x="5263806" y="166998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!!Focus2">
            <a:extLst>
              <a:ext uri="{FF2B5EF4-FFF2-40B4-BE49-F238E27FC236}">
                <a16:creationId xmlns:a16="http://schemas.microsoft.com/office/drawing/2014/main" id="{38BCC169-26EA-E908-C844-45AFA06357CC}"/>
              </a:ext>
            </a:extLst>
          </p:cNvPr>
          <p:cNvSpPr/>
          <p:nvPr/>
        </p:nvSpPr>
        <p:spPr>
          <a:xfrm rot="5400000">
            <a:off x="5263806" y="237065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!!Focus2">
            <a:extLst>
              <a:ext uri="{FF2B5EF4-FFF2-40B4-BE49-F238E27FC236}">
                <a16:creationId xmlns:a16="http://schemas.microsoft.com/office/drawing/2014/main" id="{2B34415B-8374-6089-F776-DF6E5409E256}"/>
              </a:ext>
            </a:extLst>
          </p:cNvPr>
          <p:cNvSpPr/>
          <p:nvPr/>
        </p:nvSpPr>
        <p:spPr>
          <a:xfrm rot="5400000">
            <a:off x="5263806" y="307132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!!Focus2">
            <a:extLst>
              <a:ext uri="{FF2B5EF4-FFF2-40B4-BE49-F238E27FC236}">
                <a16:creationId xmlns:a16="http://schemas.microsoft.com/office/drawing/2014/main" id="{275EC41A-A917-D301-BA51-16A9A709ECE8}"/>
              </a:ext>
            </a:extLst>
          </p:cNvPr>
          <p:cNvSpPr/>
          <p:nvPr/>
        </p:nvSpPr>
        <p:spPr>
          <a:xfrm rot="5400000">
            <a:off x="5263806" y="3856309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!!Focus2">
            <a:extLst>
              <a:ext uri="{FF2B5EF4-FFF2-40B4-BE49-F238E27FC236}">
                <a16:creationId xmlns:a16="http://schemas.microsoft.com/office/drawing/2014/main" id="{1004F705-F46B-F8FA-FE8C-052E5995ABDD}"/>
              </a:ext>
            </a:extLst>
          </p:cNvPr>
          <p:cNvSpPr/>
          <p:nvPr/>
        </p:nvSpPr>
        <p:spPr>
          <a:xfrm rot="5400000">
            <a:off x="6489450" y="86794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!!Focus2">
            <a:extLst>
              <a:ext uri="{FF2B5EF4-FFF2-40B4-BE49-F238E27FC236}">
                <a16:creationId xmlns:a16="http://schemas.microsoft.com/office/drawing/2014/main" id="{D01FCBF2-602E-E449-CCCE-46928D52590F}"/>
              </a:ext>
            </a:extLst>
          </p:cNvPr>
          <p:cNvSpPr/>
          <p:nvPr/>
        </p:nvSpPr>
        <p:spPr>
          <a:xfrm rot="5400000">
            <a:off x="7327650" y="86794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!!Focus2">
            <a:extLst>
              <a:ext uri="{FF2B5EF4-FFF2-40B4-BE49-F238E27FC236}">
                <a16:creationId xmlns:a16="http://schemas.microsoft.com/office/drawing/2014/main" id="{F4B8A09A-7DB1-E177-D3A9-A27D6EDA49FD}"/>
              </a:ext>
            </a:extLst>
          </p:cNvPr>
          <p:cNvSpPr/>
          <p:nvPr/>
        </p:nvSpPr>
        <p:spPr>
          <a:xfrm rot="5400000">
            <a:off x="8132249" y="86794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!!Focus2">
            <a:extLst>
              <a:ext uri="{FF2B5EF4-FFF2-40B4-BE49-F238E27FC236}">
                <a16:creationId xmlns:a16="http://schemas.microsoft.com/office/drawing/2014/main" id="{7D71BE8A-090D-3165-81A3-2747ECB6051C}"/>
              </a:ext>
            </a:extLst>
          </p:cNvPr>
          <p:cNvSpPr/>
          <p:nvPr/>
        </p:nvSpPr>
        <p:spPr>
          <a:xfrm rot="5400000">
            <a:off x="8940503" y="86794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!!Focus2">
            <a:extLst>
              <a:ext uri="{FF2B5EF4-FFF2-40B4-BE49-F238E27FC236}">
                <a16:creationId xmlns:a16="http://schemas.microsoft.com/office/drawing/2014/main" id="{90D1F032-8831-DC60-0B2F-DDA8D8EE117C}"/>
              </a:ext>
            </a:extLst>
          </p:cNvPr>
          <p:cNvSpPr/>
          <p:nvPr/>
        </p:nvSpPr>
        <p:spPr>
          <a:xfrm rot="5400000">
            <a:off x="9778703" y="86794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!!Focus2">
            <a:extLst>
              <a:ext uri="{FF2B5EF4-FFF2-40B4-BE49-F238E27FC236}">
                <a16:creationId xmlns:a16="http://schemas.microsoft.com/office/drawing/2014/main" id="{691BCBF4-CB44-F293-AAE4-E2AD46E50E45}"/>
              </a:ext>
            </a:extLst>
          </p:cNvPr>
          <p:cNvSpPr/>
          <p:nvPr/>
        </p:nvSpPr>
        <p:spPr>
          <a:xfrm rot="5400000">
            <a:off x="10583302" y="867945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37000"/>
            </a:srgbClr>
          </a:solidFill>
          <a:ln w="44450" cap="rnd" cmpd="tri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!!Focus2">
            <a:extLst>
              <a:ext uri="{FF2B5EF4-FFF2-40B4-BE49-F238E27FC236}">
                <a16:creationId xmlns:a16="http://schemas.microsoft.com/office/drawing/2014/main" id="{438157FD-5344-E65E-A4B5-938841EC6265}"/>
              </a:ext>
            </a:extLst>
          </p:cNvPr>
          <p:cNvSpPr/>
          <p:nvPr/>
        </p:nvSpPr>
        <p:spPr>
          <a:xfrm rot="5400000">
            <a:off x="6489450" y="1568615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37000"/>
            </a:srgbClr>
          </a:solidFill>
          <a:ln w="44450" cap="rnd" cmpd="tri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!!Focus2">
            <a:extLst>
              <a:ext uri="{FF2B5EF4-FFF2-40B4-BE49-F238E27FC236}">
                <a16:creationId xmlns:a16="http://schemas.microsoft.com/office/drawing/2014/main" id="{48C52D1D-7F0F-BFAD-2367-CE393DCB202A}"/>
              </a:ext>
            </a:extLst>
          </p:cNvPr>
          <p:cNvSpPr/>
          <p:nvPr/>
        </p:nvSpPr>
        <p:spPr>
          <a:xfrm rot="5400000">
            <a:off x="7327650" y="156861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!!Focus2">
            <a:extLst>
              <a:ext uri="{FF2B5EF4-FFF2-40B4-BE49-F238E27FC236}">
                <a16:creationId xmlns:a16="http://schemas.microsoft.com/office/drawing/2014/main" id="{4955FB4D-1DBD-B439-1A3F-5B7A5BB3FEB0}"/>
              </a:ext>
            </a:extLst>
          </p:cNvPr>
          <p:cNvSpPr/>
          <p:nvPr/>
        </p:nvSpPr>
        <p:spPr>
          <a:xfrm rot="5400000">
            <a:off x="8132249" y="1568615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37000"/>
            </a:srgbClr>
          </a:solidFill>
          <a:ln w="44450" cap="rnd" cmpd="tri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!!Focus2">
            <a:extLst>
              <a:ext uri="{FF2B5EF4-FFF2-40B4-BE49-F238E27FC236}">
                <a16:creationId xmlns:a16="http://schemas.microsoft.com/office/drawing/2014/main" id="{5BD3C0B1-9D3A-AAF5-9EE8-BF10222E28C8}"/>
              </a:ext>
            </a:extLst>
          </p:cNvPr>
          <p:cNvSpPr/>
          <p:nvPr/>
        </p:nvSpPr>
        <p:spPr>
          <a:xfrm rot="5400000">
            <a:off x="8940503" y="1568615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37000"/>
            </a:srgbClr>
          </a:solidFill>
          <a:ln w="44450" cap="rnd" cmpd="tri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!!Focus2">
            <a:extLst>
              <a:ext uri="{FF2B5EF4-FFF2-40B4-BE49-F238E27FC236}">
                <a16:creationId xmlns:a16="http://schemas.microsoft.com/office/drawing/2014/main" id="{42A1F770-C5E4-0FBF-384D-26A67CF28405}"/>
              </a:ext>
            </a:extLst>
          </p:cNvPr>
          <p:cNvSpPr/>
          <p:nvPr/>
        </p:nvSpPr>
        <p:spPr>
          <a:xfrm rot="5400000">
            <a:off x="9778703" y="156861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!!Focus2">
            <a:extLst>
              <a:ext uri="{FF2B5EF4-FFF2-40B4-BE49-F238E27FC236}">
                <a16:creationId xmlns:a16="http://schemas.microsoft.com/office/drawing/2014/main" id="{0048805C-3016-9B4C-D04B-1FDFECF20D99}"/>
              </a:ext>
            </a:extLst>
          </p:cNvPr>
          <p:cNvSpPr/>
          <p:nvPr/>
        </p:nvSpPr>
        <p:spPr>
          <a:xfrm rot="5400000">
            <a:off x="10583302" y="1568615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37000"/>
            </a:srgbClr>
          </a:solidFill>
          <a:ln w="44450" cap="rnd" cmpd="tri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!!Focus2">
            <a:extLst>
              <a:ext uri="{FF2B5EF4-FFF2-40B4-BE49-F238E27FC236}">
                <a16:creationId xmlns:a16="http://schemas.microsoft.com/office/drawing/2014/main" id="{85A4B2DE-DE50-CAF6-A35F-D9FEF8F749A4}"/>
              </a:ext>
            </a:extLst>
          </p:cNvPr>
          <p:cNvSpPr/>
          <p:nvPr/>
        </p:nvSpPr>
        <p:spPr>
          <a:xfrm rot="5400000">
            <a:off x="6489450" y="2269285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37000"/>
            </a:srgbClr>
          </a:solidFill>
          <a:ln w="44450" cap="rnd" cmpd="tri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!!Focus2">
            <a:extLst>
              <a:ext uri="{FF2B5EF4-FFF2-40B4-BE49-F238E27FC236}">
                <a16:creationId xmlns:a16="http://schemas.microsoft.com/office/drawing/2014/main" id="{F7D0E958-8410-9C3A-B974-8E0A90286BA0}"/>
              </a:ext>
            </a:extLst>
          </p:cNvPr>
          <p:cNvSpPr/>
          <p:nvPr/>
        </p:nvSpPr>
        <p:spPr>
          <a:xfrm rot="5400000">
            <a:off x="7327650" y="226928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!!Focus2">
            <a:extLst>
              <a:ext uri="{FF2B5EF4-FFF2-40B4-BE49-F238E27FC236}">
                <a16:creationId xmlns:a16="http://schemas.microsoft.com/office/drawing/2014/main" id="{7557C7DC-2AD0-B1D6-B82B-8ED6F75E291D}"/>
              </a:ext>
            </a:extLst>
          </p:cNvPr>
          <p:cNvSpPr/>
          <p:nvPr/>
        </p:nvSpPr>
        <p:spPr>
          <a:xfrm rot="5400000">
            <a:off x="8132249" y="2269285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37000"/>
            </a:srgbClr>
          </a:solidFill>
          <a:ln w="44450" cap="rnd" cmpd="tri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!!Focus2">
            <a:extLst>
              <a:ext uri="{FF2B5EF4-FFF2-40B4-BE49-F238E27FC236}">
                <a16:creationId xmlns:a16="http://schemas.microsoft.com/office/drawing/2014/main" id="{C91DBDBA-575B-8B62-B006-DAC2CE357797}"/>
              </a:ext>
            </a:extLst>
          </p:cNvPr>
          <p:cNvSpPr/>
          <p:nvPr/>
        </p:nvSpPr>
        <p:spPr>
          <a:xfrm rot="5400000">
            <a:off x="8940503" y="226928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!!Focus2">
            <a:extLst>
              <a:ext uri="{FF2B5EF4-FFF2-40B4-BE49-F238E27FC236}">
                <a16:creationId xmlns:a16="http://schemas.microsoft.com/office/drawing/2014/main" id="{F9DFF56B-BB38-5536-46F3-B0D635CECD5C}"/>
              </a:ext>
            </a:extLst>
          </p:cNvPr>
          <p:cNvSpPr/>
          <p:nvPr/>
        </p:nvSpPr>
        <p:spPr>
          <a:xfrm rot="5400000">
            <a:off x="9778703" y="226928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!!Focus2">
            <a:extLst>
              <a:ext uri="{FF2B5EF4-FFF2-40B4-BE49-F238E27FC236}">
                <a16:creationId xmlns:a16="http://schemas.microsoft.com/office/drawing/2014/main" id="{71C321F1-5BD1-A588-400B-450CB90B6EB2}"/>
              </a:ext>
            </a:extLst>
          </p:cNvPr>
          <p:cNvSpPr/>
          <p:nvPr/>
        </p:nvSpPr>
        <p:spPr>
          <a:xfrm rot="5400000">
            <a:off x="10583302" y="226928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!!Focus2">
            <a:extLst>
              <a:ext uri="{FF2B5EF4-FFF2-40B4-BE49-F238E27FC236}">
                <a16:creationId xmlns:a16="http://schemas.microsoft.com/office/drawing/2014/main" id="{27B49C4A-8D78-086C-F8AB-FF92E3E21452}"/>
              </a:ext>
            </a:extLst>
          </p:cNvPr>
          <p:cNvSpPr/>
          <p:nvPr/>
        </p:nvSpPr>
        <p:spPr>
          <a:xfrm rot="5400000">
            <a:off x="6489450" y="305426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!!Focus2">
            <a:extLst>
              <a:ext uri="{FF2B5EF4-FFF2-40B4-BE49-F238E27FC236}">
                <a16:creationId xmlns:a16="http://schemas.microsoft.com/office/drawing/2014/main" id="{31293B47-6487-D221-6471-3C859DF9231A}"/>
              </a:ext>
            </a:extLst>
          </p:cNvPr>
          <p:cNvSpPr/>
          <p:nvPr/>
        </p:nvSpPr>
        <p:spPr>
          <a:xfrm rot="5400000">
            <a:off x="7327650" y="305426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!!Focus2">
            <a:extLst>
              <a:ext uri="{FF2B5EF4-FFF2-40B4-BE49-F238E27FC236}">
                <a16:creationId xmlns:a16="http://schemas.microsoft.com/office/drawing/2014/main" id="{67363DF1-1E17-F388-0472-C4774DAB51A9}"/>
              </a:ext>
            </a:extLst>
          </p:cNvPr>
          <p:cNvSpPr/>
          <p:nvPr/>
        </p:nvSpPr>
        <p:spPr>
          <a:xfrm rot="5400000">
            <a:off x="8132249" y="305426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!!Focus2">
            <a:extLst>
              <a:ext uri="{FF2B5EF4-FFF2-40B4-BE49-F238E27FC236}">
                <a16:creationId xmlns:a16="http://schemas.microsoft.com/office/drawing/2014/main" id="{62436F80-29D9-3993-70C9-30A21B7DF65E}"/>
              </a:ext>
            </a:extLst>
          </p:cNvPr>
          <p:cNvSpPr/>
          <p:nvPr/>
        </p:nvSpPr>
        <p:spPr>
          <a:xfrm rot="5400000">
            <a:off x="8940503" y="305426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!!Focus2">
            <a:extLst>
              <a:ext uri="{FF2B5EF4-FFF2-40B4-BE49-F238E27FC236}">
                <a16:creationId xmlns:a16="http://schemas.microsoft.com/office/drawing/2014/main" id="{AA214E51-5A91-32B2-B798-6624BD046349}"/>
              </a:ext>
            </a:extLst>
          </p:cNvPr>
          <p:cNvSpPr/>
          <p:nvPr/>
        </p:nvSpPr>
        <p:spPr>
          <a:xfrm rot="5400000">
            <a:off x="9778703" y="305426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!!Focus2">
            <a:extLst>
              <a:ext uri="{FF2B5EF4-FFF2-40B4-BE49-F238E27FC236}">
                <a16:creationId xmlns:a16="http://schemas.microsoft.com/office/drawing/2014/main" id="{8A397FED-E54E-FD7C-DD38-EF9A8388F469}"/>
              </a:ext>
            </a:extLst>
          </p:cNvPr>
          <p:cNvSpPr/>
          <p:nvPr/>
        </p:nvSpPr>
        <p:spPr>
          <a:xfrm rot="5400000">
            <a:off x="10583302" y="305426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!!Focus2">
            <a:extLst>
              <a:ext uri="{FF2B5EF4-FFF2-40B4-BE49-F238E27FC236}">
                <a16:creationId xmlns:a16="http://schemas.microsoft.com/office/drawing/2014/main" id="{53827F10-E883-5D14-961C-B58CA83F3F86}"/>
              </a:ext>
            </a:extLst>
          </p:cNvPr>
          <p:cNvSpPr/>
          <p:nvPr/>
        </p:nvSpPr>
        <p:spPr>
          <a:xfrm rot="5400000">
            <a:off x="11399638" y="867945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37000"/>
            </a:srgbClr>
          </a:solidFill>
          <a:ln w="44450" cap="rnd" cmpd="tri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!!Focus2">
            <a:extLst>
              <a:ext uri="{FF2B5EF4-FFF2-40B4-BE49-F238E27FC236}">
                <a16:creationId xmlns:a16="http://schemas.microsoft.com/office/drawing/2014/main" id="{1A048E46-ADB6-0A78-6200-9E1808471867}"/>
              </a:ext>
            </a:extLst>
          </p:cNvPr>
          <p:cNvSpPr/>
          <p:nvPr/>
        </p:nvSpPr>
        <p:spPr>
          <a:xfrm rot="5400000">
            <a:off x="11399638" y="1568615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37000"/>
            </a:srgbClr>
          </a:solidFill>
          <a:ln w="44450" cap="rnd" cmpd="tri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!!Focus2">
            <a:extLst>
              <a:ext uri="{FF2B5EF4-FFF2-40B4-BE49-F238E27FC236}">
                <a16:creationId xmlns:a16="http://schemas.microsoft.com/office/drawing/2014/main" id="{3963E343-8BF1-565F-D588-93E887954EE2}"/>
              </a:ext>
            </a:extLst>
          </p:cNvPr>
          <p:cNvSpPr/>
          <p:nvPr/>
        </p:nvSpPr>
        <p:spPr>
          <a:xfrm rot="5400000">
            <a:off x="11399638" y="2269285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!!Focus2">
            <a:extLst>
              <a:ext uri="{FF2B5EF4-FFF2-40B4-BE49-F238E27FC236}">
                <a16:creationId xmlns:a16="http://schemas.microsoft.com/office/drawing/2014/main" id="{C817DE0F-7E3D-3CF4-E569-99DEB07F8407}"/>
              </a:ext>
            </a:extLst>
          </p:cNvPr>
          <p:cNvSpPr/>
          <p:nvPr/>
        </p:nvSpPr>
        <p:spPr>
          <a:xfrm rot="5400000">
            <a:off x="11399638" y="3054267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!!Focus2">
            <a:extLst>
              <a:ext uri="{FF2B5EF4-FFF2-40B4-BE49-F238E27FC236}">
                <a16:creationId xmlns:a16="http://schemas.microsoft.com/office/drawing/2014/main" id="{424C7E04-96E8-6D2B-1952-B6578C31AE0E}"/>
              </a:ext>
            </a:extLst>
          </p:cNvPr>
          <p:cNvSpPr/>
          <p:nvPr/>
        </p:nvSpPr>
        <p:spPr>
          <a:xfrm rot="5400000">
            <a:off x="6489450" y="3756393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!!Focus2">
            <a:extLst>
              <a:ext uri="{FF2B5EF4-FFF2-40B4-BE49-F238E27FC236}">
                <a16:creationId xmlns:a16="http://schemas.microsoft.com/office/drawing/2014/main" id="{CDB3D1E2-F169-9A4F-C7E4-FB998A4544A3}"/>
              </a:ext>
            </a:extLst>
          </p:cNvPr>
          <p:cNvSpPr/>
          <p:nvPr/>
        </p:nvSpPr>
        <p:spPr>
          <a:xfrm rot="5400000">
            <a:off x="7327650" y="3756393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AA90557D-22FA-9659-E43E-15750EDDA67C}"/>
              </a:ext>
            </a:extLst>
          </p:cNvPr>
          <p:cNvSpPr>
            <a:spLocks/>
          </p:cNvSpPr>
          <p:nvPr/>
        </p:nvSpPr>
        <p:spPr>
          <a:xfrm>
            <a:off x="228600" y="4883318"/>
            <a:ext cx="11722570" cy="83168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Extended Data Fig. 7: (Global Activity) DS2 and SPW-R recruit distinct neurons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896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6" presetClass="emph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5" grpId="1" animBg="1"/>
      <p:bldP spid="75" grpId="2" animBg="1"/>
      <p:bldP spid="75" grpId="3" animBg="1"/>
      <p:bldP spid="75" grpId="4" animBg="1"/>
      <p:bldP spid="78" grpId="0" animBg="1"/>
      <p:bldP spid="78" grpId="1" animBg="1"/>
      <p:bldP spid="78" grpId="2" animBg="1"/>
      <p:bldP spid="78" grpId="3" animBg="1"/>
      <p:bldP spid="78" grpId="4" animBg="1"/>
      <p:bldP spid="79" grpId="0" animBg="1"/>
      <p:bldP spid="79" grpId="1" animBg="1"/>
      <p:bldP spid="79" grpId="2" animBg="1"/>
      <p:bldP spid="79" grpId="3" animBg="1"/>
      <p:bldP spid="79" grpId="4" animBg="1"/>
      <p:bldP spid="81" grpId="0" animBg="1"/>
      <p:bldP spid="81" grpId="1" animBg="1"/>
      <p:bldP spid="81" grpId="2" animBg="1"/>
      <p:bldP spid="81" grpId="3" animBg="1"/>
      <p:bldP spid="81" grpId="4" animBg="1"/>
      <p:bldP spid="94" grpId="0" animBg="1"/>
      <p:bldP spid="94" grpId="1" animBg="1"/>
      <p:bldP spid="94" grpId="2" animBg="1"/>
      <p:bldP spid="94" grpId="3" animBg="1"/>
      <p:bldP spid="94" grpId="4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3C550-FF17-2739-F028-9EA66B02A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>
            <a:extLst>
              <a:ext uri="{FF2B5EF4-FFF2-40B4-BE49-F238E27FC236}">
                <a16:creationId xmlns:a16="http://schemas.microsoft.com/office/drawing/2014/main" id="{78665BCF-DB21-96E3-347F-96B4160C52C4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3A336E51-2ECA-DCF5-E822-447CF63493C2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50DCADD3-04B0-573F-BCAD-BBFED615D499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16997C-2686-43D7-A558-636A44AE6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576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BF40D5-4C9E-9F3D-76D3-F7F85BD79DD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82477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!!N1">
            <a:extLst>
              <a:ext uri="{FF2B5EF4-FFF2-40B4-BE49-F238E27FC236}">
                <a16:creationId xmlns:a16="http://schemas.microsoft.com/office/drawing/2014/main" id="{13D7483A-CD09-C7D9-7DA2-0490366B093D}"/>
              </a:ext>
            </a:extLst>
          </p:cNvPr>
          <p:cNvSpPr>
            <a:spLocks/>
          </p:cNvSpPr>
          <p:nvPr/>
        </p:nvSpPr>
        <p:spPr>
          <a:xfrm>
            <a:off x="-54655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6761B683-7BE5-C108-9FB3-AF1AB57B9A2B}"/>
              </a:ext>
            </a:extLst>
          </p:cNvPr>
          <p:cNvSpPr>
            <a:spLocks/>
          </p:cNvSpPr>
          <p:nvPr/>
        </p:nvSpPr>
        <p:spPr>
          <a:xfrm>
            <a:off x="-54655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84371525-D655-D88C-8062-B45A1E48C60C}"/>
              </a:ext>
            </a:extLst>
          </p:cNvPr>
          <p:cNvSpPr>
            <a:spLocks/>
          </p:cNvSpPr>
          <p:nvPr/>
        </p:nvSpPr>
        <p:spPr>
          <a:xfrm>
            <a:off x="-55626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94710BC9-0534-40CC-A70E-307FD280F363}"/>
              </a:ext>
            </a:extLst>
          </p:cNvPr>
          <p:cNvSpPr>
            <a:spLocks/>
          </p:cNvSpPr>
          <p:nvPr/>
        </p:nvSpPr>
        <p:spPr>
          <a:xfrm>
            <a:off x="-55626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51C3E262-B003-D8EE-5536-A720A5732BF4}"/>
              </a:ext>
            </a:extLst>
          </p:cNvPr>
          <p:cNvSpPr>
            <a:spLocks/>
          </p:cNvSpPr>
          <p:nvPr/>
        </p:nvSpPr>
        <p:spPr>
          <a:xfrm>
            <a:off x="-55626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5FEE8FBE-BC37-9D76-0807-CD524FA35B29}"/>
              </a:ext>
            </a:extLst>
          </p:cNvPr>
          <p:cNvSpPr>
            <a:spLocks/>
          </p:cNvSpPr>
          <p:nvPr/>
        </p:nvSpPr>
        <p:spPr>
          <a:xfrm>
            <a:off x="-55530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F7A50B49-76A5-5C6B-B763-C5004E24BC33}"/>
              </a:ext>
            </a:extLst>
          </p:cNvPr>
          <p:cNvSpPr>
            <a:spLocks/>
          </p:cNvSpPr>
          <p:nvPr/>
        </p:nvSpPr>
        <p:spPr>
          <a:xfrm>
            <a:off x="-55530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9A126B4D-98C0-1A20-F49F-D9652CF8086B}"/>
              </a:ext>
            </a:extLst>
          </p:cNvPr>
          <p:cNvSpPr>
            <a:spLocks/>
          </p:cNvSpPr>
          <p:nvPr/>
        </p:nvSpPr>
        <p:spPr>
          <a:xfrm>
            <a:off x="-55530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C425EB8C-5D22-60D6-241A-FCB0F376E04E}"/>
              </a:ext>
            </a:extLst>
          </p:cNvPr>
          <p:cNvSpPr>
            <a:spLocks/>
          </p:cNvSpPr>
          <p:nvPr/>
        </p:nvSpPr>
        <p:spPr>
          <a:xfrm>
            <a:off x="-55530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0" name="!!P1">
            <a:extLst>
              <a:ext uri="{FF2B5EF4-FFF2-40B4-BE49-F238E27FC236}">
                <a16:creationId xmlns:a16="http://schemas.microsoft.com/office/drawing/2014/main" id="{DEA96980-F56F-82BD-9573-E37C0EE28D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3" t="394" r="54" b="48050"/>
          <a:stretch>
            <a:fillRect/>
          </a:stretch>
        </p:blipFill>
        <p:spPr>
          <a:xfrm>
            <a:off x="177632" y="838198"/>
            <a:ext cx="5902190" cy="3733801"/>
          </a:xfrm>
          <a:prstGeom prst="rect">
            <a:avLst/>
          </a:prstGeom>
          <a:ln w="38100">
            <a:noFill/>
          </a:ln>
        </p:spPr>
      </p:pic>
      <p:pic>
        <p:nvPicPr>
          <p:cNvPr id="19" name="!!P2">
            <a:extLst>
              <a:ext uri="{FF2B5EF4-FFF2-40B4-BE49-F238E27FC236}">
                <a16:creationId xmlns:a16="http://schemas.microsoft.com/office/drawing/2014/main" id="{89975887-AD2F-1646-088F-069588D6B6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518"/>
          <a:stretch>
            <a:fillRect/>
          </a:stretch>
        </p:blipFill>
        <p:spPr>
          <a:xfrm>
            <a:off x="6265123" y="838198"/>
            <a:ext cx="5926877" cy="3583614"/>
          </a:xfrm>
          <a:prstGeom prst="rect">
            <a:avLst/>
          </a:prstGeom>
          <a:ln w="38100">
            <a:noFill/>
          </a:ln>
        </p:spPr>
      </p:pic>
      <p:sp>
        <p:nvSpPr>
          <p:cNvPr id="22" name="!!Focus2">
            <a:extLst>
              <a:ext uri="{FF2B5EF4-FFF2-40B4-BE49-F238E27FC236}">
                <a16:creationId xmlns:a16="http://schemas.microsoft.com/office/drawing/2014/main" id="{E105198E-0AC2-1A8A-B8CA-3CACEB94DB52}"/>
              </a:ext>
            </a:extLst>
          </p:cNvPr>
          <p:cNvSpPr/>
          <p:nvPr/>
        </p:nvSpPr>
        <p:spPr>
          <a:xfrm rot="5400000">
            <a:off x="963213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!!Focus2">
            <a:extLst>
              <a:ext uri="{FF2B5EF4-FFF2-40B4-BE49-F238E27FC236}">
                <a16:creationId xmlns:a16="http://schemas.microsoft.com/office/drawing/2014/main" id="{1BDC81C5-C566-1C8A-204E-E6C01240394F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!!Focus2">
            <a:extLst>
              <a:ext uri="{FF2B5EF4-FFF2-40B4-BE49-F238E27FC236}">
                <a16:creationId xmlns:a16="http://schemas.microsoft.com/office/drawing/2014/main" id="{6368C16F-6E1D-FDEA-C836-16ED1CC75064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!!Focus2">
            <a:extLst>
              <a:ext uri="{FF2B5EF4-FFF2-40B4-BE49-F238E27FC236}">
                <a16:creationId xmlns:a16="http://schemas.microsoft.com/office/drawing/2014/main" id="{7CA122E4-B807-5F12-1645-401F9D15D85A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!!Focus2">
            <a:extLst>
              <a:ext uri="{FF2B5EF4-FFF2-40B4-BE49-F238E27FC236}">
                <a16:creationId xmlns:a16="http://schemas.microsoft.com/office/drawing/2014/main" id="{8ABFEC4D-64CB-0189-BF37-990A57BB67DF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!!Focus2">
            <a:extLst>
              <a:ext uri="{FF2B5EF4-FFF2-40B4-BE49-F238E27FC236}">
                <a16:creationId xmlns:a16="http://schemas.microsoft.com/office/drawing/2014/main" id="{EDC23823-CCD6-F29D-BF88-8D4881443F4C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!!Focus2">
            <a:extLst>
              <a:ext uri="{FF2B5EF4-FFF2-40B4-BE49-F238E27FC236}">
                <a16:creationId xmlns:a16="http://schemas.microsoft.com/office/drawing/2014/main" id="{E3F35D67-A98E-16F7-04FA-37C22F5C9979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!!Focus2">
            <a:extLst>
              <a:ext uri="{FF2B5EF4-FFF2-40B4-BE49-F238E27FC236}">
                <a16:creationId xmlns:a16="http://schemas.microsoft.com/office/drawing/2014/main" id="{D549F270-9DA7-8AE5-0229-9BBFF2529D1F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!!Focus2">
            <a:extLst>
              <a:ext uri="{FF2B5EF4-FFF2-40B4-BE49-F238E27FC236}">
                <a16:creationId xmlns:a16="http://schemas.microsoft.com/office/drawing/2014/main" id="{D3AB0B16-5C69-FE23-20B1-E66019138CF4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Focus2">
            <a:extLst>
              <a:ext uri="{FF2B5EF4-FFF2-40B4-BE49-F238E27FC236}">
                <a16:creationId xmlns:a16="http://schemas.microsoft.com/office/drawing/2014/main" id="{8E246BAF-32A8-8A3A-4E6B-3FF7B3CD660F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!!Focus2">
            <a:extLst>
              <a:ext uri="{FF2B5EF4-FFF2-40B4-BE49-F238E27FC236}">
                <a16:creationId xmlns:a16="http://schemas.microsoft.com/office/drawing/2014/main" id="{A186D87D-E2FA-BE55-5035-43115EF8762F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!!Focus2">
            <a:extLst>
              <a:ext uri="{FF2B5EF4-FFF2-40B4-BE49-F238E27FC236}">
                <a16:creationId xmlns:a16="http://schemas.microsoft.com/office/drawing/2014/main" id="{77184638-1E24-0503-90E9-D804ED41D56A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Focus2">
            <a:extLst>
              <a:ext uri="{FF2B5EF4-FFF2-40B4-BE49-F238E27FC236}">
                <a16:creationId xmlns:a16="http://schemas.microsoft.com/office/drawing/2014/main" id="{779CA480-B9C0-D28B-3976-43E6C8E7E6F1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!!Focus2">
            <a:extLst>
              <a:ext uri="{FF2B5EF4-FFF2-40B4-BE49-F238E27FC236}">
                <a16:creationId xmlns:a16="http://schemas.microsoft.com/office/drawing/2014/main" id="{7C13FBF4-D90F-A993-4A7C-D24A0A65D31B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!!Focus2">
            <a:extLst>
              <a:ext uri="{FF2B5EF4-FFF2-40B4-BE49-F238E27FC236}">
                <a16:creationId xmlns:a16="http://schemas.microsoft.com/office/drawing/2014/main" id="{57420874-CE87-80F7-E843-A236FF7B85B1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!!Focus2">
            <a:extLst>
              <a:ext uri="{FF2B5EF4-FFF2-40B4-BE49-F238E27FC236}">
                <a16:creationId xmlns:a16="http://schemas.microsoft.com/office/drawing/2014/main" id="{A96D13BC-0C3A-7BB7-E86E-9C978E9E06A2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!!Focus2">
            <a:extLst>
              <a:ext uri="{FF2B5EF4-FFF2-40B4-BE49-F238E27FC236}">
                <a16:creationId xmlns:a16="http://schemas.microsoft.com/office/drawing/2014/main" id="{80E31392-422D-58AD-6DC1-FB70EF82E72E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!!Focus2">
            <a:extLst>
              <a:ext uri="{FF2B5EF4-FFF2-40B4-BE49-F238E27FC236}">
                <a16:creationId xmlns:a16="http://schemas.microsoft.com/office/drawing/2014/main" id="{861C4F2F-BF5C-309F-6330-B979FA0BFBBA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!!Focus2">
            <a:extLst>
              <a:ext uri="{FF2B5EF4-FFF2-40B4-BE49-F238E27FC236}">
                <a16:creationId xmlns:a16="http://schemas.microsoft.com/office/drawing/2014/main" id="{8EA9B988-F904-1566-CBB0-168122446FB5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!!Focus2">
            <a:extLst>
              <a:ext uri="{FF2B5EF4-FFF2-40B4-BE49-F238E27FC236}">
                <a16:creationId xmlns:a16="http://schemas.microsoft.com/office/drawing/2014/main" id="{78293F81-6AB6-9296-C661-123031D4C586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!!Focus2">
            <a:extLst>
              <a:ext uri="{FF2B5EF4-FFF2-40B4-BE49-F238E27FC236}">
                <a16:creationId xmlns:a16="http://schemas.microsoft.com/office/drawing/2014/main" id="{0CD0BC27-49B6-FD1D-7830-BCCA51A83C9F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!!Focus2">
            <a:extLst>
              <a:ext uri="{FF2B5EF4-FFF2-40B4-BE49-F238E27FC236}">
                <a16:creationId xmlns:a16="http://schemas.microsoft.com/office/drawing/2014/main" id="{0A202685-F15B-1966-E840-5FEF72973BFA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!!Focus2">
            <a:extLst>
              <a:ext uri="{FF2B5EF4-FFF2-40B4-BE49-F238E27FC236}">
                <a16:creationId xmlns:a16="http://schemas.microsoft.com/office/drawing/2014/main" id="{E9D65DC0-E629-C1DB-057B-C05E9CBA03F2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!!Focus2">
            <a:extLst>
              <a:ext uri="{FF2B5EF4-FFF2-40B4-BE49-F238E27FC236}">
                <a16:creationId xmlns:a16="http://schemas.microsoft.com/office/drawing/2014/main" id="{2B930264-266C-FD91-3FAE-F57853A4664B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!!Focus2">
            <a:extLst>
              <a:ext uri="{FF2B5EF4-FFF2-40B4-BE49-F238E27FC236}">
                <a16:creationId xmlns:a16="http://schemas.microsoft.com/office/drawing/2014/main" id="{F27DE5A4-85BF-1452-C0CD-2086B621C76F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!!Focus2">
            <a:extLst>
              <a:ext uri="{FF2B5EF4-FFF2-40B4-BE49-F238E27FC236}">
                <a16:creationId xmlns:a16="http://schemas.microsoft.com/office/drawing/2014/main" id="{8C72B013-9774-AE9E-F40D-5912F5CA6C29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!!Focus2">
            <a:extLst>
              <a:ext uri="{FF2B5EF4-FFF2-40B4-BE49-F238E27FC236}">
                <a16:creationId xmlns:a16="http://schemas.microsoft.com/office/drawing/2014/main" id="{19267F7D-6249-7D30-FFED-6C4BAD2252A4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!!Focus2">
            <a:extLst>
              <a:ext uri="{FF2B5EF4-FFF2-40B4-BE49-F238E27FC236}">
                <a16:creationId xmlns:a16="http://schemas.microsoft.com/office/drawing/2014/main" id="{C8351F6D-D0D9-BCE2-E2A1-BDBD05352085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!!Focus2">
            <a:extLst>
              <a:ext uri="{FF2B5EF4-FFF2-40B4-BE49-F238E27FC236}">
                <a16:creationId xmlns:a16="http://schemas.microsoft.com/office/drawing/2014/main" id="{32AAA767-F291-4E8D-71AE-71B8A7EC707E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!!Focus2">
            <a:extLst>
              <a:ext uri="{FF2B5EF4-FFF2-40B4-BE49-F238E27FC236}">
                <a16:creationId xmlns:a16="http://schemas.microsoft.com/office/drawing/2014/main" id="{3FA89E0B-46EE-9BB4-4C93-4D95373983AC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!!Focus2">
            <a:extLst>
              <a:ext uri="{FF2B5EF4-FFF2-40B4-BE49-F238E27FC236}">
                <a16:creationId xmlns:a16="http://schemas.microsoft.com/office/drawing/2014/main" id="{80023E0F-93E3-67CA-0D45-912F413E66BD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!!Focus2">
            <a:extLst>
              <a:ext uri="{FF2B5EF4-FFF2-40B4-BE49-F238E27FC236}">
                <a16:creationId xmlns:a16="http://schemas.microsoft.com/office/drawing/2014/main" id="{18BA0494-0D2B-A013-2AD7-F82D825DD101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!!Focus2">
            <a:extLst>
              <a:ext uri="{FF2B5EF4-FFF2-40B4-BE49-F238E27FC236}">
                <a16:creationId xmlns:a16="http://schemas.microsoft.com/office/drawing/2014/main" id="{4CC2A310-4555-AC47-DDF0-CAEE6F0BA4E4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!!Focus2">
            <a:extLst>
              <a:ext uri="{FF2B5EF4-FFF2-40B4-BE49-F238E27FC236}">
                <a16:creationId xmlns:a16="http://schemas.microsoft.com/office/drawing/2014/main" id="{71BE3B4B-E505-FB78-5D7B-3E5129C4EF57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!!Focus2">
            <a:extLst>
              <a:ext uri="{FF2B5EF4-FFF2-40B4-BE49-F238E27FC236}">
                <a16:creationId xmlns:a16="http://schemas.microsoft.com/office/drawing/2014/main" id="{58035B4E-32C8-2A98-DBD5-D82CD4587690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!!Focus2">
            <a:extLst>
              <a:ext uri="{FF2B5EF4-FFF2-40B4-BE49-F238E27FC236}">
                <a16:creationId xmlns:a16="http://schemas.microsoft.com/office/drawing/2014/main" id="{6FC3E641-D465-4962-53D0-14BD2906E4F3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!!Focus2">
            <a:extLst>
              <a:ext uri="{FF2B5EF4-FFF2-40B4-BE49-F238E27FC236}">
                <a16:creationId xmlns:a16="http://schemas.microsoft.com/office/drawing/2014/main" id="{3509A05A-D0E0-EE5E-AF93-A3130CB51205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!!Focus2">
            <a:extLst>
              <a:ext uri="{FF2B5EF4-FFF2-40B4-BE49-F238E27FC236}">
                <a16:creationId xmlns:a16="http://schemas.microsoft.com/office/drawing/2014/main" id="{36112A8D-4C44-59FA-EE94-16F1C54A0797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!!Focus2">
            <a:extLst>
              <a:ext uri="{FF2B5EF4-FFF2-40B4-BE49-F238E27FC236}">
                <a16:creationId xmlns:a16="http://schemas.microsoft.com/office/drawing/2014/main" id="{869572DB-9415-8656-EFC5-10768F09E2FA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!!Focus2">
            <a:extLst>
              <a:ext uri="{FF2B5EF4-FFF2-40B4-BE49-F238E27FC236}">
                <a16:creationId xmlns:a16="http://schemas.microsoft.com/office/drawing/2014/main" id="{9C6D281B-ECF1-CD9A-93EC-F98FAD2601FD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!!Focus2">
            <a:extLst>
              <a:ext uri="{FF2B5EF4-FFF2-40B4-BE49-F238E27FC236}">
                <a16:creationId xmlns:a16="http://schemas.microsoft.com/office/drawing/2014/main" id="{FB502C6A-E98B-A6CD-F8B4-3102F07663C7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!!Focus2">
            <a:extLst>
              <a:ext uri="{FF2B5EF4-FFF2-40B4-BE49-F238E27FC236}">
                <a16:creationId xmlns:a16="http://schemas.microsoft.com/office/drawing/2014/main" id="{9A70CE6C-3349-6D70-AD6D-9E8661CEF7CC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!!Focus2">
            <a:extLst>
              <a:ext uri="{FF2B5EF4-FFF2-40B4-BE49-F238E27FC236}">
                <a16:creationId xmlns:a16="http://schemas.microsoft.com/office/drawing/2014/main" id="{483650C2-8395-DC61-C80B-CCF613FE182C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!!Focus2">
            <a:extLst>
              <a:ext uri="{FF2B5EF4-FFF2-40B4-BE49-F238E27FC236}">
                <a16:creationId xmlns:a16="http://schemas.microsoft.com/office/drawing/2014/main" id="{771E8249-D29D-9485-9B3F-10A71EF9CD21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!!Focus2">
            <a:extLst>
              <a:ext uri="{FF2B5EF4-FFF2-40B4-BE49-F238E27FC236}">
                <a16:creationId xmlns:a16="http://schemas.microsoft.com/office/drawing/2014/main" id="{0EBAFEBF-D971-6717-E4FC-BBBFD358C5FE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!!Focus2">
            <a:extLst>
              <a:ext uri="{FF2B5EF4-FFF2-40B4-BE49-F238E27FC236}">
                <a16:creationId xmlns:a16="http://schemas.microsoft.com/office/drawing/2014/main" id="{AF8FC12B-9291-06E1-5FCD-C860C1D369F2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!!Focus2">
            <a:extLst>
              <a:ext uri="{FF2B5EF4-FFF2-40B4-BE49-F238E27FC236}">
                <a16:creationId xmlns:a16="http://schemas.microsoft.com/office/drawing/2014/main" id="{7ABD0EF6-CE6D-8A98-E046-E4F7DBF838DB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!!Focus2">
            <a:extLst>
              <a:ext uri="{FF2B5EF4-FFF2-40B4-BE49-F238E27FC236}">
                <a16:creationId xmlns:a16="http://schemas.microsoft.com/office/drawing/2014/main" id="{6C37CFBD-46A8-FFD3-A70A-9BD8EDC11A55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!!Focus2">
            <a:extLst>
              <a:ext uri="{FF2B5EF4-FFF2-40B4-BE49-F238E27FC236}">
                <a16:creationId xmlns:a16="http://schemas.microsoft.com/office/drawing/2014/main" id="{2B521460-1B90-D75A-9BE4-3334B87EBDCC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!!Focus2">
            <a:extLst>
              <a:ext uri="{FF2B5EF4-FFF2-40B4-BE49-F238E27FC236}">
                <a16:creationId xmlns:a16="http://schemas.microsoft.com/office/drawing/2014/main" id="{604E4588-96EB-4C8B-255D-54E0898904F1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!!Focus2">
            <a:extLst>
              <a:ext uri="{FF2B5EF4-FFF2-40B4-BE49-F238E27FC236}">
                <a16:creationId xmlns:a16="http://schemas.microsoft.com/office/drawing/2014/main" id="{E12F9CE2-575E-D488-97BE-AB0874B4CB88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!!Focus2">
            <a:extLst>
              <a:ext uri="{FF2B5EF4-FFF2-40B4-BE49-F238E27FC236}">
                <a16:creationId xmlns:a16="http://schemas.microsoft.com/office/drawing/2014/main" id="{15472DB1-BB62-A55D-D14B-EDD8C60F756D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!!Focus2">
            <a:extLst>
              <a:ext uri="{FF2B5EF4-FFF2-40B4-BE49-F238E27FC236}">
                <a16:creationId xmlns:a16="http://schemas.microsoft.com/office/drawing/2014/main" id="{E2DDECC7-A41C-D568-6340-45C78ADDC723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!!Focus2">
            <a:extLst>
              <a:ext uri="{FF2B5EF4-FFF2-40B4-BE49-F238E27FC236}">
                <a16:creationId xmlns:a16="http://schemas.microsoft.com/office/drawing/2014/main" id="{19C4A30C-F211-874D-D54E-1DBC5415E5F6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!!Focus2">
            <a:extLst>
              <a:ext uri="{FF2B5EF4-FFF2-40B4-BE49-F238E27FC236}">
                <a16:creationId xmlns:a16="http://schemas.microsoft.com/office/drawing/2014/main" id="{18CF7F92-4456-32A6-72E5-13E6AF5E24E6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rgbClr val="FFC000">
              <a:alpha val="0"/>
            </a:srgb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!!Focus2">
            <a:extLst>
              <a:ext uri="{FF2B5EF4-FFF2-40B4-BE49-F238E27FC236}">
                <a16:creationId xmlns:a16="http://schemas.microsoft.com/office/drawing/2014/main" id="{340EC955-AFF9-0596-8106-ACDF7DD94CBA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!!Focus2">
            <a:extLst>
              <a:ext uri="{FF2B5EF4-FFF2-40B4-BE49-F238E27FC236}">
                <a16:creationId xmlns:a16="http://schemas.microsoft.com/office/drawing/2014/main" id="{309C99B3-8E78-4357-76B4-E1BEDB55293F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!!Focus2">
            <a:extLst>
              <a:ext uri="{FF2B5EF4-FFF2-40B4-BE49-F238E27FC236}">
                <a16:creationId xmlns:a16="http://schemas.microsoft.com/office/drawing/2014/main" id="{0A2860D0-39BF-C313-6F5F-69E73197F5D9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!!Focus2">
            <a:extLst>
              <a:ext uri="{FF2B5EF4-FFF2-40B4-BE49-F238E27FC236}">
                <a16:creationId xmlns:a16="http://schemas.microsoft.com/office/drawing/2014/main" id="{32B4535E-5A87-455C-5474-B10364CC0BF8}"/>
              </a:ext>
            </a:extLst>
          </p:cNvPr>
          <p:cNvSpPr/>
          <p:nvPr/>
        </p:nvSpPr>
        <p:spPr>
          <a:xfrm rot="5400000">
            <a:off x="967878" y="941782"/>
            <a:ext cx="533399" cy="631035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7C44A53B-B6FD-C3F5-2E2B-B5529F9C36C0}"/>
              </a:ext>
            </a:extLst>
          </p:cNvPr>
          <p:cNvSpPr>
            <a:spLocks/>
          </p:cNvSpPr>
          <p:nvPr/>
        </p:nvSpPr>
        <p:spPr>
          <a:xfrm>
            <a:off x="228600" y="4883318"/>
            <a:ext cx="11722570" cy="83168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Extended Data Fig. 7: (Global Activity) DS2 and SPW-R recruit distinct neurons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880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2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4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2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4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6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8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0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2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4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6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68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0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2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4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6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78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0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2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4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6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8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0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2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4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6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98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0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2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4" dur="2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6" dur="2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08" dur="2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0" dur="2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2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4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6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18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0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22" dur="2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60926-4E92-E9F9-0600-28F2DFF5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9F6997B1-E155-5052-F241-B1673397F97F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DB105779-70D1-AAE7-542C-B425C4163141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F20250C7-7507-2AE8-DCE4-A92A7EA9F94F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9E4ADF-563A-B1A6-48BF-ABC4CA0B6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26C809A7-B203-A8FB-4388-731B5FF347E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16307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68265F-8999-30D1-8E9B-74A7C3C8C17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368326" y="1406862"/>
            <a:ext cx="3682424" cy="39684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!!N1">
            <a:extLst>
              <a:ext uri="{FF2B5EF4-FFF2-40B4-BE49-F238E27FC236}">
                <a16:creationId xmlns:a16="http://schemas.microsoft.com/office/drawing/2014/main" id="{884BBA6B-1E02-D9F3-B2D7-98F4B311B04A}"/>
              </a:ext>
            </a:extLst>
          </p:cNvPr>
          <p:cNvSpPr>
            <a:spLocks/>
          </p:cNvSpPr>
          <p:nvPr/>
        </p:nvSpPr>
        <p:spPr>
          <a:xfrm>
            <a:off x="149349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3BB16D22-9100-FD85-E376-7763490CDAF1}"/>
              </a:ext>
            </a:extLst>
          </p:cNvPr>
          <p:cNvSpPr>
            <a:spLocks/>
          </p:cNvSpPr>
          <p:nvPr/>
        </p:nvSpPr>
        <p:spPr>
          <a:xfrm>
            <a:off x="149349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12F4B3F9-8B6E-405C-1335-510C69CBE06E}"/>
              </a:ext>
            </a:extLst>
          </p:cNvPr>
          <p:cNvSpPr>
            <a:spLocks/>
          </p:cNvSpPr>
          <p:nvPr/>
        </p:nvSpPr>
        <p:spPr>
          <a:xfrm>
            <a:off x="52252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D7C76E05-F770-3B0D-6684-A15F1C01C5FB}"/>
              </a:ext>
            </a:extLst>
          </p:cNvPr>
          <p:cNvSpPr>
            <a:spLocks/>
          </p:cNvSpPr>
          <p:nvPr/>
        </p:nvSpPr>
        <p:spPr>
          <a:xfrm>
            <a:off x="52252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936CD79B-7588-E7FD-F268-FF3772007B1B}"/>
              </a:ext>
            </a:extLst>
          </p:cNvPr>
          <p:cNvSpPr>
            <a:spLocks/>
          </p:cNvSpPr>
          <p:nvPr/>
        </p:nvSpPr>
        <p:spPr>
          <a:xfrm>
            <a:off x="52252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B80D044E-A4B9-6E81-60D6-C9F79C352CA0}"/>
              </a:ext>
            </a:extLst>
          </p:cNvPr>
          <p:cNvSpPr>
            <a:spLocks/>
          </p:cNvSpPr>
          <p:nvPr/>
        </p:nvSpPr>
        <p:spPr>
          <a:xfrm>
            <a:off x="61819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A4DDA775-710C-4E1D-E585-7A5552781293}"/>
              </a:ext>
            </a:extLst>
          </p:cNvPr>
          <p:cNvSpPr>
            <a:spLocks/>
          </p:cNvSpPr>
          <p:nvPr/>
        </p:nvSpPr>
        <p:spPr>
          <a:xfrm>
            <a:off x="61819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2E1D4B24-5DD3-A446-3CCE-FA4C021E7D06}"/>
              </a:ext>
            </a:extLst>
          </p:cNvPr>
          <p:cNvSpPr>
            <a:spLocks/>
          </p:cNvSpPr>
          <p:nvPr/>
        </p:nvSpPr>
        <p:spPr>
          <a:xfrm>
            <a:off x="61819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934BBC6B-F8E0-0057-7E4B-A054E80CF3B9}"/>
              </a:ext>
            </a:extLst>
          </p:cNvPr>
          <p:cNvSpPr>
            <a:spLocks/>
          </p:cNvSpPr>
          <p:nvPr/>
        </p:nvSpPr>
        <p:spPr>
          <a:xfrm>
            <a:off x="61819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4937AE69-0241-49DB-8554-DAC58A9DC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882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5A480146-5380-FCCF-2E5D-5C5D6B77D7D4}"/>
              </a:ext>
            </a:extLst>
          </p:cNvPr>
          <p:cNvSpPr>
            <a:spLocks/>
          </p:cNvSpPr>
          <p:nvPr/>
        </p:nvSpPr>
        <p:spPr>
          <a:xfrm>
            <a:off x="4740026" y="5458075"/>
            <a:ext cx="3247558" cy="3744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8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B347085A-ECE6-5346-A8C2-A1648F70BC47}"/>
              </a:ext>
            </a:extLst>
          </p:cNvPr>
          <p:cNvSpPr/>
          <p:nvPr/>
        </p:nvSpPr>
        <p:spPr>
          <a:xfrm rot="5400000">
            <a:off x="-2358221" y="461182"/>
            <a:ext cx="1058842" cy="1524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39FB89-6531-7609-0DCE-06CBDC8A0C11}"/>
              </a:ext>
            </a:extLst>
          </p:cNvPr>
          <p:cNvSpPr/>
          <p:nvPr/>
        </p:nvSpPr>
        <p:spPr>
          <a:xfrm>
            <a:off x="8458200" y="4114800"/>
            <a:ext cx="1828800" cy="1212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8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9F1BF-707D-FD56-C69B-9175FF98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T-BG">
            <a:extLst>
              <a:ext uri="{FF2B5EF4-FFF2-40B4-BE49-F238E27FC236}">
                <a16:creationId xmlns:a16="http://schemas.microsoft.com/office/drawing/2014/main" id="{57B5C64F-CC7E-10F3-718F-0C6B1BBDF1B1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0FBD19D1-7DFC-E855-5948-8DAE65894724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1E50F2-7656-14E6-185D-9E6F76152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200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95F0C240-050D-9A9F-4536-4EF60C13FF8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860945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E01F33-8A10-4169-8A0C-F4DD3320A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4" y="805910"/>
            <a:ext cx="5572125" cy="6005000"/>
          </a:xfrm>
          <a:prstGeom prst="rect">
            <a:avLst/>
          </a:prstGeom>
          <a:ln w="38100">
            <a:noFill/>
          </a:ln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2E8DE71-D169-FA58-AAC4-2786DFADD0B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838200 w 14554200"/>
              <a:gd name="csY0" fmla="*/ 120111 h 6172201"/>
              <a:gd name="csX1" fmla="*/ 838200 w 14554200"/>
              <a:gd name="csY1" fmla="*/ 6013284 h 6172201"/>
              <a:gd name="csX2" fmla="*/ 6629401 w 14554200"/>
              <a:gd name="csY2" fmla="*/ 6013284 h 6172201"/>
              <a:gd name="csX3" fmla="*/ 6629401 w 14554200"/>
              <a:gd name="csY3" fmla="*/ 120111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7696200 w 14554200"/>
              <a:gd name="csY6" fmla="*/ 0 h 6172201"/>
              <a:gd name="csX7" fmla="*/ 14554200 w 14554200"/>
              <a:gd name="csY7" fmla="*/ 0 h 6172201"/>
              <a:gd name="csX8" fmla="*/ 14554200 w 14554200"/>
              <a:gd name="csY8" fmla="*/ 6172199 h 6172201"/>
              <a:gd name="csX9" fmla="*/ 13508447 w 14554200"/>
              <a:gd name="csY9" fmla="*/ 6172199 h 6172201"/>
              <a:gd name="csX10" fmla="*/ 13508447 w 14554200"/>
              <a:gd name="csY10" fmla="*/ 6172201 h 6172201"/>
              <a:gd name="csX11" fmla="*/ 7924800 w 14554200"/>
              <a:gd name="csY11" fmla="*/ 6172201 h 6172201"/>
              <a:gd name="csX12" fmla="*/ 7924800 w 14554200"/>
              <a:gd name="csY12" fmla="*/ 6172200 h 6172201"/>
              <a:gd name="csX13" fmla="*/ 762000 w 14554200"/>
              <a:gd name="csY13" fmla="*/ 6172200 h 6172201"/>
              <a:gd name="csX14" fmla="*/ 762000 w 14554200"/>
              <a:gd name="csY14" fmla="*/ 6172199 h 6172201"/>
              <a:gd name="csX15" fmla="*/ 0 w 14554200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4200" h="6172201">
                <a:moveTo>
                  <a:pt x="838200" y="120111"/>
                </a:moveTo>
                <a:lnTo>
                  <a:pt x="838200" y="6013284"/>
                </a:lnTo>
                <a:lnTo>
                  <a:pt x="6629401" y="6013284"/>
                </a:lnTo>
                <a:lnTo>
                  <a:pt x="6629401" y="120111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N1">
            <a:extLst>
              <a:ext uri="{FF2B5EF4-FFF2-40B4-BE49-F238E27FC236}">
                <a16:creationId xmlns:a16="http://schemas.microsoft.com/office/drawing/2014/main" id="{3AC1CC5A-707C-BA1E-6388-F8987DB0BDCB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FA1F1EF9-70DB-41C3-4E47-B7F9B217D553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AEFE4446-4F9A-9DB7-3CCE-387133582E36}"/>
              </a:ext>
            </a:extLst>
          </p:cNvPr>
          <p:cNvSpPr>
            <a:spLocks/>
          </p:cNvSpPr>
          <p:nvPr/>
        </p:nvSpPr>
        <p:spPr>
          <a:xfrm>
            <a:off x="-95250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40DB5C2C-31F2-A401-3BAC-37689B86B219}"/>
              </a:ext>
            </a:extLst>
          </p:cNvPr>
          <p:cNvSpPr>
            <a:spLocks/>
          </p:cNvSpPr>
          <p:nvPr/>
        </p:nvSpPr>
        <p:spPr>
          <a:xfrm>
            <a:off x="-95250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394EB826-AB55-F1CC-F3AA-3BD983866DED}"/>
              </a:ext>
            </a:extLst>
          </p:cNvPr>
          <p:cNvSpPr>
            <a:spLocks/>
          </p:cNvSpPr>
          <p:nvPr/>
        </p:nvSpPr>
        <p:spPr>
          <a:xfrm>
            <a:off x="-95250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6C3DB658-148E-BF3A-80EF-3ECA7F9F2339}"/>
              </a:ext>
            </a:extLst>
          </p:cNvPr>
          <p:cNvSpPr>
            <a:spLocks/>
          </p:cNvSpPr>
          <p:nvPr/>
        </p:nvSpPr>
        <p:spPr>
          <a:xfrm>
            <a:off x="-95154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BCFEC30F-BC28-A02A-9A0D-A9986EBEA414}"/>
              </a:ext>
            </a:extLst>
          </p:cNvPr>
          <p:cNvSpPr>
            <a:spLocks/>
          </p:cNvSpPr>
          <p:nvPr/>
        </p:nvSpPr>
        <p:spPr>
          <a:xfrm>
            <a:off x="-95154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02E5ABD1-4D60-90BF-F524-6DAC7F12AE75}"/>
              </a:ext>
            </a:extLst>
          </p:cNvPr>
          <p:cNvSpPr>
            <a:spLocks/>
          </p:cNvSpPr>
          <p:nvPr/>
        </p:nvSpPr>
        <p:spPr>
          <a:xfrm>
            <a:off x="-95154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6B8C445D-9431-0674-6B80-4534A1C1CB20}"/>
              </a:ext>
            </a:extLst>
          </p:cNvPr>
          <p:cNvSpPr>
            <a:spLocks/>
          </p:cNvSpPr>
          <p:nvPr/>
        </p:nvSpPr>
        <p:spPr>
          <a:xfrm>
            <a:off x="-95154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8D8919CC-7017-6C88-DCE6-1E9B29B96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46370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23B17F45-72E1-1525-9DF8-A03F2196164E}"/>
              </a:ext>
            </a:extLst>
          </p:cNvPr>
          <p:cNvSpPr>
            <a:spLocks/>
          </p:cNvSpPr>
          <p:nvPr/>
        </p:nvSpPr>
        <p:spPr>
          <a:xfrm>
            <a:off x="-5005252" y="5492917"/>
            <a:ext cx="3505200" cy="2220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7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2" name="!!M1">
            <a:extLst>
              <a:ext uri="{FF2B5EF4-FFF2-40B4-BE49-F238E27FC236}">
                <a16:creationId xmlns:a16="http://schemas.microsoft.com/office/drawing/2014/main" id="{9017892E-9A30-9DD4-0F25-FE6F6C534B35}"/>
              </a:ext>
            </a:extLst>
          </p:cNvPr>
          <p:cNvSpPr>
            <a:spLocks/>
          </p:cNvSpPr>
          <p:nvPr/>
        </p:nvSpPr>
        <p:spPr>
          <a:xfrm>
            <a:off x="13052968" y="1362776"/>
            <a:ext cx="4930231" cy="10664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4F64A132-1CAF-EF87-2340-B9D901FA1A44}"/>
              </a:ext>
            </a:extLst>
          </p:cNvPr>
          <p:cNvSpPr>
            <a:spLocks/>
          </p:cNvSpPr>
          <p:nvPr/>
        </p:nvSpPr>
        <p:spPr>
          <a:xfrm>
            <a:off x="13052969" y="914400"/>
            <a:ext cx="4930231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</a:rPr>
              <a:t>Extended Data Figure 8a: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4400" dirty="0">
                <a:solidFill>
                  <a:srgbClr val="FF0000"/>
                </a:solidFill>
              </a:rPr>
              <a:t>Global firing peaks align with DS2 events.</a:t>
            </a:r>
          </a:p>
        </p:txBody>
      </p:sp>
      <p:sp>
        <p:nvSpPr>
          <p:cNvPr id="2" name="!!Focus">
            <a:extLst>
              <a:ext uri="{FF2B5EF4-FFF2-40B4-BE49-F238E27FC236}">
                <a16:creationId xmlns:a16="http://schemas.microsoft.com/office/drawing/2014/main" id="{AE7903B3-51C4-6BB4-4D99-D71CC3E737D3}"/>
              </a:ext>
            </a:extLst>
          </p:cNvPr>
          <p:cNvSpPr/>
          <p:nvPr/>
        </p:nvSpPr>
        <p:spPr>
          <a:xfrm rot="5400000">
            <a:off x="-1703176" y="-105506"/>
            <a:ext cx="358353" cy="21336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93DC04-2893-A126-9827-99AB63064E0C}"/>
              </a:ext>
            </a:extLst>
          </p:cNvPr>
          <p:cNvSpPr/>
          <p:nvPr/>
        </p:nvSpPr>
        <p:spPr>
          <a:xfrm>
            <a:off x="328748" y="4883316"/>
            <a:ext cx="2549760" cy="16694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62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D2263-3C7C-FD92-CA8F-9016B489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4812ED9-BE71-4667-3316-A5A3AEDE7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657" y="805542"/>
            <a:ext cx="7606427" cy="8197338"/>
          </a:xfrm>
          <a:prstGeom prst="rect">
            <a:avLst/>
          </a:prstGeom>
          <a:ln w="3810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F014A07-C43C-4AFB-1669-1599D586DDEB}"/>
              </a:ext>
            </a:extLst>
          </p:cNvPr>
          <p:cNvSpPr/>
          <p:nvPr/>
        </p:nvSpPr>
        <p:spPr>
          <a:xfrm>
            <a:off x="32657" y="6439793"/>
            <a:ext cx="3581400" cy="2890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94D070A9-32AB-AC04-B235-57930E5B7A79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B744422C-ED30-D0E5-DD7E-E4EB21DD0785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CD28F6-5FE1-092A-4212-BCF66E075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200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56A7DF01-A37A-B1C0-8BF0-460BEF7DACD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860945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9" name="!!Freeform: Shape 28">
            <a:extLst>
              <a:ext uri="{FF2B5EF4-FFF2-40B4-BE49-F238E27FC236}">
                <a16:creationId xmlns:a16="http://schemas.microsoft.com/office/drawing/2014/main" id="{AE88E633-CFDE-1CF6-075E-9314CCDD7C3B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609600 w 14554200"/>
              <a:gd name="csY0" fmla="*/ 96318 h 6172201"/>
              <a:gd name="csX1" fmla="*/ 609600 w 14554200"/>
              <a:gd name="csY1" fmla="*/ 98848 h 6172201"/>
              <a:gd name="csX2" fmla="*/ 304800 w 14554200"/>
              <a:gd name="csY2" fmla="*/ 98848 h 6172201"/>
              <a:gd name="csX3" fmla="*/ 304800 w 14554200"/>
              <a:gd name="csY3" fmla="*/ 166991 h 6172201"/>
              <a:gd name="csX4" fmla="*/ 304800 w 14554200"/>
              <a:gd name="csY4" fmla="*/ 5866979 h 6172201"/>
              <a:gd name="csX5" fmla="*/ 609600 w 14554200"/>
              <a:gd name="csY5" fmla="*/ 5866979 h 6172201"/>
              <a:gd name="csX6" fmla="*/ 838200 w 14554200"/>
              <a:gd name="csY6" fmla="*/ 5866979 h 6172201"/>
              <a:gd name="csX7" fmla="*/ 6629401 w 14554200"/>
              <a:gd name="csY7" fmla="*/ 5866979 h 6172201"/>
              <a:gd name="csX8" fmla="*/ 7696200 w 14554200"/>
              <a:gd name="csY8" fmla="*/ 5866979 h 6172201"/>
              <a:gd name="csX9" fmla="*/ 8153400 w 14554200"/>
              <a:gd name="csY9" fmla="*/ 5866979 h 6172201"/>
              <a:gd name="csX10" fmla="*/ 8153400 w 14554200"/>
              <a:gd name="csY10" fmla="*/ 96318 h 6172201"/>
              <a:gd name="csX11" fmla="*/ 0 w 14554200"/>
              <a:gd name="csY11" fmla="*/ 0 h 6172201"/>
              <a:gd name="csX12" fmla="*/ 685800 w 14554200"/>
              <a:gd name="csY12" fmla="*/ 0 h 6172201"/>
              <a:gd name="csX13" fmla="*/ 7696200 w 14554200"/>
              <a:gd name="csY13" fmla="*/ 0 h 6172201"/>
              <a:gd name="csX14" fmla="*/ 14554200 w 14554200"/>
              <a:gd name="csY14" fmla="*/ 0 h 6172201"/>
              <a:gd name="csX15" fmla="*/ 14554200 w 14554200"/>
              <a:gd name="csY15" fmla="*/ 6172199 h 6172201"/>
              <a:gd name="csX16" fmla="*/ 13508447 w 14554200"/>
              <a:gd name="csY16" fmla="*/ 6172199 h 6172201"/>
              <a:gd name="csX17" fmla="*/ 13508447 w 14554200"/>
              <a:gd name="csY17" fmla="*/ 6172201 h 6172201"/>
              <a:gd name="csX18" fmla="*/ 8153400 w 14554200"/>
              <a:gd name="csY18" fmla="*/ 6172201 h 6172201"/>
              <a:gd name="csX19" fmla="*/ 7924800 w 14554200"/>
              <a:gd name="csY19" fmla="*/ 6172201 h 6172201"/>
              <a:gd name="csX20" fmla="*/ 228600 w 14554200"/>
              <a:gd name="csY20" fmla="*/ 6172201 h 6172201"/>
              <a:gd name="csX21" fmla="*/ 228600 w 14554200"/>
              <a:gd name="csY21" fmla="*/ 6172199 h 6172201"/>
              <a:gd name="csX22" fmla="*/ 0 w 14554200"/>
              <a:gd name="csY22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554200" h="6172201">
                <a:moveTo>
                  <a:pt x="609600" y="96318"/>
                </a:moveTo>
                <a:lnTo>
                  <a:pt x="609600" y="98848"/>
                </a:lnTo>
                <a:lnTo>
                  <a:pt x="304800" y="98848"/>
                </a:lnTo>
                <a:lnTo>
                  <a:pt x="304800" y="166991"/>
                </a:lnTo>
                <a:lnTo>
                  <a:pt x="304800" y="5866979"/>
                </a:lnTo>
                <a:lnTo>
                  <a:pt x="609600" y="5866979"/>
                </a:lnTo>
                <a:lnTo>
                  <a:pt x="838200" y="5866979"/>
                </a:lnTo>
                <a:lnTo>
                  <a:pt x="6629401" y="5866979"/>
                </a:lnTo>
                <a:lnTo>
                  <a:pt x="7696200" y="5866979"/>
                </a:lnTo>
                <a:lnTo>
                  <a:pt x="8153400" y="5866979"/>
                </a:lnTo>
                <a:lnTo>
                  <a:pt x="8153400" y="96318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8153400" y="6172201"/>
                </a:lnTo>
                <a:lnTo>
                  <a:pt x="7924800" y="6172201"/>
                </a:lnTo>
                <a:lnTo>
                  <a:pt x="228600" y="6172201"/>
                </a:lnTo>
                <a:lnTo>
                  <a:pt x="2286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N1">
            <a:extLst>
              <a:ext uri="{FF2B5EF4-FFF2-40B4-BE49-F238E27FC236}">
                <a16:creationId xmlns:a16="http://schemas.microsoft.com/office/drawing/2014/main" id="{D3F951D9-2120-A6C1-D97F-A4C1DE24DB94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DDE44709-C19D-CE14-D524-01B2BBE8F356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20EC976F-6BC1-B534-BA5F-3925557CF1E4}"/>
              </a:ext>
            </a:extLst>
          </p:cNvPr>
          <p:cNvSpPr>
            <a:spLocks/>
          </p:cNvSpPr>
          <p:nvPr/>
        </p:nvSpPr>
        <p:spPr>
          <a:xfrm>
            <a:off x="-95250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E3E9C1AB-ECC6-ABF0-F4AD-6F776BF74462}"/>
              </a:ext>
            </a:extLst>
          </p:cNvPr>
          <p:cNvSpPr>
            <a:spLocks/>
          </p:cNvSpPr>
          <p:nvPr/>
        </p:nvSpPr>
        <p:spPr>
          <a:xfrm>
            <a:off x="-95250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C2033191-7EAC-7D68-917C-E342ED15C218}"/>
              </a:ext>
            </a:extLst>
          </p:cNvPr>
          <p:cNvSpPr>
            <a:spLocks/>
          </p:cNvSpPr>
          <p:nvPr/>
        </p:nvSpPr>
        <p:spPr>
          <a:xfrm>
            <a:off x="-95250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D0C4BA65-BE4B-8E0B-DADE-4521BA71FFB6}"/>
              </a:ext>
            </a:extLst>
          </p:cNvPr>
          <p:cNvSpPr>
            <a:spLocks/>
          </p:cNvSpPr>
          <p:nvPr/>
        </p:nvSpPr>
        <p:spPr>
          <a:xfrm>
            <a:off x="-95154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A2C82890-F4C3-F16D-A225-26FE5B5976CD}"/>
              </a:ext>
            </a:extLst>
          </p:cNvPr>
          <p:cNvSpPr>
            <a:spLocks/>
          </p:cNvSpPr>
          <p:nvPr/>
        </p:nvSpPr>
        <p:spPr>
          <a:xfrm>
            <a:off x="-95154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98D1219B-0B29-25FA-B109-7D11FE16416D}"/>
              </a:ext>
            </a:extLst>
          </p:cNvPr>
          <p:cNvSpPr>
            <a:spLocks/>
          </p:cNvSpPr>
          <p:nvPr/>
        </p:nvSpPr>
        <p:spPr>
          <a:xfrm>
            <a:off x="-95154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AC11B1E8-BCF6-0EBD-CE8C-8FA753FE3FA9}"/>
              </a:ext>
            </a:extLst>
          </p:cNvPr>
          <p:cNvSpPr>
            <a:spLocks/>
          </p:cNvSpPr>
          <p:nvPr/>
        </p:nvSpPr>
        <p:spPr>
          <a:xfrm>
            <a:off x="-95154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BB65D7BF-09CE-DA1A-CF42-43D0D047A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46370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741AA9CB-58E8-D5CE-7935-3EFD3DBE2EE1}"/>
              </a:ext>
            </a:extLst>
          </p:cNvPr>
          <p:cNvSpPr>
            <a:spLocks/>
          </p:cNvSpPr>
          <p:nvPr/>
        </p:nvSpPr>
        <p:spPr>
          <a:xfrm>
            <a:off x="-5005252" y="5492917"/>
            <a:ext cx="3505200" cy="4506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2D9EF3EC-7175-8E17-63D5-B8149564F3B9}"/>
              </a:ext>
            </a:extLst>
          </p:cNvPr>
          <p:cNvSpPr/>
          <p:nvPr/>
        </p:nvSpPr>
        <p:spPr>
          <a:xfrm rot="5400000">
            <a:off x="3935624" y="-105506"/>
            <a:ext cx="358353" cy="21336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!!M1">
            <a:extLst>
              <a:ext uri="{FF2B5EF4-FFF2-40B4-BE49-F238E27FC236}">
                <a16:creationId xmlns:a16="http://schemas.microsoft.com/office/drawing/2014/main" id="{17BD95B4-BB4A-A521-B1BF-07A6FD33794F}"/>
              </a:ext>
            </a:extLst>
          </p:cNvPr>
          <p:cNvSpPr>
            <a:spLocks/>
          </p:cNvSpPr>
          <p:nvPr/>
        </p:nvSpPr>
        <p:spPr>
          <a:xfrm>
            <a:off x="7467599" y="1295400"/>
            <a:ext cx="4701632" cy="10664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31015BB5-0863-A2D7-B121-F94D960795D5}"/>
              </a:ext>
            </a:extLst>
          </p:cNvPr>
          <p:cNvSpPr>
            <a:spLocks/>
          </p:cNvSpPr>
          <p:nvPr/>
        </p:nvSpPr>
        <p:spPr>
          <a:xfrm>
            <a:off x="7467600" y="838200"/>
            <a:ext cx="4701632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</a:rPr>
              <a:t>Extended Data Figure 8a: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4400" dirty="0">
                <a:solidFill>
                  <a:srgbClr val="FF0000"/>
                </a:solidFill>
              </a:rPr>
              <a:t>Global firing peaks align with DS2 events.</a:t>
            </a:r>
          </a:p>
        </p:txBody>
      </p:sp>
    </p:spTree>
    <p:extLst>
      <p:ext uri="{BB962C8B-B14F-4D97-AF65-F5344CB8AC3E}">
        <p14:creationId xmlns:p14="http://schemas.microsoft.com/office/powerpoint/2010/main" val="3800126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03757-C7E8-6373-DDEC-F513B1FA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601CE53-370A-DD5C-1D34-6D4CCB248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" y="784648"/>
            <a:ext cx="7606427" cy="8197338"/>
          </a:xfrm>
          <a:prstGeom prst="rect">
            <a:avLst/>
          </a:prstGeom>
          <a:ln w="3810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0654A3-6438-D624-DAD5-6F6765631405}"/>
              </a:ext>
            </a:extLst>
          </p:cNvPr>
          <p:cNvSpPr/>
          <p:nvPr/>
        </p:nvSpPr>
        <p:spPr>
          <a:xfrm>
            <a:off x="0" y="6553200"/>
            <a:ext cx="3581400" cy="2890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4EBE4012-622D-D509-1B49-340E81958083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A5121490-2C0B-1D38-E106-B33F9DD92F24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527D0-F743-7162-30D6-603D6E940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200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0FF392BC-EAEE-1D09-C376-3BB2289EF03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860945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!!Freeform: Shape 28">
            <a:extLst>
              <a:ext uri="{FF2B5EF4-FFF2-40B4-BE49-F238E27FC236}">
                <a16:creationId xmlns:a16="http://schemas.microsoft.com/office/drawing/2014/main" id="{0C09A6C5-1880-ADB3-458E-943CB0FD2A88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609600 w 14554200"/>
              <a:gd name="csY0" fmla="*/ 96318 h 6172201"/>
              <a:gd name="csX1" fmla="*/ 609600 w 14554200"/>
              <a:gd name="csY1" fmla="*/ 98848 h 6172201"/>
              <a:gd name="csX2" fmla="*/ 304800 w 14554200"/>
              <a:gd name="csY2" fmla="*/ 98848 h 6172201"/>
              <a:gd name="csX3" fmla="*/ 304800 w 14554200"/>
              <a:gd name="csY3" fmla="*/ 166991 h 6172201"/>
              <a:gd name="csX4" fmla="*/ 304800 w 14554200"/>
              <a:gd name="csY4" fmla="*/ 5866979 h 6172201"/>
              <a:gd name="csX5" fmla="*/ 609600 w 14554200"/>
              <a:gd name="csY5" fmla="*/ 5866979 h 6172201"/>
              <a:gd name="csX6" fmla="*/ 838200 w 14554200"/>
              <a:gd name="csY6" fmla="*/ 5866979 h 6172201"/>
              <a:gd name="csX7" fmla="*/ 6629401 w 14554200"/>
              <a:gd name="csY7" fmla="*/ 5866979 h 6172201"/>
              <a:gd name="csX8" fmla="*/ 7696200 w 14554200"/>
              <a:gd name="csY8" fmla="*/ 5866979 h 6172201"/>
              <a:gd name="csX9" fmla="*/ 8153400 w 14554200"/>
              <a:gd name="csY9" fmla="*/ 5866979 h 6172201"/>
              <a:gd name="csX10" fmla="*/ 8153400 w 14554200"/>
              <a:gd name="csY10" fmla="*/ 96318 h 6172201"/>
              <a:gd name="csX11" fmla="*/ 0 w 14554200"/>
              <a:gd name="csY11" fmla="*/ 0 h 6172201"/>
              <a:gd name="csX12" fmla="*/ 685800 w 14554200"/>
              <a:gd name="csY12" fmla="*/ 0 h 6172201"/>
              <a:gd name="csX13" fmla="*/ 7696200 w 14554200"/>
              <a:gd name="csY13" fmla="*/ 0 h 6172201"/>
              <a:gd name="csX14" fmla="*/ 14554200 w 14554200"/>
              <a:gd name="csY14" fmla="*/ 0 h 6172201"/>
              <a:gd name="csX15" fmla="*/ 14554200 w 14554200"/>
              <a:gd name="csY15" fmla="*/ 6172199 h 6172201"/>
              <a:gd name="csX16" fmla="*/ 13508447 w 14554200"/>
              <a:gd name="csY16" fmla="*/ 6172199 h 6172201"/>
              <a:gd name="csX17" fmla="*/ 13508447 w 14554200"/>
              <a:gd name="csY17" fmla="*/ 6172201 h 6172201"/>
              <a:gd name="csX18" fmla="*/ 8153400 w 14554200"/>
              <a:gd name="csY18" fmla="*/ 6172201 h 6172201"/>
              <a:gd name="csX19" fmla="*/ 7924800 w 14554200"/>
              <a:gd name="csY19" fmla="*/ 6172201 h 6172201"/>
              <a:gd name="csX20" fmla="*/ 228600 w 14554200"/>
              <a:gd name="csY20" fmla="*/ 6172201 h 6172201"/>
              <a:gd name="csX21" fmla="*/ 228600 w 14554200"/>
              <a:gd name="csY21" fmla="*/ 6172199 h 6172201"/>
              <a:gd name="csX22" fmla="*/ 0 w 14554200"/>
              <a:gd name="csY22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554200" h="6172201">
                <a:moveTo>
                  <a:pt x="609600" y="96318"/>
                </a:moveTo>
                <a:lnTo>
                  <a:pt x="609600" y="98848"/>
                </a:lnTo>
                <a:lnTo>
                  <a:pt x="304800" y="98848"/>
                </a:lnTo>
                <a:lnTo>
                  <a:pt x="304800" y="166991"/>
                </a:lnTo>
                <a:lnTo>
                  <a:pt x="304800" y="5866979"/>
                </a:lnTo>
                <a:lnTo>
                  <a:pt x="609600" y="5866979"/>
                </a:lnTo>
                <a:lnTo>
                  <a:pt x="838200" y="5866979"/>
                </a:lnTo>
                <a:lnTo>
                  <a:pt x="6629401" y="5866979"/>
                </a:lnTo>
                <a:lnTo>
                  <a:pt x="7696200" y="5866979"/>
                </a:lnTo>
                <a:lnTo>
                  <a:pt x="8153400" y="5866979"/>
                </a:lnTo>
                <a:lnTo>
                  <a:pt x="8153400" y="96318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8153400" y="6172201"/>
                </a:lnTo>
                <a:lnTo>
                  <a:pt x="7924800" y="6172201"/>
                </a:lnTo>
                <a:lnTo>
                  <a:pt x="228600" y="6172201"/>
                </a:lnTo>
                <a:lnTo>
                  <a:pt x="2286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N1">
            <a:extLst>
              <a:ext uri="{FF2B5EF4-FFF2-40B4-BE49-F238E27FC236}">
                <a16:creationId xmlns:a16="http://schemas.microsoft.com/office/drawing/2014/main" id="{17E668AA-9A42-F38E-1932-1AE33A2C45D5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3DC95941-F44F-821C-1700-65B213DFE61F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EA8C47E1-8C6C-4F64-BFD9-4E0894933EE6}"/>
              </a:ext>
            </a:extLst>
          </p:cNvPr>
          <p:cNvSpPr>
            <a:spLocks/>
          </p:cNvSpPr>
          <p:nvPr/>
        </p:nvSpPr>
        <p:spPr>
          <a:xfrm>
            <a:off x="-95250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BF47EEBF-DDF7-B2D9-5CB0-9C14061B6D60}"/>
              </a:ext>
            </a:extLst>
          </p:cNvPr>
          <p:cNvSpPr>
            <a:spLocks/>
          </p:cNvSpPr>
          <p:nvPr/>
        </p:nvSpPr>
        <p:spPr>
          <a:xfrm>
            <a:off x="-95250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462B0EFE-F2E0-3CEF-C32F-F96900A6070E}"/>
              </a:ext>
            </a:extLst>
          </p:cNvPr>
          <p:cNvSpPr>
            <a:spLocks/>
          </p:cNvSpPr>
          <p:nvPr/>
        </p:nvSpPr>
        <p:spPr>
          <a:xfrm>
            <a:off x="-95250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C8FB50B1-D29E-85C7-2319-EC02EB2E2222}"/>
              </a:ext>
            </a:extLst>
          </p:cNvPr>
          <p:cNvSpPr>
            <a:spLocks/>
          </p:cNvSpPr>
          <p:nvPr/>
        </p:nvSpPr>
        <p:spPr>
          <a:xfrm>
            <a:off x="-95154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9C6A658B-B699-412D-CC20-E6132EFB32C5}"/>
              </a:ext>
            </a:extLst>
          </p:cNvPr>
          <p:cNvSpPr>
            <a:spLocks/>
          </p:cNvSpPr>
          <p:nvPr/>
        </p:nvSpPr>
        <p:spPr>
          <a:xfrm>
            <a:off x="-95154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5329C963-8D65-DD59-AF82-D4702C932BDE}"/>
              </a:ext>
            </a:extLst>
          </p:cNvPr>
          <p:cNvSpPr>
            <a:spLocks/>
          </p:cNvSpPr>
          <p:nvPr/>
        </p:nvSpPr>
        <p:spPr>
          <a:xfrm>
            <a:off x="-95154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6A77440A-43CD-001A-0584-F8963DA6E163}"/>
              </a:ext>
            </a:extLst>
          </p:cNvPr>
          <p:cNvSpPr>
            <a:spLocks/>
          </p:cNvSpPr>
          <p:nvPr/>
        </p:nvSpPr>
        <p:spPr>
          <a:xfrm>
            <a:off x="-95154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B1B33C3F-715E-17ED-946A-00C2BDC5D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46370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22E3AF41-6501-383A-0DC9-C2663C17F3EB}"/>
              </a:ext>
            </a:extLst>
          </p:cNvPr>
          <p:cNvSpPr>
            <a:spLocks/>
          </p:cNvSpPr>
          <p:nvPr/>
        </p:nvSpPr>
        <p:spPr>
          <a:xfrm>
            <a:off x="-5005252" y="5492917"/>
            <a:ext cx="3505200" cy="4506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E170EC65-F034-BDE4-1070-9A53B8C9BC99}"/>
              </a:ext>
            </a:extLst>
          </p:cNvPr>
          <p:cNvSpPr/>
          <p:nvPr/>
        </p:nvSpPr>
        <p:spPr>
          <a:xfrm rot="5400000">
            <a:off x="3949197" y="-105506"/>
            <a:ext cx="358353" cy="21336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!!M1">
            <a:extLst>
              <a:ext uri="{FF2B5EF4-FFF2-40B4-BE49-F238E27FC236}">
                <a16:creationId xmlns:a16="http://schemas.microsoft.com/office/drawing/2014/main" id="{D43FBFC6-D829-0A9D-06FB-4F6529F8834A}"/>
              </a:ext>
            </a:extLst>
          </p:cNvPr>
          <p:cNvSpPr>
            <a:spLocks/>
          </p:cNvSpPr>
          <p:nvPr/>
        </p:nvSpPr>
        <p:spPr>
          <a:xfrm>
            <a:off x="7467599" y="2972117"/>
            <a:ext cx="4701632" cy="10664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0C8BE9C2-581D-2CE8-71D4-66FB17AE1826}"/>
              </a:ext>
            </a:extLst>
          </p:cNvPr>
          <p:cNvSpPr>
            <a:spLocks/>
          </p:cNvSpPr>
          <p:nvPr/>
        </p:nvSpPr>
        <p:spPr>
          <a:xfrm>
            <a:off x="7467600" y="838200"/>
            <a:ext cx="4701632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</a:rPr>
              <a:t>Extended Data Figure 8a: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4400" dirty="0">
                <a:solidFill>
                  <a:srgbClr val="FF0000"/>
                </a:solidFill>
              </a:rPr>
              <a:t>Global firing peaks align with DS2 events.</a:t>
            </a:r>
          </a:p>
        </p:txBody>
      </p:sp>
      <p:pic>
        <p:nvPicPr>
          <p:cNvPr id="18" name="Picture 17" descr="A black background with lines and dots&#10;&#10;AI-generated content may be incorrect.">
            <a:extLst>
              <a:ext uri="{FF2B5EF4-FFF2-40B4-BE49-F238E27FC236}">
                <a16:creationId xmlns:a16="http://schemas.microsoft.com/office/drawing/2014/main" id="{5A482297-8D99-54A1-1108-1EE0B259C8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890" r="1472"/>
          <a:stretch>
            <a:fillRect/>
          </a:stretch>
        </p:blipFill>
        <p:spPr>
          <a:xfrm>
            <a:off x="1399168" y="880965"/>
            <a:ext cx="5982478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52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80F12-87AD-F534-C14E-5965AF287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6F1D512-9B06-567C-8F72-CDE9639C5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" y="784648"/>
            <a:ext cx="7606427" cy="8197338"/>
          </a:xfrm>
          <a:prstGeom prst="rect">
            <a:avLst/>
          </a:prstGeom>
          <a:ln w="3810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8735A1C-7B8B-EA04-6EBA-BE113EAC2FE1}"/>
              </a:ext>
            </a:extLst>
          </p:cNvPr>
          <p:cNvSpPr/>
          <p:nvPr/>
        </p:nvSpPr>
        <p:spPr>
          <a:xfrm>
            <a:off x="0" y="6405880"/>
            <a:ext cx="3581400" cy="2890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B7AAE3A2-0961-F36F-A8D4-6B32BDBB71E2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6A416494-2A88-A724-3406-44CE5FA1EF06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D26159-3134-6ADF-B2C8-36FD88C4E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200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C8463FD3-D19B-32ED-3B39-FA7CD78C035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860945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!!Freeform: Shape 28">
            <a:extLst>
              <a:ext uri="{FF2B5EF4-FFF2-40B4-BE49-F238E27FC236}">
                <a16:creationId xmlns:a16="http://schemas.microsoft.com/office/drawing/2014/main" id="{0E2366AE-81E8-2E40-2FD0-4989B769D422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609600 w 14554200"/>
              <a:gd name="csY0" fmla="*/ 96318 h 6172201"/>
              <a:gd name="csX1" fmla="*/ 609600 w 14554200"/>
              <a:gd name="csY1" fmla="*/ 98848 h 6172201"/>
              <a:gd name="csX2" fmla="*/ 304800 w 14554200"/>
              <a:gd name="csY2" fmla="*/ 98848 h 6172201"/>
              <a:gd name="csX3" fmla="*/ 304800 w 14554200"/>
              <a:gd name="csY3" fmla="*/ 166991 h 6172201"/>
              <a:gd name="csX4" fmla="*/ 304800 w 14554200"/>
              <a:gd name="csY4" fmla="*/ 5866979 h 6172201"/>
              <a:gd name="csX5" fmla="*/ 609600 w 14554200"/>
              <a:gd name="csY5" fmla="*/ 5866979 h 6172201"/>
              <a:gd name="csX6" fmla="*/ 838200 w 14554200"/>
              <a:gd name="csY6" fmla="*/ 5866979 h 6172201"/>
              <a:gd name="csX7" fmla="*/ 6629401 w 14554200"/>
              <a:gd name="csY7" fmla="*/ 5866979 h 6172201"/>
              <a:gd name="csX8" fmla="*/ 7696200 w 14554200"/>
              <a:gd name="csY8" fmla="*/ 5866979 h 6172201"/>
              <a:gd name="csX9" fmla="*/ 8153400 w 14554200"/>
              <a:gd name="csY9" fmla="*/ 5866979 h 6172201"/>
              <a:gd name="csX10" fmla="*/ 8153400 w 14554200"/>
              <a:gd name="csY10" fmla="*/ 96318 h 6172201"/>
              <a:gd name="csX11" fmla="*/ 0 w 14554200"/>
              <a:gd name="csY11" fmla="*/ 0 h 6172201"/>
              <a:gd name="csX12" fmla="*/ 685800 w 14554200"/>
              <a:gd name="csY12" fmla="*/ 0 h 6172201"/>
              <a:gd name="csX13" fmla="*/ 7696200 w 14554200"/>
              <a:gd name="csY13" fmla="*/ 0 h 6172201"/>
              <a:gd name="csX14" fmla="*/ 14554200 w 14554200"/>
              <a:gd name="csY14" fmla="*/ 0 h 6172201"/>
              <a:gd name="csX15" fmla="*/ 14554200 w 14554200"/>
              <a:gd name="csY15" fmla="*/ 6172199 h 6172201"/>
              <a:gd name="csX16" fmla="*/ 13508447 w 14554200"/>
              <a:gd name="csY16" fmla="*/ 6172199 h 6172201"/>
              <a:gd name="csX17" fmla="*/ 13508447 w 14554200"/>
              <a:gd name="csY17" fmla="*/ 6172201 h 6172201"/>
              <a:gd name="csX18" fmla="*/ 8153400 w 14554200"/>
              <a:gd name="csY18" fmla="*/ 6172201 h 6172201"/>
              <a:gd name="csX19" fmla="*/ 7924800 w 14554200"/>
              <a:gd name="csY19" fmla="*/ 6172201 h 6172201"/>
              <a:gd name="csX20" fmla="*/ 228600 w 14554200"/>
              <a:gd name="csY20" fmla="*/ 6172201 h 6172201"/>
              <a:gd name="csX21" fmla="*/ 228600 w 14554200"/>
              <a:gd name="csY21" fmla="*/ 6172199 h 6172201"/>
              <a:gd name="csX22" fmla="*/ 0 w 14554200"/>
              <a:gd name="csY22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554200" h="6172201">
                <a:moveTo>
                  <a:pt x="609600" y="96318"/>
                </a:moveTo>
                <a:lnTo>
                  <a:pt x="609600" y="98848"/>
                </a:lnTo>
                <a:lnTo>
                  <a:pt x="304800" y="98848"/>
                </a:lnTo>
                <a:lnTo>
                  <a:pt x="304800" y="166991"/>
                </a:lnTo>
                <a:lnTo>
                  <a:pt x="304800" y="5866979"/>
                </a:lnTo>
                <a:lnTo>
                  <a:pt x="609600" y="5866979"/>
                </a:lnTo>
                <a:lnTo>
                  <a:pt x="838200" y="5866979"/>
                </a:lnTo>
                <a:lnTo>
                  <a:pt x="6629401" y="5866979"/>
                </a:lnTo>
                <a:lnTo>
                  <a:pt x="7696200" y="5866979"/>
                </a:lnTo>
                <a:lnTo>
                  <a:pt x="8153400" y="5866979"/>
                </a:lnTo>
                <a:lnTo>
                  <a:pt x="8153400" y="96318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8153400" y="6172201"/>
                </a:lnTo>
                <a:lnTo>
                  <a:pt x="7924800" y="6172201"/>
                </a:lnTo>
                <a:lnTo>
                  <a:pt x="228600" y="6172201"/>
                </a:lnTo>
                <a:lnTo>
                  <a:pt x="2286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N1">
            <a:extLst>
              <a:ext uri="{FF2B5EF4-FFF2-40B4-BE49-F238E27FC236}">
                <a16:creationId xmlns:a16="http://schemas.microsoft.com/office/drawing/2014/main" id="{2C4F2DA9-7DDD-96E9-4088-A022BFA8226E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D6105E92-A54E-C7F2-89BE-242136C49571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90BFC526-520D-009A-3069-13EDD36B7817}"/>
              </a:ext>
            </a:extLst>
          </p:cNvPr>
          <p:cNvSpPr>
            <a:spLocks/>
          </p:cNvSpPr>
          <p:nvPr/>
        </p:nvSpPr>
        <p:spPr>
          <a:xfrm>
            <a:off x="-95250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535593D3-9928-E54A-27A4-6B2693E2A12C}"/>
              </a:ext>
            </a:extLst>
          </p:cNvPr>
          <p:cNvSpPr>
            <a:spLocks/>
          </p:cNvSpPr>
          <p:nvPr/>
        </p:nvSpPr>
        <p:spPr>
          <a:xfrm>
            <a:off x="-95250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6E055578-3203-147A-86FB-B5E4B115A8B2}"/>
              </a:ext>
            </a:extLst>
          </p:cNvPr>
          <p:cNvSpPr>
            <a:spLocks/>
          </p:cNvSpPr>
          <p:nvPr/>
        </p:nvSpPr>
        <p:spPr>
          <a:xfrm>
            <a:off x="-95250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7DA9AA83-EE39-2ACD-9C25-28984C722EE9}"/>
              </a:ext>
            </a:extLst>
          </p:cNvPr>
          <p:cNvSpPr>
            <a:spLocks/>
          </p:cNvSpPr>
          <p:nvPr/>
        </p:nvSpPr>
        <p:spPr>
          <a:xfrm>
            <a:off x="-95154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09425FF1-60A1-EAA5-0354-B7DE540D75D5}"/>
              </a:ext>
            </a:extLst>
          </p:cNvPr>
          <p:cNvSpPr>
            <a:spLocks/>
          </p:cNvSpPr>
          <p:nvPr/>
        </p:nvSpPr>
        <p:spPr>
          <a:xfrm>
            <a:off x="-95154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47193DEA-E1F7-2809-3F61-3D80858FFA56}"/>
              </a:ext>
            </a:extLst>
          </p:cNvPr>
          <p:cNvSpPr>
            <a:spLocks/>
          </p:cNvSpPr>
          <p:nvPr/>
        </p:nvSpPr>
        <p:spPr>
          <a:xfrm>
            <a:off x="-95154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C9132B9D-A6F6-EA44-8D9E-5A245FED934D}"/>
              </a:ext>
            </a:extLst>
          </p:cNvPr>
          <p:cNvSpPr>
            <a:spLocks/>
          </p:cNvSpPr>
          <p:nvPr/>
        </p:nvSpPr>
        <p:spPr>
          <a:xfrm>
            <a:off x="-95154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374AB407-268D-A8D4-5609-583A38B6A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46370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C5C502B5-B49F-596B-3C94-A2688036B50E}"/>
              </a:ext>
            </a:extLst>
          </p:cNvPr>
          <p:cNvSpPr>
            <a:spLocks/>
          </p:cNvSpPr>
          <p:nvPr/>
        </p:nvSpPr>
        <p:spPr>
          <a:xfrm>
            <a:off x="-5005252" y="5492917"/>
            <a:ext cx="3505200" cy="4506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E20107B3-FD3B-D59E-A1C5-F98C375279F3}"/>
              </a:ext>
            </a:extLst>
          </p:cNvPr>
          <p:cNvSpPr/>
          <p:nvPr/>
        </p:nvSpPr>
        <p:spPr>
          <a:xfrm rot="5400000">
            <a:off x="1358397" y="-102975"/>
            <a:ext cx="358353" cy="21336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!!M1">
            <a:extLst>
              <a:ext uri="{FF2B5EF4-FFF2-40B4-BE49-F238E27FC236}">
                <a16:creationId xmlns:a16="http://schemas.microsoft.com/office/drawing/2014/main" id="{7F773AC0-B407-B164-1A66-133A6F647EB0}"/>
              </a:ext>
            </a:extLst>
          </p:cNvPr>
          <p:cNvSpPr>
            <a:spLocks/>
          </p:cNvSpPr>
          <p:nvPr/>
        </p:nvSpPr>
        <p:spPr>
          <a:xfrm>
            <a:off x="7504271" y="2972117"/>
            <a:ext cx="4664960" cy="10664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FEFC2703-D1C9-0412-4014-84980D6553C0}"/>
              </a:ext>
            </a:extLst>
          </p:cNvPr>
          <p:cNvSpPr>
            <a:spLocks/>
          </p:cNvSpPr>
          <p:nvPr/>
        </p:nvSpPr>
        <p:spPr>
          <a:xfrm>
            <a:off x="7504272" y="838200"/>
            <a:ext cx="4664960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</a:rPr>
              <a:t>Extended Data Figure 8a: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4400" dirty="0">
                <a:solidFill>
                  <a:srgbClr val="FF0000"/>
                </a:solidFill>
              </a:rPr>
              <a:t>Global firing peaks align with DS2 events.</a:t>
            </a:r>
          </a:p>
        </p:txBody>
      </p:sp>
    </p:spTree>
    <p:extLst>
      <p:ext uri="{BB962C8B-B14F-4D97-AF65-F5344CB8AC3E}">
        <p14:creationId xmlns:p14="http://schemas.microsoft.com/office/powerpoint/2010/main" val="1169864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1BD3F-1DCC-4C50-F50B-8D74838E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56AAFC2-ABD7-E8F8-7539-BC89C2305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4648"/>
            <a:ext cx="7606427" cy="8197338"/>
          </a:xfrm>
          <a:prstGeom prst="rect">
            <a:avLst/>
          </a:prstGeom>
          <a:ln w="38100"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5575E3-FF9E-51A5-2993-69EAB8593A9C}"/>
              </a:ext>
            </a:extLst>
          </p:cNvPr>
          <p:cNvSpPr/>
          <p:nvPr/>
        </p:nvSpPr>
        <p:spPr>
          <a:xfrm>
            <a:off x="0" y="6405880"/>
            <a:ext cx="3581400" cy="2890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A980D48F-18D4-9347-96CC-DE790ABD2575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72A3E272-061C-049F-C6BD-8AC0A31E4BBF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ADB27-79B4-AB7F-7A12-D7DC2CA1C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200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4D51847E-8459-A61A-8C12-80950513046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860945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reeform: Shape 28">
            <a:extLst>
              <a:ext uri="{FF2B5EF4-FFF2-40B4-BE49-F238E27FC236}">
                <a16:creationId xmlns:a16="http://schemas.microsoft.com/office/drawing/2014/main" id="{CB5B48FF-6132-3407-5060-AD2BE29E933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609600 w 14554200"/>
              <a:gd name="csY0" fmla="*/ 96318 h 6172201"/>
              <a:gd name="csX1" fmla="*/ 609600 w 14554200"/>
              <a:gd name="csY1" fmla="*/ 98848 h 6172201"/>
              <a:gd name="csX2" fmla="*/ 304800 w 14554200"/>
              <a:gd name="csY2" fmla="*/ 98848 h 6172201"/>
              <a:gd name="csX3" fmla="*/ 304800 w 14554200"/>
              <a:gd name="csY3" fmla="*/ 166991 h 6172201"/>
              <a:gd name="csX4" fmla="*/ 304800 w 14554200"/>
              <a:gd name="csY4" fmla="*/ 5866979 h 6172201"/>
              <a:gd name="csX5" fmla="*/ 609600 w 14554200"/>
              <a:gd name="csY5" fmla="*/ 5866979 h 6172201"/>
              <a:gd name="csX6" fmla="*/ 838200 w 14554200"/>
              <a:gd name="csY6" fmla="*/ 5866979 h 6172201"/>
              <a:gd name="csX7" fmla="*/ 6629401 w 14554200"/>
              <a:gd name="csY7" fmla="*/ 5866979 h 6172201"/>
              <a:gd name="csX8" fmla="*/ 7696200 w 14554200"/>
              <a:gd name="csY8" fmla="*/ 5866979 h 6172201"/>
              <a:gd name="csX9" fmla="*/ 8153400 w 14554200"/>
              <a:gd name="csY9" fmla="*/ 5866979 h 6172201"/>
              <a:gd name="csX10" fmla="*/ 8153400 w 14554200"/>
              <a:gd name="csY10" fmla="*/ 96318 h 6172201"/>
              <a:gd name="csX11" fmla="*/ 0 w 14554200"/>
              <a:gd name="csY11" fmla="*/ 0 h 6172201"/>
              <a:gd name="csX12" fmla="*/ 685800 w 14554200"/>
              <a:gd name="csY12" fmla="*/ 0 h 6172201"/>
              <a:gd name="csX13" fmla="*/ 7696200 w 14554200"/>
              <a:gd name="csY13" fmla="*/ 0 h 6172201"/>
              <a:gd name="csX14" fmla="*/ 14554200 w 14554200"/>
              <a:gd name="csY14" fmla="*/ 0 h 6172201"/>
              <a:gd name="csX15" fmla="*/ 14554200 w 14554200"/>
              <a:gd name="csY15" fmla="*/ 6172199 h 6172201"/>
              <a:gd name="csX16" fmla="*/ 13508447 w 14554200"/>
              <a:gd name="csY16" fmla="*/ 6172199 h 6172201"/>
              <a:gd name="csX17" fmla="*/ 13508447 w 14554200"/>
              <a:gd name="csY17" fmla="*/ 6172201 h 6172201"/>
              <a:gd name="csX18" fmla="*/ 8153400 w 14554200"/>
              <a:gd name="csY18" fmla="*/ 6172201 h 6172201"/>
              <a:gd name="csX19" fmla="*/ 7924800 w 14554200"/>
              <a:gd name="csY19" fmla="*/ 6172201 h 6172201"/>
              <a:gd name="csX20" fmla="*/ 228600 w 14554200"/>
              <a:gd name="csY20" fmla="*/ 6172201 h 6172201"/>
              <a:gd name="csX21" fmla="*/ 228600 w 14554200"/>
              <a:gd name="csY21" fmla="*/ 6172199 h 6172201"/>
              <a:gd name="csX22" fmla="*/ 0 w 14554200"/>
              <a:gd name="csY22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554200" h="6172201">
                <a:moveTo>
                  <a:pt x="609600" y="96318"/>
                </a:moveTo>
                <a:lnTo>
                  <a:pt x="609600" y="98848"/>
                </a:lnTo>
                <a:lnTo>
                  <a:pt x="304800" y="98848"/>
                </a:lnTo>
                <a:lnTo>
                  <a:pt x="304800" y="166991"/>
                </a:lnTo>
                <a:lnTo>
                  <a:pt x="304800" y="5866979"/>
                </a:lnTo>
                <a:lnTo>
                  <a:pt x="609600" y="5866979"/>
                </a:lnTo>
                <a:lnTo>
                  <a:pt x="838200" y="5866979"/>
                </a:lnTo>
                <a:lnTo>
                  <a:pt x="6629401" y="5866979"/>
                </a:lnTo>
                <a:lnTo>
                  <a:pt x="7696200" y="5866979"/>
                </a:lnTo>
                <a:lnTo>
                  <a:pt x="8153400" y="5866979"/>
                </a:lnTo>
                <a:lnTo>
                  <a:pt x="8153400" y="96318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8153400" y="6172201"/>
                </a:lnTo>
                <a:lnTo>
                  <a:pt x="7924800" y="6172201"/>
                </a:lnTo>
                <a:lnTo>
                  <a:pt x="228600" y="6172201"/>
                </a:lnTo>
                <a:lnTo>
                  <a:pt x="2286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N1">
            <a:extLst>
              <a:ext uri="{FF2B5EF4-FFF2-40B4-BE49-F238E27FC236}">
                <a16:creationId xmlns:a16="http://schemas.microsoft.com/office/drawing/2014/main" id="{1B9B634D-8A0E-C5B4-C667-CE0D86EC8771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4F61B0C6-FB65-3604-FD11-4973CACA50AD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75622638-636C-D7B3-CC17-C5343FB3444F}"/>
              </a:ext>
            </a:extLst>
          </p:cNvPr>
          <p:cNvSpPr>
            <a:spLocks/>
          </p:cNvSpPr>
          <p:nvPr/>
        </p:nvSpPr>
        <p:spPr>
          <a:xfrm>
            <a:off x="-95250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BBAD2806-6D5C-4AB0-A024-A6517962BBBC}"/>
              </a:ext>
            </a:extLst>
          </p:cNvPr>
          <p:cNvSpPr>
            <a:spLocks/>
          </p:cNvSpPr>
          <p:nvPr/>
        </p:nvSpPr>
        <p:spPr>
          <a:xfrm>
            <a:off x="-95250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EEEBB6B7-15A2-4AF8-A7C4-3CCFB607F665}"/>
              </a:ext>
            </a:extLst>
          </p:cNvPr>
          <p:cNvSpPr>
            <a:spLocks/>
          </p:cNvSpPr>
          <p:nvPr/>
        </p:nvSpPr>
        <p:spPr>
          <a:xfrm>
            <a:off x="-95250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D9B633C4-8361-0575-B303-C4429DFAE793}"/>
              </a:ext>
            </a:extLst>
          </p:cNvPr>
          <p:cNvSpPr>
            <a:spLocks/>
          </p:cNvSpPr>
          <p:nvPr/>
        </p:nvSpPr>
        <p:spPr>
          <a:xfrm>
            <a:off x="-95154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2A11BA12-C9AC-2DB7-5797-38205A8C2CF6}"/>
              </a:ext>
            </a:extLst>
          </p:cNvPr>
          <p:cNvSpPr>
            <a:spLocks/>
          </p:cNvSpPr>
          <p:nvPr/>
        </p:nvSpPr>
        <p:spPr>
          <a:xfrm>
            <a:off x="-95154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312112C3-C4F2-5122-0934-7A096E7D6902}"/>
              </a:ext>
            </a:extLst>
          </p:cNvPr>
          <p:cNvSpPr>
            <a:spLocks/>
          </p:cNvSpPr>
          <p:nvPr/>
        </p:nvSpPr>
        <p:spPr>
          <a:xfrm>
            <a:off x="-95154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FB5936D0-27CF-769B-1D1B-352C0E244EE2}"/>
              </a:ext>
            </a:extLst>
          </p:cNvPr>
          <p:cNvSpPr>
            <a:spLocks/>
          </p:cNvSpPr>
          <p:nvPr/>
        </p:nvSpPr>
        <p:spPr>
          <a:xfrm>
            <a:off x="-95154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02F94A0D-1B0A-34FD-AD98-22518784E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46370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D87455E8-B2EB-952C-F55D-6EAD38F25CE8}"/>
              </a:ext>
            </a:extLst>
          </p:cNvPr>
          <p:cNvSpPr>
            <a:spLocks/>
          </p:cNvSpPr>
          <p:nvPr/>
        </p:nvSpPr>
        <p:spPr>
          <a:xfrm>
            <a:off x="-5005252" y="5492917"/>
            <a:ext cx="3505200" cy="4506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13CC285E-ABD8-BBDC-414D-D95961999F38}"/>
              </a:ext>
            </a:extLst>
          </p:cNvPr>
          <p:cNvSpPr/>
          <p:nvPr/>
        </p:nvSpPr>
        <p:spPr>
          <a:xfrm rot="5400000">
            <a:off x="461653" y="3407519"/>
            <a:ext cx="638080" cy="12256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!!M1">
            <a:extLst>
              <a:ext uri="{FF2B5EF4-FFF2-40B4-BE49-F238E27FC236}">
                <a16:creationId xmlns:a16="http://schemas.microsoft.com/office/drawing/2014/main" id="{6D0316D3-1BF2-4717-1A4E-EACCAC303712}"/>
              </a:ext>
            </a:extLst>
          </p:cNvPr>
          <p:cNvSpPr>
            <a:spLocks/>
          </p:cNvSpPr>
          <p:nvPr/>
        </p:nvSpPr>
        <p:spPr>
          <a:xfrm>
            <a:off x="7467599" y="2972117"/>
            <a:ext cx="4701632" cy="10664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A79773AB-EF23-6806-2430-BA6C9C4DCF27}"/>
              </a:ext>
            </a:extLst>
          </p:cNvPr>
          <p:cNvSpPr>
            <a:spLocks/>
          </p:cNvSpPr>
          <p:nvPr/>
        </p:nvSpPr>
        <p:spPr>
          <a:xfrm>
            <a:off x="7467600" y="838200"/>
            <a:ext cx="4701632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</a:rPr>
              <a:t>Extended Data Figure 8a: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4400" dirty="0">
                <a:solidFill>
                  <a:srgbClr val="FF0000"/>
                </a:solidFill>
              </a:rPr>
              <a:t>Global firing peaks align with DS2 events.</a:t>
            </a:r>
          </a:p>
        </p:txBody>
      </p:sp>
    </p:spTree>
    <p:extLst>
      <p:ext uri="{BB962C8B-B14F-4D97-AF65-F5344CB8AC3E}">
        <p14:creationId xmlns:p14="http://schemas.microsoft.com/office/powerpoint/2010/main" val="281298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5411-84FD-7EE5-4CB6-0327434A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457307C-4474-175A-B8A4-ECDC7B69C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" y="850312"/>
            <a:ext cx="7606427" cy="8197338"/>
          </a:xfrm>
          <a:prstGeom prst="rect">
            <a:avLst/>
          </a:prstGeom>
          <a:ln w="38100"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16C601A-B991-C45B-75D6-4EC276B40E4F}"/>
              </a:ext>
            </a:extLst>
          </p:cNvPr>
          <p:cNvSpPr/>
          <p:nvPr/>
        </p:nvSpPr>
        <p:spPr>
          <a:xfrm>
            <a:off x="0" y="6405880"/>
            <a:ext cx="3581400" cy="2890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B6F93E16-332D-DBF7-6E10-BFFC3D3BF066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8016BBF3-B5DE-41CA-89AA-2E2828891FF8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2D6BEC-CCF6-EA5C-7A7D-DF5E131AC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200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DFF4E4F9-16CC-794B-4783-3FF12AF4663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860945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reeform: Shape 28">
            <a:extLst>
              <a:ext uri="{FF2B5EF4-FFF2-40B4-BE49-F238E27FC236}">
                <a16:creationId xmlns:a16="http://schemas.microsoft.com/office/drawing/2014/main" id="{CE0F6826-16F1-2ECC-719E-171D7E5598EB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609600 w 14554200"/>
              <a:gd name="csY0" fmla="*/ 96318 h 6172201"/>
              <a:gd name="csX1" fmla="*/ 609600 w 14554200"/>
              <a:gd name="csY1" fmla="*/ 98848 h 6172201"/>
              <a:gd name="csX2" fmla="*/ 304800 w 14554200"/>
              <a:gd name="csY2" fmla="*/ 98848 h 6172201"/>
              <a:gd name="csX3" fmla="*/ 304800 w 14554200"/>
              <a:gd name="csY3" fmla="*/ 166991 h 6172201"/>
              <a:gd name="csX4" fmla="*/ 304800 w 14554200"/>
              <a:gd name="csY4" fmla="*/ 5866979 h 6172201"/>
              <a:gd name="csX5" fmla="*/ 609600 w 14554200"/>
              <a:gd name="csY5" fmla="*/ 5866979 h 6172201"/>
              <a:gd name="csX6" fmla="*/ 838200 w 14554200"/>
              <a:gd name="csY6" fmla="*/ 5866979 h 6172201"/>
              <a:gd name="csX7" fmla="*/ 6629401 w 14554200"/>
              <a:gd name="csY7" fmla="*/ 5866979 h 6172201"/>
              <a:gd name="csX8" fmla="*/ 7696200 w 14554200"/>
              <a:gd name="csY8" fmla="*/ 5866979 h 6172201"/>
              <a:gd name="csX9" fmla="*/ 8153400 w 14554200"/>
              <a:gd name="csY9" fmla="*/ 5866979 h 6172201"/>
              <a:gd name="csX10" fmla="*/ 8153400 w 14554200"/>
              <a:gd name="csY10" fmla="*/ 96318 h 6172201"/>
              <a:gd name="csX11" fmla="*/ 0 w 14554200"/>
              <a:gd name="csY11" fmla="*/ 0 h 6172201"/>
              <a:gd name="csX12" fmla="*/ 685800 w 14554200"/>
              <a:gd name="csY12" fmla="*/ 0 h 6172201"/>
              <a:gd name="csX13" fmla="*/ 7696200 w 14554200"/>
              <a:gd name="csY13" fmla="*/ 0 h 6172201"/>
              <a:gd name="csX14" fmla="*/ 14554200 w 14554200"/>
              <a:gd name="csY14" fmla="*/ 0 h 6172201"/>
              <a:gd name="csX15" fmla="*/ 14554200 w 14554200"/>
              <a:gd name="csY15" fmla="*/ 6172199 h 6172201"/>
              <a:gd name="csX16" fmla="*/ 13508447 w 14554200"/>
              <a:gd name="csY16" fmla="*/ 6172199 h 6172201"/>
              <a:gd name="csX17" fmla="*/ 13508447 w 14554200"/>
              <a:gd name="csY17" fmla="*/ 6172201 h 6172201"/>
              <a:gd name="csX18" fmla="*/ 8153400 w 14554200"/>
              <a:gd name="csY18" fmla="*/ 6172201 h 6172201"/>
              <a:gd name="csX19" fmla="*/ 7924800 w 14554200"/>
              <a:gd name="csY19" fmla="*/ 6172201 h 6172201"/>
              <a:gd name="csX20" fmla="*/ 228600 w 14554200"/>
              <a:gd name="csY20" fmla="*/ 6172201 h 6172201"/>
              <a:gd name="csX21" fmla="*/ 228600 w 14554200"/>
              <a:gd name="csY21" fmla="*/ 6172199 h 6172201"/>
              <a:gd name="csX22" fmla="*/ 0 w 14554200"/>
              <a:gd name="csY22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554200" h="6172201">
                <a:moveTo>
                  <a:pt x="609600" y="96318"/>
                </a:moveTo>
                <a:lnTo>
                  <a:pt x="609600" y="98848"/>
                </a:lnTo>
                <a:lnTo>
                  <a:pt x="304800" y="98848"/>
                </a:lnTo>
                <a:lnTo>
                  <a:pt x="304800" y="166991"/>
                </a:lnTo>
                <a:lnTo>
                  <a:pt x="304800" y="5866979"/>
                </a:lnTo>
                <a:lnTo>
                  <a:pt x="609600" y="5866979"/>
                </a:lnTo>
                <a:lnTo>
                  <a:pt x="838200" y="5866979"/>
                </a:lnTo>
                <a:lnTo>
                  <a:pt x="6629401" y="5866979"/>
                </a:lnTo>
                <a:lnTo>
                  <a:pt x="7696200" y="5866979"/>
                </a:lnTo>
                <a:lnTo>
                  <a:pt x="8153400" y="5866979"/>
                </a:lnTo>
                <a:lnTo>
                  <a:pt x="8153400" y="96318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8153400" y="6172201"/>
                </a:lnTo>
                <a:lnTo>
                  <a:pt x="7924800" y="6172201"/>
                </a:lnTo>
                <a:lnTo>
                  <a:pt x="228600" y="6172201"/>
                </a:lnTo>
                <a:lnTo>
                  <a:pt x="2286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N1">
            <a:extLst>
              <a:ext uri="{FF2B5EF4-FFF2-40B4-BE49-F238E27FC236}">
                <a16:creationId xmlns:a16="http://schemas.microsoft.com/office/drawing/2014/main" id="{A3117335-57FA-9945-087A-D6265EECCAC5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43ACB637-EF0E-AF6F-DA28-7BE2DEF6336E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ACBF7734-7A19-4DB4-FB73-A044F3514CE6}"/>
              </a:ext>
            </a:extLst>
          </p:cNvPr>
          <p:cNvSpPr>
            <a:spLocks/>
          </p:cNvSpPr>
          <p:nvPr/>
        </p:nvSpPr>
        <p:spPr>
          <a:xfrm>
            <a:off x="-95250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AA0F954F-8F88-F7E8-EA4A-251E907553B9}"/>
              </a:ext>
            </a:extLst>
          </p:cNvPr>
          <p:cNvSpPr>
            <a:spLocks/>
          </p:cNvSpPr>
          <p:nvPr/>
        </p:nvSpPr>
        <p:spPr>
          <a:xfrm>
            <a:off x="-95250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2147EFD3-0ED6-DF61-1B2D-FC1F831AB71F}"/>
              </a:ext>
            </a:extLst>
          </p:cNvPr>
          <p:cNvSpPr>
            <a:spLocks/>
          </p:cNvSpPr>
          <p:nvPr/>
        </p:nvSpPr>
        <p:spPr>
          <a:xfrm>
            <a:off x="-95250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4F22AA03-1956-0418-1D5E-9403CE0D0DF0}"/>
              </a:ext>
            </a:extLst>
          </p:cNvPr>
          <p:cNvSpPr>
            <a:spLocks/>
          </p:cNvSpPr>
          <p:nvPr/>
        </p:nvSpPr>
        <p:spPr>
          <a:xfrm>
            <a:off x="-95154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B8363034-8D3B-DD06-432A-7A7BECCCE63B}"/>
              </a:ext>
            </a:extLst>
          </p:cNvPr>
          <p:cNvSpPr>
            <a:spLocks/>
          </p:cNvSpPr>
          <p:nvPr/>
        </p:nvSpPr>
        <p:spPr>
          <a:xfrm>
            <a:off x="-95154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52CC9A46-41D5-3D4A-1E97-1DE7EC67733C}"/>
              </a:ext>
            </a:extLst>
          </p:cNvPr>
          <p:cNvSpPr>
            <a:spLocks/>
          </p:cNvSpPr>
          <p:nvPr/>
        </p:nvSpPr>
        <p:spPr>
          <a:xfrm>
            <a:off x="-95154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0C66F3B4-358D-752E-F596-01011A8F068C}"/>
              </a:ext>
            </a:extLst>
          </p:cNvPr>
          <p:cNvSpPr>
            <a:spLocks/>
          </p:cNvSpPr>
          <p:nvPr/>
        </p:nvSpPr>
        <p:spPr>
          <a:xfrm>
            <a:off x="-95154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B9FB6CA4-9DCD-0D2D-A151-4C4E41EB8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46370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63ECE0C5-9245-CD80-6AE7-6F5D52CA4540}"/>
              </a:ext>
            </a:extLst>
          </p:cNvPr>
          <p:cNvSpPr>
            <a:spLocks/>
          </p:cNvSpPr>
          <p:nvPr/>
        </p:nvSpPr>
        <p:spPr>
          <a:xfrm>
            <a:off x="-5005252" y="5492917"/>
            <a:ext cx="3505200" cy="4506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26BDA07D-AC33-6A91-D033-7BB2A7CC20AB}"/>
              </a:ext>
            </a:extLst>
          </p:cNvPr>
          <p:cNvSpPr/>
          <p:nvPr/>
        </p:nvSpPr>
        <p:spPr>
          <a:xfrm rot="5400000">
            <a:off x="840315" y="5802659"/>
            <a:ext cx="1089713" cy="30479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!!M1">
            <a:extLst>
              <a:ext uri="{FF2B5EF4-FFF2-40B4-BE49-F238E27FC236}">
                <a16:creationId xmlns:a16="http://schemas.microsoft.com/office/drawing/2014/main" id="{F0410437-034F-34E1-4DEB-A5D2A72B0F0F}"/>
              </a:ext>
            </a:extLst>
          </p:cNvPr>
          <p:cNvSpPr>
            <a:spLocks/>
          </p:cNvSpPr>
          <p:nvPr/>
        </p:nvSpPr>
        <p:spPr>
          <a:xfrm>
            <a:off x="7543799" y="2972117"/>
            <a:ext cx="4625432" cy="10664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F3E8863D-CD5D-E393-13E3-8B7BD87DFFA6}"/>
              </a:ext>
            </a:extLst>
          </p:cNvPr>
          <p:cNvSpPr>
            <a:spLocks/>
          </p:cNvSpPr>
          <p:nvPr/>
        </p:nvSpPr>
        <p:spPr>
          <a:xfrm>
            <a:off x="7543800" y="838200"/>
            <a:ext cx="4625432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</a:rPr>
              <a:t>Extended Data Figure 8a: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4400" dirty="0">
                <a:solidFill>
                  <a:srgbClr val="FF0000"/>
                </a:solidFill>
              </a:rPr>
              <a:t>Global firing peaks align with DS2 events.</a:t>
            </a:r>
          </a:p>
        </p:txBody>
      </p:sp>
    </p:spTree>
    <p:extLst>
      <p:ext uri="{BB962C8B-B14F-4D97-AF65-F5344CB8AC3E}">
        <p14:creationId xmlns:p14="http://schemas.microsoft.com/office/powerpoint/2010/main" val="141653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20337-408D-AF83-754C-B09A1980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0DEBEB8-96B6-674A-8F5F-F8BAF6414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" y="850312"/>
            <a:ext cx="7606427" cy="8197338"/>
          </a:xfrm>
          <a:prstGeom prst="rect">
            <a:avLst/>
          </a:prstGeom>
          <a:ln w="38100"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75B3EB-BC93-13AF-BE39-48756B0AB238}"/>
              </a:ext>
            </a:extLst>
          </p:cNvPr>
          <p:cNvSpPr/>
          <p:nvPr/>
        </p:nvSpPr>
        <p:spPr>
          <a:xfrm>
            <a:off x="0" y="6405880"/>
            <a:ext cx="3581400" cy="2890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9C3117B5-3235-A445-DAE1-536D5072848E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BBDEC880-7565-DE80-25AD-BDDE670A4AB4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726B6D-9EA1-2C11-90FE-EEDD4B138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200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1F376B8E-FEC8-BA0F-2B54-C0D31C321E6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860945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Freeform: Shape 28">
            <a:extLst>
              <a:ext uri="{FF2B5EF4-FFF2-40B4-BE49-F238E27FC236}">
                <a16:creationId xmlns:a16="http://schemas.microsoft.com/office/drawing/2014/main" id="{E4469784-A818-9D5F-4489-B8A2CE6F5009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609600 w 14554200"/>
              <a:gd name="csY0" fmla="*/ 96318 h 6172201"/>
              <a:gd name="csX1" fmla="*/ 609600 w 14554200"/>
              <a:gd name="csY1" fmla="*/ 98848 h 6172201"/>
              <a:gd name="csX2" fmla="*/ 304800 w 14554200"/>
              <a:gd name="csY2" fmla="*/ 98848 h 6172201"/>
              <a:gd name="csX3" fmla="*/ 304800 w 14554200"/>
              <a:gd name="csY3" fmla="*/ 166991 h 6172201"/>
              <a:gd name="csX4" fmla="*/ 304800 w 14554200"/>
              <a:gd name="csY4" fmla="*/ 5866979 h 6172201"/>
              <a:gd name="csX5" fmla="*/ 609600 w 14554200"/>
              <a:gd name="csY5" fmla="*/ 5866979 h 6172201"/>
              <a:gd name="csX6" fmla="*/ 838200 w 14554200"/>
              <a:gd name="csY6" fmla="*/ 5866979 h 6172201"/>
              <a:gd name="csX7" fmla="*/ 6629401 w 14554200"/>
              <a:gd name="csY7" fmla="*/ 5866979 h 6172201"/>
              <a:gd name="csX8" fmla="*/ 7696200 w 14554200"/>
              <a:gd name="csY8" fmla="*/ 5866979 h 6172201"/>
              <a:gd name="csX9" fmla="*/ 8153400 w 14554200"/>
              <a:gd name="csY9" fmla="*/ 5866979 h 6172201"/>
              <a:gd name="csX10" fmla="*/ 8153400 w 14554200"/>
              <a:gd name="csY10" fmla="*/ 96318 h 6172201"/>
              <a:gd name="csX11" fmla="*/ 0 w 14554200"/>
              <a:gd name="csY11" fmla="*/ 0 h 6172201"/>
              <a:gd name="csX12" fmla="*/ 685800 w 14554200"/>
              <a:gd name="csY12" fmla="*/ 0 h 6172201"/>
              <a:gd name="csX13" fmla="*/ 7696200 w 14554200"/>
              <a:gd name="csY13" fmla="*/ 0 h 6172201"/>
              <a:gd name="csX14" fmla="*/ 14554200 w 14554200"/>
              <a:gd name="csY14" fmla="*/ 0 h 6172201"/>
              <a:gd name="csX15" fmla="*/ 14554200 w 14554200"/>
              <a:gd name="csY15" fmla="*/ 6172199 h 6172201"/>
              <a:gd name="csX16" fmla="*/ 13508447 w 14554200"/>
              <a:gd name="csY16" fmla="*/ 6172199 h 6172201"/>
              <a:gd name="csX17" fmla="*/ 13508447 w 14554200"/>
              <a:gd name="csY17" fmla="*/ 6172201 h 6172201"/>
              <a:gd name="csX18" fmla="*/ 8153400 w 14554200"/>
              <a:gd name="csY18" fmla="*/ 6172201 h 6172201"/>
              <a:gd name="csX19" fmla="*/ 7924800 w 14554200"/>
              <a:gd name="csY19" fmla="*/ 6172201 h 6172201"/>
              <a:gd name="csX20" fmla="*/ 228600 w 14554200"/>
              <a:gd name="csY20" fmla="*/ 6172201 h 6172201"/>
              <a:gd name="csX21" fmla="*/ 228600 w 14554200"/>
              <a:gd name="csY21" fmla="*/ 6172199 h 6172201"/>
              <a:gd name="csX22" fmla="*/ 0 w 14554200"/>
              <a:gd name="csY22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554200" h="6172201">
                <a:moveTo>
                  <a:pt x="609600" y="96318"/>
                </a:moveTo>
                <a:lnTo>
                  <a:pt x="609600" y="98848"/>
                </a:lnTo>
                <a:lnTo>
                  <a:pt x="304800" y="98848"/>
                </a:lnTo>
                <a:lnTo>
                  <a:pt x="304800" y="166991"/>
                </a:lnTo>
                <a:lnTo>
                  <a:pt x="304800" y="5866979"/>
                </a:lnTo>
                <a:lnTo>
                  <a:pt x="609600" y="5866979"/>
                </a:lnTo>
                <a:lnTo>
                  <a:pt x="838200" y="5866979"/>
                </a:lnTo>
                <a:lnTo>
                  <a:pt x="6629401" y="5866979"/>
                </a:lnTo>
                <a:lnTo>
                  <a:pt x="7696200" y="5866979"/>
                </a:lnTo>
                <a:lnTo>
                  <a:pt x="8153400" y="5866979"/>
                </a:lnTo>
                <a:lnTo>
                  <a:pt x="8153400" y="96318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8153400" y="6172201"/>
                </a:lnTo>
                <a:lnTo>
                  <a:pt x="7924800" y="6172201"/>
                </a:lnTo>
                <a:lnTo>
                  <a:pt x="228600" y="6172201"/>
                </a:lnTo>
                <a:lnTo>
                  <a:pt x="2286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N1">
            <a:extLst>
              <a:ext uri="{FF2B5EF4-FFF2-40B4-BE49-F238E27FC236}">
                <a16:creationId xmlns:a16="http://schemas.microsoft.com/office/drawing/2014/main" id="{9978DC42-B9B4-4D19-66B5-B05FF730AA96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CFBF3353-E536-5017-6DE2-2C294D2932D3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E6C690E8-EE1F-6C6F-77A0-078E085728E2}"/>
              </a:ext>
            </a:extLst>
          </p:cNvPr>
          <p:cNvSpPr>
            <a:spLocks/>
          </p:cNvSpPr>
          <p:nvPr/>
        </p:nvSpPr>
        <p:spPr>
          <a:xfrm>
            <a:off x="-95250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86C1183D-597B-5510-9EF6-D4F7FF54B276}"/>
              </a:ext>
            </a:extLst>
          </p:cNvPr>
          <p:cNvSpPr>
            <a:spLocks/>
          </p:cNvSpPr>
          <p:nvPr/>
        </p:nvSpPr>
        <p:spPr>
          <a:xfrm>
            <a:off x="-95250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61E82EF0-1E6C-1FD2-AEB0-1D8521EEF205}"/>
              </a:ext>
            </a:extLst>
          </p:cNvPr>
          <p:cNvSpPr>
            <a:spLocks/>
          </p:cNvSpPr>
          <p:nvPr/>
        </p:nvSpPr>
        <p:spPr>
          <a:xfrm>
            <a:off x="-95250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36865DC5-E343-827C-AD2F-170EF9378371}"/>
              </a:ext>
            </a:extLst>
          </p:cNvPr>
          <p:cNvSpPr>
            <a:spLocks/>
          </p:cNvSpPr>
          <p:nvPr/>
        </p:nvSpPr>
        <p:spPr>
          <a:xfrm>
            <a:off x="-95154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64D01B9A-8485-4571-70E9-3906544C1E7E}"/>
              </a:ext>
            </a:extLst>
          </p:cNvPr>
          <p:cNvSpPr>
            <a:spLocks/>
          </p:cNvSpPr>
          <p:nvPr/>
        </p:nvSpPr>
        <p:spPr>
          <a:xfrm>
            <a:off x="-95154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1D4FF25A-EF4B-AB34-7A59-B7FA19B72140}"/>
              </a:ext>
            </a:extLst>
          </p:cNvPr>
          <p:cNvSpPr>
            <a:spLocks/>
          </p:cNvSpPr>
          <p:nvPr/>
        </p:nvSpPr>
        <p:spPr>
          <a:xfrm>
            <a:off x="-95154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811B8FE2-DBDB-13C0-C672-4D4BAA9C167B}"/>
              </a:ext>
            </a:extLst>
          </p:cNvPr>
          <p:cNvSpPr>
            <a:spLocks/>
          </p:cNvSpPr>
          <p:nvPr/>
        </p:nvSpPr>
        <p:spPr>
          <a:xfrm>
            <a:off x="-95154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7B4A45C3-1D0C-98C3-6345-CDA560CE4E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46370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5FA77E33-D51A-1A6F-5022-F3D12ACFF6F1}"/>
              </a:ext>
            </a:extLst>
          </p:cNvPr>
          <p:cNvSpPr>
            <a:spLocks/>
          </p:cNvSpPr>
          <p:nvPr/>
        </p:nvSpPr>
        <p:spPr>
          <a:xfrm>
            <a:off x="-5005252" y="5492917"/>
            <a:ext cx="3505200" cy="4506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28765B4F-26FD-9027-6570-D35F796040C4}"/>
              </a:ext>
            </a:extLst>
          </p:cNvPr>
          <p:cNvSpPr/>
          <p:nvPr/>
        </p:nvSpPr>
        <p:spPr>
          <a:xfrm rot="5400000">
            <a:off x="1602316" y="5805915"/>
            <a:ext cx="1089713" cy="30479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!!M1">
            <a:extLst>
              <a:ext uri="{FF2B5EF4-FFF2-40B4-BE49-F238E27FC236}">
                <a16:creationId xmlns:a16="http://schemas.microsoft.com/office/drawing/2014/main" id="{12ED3CF4-FC3F-47D5-FD56-91DECC6A984F}"/>
              </a:ext>
            </a:extLst>
          </p:cNvPr>
          <p:cNvSpPr>
            <a:spLocks/>
          </p:cNvSpPr>
          <p:nvPr/>
        </p:nvSpPr>
        <p:spPr>
          <a:xfrm>
            <a:off x="7543799" y="2972117"/>
            <a:ext cx="4625432" cy="10664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B63FD397-C6F3-DE9A-230C-91921AF70F1D}"/>
              </a:ext>
            </a:extLst>
          </p:cNvPr>
          <p:cNvSpPr>
            <a:spLocks/>
          </p:cNvSpPr>
          <p:nvPr/>
        </p:nvSpPr>
        <p:spPr>
          <a:xfrm>
            <a:off x="7543800" y="838200"/>
            <a:ext cx="4625432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</a:rPr>
              <a:t>Extended Data Figure 8a: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4400" dirty="0">
                <a:solidFill>
                  <a:srgbClr val="FF0000"/>
                </a:solidFill>
              </a:rPr>
              <a:t>Global firing peaks align with DS2 events.</a:t>
            </a:r>
          </a:p>
        </p:txBody>
      </p:sp>
    </p:spTree>
    <p:extLst>
      <p:ext uri="{BB962C8B-B14F-4D97-AF65-F5344CB8AC3E}">
        <p14:creationId xmlns:p14="http://schemas.microsoft.com/office/powerpoint/2010/main" val="2498020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67394-0730-81C1-9D85-89C2AD369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077382B-6449-CA30-169C-1E7DE675C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" y="850312"/>
            <a:ext cx="7606427" cy="8197338"/>
          </a:xfrm>
          <a:prstGeom prst="rect">
            <a:avLst/>
          </a:prstGeom>
          <a:ln w="38100">
            <a:noFill/>
          </a:ln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AEE18EA-CD39-6871-F641-9C8442C9CFD9}"/>
              </a:ext>
            </a:extLst>
          </p:cNvPr>
          <p:cNvSpPr/>
          <p:nvPr/>
        </p:nvSpPr>
        <p:spPr>
          <a:xfrm>
            <a:off x="0" y="6405880"/>
            <a:ext cx="3581400" cy="2890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BBF1A566-7E56-7F87-B1EC-9BEE8638544F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8C46213C-BD0D-64C7-9140-1F05F1B3D113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D73D8D-F0FE-1196-1192-34634A321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200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02937A8C-A734-2E08-F252-90DEAB07AFE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860945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4" name="!!Freeform: Shape 28">
            <a:extLst>
              <a:ext uri="{FF2B5EF4-FFF2-40B4-BE49-F238E27FC236}">
                <a16:creationId xmlns:a16="http://schemas.microsoft.com/office/drawing/2014/main" id="{9508AA32-6753-AD8F-E73F-DF727F841B92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609600 w 14554200"/>
              <a:gd name="csY0" fmla="*/ 96318 h 6172201"/>
              <a:gd name="csX1" fmla="*/ 609600 w 14554200"/>
              <a:gd name="csY1" fmla="*/ 98848 h 6172201"/>
              <a:gd name="csX2" fmla="*/ 304800 w 14554200"/>
              <a:gd name="csY2" fmla="*/ 98848 h 6172201"/>
              <a:gd name="csX3" fmla="*/ 304800 w 14554200"/>
              <a:gd name="csY3" fmla="*/ 166991 h 6172201"/>
              <a:gd name="csX4" fmla="*/ 304800 w 14554200"/>
              <a:gd name="csY4" fmla="*/ 5866979 h 6172201"/>
              <a:gd name="csX5" fmla="*/ 609600 w 14554200"/>
              <a:gd name="csY5" fmla="*/ 5866979 h 6172201"/>
              <a:gd name="csX6" fmla="*/ 838200 w 14554200"/>
              <a:gd name="csY6" fmla="*/ 5866979 h 6172201"/>
              <a:gd name="csX7" fmla="*/ 6629401 w 14554200"/>
              <a:gd name="csY7" fmla="*/ 5866979 h 6172201"/>
              <a:gd name="csX8" fmla="*/ 7696200 w 14554200"/>
              <a:gd name="csY8" fmla="*/ 5866979 h 6172201"/>
              <a:gd name="csX9" fmla="*/ 8153400 w 14554200"/>
              <a:gd name="csY9" fmla="*/ 5866979 h 6172201"/>
              <a:gd name="csX10" fmla="*/ 8153400 w 14554200"/>
              <a:gd name="csY10" fmla="*/ 96318 h 6172201"/>
              <a:gd name="csX11" fmla="*/ 0 w 14554200"/>
              <a:gd name="csY11" fmla="*/ 0 h 6172201"/>
              <a:gd name="csX12" fmla="*/ 685800 w 14554200"/>
              <a:gd name="csY12" fmla="*/ 0 h 6172201"/>
              <a:gd name="csX13" fmla="*/ 7696200 w 14554200"/>
              <a:gd name="csY13" fmla="*/ 0 h 6172201"/>
              <a:gd name="csX14" fmla="*/ 14554200 w 14554200"/>
              <a:gd name="csY14" fmla="*/ 0 h 6172201"/>
              <a:gd name="csX15" fmla="*/ 14554200 w 14554200"/>
              <a:gd name="csY15" fmla="*/ 6172199 h 6172201"/>
              <a:gd name="csX16" fmla="*/ 13508447 w 14554200"/>
              <a:gd name="csY16" fmla="*/ 6172199 h 6172201"/>
              <a:gd name="csX17" fmla="*/ 13508447 w 14554200"/>
              <a:gd name="csY17" fmla="*/ 6172201 h 6172201"/>
              <a:gd name="csX18" fmla="*/ 8153400 w 14554200"/>
              <a:gd name="csY18" fmla="*/ 6172201 h 6172201"/>
              <a:gd name="csX19" fmla="*/ 7924800 w 14554200"/>
              <a:gd name="csY19" fmla="*/ 6172201 h 6172201"/>
              <a:gd name="csX20" fmla="*/ 228600 w 14554200"/>
              <a:gd name="csY20" fmla="*/ 6172201 h 6172201"/>
              <a:gd name="csX21" fmla="*/ 228600 w 14554200"/>
              <a:gd name="csY21" fmla="*/ 6172199 h 6172201"/>
              <a:gd name="csX22" fmla="*/ 0 w 14554200"/>
              <a:gd name="csY22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554200" h="6172201">
                <a:moveTo>
                  <a:pt x="609600" y="96318"/>
                </a:moveTo>
                <a:lnTo>
                  <a:pt x="609600" y="98848"/>
                </a:lnTo>
                <a:lnTo>
                  <a:pt x="304800" y="98848"/>
                </a:lnTo>
                <a:lnTo>
                  <a:pt x="304800" y="166991"/>
                </a:lnTo>
                <a:lnTo>
                  <a:pt x="304800" y="5866979"/>
                </a:lnTo>
                <a:lnTo>
                  <a:pt x="609600" y="5866979"/>
                </a:lnTo>
                <a:lnTo>
                  <a:pt x="838200" y="5866979"/>
                </a:lnTo>
                <a:lnTo>
                  <a:pt x="6629401" y="5866979"/>
                </a:lnTo>
                <a:lnTo>
                  <a:pt x="7696200" y="5866979"/>
                </a:lnTo>
                <a:lnTo>
                  <a:pt x="8153400" y="5866979"/>
                </a:lnTo>
                <a:lnTo>
                  <a:pt x="8153400" y="96318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8153400" y="6172201"/>
                </a:lnTo>
                <a:lnTo>
                  <a:pt x="7924800" y="6172201"/>
                </a:lnTo>
                <a:lnTo>
                  <a:pt x="228600" y="6172201"/>
                </a:lnTo>
                <a:lnTo>
                  <a:pt x="2286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N1">
            <a:extLst>
              <a:ext uri="{FF2B5EF4-FFF2-40B4-BE49-F238E27FC236}">
                <a16:creationId xmlns:a16="http://schemas.microsoft.com/office/drawing/2014/main" id="{A4D41F10-1F75-7AD7-722B-9FB9D6135085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43C2DFE6-25F3-3B9C-E099-900B76F12B88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7AB44EC3-1C65-7F0E-C614-32922304A626}"/>
              </a:ext>
            </a:extLst>
          </p:cNvPr>
          <p:cNvSpPr>
            <a:spLocks/>
          </p:cNvSpPr>
          <p:nvPr/>
        </p:nvSpPr>
        <p:spPr>
          <a:xfrm>
            <a:off x="-95250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78AEE333-D97B-6592-2EA4-4522609FD3D3}"/>
              </a:ext>
            </a:extLst>
          </p:cNvPr>
          <p:cNvSpPr>
            <a:spLocks/>
          </p:cNvSpPr>
          <p:nvPr/>
        </p:nvSpPr>
        <p:spPr>
          <a:xfrm>
            <a:off x="-95250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9A52BBAE-1459-B617-919A-9DB26DAE4D49}"/>
              </a:ext>
            </a:extLst>
          </p:cNvPr>
          <p:cNvSpPr>
            <a:spLocks/>
          </p:cNvSpPr>
          <p:nvPr/>
        </p:nvSpPr>
        <p:spPr>
          <a:xfrm>
            <a:off x="-95250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3F4EF88D-4D33-5CE0-A07A-013ED6959A95}"/>
              </a:ext>
            </a:extLst>
          </p:cNvPr>
          <p:cNvSpPr>
            <a:spLocks/>
          </p:cNvSpPr>
          <p:nvPr/>
        </p:nvSpPr>
        <p:spPr>
          <a:xfrm>
            <a:off x="-95154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0E9D3D05-4B10-4AF0-9042-3E92E995F9F0}"/>
              </a:ext>
            </a:extLst>
          </p:cNvPr>
          <p:cNvSpPr>
            <a:spLocks/>
          </p:cNvSpPr>
          <p:nvPr/>
        </p:nvSpPr>
        <p:spPr>
          <a:xfrm>
            <a:off x="-95154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87D89670-37FF-45B0-A95B-0A1548250FA2}"/>
              </a:ext>
            </a:extLst>
          </p:cNvPr>
          <p:cNvSpPr>
            <a:spLocks/>
          </p:cNvSpPr>
          <p:nvPr/>
        </p:nvSpPr>
        <p:spPr>
          <a:xfrm>
            <a:off x="-95154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9F61DA87-12AA-A850-A3D1-5C556BEC863F}"/>
              </a:ext>
            </a:extLst>
          </p:cNvPr>
          <p:cNvSpPr>
            <a:spLocks/>
          </p:cNvSpPr>
          <p:nvPr/>
        </p:nvSpPr>
        <p:spPr>
          <a:xfrm>
            <a:off x="-95154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5484CD7B-0C77-BEF3-C0EE-2610AA1BA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46370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9B36775A-6899-3FD0-EB30-0044505F2B5C}"/>
              </a:ext>
            </a:extLst>
          </p:cNvPr>
          <p:cNvSpPr>
            <a:spLocks/>
          </p:cNvSpPr>
          <p:nvPr/>
        </p:nvSpPr>
        <p:spPr>
          <a:xfrm>
            <a:off x="-5005252" y="5492917"/>
            <a:ext cx="3505200" cy="4506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0AE99C31-1860-CABC-C1D0-8F1A6A820C2F}"/>
              </a:ext>
            </a:extLst>
          </p:cNvPr>
          <p:cNvSpPr/>
          <p:nvPr/>
        </p:nvSpPr>
        <p:spPr>
          <a:xfrm rot="5400000">
            <a:off x="3020276" y="5568945"/>
            <a:ext cx="1089713" cy="71417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!!M1">
            <a:extLst>
              <a:ext uri="{FF2B5EF4-FFF2-40B4-BE49-F238E27FC236}">
                <a16:creationId xmlns:a16="http://schemas.microsoft.com/office/drawing/2014/main" id="{01AF0FBC-7BC5-2DEE-5FFE-DEB45E714810}"/>
              </a:ext>
            </a:extLst>
          </p:cNvPr>
          <p:cNvSpPr>
            <a:spLocks/>
          </p:cNvSpPr>
          <p:nvPr/>
        </p:nvSpPr>
        <p:spPr>
          <a:xfrm>
            <a:off x="7543799" y="2972117"/>
            <a:ext cx="4625432" cy="10664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65C904A6-F387-C58D-136B-2AA6C6D5C62E}"/>
              </a:ext>
            </a:extLst>
          </p:cNvPr>
          <p:cNvSpPr>
            <a:spLocks/>
          </p:cNvSpPr>
          <p:nvPr/>
        </p:nvSpPr>
        <p:spPr>
          <a:xfrm>
            <a:off x="7543800" y="838200"/>
            <a:ext cx="4625432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</a:rPr>
              <a:t>Extended Data Figure 8a: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4400" dirty="0">
                <a:solidFill>
                  <a:srgbClr val="FF0000"/>
                </a:solidFill>
              </a:rPr>
              <a:t>Global firing peaks align with DS2 events.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35D2E5A-58DF-BB6F-6A45-6471A3FAC7A1}"/>
              </a:ext>
            </a:extLst>
          </p:cNvPr>
          <p:cNvCxnSpPr/>
          <p:nvPr/>
        </p:nvCxnSpPr>
        <p:spPr>
          <a:xfrm>
            <a:off x="3396078" y="5562600"/>
            <a:ext cx="0" cy="745150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2343B0-315A-8103-751D-4C687C543766}"/>
              </a:ext>
            </a:extLst>
          </p:cNvPr>
          <p:cNvCxnSpPr/>
          <p:nvPr/>
        </p:nvCxnSpPr>
        <p:spPr>
          <a:xfrm>
            <a:off x="3506143" y="5562600"/>
            <a:ext cx="0" cy="745150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973A3D-8146-BB1F-C877-F219042DA4E7}"/>
              </a:ext>
            </a:extLst>
          </p:cNvPr>
          <p:cNvCxnSpPr/>
          <p:nvPr/>
        </p:nvCxnSpPr>
        <p:spPr>
          <a:xfrm>
            <a:off x="3616208" y="5562600"/>
            <a:ext cx="0" cy="745150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F61A4A-A9C1-2205-D98F-2A91944F081D}"/>
              </a:ext>
            </a:extLst>
          </p:cNvPr>
          <p:cNvCxnSpPr/>
          <p:nvPr/>
        </p:nvCxnSpPr>
        <p:spPr>
          <a:xfrm>
            <a:off x="3726274" y="5562600"/>
            <a:ext cx="0" cy="745150"/>
          </a:xfrm>
          <a:prstGeom prst="line">
            <a:avLst/>
          </a:prstGeom>
          <a:ln w="1905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!!Focus2">
            <a:extLst>
              <a:ext uri="{FF2B5EF4-FFF2-40B4-BE49-F238E27FC236}">
                <a16:creationId xmlns:a16="http://schemas.microsoft.com/office/drawing/2014/main" id="{189A8014-E9D7-A053-5361-BD99D8F49BC1}"/>
              </a:ext>
            </a:extLst>
          </p:cNvPr>
          <p:cNvSpPr/>
          <p:nvPr/>
        </p:nvSpPr>
        <p:spPr>
          <a:xfrm rot="5400000">
            <a:off x="2997830" y="5568946"/>
            <a:ext cx="1089713" cy="71417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894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D646D-073D-8B64-7636-5B3DFAF7F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8637484-45A6-8FF8-6713-E5A1CA056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" y="850312"/>
            <a:ext cx="7606427" cy="8197338"/>
          </a:xfrm>
          <a:prstGeom prst="rect">
            <a:avLst/>
          </a:prstGeom>
          <a:ln w="3810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F6F743A-1A3B-D0A5-8B9E-8074F9B2DA45}"/>
              </a:ext>
            </a:extLst>
          </p:cNvPr>
          <p:cNvSpPr/>
          <p:nvPr/>
        </p:nvSpPr>
        <p:spPr>
          <a:xfrm>
            <a:off x="0" y="6405880"/>
            <a:ext cx="3581400" cy="28905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D9BC86BC-FDEF-1D55-E2C1-748A68376C9F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FFF48782-6434-801F-849C-074D7313076B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B8C080-67AE-5721-E9D6-DB36227EA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200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1DC34BE7-3C67-1207-5994-85EED4A5CC9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860945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9" name="!!Freeform: Shape 28">
            <a:extLst>
              <a:ext uri="{FF2B5EF4-FFF2-40B4-BE49-F238E27FC236}">
                <a16:creationId xmlns:a16="http://schemas.microsoft.com/office/drawing/2014/main" id="{24EFB510-0856-4831-E01E-18F0957DE650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609600 w 14554200"/>
              <a:gd name="csY0" fmla="*/ 96318 h 6172201"/>
              <a:gd name="csX1" fmla="*/ 609600 w 14554200"/>
              <a:gd name="csY1" fmla="*/ 98848 h 6172201"/>
              <a:gd name="csX2" fmla="*/ 304800 w 14554200"/>
              <a:gd name="csY2" fmla="*/ 98848 h 6172201"/>
              <a:gd name="csX3" fmla="*/ 304800 w 14554200"/>
              <a:gd name="csY3" fmla="*/ 166991 h 6172201"/>
              <a:gd name="csX4" fmla="*/ 304800 w 14554200"/>
              <a:gd name="csY4" fmla="*/ 5866979 h 6172201"/>
              <a:gd name="csX5" fmla="*/ 609600 w 14554200"/>
              <a:gd name="csY5" fmla="*/ 5866979 h 6172201"/>
              <a:gd name="csX6" fmla="*/ 838200 w 14554200"/>
              <a:gd name="csY6" fmla="*/ 5866979 h 6172201"/>
              <a:gd name="csX7" fmla="*/ 6629401 w 14554200"/>
              <a:gd name="csY7" fmla="*/ 5866979 h 6172201"/>
              <a:gd name="csX8" fmla="*/ 7696200 w 14554200"/>
              <a:gd name="csY8" fmla="*/ 5866979 h 6172201"/>
              <a:gd name="csX9" fmla="*/ 8153400 w 14554200"/>
              <a:gd name="csY9" fmla="*/ 5866979 h 6172201"/>
              <a:gd name="csX10" fmla="*/ 8153400 w 14554200"/>
              <a:gd name="csY10" fmla="*/ 96318 h 6172201"/>
              <a:gd name="csX11" fmla="*/ 0 w 14554200"/>
              <a:gd name="csY11" fmla="*/ 0 h 6172201"/>
              <a:gd name="csX12" fmla="*/ 685800 w 14554200"/>
              <a:gd name="csY12" fmla="*/ 0 h 6172201"/>
              <a:gd name="csX13" fmla="*/ 7696200 w 14554200"/>
              <a:gd name="csY13" fmla="*/ 0 h 6172201"/>
              <a:gd name="csX14" fmla="*/ 14554200 w 14554200"/>
              <a:gd name="csY14" fmla="*/ 0 h 6172201"/>
              <a:gd name="csX15" fmla="*/ 14554200 w 14554200"/>
              <a:gd name="csY15" fmla="*/ 6172199 h 6172201"/>
              <a:gd name="csX16" fmla="*/ 13508447 w 14554200"/>
              <a:gd name="csY16" fmla="*/ 6172199 h 6172201"/>
              <a:gd name="csX17" fmla="*/ 13508447 w 14554200"/>
              <a:gd name="csY17" fmla="*/ 6172201 h 6172201"/>
              <a:gd name="csX18" fmla="*/ 8153400 w 14554200"/>
              <a:gd name="csY18" fmla="*/ 6172201 h 6172201"/>
              <a:gd name="csX19" fmla="*/ 7924800 w 14554200"/>
              <a:gd name="csY19" fmla="*/ 6172201 h 6172201"/>
              <a:gd name="csX20" fmla="*/ 228600 w 14554200"/>
              <a:gd name="csY20" fmla="*/ 6172201 h 6172201"/>
              <a:gd name="csX21" fmla="*/ 228600 w 14554200"/>
              <a:gd name="csY21" fmla="*/ 6172199 h 6172201"/>
              <a:gd name="csX22" fmla="*/ 0 w 14554200"/>
              <a:gd name="csY22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4554200" h="6172201">
                <a:moveTo>
                  <a:pt x="609600" y="96318"/>
                </a:moveTo>
                <a:lnTo>
                  <a:pt x="609600" y="98848"/>
                </a:lnTo>
                <a:lnTo>
                  <a:pt x="304800" y="98848"/>
                </a:lnTo>
                <a:lnTo>
                  <a:pt x="304800" y="166991"/>
                </a:lnTo>
                <a:lnTo>
                  <a:pt x="304800" y="5866979"/>
                </a:lnTo>
                <a:lnTo>
                  <a:pt x="609600" y="5866979"/>
                </a:lnTo>
                <a:lnTo>
                  <a:pt x="838200" y="5866979"/>
                </a:lnTo>
                <a:lnTo>
                  <a:pt x="6629401" y="5866979"/>
                </a:lnTo>
                <a:lnTo>
                  <a:pt x="7696200" y="5866979"/>
                </a:lnTo>
                <a:lnTo>
                  <a:pt x="8153400" y="5866979"/>
                </a:lnTo>
                <a:lnTo>
                  <a:pt x="8153400" y="96318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8153400" y="6172201"/>
                </a:lnTo>
                <a:lnTo>
                  <a:pt x="7924800" y="6172201"/>
                </a:lnTo>
                <a:lnTo>
                  <a:pt x="228600" y="6172201"/>
                </a:lnTo>
                <a:lnTo>
                  <a:pt x="2286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N1">
            <a:extLst>
              <a:ext uri="{FF2B5EF4-FFF2-40B4-BE49-F238E27FC236}">
                <a16:creationId xmlns:a16="http://schemas.microsoft.com/office/drawing/2014/main" id="{A482B225-720C-6177-398F-61F67C6C7B08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B1BC13EC-8417-C800-3089-A25A17EAF8F9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7EB2B4E3-C216-D5B4-1A02-2C54F04F2619}"/>
              </a:ext>
            </a:extLst>
          </p:cNvPr>
          <p:cNvSpPr>
            <a:spLocks/>
          </p:cNvSpPr>
          <p:nvPr/>
        </p:nvSpPr>
        <p:spPr>
          <a:xfrm>
            <a:off x="-95250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7942EFE0-8DF0-38B4-CFC3-8AA70F023D92}"/>
              </a:ext>
            </a:extLst>
          </p:cNvPr>
          <p:cNvSpPr>
            <a:spLocks/>
          </p:cNvSpPr>
          <p:nvPr/>
        </p:nvSpPr>
        <p:spPr>
          <a:xfrm>
            <a:off x="-95250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5E7E1632-33C8-E6CB-BF0C-EFB1A3CB8688}"/>
              </a:ext>
            </a:extLst>
          </p:cNvPr>
          <p:cNvSpPr>
            <a:spLocks/>
          </p:cNvSpPr>
          <p:nvPr/>
        </p:nvSpPr>
        <p:spPr>
          <a:xfrm>
            <a:off x="-95250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1E36C05D-D303-993B-E885-7148E5BBCD76}"/>
              </a:ext>
            </a:extLst>
          </p:cNvPr>
          <p:cNvSpPr>
            <a:spLocks/>
          </p:cNvSpPr>
          <p:nvPr/>
        </p:nvSpPr>
        <p:spPr>
          <a:xfrm>
            <a:off x="-95154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F7C39AF9-8235-F7DB-C933-DF0028D2C05F}"/>
              </a:ext>
            </a:extLst>
          </p:cNvPr>
          <p:cNvSpPr>
            <a:spLocks/>
          </p:cNvSpPr>
          <p:nvPr/>
        </p:nvSpPr>
        <p:spPr>
          <a:xfrm>
            <a:off x="-95154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BD051C3B-7C14-1025-B510-1B7F044DEED7}"/>
              </a:ext>
            </a:extLst>
          </p:cNvPr>
          <p:cNvSpPr>
            <a:spLocks/>
          </p:cNvSpPr>
          <p:nvPr/>
        </p:nvSpPr>
        <p:spPr>
          <a:xfrm>
            <a:off x="-95154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214C55CC-A5AB-E37E-51EE-C511F1C98A0C}"/>
              </a:ext>
            </a:extLst>
          </p:cNvPr>
          <p:cNvSpPr>
            <a:spLocks/>
          </p:cNvSpPr>
          <p:nvPr/>
        </p:nvSpPr>
        <p:spPr>
          <a:xfrm>
            <a:off x="-95154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DB1D3DB1-B889-6DD0-64A9-5502C5376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46370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D3945FF1-44A7-803F-51F6-77AB23527E40}"/>
              </a:ext>
            </a:extLst>
          </p:cNvPr>
          <p:cNvSpPr>
            <a:spLocks/>
          </p:cNvSpPr>
          <p:nvPr/>
        </p:nvSpPr>
        <p:spPr>
          <a:xfrm>
            <a:off x="-5005252" y="5492917"/>
            <a:ext cx="3505200" cy="4506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BEC6C564-56D0-BD08-B28B-421BB3670A3C}"/>
              </a:ext>
            </a:extLst>
          </p:cNvPr>
          <p:cNvSpPr/>
          <p:nvPr/>
        </p:nvSpPr>
        <p:spPr>
          <a:xfrm rot="5400000">
            <a:off x="1018357" y="5319817"/>
            <a:ext cx="1447801" cy="71417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!!M1">
            <a:extLst>
              <a:ext uri="{FF2B5EF4-FFF2-40B4-BE49-F238E27FC236}">
                <a16:creationId xmlns:a16="http://schemas.microsoft.com/office/drawing/2014/main" id="{1E255A54-95D4-8167-9D0B-6D1AC560FDC7}"/>
              </a:ext>
            </a:extLst>
          </p:cNvPr>
          <p:cNvSpPr>
            <a:spLocks/>
          </p:cNvSpPr>
          <p:nvPr/>
        </p:nvSpPr>
        <p:spPr>
          <a:xfrm>
            <a:off x="7543799" y="2972117"/>
            <a:ext cx="4625432" cy="10664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6C69CFFF-4D59-D562-7592-C3D24273434B}"/>
              </a:ext>
            </a:extLst>
          </p:cNvPr>
          <p:cNvSpPr>
            <a:spLocks/>
          </p:cNvSpPr>
          <p:nvPr/>
        </p:nvSpPr>
        <p:spPr>
          <a:xfrm>
            <a:off x="7543800" y="838200"/>
            <a:ext cx="4625432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</a:rPr>
              <a:t>Extended Data Figure 8a: 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4400" dirty="0">
                <a:solidFill>
                  <a:srgbClr val="FF0000"/>
                </a:solidFill>
              </a:rPr>
              <a:t>Global firing peaks align with DS2 events.</a:t>
            </a:r>
          </a:p>
        </p:txBody>
      </p:sp>
      <p:sp>
        <p:nvSpPr>
          <p:cNvPr id="23" name="!!Focus2">
            <a:extLst>
              <a:ext uri="{FF2B5EF4-FFF2-40B4-BE49-F238E27FC236}">
                <a16:creationId xmlns:a16="http://schemas.microsoft.com/office/drawing/2014/main" id="{F28633F0-346E-312E-1C9B-CE3605C35202}"/>
              </a:ext>
            </a:extLst>
          </p:cNvPr>
          <p:cNvSpPr/>
          <p:nvPr/>
        </p:nvSpPr>
        <p:spPr>
          <a:xfrm rot="5400000">
            <a:off x="4495694" y="4831540"/>
            <a:ext cx="1447801" cy="1627556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!!M1">
            <a:extLst>
              <a:ext uri="{FF2B5EF4-FFF2-40B4-BE49-F238E27FC236}">
                <a16:creationId xmlns:a16="http://schemas.microsoft.com/office/drawing/2014/main" id="{16C42DA8-7395-E4BD-69AB-6B7F70B9A633}"/>
              </a:ext>
            </a:extLst>
          </p:cNvPr>
          <p:cNvSpPr>
            <a:spLocks/>
          </p:cNvSpPr>
          <p:nvPr/>
        </p:nvSpPr>
        <p:spPr>
          <a:xfrm>
            <a:off x="12420600" y="1716835"/>
            <a:ext cx="4930231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Extended Data Figure 8b:</a:t>
            </a:r>
            <a:r>
              <a:rPr lang="en-US" sz="4400" dirty="0">
                <a:solidFill>
                  <a:srgbClr val="FF0000"/>
                </a:solidFill>
              </a:rPr>
              <a:t> Global synchrony occurs predominantly during rest.</a:t>
            </a:r>
          </a:p>
        </p:txBody>
      </p:sp>
    </p:spTree>
    <p:extLst>
      <p:ext uri="{BB962C8B-B14F-4D97-AF65-F5344CB8AC3E}">
        <p14:creationId xmlns:p14="http://schemas.microsoft.com/office/powerpoint/2010/main" val="3311253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9F66-E171-3D15-89D9-66DD41FC3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487D6CA-EF7B-1B71-E85B-7DDE07C00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09516" y="-9584445"/>
            <a:ext cx="13891315" cy="14970473"/>
          </a:xfrm>
          <a:prstGeom prst="rect">
            <a:avLst/>
          </a:prstGeom>
          <a:ln w="38100"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EC79344-A875-F6DD-1C53-8D3681A42742}"/>
              </a:ext>
            </a:extLst>
          </p:cNvPr>
          <p:cNvSpPr/>
          <p:nvPr/>
        </p:nvSpPr>
        <p:spPr>
          <a:xfrm>
            <a:off x="-6858000" y="762203"/>
            <a:ext cx="6616214" cy="39682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493D57-E887-8507-E103-8EC9DB60D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20052" y="838199"/>
            <a:ext cx="3458154" cy="318212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!!P1">
            <a:extLst>
              <a:ext uri="{FF2B5EF4-FFF2-40B4-BE49-F238E27FC236}">
                <a16:creationId xmlns:a16="http://schemas.microsoft.com/office/drawing/2014/main" id="{DD0D693D-EDFD-A85B-7681-C42A711FEBF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4860945" y="1406970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!!Freeform: Shape 27">
            <a:extLst>
              <a:ext uri="{FF2B5EF4-FFF2-40B4-BE49-F238E27FC236}">
                <a16:creationId xmlns:a16="http://schemas.microsoft.com/office/drawing/2014/main" id="{AF270E48-882E-1379-E22B-EDA2896D1A7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304800 w 14554200"/>
              <a:gd name="csY0" fmla="*/ 98848 h 6172201"/>
              <a:gd name="csX1" fmla="*/ 304800 w 14554200"/>
              <a:gd name="csY1" fmla="*/ 166991 h 6172201"/>
              <a:gd name="csX2" fmla="*/ 304800 w 14554200"/>
              <a:gd name="csY2" fmla="*/ 5866979 h 6172201"/>
              <a:gd name="csX3" fmla="*/ 838200 w 14554200"/>
              <a:gd name="csY3" fmla="*/ 5866979 h 6172201"/>
              <a:gd name="csX4" fmla="*/ 6629401 w 14554200"/>
              <a:gd name="csY4" fmla="*/ 5866979 h 6172201"/>
              <a:gd name="csX5" fmla="*/ 7696200 w 14554200"/>
              <a:gd name="csY5" fmla="*/ 5866979 h 6172201"/>
              <a:gd name="csX6" fmla="*/ 7696200 w 14554200"/>
              <a:gd name="csY6" fmla="*/ 166991 h 6172201"/>
              <a:gd name="csX7" fmla="*/ 7696200 w 14554200"/>
              <a:gd name="csY7" fmla="*/ 98848 h 6172201"/>
              <a:gd name="csX8" fmla="*/ 0 w 14554200"/>
              <a:gd name="csY8" fmla="*/ 0 h 6172201"/>
              <a:gd name="csX9" fmla="*/ 685800 w 14554200"/>
              <a:gd name="csY9" fmla="*/ 0 h 6172201"/>
              <a:gd name="csX10" fmla="*/ 7696200 w 14554200"/>
              <a:gd name="csY10" fmla="*/ 0 h 6172201"/>
              <a:gd name="csX11" fmla="*/ 14554200 w 14554200"/>
              <a:gd name="csY11" fmla="*/ 0 h 6172201"/>
              <a:gd name="csX12" fmla="*/ 14554200 w 14554200"/>
              <a:gd name="csY12" fmla="*/ 6172199 h 6172201"/>
              <a:gd name="csX13" fmla="*/ 13508447 w 14554200"/>
              <a:gd name="csY13" fmla="*/ 6172199 h 6172201"/>
              <a:gd name="csX14" fmla="*/ 13508447 w 14554200"/>
              <a:gd name="csY14" fmla="*/ 6172201 h 6172201"/>
              <a:gd name="csX15" fmla="*/ 8153400 w 14554200"/>
              <a:gd name="csY15" fmla="*/ 6172201 h 6172201"/>
              <a:gd name="csX16" fmla="*/ 7924800 w 14554200"/>
              <a:gd name="csY16" fmla="*/ 6172201 h 6172201"/>
              <a:gd name="csX17" fmla="*/ 228600 w 14554200"/>
              <a:gd name="csY17" fmla="*/ 6172201 h 6172201"/>
              <a:gd name="csX18" fmla="*/ 228600 w 14554200"/>
              <a:gd name="csY18" fmla="*/ 6172199 h 6172201"/>
              <a:gd name="csX19" fmla="*/ 0 w 14554200"/>
              <a:gd name="csY19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4554200" h="6172201">
                <a:moveTo>
                  <a:pt x="304800" y="98848"/>
                </a:moveTo>
                <a:lnTo>
                  <a:pt x="304800" y="166991"/>
                </a:lnTo>
                <a:lnTo>
                  <a:pt x="304800" y="5866979"/>
                </a:lnTo>
                <a:lnTo>
                  <a:pt x="838200" y="5866979"/>
                </a:lnTo>
                <a:lnTo>
                  <a:pt x="6629401" y="5866979"/>
                </a:lnTo>
                <a:lnTo>
                  <a:pt x="7696200" y="5866979"/>
                </a:lnTo>
                <a:lnTo>
                  <a:pt x="7696200" y="166991"/>
                </a:lnTo>
                <a:lnTo>
                  <a:pt x="7696200" y="98848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8153400" y="6172201"/>
                </a:lnTo>
                <a:lnTo>
                  <a:pt x="7924800" y="6172201"/>
                </a:lnTo>
                <a:lnTo>
                  <a:pt x="228600" y="6172201"/>
                </a:lnTo>
                <a:lnTo>
                  <a:pt x="2286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N1">
            <a:extLst>
              <a:ext uri="{FF2B5EF4-FFF2-40B4-BE49-F238E27FC236}">
                <a16:creationId xmlns:a16="http://schemas.microsoft.com/office/drawing/2014/main" id="{44F565E8-3AC3-03BE-4A46-70DE813633D8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618B21EF-216B-E243-156E-A7E13B6991FE}"/>
              </a:ext>
            </a:extLst>
          </p:cNvPr>
          <p:cNvSpPr>
            <a:spLocks/>
          </p:cNvSpPr>
          <p:nvPr/>
        </p:nvSpPr>
        <p:spPr>
          <a:xfrm>
            <a:off x="-9427903" y="6439793"/>
            <a:ext cx="917451" cy="1129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7FF87323-C050-C70D-6D79-2DD36D917788}"/>
              </a:ext>
            </a:extLst>
          </p:cNvPr>
          <p:cNvSpPr>
            <a:spLocks/>
          </p:cNvSpPr>
          <p:nvPr/>
        </p:nvSpPr>
        <p:spPr>
          <a:xfrm>
            <a:off x="-9525000" y="4114800"/>
            <a:ext cx="4259594" cy="2978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BC3866A0-4ED3-1572-7C7C-086E8CE605F9}"/>
              </a:ext>
            </a:extLst>
          </p:cNvPr>
          <p:cNvSpPr>
            <a:spLocks/>
          </p:cNvSpPr>
          <p:nvPr/>
        </p:nvSpPr>
        <p:spPr>
          <a:xfrm>
            <a:off x="-9525000" y="4502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EEC9597B-B596-F897-3A18-DAE8C8A170B8}"/>
              </a:ext>
            </a:extLst>
          </p:cNvPr>
          <p:cNvSpPr>
            <a:spLocks/>
          </p:cNvSpPr>
          <p:nvPr/>
        </p:nvSpPr>
        <p:spPr>
          <a:xfrm>
            <a:off x="-9525000" y="4883317"/>
            <a:ext cx="4259594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32613BEA-37A6-4D37-F6DB-39EF0404ABD1}"/>
              </a:ext>
            </a:extLst>
          </p:cNvPr>
          <p:cNvSpPr>
            <a:spLocks/>
          </p:cNvSpPr>
          <p:nvPr/>
        </p:nvSpPr>
        <p:spPr>
          <a:xfrm>
            <a:off x="-9515433" y="5264317"/>
            <a:ext cx="424747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C42415B5-8F36-6088-51F2-DE53D8FC28BD}"/>
              </a:ext>
            </a:extLst>
          </p:cNvPr>
          <p:cNvSpPr>
            <a:spLocks/>
          </p:cNvSpPr>
          <p:nvPr/>
        </p:nvSpPr>
        <p:spPr>
          <a:xfrm>
            <a:off x="-9515433" y="5645317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26CEE2D7-549D-27CA-A429-D2E291D69CB0}"/>
              </a:ext>
            </a:extLst>
          </p:cNvPr>
          <p:cNvSpPr>
            <a:spLocks/>
          </p:cNvSpPr>
          <p:nvPr/>
        </p:nvSpPr>
        <p:spPr>
          <a:xfrm>
            <a:off x="-9515433" y="6019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62615338-43B0-4FC8-C628-A9B9255E4759}"/>
              </a:ext>
            </a:extLst>
          </p:cNvPr>
          <p:cNvSpPr>
            <a:spLocks/>
          </p:cNvSpPr>
          <p:nvPr/>
        </p:nvSpPr>
        <p:spPr>
          <a:xfrm>
            <a:off x="-9515433" y="6400800"/>
            <a:ext cx="4261538" cy="2982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89D25C2E-7178-F79B-7C27-B26956DBD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46370" y="1406862"/>
            <a:ext cx="3247558" cy="39682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796AB13E-CD7A-466B-81DA-5F6AACAFF2B1}"/>
              </a:ext>
            </a:extLst>
          </p:cNvPr>
          <p:cNvSpPr>
            <a:spLocks/>
          </p:cNvSpPr>
          <p:nvPr/>
        </p:nvSpPr>
        <p:spPr>
          <a:xfrm>
            <a:off x="-5005252" y="5492917"/>
            <a:ext cx="3505200" cy="4506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9E1E8EE4-AA7E-09D5-24B5-24C201B8AB7E}"/>
              </a:ext>
            </a:extLst>
          </p:cNvPr>
          <p:cNvSpPr/>
          <p:nvPr/>
        </p:nvSpPr>
        <p:spPr>
          <a:xfrm rot="5400000">
            <a:off x="2054142" y="2365458"/>
            <a:ext cx="3435516" cy="83820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!!M1">
            <a:extLst>
              <a:ext uri="{FF2B5EF4-FFF2-40B4-BE49-F238E27FC236}">
                <a16:creationId xmlns:a16="http://schemas.microsoft.com/office/drawing/2014/main" id="{310506AB-85EA-B50B-3A33-DC5DB78527ED}"/>
              </a:ext>
            </a:extLst>
          </p:cNvPr>
          <p:cNvSpPr>
            <a:spLocks/>
          </p:cNvSpPr>
          <p:nvPr/>
        </p:nvSpPr>
        <p:spPr>
          <a:xfrm>
            <a:off x="7239000" y="1101133"/>
            <a:ext cx="4930231" cy="1520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52649C2A-7203-E016-7032-9C06174306EC}"/>
              </a:ext>
            </a:extLst>
          </p:cNvPr>
          <p:cNvSpPr>
            <a:spLocks/>
          </p:cNvSpPr>
          <p:nvPr/>
        </p:nvSpPr>
        <p:spPr>
          <a:xfrm>
            <a:off x="7239001" y="838201"/>
            <a:ext cx="4930231" cy="78648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4400" dirty="0">
                <a:solidFill>
                  <a:schemeClr val="bg1"/>
                </a:solidFill>
              </a:rPr>
              <a:t>Extended Data Figure 8a:  Global firing peaks align with DS2 events.</a:t>
            </a:r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127B852A-22BE-7900-52B8-DFE68C08D6B0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5EF0450C-57F0-9F6A-CF59-682DC10378E6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sp>
        <p:nvSpPr>
          <p:cNvPr id="2" name="!!M1">
            <a:extLst>
              <a:ext uri="{FF2B5EF4-FFF2-40B4-BE49-F238E27FC236}">
                <a16:creationId xmlns:a16="http://schemas.microsoft.com/office/drawing/2014/main" id="{6D8D0002-50A3-610A-B9C3-16570BDC5FAD}"/>
              </a:ext>
            </a:extLst>
          </p:cNvPr>
          <p:cNvSpPr>
            <a:spLocks/>
          </p:cNvSpPr>
          <p:nvPr/>
        </p:nvSpPr>
        <p:spPr>
          <a:xfrm>
            <a:off x="13891169" y="3872438"/>
            <a:ext cx="4930231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Extended Data Figure 8d:</a:t>
            </a:r>
            <a:r>
              <a:rPr lang="en-US" sz="4400" dirty="0">
                <a:solidFill>
                  <a:srgbClr val="FF0000"/>
                </a:solidFill>
              </a:rPr>
              <a:t> DS2 specifically predicts brain-wide synchrony.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B3716B90-E0A1-D2C4-4FB6-8D2FCAEB867A}"/>
              </a:ext>
            </a:extLst>
          </p:cNvPr>
          <p:cNvSpPr>
            <a:spLocks/>
          </p:cNvSpPr>
          <p:nvPr/>
        </p:nvSpPr>
        <p:spPr>
          <a:xfrm>
            <a:off x="7282089" y="1797639"/>
            <a:ext cx="4930231" cy="197426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Extended Data Figure 8d</a:t>
            </a:r>
            <a:r>
              <a:rPr lang="en-US" sz="4400" dirty="0">
                <a:solidFill>
                  <a:srgbClr val="FF0000"/>
                </a:solidFill>
              </a:rPr>
              <a:t> DS2 specifically predicts brain-wide synchrony.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5655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5164E-F9E1-217A-87F2-9491482C5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46E625E-44BE-441B-B111-FEDBDFF41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6" y="762000"/>
            <a:ext cx="3761069" cy="40532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8" name="!!Freeform: Shape 27" hidden="1">
            <a:extLst>
              <a:ext uri="{FF2B5EF4-FFF2-40B4-BE49-F238E27FC236}">
                <a16:creationId xmlns:a16="http://schemas.microsoft.com/office/drawing/2014/main" id="{DFA709EE-DF58-D6BE-A62D-E213EBCD2795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304800 w 14554200"/>
              <a:gd name="csY0" fmla="*/ 98848 h 6172201"/>
              <a:gd name="csX1" fmla="*/ 304800 w 14554200"/>
              <a:gd name="csY1" fmla="*/ 166991 h 6172201"/>
              <a:gd name="csX2" fmla="*/ 304800 w 14554200"/>
              <a:gd name="csY2" fmla="*/ 5866979 h 6172201"/>
              <a:gd name="csX3" fmla="*/ 838200 w 14554200"/>
              <a:gd name="csY3" fmla="*/ 5866979 h 6172201"/>
              <a:gd name="csX4" fmla="*/ 6629401 w 14554200"/>
              <a:gd name="csY4" fmla="*/ 5866979 h 6172201"/>
              <a:gd name="csX5" fmla="*/ 7696200 w 14554200"/>
              <a:gd name="csY5" fmla="*/ 5866979 h 6172201"/>
              <a:gd name="csX6" fmla="*/ 7696200 w 14554200"/>
              <a:gd name="csY6" fmla="*/ 166991 h 6172201"/>
              <a:gd name="csX7" fmla="*/ 7696200 w 14554200"/>
              <a:gd name="csY7" fmla="*/ 98848 h 6172201"/>
              <a:gd name="csX8" fmla="*/ 0 w 14554200"/>
              <a:gd name="csY8" fmla="*/ 0 h 6172201"/>
              <a:gd name="csX9" fmla="*/ 685800 w 14554200"/>
              <a:gd name="csY9" fmla="*/ 0 h 6172201"/>
              <a:gd name="csX10" fmla="*/ 7696200 w 14554200"/>
              <a:gd name="csY10" fmla="*/ 0 h 6172201"/>
              <a:gd name="csX11" fmla="*/ 14554200 w 14554200"/>
              <a:gd name="csY11" fmla="*/ 0 h 6172201"/>
              <a:gd name="csX12" fmla="*/ 14554200 w 14554200"/>
              <a:gd name="csY12" fmla="*/ 6172199 h 6172201"/>
              <a:gd name="csX13" fmla="*/ 13508447 w 14554200"/>
              <a:gd name="csY13" fmla="*/ 6172199 h 6172201"/>
              <a:gd name="csX14" fmla="*/ 13508447 w 14554200"/>
              <a:gd name="csY14" fmla="*/ 6172201 h 6172201"/>
              <a:gd name="csX15" fmla="*/ 8153400 w 14554200"/>
              <a:gd name="csY15" fmla="*/ 6172201 h 6172201"/>
              <a:gd name="csX16" fmla="*/ 7924800 w 14554200"/>
              <a:gd name="csY16" fmla="*/ 6172201 h 6172201"/>
              <a:gd name="csX17" fmla="*/ 228600 w 14554200"/>
              <a:gd name="csY17" fmla="*/ 6172201 h 6172201"/>
              <a:gd name="csX18" fmla="*/ 228600 w 14554200"/>
              <a:gd name="csY18" fmla="*/ 6172199 h 6172201"/>
              <a:gd name="csX19" fmla="*/ 0 w 14554200"/>
              <a:gd name="csY19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4554200" h="6172201">
                <a:moveTo>
                  <a:pt x="304800" y="98848"/>
                </a:moveTo>
                <a:lnTo>
                  <a:pt x="304800" y="166991"/>
                </a:lnTo>
                <a:lnTo>
                  <a:pt x="304800" y="5866979"/>
                </a:lnTo>
                <a:lnTo>
                  <a:pt x="838200" y="5866979"/>
                </a:lnTo>
                <a:lnTo>
                  <a:pt x="6629401" y="5866979"/>
                </a:lnTo>
                <a:lnTo>
                  <a:pt x="7696200" y="5866979"/>
                </a:lnTo>
                <a:lnTo>
                  <a:pt x="7696200" y="166991"/>
                </a:lnTo>
                <a:lnTo>
                  <a:pt x="7696200" y="98848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8153400" y="6172201"/>
                </a:lnTo>
                <a:lnTo>
                  <a:pt x="7924800" y="6172201"/>
                </a:lnTo>
                <a:lnTo>
                  <a:pt x="228600" y="6172201"/>
                </a:lnTo>
                <a:lnTo>
                  <a:pt x="2286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BA6B38-4DB5-FA6B-229F-3D3DA20D9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159" y="782305"/>
            <a:ext cx="3143427" cy="289251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!!N1">
            <a:extLst>
              <a:ext uri="{FF2B5EF4-FFF2-40B4-BE49-F238E27FC236}">
                <a16:creationId xmlns:a16="http://schemas.microsoft.com/office/drawing/2014/main" id="{0871A0D1-8C75-6FC2-8127-2549D47B915A}"/>
              </a:ext>
            </a:extLst>
          </p:cNvPr>
          <p:cNvSpPr>
            <a:spLocks/>
          </p:cNvSpPr>
          <p:nvPr/>
        </p:nvSpPr>
        <p:spPr>
          <a:xfrm>
            <a:off x="149325" y="5934147"/>
            <a:ext cx="833954" cy="10270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3CD8AF84-26CD-5BF7-8E0C-204071AE0C3E}"/>
              </a:ext>
            </a:extLst>
          </p:cNvPr>
          <p:cNvSpPr>
            <a:spLocks/>
          </p:cNvSpPr>
          <p:nvPr/>
        </p:nvSpPr>
        <p:spPr>
          <a:xfrm>
            <a:off x="149325" y="5934147"/>
            <a:ext cx="833954" cy="10270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4A96A22B-60B8-6BD7-B0C2-66DA5CC7749A}"/>
              </a:ext>
            </a:extLst>
          </p:cNvPr>
          <p:cNvSpPr>
            <a:spLocks/>
          </p:cNvSpPr>
          <p:nvPr/>
        </p:nvSpPr>
        <p:spPr>
          <a:xfrm>
            <a:off x="61065" y="3820752"/>
            <a:ext cx="3871928" cy="27076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4EDE7624-BC25-40A9-A608-D47A3AB5643E}"/>
              </a:ext>
            </a:extLst>
          </p:cNvPr>
          <p:cNvSpPr>
            <a:spLocks/>
          </p:cNvSpPr>
          <p:nvPr/>
        </p:nvSpPr>
        <p:spPr>
          <a:xfrm>
            <a:off x="61065" y="4173001"/>
            <a:ext cx="3871928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E941DAA6-AA52-4DD8-92DD-FD560ADFB2C0}"/>
              </a:ext>
            </a:extLst>
          </p:cNvPr>
          <p:cNvSpPr>
            <a:spLocks/>
          </p:cNvSpPr>
          <p:nvPr/>
        </p:nvSpPr>
        <p:spPr>
          <a:xfrm>
            <a:off x="61065" y="4519326"/>
            <a:ext cx="3871928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421FD74A-275A-16D9-EF12-D8974BB1FA55}"/>
              </a:ext>
            </a:extLst>
          </p:cNvPr>
          <p:cNvSpPr>
            <a:spLocks/>
          </p:cNvSpPr>
          <p:nvPr/>
        </p:nvSpPr>
        <p:spPr>
          <a:xfrm>
            <a:off x="69761" y="4865651"/>
            <a:ext cx="3860914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3C4BA799-101F-5667-6782-501B0E4E4371}"/>
              </a:ext>
            </a:extLst>
          </p:cNvPr>
          <p:cNvSpPr>
            <a:spLocks/>
          </p:cNvSpPr>
          <p:nvPr/>
        </p:nvSpPr>
        <p:spPr>
          <a:xfrm>
            <a:off x="69761" y="5211976"/>
            <a:ext cx="3873695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7560611F-8110-AA26-5DB1-1B61E46D2D88}"/>
              </a:ext>
            </a:extLst>
          </p:cNvPr>
          <p:cNvSpPr>
            <a:spLocks/>
          </p:cNvSpPr>
          <p:nvPr/>
        </p:nvSpPr>
        <p:spPr>
          <a:xfrm>
            <a:off x="69761" y="5552378"/>
            <a:ext cx="3873695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29CA56FE-ADC1-4D24-29C6-0BC0FCEBA54A}"/>
              </a:ext>
            </a:extLst>
          </p:cNvPr>
          <p:cNvSpPr>
            <a:spLocks/>
          </p:cNvSpPr>
          <p:nvPr/>
        </p:nvSpPr>
        <p:spPr>
          <a:xfrm>
            <a:off x="69761" y="5898703"/>
            <a:ext cx="3873695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D2E38448-BDC0-62CD-BA31-F8CBDFA2A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962" y="762000"/>
            <a:ext cx="3071579" cy="375324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E32F8DBA-A5D4-E821-122A-DEAE4AF4299D}"/>
              </a:ext>
            </a:extLst>
          </p:cNvPr>
          <p:cNvSpPr>
            <a:spLocks/>
          </p:cNvSpPr>
          <p:nvPr/>
        </p:nvSpPr>
        <p:spPr>
          <a:xfrm>
            <a:off x="4212722" y="4717494"/>
            <a:ext cx="2873878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7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0B5F28B4-D6D7-E02F-507A-2F3FB58206E5}"/>
              </a:ext>
            </a:extLst>
          </p:cNvPr>
          <p:cNvSpPr/>
          <p:nvPr/>
        </p:nvSpPr>
        <p:spPr>
          <a:xfrm rot="5400000">
            <a:off x="-9665092" y="-2750123"/>
            <a:ext cx="2997326" cy="1143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57E3167C-67F2-0598-FC86-9A5FD60A9DF1}"/>
              </a:ext>
            </a:extLst>
          </p:cNvPr>
          <p:cNvSpPr/>
          <p:nvPr/>
        </p:nvSpPr>
        <p:spPr>
          <a:xfrm>
            <a:off x="-228600" y="0"/>
            <a:ext cx="12877799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1D600F5C-86B1-09FB-1C3C-235F6DDB15FD}"/>
              </a:ext>
            </a:extLst>
          </p:cNvPr>
          <p:cNvSpPr txBox="1">
            <a:spLocks/>
          </p:cNvSpPr>
          <p:nvPr/>
        </p:nvSpPr>
        <p:spPr>
          <a:xfrm>
            <a:off x="152400" y="0"/>
            <a:ext cx="9372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>
                <a:solidFill>
                  <a:schemeClr val="bg1"/>
                </a:solidFill>
              </a:rPr>
              <a:t>DS2 Is A Global Spike</a:t>
            </a:r>
          </a:p>
        </p:txBody>
      </p:sp>
      <p:sp>
        <p:nvSpPr>
          <p:cNvPr id="25" name="!!M1">
            <a:extLst>
              <a:ext uri="{FF2B5EF4-FFF2-40B4-BE49-F238E27FC236}">
                <a16:creationId xmlns:a16="http://schemas.microsoft.com/office/drawing/2014/main" id="{0FC6E18D-AB3D-33E0-78B8-DC4FAF612D75}"/>
              </a:ext>
            </a:extLst>
          </p:cNvPr>
          <p:cNvSpPr>
            <a:spLocks/>
          </p:cNvSpPr>
          <p:nvPr/>
        </p:nvSpPr>
        <p:spPr>
          <a:xfrm>
            <a:off x="8242305" y="5014002"/>
            <a:ext cx="2831213" cy="8733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C22500FB-2F52-E6DA-889C-23FCC935A34C}"/>
              </a:ext>
            </a:extLst>
          </p:cNvPr>
          <p:cNvSpPr>
            <a:spLocks/>
          </p:cNvSpPr>
          <p:nvPr/>
        </p:nvSpPr>
        <p:spPr>
          <a:xfrm>
            <a:off x="7832399" y="4939242"/>
            <a:ext cx="3521401" cy="31855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Figure 8a:  Global firing peaks align with DS2 events.</a:t>
            </a:r>
          </a:p>
        </p:txBody>
      </p:sp>
      <p:sp>
        <p:nvSpPr>
          <p:cNvPr id="2" name="!!M1">
            <a:extLst>
              <a:ext uri="{FF2B5EF4-FFF2-40B4-BE49-F238E27FC236}">
                <a16:creationId xmlns:a16="http://schemas.microsoft.com/office/drawing/2014/main" id="{441C0F37-71A0-0EBD-6733-5F3A6297DD98}"/>
              </a:ext>
            </a:extLst>
          </p:cNvPr>
          <p:cNvSpPr>
            <a:spLocks/>
          </p:cNvSpPr>
          <p:nvPr/>
        </p:nvSpPr>
        <p:spPr>
          <a:xfrm>
            <a:off x="7828739" y="5357704"/>
            <a:ext cx="3521401" cy="3185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8d: DS2 specifically predicts brain-wide synchrony.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D56B89-0A71-226C-1D66-18585FFA63BD}"/>
              </a:ext>
            </a:extLst>
          </p:cNvPr>
          <p:cNvSpPr/>
          <p:nvPr/>
        </p:nvSpPr>
        <p:spPr>
          <a:xfrm>
            <a:off x="7772400" y="3554079"/>
            <a:ext cx="1828800" cy="1212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808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8BA5-F4E2-D71B-0472-23E8F2B2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40264E6-1DEE-C3D1-E36E-C5E1C7211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610" y="866418"/>
            <a:ext cx="3802501" cy="409790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0FA260-539F-5D70-14DF-0677732A75EC}"/>
              </a:ext>
            </a:extLst>
          </p:cNvPr>
          <p:cNvSpPr/>
          <p:nvPr/>
        </p:nvSpPr>
        <p:spPr>
          <a:xfrm>
            <a:off x="8305799" y="3719019"/>
            <a:ext cx="1824707" cy="10815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!!Freeform: Shape 27" hidden="1">
            <a:extLst>
              <a:ext uri="{FF2B5EF4-FFF2-40B4-BE49-F238E27FC236}">
                <a16:creationId xmlns:a16="http://schemas.microsoft.com/office/drawing/2014/main" id="{050546AE-E695-3D0E-9292-519A762EF53D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304800 w 14554200"/>
              <a:gd name="csY0" fmla="*/ 98848 h 6172201"/>
              <a:gd name="csX1" fmla="*/ 304800 w 14554200"/>
              <a:gd name="csY1" fmla="*/ 166991 h 6172201"/>
              <a:gd name="csX2" fmla="*/ 304800 w 14554200"/>
              <a:gd name="csY2" fmla="*/ 5866979 h 6172201"/>
              <a:gd name="csX3" fmla="*/ 838200 w 14554200"/>
              <a:gd name="csY3" fmla="*/ 5866979 h 6172201"/>
              <a:gd name="csX4" fmla="*/ 6629401 w 14554200"/>
              <a:gd name="csY4" fmla="*/ 5866979 h 6172201"/>
              <a:gd name="csX5" fmla="*/ 7696200 w 14554200"/>
              <a:gd name="csY5" fmla="*/ 5866979 h 6172201"/>
              <a:gd name="csX6" fmla="*/ 7696200 w 14554200"/>
              <a:gd name="csY6" fmla="*/ 166991 h 6172201"/>
              <a:gd name="csX7" fmla="*/ 7696200 w 14554200"/>
              <a:gd name="csY7" fmla="*/ 98848 h 6172201"/>
              <a:gd name="csX8" fmla="*/ 0 w 14554200"/>
              <a:gd name="csY8" fmla="*/ 0 h 6172201"/>
              <a:gd name="csX9" fmla="*/ 685800 w 14554200"/>
              <a:gd name="csY9" fmla="*/ 0 h 6172201"/>
              <a:gd name="csX10" fmla="*/ 7696200 w 14554200"/>
              <a:gd name="csY10" fmla="*/ 0 h 6172201"/>
              <a:gd name="csX11" fmla="*/ 14554200 w 14554200"/>
              <a:gd name="csY11" fmla="*/ 0 h 6172201"/>
              <a:gd name="csX12" fmla="*/ 14554200 w 14554200"/>
              <a:gd name="csY12" fmla="*/ 6172199 h 6172201"/>
              <a:gd name="csX13" fmla="*/ 13508447 w 14554200"/>
              <a:gd name="csY13" fmla="*/ 6172199 h 6172201"/>
              <a:gd name="csX14" fmla="*/ 13508447 w 14554200"/>
              <a:gd name="csY14" fmla="*/ 6172201 h 6172201"/>
              <a:gd name="csX15" fmla="*/ 8153400 w 14554200"/>
              <a:gd name="csY15" fmla="*/ 6172201 h 6172201"/>
              <a:gd name="csX16" fmla="*/ 7924800 w 14554200"/>
              <a:gd name="csY16" fmla="*/ 6172201 h 6172201"/>
              <a:gd name="csX17" fmla="*/ 228600 w 14554200"/>
              <a:gd name="csY17" fmla="*/ 6172201 h 6172201"/>
              <a:gd name="csX18" fmla="*/ 228600 w 14554200"/>
              <a:gd name="csY18" fmla="*/ 6172199 h 6172201"/>
              <a:gd name="csX19" fmla="*/ 0 w 14554200"/>
              <a:gd name="csY19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4554200" h="6172201">
                <a:moveTo>
                  <a:pt x="304800" y="98848"/>
                </a:moveTo>
                <a:lnTo>
                  <a:pt x="304800" y="166991"/>
                </a:lnTo>
                <a:lnTo>
                  <a:pt x="304800" y="5866979"/>
                </a:lnTo>
                <a:lnTo>
                  <a:pt x="838200" y="5866979"/>
                </a:lnTo>
                <a:lnTo>
                  <a:pt x="6629401" y="5866979"/>
                </a:lnTo>
                <a:lnTo>
                  <a:pt x="7696200" y="5866979"/>
                </a:lnTo>
                <a:lnTo>
                  <a:pt x="7696200" y="166991"/>
                </a:lnTo>
                <a:lnTo>
                  <a:pt x="7696200" y="98848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8153400" y="6172201"/>
                </a:lnTo>
                <a:lnTo>
                  <a:pt x="7924800" y="6172201"/>
                </a:lnTo>
                <a:lnTo>
                  <a:pt x="228600" y="6172201"/>
                </a:lnTo>
                <a:lnTo>
                  <a:pt x="2286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7E5455-A57F-4129-C489-CF6E2D921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84" y="866417"/>
            <a:ext cx="4445848" cy="409097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!!N1">
            <a:extLst>
              <a:ext uri="{FF2B5EF4-FFF2-40B4-BE49-F238E27FC236}">
                <a16:creationId xmlns:a16="http://schemas.microsoft.com/office/drawing/2014/main" id="{B44BC487-8D14-2CC1-48DD-25B43A92EE3E}"/>
              </a:ext>
            </a:extLst>
          </p:cNvPr>
          <p:cNvSpPr>
            <a:spLocks/>
          </p:cNvSpPr>
          <p:nvPr/>
        </p:nvSpPr>
        <p:spPr>
          <a:xfrm>
            <a:off x="88260" y="9276195"/>
            <a:ext cx="833954" cy="10270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"Breadth" of Communication</a:t>
            </a:r>
          </a:p>
        </p:txBody>
      </p:sp>
      <p:sp>
        <p:nvSpPr>
          <p:cNvPr id="6" name="!!N1">
            <a:extLst>
              <a:ext uri="{FF2B5EF4-FFF2-40B4-BE49-F238E27FC236}">
                <a16:creationId xmlns:a16="http://schemas.microsoft.com/office/drawing/2014/main" id="{4FEE7378-6427-F837-FD86-63F07CCE1D2D}"/>
              </a:ext>
            </a:extLst>
          </p:cNvPr>
          <p:cNvSpPr>
            <a:spLocks/>
          </p:cNvSpPr>
          <p:nvPr/>
        </p:nvSpPr>
        <p:spPr>
          <a:xfrm>
            <a:off x="88260" y="9276195"/>
            <a:ext cx="833954" cy="10270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b="1" dirty="0">
                <a:solidFill>
                  <a:schemeClr val="bg1"/>
                </a:solidFill>
              </a:rPr>
              <a:t>"Intensity" of Communication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2681D332-46B7-A3CA-B262-65B8B98B81DE}"/>
              </a:ext>
            </a:extLst>
          </p:cNvPr>
          <p:cNvSpPr>
            <a:spLocks/>
          </p:cNvSpPr>
          <p:nvPr/>
        </p:nvSpPr>
        <p:spPr>
          <a:xfrm>
            <a:off x="0" y="7162800"/>
            <a:ext cx="3871928" cy="27076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Figure 2a (The "Eye Test" Heatmap): DS2 drives widespread elevated firing</a:t>
            </a:r>
          </a:p>
        </p:txBody>
      </p:sp>
      <p:sp>
        <p:nvSpPr>
          <p:cNvPr id="9" name="!!M2">
            <a:extLst>
              <a:ext uri="{FF2B5EF4-FFF2-40B4-BE49-F238E27FC236}">
                <a16:creationId xmlns:a16="http://schemas.microsoft.com/office/drawing/2014/main" id="{214BE028-CDE6-48A8-4282-78F02935577B}"/>
              </a:ext>
            </a:extLst>
          </p:cNvPr>
          <p:cNvSpPr>
            <a:spLocks/>
          </p:cNvSpPr>
          <p:nvPr/>
        </p:nvSpPr>
        <p:spPr>
          <a:xfrm>
            <a:off x="0" y="7515049"/>
            <a:ext cx="3871928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2b (The Difference Ranking): DS2 firing exceeds SPW-R brain-wide</a:t>
            </a:r>
          </a:p>
        </p:txBody>
      </p:sp>
      <p:sp>
        <p:nvSpPr>
          <p:cNvPr id="11" name="!!M2">
            <a:extLst>
              <a:ext uri="{FF2B5EF4-FFF2-40B4-BE49-F238E27FC236}">
                <a16:creationId xmlns:a16="http://schemas.microsoft.com/office/drawing/2014/main" id="{C798A59F-1B4F-71A9-112B-8C1CA319E400}"/>
              </a:ext>
            </a:extLst>
          </p:cNvPr>
          <p:cNvSpPr>
            <a:spLocks/>
          </p:cNvSpPr>
          <p:nvPr/>
        </p:nvSpPr>
        <p:spPr>
          <a:xfrm>
            <a:off x="0" y="7861374"/>
            <a:ext cx="3871928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Figure 2c (Neural Recruitment): Neurons preferentially fire during DS2</a:t>
            </a:r>
          </a:p>
        </p:txBody>
      </p:sp>
      <p:sp>
        <p:nvSpPr>
          <p:cNvPr id="12" name="!!M4">
            <a:extLst>
              <a:ext uri="{FF2B5EF4-FFF2-40B4-BE49-F238E27FC236}">
                <a16:creationId xmlns:a16="http://schemas.microsoft.com/office/drawing/2014/main" id="{5F73D5EB-FC03-2BE8-9AE9-6EFBC876D2C2}"/>
              </a:ext>
            </a:extLst>
          </p:cNvPr>
          <p:cNvSpPr>
            <a:spLocks/>
          </p:cNvSpPr>
          <p:nvPr/>
        </p:nvSpPr>
        <p:spPr>
          <a:xfrm>
            <a:off x="8696" y="8207699"/>
            <a:ext cx="3860914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050" dirty="0">
                <a:solidFill>
                  <a:schemeClr val="bg1"/>
                </a:solidFill>
              </a:rPr>
              <a:t>Figure 2d (Hierarchical Activation): DS2 recruits higher-order brain networks</a:t>
            </a:r>
          </a:p>
        </p:txBody>
      </p:sp>
      <p:sp>
        <p:nvSpPr>
          <p:cNvPr id="14" name="!!M4">
            <a:extLst>
              <a:ext uri="{FF2B5EF4-FFF2-40B4-BE49-F238E27FC236}">
                <a16:creationId xmlns:a16="http://schemas.microsoft.com/office/drawing/2014/main" id="{618EFB4D-A7B4-1C42-7FF8-277A28EBFC00}"/>
              </a:ext>
            </a:extLst>
          </p:cNvPr>
          <p:cNvSpPr>
            <a:spLocks/>
          </p:cNvSpPr>
          <p:nvPr/>
        </p:nvSpPr>
        <p:spPr>
          <a:xfrm>
            <a:off x="8696" y="8554024"/>
            <a:ext cx="3873695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2e (Peak Firing Intensity): DS2 yields highest global firing</a:t>
            </a:r>
          </a:p>
        </p:txBody>
      </p:sp>
      <p:sp>
        <p:nvSpPr>
          <p:cNvPr id="16" name="!!M4">
            <a:extLst>
              <a:ext uri="{FF2B5EF4-FFF2-40B4-BE49-F238E27FC236}">
                <a16:creationId xmlns:a16="http://schemas.microsoft.com/office/drawing/2014/main" id="{6FAF98D1-E4CD-7A02-07EA-1FDB47A17DA8}"/>
              </a:ext>
            </a:extLst>
          </p:cNvPr>
          <p:cNvSpPr>
            <a:spLocks/>
          </p:cNvSpPr>
          <p:nvPr/>
        </p:nvSpPr>
        <p:spPr>
          <a:xfrm>
            <a:off x="8696" y="8894426"/>
            <a:ext cx="3873695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900" dirty="0">
                <a:solidFill>
                  <a:schemeClr val="bg1"/>
                </a:solidFill>
              </a:rPr>
              <a:t>Figure 2f (Network Connectivity): Dense brain-wide coupling during DS2</a:t>
            </a:r>
          </a:p>
        </p:txBody>
      </p:sp>
      <p:sp>
        <p:nvSpPr>
          <p:cNvPr id="17" name="!!M4">
            <a:extLst>
              <a:ext uri="{FF2B5EF4-FFF2-40B4-BE49-F238E27FC236}">
                <a16:creationId xmlns:a16="http://schemas.microsoft.com/office/drawing/2014/main" id="{6FE266D3-D2B3-B1FD-A39A-D9EC3B7BCC41}"/>
              </a:ext>
            </a:extLst>
          </p:cNvPr>
          <p:cNvSpPr>
            <a:spLocks/>
          </p:cNvSpPr>
          <p:nvPr/>
        </p:nvSpPr>
        <p:spPr>
          <a:xfrm>
            <a:off x="8696" y="9240751"/>
            <a:ext cx="3873695" cy="27113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dirty="0">
                <a:solidFill>
                  <a:schemeClr val="bg1"/>
                </a:solidFill>
              </a:rPr>
              <a:t>Figures 2g-h (Global Coordination): DS2 maximizes brain-wide information flow</a:t>
            </a:r>
          </a:p>
        </p:txBody>
      </p:sp>
      <p:pic>
        <p:nvPicPr>
          <p:cNvPr id="19" name="!!P2">
            <a:extLst>
              <a:ext uri="{FF2B5EF4-FFF2-40B4-BE49-F238E27FC236}">
                <a16:creationId xmlns:a16="http://schemas.microsoft.com/office/drawing/2014/main" id="{DC25696B-499F-0A7D-D199-99E0F9A397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099" y="859491"/>
            <a:ext cx="3353638" cy="409790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0" name="!!M1">
            <a:extLst>
              <a:ext uri="{FF2B5EF4-FFF2-40B4-BE49-F238E27FC236}">
                <a16:creationId xmlns:a16="http://schemas.microsoft.com/office/drawing/2014/main" id="{C1F36105-8A7D-A008-1E2A-808472C6B85A}"/>
              </a:ext>
            </a:extLst>
          </p:cNvPr>
          <p:cNvSpPr>
            <a:spLocks/>
          </p:cNvSpPr>
          <p:nvPr/>
        </p:nvSpPr>
        <p:spPr>
          <a:xfrm>
            <a:off x="3907977" y="8059541"/>
            <a:ext cx="3315260" cy="42626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Extended Data Fig. 7: (Global Activity) DS2 and SPW-R recruit distinct neurons</a:t>
            </a:r>
          </a:p>
        </p:txBody>
      </p:sp>
      <p:sp>
        <p:nvSpPr>
          <p:cNvPr id="21" name="!!Focus">
            <a:extLst>
              <a:ext uri="{FF2B5EF4-FFF2-40B4-BE49-F238E27FC236}">
                <a16:creationId xmlns:a16="http://schemas.microsoft.com/office/drawing/2014/main" id="{3F964A1F-6532-B2FF-A7B3-B1468472B6DA}"/>
              </a:ext>
            </a:extLst>
          </p:cNvPr>
          <p:cNvSpPr/>
          <p:nvPr/>
        </p:nvSpPr>
        <p:spPr>
          <a:xfrm rot="5400000">
            <a:off x="-9665092" y="-2750123"/>
            <a:ext cx="2997326" cy="1143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!!T-BG">
            <a:extLst>
              <a:ext uri="{FF2B5EF4-FFF2-40B4-BE49-F238E27FC236}">
                <a16:creationId xmlns:a16="http://schemas.microsoft.com/office/drawing/2014/main" id="{0A1BAD47-9112-D006-72CB-66CA497AFABE}"/>
              </a:ext>
            </a:extLst>
          </p:cNvPr>
          <p:cNvSpPr/>
          <p:nvPr/>
        </p:nvSpPr>
        <p:spPr>
          <a:xfrm>
            <a:off x="922214" y="5300240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!!M1">
            <a:extLst>
              <a:ext uri="{FF2B5EF4-FFF2-40B4-BE49-F238E27FC236}">
                <a16:creationId xmlns:a16="http://schemas.microsoft.com/office/drawing/2014/main" id="{54E75B3F-137D-5DCC-DA6F-475DD044F5B8}"/>
              </a:ext>
            </a:extLst>
          </p:cNvPr>
          <p:cNvSpPr>
            <a:spLocks/>
          </p:cNvSpPr>
          <p:nvPr/>
        </p:nvSpPr>
        <p:spPr>
          <a:xfrm>
            <a:off x="8181240" y="8356050"/>
            <a:ext cx="2831213" cy="8733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/>
              <a:t>Top 0.1% of global neural activity.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CA343056-8A48-3C4F-EF5E-14C8134E66B1}"/>
              </a:ext>
            </a:extLst>
          </p:cNvPr>
          <p:cNvSpPr>
            <a:spLocks/>
          </p:cNvSpPr>
          <p:nvPr/>
        </p:nvSpPr>
        <p:spPr>
          <a:xfrm>
            <a:off x="8181241" y="8205060"/>
            <a:ext cx="2831213" cy="45164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Extended Data Figure 8a:  Global firing peaks align with DS2 events.</a:t>
            </a:r>
          </a:p>
        </p:txBody>
      </p:sp>
      <p:sp>
        <p:nvSpPr>
          <p:cNvPr id="24" name="!!M1">
            <a:extLst>
              <a:ext uri="{FF2B5EF4-FFF2-40B4-BE49-F238E27FC236}">
                <a16:creationId xmlns:a16="http://schemas.microsoft.com/office/drawing/2014/main" id="{B90E95B0-EAA4-FCCA-8771-C6DADF28E6C4}"/>
              </a:ext>
            </a:extLst>
          </p:cNvPr>
          <p:cNvSpPr>
            <a:spLocks/>
          </p:cNvSpPr>
          <p:nvPr/>
        </p:nvSpPr>
        <p:spPr>
          <a:xfrm>
            <a:off x="8194315" y="8709621"/>
            <a:ext cx="2831213" cy="4515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Extended Data Figure 8b: Global synchrony occurs predominantly during rest.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DA25978D-A96D-705F-04AF-FF0C12D6A599}"/>
              </a:ext>
            </a:extLst>
          </p:cNvPr>
          <p:cNvSpPr>
            <a:spLocks/>
          </p:cNvSpPr>
          <p:nvPr/>
        </p:nvSpPr>
        <p:spPr>
          <a:xfrm>
            <a:off x="8194315" y="9219377"/>
            <a:ext cx="2831213" cy="4515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Extended Data Figure 8c: AND Synchrony frequency is stable across states.</a:t>
            </a:r>
          </a:p>
        </p:txBody>
      </p:sp>
      <p:sp>
        <p:nvSpPr>
          <p:cNvPr id="2" name="!!M1">
            <a:extLst>
              <a:ext uri="{FF2B5EF4-FFF2-40B4-BE49-F238E27FC236}">
                <a16:creationId xmlns:a16="http://schemas.microsoft.com/office/drawing/2014/main" id="{C722F91A-5D43-1B63-A02D-82DE7D232B46}"/>
              </a:ext>
            </a:extLst>
          </p:cNvPr>
          <p:cNvSpPr>
            <a:spLocks/>
          </p:cNvSpPr>
          <p:nvPr/>
        </p:nvSpPr>
        <p:spPr>
          <a:xfrm>
            <a:off x="8197441" y="9729132"/>
            <a:ext cx="2831213" cy="4515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8d: DS2 specifically predicts brain-wide synchrony.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T_">
            <a:extLst>
              <a:ext uri="{FF2B5EF4-FFF2-40B4-BE49-F238E27FC236}">
                <a16:creationId xmlns:a16="http://schemas.microsoft.com/office/drawing/2014/main" id="{4C253431-DFBD-E618-A959-6AFEFBDDDB7D}"/>
              </a:ext>
            </a:extLst>
          </p:cNvPr>
          <p:cNvSpPr txBox="1">
            <a:spLocks/>
          </p:cNvSpPr>
          <p:nvPr/>
        </p:nvSpPr>
        <p:spPr>
          <a:xfrm>
            <a:off x="1303213" y="5276674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sp>
        <p:nvSpPr>
          <p:cNvPr id="22" name="!!T-BG_">
            <a:extLst>
              <a:ext uri="{FF2B5EF4-FFF2-40B4-BE49-F238E27FC236}">
                <a16:creationId xmlns:a16="http://schemas.microsoft.com/office/drawing/2014/main" id="{4CA6CBB7-F81F-BD86-4397-B069972263C2}"/>
              </a:ext>
            </a:extLst>
          </p:cNvPr>
          <p:cNvSpPr/>
          <p:nvPr/>
        </p:nvSpPr>
        <p:spPr>
          <a:xfrm>
            <a:off x="2941178" y="-55626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!!T2">
            <a:extLst>
              <a:ext uri="{FF2B5EF4-FFF2-40B4-BE49-F238E27FC236}">
                <a16:creationId xmlns:a16="http://schemas.microsoft.com/office/drawing/2014/main" id="{5DEF5968-E719-5A66-E1B3-D4352628452F}"/>
              </a:ext>
            </a:extLst>
          </p:cNvPr>
          <p:cNvSpPr/>
          <p:nvPr/>
        </p:nvSpPr>
        <p:spPr>
          <a:xfrm>
            <a:off x="2819399" y="9356046"/>
            <a:ext cx="6934200" cy="76498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/>
          </a:bodyPr>
          <a:lstStyle/>
          <a:p>
            <a:pPr algn="ctr"/>
            <a:r>
              <a:rPr lang="en-US" sz="2800" dirty="0"/>
              <a:t>Spoiler Alert: DS2 </a:t>
            </a:r>
            <a:r>
              <a:rPr lang="en-US" sz="2800" i="1" dirty="0"/>
              <a:t>is </a:t>
            </a:r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TOP DOWN </a:t>
            </a:r>
            <a:r>
              <a:rPr lang="en-US" sz="2800" dirty="0"/>
              <a:t>global spike</a:t>
            </a:r>
            <a:endParaRPr lang="en-US" sz="2800" i="1" dirty="0"/>
          </a:p>
        </p:txBody>
      </p:sp>
      <p:sp>
        <p:nvSpPr>
          <p:cNvPr id="27" name="!!M3_">
            <a:extLst>
              <a:ext uri="{FF2B5EF4-FFF2-40B4-BE49-F238E27FC236}">
                <a16:creationId xmlns:a16="http://schemas.microsoft.com/office/drawing/2014/main" id="{B6B62830-AE16-CB06-4FFD-F0C5800B2E4C}"/>
              </a:ext>
            </a:extLst>
          </p:cNvPr>
          <p:cNvSpPr/>
          <p:nvPr/>
        </p:nvSpPr>
        <p:spPr>
          <a:xfrm>
            <a:off x="1295400" y="7984446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If DS2 is a global spike, which way is it going? Top-Down, Bottom-Up, </a:t>
            </a:r>
            <a:r>
              <a:rPr lang="en-US" sz="2800" strike="sngStrike" dirty="0"/>
              <a:t>Side-Ways</a:t>
            </a:r>
            <a:r>
              <a:rPr lang="en-US" sz="2800" dirty="0"/>
              <a:t>?</a:t>
            </a:r>
          </a:p>
        </p:txBody>
      </p:sp>
      <p:sp>
        <p:nvSpPr>
          <p:cNvPr id="29" name="!!T1">
            <a:extLst>
              <a:ext uri="{FF2B5EF4-FFF2-40B4-BE49-F238E27FC236}">
                <a16:creationId xmlns:a16="http://schemas.microsoft.com/office/drawing/2014/main" id="{1AB0F786-B513-79FB-CF44-CCF1B0BC60C0}"/>
              </a:ext>
            </a:extLst>
          </p:cNvPr>
          <p:cNvSpPr txBox="1">
            <a:spLocks/>
          </p:cNvSpPr>
          <p:nvPr/>
        </p:nvSpPr>
        <p:spPr>
          <a:xfrm>
            <a:off x="3067050" y="-53460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DS2 Directionality</a:t>
            </a:r>
          </a:p>
        </p:txBody>
      </p:sp>
    </p:spTree>
    <p:extLst>
      <p:ext uri="{BB962C8B-B14F-4D97-AF65-F5344CB8AC3E}">
        <p14:creationId xmlns:p14="http://schemas.microsoft.com/office/powerpoint/2010/main" val="199336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FEA24-17B5-47A5-5A3B-74D9BD57C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D23A1A6C-8860-9D45-1C6A-13D6BECDC61C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6B6C84A7-2B33-7BB3-C2F1-5787CE36C724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525EBCC0-14E6-B686-8CBF-DA3B01292E9D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3CB7680E-8FFB-E6D5-9559-96AB7729BD17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FC9455FE-7B53-7548-3B84-2F8CD9506F5E}"/>
              </a:ext>
            </a:extLst>
          </p:cNvPr>
          <p:cNvSpPr/>
          <p:nvPr/>
        </p:nvSpPr>
        <p:spPr>
          <a:xfrm>
            <a:off x="2941178" y="6096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B46C08-1EB9-14F2-E93F-B6FC6446FF69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34891750-0499-4111-D6FA-B9CAC4868AAF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2D1E231F-7954-750A-26DF-A4994A24245D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30" name="!!M5">
            <a:extLst>
              <a:ext uri="{FF2B5EF4-FFF2-40B4-BE49-F238E27FC236}">
                <a16:creationId xmlns:a16="http://schemas.microsoft.com/office/drawing/2014/main" id="{F122BF9C-1711-EB84-F6BD-4A42A541DEB1}"/>
              </a:ext>
            </a:extLst>
          </p:cNvPr>
          <p:cNvSpPr>
            <a:spLocks/>
          </p:cNvSpPr>
          <p:nvPr/>
        </p:nvSpPr>
        <p:spPr>
          <a:xfrm>
            <a:off x="-7625289" y="8382000"/>
            <a:ext cx="4752101" cy="498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The Physiological Contrast: TORO cells fire intensely during Ripples but are strictly silent during DS2, confirming that these two events engage opposite cellular mechanisms.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DAA29920-16C2-3CCF-B51D-D2BC43950527}"/>
              </a:ext>
            </a:extLst>
          </p:cNvPr>
          <p:cNvSpPr/>
          <p:nvPr/>
        </p:nvSpPr>
        <p:spPr>
          <a:xfrm>
            <a:off x="1374317" y="7306177"/>
            <a:ext cx="9534521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800" dirty="0"/>
              <a:t>Spoiler Alert: DS2 </a:t>
            </a:r>
            <a:r>
              <a:rPr lang="en-US" sz="2800" b="1" dirty="0">
                <a:solidFill>
                  <a:srgbClr val="FF0000"/>
                </a:solidFill>
              </a:rPr>
              <a:t>encodes stationary, real-world position</a:t>
            </a:r>
            <a:r>
              <a:rPr lang="en-US" sz="2800" dirty="0"/>
              <a:t>.</a:t>
            </a:r>
            <a:endParaRPr lang="en-US" sz="2800" i="1" dirty="0"/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A0007DD8-96EA-8223-00A0-B6E5CC8276A9}"/>
              </a:ext>
            </a:extLst>
          </p:cNvPr>
          <p:cNvSpPr/>
          <p:nvPr/>
        </p:nvSpPr>
        <p:spPr>
          <a:xfrm>
            <a:off x="1295400" y="3505199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happens, where it goes, which neurons control it, </a:t>
            </a:r>
            <a:r>
              <a:rPr lang="en-US" sz="2800" dirty="0">
                <a:solidFill>
                  <a:srgbClr val="FF0000"/>
                </a:solidFill>
              </a:rPr>
              <a:t>but what is it doing?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8257CDB7-5B4C-853A-225E-144CDCEF517E}"/>
              </a:ext>
            </a:extLst>
          </p:cNvPr>
          <p:cNvSpPr txBox="1">
            <a:spLocks/>
          </p:cNvSpPr>
          <p:nvPr/>
        </p:nvSpPr>
        <p:spPr>
          <a:xfrm>
            <a:off x="3067050" y="82619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What does DS2 encode?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84CA83B5-C531-CE8B-A974-5CBEED2158DF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F2406C7D-653A-CB4C-F172-6C3283AB2013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EF050796-DC31-C239-5110-B53A92794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8201" y="7306177"/>
            <a:ext cx="3657600" cy="4824058"/>
          </a:xfrm>
          <a:prstGeom prst="rect">
            <a:avLst/>
          </a:prstGeom>
        </p:spPr>
      </p:pic>
      <p:pic>
        <p:nvPicPr>
          <p:cNvPr id="14" name="Picture 1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BDE4509F-6B37-AADA-7EA4-59E555A01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435" y="7447572"/>
            <a:ext cx="5260566" cy="4526205"/>
          </a:xfrm>
          <a:prstGeom prst="rect">
            <a:avLst/>
          </a:prstGeom>
        </p:spPr>
      </p:pic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D8835283-0FD8-C6D7-196A-165F7E521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4489" y="7447556"/>
            <a:ext cx="6481711" cy="3794408"/>
          </a:xfrm>
          <a:prstGeom prst="rect">
            <a:avLst/>
          </a:prstGeom>
        </p:spPr>
      </p:pic>
      <p:pic>
        <p:nvPicPr>
          <p:cNvPr id="22" name="Picture 21" descr="A close-up of a graph&#10;&#10;AI-generated content may be incorrect.">
            <a:extLst>
              <a:ext uri="{FF2B5EF4-FFF2-40B4-BE49-F238E27FC236}">
                <a16:creationId xmlns:a16="http://schemas.microsoft.com/office/drawing/2014/main" id="{20BE9447-259A-D45F-A660-A816EB6852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512908" y="12496800"/>
            <a:ext cx="7264626" cy="4564369"/>
          </a:xfrm>
          <a:prstGeom prst="rect">
            <a:avLst/>
          </a:prstGeom>
        </p:spPr>
      </p:pic>
      <p:pic>
        <p:nvPicPr>
          <p:cNvPr id="25" name="Picture 2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1FAFC60-195E-D767-55F7-48D2A5BB5F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744" y="12521738"/>
            <a:ext cx="11743051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F838D6D-3F7F-82F7-24FA-AE63A31A6299}"/>
              </a:ext>
            </a:extLst>
          </p:cNvPr>
          <p:cNvSpPr/>
          <p:nvPr/>
        </p:nvSpPr>
        <p:spPr>
          <a:xfrm>
            <a:off x="5303714" y="3571589"/>
            <a:ext cx="2087686" cy="3322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ED9739-E0F6-55E1-5401-621238942CB2}"/>
              </a:ext>
            </a:extLst>
          </p:cNvPr>
          <p:cNvSpPr/>
          <p:nvPr/>
        </p:nvSpPr>
        <p:spPr>
          <a:xfrm>
            <a:off x="7467600" y="3579612"/>
            <a:ext cx="3505200" cy="3322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E1835D-3625-2A30-DB04-7DFED374FBC1}"/>
              </a:ext>
            </a:extLst>
          </p:cNvPr>
          <p:cNvSpPr/>
          <p:nvPr/>
        </p:nvSpPr>
        <p:spPr>
          <a:xfrm>
            <a:off x="4865562" y="3938154"/>
            <a:ext cx="2830637" cy="33224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24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 animBg="1"/>
      <p:bldP spid="32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B0CB-2D09-2EF8-F6B2-CA3E461B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344B2D58-C955-D816-CAA4-35C9AA8C31C8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AAD1311B-4F3A-0158-EF63-9A2697769511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8DBBC8B0-4506-E4A1-5D2E-660CA6A63B34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1ED14719-BE42-98DA-3FEB-F909E6E0B356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9CDF76C8-63B1-231F-AB68-2AEDCFDD4FD6}"/>
              </a:ext>
            </a:extLst>
          </p:cNvPr>
          <p:cNvSpPr/>
          <p:nvPr/>
        </p:nvSpPr>
        <p:spPr>
          <a:xfrm>
            <a:off x="2941178" y="6096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3FDE16-999A-C541-154D-57196E407D93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7EAA719B-9302-DBFE-8F32-7A32AAF325C8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FC8DE60E-488B-D15A-AFF9-649D73842E9A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30" name="!!M5">
            <a:extLst>
              <a:ext uri="{FF2B5EF4-FFF2-40B4-BE49-F238E27FC236}">
                <a16:creationId xmlns:a16="http://schemas.microsoft.com/office/drawing/2014/main" id="{F7448C15-3E2B-99F9-3310-C03B86748647}"/>
              </a:ext>
            </a:extLst>
          </p:cNvPr>
          <p:cNvSpPr>
            <a:spLocks/>
          </p:cNvSpPr>
          <p:nvPr/>
        </p:nvSpPr>
        <p:spPr>
          <a:xfrm>
            <a:off x="-7625289" y="8382000"/>
            <a:ext cx="4752101" cy="498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The Physiological Contrast: TORO cells fire intensely during Ripples but are strictly silent during DS2, confirming that these two events engage opposite cellular mechanisms.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199C2E81-928C-A25B-DD17-E8669FAA229F}"/>
              </a:ext>
            </a:extLst>
          </p:cNvPr>
          <p:cNvSpPr/>
          <p:nvPr/>
        </p:nvSpPr>
        <p:spPr>
          <a:xfrm>
            <a:off x="1374317" y="5098223"/>
            <a:ext cx="9534521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800" dirty="0"/>
              <a:t>Spoiler Alert: DS2 </a:t>
            </a:r>
            <a:r>
              <a:rPr lang="en-US" sz="2800" b="1" dirty="0">
                <a:solidFill>
                  <a:srgbClr val="FF0000"/>
                </a:solidFill>
              </a:rPr>
              <a:t>encodes stationary, real-world position</a:t>
            </a:r>
            <a:r>
              <a:rPr lang="en-US" sz="2800" dirty="0"/>
              <a:t>.</a:t>
            </a:r>
            <a:endParaRPr lang="en-US" sz="2800" i="1" dirty="0"/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8BA2DA1E-CAD1-0F4F-A760-90D3398C069A}"/>
              </a:ext>
            </a:extLst>
          </p:cNvPr>
          <p:cNvSpPr/>
          <p:nvPr/>
        </p:nvSpPr>
        <p:spPr>
          <a:xfrm>
            <a:off x="1295400" y="3505199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happens, where it goes, which neurons control it, </a:t>
            </a:r>
            <a:r>
              <a:rPr lang="en-US" sz="2800" dirty="0">
                <a:solidFill>
                  <a:srgbClr val="FF0000"/>
                </a:solidFill>
              </a:rPr>
              <a:t>but what is it doing?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8A1E8DEC-AC04-6117-9AAE-B12498C76FB9}"/>
              </a:ext>
            </a:extLst>
          </p:cNvPr>
          <p:cNvSpPr txBox="1">
            <a:spLocks/>
          </p:cNvSpPr>
          <p:nvPr/>
        </p:nvSpPr>
        <p:spPr>
          <a:xfrm>
            <a:off x="3067050" y="82619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What does DS2 encode?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B85480A2-151E-06DA-9AC3-21F478E25857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08388660-950A-03CA-3498-1A5A4A015B35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14" name="Picture 13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69F74C43-99E4-CD89-E37A-3AEF1E44996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562601" y="7654224"/>
            <a:ext cx="6059594" cy="35472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0679F1-94B8-E7BA-8743-9BF7E0833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9677523"/>
            <a:ext cx="2362200" cy="1489899"/>
          </a:xfrm>
          <a:prstGeom prst="rect">
            <a:avLst/>
          </a:prstGeom>
        </p:spPr>
      </p:pic>
      <p:pic>
        <p:nvPicPr>
          <p:cNvPr id="2" name="Picture 1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EB532529-7E10-EABC-DEF5-4CAEC407BFE0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rcRect t="30074" b="37705"/>
          <a:stretch>
            <a:fillRect/>
          </a:stretch>
        </p:blipFill>
        <p:spPr>
          <a:xfrm>
            <a:off x="685800" y="8605896"/>
            <a:ext cx="4122836" cy="114300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7334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E3A7D-F311-BD83-7A56-8ABBD1EAA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6F216930-AFA7-B6A4-247C-D8552C09AC44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81FC3291-D557-6A83-E762-88B94CB9301F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94FCAEF4-77E0-0508-BEFD-969EBDB25B4A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AAC34190-B314-43BA-F4D0-0020E69AAE6A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D7033856-50C6-C309-44CB-509305B316A7}"/>
              </a:ext>
            </a:extLst>
          </p:cNvPr>
          <p:cNvSpPr/>
          <p:nvPr/>
        </p:nvSpPr>
        <p:spPr>
          <a:xfrm>
            <a:off x="2975893" y="-44196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9F6333-23CD-FF0F-0261-E632FBFFEFFF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B3C7832A-94DF-F8B4-34CC-62EB64000CE4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C543A86D-B2B4-57F7-95CB-C66175644E2B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30" name="!!M5">
            <a:extLst>
              <a:ext uri="{FF2B5EF4-FFF2-40B4-BE49-F238E27FC236}">
                <a16:creationId xmlns:a16="http://schemas.microsoft.com/office/drawing/2014/main" id="{32E364BA-F626-72D8-7E1D-246DAC5C98DF}"/>
              </a:ext>
            </a:extLst>
          </p:cNvPr>
          <p:cNvSpPr>
            <a:spLocks/>
          </p:cNvSpPr>
          <p:nvPr/>
        </p:nvSpPr>
        <p:spPr>
          <a:xfrm>
            <a:off x="-7625289" y="8382000"/>
            <a:ext cx="4752101" cy="498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The Physiological Contrast: TORO cells fire intensely during Ripples but are strictly silent during DS2, confirming that these two events engage opposite cellular mechanisms.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46272449-2906-369F-6C49-EBB5DF121840}"/>
              </a:ext>
            </a:extLst>
          </p:cNvPr>
          <p:cNvSpPr/>
          <p:nvPr/>
        </p:nvSpPr>
        <p:spPr>
          <a:xfrm>
            <a:off x="-381000" y="-21401"/>
            <a:ext cx="12801601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</a:t>
            </a:r>
            <a:r>
              <a:rPr lang="en-US" sz="2800" b="1" u="sng" dirty="0">
                <a:solidFill>
                  <a:schemeClr val="bg1"/>
                </a:solidFill>
              </a:rPr>
              <a:t>DS2 encodes stationary, real-world position</a:t>
            </a:r>
            <a:endParaRPr lang="en-US" sz="2800" b="1" i="1" u="sng" dirty="0">
              <a:solidFill>
                <a:schemeClr val="bg1"/>
              </a:solidFill>
            </a:endParaRPr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0E47813F-E5ED-8618-690A-2881ED2848AA}"/>
              </a:ext>
            </a:extLst>
          </p:cNvPr>
          <p:cNvSpPr/>
          <p:nvPr/>
        </p:nvSpPr>
        <p:spPr>
          <a:xfrm>
            <a:off x="1295400" y="-1614425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happens, where it goes, which neurons control it, </a:t>
            </a:r>
            <a:r>
              <a:rPr lang="en-US" sz="2800" dirty="0">
                <a:solidFill>
                  <a:srgbClr val="FF0000"/>
                </a:solidFill>
              </a:rPr>
              <a:t>but what is it doing?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7595918C-B219-90B0-0B8D-2B6A62165BA1}"/>
              </a:ext>
            </a:extLst>
          </p:cNvPr>
          <p:cNvSpPr txBox="1">
            <a:spLocks/>
          </p:cNvSpPr>
          <p:nvPr/>
        </p:nvSpPr>
        <p:spPr>
          <a:xfrm>
            <a:off x="3067050" y="-4293429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What does DS2 encode?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8B5B854E-D7CD-E81A-FD8F-A1E4F718B872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4ABD31E7-4D86-FC91-46D4-02D7C7A33A18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14" name="Picture 1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45D11303-5514-F673-B173-85863B77839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rcRect t="30074" b="37705"/>
          <a:stretch>
            <a:fillRect/>
          </a:stretch>
        </p:blipFill>
        <p:spPr>
          <a:xfrm>
            <a:off x="685800" y="2285999"/>
            <a:ext cx="4122836" cy="114300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6557E054-29E9-D6A1-D1E8-CFBCF10E7CA8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5562601" y="1253301"/>
            <a:ext cx="6059594" cy="35472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7" name="!!M1">
            <a:extLst>
              <a:ext uri="{FF2B5EF4-FFF2-40B4-BE49-F238E27FC236}">
                <a16:creationId xmlns:a16="http://schemas.microsoft.com/office/drawing/2014/main" id="{304A29ED-7118-8C71-1B27-1431B658F866}"/>
              </a:ext>
            </a:extLst>
          </p:cNvPr>
          <p:cNvSpPr>
            <a:spLocks/>
          </p:cNvSpPr>
          <p:nvPr/>
        </p:nvSpPr>
        <p:spPr>
          <a:xfrm>
            <a:off x="12649199" y="861146"/>
            <a:ext cx="5830947" cy="98092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Hierarchical clustering reveals distinct DS2 ensembles.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!!M1">
            <a:extLst>
              <a:ext uri="{FF2B5EF4-FFF2-40B4-BE49-F238E27FC236}">
                <a16:creationId xmlns:a16="http://schemas.microsoft.com/office/drawing/2014/main" id="{C7E9C5AA-B602-88DC-75B1-3041BF9764AA}"/>
              </a:ext>
            </a:extLst>
          </p:cNvPr>
          <p:cNvSpPr>
            <a:spLocks/>
          </p:cNvSpPr>
          <p:nvPr/>
        </p:nvSpPr>
        <p:spPr>
          <a:xfrm>
            <a:off x="12649200" y="681100"/>
            <a:ext cx="5830947" cy="15894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Extended Data Figure 10a:</a:t>
            </a:r>
            <a:r>
              <a:rPr lang="en-US" sz="4400" dirty="0">
                <a:solidFill>
                  <a:srgbClr val="FF0000"/>
                </a:solidFill>
              </a:rPr>
              <a:t> DS2 events form repeating, non-random neural patterns.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11" name="!!Focus">
            <a:extLst>
              <a:ext uri="{FF2B5EF4-FFF2-40B4-BE49-F238E27FC236}">
                <a16:creationId xmlns:a16="http://schemas.microsoft.com/office/drawing/2014/main" id="{2C3DC662-A134-2E7A-939B-1C35623D1A7C}"/>
              </a:ext>
            </a:extLst>
          </p:cNvPr>
          <p:cNvSpPr/>
          <p:nvPr/>
        </p:nvSpPr>
        <p:spPr>
          <a:xfrm rot="5400000">
            <a:off x="-2451067" y="-422805"/>
            <a:ext cx="844484" cy="295275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8C700-1F7E-F850-3AA2-97ABCD635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276600"/>
            <a:ext cx="2362200" cy="148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65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1FF8-ADEC-28D8-03D1-44FA2616C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>
            <a:extLst>
              <a:ext uri="{FF2B5EF4-FFF2-40B4-BE49-F238E27FC236}">
                <a16:creationId xmlns:a16="http://schemas.microsoft.com/office/drawing/2014/main" id="{7C68B2B6-4DA2-AC83-945F-B45BB668583A}"/>
              </a:ext>
            </a:extLst>
          </p:cNvPr>
          <p:cNvSpPr/>
          <p:nvPr/>
        </p:nvSpPr>
        <p:spPr>
          <a:xfrm>
            <a:off x="-762000" y="503550"/>
            <a:ext cx="14554200" cy="6330983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E6BB6B28-00A1-58DE-8074-A6CD7888FD02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4E91EE5E-ACCF-9E4A-3669-D97C2986FE02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515C5032-5911-103F-5B50-38958B3FE9F7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7A2109-02EB-6DB9-643C-0FCD3A2BB29C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2C11E7DD-B589-ACB6-152F-AC6F07062FE6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7FD8D488-C16F-59C2-14CC-8E2BA1A551AA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CBA0DB52-EDC7-B4D1-4B1D-B43206E7A427}"/>
              </a:ext>
            </a:extLst>
          </p:cNvPr>
          <p:cNvSpPr/>
          <p:nvPr/>
        </p:nvSpPr>
        <p:spPr>
          <a:xfrm>
            <a:off x="-381000" y="-21401"/>
            <a:ext cx="12801601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</a:t>
            </a:r>
            <a:r>
              <a:rPr lang="en-US" sz="2800" b="1" u="sng" dirty="0">
                <a:solidFill>
                  <a:schemeClr val="bg1"/>
                </a:solidFill>
              </a:rPr>
              <a:t>DS2 encodes stationary, real-world </a:t>
            </a:r>
            <a:r>
              <a:rPr lang="en-US" sz="2800" b="1" u="sng" dirty="0">
                <a:solidFill>
                  <a:srgbClr val="46B1E1"/>
                </a:solidFill>
              </a:rPr>
              <a:t>position</a:t>
            </a:r>
            <a:endParaRPr lang="en-US" sz="2800" b="1" i="1" u="sng" dirty="0">
              <a:solidFill>
                <a:srgbClr val="46B1E1"/>
              </a:solidFill>
            </a:endParaRP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F3F58287-F5A8-088A-9CDF-7DACD082CCDC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8677C0AE-4D0D-D666-CDEC-EBE37A366FD3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FCB990A8-BF2E-C063-BFF1-877841A22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19599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4F3E7A68-FECC-4DCF-E5B2-F45525B94A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955" b="37410"/>
          <a:stretch>
            <a:fillRect/>
          </a:stretch>
        </p:blipFill>
        <p:spPr>
          <a:xfrm>
            <a:off x="31865" y="2590799"/>
            <a:ext cx="6784574" cy="1905001"/>
          </a:xfrm>
          <a:prstGeom prst="rect">
            <a:avLst/>
          </a:prstGeom>
          <a:ln w="38100">
            <a:noFill/>
          </a:ln>
        </p:spPr>
      </p:pic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F1468A1E-18EB-7516-6798-71E19981E1F6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13694256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 descr="A close-up of a graph&#10;&#10;AI-generated content may be incorrect.">
            <a:extLst>
              <a:ext uri="{FF2B5EF4-FFF2-40B4-BE49-F238E27FC236}">
                <a16:creationId xmlns:a16="http://schemas.microsoft.com/office/drawing/2014/main" id="{0006AF06-D65C-9F8B-2396-C15CDE425EAE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-44196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Picture 2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24170D3-B44B-955D-4060-6C0E751A2810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rcRect l="1190" t="2034"/>
          <a:stretch>
            <a:fillRect/>
          </a:stretch>
        </p:blipFill>
        <p:spPr>
          <a:xfrm>
            <a:off x="13182600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M1">
            <a:extLst>
              <a:ext uri="{FF2B5EF4-FFF2-40B4-BE49-F238E27FC236}">
                <a16:creationId xmlns:a16="http://schemas.microsoft.com/office/drawing/2014/main" id="{A8E7DB16-A944-9571-11D0-DADEFC63CA1E}"/>
              </a:ext>
            </a:extLst>
          </p:cNvPr>
          <p:cNvSpPr>
            <a:spLocks/>
          </p:cNvSpPr>
          <p:nvPr/>
        </p:nvSpPr>
        <p:spPr>
          <a:xfrm>
            <a:off x="6826391" y="832634"/>
            <a:ext cx="5213208" cy="14533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Extended Data Figure 11:</a:t>
            </a:r>
            <a:r>
              <a:rPr lang="en-US" sz="4400" dirty="0">
                <a:solidFill>
                  <a:srgbClr val="FF0000"/>
                </a:solidFill>
              </a:rPr>
              <a:t> CA1 place cells (PC) fire robustly during DS2 events.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2" name="!!M5">
            <a:extLst>
              <a:ext uri="{FF2B5EF4-FFF2-40B4-BE49-F238E27FC236}">
                <a16:creationId xmlns:a16="http://schemas.microsoft.com/office/drawing/2014/main" id="{E0046F1A-380F-CA63-8C6A-691A53FFA7DD}"/>
              </a:ext>
            </a:extLst>
          </p:cNvPr>
          <p:cNvSpPr>
            <a:spLocks/>
          </p:cNvSpPr>
          <p:nvPr/>
        </p:nvSpPr>
        <p:spPr>
          <a:xfrm>
            <a:off x="-4449739" y="584832"/>
            <a:ext cx="1689942" cy="51462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DS2 spikes are highly organized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8BA3F3A5-9CDA-91D9-3637-F058FCE985BF}"/>
              </a:ext>
            </a:extLst>
          </p:cNvPr>
          <p:cNvSpPr>
            <a:spLocks/>
          </p:cNvSpPr>
          <p:nvPr/>
        </p:nvSpPr>
        <p:spPr>
          <a:xfrm>
            <a:off x="6208651" y="-1250784"/>
            <a:ext cx="5830947" cy="1688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Again, no comments on distinct role of these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7C2D02D4-48AD-3A9F-CF6D-0D284D195850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483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X-axis: </a:t>
            </a:r>
            <a:r>
              <a:rPr lang="en-US" sz="4400" dirty="0"/>
              <a:t>~1,000 recorded DS2 events, sorted by the same hierarchical clusters as Panel a</a:t>
            </a:r>
            <a:r>
              <a:rPr lang="en-US" sz="4400" dirty="0">
                <a:solidFill>
                  <a:schemeClr val="bg1"/>
                </a:solidFill>
              </a:rPr>
              <a:t>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!!M1">
            <a:extLst>
              <a:ext uri="{FF2B5EF4-FFF2-40B4-BE49-F238E27FC236}">
                <a16:creationId xmlns:a16="http://schemas.microsoft.com/office/drawing/2014/main" id="{AD32D3A0-DED9-2329-78C0-8BEA75EAA471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913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Y-axis: </a:t>
            </a:r>
            <a:r>
              <a:rPr lang="en-US" sz="4400" dirty="0">
                <a:solidFill>
                  <a:schemeClr val="bg1"/>
                </a:solidFill>
              </a:rPr>
              <a:t>Neurons which were re-ordered based on similar firing preferences.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1" name="!!M1">
            <a:extLst>
              <a:ext uri="{FF2B5EF4-FFF2-40B4-BE49-F238E27FC236}">
                <a16:creationId xmlns:a16="http://schemas.microsoft.com/office/drawing/2014/main" id="{2140E2BA-F42C-5F2F-B222-7929C4110B47}"/>
              </a:ext>
            </a:extLst>
          </p:cNvPr>
          <p:cNvSpPr>
            <a:spLocks/>
          </p:cNvSpPr>
          <p:nvPr/>
        </p:nvSpPr>
        <p:spPr>
          <a:xfrm>
            <a:off x="6208651" y="-1825450"/>
            <a:ext cx="5830947" cy="1936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No comments on distinct role of these two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3" name="!!M1">
            <a:extLst>
              <a:ext uri="{FF2B5EF4-FFF2-40B4-BE49-F238E27FC236}">
                <a16:creationId xmlns:a16="http://schemas.microsoft.com/office/drawing/2014/main" id="{DF0DA242-6EA7-7366-C381-161CC087FAEF}"/>
              </a:ext>
            </a:extLst>
          </p:cNvPr>
          <p:cNvSpPr>
            <a:spLocks/>
          </p:cNvSpPr>
          <p:nvPr/>
        </p:nvSpPr>
        <p:spPr>
          <a:xfrm>
            <a:off x="6208651" y="-1870762"/>
            <a:ext cx="5830947" cy="31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Hierarchical clustering reveals distinct DS2 ensembles.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B184A5C3-58D0-FBBB-96E3-65C0F15B502F}"/>
              </a:ext>
            </a:extLst>
          </p:cNvPr>
          <p:cNvSpPr>
            <a:spLocks/>
          </p:cNvSpPr>
          <p:nvPr/>
        </p:nvSpPr>
        <p:spPr>
          <a:xfrm>
            <a:off x="6208653" y="-2017484"/>
            <a:ext cx="5830947" cy="6143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10a: DS2 events form repeating, non-random neural patterns.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7" name="!!M1">
            <a:extLst>
              <a:ext uri="{FF2B5EF4-FFF2-40B4-BE49-F238E27FC236}">
                <a16:creationId xmlns:a16="http://schemas.microsoft.com/office/drawing/2014/main" id="{886B1515-1400-EEFE-647C-F7974C22B617}"/>
              </a:ext>
            </a:extLst>
          </p:cNvPr>
          <p:cNvSpPr>
            <a:spLocks/>
          </p:cNvSpPr>
          <p:nvPr/>
        </p:nvSpPr>
        <p:spPr>
          <a:xfrm>
            <a:off x="6208653" y="-1337750"/>
            <a:ext cx="5830947" cy="6126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10b: Structured neural ensembles drive distinct DS2 categories.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42F7A256-2C2A-1AE4-F4F5-8C4607C92489}"/>
              </a:ext>
            </a:extLst>
          </p:cNvPr>
          <p:cNvSpPr>
            <a:spLocks/>
          </p:cNvSpPr>
          <p:nvPr/>
        </p:nvSpPr>
        <p:spPr>
          <a:xfrm>
            <a:off x="6208651" y="-659668"/>
            <a:ext cx="5830947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10d,e: </a:t>
            </a:r>
          </a:p>
          <a:p>
            <a:r>
              <a:rPr lang="en-US" sz="2600" dirty="0">
                <a:solidFill>
                  <a:schemeClr val="bg1"/>
                </a:solidFill>
              </a:rPr>
              <a:t>d: Neural patterns are more similar than chance; </a:t>
            </a:r>
            <a:r>
              <a:rPr lang="en-US" sz="2700" dirty="0">
                <a:solidFill>
                  <a:schemeClr val="bg1"/>
                </a:solidFill>
              </a:rPr>
              <a:t>e: Neural ensembles fire with high reliability.</a:t>
            </a:r>
            <a:endParaRPr lang="en-US" sz="270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!!Focus">
            <a:extLst>
              <a:ext uri="{FF2B5EF4-FFF2-40B4-BE49-F238E27FC236}">
                <a16:creationId xmlns:a16="http://schemas.microsoft.com/office/drawing/2014/main" id="{8106242D-713A-CB34-9EC2-DC5459FE0A7E}"/>
              </a:ext>
            </a:extLst>
          </p:cNvPr>
          <p:cNvSpPr/>
          <p:nvPr/>
        </p:nvSpPr>
        <p:spPr>
          <a:xfrm rot="10800000">
            <a:off x="466920" y="2662461"/>
            <a:ext cx="455293" cy="176804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!!M1">
            <a:extLst>
              <a:ext uri="{FF2B5EF4-FFF2-40B4-BE49-F238E27FC236}">
                <a16:creationId xmlns:a16="http://schemas.microsoft.com/office/drawing/2014/main" id="{115BBED1-2A93-F2EC-B2F2-9F81125E55F2}"/>
              </a:ext>
            </a:extLst>
          </p:cNvPr>
          <p:cNvSpPr>
            <a:spLocks/>
          </p:cNvSpPr>
          <p:nvPr/>
        </p:nvSpPr>
        <p:spPr>
          <a:xfrm>
            <a:off x="6828703" y="2606039"/>
            <a:ext cx="5213209" cy="990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b="1" dirty="0">
                <a:solidFill>
                  <a:srgbClr val="46B1E1"/>
                </a:solidFill>
              </a:rPr>
              <a:t>Place Cells: Excitatory neurons that form the spatial map.</a:t>
            </a:r>
            <a:endParaRPr lang="en-US" sz="4400" b="1" dirty="0">
              <a:solidFill>
                <a:srgbClr val="46B1E1"/>
              </a:solidFill>
              <a:effectLst/>
            </a:endParaRPr>
          </a:p>
        </p:txBody>
      </p:sp>
      <p:sp>
        <p:nvSpPr>
          <p:cNvPr id="7" name="!!Focus2">
            <a:extLst>
              <a:ext uri="{FF2B5EF4-FFF2-40B4-BE49-F238E27FC236}">
                <a16:creationId xmlns:a16="http://schemas.microsoft.com/office/drawing/2014/main" id="{CD5ADC93-4EC8-BF4F-FF48-99222ADA9682}"/>
              </a:ext>
            </a:extLst>
          </p:cNvPr>
          <p:cNvSpPr/>
          <p:nvPr/>
        </p:nvSpPr>
        <p:spPr>
          <a:xfrm rot="10800000">
            <a:off x="5834151" y="68062"/>
            <a:ext cx="1447801" cy="435488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D525CEC-2D8B-49BF-D58A-FC8F7890BBB3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131" y="2667000"/>
            <a:ext cx="5105400" cy="16764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3D7FEA-E3BF-6011-9249-7E97ACEA2B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06600" y="2410003"/>
            <a:ext cx="1447800" cy="91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75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  <p:bldP spid="7" grpId="8" animBg="1"/>
      <p:bldP spid="7" grpId="9" animBg="1"/>
      <p:bldP spid="7" grpId="1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F9F60-AE72-BECB-0F3F-CA7A3DAA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304E6775-A536-A0B2-2A2D-13B464C06ED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5486327" y="2130851"/>
            <a:ext cx="5568685" cy="325992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7043AA-CC8C-92AE-D516-07A87ADB2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860274"/>
            <a:ext cx="2362200" cy="1489899"/>
          </a:xfrm>
          <a:prstGeom prst="rect">
            <a:avLst/>
          </a:prstGeom>
        </p:spPr>
      </p:pic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50113AAC-44A9-1EF9-CF01-F077327AEF4E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5AD92068-33BD-8C64-C8D0-0EA584F1338F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DCDC9B5D-2AD6-9832-BCD8-14E08DE4C458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2DBABE08-4674-2F80-6CCB-379C6FAB052E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E4E8B8-2D95-8471-F952-47F6EC50A9D3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A04BCC0D-BD60-685D-240C-2CFD90B3EAA4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4567D76D-191A-76E4-78AF-0A66B488B862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0D38BA23-E490-CEF0-E9C2-A7F721674E2E}"/>
              </a:ext>
            </a:extLst>
          </p:cNvPr>
          <p:cNvSpPr/>
          <p:nvPr/>
        </p:nvSpPr>
        <p:spPr>
          <a:xfrm>
            <a:off x="-381000" y="-21401"/>
            <a:ext cx="12801601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</a:t>
            </a:r>
            <a:r>
              <a:rPr lang="en-US" sz="2800" b="1" u="sng" dirty="0">
                <a:solidFill>
                  <a:schemeClr val="bg1"/>
                </a:solidFill>
              </a:rPr>
              <a:t>DS2 encodes stationary, real-world position</a:t>
            </a:r>
            <a:endParaRPr lang="en-US" sz="2800" b="1" i="1" u="sng" dirty="0">
              <a:solidFill>
                <a:schemeClr val="bg1"/>
              </a:solidFill>
            </a:endParaRP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940DBAA8-320A-EF91-DA70-6FC1D4275F3E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60C8E693-4ABC-478D-6923-DAC257372A65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BD2444F8-5F1C-C284-B35A-B1633C98DA46}"/>
              </a:ext>
            </a:extLst>
          </p:cNvPr>
          <p:cNvSpPr>
            <a:spLocks/>
          </p:cNvSpPr>
          <p:nvPr/>
        </p:nvSpPr>
        <p:spPr>
          <a:xfrm>
            <a:off x="6208651" y="-1250784"/>
            <a:ext cx="5830947" cy="1688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Again, no comments on distinct role of these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2440E86C-51D6-8905-C1D8-7D79FF5A5536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483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X-axis: </a:t>
            </a:r>
            <a:r>
              <a:rPr lang="en-US" sz="4400" dirty="0"/>
              <a:t>~1,000 recorded DS2 events, sorted by the same hierarchical clusters as Panel a</a:t>
            </a:r>
            <a:r>
              <a:rPr lang="en-US" sz="4400" dirty="0">
                <a:solidFill>
                  <a:schemeClr val="bg1"/>
                </a:solidFill>
              </a:rPr>
              <a:t>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!!M1">
            <a:extLst>
              <a:ext uri="{FF2B5EF4-FFF2-40B4-BE49-F238E27FC236}">
                <a16:creationId xmlns:a16="http://schemas.microsoft.com/office/drawing/2014/main" id="{7A62EE3C-D189-F4F1-91A7-56021688BADE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913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Y-axis: </a:t>
            </a:r>
            <a:r>
              <a:rPr lang="en-US" sz="4400" dirty="0">
                <a:solidFill>
                  <a:schemeClr val="bg1"/>
                </a:solidFill>
              </a:rPr>
              <a:t>Neurons which were re-ordered based on similar firing preferences.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1" name="!!M1">
            <a:extLst>
              <a:ext uri="{FF2B5EF4-FFF2-40B4-BE49-F238E27FC236}">
                <a16:creationId xmlns:a16="http://schemas.microsoft.com/office/drawing/2014/main" id="{27CCBDAC-3E25-09E8-5452-AE7A053BEB53}"/>
              </a:ext>
            </a:extLst>
          </p:cNvPr>
          <p:cNvSpPr>
            <a:spLocks/>
          </p:cNvSpPr>
          <p:nvPr/>
        </p:nvSpPr>
        <p:spPr>
          <a:xfrm>
            <a:off x="6208651" y="-1825450"/>
            <a:ext cx="5830947" cy="1936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No comments on distinct role of these two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3" name="!!M1">
            <a:extLst>
              <a:ext uri="{FF2B5EF4-FFF2-40B4-BE49-F238E27FC236}">
                <a16:creationId xmlns:a16="http://schemas.microsoft.com/office/drawing/2014/main" id="{289BFED0-3EF8-4595-7C7F-B592C8621741}"/>
              </a:ext>
            </a:extLst>
          </p:cNvPr>
          <p:cNvSpPr>
            <a:spLocks/>
          </p:cNvSpPr>
          <p:nvPr/>
        </p:nvSpPr>
        <p:spPr>
          <a:xfrm>
            <a:off x="6208651" y="-1870762"/>
            <a:ext cx="5830947" cy="31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Hierarchical clustering reveals distinct DS2 ensembles.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0D573E0E-F3DB-360C-F56C-C896DE7407E6}"/>
              </a:ext>
            </a:extLst>
          </p:cNvPr>
          <p:cNvSpPr>
            <a:spLocks/>
          </p:cNvSpPr>
          <p:nvPr/>
        </p:nvSpPr>
        <p:spPr>
          <a:xfrm>
            <a:off x="6208653" y="-2017484"/>
            <a:ext cx="5830947" cy="6143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10a: DS2 events form repeating, non-random neural patterns.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7" name="!!M1">
            <a:extLst>
              <a:ext uri="{FF2B5EF4-FFF2-40B4-BE49-F238E27FC236}">
                <a16:creationId xmlns:a16="http://schemas.microsoft.com/office/drawing/2014/main" id="{D0E14610-8FCB-A74F-1E99-2F07CBFE20AA}"/>
              </a:ext>
            </a:extLst>
          </p:cNvPr>
          <p:cNvSpPr>
            <a:spLocks/>
          </p:cNvSpPr>
          <p:nvPr/>
        </p:nvSpPr>
        <p:spPr>
          <a:xfrm>
            <a:off x="6208653" y="-1337750"/>
            <a:ext cx="5830947" cy="6126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10b: Structured neural ensembles drive distinct DS2 categories.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BACA465E-5419-47B7-916D-57D56B8DB415}"/>
              </a:ext>
            </a:extLst>
          </p:cNvPr>
          <p:cNvSpPr>
            <a:spLocks/>
          </p:cNvSpPr>
          <p:nvPr/>
        </p:nvSpPr>
        <p:spPr>
          <a:xfrm>
            <a:off x="6208651" y="-659668"/>
            <a:ext cx="5830947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10d,e: </a:t>
            </a:r>
          </a:p>
          <a:p>
            <a:r>
              <a:rPr lang="en-US" sz="2600" dirty="0">
                <a:solidFill>
                  <a:schemeClr val="bg1"/>
                </a:solidFill>
              </a:rPr>
              <a:t>d: Neural patterns are more similar than chance; </a:t>
            </a:r>
            <a:r>
              <a:rPr lang="en-US" sz="2700" dirty="0">
                <a:solidFill>
                  <a:schemeClr val="bg1"/>
                </a:solidFill>
              </a:rPr>
              <a:t>e: Neural ensembles fire with high reliability.</a:t>
            </a:r>
            <a:endParaRPr lang="en-US" sz="2700" dirty="0">
              <a:solidFill>
                <a:schemeClr val="bg1"/>
              </a:solidFill>
              <a:effectLst/>
            </a:endParaRPr>
          </a:p>
        </p:txBody>
      </p:sp>
      <p:pic>
        <p:nvPicPr>
          <p:cNvPr id="14" name="Picture 1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05770635-DFB8-DF8C-8E27-36451C3910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471" b="36804"/>
          <a:stretch>
            <a:fillRect/>
          </a:stretch>
        </p:blipFill>
        <p:spPr>
          <a:xfrm>
            <a:off x="1371600" y="3124200"/>
            <a:ext cx="3788831" cy="10668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!!M1">
            <a:extLst>
              <a:ext uri="{FF2B5EF4-FFF2-40B4-BE49-F238E27FC236}">
                <a16:creationId xmlns:a16="http://schemas.microsoft.com/office/drawing/2014/main" id="{29709049-7BCA-49F6-FB99-2616617B63D2}"/>
              </a:ext>
            </a:extLst>
          </p:cNvPr>
          <p:cNvSpPr>
            <a:spLocks/>
          </p:cNvSpPr>
          <p:nvPr/>
        </p:nvSpPr>
        <p:spPr>
          <a:xfrm>
            <a:off x="1371600" y="1193327"/>
            <a:ext cx="3788831" cy="77928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CA1 place cells (PC) fire robustly during DS2 events</a:t>
            </a:r>
            <a:endParaRPr lang="en-US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32" name="!!Focus">
            <a:extLst>
              <a:ext uri="{FF2B5EF4-FFF2-40B4-BE49-F238E27FC236}">
                <a16:creationId xmlns:a16="http://schemas.microsoft.com/office/drawing/2014/main" id="{A332C519-E766-F72B-FEF3-43815145AF58}"/>
              </a:ext>
            </a:extLst>
          </p:cNvPr>
          <p:cNvSpPr/>
          <p:nvPr/>
        </p:nvSpPr>
        <p:spPr>
          <a:xfrm rot="10800000">
            <a:off x="-5867400" y="2170558"/>
            <a:ext cx="4649841" cy="125844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B15DAA2-BB2F-0EE2-C8A0-4102EA11C8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940" r="18636"/>
          <a:stretch>
            <a:fillRect/>
          </a:stretch>
        </p:blipFill>
        <p:spPr>
          <a:xfrm>
            <a:off x="4890417" y="-2815882"/>
            <a:ext cx="249683" cy="2104704"/>
          </a:xfrm>
          <a:prstGeom prst="rect">
            <a:avLst/>
          </a:prstGeom>
        </p:spPr>
      </p:pic>
      <p:sp>
        <p:nvSpPr>
          <p:cNvPr id="34" name="!!M1">
            <a:extLst>
              <a:ext uri="{FF2B5EF4-FFF2-40B4-BE49-F238E27FC236}">
                <a16:creationId xmlns:a16="http://schemas.microsoft.com/office/drawing/2014/main" id="{48BEB6CA-6E5B-442C-104C-C831887F574E}"/>
              </a:ext>
            </a:extLst>
          </p:cNvPr>
          <p:cNvSpPr>
            <a:spLocks/>
          </p:cNvSpPr>
          <p:nvPr/>
        </p:nvSpPr>
        <p:spPr>
          <a:xfrm>
            <a:off x="12573000" y="2314714"/>
            <a:ext cx="6889609" cy="10380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 Focus:</a:t>
            </a:r>
            <a:r>
              <a:rPr lang="en-US" sz="4400" dirty="0">
                <a:solidFill>
                  <a:schemeClr val="bg1"/>
                </a:solidFill>
              </a:rPr>
              <a:t>117 individual CA1 Place Cells (PCs).</a:t>
            </a:r>
          </a:p>
        </p:txBody>
      </p:sp>
      <p:sp>
        <p:nvSpPr>
          <p:cNvPr id="35" name="!!M1">
            <a:extLst>
              <a:ext uri="{FF2B5EF4-FFF2-40B4-BE49-F238E27FC236}">
                <a16:creationId xmlns:a16="http://schemas.microsoft.com/office/drawing/2014/main" id="{1C51C65B-EF45-AF36-26D5-5F0A990EDCFA}"/>
              </a:ext>
            </a:extLst>
          </p:cNvPr>
          <p:cNvSpPr>
            <a:spLocks/>
          </p:cNvSpPr>
          <p:nvPr/>
        </p:nvSpPr>
        <p:spPr>
          <a:xfrm>
            <a:off x="12573001" y="641171"/>
            <a:ext cx="6889608" cy="14533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Figure 3a: </a:t>
            </a:r>
            <a:r>
              <a:rPr lang="en-US" sz="4400" dirty="0">
                <a:solidFill>
                  <a:srgbClr val="FF0000"/>
                </a:solidFill>
              </a:rPr>
              <a:t>Locomotion creates a diagonal spatial map.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68441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4BBCC-E948-D57A-E5CF-284A50CE5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7255B943-6420-FC19-137A-C5046A36D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317" y="575942"/>
            <a:ext cx="13438387" cy="7866861"/>
          </a:xfrm>
          <a:prstGeom prst="rect">
            <a:avLst/>
          </a:prstGeom>
          <a:ln w="38100"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DDAC39-D0F8-0143-A51F-B0AF57B11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4962736"/>
            <a:ext cx="5638800" cy="3307631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E24DD34-F93F-7E04-1995-31BE1B384307}"/>
              </a:ext>
            </a:extLst>
          </p:cNvPr>
          <p:cNvSpPr/>
          <p:nvPr/>
        </p:nvSpPr>
        <p:spPr>
          <a:xfrm>
            <a:off x="-756329" y="503550"/>
            <a:ext cx="14554200" cy="6172201"/>
          </a:xfrm>
          <a:custGeom>
            <a:avLst/>
            <a:gdLst>
              <a:gd name="csX0" fmla="*/ 984929 w 14554200"/>
              <a:gd name="csY0" fmla="*/ 99606 h 6172201"/>
              <a:gd name="csX1" fmla="*/ 984929 w 14554200"/>
              <a:gd name="csY1" fmla="*/ 4144650 h 6172201"/>
              <a:gd name="csX2" fmla="*/ 5939571 w 14554200"/>
              <a:gd name="csY2" fmla="*/ 4144650 h 6172201"/>
              <a:gd name="csX3" fmla="*/ 5939571 w 14554200"/>
              <a:gd name="csY3" fmla="*/ 99606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7696200 w 14554200"/>
              <a:gd name="csY6" fmla="*/ 0 h 6172201"/>
              <a:gd name="csX7" fmla="*/ 14554200 w 14554200"/>
              <a:gd name="csY7" fmla="*/ 0 h 6172201"/>
              <a:gd name="csX8" fmla="*/ 14554200 w 14554200"/>
              <a:gd name="csY8" fmla="*/ 6172199 h 6172201"/>
              <a:gd name="csX9" fmla="*/ 13508447 w 14554200"/>
              <a:gd name="csY9" fmla="*/ 6172199 h 6172201"/>
              <a:gd name="csX10" fmla="*/ 13508447 w 14554200"/>
              <a:gd name="csY10" fmla="*/ 6172201 h 6172201"/>
              <a:gd name="csX11" fmla="*/ 7924800 w 14554200"/>
              <a:gd name="csY11" fmla="*/ 6172201 h 6172201"/>
              <a:gd name="csX12" fmla="*/ 7924800 w 14554200"/>
              <a:gd name="csY12" fmla="*/ 6172200 h 6172201"/>
              <a:gd name="csX13" fmla="*/ 762000 w 14554200"/>
              <a:gd name="csY13" fmla="*/ 6172200 h 6172201"/>
              <a:gd name="csX14" fmla="*/ 762000 w 14554200"/>
              <a:gd name="csY14" fmla="*/ 6172199 h 6172201"/>
              <a:gd name="csX15" fmla="*/ 0 w 14554200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4200" h="6172201">
                <a:moveTo>
                  <a:pt x="984929" y="99606"/>
                </a:moveTo>
                <a:lnTo>
                  <a:pt x="984929" y="4144650"/>
                </a:lnTo>
                <a:lnTo>
                  <a:pt x="5939571" y="4144650"/>
                </a:lnTo>
                <a:lnTo>
                  <a:pt x="5939571" y="9960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93ABF9D7-4A43-DFC8-C06F-2EFD354723F7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06676150-22F6-7191-A2C5-E9A2B5C0B699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037EB3A0-AC36-68AD-0CD9-1D27AEEDF806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EC8FCB-0587-E9CF-4A7D-1272592D9FAB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AC8FBF77-ED51-A007-CE85-719FD173B3E6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518959A3-6820-35A3-7714-04DB644B91EB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B98082EA-C04C-7219-6922-DEF4389D64F4}"/>
              </a:ext>
            </a:extLst>
          </p:cNvPr>
          <p:cNvSpPr/>
          <p:nvPr/>
        </p:nvSpPr>
        <p:spPr>
          <a:xfrm>
            <a:off x="-381000" y="-21401"/>
            <a:ext cx="12801601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</a:t>
            </a:r>
            <a:r>
              <a:rPr lang="en-US" sz="2800" b="1" u="sng" dirty="0">
                <a:solidFill>
                  <a:schemeClr val="bg1"/>
                </a:solidFill>
              </a:rPr>
              <a:t>DS2 encodes stationary, real-world position</a:t>
            </a:r>
            <a:endParaRPr lang="en-US" sz="2800" b="1" i="1" u="sng" dirty="0">
              <a:solidFill>
                <a:schemeClr val="bg1"/>
              </a:solidFill>
            </a:endParaRP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3E13EE66-A124-611E-A93C-9FD9EED05D36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86C3497D-5343-F2DF-828A-2363A6B382A6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EA498ED1-95EC-F6E5-CC42-C92100656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52999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0728AD10-0018-8C54-184F-089BAD241A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079052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 descr="A close-up of a graph&#10;&#10;AI-generated content may be incorrect.">
            <a:extLst>
              <a:ext uri="{FF2B5EF4-FFF2-40B4-BE49-F238E27FC236}">
                <a16:creationId xmlns:a16="http://schemas.microsoft.com/office/drawing/2014/main" id="{80454818-AABA-A502-CAF6-61DB1C9D7902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-49530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Picture 2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7FE6A28-8E8C-BAF3-54D5-DEC1FD42EC43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l="1190" t="2034"/>
          <a:stretch>
            <a:fillRect/>
          </a:stretch>
        </p:blipFill>
        <p:spPr>
          <a:xfrm>
            <a:off x="12725400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7" name="!!M1">
            <a:extLst>
              <a:ext uri="{FF2B5EF4-FFF2-40B4-BE49-F238E27FC236}">
                <a16:creationId xmlns:a16="http://schemas.microsoft.com/office/drawing/2014/main" id="{93AEFD00-7AC5-0266-9F91-C65A9BF8183F}"/>
              </a:ext>
            </a:extLst>
          </p:cNvPr>
          <p:cNvSpPr>
            <a:spLocks/>
          </p:cNvSpPr>
          <p:nvPr/>
        </p:nvSpPr>
        <p:spPr>
          <a:xfrm>
            <a:off x="5302391" y="2310939"/>
            <a:ext cx="6889609" cy="10380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The Sorting: </a:t>
            </a:r>
            <a:r>
              <a:rPr lang="en-US" sz="4400" dirty="0">
                <a:solidFill>
                  <a:schemeClr val="bg1"/>
                </a:solidFill>
              </a:rPr>
              <a:t>ordered by their "preferred location"—the specific spot on the 120-cm treadmill where they fire most.</a:t>
            </a:r>
          </a:p>
        </p:txBody>
      </p:sp>
      <p:sp>
        <p:nvSpPr>
          <p:cNvPr id="2" name="!!M5">
            <a:extLst>
              <a:ext uri="{FF2B5EF4-FFF2-40B4-BE49-F238E27FC236}">
                <a16:creationId xmlns:a16="http://schemas.microsoft.com/office/drawing/2014/main" id="{44AC2BD6-F0B0-8D46-1C83-99A374141395}"/>
              </a:ext>
            </a:extLst>
          </p:cNvPr>
          <p:cNvSpPr>
            <a:spLocks/>
          </p:cNvSpPr>
          <p:nvPr/>
        </p:nvSpPr>
        <p:spPr>
          <a:xfrm>
            <a:off x="-4983139" y="584832"/>
            <a:ext cx="1689942" cy="51462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</a:rPr>
              <a:t>DS2 spikes are highly organized</a:t>
            </a:r>
            <a:endParaRPr lang="en-US" sz="1200" b="1" u="sng" dirty="0">
              <a:solidFill>
                <a:srgbClr val="FF0000"/>
              </a:solidFill>
            </a:endParaRPr>
          </a:p>
        </p:txBody>
      </p:sp>
      <p:sp>
        <p:nvSpPr>
          <p:cNvPr id="30" name="!!M1">
            <a:extLst>
              <a:ext uri="{FF2B5EF4-FFF2-40B4-BE49-F238E27FC236}">
                <a16:creationId xmlns:a16="http://schemas.microsoft.com/office/drawing/2014/main" id="{AF7FC767-9E4D-9120-06B7-F93CC1ED67FB}"/>
              </a:ext>
            </a:extLst>
          </p:cNvPr>
          <p:cNvSpPr>
            <a:spLocks/>
          </p:cNvSpPr>
          <p:nvPr/>
        </p:nvSpPr>
        <p:spPr>
          <a:xfrm>
            <a:off x="5302391" y="2314714"/>
            <a:ext cx="6889609" cy="10380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 Focus:</a:t>
            </a:r>
            <a:r>
              <a:rPr lang="en-US" sz="4400" dirty="0">
                <a:solidFill>
                  <a:schemeClr val="bg1"/>
                </a:solidFill>
              </a:rPr>
              <a:t>117 individual CA1 Place Cells (PCs).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ADFFE984-5D42-A9F6-59E2-2012464F6BB6}"/>
              </a:ext>
            </a:extLst>
          </p:cNvPr>
          <p:cNvSpPr>
            <a:spLocks/>
          </p:cNvSpPr>
          <p:nvPr/>
        </p:nvSpPr>
        <p:spPr>
          <a:xfrm>
            <a:off x="6208651" y="-1250784"/>
            <a:ext cx="5830947" cy="1688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Again, no comments on distinct role of these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108711FC-EFFA-83B0-49E2-E9702B8A3629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483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X-axis: </a:t>
            </a:r>
            <a:r>
              <a:rPr lang="en-US" sz="4400" dirty="0"/>
              <a:t>~1,000 recorded DS2 events, sorted by the same hierarchical clusters as Panel a</a:t>
            </a:r>
            <a:r>
              <a:rPr lang="en-US" sz="4400" dirty="0">
                <a:solidFill>
                  <a:schemeClr val="bg1"/>
                </a:solidFill>
              </a:rPr>
              <a:t>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!!M1">
            <a:extLst>
              <a:ext uri="{FF2B5EF4-FFF2-40B4-BE49-F238E27FC236}">
                <a16:creationId xmlns:a16="http://schemas.microsoft.com/office/drawing/2014/main" id="{A9BBFB31-7205-88ED-60DE-27B5B7DAAC8B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913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Y-axis: </a:t>
            </a:r>
            <a:r>
              <a:rPr lang="en-US" sz="4400" dirty="0">
                <a:solidFill>
                  <a:schemeClr val="bg1"/>
                </a:solidFill>
              </a:rPr>
              <a:t>Neurons which were re-ordered based on similar firing preferences.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1" name="!!M1">
            <a:extLst>
              <a:ext uri="{FF2B5EF4-FFF2-40B4-BE49-F238E27FC236}">
                <a16:creationId xmlns:a16="http://schemas.microsoft.com/office/drawing/2014/main" id="{D69B8E81-084D-ABE9-458F-8446AD83E45E}"/>
              </a:ext>
            </a:extLst>
          </p:cNvPr>
          <p:cNvSpPr>
            <a:spLocks/>
          </p:cNvSpPr>
          <p:nvPr/>
        </p:nvSpPr>
        <p:spPr>
          <a:xfrm>
            <a:off x="6208651" y="-1825450"/>
            <a:ext cx="5830947" cy="1936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No comments on distinct role of these two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3" name="!!M1">
            <a:extLst>
              <a:ext uri="{FF2B5EF4-FFF2-40B4-BE49-F238E27FC236}">
                <a16:creationId xmlns:a16="http://schemas.microsoft.com/office/drawing/2014/main" id="{C25CA93F-1D85-28E8-1067-997C859D5A6D}"/>
              </a:ext>
            </a:extLst>
          </p:cNvPr>
          <p:cNvSpPr>
            <a:spLocks/>
          </p:cNvSpPr>
          <p:nvPr/>
        </p:nvSpPr>
        <p:spPr>
          <a:xfrm>
            <a:off x="6208651" y="-1870762"/>
            <a:ext cx="5830947" cy="31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Hierarchical clustering reveals distinct DS2 ensembles.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3EEDD1E3-A997-E684-A120-133FD1BCC3D8}"/>
              </a:ext>
            </a:extLst>
          </p:cNvPr>
          <p:cNvSpPr>
            <a:spLocks/>
          </p:cNvSpPr>
          <p:nvPr/>
        </p:nvSpPr>
        <p:spPr>
          <a:xfrm>
            <a:off x="6208653" y="-2017484"/>
            <a:ext cx="5830947" cy="6143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10a: DS2 events form repeating, non-random neural patterns.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7" name="!!M1">
            <a:extLst>
              <a:ext uri="{FF2B5EF4-FFF2-40B4-BE49-F238E27FC236}">
                <a16:creationId xmlns:a16="http://schemas.microsoft.com/office/drawing/2014/main" id="{BDAE983F-8479-F127-353D-0ADC2F411A9A}"/>
              </a:ext>
            </a:extLst>
          </p:cNvPr>
          <p:cNvSpPr>
            <a:spLocks/>
          </p:cNvSpPr>
          <p:nvPr/>
        </p:nvSpPr>
        <p:spPr>
          <a:xfrm>
            <a:off x="6208653" y="-1337750"/>
            <a:ext cx="5830947" cy="6126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10b: Structured neural ensembles drive distinct DS2 categories.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00424106-84E4-8B6D-91CE-6F057D9CA423}"/>
              </a:ext>
            </a:extLst>
          </p:cNvPr>
          <p:cNvSpPr>
            <a:spLocks/>
          </p:cNvSpPr>
          <p:nvPr/>
        </p:nvSpPr>
        <p:spPr>
          <a:xfrm>
            <a:off x="6208651" y="-659668"/>
            <a:ext cx="5830947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10d,e: </a:t>
            </a:r>
          </a:p>
          <a:p>
            <a:r>
              <a:rPr lang="en-US" sz="2600" dirty="0">
                <a:solidFill>
                  <a:schemeClr val="bg1"/>
                </a:solidFill>
              </a:rPr>
              <a:t>d: Neural patterns are more similar than chance; </a:t>
            </a:r>
            <a:r>
              <a:rPr lang="en-US" sz="2700" dirty="0">
                <a:solidFill>
                  <a:schemeClr val="bg1"/>
                </a:solidFill>
              </a:rPr>
              <a:t>e: Neural ensembles fire with high reliability.</a:t>
            </a:r>
            <a:endParaRPr lang="en-US" sz="270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EE6867AA-B3B0-D06C-B579-808BBC00F490}"/>
              </a:ext>
            </a:extLst>
          </p:cNvPr>
          <p:cNvSpPr>
            <a:spLocks/>
          </p:cNvSpPr>
          <p:nvPr/>
        </p:nvSpPr>
        <p:spPr>
          <a:xfrm>
            <a:off x="5302392" y="641171"/>
            <a:ext cx="6889608" cy="14533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Figure 3a: </a:t>
            </a:r>
            <a:r>
              <a:rPr lang="en-US" sz="4400" dirty="0">
                <a:solidFill>
                  <a:srgbClr val="FF0000"/>
                </a:solidFill>
              </a:rPr>
              <a:t>Locomotion creates a diagonal spatial map.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16" name="!!M1">
            <a:extLst>
              <a:ext uri="{FF2B5EF4-FFF2-40B4-BE49-F238E27FC236}">
                <a16:creationId xmlns:a16="http://schemas.microsoft.com/office/drawing/2014/main" id="{A9872518-2481-FB58-8308-DFA211F6D38F}"/>
              </a:ext>
            </a:extLst>
          </p:cNvPr>
          <p:cNvSpPr>
            <a:spLocks/>
          </p:cNvSpPr>
          <p:nvPr/>
        </p:nvSpPr>
        <p:spPr>
          <a:xfrm>
            <a:off x="12998591" y="2371874"/>
            <a:ext cx="5213209" cy="82852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Fast-Spiking Cells: The inhibitory interneurons (the "brakes").</a:t>
            </a:r>
          </a:p>
        </p:txBody>
      </p:sp>
      <p:sp>
        <p:nvSpPr>
          <p:cNvPr id="4" name="!!M1">
            <a:extLst>
              <a:ext uri="{FF2B5EF4-FFF2-40B4-BE49-F238E27FC236}">
                <a16:creationId xmlns:a16="http://schemas.microsoft.com/office/drawing/2014/main" id="{C1EFD3B2-7228-E16C-F7AD-3B9AD39C9B8D}"/>
              </a:ext>
            </a:extLst>
          </p:cNvPr>
          <p:cNvSpPr>
            <a:spLocks/>
          </p:cNvSpPr>
          <p:nvPr/>
        </p:nvSpPr>
        <p:spPr>
          <a:xfrm>
            <a:off x="-3079052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CA1 place cells (PC) fire robustly during DS2 events</a:t>
            </a:r>
            <a:endParaRPr lang="en-US" sz="44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5" name="!!M1">
            <a:extLst>
              <a:ext uri="{FF2B5EF4-FFF2-40B4-BE49-F238E27FC236}">
                <a16:creationId xmlns:a16="http://schemas.microsoft.com/office/drawing/2014/main" id="{DAC1CD81-F788-5C23-20B6-8F6730B6C3B2}"/>
              </a:ext>
            </a:extLst>
          </p:cNvPr>
          <p:cNvSpPr>
            <a:spLocks/>
          </p:cNvSpPr>
          <p:nvPr/>
        </p:nvSpPr>
        <p:spPr>
          <a:xfrm>
            <a:off x="13117741" y="4358849"/>
            <a:ext cx="5213209" cy="69765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Non-Place Cells: Broadly recruited, non-spatial neural population.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8FAF77FF-EA58-741D-9617-B0DFC1ACE1EF}"/>
              </a:ext>
            </a:extLst>
          </p:cNvPr>
          <p:cNvSpPr>
            <a:spLocks/>
          </p:cNvSpPr>
          <p:nvPr/>
        </p:nvSpPr>
        <p:spPr>
          <a:xfrm>
            <a:off x="13117741" y="3200400"/>
            <a:ext cx="5213209" cy="990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b="1" dirty="0">
                <a:solidFill>
                  <a:srgbClr val="46B1E1"/>
                </a:solidFill>
              </a:rPr>
              <a:t>Place Cells: Excitatory neurons that form the spatial map.</a:t>
            </a:r>
            <a:endParaRPr lang="en-US" sz="4400" b="1" dirty="0">
              <a:solidFill>
                <a:srgbClr val="46B1E1"/>
              </a:solidFill>
              <a:effectLst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955AA94-2E3C-3E52-A040-10EFA918D49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940" r="18636"/>
          <a:stretch>
            <a:fillRect/>
          </a:stretch>
        </p:blipFill>
        <p:spPr>
          <a:xfrm>
            <a:off x="4890417" y="1236283"/>
            <a:ext cx="249683" cy="2104704"/>
          </a:xfrm>
          <a:prstGeom prst="rect">
            <a:avLst/>
          </a:prstGeom>
        </p:spPr>
      </p:pic>
      <p:sp>
        <p:nvSpPr>
          <p:cNvPr id="36" name="!!Focus">
            <a:extLst>
              <a:ext uri="{FF2B5EF4-FFF2-40B4-BE49-F238E27FC236}">
                <a16:creationId xmlns:a16="http://schemas.microsoft.com/office/drawing/2014/main" id="{C88CE0D6-7ABE-A2BF-553F-095C40E741D8}"/>
              </a:ext>
            </a:extLst>
          </p:cNvPr>
          <p:cNvSpPr/>
          <p:nvPr/>
        </p:nvSpPr>
        <p:spPr>
          <a:xfrm rot="10800000">
            <a:off x="533399" y="2170558"/>
            <a:ext cx="4649841" cy="125844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845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36EE4-1AD1-6C36-CE35-E0299CDE1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331899CB-6538-65CE-71D5-9562846BB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317" y="575942"/>
            <a:ext cx="13438387" cy="7866861"/>
          </a:xfrm>
          <a:prstGeom prst="rect">
            <a:avLst/>
          </a:prstGeom>
          <a:ln w="38100">
            <a:noFill/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C353306-D09B-A5B0-D079-51E2128C9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4962736"/>
            <a:ext cx="5638800" cy="3307631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A8A3746-C7D5-03B8-A187-C5A76E347527}"/>
              </a:ext>
            </a:extLst>
          </p:cNvPr>
          <p:cNvSpPr/>
          <p:nvPr/>
        </p:nvSpPr>
        <p:spPr>
          <a:xfrm>
            <a:off x="-756329" y="503550"/>
            <a:ext cx="14554200" cy="6172201"/>
          </a:xfrm>
          <a:custGeom>
            <a:avLst/>
            <a:gdLst>
              <a:gd name="csX0" fmla="*/ 984929 w 14554200"/>
              <a:gd name="csY0" fmla="*/ 99606 h 6172201"/>
              <a:gd name="csX1" fmla="*/ 984929 w 14554200"/>
              <a:gd name="csY1" fmla="*/ 4144650 h 6172201"/>
              <a:gd name="csX2" fmla="*/ 5939571 w 14554200"/>
              <a:gd name="csY2" fmla="*/ 4144650 h 6172201"/>
              <a:gd name="csX3" fmla="*/ 5939571 w 14554200"/>
              <a:gd name="csY3" fmla="*/ 99606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7696200 w 14554200"/>
              <a:gd name="csY6" fmla="*/ 0 h 6172201"/>
              <a:gd name="csX7" fmla="*/ 14554200 w 14554200"/>
              <a:gd name="csY7" fmla="*/ 0 h 6172201"/>
              <a:gd name="csX8" fmla="*/ 14554200 w 14554200"/>
              <a:gd name="csY8" fmla="*/ 6172199 h 6172201"/>
              <a:gd name="csX9" fmla="*/ 13508447 w 14554200"/>
              <a:gd name="csY9" fmla="*/ 6172199 h 6172201"/>
              <a:gd name="csX10" fmla="*/ 13508447 w 14554200"/>
              <a:gd name="csY10" fmla="*/ 6172201 h 6172201"/>
              <a:gd name="csX11" fmla="*/ 7924800 w 14554200"/>
              <a:gd name="csY11" fmla="*/ 6172201 h 6172201"/>
              <a:gd name="csX12" fmla="*/ 7924800 w 14554200"/>
              <a:gd name="csY12" fmla="*/ 6172200 h 6172201"/>
              <a:gd name="csX13" fmla="*/ 762000 w 14554200"/>
              <a:gd name="csY13" fmla="*/ 6172200 h 6172201"/>
              <a:gd name="csX14" fmla="*/ 762000 w 14554200"/>
              <a:gd name="csY14" fmla="*/ 6172199 h 6172201"/>
              <a:gd name="csX15" fmla="*/ 0 w 14554200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4200" h="6172201">
                <a:moveTo>
                  <a:pt x="984929" y="99606"/>
                </a:moveTo>
                <a:lnTo>
                  <a:pt x="984929" y="4144650"/>
                </a:lnTo>
                <a:lnTo>
                  <a:pt x="5939571" y="4144650"/>
                </a:lnTo>
                <a:lnTo>
                  <a:pt x="5939571" y="9960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94FF38EB-9955-F1C3-94F7-2C1E9390632C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20CDCCD5-DD74-A4E2-1B19-46013DBE8D33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72C5754F-498B-E97A-A17F-2783882BCDE9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2EBA21-F924-591B-FCC5-29EB08A03353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BB16595C-7025-B281-AB1F-1ECB8836CBBA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D4F1764F-DFC8-15CA-52FA-69E2465AAB0E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488F31FC-C878-4CA7-F3A9-EAC428E452F5}"/>
              </a:ext>
            </a:extLst>
          </p:cNvPr>
          <p:cNvSpPr/>
          <p:nvPr/>
        </p:nvSpPr>
        <p:spPr>
          <a:xfrm>
            <a:off x="-381000" y="-21401"/>
            <a:ext cx="12801601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</a:t>
            </a:r>
            <a:r>
              <a:rPr lang="en-US" sz="2800" b="1" u="sng" dirty="0">
                <a:solidFill>
                  <a:schemeClr val="bg1"/>
                </a:solidFill>
              </a:rPr>
              <a:t>DS2 encodes stationary, real-world position</a:t>
            </a:r>
            <a:endParaRPr lang="en-US" sz="2800" b="1" i="1" u="sng" dirty="0">
              <a:solidFill>
                <a:schemeClr val="bg1"/>
              </a:solidFill>
            </a:endParaRP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9047618D-4271-F017-50BD-5B3C48E19CEF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F7972C6A-6FC2-C56F-9FEC-6BE315E93D7B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7D98D862-4211-3C4D-ED25-7713E41BC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52999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5CE2199B-8A6E-00F7-9E1D-55A93206B8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079052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 descr="A close-up of a graph&#10;&#10;AI-generated content may be incorrect.">
            <a:extLst>
              <a:ext uri="{FF2B5EF4-FFF2-40B4-BE49-F238E27FC236}">
                <a16:creationId xmlns:a16="http://schemas.microsoft.com/office/drawing/2014/main" id="{D2363CF5-8E33-32A9-B0E2-57A37F70A9E4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-49530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Picture 2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A179874-C3FD-F6B5-D3F2-CB68D87BC352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l="1190" t="2034"/>
          <a:stretch>
            <a:fillRect/>
          </a:stretch>
        </p:blipFill>
        <p:spPr>
          <a:xfrm>
            <a:off x="12725400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0" name="!!M1">
            <a:extLst>
              <a:ext uri="{FF2B5EF4-FFF2-40B4-BE49-F238E27FC236}">
                <a16:creationId xmlns:a16="http://schemas.microsoft.com/office/drawing/2014/main" id="{371CDD74-6172-EDC6-81F9-A8F115B9401C}"/>
              </a:ext>
            </a:extLst>
          </p:cNvPr>
          <p:cNvSpPr>
            <a:spLocks/>
          </p:cNvSpPr>
          <p:nvPr/>
        </p:nvSpPr>
        <p:spPr>
          <a:xfrm>
            <a:off x="5302391" y="3471458"/>
            <a:ext cx="6889609" cy="10380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Result: </a:t>
            </a:r>
            <a:r>
              <a:rPr lang="en-US" sz="4400" dirty="0">
                <a:solidFill>
                  <a:schemeClr val="bg1"/>
                </a:solidFill>
              </a:rPr>
              <a:t>This created the clear diagonal line of activity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BA5FAE84-970F-6D7F-5E3A-5BA8B0A38602}"/>
              </a:ext>
            </a:extLst>
          </p:cNvPr>
          <p:cNvSpPr>
            <a:spLocks/>
          </p:cNvSpPr>
          <p:nvPr/>
        </p:nvSpPr>
        <p:spPr>
          <a:xfrm>
            <a:off x="5302391" y="3458994"/>
            <a:ext cx="6889609" cy="10380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The Sorting: </a:t>
            </a:r>
            <a:r>
              <a:rPr lang="en-US" sz="4400" dirty="0">
                <a:solidFill>
                  <a:schemeClr val="bg1"/>
                </a:solidFill>
              </a:rPr>
              <a:t>ordered by their "preferred location"—the specific spot on the 120-cm treadmill where they fire most.</a:t>
            </a:r>
          </a:p>
        </p:txBody>
      </p:sp>
      <p:sp>
        <p:nvSpPr>
          <p:cNvPr id="2" name="!!M5">
            <a:extLst>
              <a:ext uri="{FF2B5EF4-FFF2-40B4-BE49-F238E27FC236}">
                <a16:creationId xmlns:a16="http://schemas.microsoft.com/office/drawing/2014/main" id="{02FB1F7E-5681-33DC-3982-DB4B64B623D7}"/>
              </a:ext>
            </a:extLst>
          </p:cNvPr>
          <p:cNvSpPr>
            <a:spLocks/>
          </p:cNvSpPr>
          <p:nvPr/>
        </p:nvSpPr>
        <p:spPr>
          <a:xfrm>
            <a:off x="-4983139" y="584832"/>
            <a:ext cx="1689942" cy="51462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</a:rPr>
              <a:t>DS2 spikes are highly organized</a:t>
            </a:r>
            <a:endParaRPr lang="en-US" sz="1200" b="1" u="sng" dirty="0">
              <a:solidFill>
                <a:srgbClr val="FF0000"/>
              </a:solidFill>
            </a:endParaRPr>
          </a:p>
        </p:txBody>
      </p:sp>
      <p:sp>
        <p:nvSpPr>
          <p:cNvPr id="30" name="!!M1">
            <a:extLst>
              <a:ext uri="{FF2B5EF4-FFF2-40B4-BE49-F238E27FC236}">
                <a16:creationId xmlns:a16="http://schemas.microsoft.com/office/drawing/2014/main" id="{C786ADC4-4B09-6B31-5D46-82C7A6092D05}"/>
              </a:ext>
            </a:extLst>
          </p:cNvPr>
          <p:cNvSpPr>
            <a:spLocks/>
          </p:cNvSpPr>
          <p:nvPr/>
        </p:nvSpPr>
        <p:spPr>
          <a:xfrm>
            <a:off x="5302391" y="2314714"/>
            <a:ext cx="6889609" cy="10380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 Focus:</a:t>
            </a:r>
            <a:r>
              <a:rPr lang="en-US" sz="4400" dirty="0">
                <a:solidFill>
                  <a:schemeClr val="bg1"/>
                </a:solidFill>
              </a:rPr>
              <a:t>117 individual CA1 Place Cells (PCs).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34B041DC-BE39-7899-B8D1-7E0B9628760D}"/>
              </a:ext>
            </a:extLst>
          </p:cNvPr>
          <p:cNvSpPr>
            <a:spLocks/>
          </p:cNvSpPr>
          <p:nvPr/>
        </p:nvSpPr>
        <p:spPr>
          <a:xfrm>
            <a:off x="6208651" y="-1250784"/>
            <a:ext cx="5830947" cy="1688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Again, no comments on distinct role of these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A95FC7D3-073C-6529-98B8-DB61034FF4AD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483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X-axis: </a:t>
            </a:r>
            <a:r>
              <a:rPr lang="en-US" sz="4400" dirty="0"/>
              <a:t>~1,000 recorded DS2 events, sorted by the same hierarchical clusters as Panel a</a:t>
            </a:r>
            <a:r>
              <a:rPr lang="en-US" sz="4400" dirty="0">
                <a:solidFill>
                  <a:schemeClr val="bg1"/>
                </a:solidFill>
              </a:rPr>
              <a:t>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!!M1">
            <a:extLst>
              <a:ext uri="{FF2B5EF4-FFF2-40B4-BE49-F238E27FC236}">
                <a16:creationId xmlns:a16="http://schemas.microsoft.com/office/drawing/2014/main" id="{D1C496B5-6974-DC76-000A-01F6CC656580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913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Y-axis: </a:t>
            </a:r>
            <a:r>
              <a:rPr lang="en-US" sz="4400" dirty="0">
                <a:solidFill>
                  <a:schemeClr val="bg1"/>
                </a:solidFill>
              </a:rPr>
              <a:t>Neurons which were re-ordered based on similar firing preferences.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1" name="!!M1">
            <a:extLst>
              <a:ext uri="{FF2B5EF4-FFF2-40B4-BE49-F238E27FC236}">
                <a16:creationId xmlns:a16="http://schemas.microsoft.com/office/drawing/2014/main" id="{68615A80-91B0-24ED-17D7-676EBD296897}"/>
              </a:ext>
            </a:extLst>
          </p:cNvPr>
          <p:cNvSpPr>
            <a:spLocks/>
          </p:cNvSpPr>
          <p:nvPr/>
        </p:nvSpPr>
        <p:spPr>
          <a:xfrm>
            <a:off x="6208651" y="-1825450"/>
            <a:ext cx="5830947" cy="1936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No comments on distinct role of these two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3" name="!!M1">
            <a:extLst>
              <a:ext uri="{FF2B5EF4-FFF2-40B4-BE49-F238E27FC236}">
                <a16:creationId xmlns:a16="http://schemas.microsoft.com/office/drawing/2014/main" id="{C14048BA-90D2-0CF0-2E5D-5A7D45132605}"/>
              </a:ext>
            </a:extLst>
          </p:cNvPr>
          <p:cNvSpPr>
            <a:spLocks/>
          </p:cNvSpPr>
          <p:nvPr/>
        </p:nvSpPr>
        <p:spPr>
          <a:xfrm>
            <a:off x="6208651" y="-1870762"/>
            <a:ext cx="5830947" cy="31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Hierarchical clustering reveals distinct DS2 ensembles.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9C62D269-D96D-8BAB-A434-A6385B63A8EE}"/>
              </a:ext>
            </a:extLst>
          </p:cNvPr>
          <p:cNvSpPr>
            <a:spLocks/>
          </p:cNvSpPr>
          <p:nvPr/>
        </p:nvSpPr>
        <p:spPr>
          <a:xfrm>
            <a:off x="6208653" y="-2017484"/>
            <a:ext cx="5830947" cy="6143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10a: DS2 events form repeating, non-random neural patterns.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7" name="!!M1">
            <a:extLst>
              <a:ext uri="{FF2B5EF4-FFF2-40B4-BE49-F238E27FC236}">
                <a16:creationId xmlns:a16="http://schemas.microsoft.com/office/drawing/2014/main" id="{0556A5E6-975B-E9CC-250F-8987E372B00D}"/>
              </a:ext>
            </a:extLst>
          </p:cNvPr>
          <p:cNvSpPr>
            <a:spLocks/>
          </p:cNvSpPr>
          <p:nvPr/>
        </p:nvSpPr>
        <p:spPr>
          <a:xfrm>
            <a:off x="6208653" y="-1337750"/>
            <a:ext cx="5830947" cy="6126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10b: Structured neural ensembles drive distinct DS2 categories.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664156DB-668F-0B40-6E3E-171DBF815544}"/>
              </a:ext>
            </a:extLst>
          </p:cNvPr>
          <p:cNvSpPr>
            <a:spLocks/>
          </p:cNvSpPr>
          <p:nvPr/>
        </p:nvSpPr>
        <p:spPr>
          <a:xfrm>
            <a:off x="6208651" y="-659668"/>
            <a:ext cx="5830947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10d,e: </a:t>
            </a:r>
          </a:p>
          <a:p>
            <a:r>
              <a:rPr lang="en-US" sz="2600" dirty="0">
                <a:solidFill>
                  <a:schemeClr val="bg1"/>
                </a:solidFill>
              </a:rPr>
              <a:t>d: Neural patterns are more similar than chance; </a:t>
            </a:r>
            <a:r>
              <a:rPr lang="en-US" sz="2700" dirty="0">
                <a:solidFill>
                  <a:schemeClr val="bg1"/>
                </a:solidFill>
              </a:rPr>
              <a:t>e: Neural ensembles fire with high reliability.</a:t>
            </a:r>
            <a:endParaRPr lang="en-US" sz="270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F3A16F05-6361-30F6-4DBF-85F3CF6CAFA7}"/>
              </a:ext>
            </a:extLst>
          </p:cNvPr>
          <p:cNvSpPr>
            <a:spLocks/>
          </p:cNvSpPr>
          <p:nvPr/>
        </p:nvSpPr>
        <p:spPr>
          <a:xfrm>
            <a:off x="5302392" y="641171"/>
            <a:ext cx="6889608" cy="14533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Figure 3a: </a:t>
            </a:r>
            <a:r>
              <a:rPr lang="en-US" sz="4400" dirty="0">
                <a:solidFill>
                  <a:srgbClr val="FF0000"/>
                </a:solidFill>
              </a:rPr>
              <a:t>Locomotion creates a diagonal spatial map.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16" name="!!M1">
            <a:extLst>
              <a:ext uri="{FF2B5EF4-FFF2-40B4-BE49-F238E27FC236}">
                <a16:creationId xmlns:a16="http://schemas.microsoft.com/office/drawing/2014/main" id="{595DBF1C-71E5-0FC0-C213-BD243856662F}"/>
              </a:ext>
            </a:extLst>
          </p:cNvPr>
          <p:cNvSpPr>
            <a:spLocks/>
          </p:cNvSpPr>
          <p:nvPr/>
        </p:nvSpPr>
        <p:spPr>
          <a:xfrm>
            <a:off x="12998591" y="2371874"/>
            <a:ext cx="5213209" cy="82852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Fast-Spiking Cells: The inhibitory interneurons (the "brakes").</a:t>
            </a:r>
          </a:p>
        </p:txBody>
      </p:sp>
      <p:sp>
        <p:nvSpPr>
          <p:cNvPr id="4" name="!!M1">
            <a:extLst>
              <a:ext uri="{FF2B5EF4-FFF2-40B4-BE49-F238E27FC236}">
                <a16:creationId xmlns:a16="http://schemas.microsoft.com/office/drawing/2014/main" id="{F1B6B98C-677F-D66C-7893-83D89833F5E5}"/>
              </a:ext>
            </a:extLst>
          </p:cNvPr>
          <p:cNvSpPr>
            <a:spLocks/>
          </p:cNvSpPr>
          <p:nvPr/>
        </p:nvSpPr>
        <p:spPr>
          <a:xfrm>
            <a:off x="-3079052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CA1 place cells (PC) fire robustly during DS2 events</a:t>
            </a:r>
            <a:endParaRPr lang="en-US" sz="44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5" name="!!M1">
            <a:extLst>
              <a:ext uri="{FF2B5EF4-FFF2-40B4-BE49-F238E27FC236}">
                <a16:creationId xmlns:a16="http://schemas.microsoft.com/office/drawing/2014/main" id="{92E4029B-0395-DB76-7490-BEC92AA80A17}"/>
              </a:ext>
            </a:extLst>
          </p:cNvPr>
          <p:cNvSpPr>
            <a:spLocks/>
          </p:cNvSpPr>
          <p:nvPr/>
        </p:nvSpPr>
        <p:spPr>
          <a:xfrm>
            <a:off x="13117741" y="4358849"/>
            <a:ext cx="5213209" cy="69765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Non-Place Cells: Broadly recruited, non-spatial neural population.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0A84941A-1EA1-5A9A-17B2-C99020469635}"/>
              </a:ext>
            </a:extLst>
          </p:cNvPr>
          <p:cNvSpPr>
            <a:spLocks/>
          </p:cNvSpPr>
          <p:nvPr/>
        </p:nvSpPr>
        <p:spPr>
          <a:xfrm>
            <a:off x="13117741" y="3200400"/>
            <a:ext cx="5213209" cy="990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b="1" dirty="0">
                <a:solidFill>
                  <a:srgbClr val="46B1E1"/>
                </a:solidFill>
              </a:rPr>
              <a:t>Place Cells: Excitatory neurons that form the spatial map.</a:t>
            </a:r>
            <a:endParaRPr lang="en-US" sz="4400" b="1" dirty="0">
              <a:solidFill>
                <a:srgbClr val="46B1E1"/>
              </a:solidFill>
              <a:effectLst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2144194-F4BD-9663-2739-5CF67771CA9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940" r="18636"/>
          <a:stretch>
            <a:fillRect/>
          </a:stretch>
        </p:blipFill>
        <p:spPr>
          <a:xfrm>
            <a:off x="4890417" y="1236283"/>
            <a:ext cx="249683" cy="2104704"/>
          </a:xfrm>
          <a:prstGeom prst="rect">
            <a:avLst/>
          </a:prstGeom>
        </p:spPr>
      </p:pic>
      <p:sp>
        <p:nvSpPr>
          <p:cNvPr id="36" name="!!Focus">
            <a:extLst>
              <a:ext uri="{FF2B5EF4-FFF2-40B4-BE49-F238E27FC236}">
                <a16:creationId xmlns:a16="http://schemas.microsoft.com/office/drawing/2014/main" id="{DF748527-246D-325F-671E-F0BDD15CBFBD}"/>
              </a:ext>
            </a:extLst>
          </p:cNvPr>
          <p:cNvSpPr/>
          <p:nvPr/>
        </p:nvSpPr>
        <p:spPr>
          <a:xfrm rot="10800000">
            <a:off x="533399" y="2170558"/>
            <a:ext cx="4649841" cy="125844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5828F5E-FE93-A5FA-FA87-AD85454EA4F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91" y="3531526"/>
            <a:ext cx="4326168" cy="52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47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345C9-A027-448F-AFEF-70E5EA5AE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8379FCFA-C13E-5A30-20FF-0F1928A7C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2317" y="575942"/>
            <a:ext cx="13438387" cy="7866861"/>
          </a:xfrm>
          <a:prstGeom prst="rect">
            <a:avLst/>
          </a:prstGeom>
          <a:ln w="38100"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A8E42D1-6C89-7B7B-85A1-D19698348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4962736"/>
            <a:ext cx="5638800" cy="3307631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4E79072-2FEF-E130-F4D7-6AADD9EE8AA6}"/>
              </a:ext>
            </a:extLst>
          </p:cNvPr>
          <p:cNvSpPr/>
          <p:nvPr/>
        </p:nvSpPr>
        <p:spPr>
          <a:xfrm>
            <a:off x="-756329" y="503550"/>
            <a:ext cx="14554200" cy="6172201"/>
          </a:xfrm>
          <a:custGeom>
            <a:avLst/>
            <a:gdLst>
              <a:gd name="csX0" fmla="*/ 984929 w 14554200"/>
              <a:gd name="csY0" fmla="*/ 99606 h 6172201"/>
              <a:gd name="csX1" fmla="*/ 984929 w 14554200"/>
              <a:gd name="csY1" fmla="*/ 4144650 h 6172201"/>
              <a:gd name="csX2" fmla="*/ 5939571 w 14554200"/>
              <a:gd name="csY2" fmla="*/ 4144650 h 6172201"/>
              <a:gd name="csX3" fmla="*/ 5939571 w 14554200"/>
              <a:gd name="csY3" fmla="*/ 99606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7696200 w 14554200"/>
              <a:gd name="csY6" fmla="*/ 0 h 6172201"/>
              <a:gd name="csX7" fmla="*/ 14554200 w 14554200"/>
              <a:gd name="csY7" fmla="*/ 0 h 6172201"/>
              <a:gd name="csX8" fmla="*/ 14554200 w 14554200"/>
              <a:gd name="csY8" fmla="*/ 6172199 h 6172201"/>
              <a:gd name="csX9" fmla="*/ 13508447 w 14554200"/>
              <a:gd name="csY9" fmla="*/ 6172199 h 6172201"/>
              <a:gd name="csX10" fmla="*/ 13508447 w 14554200"/>
              <a:gd name="csY10" fmla="*/ 6172201 h 6172201"/>
              <a:gd name="csX11" fmla="*/ 7924800 w 14554200"/>
              <a:gd name="csY11" fmla="*/ 6172201 h 6172201"/>
              <a:gd name="csX12" fmla="*/ 7924800 w 14554200"/>
              <a:gd name="csY12" fmla="*/ 6172200 h 6172201"/>
              <a:gd name="csX13" fmla="*/ 762000 w 14554200"/>
              <a:gd name="csY13" fmla="*/ 6172200 h 6172201"/>
              <a:gd name="csX14" fmla="*/ 762000 w 14554200"/>
              <a:gd name="csY14" fmla="*/ 6172199 h 6172201"/>
              <a:gd name="csX15" fmla="*/ 0 w 14554200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4200" h="6172201">
                <a:moveTo>
                  <a:pt x="984929" y="99606"/>
                </a:moveTo>
                <a:lnTo>
                  <a:pt x="984929" y="4144650"/>
                </a:lnTo>
                <a:lnTo>
                  <a:pt x="5939571" y="4144650"/>
                </a:lnTo>
                <a:lnTo>
                  <a:pt x="5939571" y="9960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51EB387F-F62F-B01E-5D7F-90DF539F3957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8736106F-7EC4-AADE-2C36-A9B6C1D6CEA5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89542495-C358-8634-AE87-C7D8A2440144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476B02-9440-9B8F-12BE-F4DB9E4D934D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57C22CF8-1A70-80DD-070B-96AFD1CD44FA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5DABB0E1-8677-BAD8-AD59-DFF15300DD50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CA74EFF9-1250-02DA-903B-F945B55BE59D}"/>
              </a:ext>
            </a:extLst>
          </p:cNvPr>
          <p:cNvSpPr/>
          <p:nvPr/>
        </p:nvSpPr>
        <p:spPr>
          <a:xfrm>
            <a:off x="-381000" y="-21401"/>
            <a:ext cx="12801601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</a:t>
            </a:r>
            <a:r>
              <a:rPr lang="en-US" sz="2800" b="1" u="sng" dirty="0">
                <a:solidFill>
                  <a:schemeClr val="bg1"/>
                </a:solidFill>
              </a:rPr>
              <a:t>DS2 encodes stationary, real-world position</a:t>
            </a:r>
            <a:endParaRPr lang="en-US" sz="2800" b="1" i="1" u="sng" dirty="0">
              <a:solidFill>
                <a:schemeClr val="bg1"/>
              </a:solidFill>
            </a:endParaRP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DB13AD19-7318-DFFB-F0AB-9C8638D3E122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C7CCA471-B3C9-D6D9-393D-DB4F3466F266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0F5CE0B1-F587-3FF0-25F8-2CAEABB14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52999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3C76E61F-0268-7EF6-B821-B52A1119CF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079052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 descr="A close-up of a graph&#10;&#10;AI-generated content may be incorrect.">
            <a:extLst>
              <a:ext uri="{FF2B5EF4-FFF2-40B4-BE49-F238E27FC236}">
                <a16:creationId xmlns:a16="http://schemas.microsoft.com/office/drawing/2014/main" id="{9B3F5A8E-3F10-0906-991D-EC806693EAC1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-49530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Picture 2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4375959-CB20-DEF4-AED9-BB6CD3949190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l="1190" t="2034"/>
          <a:stretch>
            <a:fillRect/>
          </a:stretch>
        </p:blipFill>
        <p:spPr>
          <a:xfrm>
            <a:off x="12725400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2" name="!!M1">
            <a:extLst>
              <a:ext uri="{FF2B5EF4-FFF2-40B4-BE49-F238E27FC236}">
                <a16:creationId xmlns:a16="http://schemas.microsoft.com/office/drawing/2014/main" id="{1A3E5AE4-CF3D-5320-3E33-E2BC4AD83BEC}"/>
              </a:ext>
            </a:extLst>
          </p:cNvPr>
          <p:cNvSpPr>
            <a:spLocks/>
          </p:cNvSpPr>
          <p:nvPr/>
        </p:nvSpPr>
        <p:spPr>
          <a:xfrm>
            <a:off x="5302391" y="4603274"/>
            <a:ext cx="6889609" cy="10380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Result: </a:t>
            </a:r>
            <a:r>
              <a:rPr lang="en-US" sz="4400" dirty="0">
                <a:solidFill>
                  <a:schemeClr val="bg1"/>
                </a:solidFill>
              </a:rPr>
              <a:t>This created the clear diagonal line of activity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1BA9A83B-D454-7BD2-4E9A-E95407CEBBF8}"/>
              </a:ext>
            </a:extLst>
          </p:cNvPr>
          <p:cNvSpPr>
            <a:spLocks/>
          </p:cNvSpPr>
          <p:nvPr/>
        </p:nvSpPr>
        <p:spPr>
          <a:xfrm>
            <a:off x="5302391" y="3458994"/>
            <a:ext cx="6889609" cy="10380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The Sorting: </a:t>
            </a:r>
            <a:r>
              <a:rPr lang="en-US" sz="4400" dirty="0">
                <a:solidFill>
                  <a:schemeClr val="bg1"/>
                </a:solidFill>
              </a:rPr>
              <a:t>ordered by their "preferred location"—the specific spot on the 120-cm treadmill where they fire most.</a:t>
            </a:r>
          </a:p>
        </p:txBody>
      </p:sp>
      <p:sp>
        <p:nvSpPr>
          <p:cNvPr id="2" name="!!M5">
            <a:extLst>
              <a:ext uri="{FF2B5EF4-FFF2-40B4-BE49-F238E27FC236}">
                <a16:creationId xmlns:a16="http://schemas.microsoft.com/office/drawing/2014/main" id="{0681DF73-3691-B7FF-661F-C82322FB1A87}"/>
              </a:ext>
            </a:extLst>
          </p:cNvPr>
          <p:cNvSpPr>
            <a:spLocks/>
          </p:cNvSpPr>
          <p:nvPr/>
        </p:nvSpPr>
        <p:spPr>
          <a:xfrm>
            <a:off x="-4983139" y="584832"/>
            <a:ext cx="1689942" cy="51462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</a:rPr>
              <a:t>DS2 spikes are highly organized</a:t>
            </a:r>
            <a:endParaRPr lang="en-US" sz="1200" b="1" u="sng" dirty="0">
              <a:solidFill>
                <a:srgbClr val="FF0000"/>
              </a:solidFill>
            </a:endParaRPr>
          </a:p>
        </p:txBody>
      </p:sp>
      <p:sp>
        <p:nvSpPr>
          <p:cNvPr id="30" name="!!M1">
            <a:extLst>
              <a:ext uri="{FF2B5EF4-FFF2-40B4-BE49-F238E27FC236}">
                <a16:creationId xmlns:a16="http://schemas.microsoft.com/office/drawing/2014/main" id="{CB83FDD0-0462-88C7-6FAE-45C2D0DB5A10}"/>
              </a:ext>
            </a:extLst>
          </p:cNvPr>
          <p:cNvSpPr>
            <a:spLocks/>
          </p:cNvSpPr>
          <p:nvPr/>
        </p:nvSpPr>
        <p:spPr>
          <a:xfrm>
            <a:off x="5302391" y="2314714"/>
            <a:ext cx="6889609" cy="103808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 Focus:</a:t>
            </a:r>
            <a:r>
              <a:rPr lang="en-US" sz="4400" dirty="0">
                <a:solidFill>
                  <a:schemeClr val="bg1"/>
                </a:solidFill>
              </a:rPr>
              <a:t>117 individual CA1 Place Cells (PCs).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AE32A98E-77C7-8D33-3E51-BFBEB8245045}"/>
              </a:ext>
            </a:extLst>
          </p:cNvPr>
          <p:cNvSpPr>
            <a:spLocks/>
          </p:cNvSpPr>
          <p:nvPr/>
        </p:nvSpPr>
        <p:spPr>
          <a:xfrm>
            <a:off x="6208651" y="-1250784"/>
            <a:ext cx="5830947" cy="1688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Again, no comments on distinct role of these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71D2511A-089A-58DD-D951-053348738422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483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X-axis: </a:t>
            </a:r>
            <a:r>
              <a:rPr lang="en-US" sz="4400" dirty="0"/>
              <a:t>~1,000 recorded DS2 events, sorted by the same hierarchical clusters as Panel a</a:t>
            </a:r>
            <a:r>
              <a:rPr lang="en-US" sz="4400" dirty="0">
                <a:solidFill>
                  <a:schemeClr val="bg1"/>
                </a:solidFill>
              </a:rPr>
              <a:t>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!!M1">
            <a:extLst>
              <a:ext uri="{FF2B5EF4-FFF2-40B4-BE49-F238E27FC236}">
                <a16:creationId xmlns:a16="http://schemas.microsoft.com/office/drawing/2014/main" id="{E4CBCBF8-9DDD-D686-0132-3D3234538C57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913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Y-axis: </a:t>
            </a:r>
            <a:r>
              <a:rPr lang="en-US" sz="4400" dirty="0">
                <a:solidFill>
                  <a:schemeClr val="bg1"/>
                </a:solidFill>
              </a:rPr>
              <a:t>Neurons which were re-ordered based on similar firing preferences.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1" name="!!M1">
            <a:extLst>
              <a:ext uri="{FF2B5EF4-FFF2-40B4-BE49-F238E27FC236}">
                <a16:creationId xmlns:a16="http://schemas.microsoft.com/office/drawing/2014/main" id="{7CE7AD50-5EAA-C6F7-F148-56DA0A20572F}"/>
              </a:ext>
            </a:extLst>
          </p:cNvPr>
          <p:cNvSpPr>
            <a:spLocks/>
          </p:cNvSpPr>
          <p:nvPr/>
        </p:nvSpPr>
        <p:spPr>
          <a:xfrm>
            <a:off x="6208651" y="-1825450"/>
            <a:ext cx="5830947" cy="1936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No comments on distinct role of these two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3" name="!!M1">
            <a:extLst>
              <a:ext uri="{FF2B5EF4-FFF2-40B4-BE49-F238E27FC236}">
                <a16:creationId xmlns:a16="http://schemas.microsoft.com/office/drawing/2014/main" id="{13E52183-A885-370F-1E20-5D30FB49FB64}"/>
              </a:ext>
            </a:extLst>
          </p:cNvPr>
          <p:cNvSpPr>
            <a:spLocks/>
          </p:cNvSpPr>
          <p:nvPr/>
        </p:nvSpPr>
        <p:spPr>
          <a:xfrm>
            <a:off x="6208651" y="-1870762"/>
            <a:ext cx="5830947" cy="31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Hierarchical clustering reveals distinct DS2 ensembles.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A5A4C36B-8DDF-162E-1810-5099A0C0A9FD}"/>
              </a:ext>
            </a:extLst>
          </p:cNvPr>
          <p:cNvSpPr>
            <a:spLocks/>
          </p:cNvSpPr>
          <p:nvPr/>
        </p:nvSpPr>
        <p:spPr>
          <a:xfrm>
            <a:off x="6208653" y="-2017484"/>
            <a:ext cx="5830947" cy="6143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10a: DS2 events form repeating, non-random neural patterns.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7" name="!!M1">
            <a:extLst>
              <a:ext uri="{FF2B5EF4-FFF2-40B4-BE49-F238E27FC236}">
                <a16:creationId xmlns:a16="http://schemas.microsoft.com/office/drawing/2014/main" id="{637A28FB-99B9-E275-2167-558EAB867CB0}"/>
              </a:ext>
            </a:extLst>
          </p:cNvPr>
          <p:cNvSpPr>
            <a:spLocks/>
          </p:cNvSpPr>
          <p:nvPr/>
        </p:nvSpPr>
        <p:spPr>
          <a:xfrm>
            <a:off x="6208653" y="-1337750"/>
            <a:ext cx="5830947" cy="6126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10b: Structured neural ensembles drive distinct DS2 categories.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2811B555-9D2D-CAA9-C737-D67584285327}"/>
              </a:ext>
            </a:extLst>
          </p:cNvPr>
          <p:cNvSpPr>
            <a:spLocks/>
          </p:cNvSpPr>
          <p:nvPr/>
        </p:nvSpPr>
        <p:spPr>
          <a:xfrm>
            <a:off x="6208651" y="-659668"/>
            <a:ext cx="5830947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10d,e: </a:t>
            </a:r>
          </a:p>
          <a:p>
            <a:r>
              <a:rPr lang="en-US" sz="2600" dirty="0">
                <a:solidFill>
                  <a:schemeClr val="bg1"/>
                </a:solidFill>
              </a:rPr>
              <a:t>d: Neural patterns are more similar than chance; </a:t>
            </a:r>
            <a:r>
              <a:rPr lang="en-US" sz="2700" dirty="0">
                <a:solidFill>
                  <a:schemeClr val="bg1"/>
                </a:solidFill>
              </a:rPr>
              <a:t>e: Neural ensembles fire with high reliability.</a:t>
            </a:r>
            <a:endParaRPr lang="en-US" sz="270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BC0BE048-5A9B-5041-1C72-1CE0AFA5A440}"/>
              </a:ext>
            </a:extLst>
          </p:cNvPr>
          <p:cNvSpPr>
            <a:spLocks/>
          </p:cNvSpPr>
          <p:nvPr/>
        </p:nvSpPr>
        <p:spPr>
          <a:xfrm>
            <a:off x="5302392" y="641171"/>
            <a:ext cx="6889608" cy="14533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Figure 3a: </a:t>
            </a:r>
            <a:r>
              <a:rPr lang="en-US" sz="4400" dirty="0">
                <a:solidFill>
                  <a:srgbClr val="FF0000"/>
                </a:solidFill>
              </a:rPr>
              <a:t>Locomotion creates a diagonal spatial map.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16" name="!!M1">
            <a:extLst>
              <a:ext uri="{FF2B5EF4-FFF2-40B4-BE49-F238E27FC236}">
                <a16:creationId xmlns:a16="http://schemas.microsoft.com/office/drawing/2014/main" id="{35B63410-5AA0-ADCC-0F35-7830EA805C06}"/>
              </a:ext>
            </a:extLst>
          </p:cNvPr>
          <p:cNvSpPr>
            <a:spLocks/>
          </p:cNvSpPr>
          <p:nvPr/>
        </p:nvSpPr>
        <p:spPr>
          <a:xfrm>
            <a:off x="12998591" y="2371874"/>
            <a:ext cx="5213209" cy="82852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Fast-Spiking Cells: The inhibitory interneurons (the "brakes").</a:t>
            </a:r>
          </a:p>
        </p:txBody>
      </p:sp>
      <p:sp>
        <p:nvSpPr>
          <p:cNvPr id="4" name="!!M1">
            <a:extLst>
              <a:ext uri="{FF2B5EF4-FFF2-40B4-BE49-F238E27FC236}">
                <a16:creationId xmlns:a16="http://schemas.microsoft.com/office/drawing/2014/main" id="{0F252CCD-BA74-79F4-3328-400B2AF51DC5}"/>
              </a:ext>
            </a:extLst>
          </p:cNvPr>
          <p:cNvSpPr>
            <a:spLocks/>
          </p:cNvSpPr>
          <p:nvPr/>
        </p:nvSpPr>
        <p:spPr>
          <a:xfrm>
            <a:off x="-3079052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CA1 place cells (PC) fire robustly during DS2 events</a:t>
            </a:r>
            <a:endParaRPr lang="en-US" sz="44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5" name="!!M1">
            <a:extLst>
              <a:ext uri="{FF2B5EF4-FFF2-40B4-BE49-F238E27FC236}">
                <a16:creationId xmlns:a16="http://schemas.microsoft.com/office/drawing/2014/main" id="{147A841B-4710-9B52-0592-E2620C2A31CA}"/>
              </a:ext>
            </a:extLst>
          </p:cNvPr>
          <p:cNvSpPr>
            <a:spLocks/>
          </p:cNvSpPr>
          <p:nvPr/>
        </p:nvSpPr>
        <p:spPr>
          <a:xfrm>
            <a:off x="13117741" y="4358849"/>
            <a:ext cx="5213209" cy="69765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Non-Place Cells: Broadly recruited, non-spatial neural population.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923DEF29-D220-E3C6-8830-A26D78267CB1}"/>
              </a:ext>
            </a:extLst>
          </p:cNvPr>
          <p:cNvSpPr>
            <a:spLocks/>
          </p:cNvSpPr>
          <p:nvPr/>
        </p:nvSpPr>
        <p:spPr>
          <a:xfrm>
            <a:off x="13117741" y="3200400"/>
            <a:ext cx="5213209" cy="990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b="1" dirty="0">
                <a:solidFill>
                  <a:srgbClr val="46B1E1"/>
                </a:solidFill>
              </a:rPr>
              <a:t>Place Cells: Excitatory neurons that form the spatial map.</a:t>
            </a:r>
            <a:endParaRPr lang="en-US" sz="4400" b="1" dirty="0">
              <a:solidFill>
                <a:srgbClr val="46B1E1"/>
              </a:solidFill>
              <a:effectLst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C718648-DEFA-A0BD-EE88-E795ECC13B0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940" r="18636"/>
          <a:stretch>
            <a:fillRect/>
          </a:stretch>
        </p:blipFill>
        <p:spPr>
          <a:xfrm>
            <a:off x="4890417" y="1236283"/>
            <a:ext cx="249683" cy="2104704"/>
          </a:xfrm>
          <a:prstGeom prst="rect">
            <a:avLst/>
          </a:prstGeom>
        </p:spPr>
      </p:pic>
      <p:sp>
        <p:nvSpPr>
          <p:cNvPr id="36" name="!!Focus">
            <a:extLst>
              <a:ext uri="{FF2B5EF4-FFF2-40B4-BE49-F238E27FC236}">
                <a16:creationId xmlns:a16="http://schemas.microsoft.com/office/drawing/2014/main" id="{F92FBBE6-81CE-BB86-7689-AE2AC2C857B5}"/>
              </a:ext>
            </a:extLst>
          </p:cNvPr>
          <p:cNvSpPr/>
          <p:nvPr/>
        </p:nvSpPr>
        <p:spPr>
          <a:xfrm rot="10800000">
            <a:off x="533398" y="2170558"/>
            <a:ext cx="4649841" cy="210470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1FA1D77-B483-BE45-3591-AEB4B29CD1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91" y="2362200"/>
            <a:ext cx="4326168" cy="521586"/>
          </a:xfrm>
          <a:prstGeom prst="rect">
            <a:avLst/>
          </a:prstGeom>
        </p:spPr>
      </p:pic>
      <p:sp>
        <p:nvSpPr>
          <p:cNvPr id="39" name="!!Focus2">
            <a:extLst>
              <a:ext uri="{FF2B5EF4-FFF2-40B4-BE49-F238E27FC236}">
                <a16:creationId xmlns:a16="http://schemas.microsoft.com/office/drawing/2014/main" id="{27707A1F-E2FA-6327-3D57-87B51B38C4C2}"/>
              </a:ext>
            </a:extLst>
          </p:cNvPr>
          <p:cNvSpPr/>
          <p:nvPr/>
        </p:nvSpPr>
        <p:spPr>
          <a:xfrm rot="10800000">
            <a:off x="511726" y="2148114"/>
            <a:ext cx="4649841" cy="210470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!!M1">
            <a:extLst>
              <a:ext uri="{FF2B5EF4-FFF2-40B4-BE49-F238E27FC236}">
                <a16:creationId xmlns:a16="http://schemas.microsoft.com/office/drawing/2014/main" id="{64D720D0-D9CD-BCEE-7994-FC3EC6A5BAE2}"/>
              </a:ext>
            </a:extLst>
          </p:cNvPr>
          <p:cNvSpPr>
            <a:spLocks/>
          </p:cNvSpPr>
          <p:nvPr/>
        </p:nvSpPr>
        <p:spPr>
          <a:xfrm>
            <a:off x="13786787" y="1574494"/>
            <a:ext cx="6889608" cy="14533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Figure 3b: </a:t>
            </a:r>
            <a:r>
              <a:rPr lang="fr-FR" sz="4400" dirty="0" err="1">
                <a:solidFill>
                  <a:srgbClr val="FF0000"/>
                </a:solidFill>
              </a:rPr>
              <a:t>Ripples</a:t>
            </a:r>
            <a:r>
              <a:rPr lang="fr-FR" sz="4400" dirty="0">
                <a:solidFill>
                  <a:srgbClr val="FF0000"/>
                </a:solidFill>
              </a:rPr>
              <a:t> do not </a:t>
            </a:r>
            <a:r>
              <a:rPr lang="fr-FR" sz="4400" dirty="0" err="1">
                <a:solidFill>
                  <a:srgbClr val="FF0000"/>
                </a:solidFill>
              </a:rPr>
              <a:t>represent</a:t>
            </a:r>
            <a:r>
              <a:rPr lang="fr-FR" sz="4400" dirty="0">
                <a:solidFill>
                  <a:srgbClr val="FF0000"/>
                </a:solidFill>
              </a:rPr>
              <a:t> </a:t>
            </a:r>
            <a:r>
              <a:rPr lang="fr-FR" sz="4400" dirty="0" err="1">
                <a:solidFill>
                  <a:srgbClr val="FF0000"/>
                </a:solidFill>
              </a:rPr>
              <a:t>current</a:t>
            </a:r>
            <a:r>
              <a:rPr lang="fr-FR" sz="4400" dirty="0">
                <a:solidFill>
                  <a:srgbClr val="FF0000"/>
                </a:solidFill>
              </a:rPr>
              <a:t> spatial locations.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7339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3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0"/>
                            </p:stCondLst>
                            <p:childTnLst>
                              <p:par>
                                <p:cTn id="21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250"/>
                            </p:stCondLst>
                            <p:childTnLst>
                              <p:par>
                                <p:cTn id="29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3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123E6-2FDB-49A6-B46D-80F2E588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D8ACDAE8-C232-28A0-1124-22AC0B25E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15178" y="575942"/>
            <a:ext cx="13068778" cy="7650491"/>
          </a:xfrm>
          <a:prstGeom prst="rect">
            <a:avLst/>
          </a:prstGeom>
          <a:ln w="38100">
            <a:noFill/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3BF837B-DF8B-00D3-871F-BAB3179A3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4910454"/>
            <a:ext cx="5411680" cy="3174406"/>
          </a:xfrm>
          <a:prstGeom prst="rect">
            <a:avLst/>
          </a:prstGeom>
        </p:spPr>
      </p:pic>
      <p:sp>
        <p:nvSpPr>
          <p:cNvPr id="38" name="!!Freeform: Shape 37">
            <a:extLst>
              <a:ext uri="{FF2B5EF4-FFF2-40B4-BE49-F238E27FC236}">
                <a16:creationId xmlns:a16="http://schemas.microsoft.com/office/drawing/2014/main" id="{52454F82-D19E-6FE7-64E6-BBFF9615B3B6}"/>
              </a:ext>
            </a:extLst>
          </p:cNvPr>
          <p:cNvSpPr/>
          <p:nvPr/>
        </p:nvSpPr>
        <p:spPr>
          <a:xfrm>
            <a:off x="-756329" y="503550"/>
            <a:ext cx="14554200" cy="6172201"/>
          </a:xfrm>
          <a:custGeom>
            <a:avLst/>
            <a:gdLst>
              <a:gd name="csX0" fmla="*/ 2703774 w 14554200"/>
              <a:gd name="csY0" fmla="*/ 99606 h 6172201"/>
              <a:gd name="csX1" fmla="*/ 2703774 w 14554200"/>
              <a:gd name="csY1" fmla="*/ 4144650 h 6172201"/>
              <a:gd name="csX2" fmla="*/ 5939571 w 14554200"/>
              <a:gd name="csY2" fmla="*/ 4144650 h 6172201"/>
              <a:gd name="csX3" fmla="*/ 5939571 w 14554200"/>
              <a:gd name="csY3" fmla="*/ 99606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7696200 w 14554200"/>
              <a:gd name="csY6" fmla="*/ 0 h 6172201"/>
              <a:gd name="csX7" fmla="*/ 14554200 w 14554200"/>
              <a:gd name="csY7" fmla="*/ 0 h 6172201"/>
              <a:gd name="csX8" fmla="*/ 14554200 w 14554200"/>
              <a:gd name="csY8" fmla="*/ 6172199 h 6172201"/>
              <a:gd name="csX9" fmla="*/ 13508447 w 14554200"/>
              <a:gd name="csY9" fmla="*/ 6172199 h 6172201"/>
              <a:gd name="csX10" fmla="*/ 13508447 w 14554200"/>
              <a:gd name="csY10" fmla="*/ 6172201 h 6172201"/>
              <a:gd name="csX11" fmla="*/ 7924800 w 14554200"/>
              <a:gd name="csY11" fmla="*/ 6172201 h 6172201"/>
              <a:gd name="csX12" fmla="*/ 7924800 w 14554200"/>
              <a:gd name="csY12" fmla="*/ 6172200 h 6172201"/>
              <a:gd name="csX13" fmla="*/ 762000 w 14554200"/>
              <a:gd name="csY13" fmla="*/ 6172200 h 6172201"/>
              <a:gd name="csX14" fmla="*/ 762000 w 14554200"/>
              <a:gd name="csY14" fmla="*/ 6172199 h 6172201"/>
              <a:gd name="csX15" fmla="*/ 0 w 14554200"/>
              <a:gd name="csY15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4554200" h="6172201">
                <a:moveTo>
                  <a:pt x="2703774" y="99606"/>
                </a:moveTo>
                <a:lnTo>
                  <a:pt x="2703774" y="4144650"/>
                </a:lnTo>
                <a:lnTo>
                  <a:pt x="5939571" y="4144650"/>
                </a:lnTo>
                <a:lnTo>
                  <a:pt x="5939571" y="9960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55C97B09-9A04-FA99-BAA2-606A269E55C2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A9FCA4E8-A353-077A-A42B-E252C1C7FD43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7D7782C4-65F6-BF8D-BFCE-2B0989075A23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1630E8-0CE8-C79D-E5CB-52B2A47D7753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67C0FC5B-2CF4-2F49-F92C-DE4E0987DD62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E57B35B0-4E20-906D-E89A-C8944EE4A27C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C5B92995-8051-CC60-D4BD-07A0F0C2E50F}"/>
              </a:ext>
            </a:extLst>
          </p:cNvPr>
          <p:cNvSpPr/>
          <p:nvPr/>
        </p:nvSpPr>
        <p:spPr>
          <a:xfrm>
            <a:off x="-381000" y="-21401"/>
            <a:ext cx="12801601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</a:t>
            </a:r>
            <a:r>
              <a:rPr lang="en-US" sz="2800" b="1" u="sng" dirty="0">
                <a:solidFill>
                  <a:schemeClr val="bg1"/>
                </a:solidFill>
              </a:rPr>
              <a:t>DS2 encodes stationary, real-world position</a:t>
            </a:r>
            <a:endParaRPr lang="en-US" sz="2800" b="1" i="1" u="sng" dirty="0">
              <a:solidFill>
                <a:schemeClr val="bg1"/>
              </a:solidFill>
            </a:endParaRP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5930D6B7-7106-FE39-3253-FA5FFB5EB932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77735737-C6E1-DCF6-49A9-6E0487A95C81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3C9499C2-03EC-089F-9CDC-7222FD0F7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52999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154CEA9D-9560-ED49-CF75-2A0599F54B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079052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 descr="A close-up of a graph&#10;&#10;AI-generated content may be incorrect.">
            <a:extLst>
              <a:ext uri="{FF2B5EF4-FFF2-40B4-BE49-F238E27FC236}">
                <a16:creationId xmlns:a16="http://schemas.microsoft.com/office/drawing/2014/main" id="{B103915D-F79D-193A-7302-180041CDE59B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-49530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Picture 2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8D870AE-D7A6-031D-EEBF-02D882557974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l="1190" t="2034"/>
          <a:stretch>
            <a:fillRect/>
          </a:stretch>
        </p:blipFill>
        <p:spPr>
          <a:xfrm>
            <a:off x="12725400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M5">
            <a:extLst>
              <a:ext uri="{FF2B5EF4-FFF2-40B4-BE49-F238E27FC236}">
                <a16:creationId xmlns:a16="http://schemas.microsoft.com/office/drawing/2014/main" id="{F190C86E-0B78-F0CF-4370-C09C15E47EF0}"/>
              </a:ext>
            </a:extLst>
          </p:cNvPr>
          <p:cNvSpPr>
            <a:spLocks/>
          </p:cNvSpPr>
          <p:nvPr/>
        </p:nvSpPr>
        <p:spPr>
          <a:xfrm>
            <a:off x="-4983139" y="584832"/>
            <a:ext cx="1689942" cy="51462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</a:rPr>
              <a:t>DS2 spikes are highly organized</a:t>
            </a:r>
            <a:endParaRPr lang="en-US" sz="1200" b="1" u="sng" dirty="0">
              <a:solidFill>
                <a:srgbClr val="FF0000"/>
              </a:solidFill>
            </a:endParaRPr>
          </a:p>
        </p:txBody>
      </p:sp>
      <p:sp>
        <p:nvSpPr>
          <p:cNvPr id="32" name="!!M1">
            <a:extLst>
              <a:ext uri="{FF2B5EF4-FFF2-40B4-BE49-F238E27FC236}">
                <a16:creationId xmlns:a16="http://schemas.microsoft.com/office/drawing/2014/main" id="{DB0DB3E6-A316-6D38-A746-89D5866DCB0A}"/>
              </a:ext>
            </a:extLst>
          </p:cNvPr>
          <p:cNvSpPr>
            <a:spLocks/>
          </p:cNvSpPr>
          <p:nvPr/>
        </p:nvSpPr>
        <p:spPr>
          <a:xfrm>
            <a:off x="5302391" y="990600"/>
            <a:ext cx="6889609" cy="4532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Result: </a:t>
            </a:r>
            <a:r>
              <a:rPr lang="en-US" sz="4400" dirty="0">
                <a:solidFill>
                  <a:schemeClr val="bg1"/>
                </a:solidFill>
              </a:rPr>
              <a:t>This created the clear diagonal line of activity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CAE539A9-FDC0-3FD5-31CC-902CA2F687C9}"/>
              </a:ext>
            </a:extLst>
          </p:cNvPr>
          <p:cNvSpPr>
            <a:spLocks/>
          </p:cNvSpPr>
          <p:nvPr/>
        </p:nvSpPr>
        <p:spPr>
          <a:xfrm>
            <a:off x="5302391" y="838200"/>
            <a:ext cx="6889609" cy="3910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The Sorting: </a:t>
            </a:r>
            <a:r>
              <a:rPr lang="en-US" sz="4400" dirty="0">
                <a:solidFill>
                  <a:schemeClr val="bg1"/>
                </a:solidFill>
              </a:rPr>
              <a:t>ordered by their "preferred location"—the specific spot on the 120-cm treadmill where they fire most.</a:t>
            </a:r>
          </a:p>
        </p:txBody>
      </p:sp>
      <p:sp>
        <p:nvSpPr>
          <p:cNvPr id="30" name="!!M1">
            <a:extLst>
              <a:ext uri="{FF2B5EF4-FFF2-40B4-BE49-F238E27FC236}">
                <a16:creationId xmlns:a16="http://schemas.microsoft.com/office/drawing/2014/main" id="{DC6FF37A-3D4B-A676-0E2C-6D0D532CBB92}"/>
              </a:ext>
            </a:extLst>
          </p:cNvPr>
          <p:cNvSpPr>
            <a:spLocks/>
          </p:cNvSpPr>
          <p:nvPr/>
        </p:nvSpPr>
        <p:spPr>
          <a:xfrm>
            <a:off x="5302391" y="1066800"/>
            <a:ext cx="6889609" cy="30477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 Focus:</a:t>
            </a:r>
            <a:r>
              <a:rPr lang="en-US" sz="4400" dirty="0">
                <a:solidFill>
                  <a:schemeClr val="bg1"/>
                </a:solidFill>
              </a:rPr>
              <a:t>117 individual CA1 Place Cells (PCs).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E6FF5617-3BB4-45AF-D828-0ED1B60843AE}"/>
              </a:ext>
            </a:extLst>
          </p:cNvPr>
          <p:cNvSpPr>
            <a:spLocks/>
          </p:cNvSpPr>
          <p:nvPr/>
        </p:nvSpPr>
        <p:spPr>
          <a:xfrm>
            <a:off x="6208651" y="-1250784"/>
            <a:ext cx="5830947" cy="1688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Again, no comments on distinct role of these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8DEE9BAB-A7F9-EECC-E4D3-B1C850DF6262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483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X-axis: </a:t>
            </a:r>
            <a:r>
              <a:rPr lang="en-US" sz="4400" dirty="0"/>
              <a:t>~1,000 recorded DS2 events, sorted by the same hierarchical clusters as Panel a</a:t>
            </a:r>
            <a:r>
              <a:rPr lang="en-US" sz="4400" dirty="0">
                <a:solidFill>
                  <a:schemeClr val="bg1"/>
                </a:solidFill>
              </a:rPr>
              <a:t>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!!M1">
            <a:extLst>
              <a:ext uri="{FF2B5EF4-FFF2-40B4-BE49-F238E27FC236}">
                <a16:creationId xmlns:a16="http://schemas.microsoft.com/office/drawing/2014/main" id="{F27BF7DD-6685-90A2-E328-304BB2CD06FD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913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Y-axis: </a:t>
            </a:r>
            <a:r>
              <a:rPr lang="en-US" sz="4400" dirty="0">
                <a:solidFill>
                  <a:schemeClr val="bg1"/>
                </a:solidFill>
              </a:rPr>
              <a:t>Neurons which were re-ordered based on similar firing preferences.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1" name="!!M1">
            <a:extLst>
              <a:ext uri="{FF2B5EF4-FFF2-40B4-BE49-F238E27FC236}">
                <a16:creationId xmlns:a16="http://schemas.microsoft.com/office/drawing/2014/main" id="{ED211513-5056-F004-C362-3C744FB44B9D}"/>
              </a:ext>
            </a:extLst>
          </p:cNvPr>
          <p:cNvSpPr>
            <a:spLocks/>
          </p:cNvSpPr>
          <p:nvPr/>
        </p:nvSpPr>
        <p:spPr>
          <a:xfrm>
            <a:off x="6208651" y="-1825450"/>
            <a:ext cx="5830947" cy="1936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No comments on distinct role of these two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3" name="!!M1">
            <a:extLst>
              <a:ext uri="{FF2B5EF4-FFF2-40B4-BE49-F238E27FC236}">
                <a16:creationId xmlns:a16="http://schemas.microsoft.com/office/drawing/2014/main" id="{610D640A-3D18-049B-B2BD-042FFA56A17B}"/>
              </a:ext>
            </a:extLst>
          </p:cNvPr>
          <p:cNvSpPr>
            <a:spLocks/>
          </p:cNvSpPr>
          <p:nvPr/>
        </p:nvSpPr>
        <p:spPr>
          <a:xfrm>
            <a:off x="6208651" y="-1870762"/>
            <a:ext cx="5830947" cy="31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Hierarchical clustering reveals distinct DS2 ensembles.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5E0C757B-94C3-5840-1FA5-682DA45ABA01}"/>
              </a:ext>
            </a:extLst>
          </p:cNvPr>
          <p:cNvSpPr>
            <a:spLocks/>
          </p:cNvSpPr>
          <p:nvPr/>
        </p:nvSpPr>
        <p:spPr>
          <a:xfrm>
            <a:off x="6208653" y="-2017484"/>
            <a:ext cx="5830947" cy="6143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10a: DS2 events form repeating, non-random neural patterns.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7" name="!!M1">
            <a:extLst>
              <a:ext uri="{FF2B5EF4-FFF2-40B4-BE49-F238E27FC236}">
                <a16:creationId xmlns:a16="http://schemas.microsoft.com/office/drawing/2014/main" id="{2F263C98-6B62-D874-2FDB-CAD0B0764AFF}"/>
              </a:ext>
            </a:extLst>
          </p:cNvPr>
          <p:cNvSpPr>
            <a:spLocks/>
          </p:cNvSpPr>
          <p:nvPr/>
        </p:nvSpPr>
        <p:spPr>
          <a:xfrm>
            <a:off x="6208653" y="-1337750"/>
            <a:ext cx="5830947" cy="6126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10b: Structured neural ensembles drive distinct DS2 categories.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7F2605F5-A45F-B1F2-E9B4-2E80AE6A70CC}"/>
              </a:ext>
            </a:extLst>
          </p:cNvPr>
          <p:cNvSpPr>
            <a:spLocks/>
          </p:cNvSpPr>
          <p:nvPr/>
        </p:nvSpPr>
        <p:spPr>
          <a:xfrm>
            <a:off x="6208651" y="-659668"/>
            <a:ext cx="5830947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10d,e: </a:t>
            </a:r>
          </a:p>
          <a:p>
            <a:r>
              <a:rPr lang="en-US" sz="2600" dirty="0">
                <a:solidFill>
                  <a:schemeClr val="bg1"/>
                </a:solidFill>
              </a:rPr>
              <a:t>d: Neural patterns are more similar than chance; </a:t>
            </a:r>
            <a:r>
              <a:rPr lang="en-US" sz="2700" dirty="0">
                <a:solidFill>
                  <a:schemeClr val="bg1"/>
                </a:solidFill>
              </a:rPr>
              <a:t>e: Neural ensembles fire with high reliability.</a:t>
            </a:r>
            <a:endParaRPr lang="en-US" sz="270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791D8F39-F74A-91FE-930B-67C2D366A723}"/>
              </a:ext>
            </a:extLst>
          </p:cNvPr>
          <p:cNvSpPr>
            <a:spLocks/>
          </p:cNvSpPr>
          <p:nvPr/>
        </p:nvSpPr>
        <p:spPr>
          <a:xfrm>
            <a:off x="5302392" y="641171"/>
            <a:ext cx="6889608" cy="75829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Figure 3a: Locomotion creates a diagonal spatial map.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6" name="!!M1">
            <a:extLst>
              <a:ext uri="{FF2B5EF4-FFF2-40B4-BE49-F238E27FC236}">
                <a16:creationId xmlns:a16="http://schemas.microsoft.com/office/drawing/2014/main" id="{AE4E0F10-906A-AD38-7813-665E7F17297D}"/>
              </a:ext>
            </a:extLst>
          </p:cNvPr>
          <p:cNvSpPr>
            <a:spLocks/>
          </p:cNvSpPr>
          <p:nvPr/>
        </p:nvSpPr>
        <p:spPr>
          <a:xfrm>
            <a:off x="12998591" y="2371874"/>
            <a:ext cx="5213209" cy="82852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Fast-Spiking Cells: The inhibitory interneurons (the "brakes").</a:t>
            </a:r>
          </a:p>
        </p:txBody>
      </p:sp>
      <p:sp>
        <p:nvSpPr>
          <p:cNvPr id="4" name="!!M1">
            <a:extLst>
              <a:ext uri="{FF2B5EF4-FFF2-40B4-BE49-F238E27FC236}">
                <a16:creationId xmlns:a16="http://schemas.microsoft.com/office/drawing/2014/main" id="{4AF148FB-593E-A122-CD53-064541CB4710}"/>
              </a:ext>
            </a:extLst>
          </p:cNvPr>
          <p:cNvSpPr>
            <a:spLocks/>
          </p:cNvSpPr>
          <p:nvPr/>
        </p:nvSpPr>
        <p:spPr>
          <a:xfrm>
            <a:off x="-3079052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CA1 place cells (PC) fire robustly during DS2 events</a:t>
            </a:r>
            <a:endParaRPr lang="en-US" sz="44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5" name="!!M1">
            <a:extLst>
              <a:ext uri="{FF2B5EF4-FFF2-40B4-BE49-F238E27FC236}">
                <a16:creationId xmlns:a16="http://schemas.microsoft.com/office/drawing/2014/main" id="{ADE32FD8-D841-CE77-6E82-5DE669B0527A}"/>
              </a:ext>
            </a:extLst>
          </p:cNvPr>
          <p:cNvSpPr>
            <a:spLocks/>
          </p:cNvSpPr>
          <p:nvPr/>
        </p:nvSpPr>
        <p:spPr>
          <a:xfrm>
            <a:off x="13117741" y="4358849"/>
            <a:ext cx="5213209" cy="69765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Non-Place Cells: Broadly recruited, non-spatial neural population.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893D3270-0C76-80A4-68DD-8D1CAF46C731}"/>
              </a:ext>
            </a:extLst>
          </p:cNvPr>
          <p:cNvSpPr>
            <a:spLocks/>
          </p:cNvSpPr>
          <p:nvPr/>
        </p:nvSpPr>
        <p:spPr>
          <a:xfrm>
            <a:off x="13117741" y="3200400"/>
            <a:ext cx="5213209" cy="990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b="1" dirty="0">
                <a:solidFill>
                  <a:srgbClr val="46B1E1"/>
                </a:solidFill>
              </a:rPr>
              <a:t>Place Cells: Excitatory neurons that form the spatial map.</a:t>
            </a:r>
            <a:endParaRPr lang="en-US" sz="4400" b="1" dirty="0">
              <a:solidFill>
                <a:srgbClr val="46B1E1"/>
              </a:solidFill>
              <a:effectLst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B0DEFBF-2169-7E7D-57F2-5CB7E339A3C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940" r="18636"/>
          <a:stretch>
            <a:fillRect/>
          </a:stretch>
        </p:blipFill>
        <p:spPr>
          <a:xfrm>
            <a:off x="4931917" y="1236283"/>
            <a:ext cx="249683" cy="2104704"/>
          </a:xfrm>
          <a:prstGeom prst="rect">
            <a:avLst/>
          </a:prstGeom>
        </p:spPr>
      </p:pic>
      <p:sp>
        <p:nvSpPr>
          <p:cNvPr id="36" name="!!Focus">
            <a:extLst>
              <a:ext uri="{FF2B5EF4-FFF2-40B4-BE49-F238E27FC236}">
                <a16:creationId xmlns:a16="http://schemas.microsoft.com/office/drawing/2014/main" id="{3DEB5861-BA62-9496-7FA6-B4009EA39CCA}"/>
              </a:ext>
            </a:extLst>
          </p:cNvPr>
          <p:cNvSpPr/>
          <p:nvPr/>
        </p:nvSpPr>
        <p:spPr>
          <a:xfrm rot="10800000">
            <a:off x="4190997" y="2209799"/>
            <a:ext cx="990601" cy="106679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!!M1">
            <a:extLst>
              <a:ext uri="{FF2B5EF4-FFF2-40B4-BE49-F238E27FC236}">
                <a16:creationId xmlns:a16="http://schemas.microsoft.com/office/drawing/2014/main" id="{A2950DCC-B035-112D-A95A-3EC61A671273}"/>
              </a:ext>
            </a:extLst>
          </p:cNvPr>
          <p:cNvSpPr>
            <a:spLocks/>
          </p:cNvSpPr>
          <p:nvPr/>
        </p:nvSpPr>
        <p:spPr>
          <a:xfrm>
            <a:off x="5302392" y="1574494"/>
            <a:ext cx="6889608" cy="14533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Figure 3b: </a:t>
            </a:r>
            <a:r>
              <a:rPr lang="fr-FR" sz="4400" dirty="0" err="1">
                <a:solidFill>
                  <a:srgbClr val="FF0000"/>
                </a:solidFill>
              </a:rPr>
              <a:t>Ripples</a:t>
            </a:r>
            <a:r>
              <a:rPr lang="fr-FR" sz="4400" dirty="0">
                <a:solidFill>
                  <a:srgbClr val="FF0000"/>
                </a:solidFill>
              </a:rPr>
              <a:t> do not </a:t>
            </a:r>
            <a:r>
              <a:rPr lang="fr-FR" sz="4400" dirty="0" err="1">
                <a:solidFill>
                  <a:srgbClr val="FF0000"/>
                </a:solidFill>
              </a:rPr>
              <a:t>represent</a:t>
            </a:r>
            <a:r>
              <a:rPr lang="fr-FR" sz="4400" dirty="0">
                <a:solidFill>
                  <a:srgbClr val="FF0000"/>
                </a:solidFill>
              </a:rPr>
              <a:t> </a:t>
            </a:r>
            <a:r>
              <a:rPr lang="fr-FR" sz="4400" dirty="0" err="1">
                <a:solidFill>
                  <a:srgbClr val="FF0000"/>
                </a:solidFill>
              </a:rPr>
              <a:t>current</a:t>
            </a:r>
            <a:r>
              <a:rPr lang="fr-FR" sz="4400" dirty="0">
                <a:solidFill>
                  <a:srgbClr val="FF0000"/>
                </a:solidFill>
              </a:rPr>
              <a:t> spatial locations.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43" name="!!Focus2">
            <a:extLst>
              <a:ext uri="{FF2B5EF4-FFF2-40B4-BE49-F238E27FC236}">
                <a16:creationId xmlns:a16="http://schemas.microsoft.com/office/drawing/2014/main" id="{04393932-046B-0E0A-FB45-9E7FDBA880DC}"/>
              </a:ext>
            </a:extLst>
          </p:cNvPr>
          <p:cNvSpPr/>
          <p:nvPr/>
        </p:nvSpPr>
        <p:spPr>
          <a:xfrm rot="10800000">
            <a:off x="4191000" y="3337204"/>
            <a:ext cx="990598" cy="929996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506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06717-6A52-E71B-A09E-7B33D4B8C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C727141B-F2F4-5DED-1208-C62C18947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888072" y="575942"/>
            <a:ext cx="13068778" cy="7650491"/>
          </a:xfrm>
          <a:prstGeom prst="rect">
            <a:avLst/>
          </a:prstGeom>
          <a:ln w="38100">
            <a:noFill/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A337E1-DAD9-488E-49A2-32A00E83E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82441" y="4860979"/>
            <a:ext cx="5638800" cy="3307631"/>
          </a:xfrm>
          <a:prstGeom prst="rect">
            <a:avLst/>
          </a:pr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C1DA1BD-E77C-25BC-3907-64F78A015A7B}"/>
              </a:ext>
            </a:extLst>
          </p:cNvPr>
          <p:cNvSpPr/>
          <p:nvPr/>
        </p:nvSpPr>
        <p:spPr>
          <a:xfrm>
            <a:off x="-756329" y="503550"/>
            <a:ext cx="14554200" cy="6172201"/>
          </a:xfrm>
          <a:custGeom>
            <a:avLst/>
            <a:gdLst>
              <a:gd name="csX0" fmla="*/ 2356529 w 14554200"/>
              <a:gd name="csY0" fmla="*/ 72392 h 6172201"/>
              <a:gd name="csX1" fmla="*/ 2356529 w 14554200"/>
              <a:gd name="csY1" fmla="*/ 4144650 h 6172201"/>
              <a:gd name="csX2" fmla="*/ 2703774 w 14554200"/>
              <a:gd name="csY2" fmla="*/ 4144650 h 6172201"/>
              <a:gd name="csX3" fmla="*/ 5937929 w 14554200"/>
              <a:gd name="csY3" fmla="*/ 4144650 h 6172201"/>
              <a:gd name="csX4" fmla="*/ 5939571 w 14554200"/>
              <a:gd name="csY4" fmla="*/ 4144650 h 6172201"/>
              <a:gd name="csX5" fmla="*/ 5939571 w 14554200"/>
              <a:gd name="csY5" fmla="*/ 99606 h 6172201"/>
              <a:gd name="csX6" fmla="*/ 5937929 w 14554200"/>
              <a:gd name="csY6" fmla="*/ 99606 h 6172201"/>
              <a:gd name="csX7" fmla="*/ 5937929 w 14554200"/>
              <a:gd name="csY7" fmla="*/ 72392 h 6172201"/>
              <a:gd name="csX8" fmla="*/ 0 w 14554200"/>
              <a:gd name="csY8" fmla="*/ 0 h 6172201"/>
              <a:gd name="csX9" fmla="*/ 685800 w 14554200"/>
              <a:gd name="csY9" fmla="*/ 0 h 6172201"/>
              <a:gd name="csX10" fmla="*/ 7696200 w 14554200"/>
              <a:gd name="csY10" fmla="*/ 0 h 6172201"/>
              <a:gd name="csX11" fmla="*/ 14554200 w 14554200"/>
              <a:gd name="csY11" fmla="*/ 0 h 6172201"/>
              <a:gd name="csX12" fmla="*/ 14554200 w 14554200"/>
              <a:gd name="csY12" fmla="*/ 6172199 h 6172201"/>
              <a:gd name="csX13" fmla="*/ 13508447 w 14554200"/>
              <a:gd name="csY13" fmla="*/ 6172199 h 6172201"/>
              <a:gd name="csX14" fmla="*/ 13508447 w 14554200"/>
              <a:gd name="csY14" fmla="*/ 6172201 h 6172201"/>
              <a:gd name="csX15" fmla="*/ 7924800 w 14554200"/>
              <a:gd name="csY15" fmla="*/ 6172201 h 6172201"/>
              <a:gd name="csX16" fmla="*/ 7924800 w 14554200"/>
              <a:gd name="csY16" fmla="*/ 6172200 h 6172201"/>
              <a:gd name="csX17" fmla="*/ 762000 w 14554200"/>
              <a:gd name="csY17" fmla="*/ 6172200 h 6172201"/>
              <a:gd name="csX18" fmla="*/ 762000 w 14554200"/>
              <a:gd name="csY18" fmla="*/ 6172199 h 6172201"/>
              <a:gd name="csX19" fmla="*/ 0 w 14554200"/>
              <a:gd name="csY19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4554200" h="6172201">
                <a:moveTo>
                  <a:pt x="2356529" y="72392"/>
                </a:moveTo>
                <a:lnTo>
                  <a:pt x="2356529" y="4144650"/>
                </a:lnTo>
                <a:lnTo>
                  <a:pt x="2703774" y="4144650"/>
                </a:lnTo>
                <a:lnTo>
                  <a:pt x="5937929" y="4144650"/>
                </a:lnTo>
                <a:lnTo>
                  <a:pt x="5939571" y="4144650"/>
                </a:lnTo>
                <a:lnTo>
                  <a:pt x="5939571" y="99606"/>
                </a:lnTo>
                <a:lnTo>
                  <a:pt x="5937929" y="99606"/>
                </a:lnTo>
                <a:lnTo>
                  <a:pt x="5937929" y="72392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5BEBD6CA-3381-3384-387F-CE9904035180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9FC474D7-7EB6-D827-4035-F34E1FAF8093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E588138F-A5CB-BC64-A62E-ADA66E8B05A8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054693-9D42-70B6-DA3B-0B4D1FD6201A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F8B40871-89EB-59EA-8E28-5873645B584D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E61901EE-E81A-57ED-246B-AD653D215B9E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365A59BB-975C-4CA9-E88C-2BA9F4767341}"/>
              </a:ext>
            </a:extLst>
          </p:cNvPr>
          <p:cNvSpPr/>
          <p:nvPr/>
        </p:nvSpPr>
        <p:spPr>
          <a:xfrm>
            <a:off x="-381000" y="-21401"/>
            <a:ext cx="12801601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</a:t>
            </a:r>
            <a:r>
              <a:rPr lang="en-US" sz="2800" b="1" u="sng" dirty="0">
                <a:solidFill>
                  <a:schemeClr val="bg1"/>
                </a:solidFill>
              </a:rPr>
              <a:t>DS2 encodes stationary, real-world position</a:t>
            </a:r>
            <a:endParaRPr lang="en-US" sz="2800" b="1" i="1" u="sng" dirty="0">
              <a:solidFill>
                <a:schemeClr val="bg1"/>
              </a:solidFill>
            </a:endParaRP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84096FA3-8ABB-6D05-77B8-73B0B814D0A9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53CDA420-2D90-3FA7-0576-C7C9F10429EA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BBDC2AE6-4F39-FE54-7812-D4F4DF31C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52999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BBD49609-8F02-D723-CA93-81CD7DA435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079052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 descr="A close-up of a graph&#10;&#10;AI-generated content may be incorrect.">
            <a:extLst>
              <a:ext uri="{FF2B5EF4-FFF2-40B4-BE49-F238E27FC236}">
                <a16:creationId xmlns:a16="http://schemas.microsoft.com/office/drawing/2014/main" id="{7B14DFB9-A0D5-65D6-E4A2-57CC29BA1106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-49530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Picture 2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C0D7D17-6CFD-A42D-7B37-7B6EA1539A8A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l="1190" t="2034"/>
          <a:stretch>
            <a:fillRect/>
          </a:stretch>
        </p:blipFill>
        <p:spPr>
          <a:xfrm>
            <a:off x="12725400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M5">
            <a:extLst>
              <a:ext uri="{FF2B5EF4-FFF2-40B4-BE49-F238E27FC236}">
                <a16:creationId xmlns:a16="http://schemas.microsoft.com/office/drawing/2014/main" id="{B0F04B52-E39F-A4AE-7998-73310AAC3297}"/>
              </a:ext>
            </a:extLst>
          </p:cNvPr>
          <p:cNvSpPr>
            <a:spLocks/>
          </p:cNvSpPr>
          <p:nvPr/>
        </p:nvSpPr>
        <p:spPr>
          <a:xfrm>
            <a:off x="-4983139" y="584832"/>
            <a:ext cx="1689942" cy="51462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</a:rPr>
              <a:t>DS2 spikes are highly organized</a:t>
            </a:r>
            <a:endParaRPr lang="en-US" sz="1200" b="1" u="sng" dirty="0">
              <a:solidFill>
                <a:srgbClr val="FF0000"/>
              </a:solidFill>
            </a:endParaRPr>
          </a:p>
        </p:txBody>
      </p:sp>
      <p:sp>
        <p:nvSpPr>
          <p:cNvPr id="32" name="!!M1">
            <a:extLst>
              <a:ext uri="{FF2B5EF4-FFF2-40B4-BE49-F238E27FC236}">
                <a16:creationId xmlns:a16="http://schemas.microsoft.com/office/drawing/2014/main" id="{82665531-5A5A-A3C3-801F-BDF275B6C9A2}"/>
              </a:ext>
            </a:extLst>
          </p:cNvPr>
          <p:cNvSpPr>
            <a:spLocks/>
          </p:cNvSpPr>
          <p:nvPr/>
        </p:nvSpPr>
        <p:spPr>
          <a:xfrm>
            <a:off x="5302391" y="990600"/>
            <a:ext cx="6889609" cy="4532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Result: </a:t>
            </a:r>
            <a:r>
              <a:rPr lang="en-US" sz="4400" dirty="0">
                <a:solidFill>
                  <a:schemeClr val="bg1"/>
                </a:solidFill>
              </a:rPr>
              <a:t>This created the clear diagonal line of activity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25821163-CD1D-E28C-B057-05419B12537E}"/>
              </a:ext>
            </a:extLst>
          </p:cNvPr>
          <p:cNvSpPr>
            <a:spLocks/>
          </p:cNvSpPr>
          <p:nvPr/>
        </p:nvSpPr>
        <p:spPr>
          <a:xfrm>
            <a:off x="5302391" y="838200"/>
            <a:ext cx="6889609" cy="3910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The Sorting: </a:t>
            </a:r>
            <a:r>
              <a:rPr lang="en-US" sz="4400" dirty="0">
                <a:solidFill>
                  <a:schemeClr val="bg1"/>
                </a:solidFill>
              </a:rPr>
              <a:t>ordered by their "preferred location"—the specific spot on the 120-cm treadmill where they fire most.</a:t>
            </a:r>
          </a:p>
        </p:txBody>
      </p:sp>
      <p:sp>
        <p:nvSpPr>
          <p:cNvPr id="30" name="!!M1">
            <a:extLst>
              <a:ext uri="{FF2B5EF4-FFF2-40B4-BE49-F238E27FC236}">
                <a16:creationId xmlns:a16="http://schemas.microsoft.com/office/drawing/2014/main" id="{AA659810-8A4F-8B6D-147E-08AE27422C9E}"/>
              </a:ext>
            </a:extLst>
          </p:cNvPr>
          <p:cNvSpPr>
            <a:spLocks/>
          </p:cNvSpPr>
          <p:nvPr/>
        </p:nvSpPr>
        <p:spPr>
          <a:xfrm>
            <a:off x="5302391" y="1066800"/>
            <a:ext cx="6889609" cy="30477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 Focus:</a:t>
            </a:r>
            <a:r>
              <a:rPr lang="en-US" sz="4400" dirty="0">
                <a:solidFill>
                  <a:schemeClr val="bg1"/>
                </a:solidFill>
              </a:rPr>
              <a:t>117 individual CA1 Place Cells (PCs).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E8668F4E-6A0E-C660-B0DE-B81390AB2D9A}"/>
              </a:ext>
            </a:extLst>
          </p:cNvPr>
          <p:cNvSpPr>
            <a:spLocks/>
          </p:cNvSpPr>
          <p:nvPr/>
        </p:nvSpPr>
        <p:spPr>
          <a:xfrm>
            <a:off x="6208651" y="-1250784"/>
            <a:ext cx="5830947" cy="1688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Again, no comments on distinct role of these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38CA8979-DAE9-1A8E-7BF4-8275CCE29700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483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X-axis: </a:t>
            </a:r>
            <a:r>
              <a:rPr lang="en-US" sz="4400" dirty="0"/>
              <a:t>~1,000 recorded DS2 events, sorted by the same hierarchical clusters as Panel a</a:t>
            </a:r>
            <a:r>
              <a:rPr lang="en-US" sz="4400" dirty="0">
                <a:solidFill>
                  <a:schemeClr val="bg1"/>
                </a:solidFill>
              </a:rPr>
              <a:t>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!!M1">
            <a:extLst>
              <a:ext uri="{FF2B5EF4-FFF2-40B4-BE49-F238E27FC236}">
                <a16:creationId xmlns:a16="http://schemas.microsoft.com/office/drawing/2014/main" id="{F1D0AEA2-E7E8-5E68-3640-AD1BA1854BA6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913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Y-axis: </a:t>
            </a:r>
            <a:r>
              <a:rPr lang="en-US" sz="4400" dirty="0">
                <a:solidFill>
                  <a:schemeClr val="bg1"/>
                </a:solidFill>
              </a:rPr>
              <a:t>Neurons which were re-ordered based on similar firing preferences.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1" name="!!M1">
            <a:extLst>
              <a:ext uri="{FF2B5EF4-FFF2-40B4-BE49-F238E27FC236}">
                <a16:creationId xmlns:a16="http://schemas.microsoft.com/office/drawing/2014/main" id="{CD5BBFC4-7CC1-DFDD-A379-0CEF3A572F39}"/>
              </a:ext>
            </a:extLst>
          </p:cNvPr>
          <p:cNvSpPr>
            <a:spLocks/>
          </p:cNvSpPr>
          <p:nvPr/>
        </p:nvSpPr>
        <p:spPr>
          <a:xfrm>
            <a:off x="6208651" y="-1825450"/>
            <a:ext cx="5830947" cy="1936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No comments on distinct role of these two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3" name="!!M1">
            <a:extLst>
              <a:ext uri="{FF2B5EF4-FFF2-40B4-BE49-F238E27FC236}">
                <a16:creationId xmlns:a16="http://schemas.microsoft.com/office/drawing/2014/main" id="{A2E6A664-68F5-138C-4F32-C120214ECA1C}"/>
              </a:ext>
            </a:extLst>
          </p:cNvPr>
          <p:cNvSpPr>
            <a:spLocks/>
          </p:cNvSpPr>
          <p:nvPr/>
        </p:nvSpPr>
        <p:spPr>
          <a:xfrm>
            <a:off x="6208651" y="-1870762"/>
            <a:ext cx="5830947" cy="31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Hierarchical clustering reveals distinct DS2 ensembles.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4DDBCCCF-9932-1E7F-79BC-2E5006372E96}"/>
              </a:ext>
            </a:extLst>
          </p:cNvPr>
          <p:cNvSpPr>
            <a:spLocks/>
          </p:cNvSpPr>
          <p:nvPr/>
        </p:nvSpPr>
        <p:spPr>
          <a:xfrm>
            <a:off x="6208653" y="-2017484"/>
            <a:ext cx="5830947" cy="6143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10a: DS2 events form repeating, non-random neural patterns.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7" name="!!M1">
            <a:extLst>
              <a:ext uri="{FF2B5EF4-FFF2-40B4-BE49-F238E27FC236}">
                <a16:creationId xmlns:a16="http://schemas.microsoft.com/office/drawing/2014/main" id="{EDFD7E66-835D-6C1F-86D0-97F2AF442942}"/>
              </a:ext>
            </a:extLst>
          </p:cNvPr>
          <p:cNvSpPr>
            <a:spLocks/>
          </p:cNvSpPr>
          <p:nvPr/>
        </p:nvSpPr>
        <p:spPr>
          <a:xfrm>
            <a:off x="6208653" y="-1337750"/>
            <a:ext cx="5830947" cy="6126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10b: Structured neural ensembles drive distinct DS2 categories.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81C5D06B-D3EC-BD66-D750-91E3939898EE}"/>
              </a:ext>
            </a:extLst>
          </p:cNvPr>
          <p:cNvSpPr>
            <a:spLocks/>
          </p:cNvSpPr>
          <p:nvPr/>
        </p:nvSpPr>
        <p:spPr>
          <a:xfrm>
            <a:off x="6208651" y="-659668"/>
            <a:ext cx="5830947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10d,e: </a:t>
            </a:r>
          </a:p>
          <a:p>
            <a:r>
              <a:rPr lang="en-US" sz="2600" dirty="0">
                <a:solidFill>
                  <a:schemeClr val="bg1"/>
                </a:solidFill>
              </a:rPr>
              <a:t>d: Neural patterns are more similar than chance; </a:t>
            </a:r>
            <a:r>
              <a:rPr lang="en-US" sz="2700" dirty="0">
                <a:solidFill>
                  <a:schemeClr val="bg1"/>
                </a:solidFill>
              </a:rPr>
              <a:t>e: Neural ensembles fire with high reliability.</a:t>
            </a:r>
            <a:endParaRPr lang="en-US" sz="270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3AE52EC6-F319-49C3-A68F-73A21CE97E0E}"/>
              </a:ext>
            </a:extLst>
          </p:cNvPr>
          <p:cNvSpPr>
            <a:spLocks/>
          </p:cNvSpPr>
          <p:nvPr/>
        </p:nvSpPr>
        <p:spPr>
          <a:xfrm>
            <a:off x="5302392" y="641171"/>
            <a:ext cx="6889608" cy="75829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Figure 3a: Locomotion creates a diagonal spatial map.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6" name="!!M1">
            <a:extLst>
              <a:ext uri="{FF2B5EF4-FFF2-40B4-BE49-F238E27FC236}">
                <a16:creationId xmlns:a16="http://schemas.microsoft.com/office/drawing/2014/main" id="{D3C7FFE7-CD9B-B0CB-1C34-BB9A287B67CB}"/>
              </a:ext>
            </a:extLst>
          </p:cNvPr>
          <p:cNvSpPr>
            <a:spLocks/>
          </p:cNvSpPr>
          <p:nvPr/>
        </p:nvSpPr>
        <p:spPr>
          <a:xfrm>
            <a:off x="12998591" y="2371874"/>
            <a:ext cx="5213209" cy="82852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Fast-Spiking Cells: The inhibitory interneurons (the "brakes").</a:t>
            </a:r>
          </a:p>
        </p:txBody>
      </p:sp>
      <p:sp>
        <p:nvSpPr>
          <p:cNvPr id="4" name="!!M1">
            <a:extLst>
              <a:ext uri="{FF2B5EF4-FFF2-40B4-BE49-F238E27FC236}">
                <a16:creationId xmlns:a16="http://schemas.microsoft.com/office/drawing/2014/main" id="{FC05AD8B-E29A-B797-D0B1-31F61538ACB7}"/>
              </a:ext>
            </a:extLst>
          </p:cNvPr>
          <p:cNvSpPr>
            <a:spLocks/>
          </p:cNvSpPr>
          <p:nvPr/>
        </p:nvSpPr>
        <p:spPr>
          <a:xfrm>
            <a:off x="-3079052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CA1 place cells (PC) fire robustly during DS2 events</a:t>
            </a:r>
            <a:endParaRPr lang="en-US" sz="44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5" name="!!M1">
            <a:extLst>
              <a:ext uri="{FF2B5EF4-FFF2-40B4-BE49-F238E27FC236}">
                <a16:creationId xmlns:a16="http://schemas.microsoft.com/office/drawing/2014/main" id="{FF53DCE0-F9B1-6D96-ED60-58418B5C3676}"/>
              </a:ext>
            </a:extLst>
          </p:cNvPr>
          <p:cNvSpPr>
            <a:spLocks/>
          </p:cNvSpPr>
          <p:nvPr/>
        </p:nvSpPr>
        <p:spPr>
          <a:xfrm>
            <a:off x="13117741" y="4358849"/>
            <a:ext cx="5213209" cy="69765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Non-Place Cells: Broadly recruited, non-spatial neural population.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450FE527-6EC8-772E-8646-F47FE8EB8862}"/>
              </a:ext>
            </a:extLst>
          </p:cNvPr>
          <p:cNvSpPr>
            <a:spLocks/>
          </p:cNvSpPr>
          <p:nvPr/>
        </p:nvSpPr>
        <p:spPr>
          <a:xfrm>
            <a:off x="13117741" y="3200400"/>
            <a:ext cx="5213209" cy="990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b="1" dirty="0">
                <a:solidFill>
                  <a:srgbClr val="46B1E1"/>
                </a:solidFill>
              </a:rPr>
              <a:t>Place Cells: Excitatory neurons that form the spatial map.</a:t>
            </a:r>
            <a:endParaRPr lang="en-US" sz="4400" b="1" dirty="0">
              <a:solidFill>
                <a:srgbClr val="46B1E1"/>
              </a:solidFill>
              <a:effectLst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547DC6C-0090-B559-5915-6352751330F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940" r="18636"/>
          <a:stretch>
            <a:fillRect/>
          </a:stretch>
        </p:blipFill>
        <p:spPr>
          <a:xfrm>
            <a:off x="4931917" y="1236283"/>
            <a:ext cx="249683" cy="2104704"/>
          </a:xfrm>
          <a:prstGeom prst="rect">
            <a:avLst/>
          </a:prstGeom>
        </p:spPr>
      </p:pic>
      <p:sp>
        <p:nvSpPr>
          <p:cNvPr id="36" name="!!Focus">
            <a:extLst>
              <a:ext uri="{FF2B5EF4-FFF2-40B4-BE49-F238E27FC236}">
                <a16:creationId xmlns:a16="http://schemas.microsoft.com/office/drawing/2014/main" id="{0BB03616-64DE-6093-5F4C-591E4DE15328}"/>
              </a:ext>
            </a:extLst>
          </p:cNvPr>
          <p:cNvSpPr/>
          <p:nvPr/>
        </p:nvSpPr>
        <p:spPr>
          <a:xfrm rot="10800000">
            <a:off x="3962398" y="2209796"/>
            <a:ext cx="1219199" cy="1098993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!!M1">
            <a:extLst>
              <a:ext uri="{FF2B5EF4-FFF2-40B4-BE49-F238E27FC236}">
                <a16:creationId xmlns:a16="http://schemas.microsoft.com/office/drawing/2014/main" id="{95C8D34C-D8E6-89E0-FB6C-A4D8C1DDD8E2}"/>
              </a:ext>
            </a:extLst>
          </p:cNvPr>
          <p:cNvSpPr>
            <a:spLocks/>
          </p:cNvSpPr>
          <p:nvPr/>
        </p:nvSpPr>
        <p:spPr>
          <a:xfrm>
            <a:off x="5302392" y="1524000"/>
            <a:ext cx="6889608" cy="758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3b: </a:t>
            </a:r>
            <a:r>
              <a:rPr lang="fr-FR" sz="4400" dirty="0" err="1">
                <a:solidFill>
                  <a:schemeClr val="bg1"/>
                </a:solidFill>
              </a:rPr>
              <a:t>Ripples</a:t>
            </a:r>
            <a:r>
              <a:rPr lang="fr-FR" sz="4400" dirty="0">
                <a:solidFill>
                  <a:schemeClr val="bg1"/>
                </a:solidFill>
              </a:rPr>
              <a:t> do not </a:t>
            </a:r>
            <a:r>
              <a:rPr lang="fr-FR" sz="4400" dirty="0" err="1">
                <a:solidFill>
                  <a:schemeClr val="bg1"/>
                </a:solidFill>
              </a:rPr>
              <a:t>represent</a:t>
            </a:r>
            <a:r>
              <a:rPr lang="fr-FR" sz="4400" dirty="0">
                <a:solidFill>
                  <a:schemeClr val="bg1"/>
                </a:solidFill>
              </a:rPr>
              <a:t> </a:t>
            </a:r>
            <a:r>
              <a:rPr lang="fr-FR" sz="4400" dirty="0" err="1">
                <a:solidFill>
                  <a:schemeClr val="bg1"/>
                </a:solidFill>
              </a:rPr>
              <a:t>current</a:t>
            </a:r>
            <a:r>
              <a:rPr lang="fr-FR" sz="4400" dirty="0">
                <a:solidFill>
                  <a:schemeClr val="bg1"/>
                </a:solidFill>
              </a:rPr>
              <a:t> spatial locations.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7" name="!!Focus2">
            <a:extLst>
              <a:ext uri="{FF2B5EF4-FFF2-40B4-BE49-F238E27FC236}">
                <a16:creationId xmlns:a16="http://schemas.microsoft.com/office/drawing/2014/main" id="{66BE83AD-EBED-EECA-E182-D3366FFF9D7F}"/>
              </a:ext>
            </a:extLst>
          </p:cNvPr>
          <p:cNvSpPr/>
          <p:nvPr/>
        </p:nvSpPr>
        <p:spPr>
          <a:xfrm rot="10800000">
            <a:off x="3962400" y="3368744"/>
            <a:ext cx="1219196" cy="109899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!!M1">
            <a:extLst>
              <a:ext uri="{FF2B5EF4-FFF2-40B4-BE49-F238E27FC236}">
                <a16:creationId xmlns:a16="http://schemas.microsoft.com/office/drawing/2014/main" id="{2C13CAA8-B613-6AFE-E677-C7251F5A9F08}"/>
              </a:ext>
            </a:extLst>
          </p:cNvPr>
          <p:cNvSpPr>
            <a:spLocks/>
          </p:cNvSpPr>
          <p:nvPr/>
        </p:nvSpPr>
        <p:spPr>
          <a:xfrm>
            <a:off x="5302392" y="2390486"/>
            <a:ext cx="6889608" cy="120580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Figure 3c: </a:t>
            </a:r>
            <a:r>
              <a:rPr lang="en-US" sz="4400" dirty="0">
                <a:solidFill>
                  <a:srgbClr val="FF0000"/>
                </a:solidFill>
              </a:rPr>
              <a:t>DS2 firing aligns with current location.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9E22819-71DF-F42C-DC1A-4B562CEB85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33"/>
          <a:stretch>
            <a:fillRect/>
          </a:stretch>
        </p:blipFill>
        <p:spPr>
          <a:xfrm>
            <a:off x="4191000" y="3434365"/>
            <a:ext cx="738868" cy="528569"/>
          </a:xfrm>
          <a:prstGeom prst="rect">
            <a:avLst/>
          </a:prstGeom>
        </p:spPr>
      </p:pic>
      <p:sp>
        <p:nvSpPr>
          <p:cNvPr id="43" name="!!M1">
            <a:extLst>
              <a:ext uri="{FF2B5EF4-FFF2-40B4-BE49-F238E27FC236}">
                <a16:creationId xmlns:a16="http://schemas.microsoft.com/office/drawing/2014/main" id="{4E97F433-7327-D212-78E6-D2D49B4DC994}"/>
              </a:ext>
            </a:extLst>
          </p:cNvPr>
          <p:cNvSpPr>
            <a:spLocks/>
          </p:cNvSpPr>
          <p:nvPr/>
        </p:nvSpPr>
        <p:spPr>
          <a:xfrm>
            <a:off x="12395201" y="3153043"/>
            <a:ext cx="6889608" cy="120580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Figure 3d: </a:t>
            </a:r>
            <a:r>
              <a:rPr lang="en-US" sz="4400" dirty="0">
                <a:solidFill>
                  <a:srgbClr val="FF0000"/>
                </a:solidFill>
              </a:rPr>
              <a:t>Decoding confirms DS2 encodes actual position.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11107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7 L 0.00169 -0.1601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-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1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7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250"/>
                            </p:stCondLst>
                            <p:childTnLst>
                              <p:par>
                                <p:cTn id="20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1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500"/>
                            </p:stCondLst>
                            <p:childTnLst>
                              <p:par>
                                <p:cTn id="28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1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25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750"/>
                            </p:stCondLst>
                            <p:childTnLst>
                              <p:par>
                                <p:cTn id="36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" dur="1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AC68E-DDC6-5A1C-6FAA-EF1267946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F3A67AA1-8F5D-CDC8-3FEF-252339AD4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-4321761"/>
            <a:ext cx="17700476" cy="10361897"/>
          </a:xfrm>
          <a:prstGeom prst="rect">
            <a:avLst/>
          </a:prstGeom>
          <a:ln w="38100">
            <a:noFill/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84343D8-0F08-A5E4-9692-32854080C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841" y="1337106"/>
            <a:ext cx="6967808" cy="4677591"/>
          </a:xfrm>
          <a:prstGeom prst="rect">
            <a:avLst/>
          </a:prstGeom>
        </p:spPr>
      </p:pic>
      <p:sp>
        <p:nvSpPr>
          <p:cNvPr id="43" name="!!Freeform: Shape 42">
            <a:extLst>
              <a:ext uri="{FF2B5EF4-FFF2-40B4-BE49-F238E27FC236}">
                <a16:creationId xmlns:a16="http://schemas.microsoft.com/office/drawing/2014/main" id="{6F9CBFEE-D3C5-994A-8A2D-D6D0D10444ED}"/>
              </a:ext>
            </a:extLst>
          </p:cNvPr>
          <p:cNvSpPr/>
          <p:nvPr/>
        </p:nvSpPr>
        <p:spPr>
          <a:xfrm>
            <a:off x="-756329" y="503550"/>
            <a:ext cx="14554200" cy="6172201"/>
          </a:xfrm>
          <a:custGeom>
            <a:avLst/>
            <a:gdLst>
              <a:gd name="csX0" fmla="*/ 1365929 w 14554200"/>
              <a:gd name="csY0" fmla="*/ 895916 h 6172201"/>
              <a:gd name="csX1" fmla="*/ 1365929 w 14554200"/>
              <a:gd name="csY1" fmla="*/ 5536586 h 6172201"/>
              <a:gd name="csX2" fmla="*/ 5674396 w 14554200"/>
              <a:gd name="csY2" fmla="*/ 5536586 h 6172201"/>
              <a:gd name="csX3" fmla="*/ 5674396 w 14554200"/>
              <a:gd name="csY3" fmla="*/ 895916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2280329 w 14554200"/>
              <a:gd name="csY6" fmla="*/ 0 h 6172201"/>
              <a:gd name="csX7" fmla="*/ 631893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1365929" y="895916"/>
                </a:moveTo>
                <a:lnTo>
                  <a:pt x="1365929" y="5536586"/>
                </a:lnTo>
                <a:lnTo>
                  <a:pt x="5674396" y="5536586"/>
                </a:lnTo>
                <a:lnTo>
                  <a:pt x="5674396" y="89591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2280329" y="0"/>
                </a:lnTo>
                <a:lnTo>
                  <a:pt x="631893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E8B8C3C6-7529-67B6-CEB3-16C0FB72982F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5E5105EC-DA28-6A50-2203-42927368D8CA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13CC0BD1-CF47-ACCB-0E91-25A808F0F8A5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328B85-379B-555F-9FCE-773C6E0F9D04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2BB96DEA-D297-A69D-1A65-0B931DF9C763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DD40FB3D-3AF0-9473-C0C9-8C8CDAA11392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8F0CD3BA-2130-F07C-0595-FC934824D9FA}"/>
              </a:ext>
            </a:extLst>
          </p:cNvPr>
          <p:cNvSpPr/>
          <p:nvPr/>
        </p:nvSpPr>
        <p:spPr>
          <a:xfrm>
            <a:off x="-381000" y="-21401"/>
            <a:ext cx="12801601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</a:t>
            </a:r>
            <a:r>
              <a:rPr lang="en-US" sz="2800" b="1" u="sng" dirty="0">
                <a:solidFill>
                  <a:schemeClr val="bg1"/>
                </a:solidFill>
              </a:rPr>
              <a:t>DS2 encodes stationary, real-world position</a:t>
            </a:r>
            <a:endParaRPr lang="en-US" sz="2800" b="1" i="1" u="sng" dirty="0">
              <a:solidFill>
                <a:schemeClr val="bg1"/>
              </a:solidFill>
            </a:endParaRP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DDA226C1-5581-18BA-C19E-516CCF6DB601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1713EC5A-CEBB-8DE6-1198-202BD0101092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43BEBF5B-74E4-F829-172D-565177CF2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52999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6BEA839D-E4B5-CC9E-2328-0EA5A29E3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079052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 descr="A close-up of a graph&#10;&#10;AI-generated content may be incorrect.">
            <a:extLst>
              <a:ext uri="{FF2B5EF4-FFF2-40B4-BE49-F238E27FC236}">
                <a16:creationId xmlns:a16="http://schemas.microsoft.com/office/drawing/2014/main" id="{8C66F893-B2DE-99CC-AA22-3984B679C6E3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-49530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Picture 2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5D97087-6DBB-6AC6-60BB-F9FC15A9458E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l="1190" t="2034"/>
          <a:stretch>
            <a:fillRect/>
          </a:stretch>
        </p:blipFill>
        <p:spPr>
          <a:xfrm>
            <a:off x="12725400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M5">
            <a:extLst>
              <a:ext uri="{FF2B5EF4-FFF2-40B4-BE49-F238E27FC236}">
                <a16:creationId xmlns:a16="http://schemas.microsoft.com/office/drawing/2014/main" id="{A939E5B1-A55F-882E-0B4D-E1020898FEF9}"/>
              </a:ext>
            </a:extLst>
          </p:cNvPr>
          <p:cNvSpPr>
            <a:spLocks/>
          </p:cNvSpPr>
          <p:nvPr/>
        </p:nvSpPr>
        <p:spPr>
          <a:xfrm>
            <a:off x="-4983139" y="584832"/>
            <a:ext cx="1689942" cy="51462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</a:rPr>
              <a:t>DS2 spikes are highly organized</a:t>
            </a:r>
            <a:endParaRPr lang="en-US" sz="1200" b="1" u="sng" dirty="0">
              <a:solidFill>
                <a:srgbClr val="FF0000"/>
              </a:solidFill>
            </a:endParaRPr>
          </a:p>
        </p:txBody>
      </p:sp>
      <p:sp>
        <p:nvSpPr>
          <p:cNvPr id="32" name="!!M1">
            <a:extLst>
              <a:ext uri="{FF2B5EF4-FFF2-40B4-BE49-F238E27FC236}">
                <a16:creationId xmlns:a16="http://schemas.microsoft.com/office/drawing/2014/main" id="{014FF179-8591-F01D-DC1B-4AB965450E47}"/>
              </a:ext>
            </a:extLst>
          </p:cNvPr>
          <p:cNvSpPr>
            <a:spLocks/>
          </p:cNvSpPr>
          <p:nvPr/>
        </p:nvSpPr>
        <p:spPr>
          <a:xfrm>
            <a:off x="5302391" y="990600"/>
            <a:ext cx="6889609" cy="4532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Result: </a:t>
            </a:r>
            <a:r>
              <a:rPr lang="en-US" sz="4400" dirty="0">
                <a:solidFill>
                  <a:schemeClr val="bg1"/>
                </a:solidFill>
              </a:rPr>
              <a:t>This created the clear diagonal line of activity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7F0EF115-D9E9-1E90-F84E-57E27095D47E}"/>
              </a:ext>
            </a:extLst>
          </p:cNvPr>
          <p:cNvSpPr>
            <a:spLocks/>
          </p:cNvSpPr>
          <p:nvPr/>
        </p:nvSpPr>
        <p:spPr>
          <a:xfrm>
            <a:off x="5302391" y="838200"/>
            <a:ext cx="6889609" cy="3910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The Sorting: </a:t>
            </a:r>
            <a:r>
              <a:rPr lang="en-US" sz="4400" dirty="0">
                <a:solidFill>
                  <a:schemeClr val="bg1"/>
                </a:solidFill>
              </a:rPr>
              <a:t>ordered by their "preferred location"—the specific spot on the 120-cm treadmill where they fire most.</a:t>
            </a:r>
          </a:p>
        </p:txBody>
      </p:sp>
      <p:sp>
        <p:nvSpPr>
          <p:cNvPr id="30" name="!!M1">
            <a:extLst>
              <a:ext uri="{FF2B5EF4-FFF2-40B4-BE49-F238E27FC236}">
                <a16:creationId xmlns:a16="http://schemas.microsoft.com/office/drawing/2014/main" id="{C00B0395-2BF4-7FF4-A79D-184B226ED5E5}"/>
              </a:ext>
            </a:extLst>
          </p:cNvPr>
          <p:cNvSpPr>
            <a:spLocks/>
          </p:cNvSpPr>
          <p:nvPr/>
        </p:nvSpPr>
        <p:spPr>
          <a:xfrm>
            <a:off x="5302391" y="1066800"/>
            <a:ext cx="6889609" cy="30477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 Focus:</a:t>
            </a:r>
            <a:r>
              <a:rPr lang="en-US" sz="4400" dirty="0">
                <a:solidFill>
                  <a:schemeClr val="bg1"/>
                </a:solidFill>
              </a:rPr>
              <a:t>117 individual CA1 Place Cells (PCs).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0080BCC0-7B54-B40A-4F10-6ACCB33959D5}"/>
              </a:ext>
            </a:extLst>
          </p:cNvPr>
          <p:cNvSpPr>
            <a:spLocks/>
          </p:cNvSpPr>
          <p:nvPr/>
        </p:nvSpPr>
        <p:spPr>
          <a:xfrm>
            <a:off x="6208651" y="-1250784"/>
            <a:ext cx="5830947" cy="1688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Again, no comments on distinct role of these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A8DDA93F-1EFE-A12B-5709-2BA533661CE3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483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X-axis: </a:t>
            </a:r>
            <a:r>
              <a:rPr lang="en-US" sz="4400" dirty="0"/>
              <a:t>~1,000 recorded DS2 events, sorted by the same hierarchical clusters as Panel a</a:t>
            </a:r>
            <a:r>
              <a:rPr lang="en-US" sz="4400" dirty="0">
                <a:solidFill>
                  <a:schemeClr val="bg1"/>
                </a:solidFill>
              </a:rPr>
              <a:t>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!!M1">
            <a:extLst>
              <a:ext uri="{FF2B5EF4-FFF2-40B4-BE49-F238E27FC236}">
                <a16:creationId xmlns:a16="http://schemas.microsoft.com/office/drawing/2014/main" id="{8B1283FA-BC29-8D6F-A61E-3C0E6747B939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913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Y-axis: </a:t>
            </a:r>
            <a:r>
              <a:rPr lang="en-US" sz="4400" dirty="0">
                <a:solidFill>
                  <a:schemeClr val="bg1"/>
                </a:solidFill>
              </a:rPr>
              <a:t>Neurons which were re-ordered based on similar firing preferences.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1" name="!!M1">
            <a:extLst>
              <a:ext uri="{FF2B5EF4-FFF2-40B4-BE49-F238E27FC236}">
                <a16:creationId xmlns:a16="http://schemas.microsoft.com/office/drawing/2014/main" id="{75E173EF-5794-D913-603F-879D6BF75A5F}"/>
              </a:ext>
            </a:extLst>
          </p:cNvPr>
          <p:cNvSpPr>
            <a:spLocks/>
          </p:cNvSpPr>
          <p:nvPr/>
        </p:nvSpPr>
        <p:spPr>
          <a:xfrm>
            <a:off x="6208651" y="-1825450"/>
            <a:ext cx="5830947" cy="1936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No comments on distinct role of these two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3" name="!!M1">
            <a:extLst>
              <a:ext uri="{FF2B5EF4-FFF2-40B4-BE49-F238E27FC236}">
                <a16:creationId xmlns:a16="http://schemas.microsoft.com/office/drawing/2014/main" id="{71250162-CDA2-F477-4B94-BFA05C8ACDDD}"/>
              </a:ext>
            </a:extLst>
          </p:cNvPr>
          <p:cNvSpPr>
            <a:spLocks/>
          </p:cNvSpPr>
          <p:nvPr/>
        </p:nvSpPr>
        <p:spPr>
          <a:xfrm>
            <a:off x="6208651" y="-1870762"/>
            <a:ext cx="5830947" cy="31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Hierarchical clustering reveals distinct DS2 ensembles.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E657A9D4-C76D-2BEC-A78F-0C989444E91F}"/>
              </a:ext>
            </a:extLst>
          </p:cNvPr>
          <p:cNvSpPr>
            <a:spLocks/>
          </p:cNvSpPr>
          <p:nvPr/>
        </p:nvSpPr>
        <p:spPr>
          <a:xfrm>
            <a:off x="6208653" y="-2017484"/>
            <a:ext cx="5830947" cy="6143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10a: DS2 events form repeating, non-random neural patterns.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7" name="!!M1">
            <a:extLst>
              <a:ext uri="{FF2B5EF4-FFF2-40B4-BE49-F238E27FC236}">
                <a16:creationId xmlns:a16="http://schemas.microsoft.com/office/drawing/2014/main" id="{30CBF138-B8A0-9EF5-E848-788C6CB086C1}"/>
              </a:ext>
            </a:extLst>
          </p:cNvPr>
          <p:cNvSpPr>
            <a:spLocks/>
          </p:cNvSpPr>
          <p:nvPr/>
        </p:nvSpPr>
        <p:spPr>
          <a:xfrm>
            <a:off x="6208653" y="-1337750"/>
            <a:ext cx="5830947" cy="6126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10b: Structured neural ensembles drive distinct DS2 categories.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EB257519-6851-2DB6-CF7E-9D795FD89E86}"/>
              </a:ext>
            </a:extLst>
          </p:cNvPr>
          <p:cNvSpPr>
            <a:spLocks/>
          </p:cNvSpPr>
          <p:nvPr/>
        </p:nvSpPr>
        <p:spPr>
          <a:xfrm>
            <a:off x="6208651" y="-659668"/>
            <a:ext cx="5830947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10d,e: </a:t>
            </a:r>
          </a:p>
          <a:p>
            <a:r>
              <a:rPr lang="en-US" sz="2600" dirty="0">
                <a:solidFill>
                  <a:schemeClr val="bg1"/>
                </a:solidFill>
              </a:rPr>
              <a:t>d: Neural patterns are more similar than chance; </a:t>
            </a:r>
            <a:r>
              <a:rPr lang="en-US" sz="2700" dirty="0">
                <a:solidFill>
                  <a:schemeClr val="bg1"/>
                </a:solidFill>
              </a:rPr>
              <a:t>e: Neural ensembles fire with high reliability.</a:t>
            </a:r>
            <a:endParaRPr lang="en-US" sz="270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FF29EACC-7FFD-125A-0312-97B189CA4854}"/>
              </a:ext>
            </a:extLst>
          </p:cNvPr>
          <p:cNvSpPr>
            <a:spLocks/>
          </p:cNvSpPr>
          <p:nvPr/>
        </p:nvSpPr>
        <p:spPr>
          <a:xfrm>
            <a:off x="5302392" y="641171"/>
            <a:ext cx="6889608" cy="75829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Figure 3a: Locomotion creates a diagonal spatial map.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6" name="!!M1">
            <a:extLst>
              <a:ext uri="{FF2B5EF4-FFF2-40B4-BE49-F238E27FC236}">
                <a16:creationId xmlns:a16="http://schemas.microsoft.com/office/drawing/2014/main" id="{A26B591F-ECB7-0C79-17DD-3BC86C524AE9}"/>
              </a:ext>
            </a:extLst>
          </p:cNvPr>
          <p:cNvSpPr>
            <a:spLocks/>
          </p:cNvSpPr>
          <p:nvPr/>
        </p:nvSpPr>
        <p:spPr>
          <a:xfrm>
            <a:off x="12998591" y="2371874"/>
            <a:ext cx="5213209" cy="82852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Fast-Spiking Cells: The inhibitory interneurons (the "brakes").</a:t>
            </a:r>
          </a:p>
        </p:txBody>
      </p:sp>
      <p:sp>
        <p:nvSpPr>
          <p:cNvPr id="4" name="!!M1">
            <a:extLst>
              <a:ext uri="{FF2B5EF4-FFF2-40B4-BE49-F238E27FC236}">
                <a16:creationId xmlns:a16="http://schemas.microsoft.com/office/drawing/2014/main" id="{89DBAFB5-AE8E-D8C9-A788-17A5920F2748}"/>
              </a:ext>
            </a:extLst>
          </p:cNvPr>
          <p:cNvSpPr>
            <a:spLocks/>
          </p:cNvSpPr>
          <p:nvPr/>
        </p:nvSpPr>
        <p:spPr>
          <a:xfrm>
            <a:off x="-3079052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CA1 place cells (PC) fire robustly during DS2 events</a:t>
            </a:r>
            <a:endParaRPr lang="en-US" sz="44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5" name="!!M1">
            <a:extLst>
              <a:ext uri="{FF2B5EF4-FFF2-40B4-BE49-F238E27FC236}">
                <a16:creationId xmlns:a16="http://schemas.microsoft.com/office/drawing/2014/main" id="{CF0ACAB1-0A53-A13F-879D-70D751C52B4C}"/>
              </a:ext>
            </a:extLst>
          </p:cNvPr>
          <p:cNvSpPr>
            <a:spLocks/>
          </p:cNvSpPr>
          <p:nvPr/>
        </p:nvSpPr>
        <p:spPr>
          <a:xfrm>
            <a:off x="13117741" y="4358849"/>
            <a:ext cx="5213209" cy="69765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Non-Place Cells: Broadly recruited, non-spatial neural population.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4CE8A23D-CD68-8E6F-76FF-BBD304C86435}"/>
              </a:ext>
            </a:extLst>
          </p:cNvPr>
          <p:cNvSpPr>
            <a:spLocks/>
          </p:cNvSpPr>
          <p:nvPr/>
        </p:nvSpPr>
        <p:spPr>
          <a:xfrm>
            <a:off x="13117741" y="3200400"/>
            <a:ext cx="5213209" cy="990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b="1" dirty="0">
                <a:solidFill>
                  <a:srgbClr val="46B1E1"/>
                </a:solidFill>
              </a:rPr>
              <a:t>Place Cells: Excitatory neurons that form the spatial map.</a:t>
            </a:r>
            <a:endParaRPr lang="en-US" sz="4400" b="1" dirty="0">
              <a:solidFill>
                <a:srgbClr val="46B1E1"/>
              </a:solidFill>
              <a:effectLst/>
            </a:endParaRPr>
          </a:p>
        </p:txBody>
      </p:sp>
      <p:sp>
        <p:nvSpPr>
          <p:cNvPr id="39" name="!!M1">
            <a:extLst>
              <a:ext uri="{FF2B5EF4-FFF2-40B4-BE49-F238E27FC236}">
                <a16:creationId xmlns:a16="http://schemas.microsoft.com/office/drawing/2014/main" id="{3FA331FE-9BBF-5DD8-5B30-EF7F3A24ED56}"/>
              </a:ext>
            </a:extLst>
          </p:cNvPr>
          <p:cNvSpPr>
            <a:spLocks/>
          </p:cNvSpPr>
          <p:nvPr/>
        </p:nvSpPr>
        <p:spPr>
          <a:xfrm>
            <a:off x="5302392" y="1524000"/>
            <a:ext cx="6889608" cy="758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3b: </a:t>
            </a:r>
            <a:r>
              <a:rPr lang="fr-FR" sz="4400" dirty="0" err="1">
                <a:solidFill>
                  <a:schemeClr val="bg1"/>
                </a:solidFill>
              </a:rPr>
              <a:t>Ripples</a:t>
            </a:r>
            <a:r>
              <a:rPr lang="fr-FR" sz="4400" dirty="0">
                <a:solidFill>
                  <a:schemeClr val="bg1"/>
                </a:solidFill>
              </a:rPr>
              <a:t> do not </a:t>
            </a:r>
            <a:r>
              <a:rPr lang="fr-FR" sz="4400" dirty="0" err="1">
                <a:solidFill>
                  <a:schemeClr val="bg1"/>
                </a:solidFill>
              </a:rPr>
              <a:t>represent</a:t>
            </a:r>
            <a:r>
              <a:rPr lang="fr-FR" sz="4400" dirty="0">
                <a:solidFill>
                  <a:schemeClr val="bg1"/>
                </a:solidFill>
              </a:rPr>
              <a:t> </a:t>
            </a:r>
            <a:r>
              <a:rPr lang="fr-FR" sz="4400" dirty="0" err="1">
                <a:solidFill>
                  <a:schemeClr val="bg1"/>
                </a:solidFill>
              </a:rPr>
              <a:t>current</a:t>
            </a:r>
            <a:r>
              <a:rPr lang="fr-FR" sz="4400" dirty="0">
                <a:solidFill>
                  <a:schemeClr val="bg1"/>
                </a:solidFill>
              </a:rPr>
              <a:t> spatial locations.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7" name="!!Focus2">
            <a:extLst>
              <a:ext uri="{FF2B5EF4-FFF2-40B4-BE49-F238E27FC236}">
                <a16:creationId xmlns:a16="http://schemas.microsoft.com/office/drawing/2014/main" id="{3FA5ACA0-85A0-E36B-9A04-BEB28C3875B8}"/>
              </a:ext>
            </a:extLst>
          </p:cNvPr>
          <p:cNvSpPr/>
          <p:nvPr/>
        </p:nvSpPr>
        <p:spPr>
          <a:xfrm rot="10800000">
            <a:off x="3200400" y="3429000"/>
            <a:ext cx="1637824" cy="762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!!M1">
            <a:extLst>
              <a:ext uri="{FF2B5EF4-FFF2-40B4-BE49-F238E27FC236}">
                <a16:creationId xmlns:a16="http://schemas.microsoft.com/office/drawing/2014/main" id="{DB66E63F-60E3-094D-E0D8-B42BF234433D}"/>
              </a:ext>
            </a:extLst>
          </p:cNvPr>
          <p:cNvSpPr>
            <a:spLocks/>
          </p:cNvSpPr>
          <p:nvPr/>
        </p:nvSpPr>
        <p:spPr>
          <a:xfrm>
            <a:off x="5302392" y="2390486"/>
            <a:ext cx="6889608" cy="65266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3c: </a:t>
            </a:r>
            <a:r>
              <a:rPr lang="en-US" sz="4400" dirty="0">
                <a:solidFill>
                  <a:schemeClr val="bg1"/>
                </a:solidFill>
              </a:rPr>
              <a:t>DS2 firing aligns with current location.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1">
            <a:extLst>
              <a:ext uri="{FF2B5EF4-FFF2-40B4-BE49-F238E27FC236}">
                <a16:creationId xmlns:a16="http://schemas.microsoft.com/office/drawing/2014/main" id="{E2F52A47-F1BB-822D-583F-0D474BBA4FD0}"/>
              </a:ext>
            </a:extLst>
          </p:cNvPr>
          <p:cNvSpPr>
            <a:spLocks/>
          </p:cNvSpPr>
          <p:nvPr/>
        </p:nvSpPr>
        <p:spPr>
          <a:xfrm>
            <a:off x="5250991" y="3153043"/>
            <a:ext cx="6889608" cy="120580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Figure 3d: </a:t>
            </a:r>
            <a:r>
              <a:rPr lang="en-US" sz="4400" dirty="0">
                <a:solidFill>
                  <a:srgbClr val="FF0000"/>
                </a:solidFill>
              </a:rPr>
              <a:t>Decoding confirms DS2 encodes actual position.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6F881C81-88FC-05BA-9FCE-906CE70E542F}"/>
              </a:ext>
            </a:extLst>
          </p:cNvPr>
          <p:cNvSpPr>
            <a:spLocks/>
          </p:cNvSpPr>
          <p:nvPr/>
        </p:nvSpPr>
        <p:spPr>
          <a:xfrm>
            <a:off x="12521501" y="3934568"/>
            <a:ext cx="6889608" cy="120580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Figure 3e: </a:t>
            </a:r>
            <a:r>
              <a:rPr lang="en-US" sz="4400" dirty="0">
                <a:solidFill>
                  <a:srgbClr val="FF0000"/>
                </a:solidFill>
              </a:rPr>
              <a:t>DS2 provides a stationary spatial representation.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95637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CA77D-1DEB-73FC-B188-6E8CBD39C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35E698D3-708E-DD5E-11AF-69E4CF731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58200" y="-1284131"/>
            <a:ext cx="13682065" cy="8009511"/>
          </a:xfrm>
          <a:prstGeom prst="rect">
            <a:avLst/>
          </a:prstGeom>
          <a:ln w="38100"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4508276-0A93-10C8-3A45-683900BF4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99207" y="3370579"/>
            <a:ext cx="5159074" cy="3253958"/>
          </a:xfrm>
          <a:prstGeom prst="rect">
            <a:avLst/>
          </a:prstGeom>
        </p:spPr>
      </p:pic>
      <p:sp>
        <p:nvSpPr>
          <p:cNvPr id="34" name="!!Freeform: Shape 33">
            <a:extLst>
              <a:ext uri="{FF2B5EF4-FFF2-40B4-BE49-F238E27FC236}">
                <a16:creationId xmlns:a16="http://schemas.microsoft.com/office/drawing/2014/main" id="{24F2BC9B-ACA9-BB49-406D-AE3A3F8D5949}"/>
              </a:ext>
            </a:extLst>
          </p:cNvPr>
          <p:cNvSpPr/>
          <p:nvPr/>
        </p:nvSpPr>
        <p:spPr>
          <a:xfrm>
            <a:off x="-756329" y="503550"/>
            <a:ext cx="14554200" cy="6172201"/>
          </a:xfrm>
          <a:custGeom>
            <a:avLst/>
            <a:gdLst>
              <a:gd name="csX0" fmla="*/ 1518329 w 14554200"/>
              <a:gd name="csY0" fmla="*/ 2696850 h 6172201"/>
              <a:gd name="csX1" fmla="*/ 1518329 w 14554200"/>
              <a:gd name="csY1" fmla="*/ 6125849 h 6172201"/>
              <a:gd name="csX2" fmla="*/ 6007320 w 14554200"/>
              <a:gd name="csY2" fmla="*/ 6125849 h 6172201"/>
              <a:gd name="csX3" fmla="*/ 6007320 w 14554200"/>
              <a:gd name="csY3" fmla="*/ 2696850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2280329 w 14554200"/>
              <a:gd name="csY6" fmla="*/ 0 h 6172201"/>
              <a:gd name="csX7" fmla="*/ 631893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1518329" y="2696850"/>
                </a:moveTo>
                <a:lnTo>
                  <a:pt x="1518329" y="6125849"/>
                </a:lnTo>
                <a:lnTo>
                  <a:pt x="6007320" y="6125849"/>
                </a:lnTo>
                <a:lnTo>
                  <a:pt x="6007320" y="2696850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2280329" y="0"/>
                </a:lnTo>
                <a:lnTo>
                  <a:pt x="631893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5FBDC57B-9BAC-D1D4-D8E7-44DCEBA2910E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940716D0-6127-5779-F72A-8182235848C5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434AE327-FD1D-3D25-73FD-3A5A3B875ADC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AD5FA8-1DFD-FFB7-916A-70BF6B2111A4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414BC8C8-E37F-06CE-D182-B91BBEF93C95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1F80507F-DA67-151B-005C-3641F3085A33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2B482E29-BAFD-31BA-2EC4-3CF5F2180AAE}"/>
              </a:ext>
            </a:extLst>
          </p:cNvPr>
          <p:cNvSpPr/>
          <p:nvPr/>
        </p:nvSpPr>
        <p:spPr>
          <a:xfrm>
            <a:off x="-381000" y="-21401"/>
            <a:ext cx="12801601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</a:t>
            </a:r>
            <a:r>
              <a:rPr lang="en-US" sz="2800" b="1" u="sng" dirty="0">
                <a:solidFill>
                  <a:schemeClr val="bg1"/>
                </a:solidFill>
              </a:rPr>
              <a:t>DS2 encodes stationary, real-world position</a:t>
            </a:r>
            <a:endParaRPr lang="en-US" sz="2800" b="1" i="1" u="sng" dirty="0">
              <a:solidFill>
                <a:schemeClr val="bg1"/>
              </a:solidFill>
            </a:endParaRP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5A3CA6EA-4A3D-7114-DC2A-326AED455021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E55B48F1-2749-6BC0-75E2-1CA6A451A4BC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602BC1ED-FBE4-94F5-9A8E-6627A1FDD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952999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4" name="Picture 1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F7954BBA-919D-A383-D6D4-B9CE1C6D77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079052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2" name="Picture 21" descr="A close-up of a graph&#10;&#10;AI-generated content may be incorrect.">
            <a:extLst>
              <a:ext uri="{FF2B5EF4-FFF2-40B4-BE49-F238E27FC236}">
                <a16:creationId xmlns:a16="http://schemas.microsoft.com/office/drawing/2014/main" id="{E98B81A2-19AB-4F53-7992-1EAEDE14B7F3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-49530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Picture 2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1449D66-06C3-B8CC-00E0-B118CB42809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rcRect l="1190" t="2034"/>
          <a:stretch>
            <a:fillRect/>
          </a:stretch>
        </p:blipFill>
        <p:spPr>
          <a:xfrm>
            <a:off x="12725400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1" name="!!M1">
            <a:extLst>
              <a:ext uri="{FF2B5EF4-FFF2-40B4-BE49-F238E27FC236}">
                <a16:creationId xmlns:a16="http://schemas.microsoft.com/office/drawing/2014/main" id="{277EBC43-3A1A-E28E-72F6-8AFBA069DB96}"/>
              </a:ext>
            </a:extLst>
          </p:cNvPr>
          <p:cNvSpPr>
            <a:spLocks/>
          </p:cNvSpPr>
          <p:nvPr/>
        </p:nvSpPr>
        <p:spPr>
          <a:xfrm>
            <a:off x="5284261" y="5076073"/>
            <a:ext cx="6889608" cy="6492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High slope: </a:t>
            </a:r>
            <a:r>
              <a:rPr lang="en-US" sz="4400" dirty="0"/>
              <a:t>Moving sequence of distant places.</a:t>
            </a:r>
          </a:p>
          <a:p>
            <a:r>
              <a:rPr lang="en-US" sz="4400" dirty="0">
                <a:solidFill>
                  <a:schemeClr val="bg1"/>
                </a:solidFill>
                <a:effectLst/>
              </a:rPr>
              <a:t>Low slope: </a:t>
            </a:r>
            <a:r>
              <a:rPr lang="en-US" sz="4400" dirty="0"/>
              <a:t>Stationary snapshot of current location.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!!M5">
            <a:extLst>
              <a:ext uri="{FF2B5EF4-FFF2-40B4-BE49-F238E27FC236}">
                <a16:creationId xmlns:a16="http://schemas.microsoft.com/office/drawing/2014/main" id="{A0739C8E-5363-3410-6CB5-F6ADF077FEC5}"/>
              </a:ext>
            </a:extLst>
          </p:cNvPr>
          <p:cNvSpPr>
            <a:spLocks/>
          </p:cNvSpPr>
          <p:nvPr/>
        </p:nvSpPr>
        <p:spPr>
          <a:xfrm>
            <a:off x="-4983139" y="584832"/>
            <a:ext cx="1689942" cy="51462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b="1" dirty="0">
                <a:solidFill>
                  <a:srgbClr val="FF0000"/>
                </a:solidFill>
              </a:rPr>
              <a:t>DS2 spikes are highly organized</a:t>
            </a:r>
            <a:endParaRPr lang="en-US" sz="1200" b="1" u="sng" dirty="0">
              <a:solidFill>
                <a:srgbClr val="FF0000"/>
              </a:solidFill>
            </a:endParaRPr>
          </a:p>
        </p:txBody>
      </p:sp>
      <p:sp>
        <p:nvSpPr>
          <p:cNvPr id="32" name="!!M1">
            <a:extLst>
              <a:ext uri="{FF2B5EF4-FFF2-40B4-BE49-F238E27FC236}">
                <a16:creationId xmlns:a16="http://schemas.microsoft.com/office/drawing/2014/main" id="{3A33E966-9348-9AF0-E114-94E98D7CCB82}"/>
              </a:ext>
            </a:extLst>
          </p:cNvPr>
          <p:cNvSpPr>
            <a:spLocks/>
          </p:cNvSpPr>
          <p:nvPr/>
        </p:nvSpPr>
        <p:spPr>
          <a:xfrm>
            <a:off x="5302391" y="990600"/>
            <a:ext cx="6889609" cy="4532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Result: </a:t>
            </a:r>
            <a:r>
              <a:rPr lang="en-US" sz="4400" dirty="0">
                <a:solidFill>
                  <a:schemeClr val="bg1"/>
                </a:solidFill>
              </a:rPr>
              <a:t>This created the clear diagonal line of activity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B9332E35-62BB-799E-F3ED-B52C786BB32E}"/>
              </a:ext>
            </a:extLst>
          </p:cNvPr>
          <p:cNvSpPr>
            <a:spLocks/>
          </p:cNvSpPr>
          <p:nvPr/>
        </p:nvSpPr>
        <p:spPr>
          <a:xfrm>
            <a:off x="5302391" y="838200"/>
            <a:ext cx="6889609" cy="3910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The Sorting: </a:t>
            </a:r>
            <a:r>
              <a:rPr lang="en-US" sz="4400" dirty="0">
                <a:solidFill>
                  <a:schemeClr val="bg1"/>
                </a:solidFill>
              </a:rPr>
              <a:t>ordered by their "preferred location"—the specific spot on the 120-cm treadmill where they fire most.</a:t>
            </a:r>
          </a:p>
        </p:txBody>
      </p:sp>
      <p:sp>
        <p:nvSpPr>
          <p:cNvPr id="30" name="!!M1">
            <a:extLst>
              <a:ext uri="{FF2B5EF4-FFF2-40B4-BE49-F238E27FC236}">
                <a16:creationId xmlns:a16="http://schemas.microsoft.com/office/drawing/2014/main" id="{329DDB14-8734-3C97-9AB3-5CBBB087979B}"/>
              </a:ext>
            </a:extLst>
          </p:cNvPr>
          <p:cNvSpPr>
            <a:spLocks/>
          </p:cNvSpPr>
          <p:nvPr/>
        </p:nvSpPr>
        <p:spPr>
          <a:xfrm>
            <a:off x="5302391" y="1066800"/>
            <a:ext cx="6889609" cy="30477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 Focus:</a:t>
            </a:r>
            <a:r>
              <a:rPr lang="en-US" sz="4400" dirty="0">
                <a:solidFill>
                  <a:schemeClr val="bg1"/>
                </a:solidFill>
              </a:rPr>
              <a:t>117 individual CA1 Place Cells (PCs).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D0758C4B-F470-7497-0465-A8B19BF325E0}"/>
              </a:ext>
            </a:extLst>
          </p:cNvPr>
          <p:cNvSpPr>
            <a:spLocks/>
          </p:cNvSpPr>
          <p:nvPr/>
        </p:nvSpPr>
        <p:spPr>
          <a:xfrm>
            <a:off x="6208651" y="-1250784"/>
            <a:ext cx="5830947" cy="1688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Again, no comments on distinct role of these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CC41115F-04D2-8609-F38C-E33E6647D0AA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483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X-axis: </a:t>
            </a:r>
            <a:r>
              <a:rPr lang="en-US" sz="4400" dirty="0"/>
              <a:t>~1,000 recorded DS2 events, sorted by the same hierarchical clusters as Panel a</a:t>
            </a:r>
            <a:r>
              <a:rPr lang="en-US" sz="4400" dirty="0">
                <a:solidFill>
                  <a:schemeClr val="bg1"/>
                </a:solidFill>
              </a:rPr>
              <a:t>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!!M1">
            <a:extLst>
              <a:ext uri="{FF2B5EF4-FFF2-40B4-BE49-F238E27FC236}">
                <a16:creationId xmlns:a16="http://schemas.microsoft.com/office/drawing/2014/main" id="{EDEA792B-1BF0-81A7-C361-5C32CB9A1086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913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Y-axis: </a:t>
            </a:r>
            <a:r>
              <a:rPr lang="en-US" sz="4400" dirty="0">
                <a:solidFill>
                  <a:schemeClr val="bg1"/>
                </a:solidFill>
              </a:rPr>
              <a:t>Neurons which were re-ordered based on similar firing preferences.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1" name="!!M1">
            <a:extLst>
              <a:ext uri="{FF2B5EF4-FFF2-40B4-BE49-F238E27FC236}">
                <a16:creationId xmlns:a16="http://schemas.microsoft.com/office/drawing/2014/main" id="{395092ED-1B09-894A-C767-D1E1A268785E}"/>
              </a:ext>
            </a:extLst>
          </p:cNvPr>
          <p:cNvSpPr>
            <a:spLocks/>
          </p:cNvSpPr>
          <p:nvPr/>
        </p:nvSpPr>
        <p:spPr>
          <a:xfrm>
            <a:off x="6208651" y="-1825450"/>
            <a:ext cx="5830947" cy="1936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No comments on distinct role of these two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3" name="!!M1">
            <a:extLst>
              <a:ext uri="{FF2B5EF4-FFF2-40B4-BE49-F238E27FC236}">
                <a16:creationId xmlns:a16="http://schemas.microsoft.com/office/drawing/2014/main" id="{78492EC0-7888-E72E-9376-C76AE967DAC9}"/>
              </a:ext>
            </a:extLst>
          </p:cNvPr>
          <p:cNvSpPr>
            <a:spLocks/>
          </p:cNvSpPr>
          <p:nvPr/>
        </p:nvSpPr>
        <p:spPr>
          <a:xfrm>
            <a:off x="6208651" y="-1870762"/>
            <a:ext cx="5830947" cy="31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Hierarchical clustering reveals distinct DS2 ensembles.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D21B882F-422B-80A7-7534-AE427DD1D042}"/>
              </a:ext>
            </a:extLst>
          </p:cNvPr>
          <p:cNvSpPr>
            <a:spLocks/>
          </p:cNvSpPr>
          <p:nvPr/>
        </p:nvSpPr>
        <p:spPr>
          <a:xfrm>
            <a:off x="6208653" y="-2017484"/>
            <a:ext cx="5830947" cy="6143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10a: DS2 events form repeating, non-random neural patterns.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7" name="!!M1">
            <a:extLst>
              <a:ext uri="{FF2B5EF4-FFF2-40B4-BE49-F238E27FC236}">
                <a16:creationId xmlns:a16="http://schemas.microsoft.com/office/drawing/2014/main" id="{1A4C8168-8788-4923-6BEE-ADDA229B9831}"/>
              </a:ext>
            </a:extLst>
          </p:cNvPr>
          <p:cNvSpPr>
            <a:spLocks/>
          </p:cNvSpPr>
          <p:nvPr/>
        </p:nvSpPr>
        <p:spPr>
          <a:xfrm>
            <a:off x="6208653" y="-1337750"/>
            <a:ext cx="5830947" cy="6126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10b: Structured neural ensembles drive distinct DS2 categories.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6E2416DC-3D95-3340-8D1D-1382E82749D1}"/>
              </a:ext>
            </a:extLst>
          </p:cNvPr>
          <p:cNvSpPr>
            <a:spLocks/>
          </p:cNvSpPr>
          <p:nvPr/>
        </p:nvSpPr>
        <p:spPr>
          <a:xfrm>
            <a:off x="6208651" y="-659668"/>
            <a:ext cx="5830947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10d,e: </a:t>
            </a:r>
          </a:p>
          <a:p>
            <a:r>
              <a:rPr lang="en-US" sz="2600" dirty="0">
                <a:solidFill>
                  <a:schemeClr val="bg1"/>
                </a:solidFill>
              </a:rPr>
              <a:t>d: Neural patterns are more similar than chance; </a:t>
            </a:r>
            <a:r>
              <a:rPr lang="en-US" sz="2700" dirty="0">
                <a:solidFill>
                  <a:schemeClr val="bg1"/>
                </a:solidFill>
              </a:rPr>
              <a:t>e: Neural ensembles fire with high reliability.</a:t>
            </a:r>
            <a:endParaRPr lang="en-US" sz="270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10406345-D6DC-11D0-94EB-3CD318118BE1}"/>
              </a:ext>
            </a:extLst>
          </p:cNvPr>
          <p:cNvSpPr>
            <a:spLocks/>
          </p:cNvSpPr>
          <p:nvPr/>
        </p:nvSpPr>
        <p:spPr>
          <a:xfrm>
            <a:off x="5302392" y="641171"/>
            <a:ext cx="6889608" cy="75829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Figure 3a: Locomotion creates a diagonal spatial map.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6" name="!!M1">
            <a:extLst>
              <a:ext uri="{FF2B5EF4-FFF2-40B4-BE49-F238E27FC236}">
                <a16:creationId xmlns:a16="http://schemas.microsoft.com/office/drawing/2014/main" id="{15038355-5493-4F33-407D-AD96FD13B7D8}"/>
              </a:ext>
            </a:extLst>
          </p:cNvPr>
          <p:cNvSpPr>
            <a:spLocks/>
          </p:cNvSpPr>
          <p:nvPr/>
        </p:nvSpPr>
        <p:spPr>
          <a:xfrm>
            <a:off x="12998591" y="2371874"/>
            <a:ext cx="5213209" cy="82852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Fast-Spiking Cells: The inhibitory interneurons (the "brakes").</a:t>
            </a:r>
          </a:p>
        </p:txBody>
      </p:sp>
      <p:sp>
        <p:nvSpPr>
          <p:cNvPr id="4" name="!!M1">
            <a:extLst>
              <a:ext uri="{FF2B5EF4-FFF2-40B4-BE49-F238E27FC236}">
                <a16:creationId xmlns:a16="http://schemas.microsoft.com/office/drawing/2014/main" id="{5F746E2A-B1CA-974C-90A8-270277C86476}"/>
              </a:ext>
            </a:extLst>
          </p:cNvPr>
          <p:cNvSpPr>
            <a:spLocks/>
          </p:cNvSpPr>
          <p:nvPr/>
        </p:nvSpPr>
        <p:spPr>
          <a:xfrm>
            <a:off x="-3079052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CA1 place cells (PC) fire robustly during DS2 events</a:t>
            </a:r>
            <a:endParaRPr lang="en-US" sz="4400" b="1" dirty="0">
              <a:solidFill>
                <a:srgbClr val="FF0000"/>
              </a:solidFill>
              <a:effectLst/>
            </a:endParaRPr>
          </a:p>
        </p:txBody>
      </p:sp>
      <p:sp>
        <p:nvSpPr>
          <p:cNvPr id="5" name="!!M1">
            <a:extLst>
              <a:ext uri="{FF2B5EF4-FFF2-40B4-BE49-F238E27FC236}">
                <a16:creationId xmlns:a16="http://schemas.microsoft.com/office/drawing/2014/main" id="{77EE7952-96D4-C82D-1AA1-1DF246282DEB}"/>
              </a:ext>
            </a:extLst>
          </p:cNvPr>
          <p:cNvSpPr>
            <a:spLocks/>
          </p:cNvSpPr>
          <p:nvPr/>
        </p:nvSpPr>
        <p:spPr>
          <a:xfrm>
            <a:off x="13117741" y="4358849"/>
            <a:ext cx="5213209" cy="69765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Non-Place Cells: Broadly recruited, non-spatial neural population.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D38DA205-58BD-CFA7-4C8B-C667F78CB36F}"/>
              </a:ext>
            </a:extLst>
          </p:cNvPr>
          <p:cNvSpPr>
            <a:spLocks/>
          </p:cNvSpPr>
          <p:nvPr/>
        </p:nvSpPr>
        <p:spPr>
          <a:xfrm>
            <a:off x="13117741" y="3200400"/>
            <a:ext cx="5213209" cy="990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b="1" dirty="0">
                <a:solidFill>
                  <a:srgbClr val="46B1E1"/>
                </a:solidFill>
              </a:rPr>
              <a:t>Place Cells: Excitatory neurons that form the spatial map.</a:t>
            </a:r>
            <a:endParaRPr lang="en-US" sz="4400" b="1" dirty="0">
              <a:solidFill>
                <a:srgbClr val="46B1E1"/>
              </a:solidFill>
              <a:effectLst/>
            </a:endParaRPr>
          </a:p>
        </p:txBody>
      </p:sp>
      <p:sp>
        <p:nvSpPr>
          <p:cNvPr id="39" name="!!M1">
            <a:extLst>
              <a:ext uri="{FF2B5EF4-FFF2-40B4-BE49-F238E27FC236}">
                <a16:creationId xmlns:a16="http://schemas.microsoft.com/office/drawing/2014/main" id="{14088BB7-46D1-8E93-E833-C0898A631DBE}"/>
              </a:ext>
            </a:extLst>
          </p:cNvPr>
          <p:cNvSpPr>
            <a:spLocks/>
          </p:cNvSpPr>
          <p:nvPr/>
        </p:nvSpPr>
        <p:spPr>
          <a:xfrm>
            <a:off x="5302392" y="1524000"/>
            <a:ext cx="6889608" cy="758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3b: </a:t>
            </a:r>
            <a:r>
              <a:rPr lang="fr-FR" sz="4400" dirty="0" err="1">
                <a:solidFill>
                  <a:schemeClr val="bg1"/>
                </a:solidFill>
              </a:rPr>
              <a:t>Ripples</a:t>
            </a:r>
            <a:r>
              <a:rPr lang="fr-FR" sz="4400" dirty="0">
                <a:solidFill>
                  <a:schemeClr val="bg1"/>
                </a:solidFill>
              </a:rPr>
              <a:t> do not </a:t>
            </a:r>
            <a:r>
              <a:rPr lang="fr-FR" sz="4400" dirty="0" err="1">
                <a:solidFill>
                  <a:schemeClr val="bg1"/>
                </a:solidFill>
              </a:rPr>
              <a:t>represent</a:t>
            </a:r>
            <a:r>
              <a:rPr lang="fr-FR" sz="4400" dirty="0">
                <a:solidFill>
                  <a:schemeClr val="bg1"/>
                </a:solidFill>
              </a:rPr>
              <a:t> </a:t>
            </a:r>
            <a:r>
              <a:rPr lang="fr-FR" sz="4400" dirty="0" err="1">
                <a:solidFill>
                  <a:schemeClr val="bg1"/>
                </a:solidFill>
              </a:rPr>
              <a:t>current</a:t>
            </a:r>
            <a:r>
              <a:rPr lang="fr-FR" sz="4400" dirty="0">
                <a:solidFill>
                  <a:schemeClr val="bg1"/>
                </a:solidFill>
              </a:rPr>
              <a:t> spatial locations.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7" name="!!Focus2">
            <a:extLst>
              <a:ext uri="{FF2B5EF4-FFF2-40B4-BE49-F238E27FC236}">
                <a16:creationId xmlns:a16="http://schemas.microsoft.com/office/drawing/2014/main" id="{3FD9F239-A3A7-352C-1239-5AE9D61718DB}"/>
              </a:ext>
            </a:extLst>
          </p:cNvPr>
          <p:cNvSpPr/>
          <p:nvPr/>
        </p:nvSpPr>
        <p:spPr>
          <a:xfrm rot="10800000">
            <a:off x="3002329" y="4601850"/>
            <a:ext cx="2192833" cy="762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!!M1">
            <a:extLst>
              <a:ext uri="{FF2B5EF4-FFF2-40B4-BE49-F238E27FC236}">
                <a16:creationId xmlns:a16="http://schemas.microsoft.com/office/drawing/2014/main" id="{747C05CA-62C7-3B68-84FD-3903DF37AF86}"/>
              </a:ext>
            </a:extLst>
          </p:cNvPr>
          <p:cNvSpPr>
            <a:spLocks/>
          </p:cNvSpPr>
          <p:nvPr/>
        </p:nvSpPr>
        <p:spPr>
          <a:xfrm>
            <a:off x="5302392" y="2390486"/>
            <a:ext cx="6889608" cy="65266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3c: </a:t>
            </a:r>
            <a:r>
              <a:rPr lang="en-US" sz="4400" dirty="0">
                <a:solidFill>
                  <a:schemeClr val="bg1"/>
                </a:solidFill>
              </a:rPr>
              <a:t>DS2 firing aligns with current location.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1">
            <a:extLst>
              <a:ext uri="{FF2B5EF4-FFF2-40B4-BE49-F238E27FC236}">
                <a16:creationId xmlns:a16="http://schemas.microsoft.com/office/drawing/2014/main" id="{B3918CAF-1030-3CFC-D45D-53E3326B514A}"/>
              </a:ext>
            </a:extLst>
          </p:cNvPr>
          <p:cNvSpPr>
            <a:spLocks/>
          </p:cNvSpPr>
          <p:nvPr/>
        </p:nvSpPr>
        <p:spPr>
          <a:xfrm>
            <a:off x="5250991" y="3153043"/>
            <a:ext cx="6889608" cy="6492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3d: </a:t>
            </a:r>
            <a:r>
              <a:rPr lang="en-US" sz="4400" dirty="0">
                <a:solidFill>
                  <a:schemeClr val="bg1"/>
                </a:solidFill>
              </a:rPr>
              <a:t>Decoding confirms DS2 encodes actual position.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!!M1">
            <a:extLst>
              <a:ext uri="{FF2B5EF4-FFF2-40B4-BE49-F238E27FC236}">
                <a16:creationId xmlns:a16="http://schemas.microsoft.com/office/drawing/2014/main" id="{8E8BEDC4-A0B6-68D6-47C8-7BAB7235B505}"/>
              </a:ext>
            </a:extLst>
          </p:cNvPr>
          <p:cNvSpPr>
            <a:spLocks/>
          </p:cNvSpPr>
          <p:nvPr/>
        </p:nvSpPr>
        <p:spPr>
          <a:xfrm>
            <a:off x="5284261" y="3934294"/>
            <a:ext cx="6889608" cy="102028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Figure 3f: </a:t>
            </a:r>
            <a:r>
              <a:rPr lang="pt-BR" sz="4400" dirty="0">
                <a:solidFill>
                  <a:srgbClr val="FF0000"/>
                </a:solidFill>
              </a:rPr>
              <a:t>DS2 slopes reveal zero mental travel.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695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F8F8B-B749-9CA3-91CE-172FAE14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0D731FA7-198D-43C4-A3CF-2D98639D2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60" y="2049901"/>
            <a:ext cx="4877857" cy="285550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460A0A5-5973-6FF2-FB32-3E865A84B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191" y="3686884"/>
            <a:ext cx="2040209" cy="1196754"/>
          </a:xfrm>
          <a:prstGeom prst="rect">
            <a:avLst/>
          </a:prstGeom>
        </p:spPr>
      </p:pic>
      <p:sp>
        <p:nvSpPr>
          <p:cNvPr id="34" name="!!Freeform: Shape 33" hidden="1">
            <a:extLst>
              <a:ext uri="{FF2B5EF4-FFF2-40B4-BE49-F238E27FC236}">
                <a16:creationId xmlns:a16="http://schemas.microsoft.com/office/drawing/2014/main" id="{314FCF29-D7EC-CA9B-0463-E2F9C6089258}"/>
              </a:ext>
            </a:extLst>
          </p:cNvPr>
          <p:cNvSpPr/>
          <p:nvPr/>
        </p:nvSpPr>
        <p:spPr>
          <a:xfrm>
            <a:off x="-800899" y="537628"/>
            <a:ext cx="14554200" cy="6172201"/>
          </a:xfrm>
          <a:custGeom>
            <a:avLst/>
            <a:gdLst>
              <a:gd name="csX0" fmla="*/ 1518329 w 14554200"/>
              <a:gd name="csY0" fmla="*/ 2696850 h 6172201"/>
              <a:gd name="csX1" fmla="*/ 1518329 w 14554200"/>
              <a:gd name="csY1" fmla="*/ 6125849 h 6172201"/>
              <a:gd name="csX2" fmla="*/ 6007320 w 14554200"/>
              <a:gd name="csY2" fmla="*/ 6125849 h 6172201"/>
              <a:gd name="csX3" fmla="*/ 6007320 w 14554200"/>
              <a:gd name="csY3" fmla="*/ 2696850 h 6172201"/>
              <a:gd name="csX4" fmla="*/ 0 w 14554200"/>
              <a:gd name="csY4" fmla="*/ 0 h 6172201"/>
              <a:gd name="csX5" fmla="*/ 685800 w 14554200"/>
              <a:gd name="csY5" fmla="*/ 0 h 6172201"/>
              <a:gd name="csX6" fmla="*/ 2280329 w 14554200"/>
              <a:gd name="csY6" fmla="*/ 0 h 6172201"/>
              <a:gd name="csX7" fmla="*/ 6318930 w 14554200"/>
              <a:gd name="csY7" fmla="*/ 0 h 6172201"/>
              <a:gd name="csX8" fmla="*/ 7696200 w 14554200"/>
              <a:gd name="csY8" fmla="*/ 0 h 6172201"/>
              <a:gd name="csX9" fmla="*/ 14554200 w 14554200"/>
              <a:gd name="csY9" fmla="*/ 0 h 6172201"/>
              <a:gd name="csX10" fmla="*/ 14554200 w 14554200"/>
              <a:gd name="csY10" fmla="*/ 6172199 h 6172201"/>
              <a:gd name="csX11" fmla="*/ 13508447 w 14554200"/>
              <a:gd name="csY11" fmla="*/ 6172199 h 6172201"/>
              <a:gd name="csX12" fmla="*/ 13508447 w 14554200"/>
              <a:gd name="csY12" fmla="*/ 6172201 h 6172201"/>
              <a:gd name="csX13" fmla="*/ 7924800 w 14554200"/>
              <a:gd name="csY13" fmla="*/ 6172201 h 6172201"/>
              <a:gd name="csX14" fmla="*/ 7924800 w 14554200"/>
              <a:gd name="csY14" fmla="*/ 6172200 h 6172201"/>
              <a:gd name="csX15" fmla="*/ 762000 w 14554200"/>
              <a:gd name="csY15" fmla="*/ 6172200 h 6172201"/>
              <a:gd name="csX16" fmla="*/ 762000 w 14554200"/>
              <a:gd name="csY16" fmla="*/ 6172199 h 6172201"/>
              <a:gd name="csX17" fmla="*/ 0 w 14554200"/>
              <a:gd name="csY17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172201">
                <a:moveTo>
                  <a:pt x="1518329" y="2696850"/>
                </a:moveTo>
                <a:lnTo>
                  <a:pt x="1518329" y="6125849"/>
                </a:lnTo>
                <a:lnTo>
                  <a:pt x="6007320" y="6125849"/>
                </a:lnTo>
                <a:lnTo>
                  <a:pt x="6007320" y="2696850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2280329" y="0"/>
                </a:lnTo>
                <a:lnTo>
                  <a:pt x="631893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1BB9D02D-4440-48F7-03FA-4728F6814D4A}"/>
              </a:ext>
            </a:extLst>
          </p:cNvPr>
          <p:cNvSpPr>
            <a:spLocks/>
          </p:cNvSpPr>
          <p:nvPr/>
        </p:nvSpPr>
        <p:spPr>
          <a:xfrm>
            <a:off x="13944600" y="12801600"/>
            <a:ext cx="5230732" cy="26991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5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"DS2 is a high-speed, sensory-driven reflex that instantly toggles the brain from 'Offline' to 'Online'."</a:t>
            </a:r>
            <a:endParaRPr lang="en-US" sz="1600" b="1" u="sng" dirty="0">
              <a:solidFill>
                <a:srgbClr val="FF0000"/>
              </a:solidFill>
            </a:endParaRPr>
          </a:p>
        </p:txBody>
      </p:sp>
      <p:sp>
        <p:nvSpPr>
          <p:cNvPr id="19" name="!!N1">
            <a:extLst>
              <a:ext uri="{FF2B5EF4-FFF2-40B4-BE49-F238E27FC236}">
                <a16:creationId xmlns:a16="http://schemas.microsoft.com/office/drawing/2014/main" id="{964C1F4D-9777-8FAA-EB5C-6959D912C167}"/>
              </a:ext>
            </a:extLst>
          </p:cNvPr>
          <p:cNvSpPr>
            <a:spLocks/>
          </p:cNvSpPr>
          <p:nvPr/>
        </p:nvSpPr>
        <p:spPr>
          <a:xfrm>
            <a:off x="13302043" y="9946806"/>
            <a:ext cx="6787689" cy="4118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/>
              <a:t>Reflex magnitude is identical across trials (</a:t>
            </a:r>
            <a:r>
              <a:rPr lang="en-US" sz="3200" i="1" dirty="0"/>
              <a:t>P&gt;0.5</a:t>
            </a:r>
            <a:r>
              <a:rPr lang="en-US" sz="3200" dirty="0"/>
              <a:t>), yet DS2 generation is strictly gated by pre-stimulus immobility (</a:t>
            </a:r>
            <a:r>
              <a:rPr lang="en-US" sz="3200" i="1" dirty="0"/>
              <a:t>P&lt;0.0001</a:t>
            </a:r>
            <a:r>
              <a:rPr lang="en-US" sz="3200" dirty="0"/>
              <a:t>).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!!M7">
            <a:extLst>
              <a:ext uri="{FF2B5EF4-FFF2-40B4-BE49-F238E27FC236}">
                <a16:creationId xmlns:a16="http://schemas.microsoft.com/office/drawing/2014/main" id="{85615B29-2E56-B868-CE7A-F3436CED8EA9}"/>
              </a:ext>
            </a:extLst>
          </p:cNvPr>
          <p:cNvSpPr>
            <a:spLocks/>
          </p:cNvSpPr>
          <p:nvPr/>
        </p:nvSpPr>
        <p:spPr>
          <a:xfrm>
            <a:off x="13296154" y="9692266"/>
            <a:ext cx="6787689" cy="79552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</a:rPr>
              <a:t>Extended Data Fig. 5 (The "Offline" Precondition): Low prior arousal predicts evoked DS2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E40033-5D01-5932-38D7-66B07E8C085D}"/>
              </a:ext>
            </a:extLst>
          </p:cNvPr>
          <p:cNvSpPr txBox="1"/>
          <p:nvPr/>
        </p:nvSpPr>
        <p:spPr>
          <a:xfrm>
            <a:off x="12888832" y="11015548"/>
            <a:ext cx="4991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"Theta Off, Ripple On" (TORO) cells.</a:t>
            </a:r>
            <a:endParaRPr lang="en-US" sz="2000" b="1" i="1" dirty="0"/>
          </a:p>
        </p:txBody>
      </p:sp>
      <p:sp>
        <p:nvSpPr>
          <p:cNvPr id="28" name="!!M1">
            <a:extLst>
              <a:ext uri="{FF2B5EF4-FFF2-40B4-BE49-F238E27FC236}">
                <a16:creationId xmlns:a16="http://schemas.microsoft.com/office/drawing/2014/main" id="{120D8F04-57BE-D787-FF6C-5B3F114CF58C}"/>
              </a:ext>
            </a:extLst>
          </p:cNvPr>
          <p:cNvSpPr>
            <a:spLocks/>
          </p:cNvSpPr>
          <p:nvPr/>
        </p:nvSpPr>
        <p:spPr>
          <a:xfrm>
            <a:off x="12983035" y="9718206"/>
            <a:ext cx="6878097" cy="8156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6f (TORO Cell Identification): TORO cells identified; favor ripples over locomotion</a:t>
            </a: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010703D3-4809-23A8-87A5-3C89484BC496}"/>
              </a:ext>
            </a:extLst>
          </p:cNvPr>
          <p:cNvSpPr>
            <a:spLocks/>
          </p:cNvSpPr>
          <p:nvPr/>
        </p:nvSpPr>
        <p:spPr>
          <a:xfrm>
            <a:off x="12983035" y="10731363"/>
            <a:ext cx="6876288" cy="8138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Extended Data Fig. 6g (Opposite Tuning): TORO cells selective for SPW-R</a:t>
            </a:r>
          </a:p>
        </p:txBody>
      </p:sp>
      <p:sp>
        <p:nvSpPr>
          <p:cNvPr id="17" name="!!T2">
            <a:extLst>
              <a:ext uri="{FF2B5EF4-FFF2-40B4-BE49-F238E27FC236}">
                <a16:creationId xmlns:a16="http://schemas.microsoft.com/office/drawing/2014/main" id="{A8164E99-E161-EA7A-D909-4CCEB4E4C50E}"/>
              </a:ext>
            </a:extLst>
          </p:cNvPr>
          <p:cNvSpPr/>
          <p:nvPr/>
        </p:nvSpPr>
        <p:spPr>
          <a:xfrm>
            <a:off x="-381000" y="-21401"/>
            <a:ext cx="12801601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      </a:t>
            </a:r>
            <a:r>
              <a:rPr lang="en-US" sz="2800" b="1" u="sng" dirty="0">
                <a:solidFill>
                  <a:schemeClr val="bg1"/>
                </a:solidFill>
              </a:rPr>
              <a:t>DS2 encodes stationary, real-world position</a:t>
            </a:r>
            <a:endParaRPr lang="en-US" sz="2800" b="1" i="1" u="sng" dirty="0">
              <a:solidFill>
                <a:schemeClr val="bg1"/>
              </a:solidFill>
            </a:endParaRP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56C5E85A-D860-2933-042D-2D13A66311C5}"/>
              </a:ext>
            </a:extLst>
          </p:cNvPr>
          <p:cNvSpPr/>
          <p:nvPr/>
        </p:nvSpPr>
        <p:spPr>
          <a:xfrm>
            <a:off x="922214" y="12825166"/>
            <a:ext cx="9906000" cy="6858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!!T_">
            <a:extLst>
              <a:ext uri="{FF2B5EF4-FFF2-40B4-BE49-F238E27FC236}">
                <a16:creationId xmlns:a16="http://schemas.microsoft.com/office/drawing/2014/main" id="{57D0BD65-36C4-81B9-8F0D-9A8B741028DF}"/>
              </a:ext>
            </a:extLst>
          </p:cNvPr>
          <p:cNvSpPr txBox="1">
            <a:spLocks/>
          </p:cNvSpPr>
          <p:nvPr/>
        </p:nvSpPr>
        <p:spPr>
          <a:xfrm>
            <a:off x="1303213" y="12801600"/>
            <a:ext cx="9212387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solidFill>
                  <a:srgbClr val="FF0000"/>
                </a:solidFill>
              </a:rPr>
              <a:t>CORE INSIGHT: DS2 Is A Global Spike</a:t>
            </a:r>
          </a:p>
        </p:txBody>
      </p:sp>
      <p:pic>
        <p:nvPicPr>
          <p:cNvPr id="25" name="Picture 2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B954CFB-0C3B-E510-2D42-973B7B9464FF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rcRect l="1190" t="2034"/>
          <a:stretch>
            <a:fillRect/>
          </a:stretch>
        </p:blipFill>
        <p:spPr>
          <a:xfrm>
            <a:off x="12434456" y="362684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1" name="!!M1">
            <a:extLst>
              <a:ext uri="{FF2B5EF4-FFF2-40B4-BE49-F238E27FC236}">
                <a16:creationId xmlns:a16="http://schemas.microsoft.com/office/drawing/2014/main" id="{BD21D036-BE99-4D1C-17D1-372FBD0CCEA9}"/>
              </a:ext>
            </a:extLst>
          </p:cNvPr>
          <p:cNvSpPr>
            <a:spLocks/>
          </p:cNvSpPr>
          <p:nvPr/>
        </p:nvSpPr>
        <p:spPr>
          <a:xfrm>
            <a:off x="5250991" y="3886200"/>
            <a:ext cx="6889608" cy="6492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High slope: </a:t>
            </a:r>
            <a:r>
              <a:rPr lang="en-US" sz="4400" dirty="0"/>
              <a:t>Moving sequence of distant places.</a:t>
            </a:r>
          </a:p>
          <a:p>
            <a:r>
              <a:rPr lang="en-US" sz="4400" dirty="0">
                <a:solidFill>
                  <a:schemeClr val="bg1"/>
                </a:solidFill>
                <a:effectLst/>
              </a:rPr>
              <a:t>Low slope: </a:t>
            </a:r>
            <a:r>
              <a:rPr lang="en-US" sz="4400" dirty="0"/>
              <a:t>Stationary snapshot of current location.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2" name="!!M1">
            <a:extLst>
              <a:ext uri="{FF2B5EF4-FFF2-40B4-BE49-F238E27FC236}">
                <a16:creationId xmlns:a16="http://schemas.microsoft.com/office/drawing/2014/main" id="{4DB00F23-2346-21FF-763B-E064908F64BA}"/>
              </a:ext>
            </a:extLst>
          </p:cNvPr>
          <p:cNvSpPr>
            <a:spLocks/>
          </p:cNvSpPr>
          <p:nvPr/>
        </p:nvSpPr>
        <p:spPr>
          <a:xfrm>
            <a:off x="5302391" y="990600"/>
            <a:ext cx="6889609" cy="4532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Result: </a:t>
            </a:r>
            <a:r>
              <a:rPr lang="en-US" sz="4400" dirty="0">
                <a:solidFill>
                  <a:schemeClr val="bg1"/>
                </a:solidFill>
              </a:rPr>
              <a:t>This created the clear diagonal line of activity</a:t>
            </a: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E64F1DA0-00CD-DED3-0425-32B1D33BF266}"/>
              </a:ext>
            </a:extLst>
          </p:cNvPr>
          <p:cNvSpPr>
            <a:spLocks/>
          </p:cNvSpPr>
          <p:nvPr/>
        </p:nvSpPr>
        <p:spPr>
          <a:xfrm>
            <a:off x="5302391" y="838200"/>
            <a:ext cx="6889609" cy="3910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The Sorting: </a:t>
            </a:r>
            <a:r>
              <a:rPr lang="en-US" sz="4400" dirty="0">
                <a:solidFill>
                  <a:schemeClr val="bg1"/>
                </a:solidFill>
              </a:rPr>
              <a:t>ordered by their "preferred location"—the specific spot on the 120-cm treadmill where they fire most.</a:t>
            </a:r>
          </a:p>
        </p:txBody>
      </p:sp>
      <p:sp>
        <p:nvSpPr>
          <p:cNvPr id="30" name="!!M1">
            <a:extLst>
              <a:ext uri="{FF2B5EF4-FFF2-40B4-BE49-F238E27FC236}">
                <a16:creationId xmlns:a16="http://schemas.microsoft.com/office/drawing/2014/main" id="{27DE0BAE-EED8-F2EE-AE13-CB0A26263834}"/>
              </a:ext>
            </a:extLst>
          </p:cNvPr>
          <p:cNvSpPr>
            <a:spLocks/>
          </p:cNvSpPr>
          <p:nvPr/>
        </p:nvSpPr>
        <p:spPr>
          <a:xfrm>
            <a:off x="5302391" y="1066800"/>
            <a:ext cx="6889609" cy="30477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 Focus:</a:t>
            </a:r>
            <a:r>
              <a:rPr lang="en-US" sz="4400" dirty="0">
                <a:solidFill>
                  <a:schemeClr val="bg1"/>
                </a:solidFill>
              </a:rPr>
              <a:t>117 individual CA1 Place Cells (PCs).</a:t>
            </a:r>
          </a:p>
        </p:txBody>
      </p:sp>
      <p:sp>
        <p:nvSpPr>
          <p:cNvPr id="3" name="!!M1">
            <a:extLst>
              <a:ext uri="{FF2B5EF4-FFF2-40B4-BE49-F238E27FC236}">
                <a16:creationId xmlns:a16="http://schemas.microsoft.com/office/drawing/2014/main" id="{BBC67BC4-EB76-B834-3E5F-E02408749D35}"/>
              </a:ext>
            </a:extLst>
          </p:cNvPr>
          <p:cNvSpPr>
            <a:spLocks/>
          </p:cNvSpPr>
          <p:nvPr/>
        </p:nvSpPr>
        <p:spPr>
          <a:xfrm>
            <a:off x="6208651" y="-1250784"/>
            <a:ext cx="5830947" cy="16881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Again, no comments on distinct role of these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2CE76210-5394-45A1-CB14-F620EA5CBD8C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4834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X-axis: </a:t>
            </a:r>
            <a:r>
              <a:rPr lang="en-US" sz="4400" dirty="0"/>
              <a:t>~1,000 recorded DS2 events, sorted by the same hierarchical clusters as Panel a</a:t>
            </a:r>
            <a:r>
              <a:rPr lang="en-US" sz="4400" dirty="0">
                <a:solidFill>
                  <a:schemeClr val="bg1"/>
                </a:solidFill>
              </a:rPr>
              <a:t>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!!M1">
            <a:extLst>
              <a:ext uri="{FF2B5EF4-FFF2-40B4-BE49-F238E27FC236}">
                <a16:creationId xmlns:a16="http://schemas.microsoft.com/office/drawing/2014/main" id="{611486A1-F7B7-6CF4-4660-7D1E905BAC7E}"/>
              </a:ext>
            </a:extLst>
          </p:cNvPr>
          <p:cNvSpPr>
            <a:spLocks/>
          </p:cNvSpPr>
          <p:nvPr/>
        </p:nvSpPr>
        <p:spPr>
          <a:xfrm>
            <a:off x="6208653" y="-1250784"/>
            <a:ext cx="5830947" cy="29137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Y-axis: </a:t>
            </a:r>
            <a:r>
              <a:rPr lang="en-US" sz="4400" dirty="0">
                <a:solidFill>
                  <a:schemeClr val="bg1"/>
                </a:solidFill>
              </a:rPr>
              <a:t>Neurons which were re-ordered based on similar firing preferences.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1" name="!!M1">
            <a:extLst>
              <a:ext uri="{FF2B5EF4-FFF2-40B4-BE49-F238E27FC236}">
                <a16:creationId xmlns:a16="http://schemas.microsoft.com/office/drawing/2014/main" id="{7F876ADA-C0BB-E6A8-948B-93BCAD3C9594}"/>
              </a:ext>
            </a:extLst>
          </p:cNvPr>
          <p:cNvSpPr>
            <a:spLocks/>
          </p:cNvSpPr>
          <p:nvPr/>
        </p:nvSpPr>
        <p:spPr>
          <a:xfrm>
            <a:off x="6208651" y="-1825450"/>
            <a:ext cx="5830947" cy="19366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No comments on distinct role of these two types…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3" name="!!M1">
            <a:extLst>
              <a:ext uri="{FF2B5EF4-FFF2-40B4-BE49-F238E27FC236}">
                <a16:creationId xmlns:a16="http://schemas.microsoft.com/office/drawing/2014/main" id="{32DED393-76DF-88AA-67F8-55207AF88A1C}"/>
              </a:ext>
            </a:extLst>
          </p:cNvPr>
          <p:cNvSpPr>
            <a:spLocks/>
          </p:cNvSpPr>
          <p:nvPr/>
        </p:nvSpPr>
        <p:spPr>
          <a:xfrm>
            <a:off x="6208651" y="-1870762"/>
            <a:ext cx="5830947" cy="31517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Hierarchical clustering reveals distinct DS2 ensembles.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6" name="!!M1">
            <a:extLst>
              <a:ext uri="{FF2B5EF4-FFF2-40B4-BE49-F238E27FC236}">
                <a16:creationId xmlns:a16="http://schemas.microsoft.com/office/drawing/2014/main" id="{3AC72AD2-3784-855B-40B1-9D33E8EEEEA8}"/>
              </a:ext>
            </a:extLst>
          </p:cNvPr>
          <p:cNvSpPr>
            <a:spLocks/>
          </p:cNvSpPr>
          <p:nvPr/>
        </p:nvSpPr>
        <p:spPr>
          <a:xfrm>
            <a:off x="6208653" y="-2017484"/>
            <a:ext cx="5830947" cy="6143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10a: DS2 events form repeating, non-random neural patterns.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7" name="!!M1">
            <a:extLst>
              <a:ext uri="{FF2B5EF4-FFF2-40B4-BE49-F238E27FC236}">
                <a16:creationId xmlns:a16="http://schemas.microsoft.com/office/drawing/2014/main" id="{B9BF0E42-2DE5-0F92-23C0-85633413BC64}"/>
              </a:ext>
            </a:extLst>
          </p:cNvPr>
          <p:cNvSpPr>
            <a:spLocks/>
          </p:cNvSpPr>
          <p:nvPr/>
        </p:nvSpPr>
        <p:spPr>
          <a:xfrm>
            <a:off x="6208653" y="-1337750"/>
            <a:ext cx="5830947" cy="61264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10b: Structured neural ensembles drive distinct DS2 categories.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9BDABBF1-01BE-6F97-6905-4635058CECAC}"/>
              </a:ext>
            </a:extLst>
          </p:cNvPr>
          <p:cNvSpPr>
            <a:spLocks/>
          </p:cNvSpPr>
          <p:nvPr/>
        </p:nvSpPr>
        <p:spPr>
          <a:xfrm>
            <a:off x="6208651" y="-659668"/>
            <a:ext cx="5830947" cy="5249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Extended Data Figure 10d,e: </a:t>
            </a:r>
          </a:p>
          <a:p>
            <a:r>
              <a:rPr lang="en-US" sz="2600" dirty="0">
                <a:solidFill>
                  <a:schemeClr val="bg1"/>
                </a:solidFill>
              </a:rPr>
              <a:t>d: Neural patterns are more similar than chance; </a:t>
            </a:r>
            <a:r>
              <a:rPr lang="en-US" sz="2700" dirty="0">
                <a:solidFill>
                  <a:schemeClr val="bg1"/>
                </a:solidFill>
              </a:rPr>
              <a:t>e: Neural ensembles fire with high reliability.</a:t>
            </a:r>
            <a:endParaRPr lang="en-US" sz="270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D06ACD77-301D-552E-1F7E-62EB8F43B832}"/>
              </a:ext>
            </a:extLst>
          </p:cNvPr>
          <p:cNvSpPr>
            <a:spLocks/>
          </p:cNvSpPr>
          <p:nvPr/>
        </p:nvSpPr>
        <p:spPr>
          <a:xfrm>
            <a:off x="5302392" y="641171"/>
            <a:ext cx="6889608" cy="75829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Figure 3a: Locomotion creates a diagonal spatial map.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6" name="!!M1">
            <a:extLst>
              <a:ext uri="{FF2B5EF4-FFF2-40B4-BE49-F238E27FC236}">
                <a16:creationId xmlns:a16="http://schemas.microsoft.com/office/drawing/2014/main" id="{8344BA6A-CF29-BC23-F0F9-B0A0F54B048D}"/>
              </a:ext>
            </a:extLst>
          </p:cNvPr>
          <p:cNvSpPr>
            <a:spLocks/>
          </p:cNvSpPr>
          <p:nvPr/>
        </p:nvSpPr>
        <p:spPr>
          <a:xfrm>
            <a:off x="12998591" y="2371874"/>
            <a:ext cx="5213209" cy="82852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Fast-Spiking Cells: The inhibitory interneurons (the "brakes").</a:t>
            </a:r>
          </a:p>
        </p:txBody>
      </p:sp>
      <p:sp>
        <p:nvSpPr>
          <p:cNvPr id="5" name="!!M1">
            <a:extLst>
              <a:ext uri="{FF2B5EF4-FFF2-40B4-BE49-F238E27FC236}">
                <a16:creationId xmlns:a16="http://schemas.microsoft.com/office/drawing/2014/main" id="{604AAAAD-B472-BCFB-A9B9-ED609D44391A}"/>
              </a:ext>
            </a:extLst>
          </p:cNvPr>
          <p:cNvSpPr>
            <a:spLocks/>
          </p:cNvSpPr>
          <p:nvPr/>
        </p:nvSpPr>
        <p:spPr>
          <a:xfrm>
            <a:off x="13117741" y="4358849"/>
            <a:ext cx="5213209" cy="69765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Non-Place Cells: Broadly recruited, non-spatial neural population.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79E4B259-D1C9-4A84-2C3F-9816F04C2232}"/>
              </a:ext>
            </a:extLst>
          </p:cNvPr>
          <p:cNvSpPr>
            <a:spLocks/>
          </p:cNvSpPr>
          <p:nvPr/>
        </p:nvSpPr>
        <p:spPr>
          <a:xfrm>
            <a:off x="13117741" y="3200400"/>
            <a:ext cx="5213209" cy="99060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b="1" dirty="0">
                <a:solidFill>
                  <a:srgbClr val="46B1E1"/>
                </a:solidFill>
              </a:rPr>
              <a:t>Place Cells: Excitatory neurons that form the spatial map.</a:t>
            </a:r>
            <a:endParaRPr lang="en-US" sz="4400" b="1" dirty="0">
              <a:solidFill>
                <a:srgbClr val="46B1E1"/>
              </a:solidFill>
              <a:effectLst/>
            </a:endParaRPr>
          </a:p>
        </p:txBody>
      </p:sp>
      <p:sp>
        <p:nvSpPr>
          <p:cNvPr id="39" name="!!M1">
            <a:extLst>
              <a:ext uri="{FF2B5EF4-FFF2-40B4-BE49-F238E27FC236}">
                <a16:creationId xmlns:a16="http://schemas.microsoft.com/office/drawing/2014/main" id="{BDF8605D-C0DB-1BE2-2D6D-E36A211DE8F2}"/>
              </a:ext>
            </a:extLst>
          </p:cNvPr>
          <p:cNvSpPr>
            <a:spLocks/>
          </p:cNvSpPr>
          <p:nvPr/>
        </p:nvSpPr>
        <p:spPr>
          <a:xfrm>
            <a:off x="5302392" y="1524000"/>
            <a:ext cx="6889608" cy="758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3b: </a:t>
            </a:r>
            <a:r>
              <a:rPr lang="fr-FR" sz="4400" dirty="0" err="1">
                <a:solidFill>
                  <a:schemeClr val="bg1"/>
                </a:solidFill>
              </a:rPr>
              <a:t>Ripples</a:t>
            </a:r>
            <a:r>
              <a:rPr lang="fr-FR" sz="4400" dirty="0">
                <a:solidFill>
                  <a:schemeClr val="bg1"/>
                </a:solidFill>
              </a:rPr>
              <a:t> do not </a:t>
            </a:r>
            <a:r>
              <a:rPr lang="fr-FR" sz="4400" dirty="0" err="1">
                <a:solidFill>
                  <a:schemeClr val="bg1"/>
                </a:solidFill>
              </a:rPr>
              <a:t>represent</a:t>
            </a:r>
            <a:r>
              <a:rPr lang="fr-FR" sz="4400" dirty="0">
                <a:solidFill>
                  <a:schemeClr val="bg1"/>
                </a:solidFill>
              </a:rPr>
              <a:t> </a:t>
            </a:r>
            <a:r>
              <a:rPr lang="fr-FR" sz="4400" dirty="0" err="1">
                <a:solidFill>
                  <a:schemeClr val="bg1"/>
                </a:solidFill>
              </a:rPr>
              <a:t>current</a:t>
            </a:r>
            <a:r>
              <a:rPr lang="fr-FR" sz="4400" dirty="0">
                <a:solidFill>
                  <a:schemeClr val="bg1"/>
                </a:solidFill>
              </a:rPr>
              <a:t> spatial locations.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7" name="!!Focus2">
            <a:extLst>
              <a:ext uri="{FF2B5EF4-FFF2-40B4-BE49-F238E27FC236}">
                <a16:creationId xmlns:a16="http://schemas.microsoft.com/office/drawing/2014/main" id="{E13A1E8E-F1BA-4A11-C063-3328E466A3B3}"/>
              </a:ext>
            </a:extLst>
          </p:cNvPr>
          <p:cNvSpPr/>
          <p:nvPr/>
        </p:nvSpPr>
        <p:spPr>
          <a:xfrm rot="10800000">
            <a:off x="3002329" y="7972546"/>
            <a:ext cx="2192833" cy="7620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!!M1">
            <a:extLst>
              <a:ext uri="{FF2B5EF4-FFF2-40B4-BE49-F238E27FC236}">
                <a16:creationId xmlns:a16="http://schemas.microsoft.com/office/drawing/2014/main" id="{8A6E8536-9571-A580-B65F-E53F14AD24A9}"/>
              </a:ext>
            </a:extLst>
          </p:cNvPr>
          <p:cNvSpPr>
            <a:spLocks/>
          </p:cNvSpPr>
          <p:nvPr/>
        </p:nvSpPr>
        <p:spPr>
          <a:xfrm>
            <a:off x="5302392" y="2390486"/>
            <a:ext cx="6889608" cy="65266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3c: </a:t>
            </a:r>
            <a:r>
              <a:rPr lang="en-US" sz="4400" dirty="0">
                <a:solidFill>
                  <a:schemeClr val="bg1"/>
                </a:solidFill>
              </a:rPr>
              <a:t>DS2 firing aligns with current location.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1">
            <a:extLst>
              <a:ext uri="{FF2B5EF4-FFF2-40B4-BE49-F238E27FC236}">
                <a16:creationId xmlns:a16="http://schemas.microsoft.com/office/drawing/2014/main" id="{EC27AC66-F575-8A20-D1A0-6AA14D341EAF}"/>
              </a:ext>
            </a:extLst>
          </p:cNvPr>
          <p:cNvSpPr>
            <a:spLocks/>
          </p:cNvSpPr>
          <p:nvPr/>
        </p:nvSpPr>
        <p:spPr>
          <a:xfrm>
            <a:off x="5250991" y="3153043"/>
            <a:ext cx="6889608" cy="6492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3d: </a:t>
            </a:r>
            <a:r>
              <a:rPr lang="en-US" sz="4400" dirty="0">
                <a:solidFill>
                  <a:schemeClr val="bg1"/>
                </a:solidFill>
              </a:rPr>
              <a:t>Decoding confirms DS2 encodes actual position.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!!M1">
            <a:extLst>
              <a:ext uri="{FF2B5EF4-FFF2-40B4-BE49-F238E27FC236}">
                <a16:creationId xmlns:a16="http://schemas.microsoft.com/office/drawing/2014/main" id="{116A1A75-26F7-B0F7-B53B-A240CA9BBD70}"/>
              </a:ext>
            </a:extLst>
          </p:cNvPr>
          <p:cNvSpPr>
            <a:spLocks/>
          </p:cNvSpPr>
          <p:nvPr/>
        </p:nvSpPr>
        <p:spPr>
          <a:xfrm>
            <a:off x="5224667" y="3863108"/>
            <a:ext cx="6889608" cy="69717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3f: </a:t>
            </a:r>
            <a:r>
              <a:rPr lang="pt-BR" sz="4400" dirty="0">
                <a:solidFill>
                  <a:schemeClr val="bg1"/>
                </a:solidFill>
              </a:rPr>
              <a:t>DS2 slopes reveal zero mental travel.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3" name="!!M5">
            <a:extLst>
              <a:ext uri="{FF2B5EF4-FFF2-40B4-BE49-F238E27FC236}">
                <a16:creationId xmlns:a16="http://schemas.microsoft.com/office/drawing/2014/main" id="{085FAD7A-057B-BC21-EFBD-8B025887A3C0}"/>
              </a:ext>
            </a:extLst>
          </p:cNvPr>
          <p:cNvSpPr>
            <a:spLocks/>
          </p:cNvSpPr>
          <p:nvPr/>
        </p:nvSpPr>
        <p:spPr>
          <a:xfrm>
            <a:off x="227660" y="688025"/>
            <a:ext cx="4943949" cy="12238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DS2 encodes current location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615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762B8-257D-2E00-F317-57605A839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D68E26F5-F9A6-718F-C6DC-579D377A7B2F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8C4B0F33-AD37-696A-0098-D8F89425936A}"/>
              </a:ext>
            </a:extLst>
          </p:cNvPr>
          <p:cNvSpPr/>
          <p:nvPr/>
        </p:nvSpPr>
        <p:spPr>
          <a:xfrm>
            <a:off x="2941178" y="6096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F109C338-C4F7-2531-C761-19355099FC63}"/>
              </a:ext>
            </a:extLst>
          </p:cNvPr>
          <p:cNvSpPr/>
          <p:nvPr/>
        </p:nvSpPr>
        <p:spPr>
          <a:xfrm>
            <a:off x="1295400" y="3505200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</a:t>
            </a:r>
            <a:r>
              <a:rPr lang="en-US" sz="2800" dirty="0">
                <a:solidFill>
                  <a:schemeClr val="bg1"/>
                </a:solidFill>
              </a:rPr>
              <a:t>happens, where it goes, which neurons control it, what it encodes, </a:t>
            </a:r>
            <a:r>
              <a:rPr lang="en-US" sz="2800" dirty="0">
                <a:solidFill>
                  <a:srgbClr val="FF0000"/>
                </a:solidFill>
              </a:rPr>
              <a:t>is it actually vital to learning?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C0150BB7-7601-EDB5-D63C-9A509F0D23E6}"/>
              </a:ext>
            </a:extLst>
          </p:cNvPr>
          <p:cNvSpPr txBox="1">
            <a:spLocks/>
          </p:cNvSpPr>
          <p:nvPr/>
        </p:nvSpPr>
        <p:spPr>
          <a:xfrm>
            <a:off x="3067050" y="82619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E3A938-C801-F210-838B-F95982CA3848}"/>
              </a:ext>
            </a:extLst>
          </p:cNvPr>
          <p:cNvSpPr/>
          <p:nvPr/>
        </p:nvSpPr>
        <p:spPr>
          <a:xfrm>
            <a:off x="5410199" y="3571589"/>
            <a:ext cx="1914523" cy="3322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824D0F-BCF0-874D-A6D0-B5FEC26637F4}"/>
              </a:ext>
            </a:extLst>
          </p:cNvPr>
          <p:cNvSpPr/>
          <p:nvPr/>
        </p:nvSpPr>
        <p:spPr>
          <a:xfrm>
            <a:off x="7403638" y="3571589"/>
            <a:ext cx="3505200" cy="3322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004C1E-12F8-E891-07D4-48E25709EA5E}"/>
              </a:ext>
            </a:extLst>
          </p:cNvPr>
          <p:cNvSpPr/>
          <p:nvPr/>
        </p:nvSpPr>
        <p:spPr>
          <a:xfrm>
            <a:off x="5414260" y="3941166"/>
            <a:ext cx="4110740" cy="33224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CA3ECE-C7CB-C26D-A651-1C5B7AC36AEA}"/>
              </a:ext>
            </a:extLst>
          </p:cNvPr>
          <p:cNvSpPr/>
          <p:nvPr/>
        </p:nvSpPr>
        <p:spPr>
          <a:xfrm>
            <a:off x="2941178" y="3924300"/>
            <a:ext cx="2316622" cy="3322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!!T2">
            <a:extLst>
              <a:ext uri="{FF2B5EF4-FFF2-40B4-BE49-F238E27FC236}">
                <a16:creationId xmlns:a16="http://schemas.microsoft.com/office/drawing/2014/main" id="{F927AD37-D7C9-A3A5-448C-FD894889559B}"/>
              </a:ext>
            </a:extLst>
          </p:cNvPr>
          <p:cNvSpPr/>
          <p:nvPr/>
        </p:nvSpPr>
        <p:spPr>
          <a:xfrm>
            <a:off x="-4235283" y="1841861"/>
            <a:ext cx="3242636" cy="348002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CORE INSIGHT   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DS2 encodes stationary, real-world position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sp>
        <p:nvSpPr>
          <p:cNvPr id="47" name="!!T2">
            <a:extLst>
              <a:ext uri="{FF2B5EF4-FFF2-40B4-BE49-F238E27FC236}">
                <a16:creationId xmlns:a16="http://schemas.microsoft.com/office/drawing/2014/main" id="{D5E97C95-ACFA-BC21-B285-8434A1E28888}"/>
              </a:ext>
            </a:extLst>
          </p:cNvPr>
          <p:cNvSpPr/>
          <p:nvPr/>
        </p:nvSpPr>
        <p:spPr>
          <a:xfrm>
            <a:off x="4116158" y="7772400"/>
            <a:ext cx="3959683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800" dirty="0"/>
              <a:t>Spoiler Alert: Yes.</a:t>
            </a:r>
            <a:endParaRPr lang="en-US" sz="2800" i="1" dirty="0"/>
          </a:p>
        </p:txBody>
      </p:sp>
      <p:pic>
        <p:nvPicPr>
          <p:cNvPr id="3" name="Picture 2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6A1BBBBF-A15B-1D8D-AE24-72D9ECBF4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60" y="8382000"/>
            <a:ext cx="4877857" cy="285550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43245B-CAF3-B477-BC4A-F9E70FD9D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191" y="10018983"/>
            <a:ext cx="2040209" cy="1196754"/>
          </a:xfrm>
          <a:prstGeom prst="rect">
            <a:avLst/>
          </a:prstGeom>
        </p:spPr>
      </p:pic>
      <p:sp>
        <p:nvSpPr>
          <p:cNvPr id="6" name="!!M1">
            <a:extLst>
              <a:ext uri="{FF2B5EF4-FFF2-40B4-BE49-F238E27FC236}">
                <a16:creationId xmlns:a16="http://schemas.microsoft.com/office/drawing/2014/main" id="{676398B8-B67C-F853-046C-CF1B859065C9}"/>
              </a:ext>
            </a:extLst>
          </p:cNvPr>
          <p:cNvSpPr>
            <a:spLocks/>
          </p:cNvSpPr>
          <p:nvPr/>
        </p:nvSpPr>
        <p:spPr>
          <a:xfrm>
            <a:off x="5250991" y="10218299"/>
            <a:ext cx="6889608" cy="6492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High slope: </a:t>
            </a:r>
            <a:r>
              <a:rPr lang="en-US" sz="4400" dirty="0"/>
              <a:t>Moving sequence of distant places.</a:t>
            </a:r>
          </a:p>
          <a:p>
            <a:r>
              <a:rPr lang="en-US" sz="4400" dirty="0">
                <a:solidFill>
                  <a:schemeClr val="bg1"/>
                </a:solidFill>
                <a:effectLst/>
              </a:rPr>
              <a:t>Low slope: </a:t>
            </a:r>
            <a:r>
              <a:rPr lang="en-US" sz="4400" dirty="0"/>
              <a:t>Stationary snapshot of current location.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86A049C2-86C4-6796-5BA4-4EE9A0AB60C2}"/>
              </a:ext>
            </a:extLst>
          </p:cNvPr>
          <p:cNvSpPr>
            <a:spLocks/>
          </p:cNvSpPr>
          <p:nvPr/>
        </p:nvSpPr>
        <p:spPr>
          <a:xfrm>
            <a:off x="5302391" y="7322699"/>
            <a:ext cx="6889609" cy="45322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Result: </a:t>
            </a:r>
            <a:r>
              <a:rPr lang="en-US" sz="4400" dirty="0">
                <a:solidFill>
                  <a:schemeClr val="bg1"/>
                </a:solidFill>
              </a:rPr>
              <a:t>This created the clear diagonal line of activity</a:t>
            </a:r>
          </a:p>
        </p:txBody>
      </p:sp>
      <p:sp>
        <p:nvSpPr>
          <p:cNvPr id="8" name="!!M1">
            <a:extLst>
              <a:ext uri="{FF2B5EF4-FFF2-40B4-BE49-F238E27FC236}">
                <a16:creationId xmlns:a16="http://schemas.microsoft.com/office/drawing/2014/main" id="{A293117C-7A68-C276-CD84-BBA923C173D5}"/>
              </a:ext>
            </a:extLst>
          </p:cNvPr>
          <p:cNvSpPr>
            <a:spLocks/>
          </p:cNvSpPr>
          <p:nvPr/>
        </p:nvSpPr>
        <p:spPr>
          <a:xfrm>
            <a:off x="5302391" y="7170299"/>
            <a:ext cx="6889609" cy="39107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25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The Sorting: </a:t>
            </a:r>
            <a:r>
              <a:rPr lang="en-US" sz="4400" dirty="0">
                <a:solidFill>
                  <a:schemeClr val="bg1"/>
                </a:solidFill>
              </a:rPr>
              <a:t>ordered by their "preferred location"—the specific spot on the 120-cm treadmill where they fire most.</a:t>
            </a:r>
          </a:p>
        </p:txBody>
      </p:sp>
      <p:sp>
        <p:nvSpPr>
          <p:cNvPr id="9" name="!!M1">
            <a:extLst>
              <a:ext uri="{FF2B5EF4-FFF2-40B4-BE49-F238E27FC236}">
                <a16:creationId xmlns:a16="http://schemas.microsoft.com/office/drawing/2014/main" id="{059FC026-0A0F-5C91-A22E-B42AA9FD2D2A}"/>
              </a:ext>
            </a:extLst>
          </p:cNvPr>
          <p:cNvSpPr>
            <a:spLocks/>
          </p:cNvSpPr>
          <p:nvPr/>
        </p:nvSpPr>
        <p:spPr>
          <a:xfrm>
            <a:off x="5302391" y="7398899"/>
            <a:ext cx="6889609" cy="30477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Y-Axis Focus:</a:t>
            </a:r>
            <a:r>
              <a:rPr lang="en-US" sz="4400" dirty="0">
                <a:solidFill>
                  <a:schemeClr val="bg1"/>
                </a:solidFill>
              </a:rPr>
              <a:t>117 individual CA1 Place Cells (PCs).</a:t>
            </a:r>
          </a:p>
        </p:txBody>
      </p:sp>
      <p:sp>
        <p:nvSpPr>
          <p:cNvPr id="10" name="!!M1">
            <a:extLst>
              <a:ext uri="{FF2B5EF4-FFF2-40B4-BE49-F238E27FC236}">
                <a16:creationId xmlns:a16="http://schemas.microsoft.com/office/drawing/2014/main" id="{35F45190-0135-AB8B-6346-82E51FD5CEE7}"/>
              </a:ext>
            </a:extLst>
          </p:cNvPr>
          <p:cNvSpPr>
            <a:spLocks/>
          </p:cNvSpPr>
          <p:nvPr/>
        </p:nvSpPr>
        <p:spPr>
          <a:xfrm>
            <a:off x="5302392" y="6973270"/>
            <a:ext cx="6889608" cy="75829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Figure 3a: Locomotion creates a diagonal spatial map.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54216576-44A5-14C4-6A8D-47C258C211A4}"/>
              </a:ext>
            </a:extLst>
          </p:cNvPr>
          <p:cNvSpPr>
            <a:spLocks/>
          </p:cNvSpPr>
          <p:nvPr/>
        </p:nvSpPr>
        <p:spPr>
          <a:xfrm>
            <a:off x="5302392" y="7856099"/>
            <a:ext cx="6889608" cy="758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3b: </a:t>
            </a:r>
            <a:r>
              <a:rPr lang="fr-FR" sz="4400" dirty="0" err="1">
                <a:solidFill>
                  <a:schemeClr val="bg1"/>
                </a:solidFill>
              </a:rPr>
              <a:t>Ripples</a:t>
            </a:r>
            <a:r>
              <a:rPr lang="fr-FR" sz="4400" dirty="0">
                <a:solidFill>
                  <a:schemeClr val="bg1"/>
                </a:solidFill>
              </a:rPr>
              <a:t> do not </a:t>
            </a:r>
            <a:r>
              <a:rPr lang="fr-FR" sz="4400" dirty="0" err="1">
                <a:solidFill>
                  <a:schemeClr val="bg1"/>
                </a:solidFill>
              </a:rPr>
              <a:t>represent</a:t>
            </a:r>
            <a:r>
              <a:rPr lang="fr-FR" sz="4400" dirty="0">
                <a:solidFill>
                  <a:schemeClr val="bg1"/>
                </a:solidFill>
              </a:rPr>
              <a:t> </a:t>
            </a:r>
            <a:r>
              <a:rPr lang="fr-FR" sz="4400" dirty="0" err="1">
                <a:solidFill>
                  <a:schemeClr val="bg1"/>
                </a:solidFill>
              </a:rPr>
              <a:t>current</a:t>
            </a:r>
            <a:r>
              <a:rPr lang="fr-FR" sz="4400" dirty="0">
                <a:solidFill>
                  <a:schemeClr val="bg1"/>
                </a:solidFill>
              </a:rPr>
              <a:t> spatial locations.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8F3D714C-680E-BEB1-730A-FF7C02F35A6D}"/>
              </a:ext>
            </a:extLst>
          </p:cNvPr>
          <p:cNvSpPr>
            <a:spLocks/>
          </p:cNvSpPr>
          <p:nvPr/>
        </p:nvSpPr>
        <p:spPr>
          <a:xfrm>
            <a:off x="5302392" y="8722585"/>
            <a:ext cx="6889608" cy="65266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3c: </a:t>
            </a:r>
            <a:r>
              <a:rPr lang="en-US" sz="4400" dirty="0">
                <a:solidFill>
                  <a:schemeClr val="bg1"/>
                </a:solidFill>
              </a:rPr>
              <a:t>DS2 firing aligns with current location.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828B5AEF-EF02-ED31-7487-1E2B5F03300D}"/>
              </a:ext>
            </a:extLst>
          </p:cNvPr>
          <p:cNvSpPr>
            <a:spLocks/>
          </p:cNvSpPr>
          <p:nvPr/>
        </p:nvSpPr>
        <p:spPr>
          <a:xfrm>
            <a:off x="5250991" y="9485142"/>
            <a:ext cx="6889608" cy="64922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3d: </a:t>
            </a:r>
            <a:r>
              <a:rPr lang="en-US" sz="4400" dirty="0">
                <a:solidFill>
                  <a:schemeClr val="bg1"/>
                </a:solidFill>
              </a:rPr>
              <a:t>Decoding confirms DS2 encodes actual position.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4" name="!!M1">
            <a:extLst>
              <a:ext uri="{FF2B5EF4-FFF2-40B4-BE49-F238E27FC236}">
                <a16:creationId xmlns:a16="http://schemas.microsoft.com/office/drawing/2014/main" id="{F05BA68C-4EAD-7650-E9DC-F2BBC245FBA7}"/>
              </a:ext>
            </a:extLst>
          </p:cNvPr>
          <p:cNvSpPr>
            <a:spLocks/>
          </p:cNvSpPr>
          <p:nvPr/>
        </p:nvSpPr>
        <p:spPr>
          <a:xfrm>
            <a:off x="5224667" y="10195207"/>
            <a:ext cx="6889608" cy="69717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Figure 3f: </a:t>
            </a:r>
            <a:r>
              <a:rPr lang="pt-BR" sz="4400" dirty="0">
                <a:solidFill>
                  <a:schemeClr val="bg1"/>
                </a:solidFill>
              </a:rPr>
              <a:t>DS2 slopes reveal zero mental travel.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!!M5">
            <a:extLst>
              <a:ext uri="{FF2B5EF4-FFF2-40B4-BE49-F238E27FC236}">
                <a16:creationId xmlns:a16="http://schemas.microsoft.com/office/drawing/2014/main" id="{76CFC180-D759-E235-ACB5-50ABB94B4A31}"/>
              </a:ext>
            </a:extLst>
          </p:cNvPr>
          <p:cNvSpPr>
            <a:spLocks/>
          </p:cNvSpPr>
          <p:nvPr/>
        </p:nvSpPr>
        <p:spPr>
          <a:xfrm>
            <a:off x="227660" y="7020124"/>
            <a:ext cx="4943949" cy="122385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CORE INSIGHT</a:t>
            </a:r>
          </a:p>
          <a:p>
            <a:pPr eaLnBrk="0" fontAlgn="base" hangingPunct="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DS2 encodes current location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167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 animBg="1"/>
      <p:bldP spid="32" grpId="0" animBg="1"/>
      <p:bldP spid="2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F0ECB-3EA8-A106-84EA-68DDA6FB4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86A46CD8-5644-9B39-DD12-3DF74BCE80D7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FB7DFC31-7100-930C-1696-3F7A290DDBBD}"/>
              </a:ext>
            </a:extLst>
          </p:cNvPr>
          <p:cNvSpPr/>
          <p:nvPr/>
        </p:nvSpPr>
        <p:spPr>
          <a:xfrm>
            <a:off x="2941178" y="6096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E894A420-A457-B689-FF0D-37AE2EABF847}"/>
              </a:ext>
            </a:extLst>
          </p:cNvPr>
          <p:cNvSpPr/>
          <p:nvPr/>
        </p:nvSpPr>
        <p:spPr>
          <a:xfrm>
            <a:off x="1295400" y="3505200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</a:t>
            </a:r>
            <a:r>
              <a:rPr lang="en-US" sz="2800" dirty="0">
                <a:solidFill>
                  <a:schemeClr val="bg1"/>
                </a:solidFill>
              </a:rPr>
              <a:t>happens, where it goes, which neurons control it, what it encodes, </a:t>
            </a:r>
            <a:r>
              <a:rPr lang="en-US" sz="2800" dirty="0">
                <a:solidFill>
                  <a:srgbClr val="FF0000"/>
                </a:solidFill>
              </a:rPr>
              <a:t>is it actually vital to learning?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FF8F10BE-F59F-9A43-7ED6-CE5DAFE524EE}"/>
              </a:ext>
            </a:extLst>
          </p:cNvPr>
          <p:cNvSpPr txBox="1">
            <a:spLocks/>
          </p:cNvSpPr>
          <p:nvPr/>
        </p:nvSpPr>
        <p:spPr>
          <a:xfrm>
            <a:off x="3067050" y="82619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F0A422E0-BD96-5C2C-5F3C-329E1B677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52D9DAD-856D-DB1F-6EE8-83B0DE320D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8" name="!!T2">
            <a:extLst>
              <a:ext uri="{FF2B5EF4-FFF2-40B4-BE49-F238E27FC236}">
                <a16:creationId xmlns:a16="http://schemas.microsoft.com/office/drawing/2014/main" id="{14B9CCB9-A41A-B430-B5BC-2AB5BE8EA1D3}"/>
              </a:ext>
            </a:extLst>
          </p:cNvPr>
          <p:cNvSpPr/>
          <p:nvPr/>
        </p:nvSpPr>
        <p:spPr>
          <a:xfrm>
            <a:off x="-4235283" y="1841861"/>
            <a:ext cx="3242636" cy="348002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CORE INSIGHT   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DS2 encodes stationary, real-world position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41055D23-C123-33E9-CAEE-DCACFECA8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45FA7CE0-80FD-28A7-CB17-BAF20ED96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5A7D7EDE-DB52-EF57-ED79-45E3B59CB190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2" name="!!M5">
            <a:extLst>
              <a:ext uri="{FF2B5EF4-FFF2-40B4-BE49-F238E27FC236}">
                <a16:creationId xmlns:a16="http://schemas.microsoft.com/office/drawing/2014/main" id="{44F10B2B-AAA0-1C80-D374-7E5DC26C067A}"/>
              </a:ext>
            </a:extLst>
          </p:cNvPr>
          <p:cNvSpPr>
            <a:spLocks/>
          </p:cNvSpPr>
          <p:nvPr/>
        </p:nvSpPr>
        <p:spPr>
          <a:xfrm>
            <a:off x="13762061" y="584832"/>
            <a:ext cx="1689942" cy="51462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DS2 spikes are highly organized</a:t>
            </a:r>
            <a:endParaRPr lang="en-US" sz="1200" u="sng" dirty="0">
              <a:solidFill>
                <a:schemeClr val="bg1"/>
              </a:solidFill>
            </a:endParaRP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14B8DAAD-C907-CB4C-F0FD-D89D5B58F655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FB824E76-F046-EDDC-A06E-A11B7C789B26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B1D72E7A-9DA9-E406-E99A-96ADBA5F30D3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A1840D95-2D2D-7F87-E32D-3C437CC0DB6F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3D6E8541-BA8B-22DF-4C6E-5D0371FA9DE7}"/>
              </a:ext>
            </a:extLst>
          </p:cNvPr>
          <p:cNvSpPr/>
          <p:nvPr/>
        </p:nvSpPr>
        <p:spPr>
          <a:xfrm>
            <a:off x="4116158" y="4902780"/>
            <a:ext cx="3959683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2800" dirty="0"/>
              <a:t>Spoiler Alert: Yes.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264993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1D10C-7E77-3F3F-C5C2-02FE0628C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05C6B0-8C56-B436-A676-E2FE23764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767" y="762000"/>
            <a:ext cx="5894465" cy="56295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8" name="!!Freeform: Shape 17" hidden="1">
            <a:extLst>
              <a:ext uri="{FF2B5EF4-FFF2-40B4-BE49-F238E27FC236}">
                <a16:creationId xmlns:a16="http://schemas.microsoft.com/office/drawing/2014/main" id="{52B34176-7054-BAAA-06A7-FC975D841D52}"/>
              </a:ext>
            </a:extLst>
          </p:cNvPr>
          <p:cNvSpPr/>
          <p:nvPr/>
        </p:nvSpPr>
        <p:spPr>
          <a:xfrm>
            <a:off x="-762000" y="685799"/>
            <a:ext cx="14554200" cy="6172201"/>
          </a:xfrm>
          <a:custGeom>
            <a:avLst/>
            <a:gdLst>
              <a:gd name="csX0" fmla="*/ 0 w 14554200"/>
              <a:gd name="csY0" fmla="*/ 0 h 6172201"/>
              <a:gd name="csX1" fmla="*/ 685800 w 14554200"/>
              <a:gd name="csY1" fmla="*/ 0 h 6172201"/>
              <a:gd name="csX2" fmla="*/ 7696200 w 14554200"/>
              <a:gd name="csY2" fmla="*/ 0 h 6172201"/>
              <a:gd name="csX3" fmla="*/ 14554200 w 14554200"/>
              <a:gd name="csY3" fmla="*/ 0 h 6172201"/>
              <a:gd name="csX4" fmla="*/ 14554200 w 14554200"/>
              <a:gd name="csY4" fmla="*/ 6172199 h 6172201"/>
              <a:gd name="csX5" fmla="*/ 13508447 w 14554200"/>
              <a:gd name="csY5" fmla="*/ 6172199 h 6172201"/>
              <a:gd name="csX6" fmla="*/ 13508447 w 14554200"/>
              <a:gd name="csY6" fmla="*/ 6172201 h 6172201"/>
              <a:gd name="csX7" fmla="*/ 7924800 w 14554200"/>
              <a:gd name="csY7" fmla="*/ 6172201 h 6172201"/>
              <a:gd name="csX8" fmla="*/ 7924800 w 14554200"/>
              <a:gd name="csY8" fmla="*/ 6172200 h 6172201"/>
              <a:gd name="csX9" fmla="*/ 762000 w 14554200"/>
              <a:gd name="csY9" fmla="*/ 6172200 h 6172201"/>
              <a:gd name="csX10" fmla="*/ 762000 w 14554200"/>
              <a:gd name="csY10" fmla="*/ 6172199 h 6172201"/>
              <a:gd name="csX11" fmla="*/ 0 w 14554200"/>
              <a:gd name="csY11" fmla="*/ 6172199 h 6172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554200" h="6172201"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172199"/>
                </a:lnTo>
                <a:lnTo>
                  <a:pt x="13508447" y="6172199"/>
                </a:lnTo>
                <a:lnTo>
                  <a:pt x="13508447" y="6172201"/>
                </a:lnTo>
                <a:lnTo>
                  <a:pt x="7924800" y="6172201"/>
                </a:lnTo>
                <a:lnTo>
                  <a:pt x="7924800" y="6172200"/>
                </a:lnTo>
                <a:lnTo>
                  <a:pt x="762000" y="6172200"/>
                </a:lnTo>
                <a:lnTo>
                  <a:pt x="762000" y="6172199"/>
                </a:lnTo>
                <a:lnTo>
                  <a:pt x="0" y="6172199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AB36F7E9-D11B-948F-A160-20B86C5F43D1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7CC6FC3B-690A-E85C-D00C-28548E7A6B60}"/>
              </a:ext>
            </a:extLst>
          </p:cNvPr>
          <p:cNvSpPr/>
          <p:nvPr/>
        </p:nvSpPr>
        <p:spPr>
          <a:xfrm>
            <a:off x="1295400" y="-1447800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</a:t>
            </a:r>
            <a:r>
              <a:rPr lang="en-US" sz="2800" dirty="0">
                <a:solidFill>
                  <a:schemeClr val="bg1"/>
                </a:solidFill>
              </a:rPr>
              <a:t>happens, where it goes, which neurons control it, what it encodes, </a:t>
            </a:r>
            <a:r>
              <a:rPr lang="en-US" sz="2800" dirty="0">
                <a:solidFill>
                  <a:srgbClr val="FF0000"/>
                </a:solidFill>
              </a:rPr>
              <a:t>is it actually vital to learning?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48C1CA54-BC2F-AA4E-A0A7-B52200C9C6E8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FA550590-5EE7-9D02-30CF-E74BDD035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2F3CF7C-351C-2FED-AA99-D292F26AEB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8" name="!!T2">
            <a:extLst>
              <a:ext uri="{FF2B5EF4-FFF2-40B4-BE49-F238E27FC236}">
                <a16:creationId xmlns:a16="http://schemas.microsoft.com/office/drawing/2014/main" id="{6318A57C-6282-7465-A1EC-759A8B0C9486}"/>
              </a:ext>
            </a:extLst>
          </p:cNvPr>
          <p:cNvSpPr/>
          <p:nvPr/>
        </p:nvSpPr>
        <p:spPr>
          <a:xfrm>
            <a:off x="-4235283" y="1841861"/>
            <a:ext cx="3242636" cy="348002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CORE INSIGHT   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DS2 encodes stationary, real-world position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2E172F5D-FDAA-F81A-8FBD-B4CC5B1890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7F7DC14A-7449-253E-1B82-63EE580768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6174AE5D-3A28-D166-AE71-BB548B61A832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2" name="!!M5">
            <a:extLst>
              <a:ext uri="{FF2B5EF4-FFF2-40B4-BE49-F238E27FC236}">
                <a16:creationId xmlns:a16="http://schemas.microsoft.com/office/drawing/2014/main" id="{85E7B1D4-0EFC-93FA-FE16-F98AE7807F71}"/>
              </a:ext>
            </a:extLst>
          </p:cNvPr>
          <p:cNvSpPr>
            <a:spLocks/>
          </p:cNvSpPr>
          <p:nvPr/>
        </p:nvSpPr>
        <p:spPr>
          <a:xfrm>
            <a:off x="13762061" y="584832"/>
            <a:ext cx="1689942" cy="51462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DS2 spikes are highly organized</a:t>
            </a:r>
            <a:endParaRPr lang="en-US" sz="1200" u="sng" dirty="0">
              <a:solidFill>
                <a:schemeClr val="bg1"/>
              </a:solidFill>
            </a:endParaRP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8C0C39B2-433C-1026-1594-613C47498F1B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CF9BFE17-4F3F-4365-E9F1-E06E8D317D37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FFF61DA2-4A4F-F8C6-E769-C7B418CA5F4E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2937F193-1AFF-7849-F3A7-925E13B57D02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509E35A0-8DA3-9058-5016-4AD56EF21279}"/>
              </a:ext>
            </a:extLst>
          </p:cNvPr>
          <p:cNvSpPr/>
          <p:nvPr/>
        </p:nvSpPr>
        <p:spPr>
          <a:xfrm>
            <a:off x="-152400" y="3945"/>
            <a:ext cx="12496800" cy="45325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10000"/>
          </a:bodyPr>
          <a:lstStyle/>
          <a:p>
            <a:r>
              <a:rPr lang="en-US" sz="2800" b="1" dirty="0"/>
              <a:t>   </a:t>
            </a:r>
            <a:r>
              <a:rPr lang="en-US" sz="2800" b="1" u="sng" dirty="0"/>
              <a:t>DS2 Is Needed For Spatial Learning</a:t>
            </a:r>
          </a:p>
        </p:txBody>
      </p:sp>
      <p:sp>
        <p:nvSpPr>
          <p:cNvPr id="10" name="!!M5">
            <a:extLst>
              <a:ext uri="{FF2B5EF4-FFF2-40B4-BE49-F238E27FC236}">
                <a16:creationId xmlns:a16="http://schemas.microsoft.com/office/drawing/2014/main" id="{1462A793-6DBC-0F1A-F29A-C129993E54F3}"/>
              </a:ext>
            </a:extLst>
          </p:cNvPr>
          <p:cNvSpPr>
            <a:spLocks/>
          </p:cNvSpPr>
          <p:nvPr/>
        </p:nvSpPr>
        <p:spPr>
          <a:xfrm>
            <a:off x="-12155341" y="5237577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A Conditioned Place Aversion test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11" name="!!M1">
            <a:extLst>
              <a:ext uri="{FF2B5EF4-FFF2-40B4-BE49-F238E27FC236}">
                <a16:creationId xmlns:a16="http://schemas.microsoft.com/office/drawing/2014/main" id="{38677C7E-9E02-86A4-FA3B-16C147B781DA}"/>
              </a:ext>
            </a:extLst>
          </p:cNvPr>
          <p:cNvSpPr>
            <a:spLocks/>
          </p:cNvSpPr>
          <p:nvPr/>
        </p:nvSpPr>
        <p:spPr>
          <a:xfrm>
            <a:off x="-12230786" y="4140751"/>
            <a:ext cx="12068688" cy="102028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Extended Figure 4a: </a:t>
            </a:r>
            <a:r>
              <a:rPr lang="en-US" sz="4400" dirty="0">
                <a:solidFill>
                  <a:srgbClr val="FF0000"/>
                </a:solidFill>
              </a:rPr>
              <a:t>Optogenetics silences DS2 during tone.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05917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CA43-B88B-98BB-85F8-6F083A529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F3CCF1-4ED2-EC1E-3A0E-E439A5589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6436"/>
            <a:ext cx="9719535" cy="9282702"/>
          </a:xfrm>
          <a:prstGeom prst="rect">
            <a:avLst/>
          </a:prstGeom>
          <a:ln w="38100">
            <a:noFill/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BAFCEBB-F98D-A5C7-3031-1FEBCEB17F6A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0902 w 14554200"/>
              <a:gd name="csY0" fmla="*/ 179235 h 6400799"/>
              <a:gd name="csX1" fmla="*/ 930902 w 14554200"/>
              <a:gd name="csY1" fmla="*/ 2616750 h 6400799"/>
              <a:gd name="csX2" fmla="*/ 10989302 w 14554200"/>
              <a:gd name="csY2" fmla="*/ 2616750 h 6400799"/>
              <a:gd name="csX3" fmla="*/ 10989302 w 14554200"/>
              <a:gd name="csY3" fmla="*/ 179235 h 6400799"/>
              <a:gd name="csX4" fmla="*/ 5426703 w 14554200"/>
              <a:gd name="csY4" fmla="*/ 179235 h 6400799"/>
              <a:gd name="csX5" fmla="*/ 1007102 w 14554200"/>
              <a:gd name="csY5" fmla="*/ 179235 h 6400799"/>
              <a:gd name="csX6" fmla="*/ 0 w 14554200"/>
              <a:gd name="csY6" fmla="*/ 0 h 6400799"/>
              <a:gd name="csX7" fmla="*/ 685800 w 14554200"/>
              <a:gd name="csY7" fmla="*/ 0 h 6400799"/>
              <a:gd name="csX8" fmla="*/ 7696200 w 14554200"/>
              <a:gd name="csY8" fmla="*/ 0 h 6400799"/>
              <a:gd name="csX9" fmla="*/ 14554200 w 14554200"/>
              <a:gd name="csY9" fmla="*/ 0 h 6400799"/>
              <a:gd name="csX10" fmla="*/ 14554200 w 14554200"/>
              <a:gd name="csY10" fmla="*/ 6400797 h 6400799"/>
              <a:gd name="csX11" fmla="*/ 13508447 w 14554200"/>
              <a:gd name="csY11" fmla="*/ 6400797 h 6400799"/>
              <a:gd name="csX12" fmla="*/ 13508447 w 14554200"/>
              <a:gd name="csY12" fmla="*/ 6400799 h 6400799"/>
              <a:gd name="csX13" fmla="*/ 7924800 w 14554200"/>
              <a:gd name="csY13" fmla="*/ 6400799 h 6400799"/>
              <a:gd name="csX14" fmla="*/ 7924800 w 14554200"/>
              <a:gd name="csY14" fmla="*/ 6400798 h 6400799"/>
              <a:gd name="csX15" fmla="*/ 762000 w 14554200"/>
              <a:gd name="csY15" fmla="*/ 6400798 h 6400799"/>
              <a:gd name="csX16" fmla="*/ 762000 w 14554200"/>
              <a:gd name="csY16" fmla="*/ 6400797 h 6400799"/>
              <a:gd name="csX17" fmla="*/ 0 w 14554200"/>
              <a:gd name="csY17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400799">
                <a:moveTo>
                  <a:pt x="930902" y="179235"/>
                </a:moveTo>
                <a:lnTo>
                  <a:pt x="930902" y="2616750"/>
                </a:lnTo>
                <a:lnTo>
                  <a:pt x="10989302" y="2616750"/>
                </a:lnTo>
                <a:lnTo>
                  <a:pt x="10989302" y="179235"/>
                </a:lnTo>
                <a:lnTo>
                  <a:pt x="5426703" y="179235"/>
                </a:lnTo>
                <a:lnTo>
                  <a:pt x="1007102" y="179235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93017748-6435-DB06-2815-A3D69FEC7B26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BED9E6EC-A66D-C750-8A45-A0708646140A}"/>
              </a:ext>
            </a:extLst>
          </p:cNvPr>
          <p:cNvSpPr/>
          <p:nvPr/>
        </p:nvSpPr>
        <p:spPr>
          <a:xfrm>
            <a:off x="1295400" y="-1447800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</a:t>
            </a:r>
            <a:r>
              <a:rPr lang="en-US" sz="2800" dirty="0">
                <a:solidFill>
                  <a:schemeClr val="bg1"/>
                </a:solidFill>
              </a:rPr>
              <a:t>happens, where it goes, which neurons control it, what it encodes, </a:t>
            </a:r>
            <a:r>
              <a:rPr lang="en-US" sz="2800" dirty="0">
                <a:solidFill>
                  <a:srgbClr val="FF0000"/>
                </a:solidFill>
              </a:rPr>
              <a:t>is it actually vital to learning?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206CB00B-0676-F3BB-4C5E-128D47A139FD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987B709A-73F8-F9B9-6F42-F0EC9D149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5F0CD68-E068-6E4C-E5CC-53CEAD6FB3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8" name="!!T2">
            <a:extLst>
              <a:ext uri="{FF2B5EF4-FFF2-40B4-BE49-F238E27FC236}">
                <a16:creationId xmlns:a16="http://schemas.microsoft.com/office/drawing/2014/main" id="{78FCA3F1-7AC9-FA35-D399-DF30C1927B54}"/>
              </a:ext>
            </a:extLst>
          </p:cNvPr>
          <p:cNvSpPr/>
          <p:nvPr/>
        </p:nvSpPr>
        <p:spPr>
          <a:xfrm>
            <a:off x="-4235283" y="1841861"/>
            <a:ext cx="3242636" cy="348002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CORE INSIGHT   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DS2 encodes stationary, real-world position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4BBD752C-093F-FB84-7172-F4E099F9B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F956F271-1058-5646-A750-37FDFA4257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1AD71AF1-D267-BAE7-5323-A751BADF8E4D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3" name="!!M1">
            <a:extLst>
              <a:ext uri="{FF2B5EF4-FFF2-40B4-BE49-F238E27FC236}">
                <a16:creationId xmlns:a16="http://schemas.microsoft.com/office/drawing/2014/main" id="{DD7FEF26-8AC4-18CA-59AC-77757832529D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FA9873E7-F8B4-B7A1-6102-603240520524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1FDBB542-008C-99A5-1B9D-DE19A0FF7C17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C1189010-9779-C02A-3633-7670AA36BCA6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57936A3B-7279-33BC-1A7F-7CE3BD54F1A4}"/>
              </a:ext>
            </a:extLst>
          </p:cNvPr>
          <p:cNvSpPr/>
          <p:nvPr/>
        </p:nvSpPr>
        <p:spPr>
          <a:xfrm>
            <a:off x="-152400" y="3945"/>
            <a:ext cx="12496800" cy="45325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10000"/>
          </a:bodyPr>
          <a:lstStyle/>
          <a:p>
            <a:r>
              <a:rPr lang="en-US" sz="2800" b="1" dirty="0"/>
              <a:t>   </a:t>
            </a:r>
            <a:r>
              <a:rPr lang="en-US" sz="2800" b="1" u="sng" dirty="0"/>
              <a:t>DS2 Is Needed For Spatial Learning</a:t>
            </a:r>
          </a:p>
        </p:txBody>
      </p:sp>
      <p:sp>
        <p:nvSpPr>
          <p:cNvPr id="10" name="!!Focus">
            <a:extLst>
              <a:ext uri="{FF2B5EF4-FFF2-40B4-BE49-F238E27FC236}">
                <a16:creationId xmlns:a16="http://schemas.microsoft.com/office/drawing/2014/main" id="{2CA84C22-05C6-E526-99D3-A28FD37C5329}"/>
              </a:ext>
            </a:extLst>
          </p:cNvPr>
          <p:cNvSpPr/>
          <p:nvPr/>
        </p:nvSpPr>
        <p:spPr>
          <a:xfrm rot="10800000">
            <a:off x="304797" y="636436"/>
            <a:ext cx="4191002" cy="2335364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!!M5">
            <a:extLst>
              <a:ext uri="{FF2B5EF4-FFF2-40B4-BE49-F238E27FC236}">
                <a16:creationId xmlns:a16="http://schemas.microsoft.com/office/drawing/2014/main" id="{CCFAA913-7605-AEFA-E176-14D1D7AF8AD2}"/>
              </a:ext>
            </a:extLst>
          </p:cNvPr>
          <p:cNvSpPr>
            <a:spLocks/>
          </p:cNvSpPr>
          <p:nvPr/>
        </p:nvSpPr>
        <p:spPr>
          <a:xfrm>
            <a:off x="152400" y="5237577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A Conditioned Place Aversion test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564EF6A1-EF98-67BA-F5C7-1FE0CC5972FB}"/>
              </a:ext>
            </a:extLst>
          </p:cNvPr>
          <p:cNvSpPr>
            <a:spLocks/>
          </p:cNvSpPr>
          <p:nvPr/>
        </p:nvSpPr>
        <p:spPr>
          <a:xfrm>
            <a:off x="152400" y="4140751"/>
            <a:ext cx="11887200" cy="102028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Extended Figure 4a: </a:t>
            </a:r>
            <a:r>
              <a:rPr lang="en-US" sz="4400" dirty="0">
                <a:solidFill>
                  <a:srgbClr val="FF0000"/>
                </a:solidFill>
              </a:rPr>
              <a:t>Optogenetics silences DS2 during tone.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4573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57104-F487-30A0-4434-B03C6DC0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914648-94DC-5F7D-1395-AE469305C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6436"/>
            <a:ext cx="9719535" cy="9282702"/>
          </a:xfrm>
          <a:prstGeom prst="rect">
            <a:avLst/>
          </a:prstGeom>
          <a:ln w="38100">
            <a:noFill/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02F2D7-9011-EB80-873A-E9FBDC4A262C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0902 w 14554200"/>
              <a:gd name="csY0" fmla="*/ 179235 h 6400799"/>
              <a:gd name="csX1" fmla="*/ 930902 w 14554200"/>
              <a:gd name="csY1" fmla="*/ 2616750 h 6400799"/>
              <a:gd name="csX2" fmla="*/ 10989302 w 14554200"/>
              <a:gd name="csY2" fmla="*/ 2616750 h 6400799"/>
              <a:gd name="csX3" fmla="*/ 10989302 w 14554200"/>
              <a:gd name="csY3" fmla="*/ 179235 h 6400799"/>
              <a:gd name="csX4" fmla="*/ 5426703 w 14554200"/>
              <a:gd name="csY4" fmla="*/ 179235 h 6400799"/>
              <a:gd name="csX5" fmla="*/ 1007102 w 14554200"/>
              <a:gd name="csY5" fmla="*/ 179235 h 6400799"/>
              <a:gd name="csX6" fmla="*/ 0 w 14554200"/>
              <a:gd name="csY6" fmla="*/ 0 h 6400799"/>
              <a:gd name="csX7" fmla="*/ 685800 w 14554200"/>
              <a:gd name="csY7" fmla="*/ 0 h 6400799"/>
              <a:gd name="csX8" fmla="*/ 7696200 w 14554200"/>
              <a:gd name="csY8" fmla="*/ 0 h 6400799"/>
              <a:gd name="csX9" fmla="*/ 14554200 w 14554200"/>
              <a:gd name="csY9" fmla="*/ 0 h 6400799"/>
              <a:gd name="csX10" fmla="*/ 14554200 w 14554200"/>
              <a:gd name="csY10" fmla="*/ 6400797 h 6400799"/>
              <a:gd name="csX11" fmla="*/ 13508447 w 14554200"/>
              <a:gd name="csY11" fmla="*/ 6400797 h 6400799"/>
              <a:gd name="csX12" fmla="*/ 13508447 w 14554200"/>
              <a:gd name="csY12" fmla="*/ 6400799 h 6400799"/>
              <a:gd name="csX13" fmla="*/ 7924800 w 14554200"/>
              <a:gd name="csY13" fmla="*/ 6400799 h 6400799"/>
              <a:gd name="csX14" fmla="*/ 7924800 w 14554200"/>
              <a:gd name="csY14" fmla="*/ 6400798 h 6400799"/>
              <a:gd name="csX15" fmla="*/ 762000 w 14554200"/>
              <a:gd name="csY15" fmla="*/ 6400798 h 6400799"/>
              <a:gd name="csX16" fmla="*/ 762000 w 14554200"/>
              <a:gd name="csY16" fmla="*/ 6400797 h 6400799"/>
              <a:gd name="csX17" fmla="*/ 0 w 14554200"/>
              <a:gd name="csY17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400799">
                <a:moveTo>
                  <a:pt x="930902" y="179235"/>
                </a:moveTo>
                <a:lnTo>
                  <a:pt x="930902" y="2616750"/>
                </a:lnTo>
                <a:lnTo>
                  <a:pt x="10989302" y="2616750"/>
                </a:lnTo>
                <a:lnTo>
                  <a:pt x="10989302" y="179235"/>
                </a:lnTo>
                <a:lnTo>
                  <a:pt x="5426703" y="179235"/>
                </a:lnTo>
                <a:lnTo>
                  <a:pt x="1007102" y="179235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5ADFB8BE-5A98-60A0-BA0E-153C1D65E3AE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C08CC5AA-90F8-D8A3-2155-36E441E54808}"/>
              </a:ext>
            </a:extLst>
          </p:cNvPr>
          <p:cNvSpPr/>
          <p:nvPr/>
        </p:nvSpPr>
        <p:spPr>
          <a:xfrm>
            <a:off x="1295400" y="-1447800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</a:t>
            </a:r>
            <a:r>
              <a:rPr lang="en-US" sz="2800" dirty="0">
                <a:solidFill>
                  <a:schemeClr val="bg1"/>
                </a:solidFill>
              </a:rPr>
              <a:t>happens, where it goes, which neurons control it, what it encodes, </a:t>
            </a:r>
            <a:r>
              <a:rPr lang="en-US" sz="2800" dirty="0">
                <a:solidFill>
                  <a:srgbClr val="FF0000"/>
                </a:solidFill>
              </a:rPr>
              <a:t>is it actually vital to learning?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4CC4C302-0170-4568-648A-B4356369BCC0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924C1F8F-5960-CC95-08BA-2CDE3A82A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0CF2FA8-1AF1-6BBE-8B48-0E4DAAE8A9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8" name="!!T2">
            <a:extLst>
              <a:ext uri="{FF2B5EF4-FFF2-40B4-BE49-F238E27FC236}">
                <a16:creationId xmlns:a16="http://schemas.microsoft.com/office/drawing/2014/main" id="{3CDF6A42-1467-94B7-B4AA-10CD2765BB1E}"/>
              </a:ext>
            </a:extLst>
          </p:cNvPr>
          <p:cNvSpPr/>
          <p:nvPr/>
        </p:nvSpPr>
        <p:spPr>
          <a:xfrm>
            <a:off x="-4235283" y="1841861"/>
            <a:ext cx="3242636" cy="348002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CORE INSIGHT   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DS2 encodes stationary, real-world position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DF292E14-4030-4547-BF44-E29DFB14F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CE222FCB-6B23-8988-3F89-0A3528219C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03F0047F-76D8-8EBA-0B9D-67CB8CFE5E1A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M5">
            <a:extLst>
              <a:ext uri="{FF2B5EF4-FFF2-40B4-BE49-F238E27FC236}">
                <a16:creationId xmlns:a16="http://schemas.microsoft.com/office/drawing/2014/main" id="{A84E40B3-AFD1-926C-8AC9-AE57E4D38105}"/>
              </a:ext>
            </a:extLst>
          </p:cNvPr>
          <p:cNvSpPr>
            <a:spLocks/>
          </p:cNvSpPr>
          <p:nvPr/>
        </p:nvSpPr>
        <p:spPr>
          <a:xfrm>
            <a:off x="145595" y="5237576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Experimental Group: Laser in first 80ms 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3200" dirty="0">
                <a:solidFill>
                  <a:schemeClr val="bg1"/>
                </a:solidFill>
              </a:rPr>
              <a:t>No DS2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42" name="!!M5">
            <a:extLst>
              <a:ext uri="{FF2B5EF4-FFF2-40B4-BE49-F238E27FC236}">
                <a16:creationId xmlns:a16="http://schemas.microsoft.com/office/drawing/2014/main" id="{FD4921A8-6752-2DD8-BD6B-76800A1ADCB5}"/>
              </a:ext>
            </a:extLst>
          </p:cNvPr>
          <p:cNvSpPr>
            <a:spLocks/>
          </p:cNvSpPr>
          <p:nvPr/>
        </p:nvSpPr>
        <p:spPr>
          <a:xfrm>
            <a:off x="152400" y="5237577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A Conditioned Place Aversion test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45E1F2E0-AED9-C77C-0E4B-01E8BBD73BE4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0636CC3B-52D8-CA41-580A-5E64E7B25BB3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E31681C3-D430-F32B-6B2E-66FA028A42D6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93DC0311-F295-8BB3-5724-02B6B573EACA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8E60704C-6839-AB77-6D11-0BFBA1D49167}"/>
              </a:ext>
            </a:extLst>
          </p:cNvPr>
          <p:cNvSpPr/>
          <p:nvPr/>
        </p:nvSpPr>
        <p:spPr>
          <a:xfrm>
            <a:off x="-152400" y="3945"/>
            <a:ext cx="12496800" cy="45325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10000"/>
          </a:bodyPr>
          <a:lstStyle/>
          <a:p>
            <a:r>
              <a:rPr lang="en-US" sz="2800" b="1" dirty="0"/>
              <a:t>   </a:t>
            </a:r>
            <a:r>
              <a:rPr lang="en-US" sz="2800" b="1" u="sng" dirty="0"/>
              <a:t>DS2 Is Needed For Spatial Learning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EF9F363C-FEFF-F99B-FC68-6BFE06D89F65}"/>
              </a:ext>
            </a:extLst>
          </p:cNvPr>
          <p:cNvSpPr>
            <a:spLocks/>
          </p:cNvSpPr>
          <p:nvPr/>
        </p:nvSpPr>
        <p:spPr>
          <a:xfrm>
            <a:off x="152400" y="4140751"/>
            <a:ext cx="11887200" cy="102028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Extended Figure 4a: </a:t>
            </a:r>
            <a:r>
              <a:rPr lang="en-US" sz="4400" dirty="0">
                <a:solidFill>
                  <a:srgbClr val="FF0000"/>
                </a:solidFill>
              </a:rPr>
              <a:t>Optogenetics silences DS2 during tone.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10" name="!!Focus">
            <a:extLst>
              <a:ext uri="{FF2B5EF4-FFF2-40B4-BE49-F238E27FC236}">
                <a16:creationId xmlns:a16="http://schemas.microsoft.com/office/drawing/2014/main" id="{CA6EE8AA-FD03-1122-E3D3-5D34426470A5}"/>
              </a:ext>
            </a:extLst>
          </p:cNvPr>
          <p:cNvSpPr/>
          <p:nvPr/>
        </p:nvSpPr>
        <p:spPr>
          <a:xfrm rot="10800000">
            <a:off x="3505198" y="1079612"/>
            <a:ext cx="838201" cy="1511187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400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CCDB-67CA-2B47-D96F-E58E61A4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039FB1-2828-FE64-5824-8C10A6505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6436"/>
            <a:ext cx="9719535" cy="9282702"/>
          </a:xfrm>
          <a:prstGeom prst="rect">
            <a:avLst/>
          </a:prstGeom>
          <a:ln w="38100">
            <a:noFill/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B36642-3142-67DE-6D65-C157188D2BC0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0902 w 14554200"/>
              <a:gd name="csY0" fmla="*/ 179235 h 6400799"/>
              <a:gd name="csX1" fmla="*/ 930902 w 14554200"/>
              <a:gd name="csY1" fmla="*/ 2616750 h 6400799"/>
              <a:gd name="csX2" fmla="*/ 10989302 w 14554200"/>
              <a:gd name="csY2" fmla="*/ 2616750 h 6400799"/>
              <a:gd name="csX3" fmla="*/ 10989302 w 14554200"/>
              <a:gd name="csY3" fmla="*/ 179235 h 6400799"/>
              <a:gd name="csX4" fmla="*/ 5426703 w 14554200"/>
              <a:gd name="csY4" fmla="*/ 179235 h 6400799"/>
              <a:gd name="csX5" fmla="*/ 1007102 w 14554200"/>
              <a:gd name="csY5" fmla="*/ 179235 h 6400799"/>
              <a:gd name="csX6" fmla="*/ 0 w 14554200"/>
              <a:gd name="csY6" fmla="*/ 0 h 6400799"/>
              <a:gd name="csX7" fmla="*/ 685800 w 14554200"/>
              <a:gd name="csY7" fmla="*/ 0 h 6400799"/>
              <a:gd name="csX8" fmla="*/ 7696200 w 14554200"/>
              <a:gd name="csY8" fmla="*/ 0 h 6400799"/>
              <a:gd name="csX9" fmla="*/ 14554200 w 14554200"/>
              <a:gd name="csY9" fmla="*/ 0 h 6400799"/>
              <a:gd name="csX10" fmla="*/ 14554200 w 14554200"/>
              <a:gd name="csY10" fmla="*/ 6400797 h 6400799"/>
              <a:gd name="csX11" fmla="*/ 13508447 w 14554200"/>
              <a:gd name="csY11" fmla="*/ 6400797 h 6400799"/>
              <a:gd name="csX12" fmla="*/ 13508447 w 14554200"/>
              <a:gd name="csY12" fmla="*/ 6400799 h 6400799"/>
              <a:gd name="csX13" fmla="*/ 7924800 w 14554200"/>
              <a:gd name="csY13" fmla="*/ 6400799 h 6400799"/>
              <a:gd name="csX14" fmla="*/ 7924800 w 14554200"/>
              <a:gd name="csY14" fmla="*/ 6400798 h 6400799"/>
              <a:gd name="csX15" fmla="*/ 762000 w 14554200"/>
              <a:gd name="csY15" fmla="*/ 6400798 h 6400799"/>
              <a:gd name="csX16" fmla="*/ 762000 w 14554200"/>
              <a:gd name="csY16" fmla="*/ 6400797 h 6400799"/>
              <a:gd name="csX17" fmla="*/ 0 w 14554200"/>
              <a:gd name="csY17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400799">
                <a:moveTo>
                  <a:pt x="930902" y="179235"/>
                </a:moveTo>
                <a:lnTo>
                  <a:pt x="930902" y="2616750"/>
                </a:lnTo>
                <a:lnTo>
                  <a:pt x="10989302" y="2616750"/>
                </a:lnTo>
                <a:lnTo>
                  <a:pt x="10989302" y="179235"/>
                </a:lnTo>
                <a:lnTo>
                  <a:pt x="5426703" y="179235"/>
                </a:lnTo>
                <a:lnTo>
                  <a:pt x="1007102" y="179235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4CA4F1EE-A652-D05D-0C3A-0CA51877638F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9DD7FD3A-6656-727D-B722-EC990E3A5452}"/>
              </a:ext>
            </a:extLst>
          </p:cNvPr>
          <p:cNvSpPr/>
          <p:nvPr/>
        </p:nvSpPr>
        <p:spPr>
          <a:xfrm>
            <a:off x="1295400" y="-1447800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</a:t>
            </a:r>
            <a:r>
              <a:rPr lang="en-US" sz="2800" dirty="0">
                <a:solidFill>
                  <a:schemeClr val="bg1"/>
                </a:solidFill>
              </a:rPr>
              <a:t>happens, where it goes, which neurons control it, what it encodes, </a:t>
            </a:r>
            <a:r>
              <a:rPr lang="en-US" sz="2800" dirty="0">
                <a:solidFill>
                  <a:srgbClr val="FF0000"/>
                </a:solidFill>
              </a:rPr>
              <a:t>is it actually vital to learning?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008CBDE4-F28A-90E9-A35A-A9346725FF7E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90602A0C-C3E1-DB43-EBB6-70A010A82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9D183AE-C23F-B5D6-B766-48FC2ACB2E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8" name="!!T2">
            <a:extLst>
              <a:ext uri="{FF2B5EF4-FFF2-40B4-BE49-F238E27FC236}">
                <a16:creationId xmlns:a16="http://schemas.microsoft.com/office/drawing/2014/main" id="{C7AAC707-1442-B0D2-8FF6-745323EAA621}"/>
              </a:ext>
            </a:extLst>
          </p:cNvPr>
          <p:cNvSpPr/>
          <p:nvPr/>
        </p:nvSpPr>
        <p:spPr>
          <a:xfrm>
            <a:off x="-4235283" y="1841861"/>
            <a:ext cx="3242636" cy="348002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CORE INSIGHT   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DS2 encodes stationary, real-world position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B72E576A-F272-6AA2-89A9-0718DDD6F3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A6941065-6BE8-09C9-F713-9FF3C456DC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8106134C-8139-1062-6BE1-68A57F2F1DA4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" name="!!M5">
            <a:extLst>
              <a:ext uri="{FF2B5EF4-FFF2-40B4-BE49-F238E27FC236}">
                <a16:creationId xmlns:a16="http://schemas.microsoft.com/office/drawing/2014/main" id="{BBE19E47-E3CD-2900-FE00-B29D67F70228}"/>
              </a:ext>
            </a:extLst>
          </p:cNvPr>
          <p:cNvSpPr>
            <a:spLocks/>
          </p:cNvSpPr>
          <p:nvPr/>
        </p:nvSpPr>
        <p:spPr>
          <a:xfrm>
            <a:off x="145595" y="5237576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Experimental Group: Laser in first 80ms 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3200" dirty="0">
                <a:solidFill>
                  <a:schemeClr val="bg1"/>
                </a:solidFill>
              </a:rPr>
              <a:t>No DS2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42" name="!!M5">
            <a:extLst>
              <a:ext uri="{FF2B5EF4-FFF2-40B4-BE49-F238E27FC236}">
                <a16:creationId xmlns:a16="http://schemas.microsoft.com/office/drawing/2014/main" id="{9EBEF41F-CD02-7AD9-CE8F-0CBEAB0891A1}"/>
              </a:ext>
            </a:extLst>
          </p:cNvPr>
          <p:cNvSpPr>
            <a:spLocks/>
          </p:cNvSpPr>
          <p:nvPr/>
        </p:nvSpPr>
        <p:spPr>
          <a:xfrm>
            <a:off x="152400" y="5237577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A Conditioned Place Aversion test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F74C3FA4-7512-64A3-94EB-2D1EFB1A9A77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F2948AD4-C375-8959-ED90-B4440A5FDBD3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5C83259C-5392-14A8-DF25-C00BD48423D4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8B28488C-B804-894D-8CC4-DEA29513ECD3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2CA27C82-0FA8-98BA-EE90-82BE8D155B1A}"/>
              </a:ext>
            </a:extLst>
          </p:cNvPr>
          <p:cNvSpPr/>
          <p:nvPr/>
        </p:nvSpPr>
        <p:spPr>
          <a:xfrm>
            <a:off x="-152400" y="3945"/>
            <a:ext cx="12496800" cy="45325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10000"/>
          </a:bodyPr>
          <a:lstStyle/>
          <a:p>
            <a:r>
              <a:rPr lang="en-US" sz="2800" b="1" dirty="0"/>
              <a:t>   </a:t>
            </a:r>
            <a:r>
              <a:rPr lang="en-US" sz="2800" b="1" u="sng" dirty="0"/>
              <a:t>DS2 Is Needed For Spatial Learning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7C059E1D-02C1-983B-78A0-1737624B91BA}"/>
              </a:ext>
            </a:extLst>
          </p:cNvPr>
          <p:cNvSpPr>
            <a:spLocks/>
          </p:cNvSpPr>
          <p:nvPr/>
        </p:nvSpPr>
        <p:spPr>
          <a:xfrm>
            <a:off x="152400" y="4140751"/>
            <a:ext cx="11887200" cy="102028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Extended Figure 4a: </a:t>
            </a:r>
            <a:r>
              <a:rPr lang="en-US" sz="4400" dirty="0">
                <a:solidFill>
                  <a:srgbClr val="FF0000"/>
                </a:solidFill>
              </a:rPr>
              <a:t>Optogenetics silences DS2 during tone.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10" name="!!Focus">
            <a:extLst>
              <a:ext uri="{FF2B5EF4-FFF2-40B4-BE49-F238E27FC236}">
                <a16:creationId xmlns:a16="http://schemas.microsoft.com/office/drawing/2014/main" id="{0DED8541-2787-BC1A-40A5-CC5B930B75E0}"/>
              </a:ext>
            </a:extLst>
          </p:cNvPr>
          <p:cNvSpPr/>
          <p:nvPr/>
        </p:nvSpPr>
        <p:spPr>
          <a:xfrm rot="10800000">
            <a:off x="5257798" y="1523999"/>
            <a:ext cx="1676401" cy="457198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259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83DFE-32F5-A40C-C049-3E469ADD4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EE55BA-76EA-178F-D3FB-9817EAFEE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6436"/>
            <a:ext cx="9719535" cy="9282702"/>
          </a:xfrm>
          <a:prstGeom prst="rect">
            <a:avLst/>
          </a:prstGeom>
          <a:ln w="38100">
            <a:noFill/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BA67D8-BF69-04FA-7EEB-D6E02B8908E8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0902 w 14554200"/>
              <a:gd name="csY0" fmla="*/ 179235 h 6400799"/>
              <a:gd name="csX1" fmla="*/ 930902 w 14554200"/>
              <a:gd name="csY1" fmla="*/ 2616750 h 6400799"/>
              <a:gd name="csX2" fmla="*/ 10989302 w 14554200"/>
              <a:gd name="csY2" fmla="*/ 2616750 h 6400799"/>
              <a:gd name="csX3" fmla="*/ 10989302 w 14554200"/>
              <a:gd name="csY3" fmla="*/ 179235 h 6400799"/>
              <a:gd name="csX4" fmla="*/ 5426703 w 14554200"/>
              <a:gd name="csY4" fmla="*/ 179235 h 6400799"/>
              <a:gd name="csX5" fmla="*/ 1007102 w 14554200"/>
              <a:gd name="csY5" fmla="*/ 179235 h 6400799"/>
              <a:gd name="csX6" fmla="*/ 0 w 14554200"/>
              <a:gd name="csY6" fmla="*/ 0 h 6400799"/>
              <a:gd name="csX7" fmla="*/ 685800 w 14554200"/>
              <a:gd name="csY7" fmla="*/ 0 h 6400799"/>
              <a:gd name="csX8" fmla="*/ 7696200 w 14554200"/>
              <a:gd name="csY8" fmla="*/ 0 h 6400799"/>
              <a:gd name="csX9" fmla="*/ 14554200 w 14554200"/>
              <a:gd name="csY9" fmla="*/ 0 h 6400799"/>
              <a:gd name="csX10" fmla="*/ 14554200 w 14554200"/>
              <a:gd name="csY10" fmla="*/ 6400797 h 6400799"/>
              <a:gd name="csX11" fmla="*/ 13508447 w 14554200"/>
              <a:gd name="csY11" fmla="*/ 6400797 h 6400799"/>
              <a:gd name="csX12" fmla="*/ 13508447 w 14554200"/>
              <a:gd name="csY12" fmla="*/ 6400799 h 6400799"/>
              <a:gd name="csX13" fmla="*/ 7924800 w 14554200"/>
              <a:gd name="csY13" fmla="*/ 6400799 h 6400799"/>
              <a:gd name="csX14" fmla="*/ 7924800 w 14554200"/>
              <a:gd name="csY14" fmla="*/ 6400798 h 6400799"/>
              <a:gd name="csX15" fmla="*/ 762000 w 14554200"/>
              <a:gd name="csY15" fmla="*/ 6400798 h 6400799"/>
              <a:gd name="csX16" fmla="*/ 762000 w 14554200"/>
              <a:gd name="csY16" fmla="*/ 6400797 h 6400799"/>
              <a:gd name="csX17" fmla="*/ 0 w 14554200"/>
              <a:gd name="csY17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400799">
                <a:moveTo>
                  <a:pt x="930902" y="179235"/>
                </a:moveTo>
                <a:lnTo>
                  <a:pt x="930902" y="2616750"/>
                </a:lnTo>
                <a:lnTo>
                  <a:pt x="10989302" y="2616750"/>
                </a:lnTo>
                <a:lnTo>
                  <a:pt x="10989302" y="179235"/>
                </a:lnTo>
                <a:lnTo>
                  <a:pt x="5426703" y="179235"/>
                </a:lnTo>
                <a:lnTo>
                  <a:pt x="1007102" y="179235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91153008-E06A-07AF-9823-7584A72D11B4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771CDAA2-F5F5-C68D-3812-A15D44AA84F6}"/>
              </a:ext>
            </a:extLst>
          </p:cNvPr>
          <p:cNvSpPr/>
          <p:nvPr/>
        </p:nvSpPr>
        <p:spPr>
          <a:xfrm>
            <a:off x="1295400" y="-1447800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</a:t>
            </a:r>
            <a:r>
              <a:rPr lang="en-US" sz="2800" dirty="0">
                <a:solidFill>
                  <a:schemeClr val="bg1"/>
                </a:solidFill>
              </a:rPr>
              <a:t>happens, where it goes, which neurons control it, what it encodes, </a:t>
            </a:r>
            <a:r>
              <a:rPr lang="en-US" sz="2800" dirty="0">
                <a:solidFill>
                  <a:srgbClr val="FF0000"/>
                </a:solidFill>
              </a:rPr>
              <a:t>is it actually vital to learning?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7CCF8A97-F181-7F54-7C36-FCD5967287B7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FDC3FD1E-1074-D04E-A700-9A049E65B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B6394BA-DBE1-E37D-CDDD-498F844DFB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8" name="!!T2">
            <a:extLst>
              <a:ext uri="{FF2B5EF4-FFF2-40B4-BE49-F238E27FC236}">
                <a16:creationId xmlns:a16="http://schemas.microsoft.com/office/drawing/2014/main" id="{B7A6BA08-5BE1-1A2A-C011-96021B52E45A}"/>
              </a:ext>
            </a:extLst>
          </p:cNvPr>
          <p:cNvSpPr/>
          <p:nvPr/>
        </p:nvSpPr>
        <p:spPr>
          <a:xfrm>
            <a:off x="-4235283" y="1841861"/>
            <a:ext cx="3242636" cy="348002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CORE INSIGHT   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DS2 encodes stationary, real-world position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CDAD18EE-FE3B-5FFE-4934-B40666861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64BBD459-8A54-3BF3-908B-84915CDA37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D3F49C19-3107-4ECE-8C75-3F34BA8453AF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5">
            <a:extLst>
              <a:ext uri="{FF2B5EF4-FFF2-40B4-BE49-F238E27FC236}">
                <a16:creationId xmlns:a16="http://schemas.microsoft.com/office/drawing/2014/main" id="{92B482AC-46DE-9BF3-DD03-8489C34D4270}"/>
              </a:ext>
            </a:extLst>
          </p:cNvPr>
          <p:cNvSpPr>
            <a:spLocks/>
          </p:cNvSpPr>
          <p:nvPr/>
        </p:nvSpPr>
        <p:spPr>
          <a:xfrm>
            <a:off x="5652662" y="5257800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Control Group: Laser in last 80ms 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3200" dirty="0">
                <a:solidFill>
                  <a:schemeClr val="bg1"/>
                </a:solidFill>
              </a:rPr>
              <a:t>DS2 intact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2" name="!!M5">
            <a:extLst>
              <a:ext uri="{FF2B5EF4-FFF2-40B4-BE49-F238E27FC236}">
                <a16:creationId xmlns:a16="http://schemas.microsoft.com/office/drawing/2014/main" id="{A8E47D87-9238-48A8-F336-465AF9ADED4F}"/>
              </a:ext>
            </a:extLst>
          </p:cNvPr>
          <p:cNvSpPr>
            <a:spLocks/>
          </p:cNvSpPr>
          <p:nvPr/>
        </p:nvSpPr>
        <p:spPr>
          <a:xfrm>
            <a:off x="5652662" y="5237576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Experimental Group: Laser in first 80ms 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3200" dirty="0">
                <a:solidFill>
                  <a:schemeClr val="bg1"/>
                </a:solidFill>
              </a:rPr>
              <a:t>No DS2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42" name="!!M5">
            <a:extLst>
              <a:ext uri="{FF2B5EF4-FFF2-40B4-BE49-F238E27FC236}">
                <a16:creationId xmlns:a16="http://schemas.microsoft.com/office/drawing/2014/main" id="{B1FA218E-AF7B-0A7D-A4FD-1915A5D268AF}"/>
              </a:ext>
            </a:extLst>
          </p:cNvPr>
          <p:cNvSpPr>
            <a:spLocks/>
          </p:cNvSpPr>
          <p:nvPr/>
        </p:nvSpPr>
        <p:spPr>
          <a:xfrm>
            <a:off x="152400" y="5237577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A Conditioned Place Aversion test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BFE14898-AB1A-263F-3369-481765C3D993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2DE04C36-720C-54DD-9C16-3760AB192027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F798A5B4-F37C-7440-AA14-90401A77D929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7BF61693-62C7-B493-D895-0781CFFA892D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C8EA4384-9BDA-54C4-DD90-EA167FA590CF}"/>
              </a:ext>
            </a:extLst>
          </p:cNvPr>
          <p:cNvSpPr/>
          <p:nvPr/>
        </p:nvSpPr>
        <p:spPr>
          <a:xfrm>
            <a:off x="-152400" y="3945"/>
            <a:ext cx="12496800" cy="45325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10000"/>
          </a:bodyPr>
          <a:lstStyle/>
          <a:p>
            <a:r>
              <a:rPr lang="en-US" sz="2800" b="1" dirty="0"/>
              <a:t>   </a:t>
            </a:r>
            <a:r>
              <a:rPr lang="en-US" sz="2800" b="1" u="sng" dirty="0"/>
              <a:t>DS2 Is Needed For Spatial Learning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72A72E80-1B83-F6D6-E1E2-E4DCCF4EB64E}"/>
              </a:ext>
            </a:extLst>
          </p:cNvPr>
          <p:cNvSpPr>
            <a:spLocks/>
          </p:cNvSpPr>
          <p:nvPr/>
        </p:nvSpPr>
        <p:spPr>
          <a:xfrm>
            <a:off x="152400" y="4140751"/>
            <a:ext cx="11887200" cy="102028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Extended Figure 4a: </a:t>
            </a:r>
            <a:r>
              <a:rPr lang="en-US" sz="4400" dirty="0">
                <a:solidFill>
                  <a:srgbClr val="FF0000"/>
                </a:solidFill>
              </a:rPr>
              <a:t>Optogenetics silences DS2 during tone.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10" name="!!Focus">
            <a:extLst>
              <a:ext uri="{FF2B5EF4-FFF2-40B4-BE49-F238E27FC236}">
                <a16:creationId xmlns:a16="http://schemas.microsoft.com/office/drawing/2014/main" id="{4B8A0540-7D87-E319-EEDC-B806BC0F3034}"/>
              </a:ext>
            </a:extLst>
          </p:cNvPr>
          <p:cNvSpPr/>
          <p:nvPr/>
        </p:nvSpPr>
        <p:spPr>
          <a:xfrm rot="10800000">
            <a:off x="8763000" y="1371599"/>
            <a:ext cx="152400" cy="804839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510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2569E-69A7-C978-8E18-B04AEC927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63BC98-31BA-17CE-0054-526C1D98C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636436"/>
            <a:ext cx="9719535" cy="9282702"/>
          </a:xfrm>
          <a:prstGeom prst="rect">
            <a:avLst/>
          </a:prstGeom>
          <a:ln w="38100">
            <a:noFill/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3ADAE7-3F7D-DFDA-2F93-B44CF54EF569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0902 w 14554200"/>
              <a:gd name="csY0" fmla="*/ 179235 h 6400799"/>
              <a:gd name="csX1" fmla="*/ 930902 w 14554200"/>
              <a:gd name="csY1" fmla="*/ 2616750 h 6400799"/>
              <a:gd name="csX2" fmla="*/ 10989302 w 14554200"/>
              <a:gd name="csY2" fmla="*/ 2616750 h 6400799"/>
              <a:gd name="csX3" fmla="*/ 10989302 w 14554200"/>
              <a:gd name="csY3" fmla="*/ 179235 h 6400799"/>
              <a:gd name="csX4" fmla="*/ 5426703 w 14554200"/>
              <a:gd name="csY4" fmla="*/ 179235 h 6400799"/>
              <a:gd name="csX5" fmla="*/ 1007102 w 14554200"/>
              <a:gd name="csY5" fmla="*/ 179235 h 6400799"/>
              <a:gd name="csX6" fmla="*/ 0 w 14554200"/>
              <a:gd name="csY6" fmla="*/ 0 h 6400799"/>
              <a:gd name="csX7" fmla="*/ 685800 w 14554200"/>
              <a:gd name="csY7" fmla="*/ 0 h 6400799"/>
              <a:gd name="csX8" fmla="*/ 7696200 w 14554200"/>
              <a:gd name="csY8" fmla="*/ 0 h 6400799"/>
              <a:gd name="csX9" fmla="*/ 14554200 w 14554200"/>
              <a:gd name="csY9" fmla="*/ 0 h 6400799"/>
              <a:gd name="csX10" fmla="*/ 14554200 w 14554200"/>
              <a:gd name="csY10" fmla="*/ 6400797 h 6400799"/>
              <a:gd name="csX11" fmla="*/ 13508447 w 14554200"/>
              <a:gd name="csY11" fmla="*/ 6400797 h 6400799"/>
              <a:gd name="csX12" fmla="*/ 13508447 w 14554200"/>
              <a:gd name="csY12" fmla="*/ 6400799 h 6400799"/>
              <a:gd name="csX13" fmla="*/ 7924800 w 14554200"/>
              <a:gd name="csY13" fmla="*/ 6400799 h 6400799"/>
              <a:gd name="csX14" fmla="*/ 7924800 w 14554200"/>
              <a:gd name="csY14" fmla="*/ 6400798 h 6400799"/>
              <a:gd name="csX15" fmla="*/ 762000 w 14554200"/>
              <a:gd name="csY15" fmla="*/ 6400798 h 6400799"/>
              <a:gd name="csX16" fmla="*/ 762000 w 14554200"/>
              <a:gd name="csY16" fmla="*/ 6400797 h 6400799"/>
              <a:gd name="csX17" fmla="*/ 0 w 14554200"/>
              <a:gd name="csY17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400799">
                <a:moveTo>
                  <a:pt x="930902" y="179235"/>
                </a:moveTo>
                <a:lnTo>
                  <a:pt x="930902" y="2616750"/>
                </a:lnTo>
                <a:lnTo>
                  <a:pt x="10989302" y="2616750"/>
                </a:lnTo>
                <a:lnTo>
                  <a:pt x="10989302" y="179235"/>
                </a:lnTo>
                <a:lnTo>
                  <a:pt x="5426703" y="179235"/>
                </a:lnTo>
                <a:lnTo>
                  <a:pt x="1007102" y="179235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16CCA1FC-616E-746F-3E8A-BC22FB64AF77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16871105-C720-04B5-84DF-FB3CE0419F17}"/>
              </a:ext>
            </a:extLst>
          </p:cNvPr>
          <p:cNvSpPr/>
          <p:nvPr/>
        </p:nvSpPr>
        <p:spPr>
          <a:xfrm>
            <a:off x="1295400" y="-1447800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</a:t>
            </a:r>
            <a:r>
              <a:rPr lang="en-US" sz="2800" dirty="0">
                <a:solidFill>
                  <a:schemeClr val="bg1"/>
                </a:solidFill>
              </a:rPr>
              <a:t>happens, where it goes, which neurons control it, what it encodes, </a:t>
            </a:r>
            <a:r>
              <a:rPr lang="en-US" sz="2800" dirty="0">
                <a:solidFill>
                  <a:srgbClr val="FF0000"/>
                </a:solidFill>
              </a:rPr>
              <a:t>is it actually vital to learning?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B0D1A809-A962-DA1F-01A7-42DF16E63179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FD38D1A7-D74F-7A09-F9B9-BA6B87933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BC92CDF-F2A5-0045-1CB4-098B76A025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8" name="!!T2">
            <a:extLst>
              <a:ext uri="{FF2B5EF4-FFF2-40B4-BE49-F238E27FC236}">
                <a16:creationId xmlns:a16="http://schemas.microsoft.com/office/drawing/2014/main" id="{9F71768E-97C0-CACD-00AB-1AF20380B658}"/>
              </a:ext>
            </a:extLst>
          </p:cNvPr>
          <p:cNvSpPr/>
          <p:nvPr/>
        </p:nvSpPr>
        <p:spPr>
          <a:xfrm>
            <a:off x="-4235283" y="1841861"/>
            <a:ext cx="3242636" cy="348002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CORE INSIGHT   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DS2 encodes stationary, real-world position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0A217022-AC38-05F4-055E-F394BF61F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79C8E38B-2075-EA20-A14C-4B1FBB36E9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4F70FD7E-0681-F786-344D-332F1F326535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5">
            <a:extLst>
              <a:ext uri="{FF2B5EF4-FFF2-40B4-BE49-F238E27FC236}">
                <a16:creationId xmlns:a16="http://schemas.microsoft.com/office/drawing/2014/main" id="{CBDA86B8-CC54-0B91-3F38-12DBDD876545}"/>
              </a:ext>
            </a:extLst>
          </p:cNvPr>
          <p:cNvSpPr>
            <a:spLocks/>
          </p:cNvSpPr>
          <p:nvPr/>
        </p:nvSpPr>
        <p:spPr>
          <a:xfrm>
            <a:off x="5652662" y="5867740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Control Group: Laser in last 80ms 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3200" dirty="0">
                <a:solidFill>
                  <a:schemeClr val="bg1"/>
                </a:solidFill>
              </a:rPr>
              <a:t>DS2 intact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2" name="!!M5">
            <a:extLst>
              <a:ext uri="{FF2B5EF4-FFF2-40B4-BE49-F238E27FC236}">
                <a16:creationId xmlns:a16="http://schemas.microsoft.com/office/drawing/2014/main" id="{5C94DBA2-735D-7BDC-5B9C-10F283E62672}"/>
              </a:ext>
            </a:extLst>
          </p:cNvPr>
          <p:cNvSpPr>
            <a:spLocks/>
          </p:cNvSpPr>
          <p:nvPr/>
        </p:nvSpPr>
        <p:spPr>
          <a:xfrm>
            <a:off x="5652662" y="5237576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Experimental Group: Laser in first 80ms 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3200" dirty="0">
                <a:solidFill>
                  <a:schemeClr val="bg1"/>
                </a:solidFill>
              </a:rPr>
              <a:t>No DS2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42" name="!!M5">
            <a:extLst>
              <a:ext uri="{FF2B5EF4-FFF2-40B4-BE49-F238E27FC236}">
                <a16:creationId xmlns:a16="http://schemas.microsoft.com/office/drawing/2014/main" id="{C10C390F-FE85-505E-D7D8-2C49D7D7F51B}"/>
              </a:ext>
            </a:extLst>
          </p:cNvPr>
          <p:cNvSpPr>
            <a:spLocks/>
          </p:cNvSpPr>
          <p:nvPr/>
        </p:nvSpPr>
        <p:spPr>
          <a:xfrm>
            <a:off x="152400" y="5237577"/>
            <a:ext cx="528764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A Conditioned Place Aversion test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70951C97-8DBF-A692-149A-523B8AB860A4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1F108BD7-5C5E-02D0-A1A9-7964CA90D1A3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424DFD7A-1855-D041-593A-E84C058C49BE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AB198D13-0F05-C1D7-07F4-3242875E6288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7C1C6BD1-5196-16C0-DD19-733FE3D458DD}"/>
              </a:ext>
            </a:extLst>
          </p:cNvPr>
          <p:cNvSpPr/>
          <p:nvPr/>
        </p:nvSpPr>
        <p:spPr>
          <a:xfrm>
            <a:off x="-152400" y="3945"/>
            <a:ext cx="12496800" cy="45325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10000"/>
          </a:bodyPr>
          <a:lstStyle/>
          <a:p>
            <a:r>
              <a:rPr lang="en-US" sz="2800" b="1" dirty="0"/>
              <a:t>   </a:t>
            </a:r>
            <a:r>
              <a:rPr lang="en-US" sz="2800" b="1" u="sng" dirty="0"/>
              <a:t>DS2 Is Needed For Spatial Learning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00C052F9-74B7-B833-97A3-8C93A638207C}"/>
              </a:ext>
            </a:extLst>
          </p:cNvPr>
          <p:cNvSpPr>
            <a:spLocks/>
          </p:cNvSpPr>
          <p:nvPr/>
        </p:nvSpPr>
        <p:spPr>
          <a:xfrm>
            <a:off x="152400" y="4140751"/>
            <a:ext cx="11887200" cy="102028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Extended Figure 4a: </a:t>
            </a:r>
            <a:r>
              <a:rPr lang="en-US" sz="4400" dirty="0">
                <a:solidFill>
                  <a:srgbClr val="FF0000"/>
                </a:solidFill>
              </a:rPr>
              <a:t>Optogenetics silences DS2 during tone.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10" name="!!Focus">
            <a:extLst>
              <a:ext uri="{FF2B5EF4-FFF2-40B4-BE49-F238E27FC236}">
                <a16:creationId xmlns:a16="http://schemas.microsoft.com/office/drawing/2014/main" id="{22EAFF46-7000-FD66-CDC1-7EF973601F88}"/>
              </a:ext>
            </a:extLst>
          </p:cNvPr>
          <p:cNvSpPr/>
          <p:nvPr/>
        </p:nvSpPr>
        <p:spPr>
          <a:xfrm rot="10800000">
            <a:off x="9174622" y="1371599"/>
            <a:ext cx="167356" cy="47026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!!Focus2">
            <a:extLst>
              <a:ext uri="{FF2B5EF4-FFF2-40B4-BE49-F238E27FC236}">
                <a16:creationId xmlns:a16="http://schemas.microsoft.com/office/drawing/2014/main" id="{133AAC71-BB0F-3DDB-BBD6-CD8D58BD8A3C}"/>
              </a:ext>
            </a:extLst>
          </p:cNvPr>
          <p:cNvSpPr/>
          <p:nvPr/>
        </p:nvSpPr>
        <p:spPr>
          <a:xfrm rot="10800000">
            <a:off x="9178335" y="1371514"/>
            <a:ext cx="167356" cy="470262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0"/>
            </a:schemeClr>
          </a:solidFill>
          <a:ln w="44450" cap="rnd" cmpd="tri">
            <a:solidFill>
              <a:schemeClr val="accent1">
                <a:lumMod val="60000"/>
                <a:lumOff val="40000"/>
                <a:alpha val="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720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D7B65-0775-CD75-D4CB-D01A503A6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259C5E-7D55-F12F-AB07-92BBC3F64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-1891302"/>
            <a:ext cx="9719535" cy="9282702"/>
          </a:xfrm>
          <a:prstGeom prst="rect">
            <a:avLst/>
          </a:prstGeom>
          <a:ln w="38100">
            <a:noFill/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0611515-F14F-3DE2-EA5C-3C30705163B3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0902 w 14554200"/>
              <a:gd name="csY0" fmla="*/ 179235 h 6400799"/>
              <a:gd name="csX1" fmla="*/ 930902 w 14554200"/>
              <a:gd name="csY1" fmla="*/ 2616750 h 6400799"/>
              <a:gd name="csX2" fmla="*/ 10989302 w 14554200"/>
              <a:gd name="csY2" fmla="*/ 2616750 h 6400799"/>
              <a:gd name="csX3" fmla="*/ 10989302 w 14554200"/>
              <a:gd name="csY3" fmla="*/ 179235 h 6400799"/>
              <a:gd name="csX4" fmla="*/ 5426703 w 14554200"/>
              <a:gd name="csY4" fmla="*/ 179235 h 6400799"/>
              <a:gd name="csX5" fmla="*/ 1007102 w 14554200"/>
              <a:gd name="csY5" fmla="*/ 179235 h 6400799"/>
              <a:gd name="csX6" fmla="*/ 0 w 14554200"/>
              <a:gd name="csY6" fmla="*/ 0 h 6400799"/>
              <a:gd name="csX7" fmla="*/ 685800 w 14554200"/>
              <a:gd name="csY7" fmla="*/ 0 h 6400799"/>
              <a:gd name="csX8" fmla="*/ 7696200 w 14554200"/>
              <a:gd name="csY8" fmla="*/ 0 h 6400799"/>
              <a:gd name="csX9" fmla="*/ 14554200 w 14554200"/>
              <a:gd name="csY9" fmla="*/ 0 h 6400799"/>
              <a:gd name="csX10" fmla="*/ 14554200 w 14554200"/>
              <a:gd name="csY10" fmla="*/ 6400797 h 6400799"/>
              <a:gd name="csX11" fmla="*/ 13508447 w 14554200"/>
              <a:gd name="csY11" fmla="*/ 6400797 h 6400799"/>
              <a:gd name="csX12" fmla="*/ 13508447 w 14554200"/>
              <a:gd name="csY12" fmla="*/ 6400799 h 6400799"/>
              <a:gd name="csX13" fmla="*/ 7924800 w 14554200"/>
              <a:gd name="csY13" fmla="*/ 6400799 h 6400799"/>
              <a:gd name="csX14" fmla="*/ 7924800 w 14554200"/>
              <a:gd name="csY14" fmla="*/ 6400798 h 6400799"/>
              <a:gd name="csX15" fmla="*/ 762000 w 14554200"/>
              <a:gd name="csY15" fmla="*/ 6400798 h 6400799"/>
              <a:gd name="csX16" fmla="*/ 762000 w 14554200"/>
              <a:gd name="csY16" fmla="*/ 6400797 h 6400799"/>
              <a:gd name="csX17" fmla="*/ 0 w 14554200"/>
              <a:gd name="csY17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554200" h="6400799">
                <a:moveTo>
                  <a:pt x="930902" y="179235"/>
                </a:moveTo>
                <a:lnTo>
                  <a:pt x="930902" y="2616750"/>
                </a:lnTo>
                <a:lnTo>
                  <a:pt x="10989302" y="2616750"/>
                </a:lnTo>
                <a:lnTo>
                  <a:pt x="10989302" y="179235"/>
                </a:lnTo>
                <a:lnTo>
                  <a:pt x="5426703" y="179235"/>
                </a:lnTo>
                <a:lnTo>
                  <a:pt x="1007102" y="179235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277683BF-5A2A-A7F6-2A92-B8AF6172991B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!!M3_">
            <a:extLst>
              <a:ext uri="{FF2B5EF4-FFF2-40B4-BE49-F238E27FC236}">
                <a16:creationId xmlns:a16="http://schemas.microsoft.com/office/drawing/2014/main" id="{8AC50242-7514-39BD-0873-3934EE8932E2}"/>
              </a:ext>
            </a:extLst>
          </p:cNvPr>
          <p:cNvSpPr/>
          <p:nvPr/>
        </p:nvSpPr>
        <p:spPr>
          <a:xfrm>
            <a:off x="1295400" y="-1447800"/>
            <a:ext cx="9982199" cy="838201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800" dirty="0"/>
              <a:t>We know when it </a:t>
            </a:r>
            <a:r>
              <a:rPr lang="en-US" sz="2800" dirty="0">
                <a:solidFill>
                  <a:schemeClr val="bg1"/>
                </a:solidFill>
              </a:rPr>
              <a:t>happens, where it goes, which neurons control it, what it encodes, </a:t>
            </a:r>
            <a:r>
              <a:rPr lang="en-US" sz="2800" dirty="0">
                <a:solidFill>
                  <a:srgbClr val="FF0000"/>
                </a:solidFill>
              </a:rPr>
              <a:t>is it actually vital to learning?</a:t>
            </a:r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20519025-D3B0-DB77-944D-CE5EAA8D96B0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69D04786-D614-9B6B-E4EC-02293FC4B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A28B696-B00D-D02C-E986-676F91340B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8" name="!!T2">
            <a:extLst>
              <a:ext uri="{FF2B5EF4-FFF2-40B4-BE49-F238E27FC236}">
                <a16:creationId xmlns:a16="http://schemas.microsoft.com/office/drawing/2014/main" id="{4C517256-436F-D9D3-D56F-F708B736252B}"/>
              </a:ext>
            </a:extLst>
          </p:cNvPr>
          <p:cNvSpPr/>
          <p:nvPr/>
        </p:nvSpPr>
        <p:spPr>
          <a:xfrm>
            <a:off x="-4235283" y="1841861"/>
            <a:ext cx="3242636" cy="348002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CORE INSIGHT   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DS2 encodes stationary, real-world position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CAE87F70-A582-272F-F480-7C2107D30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A643316D-9F87-3000-E6C6-A5BF8595BC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AFD10A65-D386-254E-AD11-0793CC37787E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5">
            <a:extLst>
              <a:ext uri="{FF2B5EF4-FFF2-40B4-BE49-F238E27FC236}">
                <a16:creationId xmlns:a16="http://schemas.microsoft.com/office/drawing/2014/main" id="{0FF2D4A8-1430-5392-C528-335722789167}"/>
              </a:ext>
            </a:extLst>
          </p:cNvPr>
          <p:cNvSpPr>
            <a:spLocks/>
          </p:cNvSpPr>
          <p:nvPr/>
        </p:nvSpPr>
        <p:spPr>
          <a:xfrm>
            <a:off x="186967" y="5698826"/>
            <a:ext cx="4035133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Control Group: Laser in last 80ms 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3200" dirty="0">
                <a:solidFill>
                  <a:schemeClr val="bg1"/>
                </a:solidFill>
              </a:rPr>
              <a:t>DS2 intact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2" name="!!M5">
            <a:extLst>
              <a:ext uri="{FF2B5EF4-FFF2-40B4-BE49-F238E27FC236}">
                <a16:creationId xmlns:a16="http://schemas.microsoft.com/office/drawing/2014/main" id="{E55F0240-BB2A-B113-815F-047B5AC12D0C}"/>
              </a:ext>
            </a:extLst>
          </p:cNvPr>
          <p:cNvSpPr>
            <a:spLocks/>
          </p:cNvSpPr>
          <p:nvPr/>
        </p:nvSpPr>
        <p:spPr>
          <a:xfrm>
            <a:off x="165197" y="5698826"/>
            <a:ext cx="3873404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Experimental Group: Laser in first 80ms </a:t>
            </a:r>
            <a:r>
              <a:rPr lang="en-US" sz="32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3200" dirty="0">
                <a:solidFill>
                  <a:schemeClr val="bg1"/>
                </a:solidFill>
              </a:rPr>
              <a:t>No DS2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42" name="!!M5">
            <a:extLst>
              <a:ext uri="{FF2B5EF4-FFF2-40B4-BE49-F238E27FC236}">
                <a16:creationId xmlns:a16="http://schemas.microsoft.com/office/drawing/2014/main" id="{D21FA903-1DB3-3190-7F95-CBE57D6A07F2}"/>
              </a:ext>
            </a:extLst>
          </p:cNvPr>
          <p:cNvSpPr>
            <a:spLocks/>
          </p:cNvSpPr>
          <p:nvPr/>
        </p:nvSpPr>
        <p:spPr>
          <a:xfrm>
            <a:off x="211865" y="5698827"/>
            <a:ext cx="4035133" cy="5536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A Conditioned Place Aversion test</a:t>
            </a:r>
            <a:endParaRPr lang="en-US" sz="3200" u="sng" dirty="0">
              <a:solidFill>
                <a:schemeClr val="bg1"/>
              </a:solidFill>
            </a:endParaRP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36546BE8-FB13-36CC-9F46-2179DE9E81F6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27AC6339-BCA2-C2E5-9C48-E1E17F8FBC16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A6716F1E-C0B8-6999-80B1-FFD16D8967F2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9F4E2901-5ED6-221B-A2D9-FE8363E5EA80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0213EBA6-9B4E-460B-7A96-A8EBC42436E1}"/>
              </a:ext>
            </a:extLst>
          </p:cNvPr>
          <p:cNvSpPr/>
          <p:nvPr/>
        </p:nvSpPr>
        <p:spPr>
          <a:xfrm>
            <a:off x="-152400" y="3945"/>
            <a:ext cx="12496800" cy="45325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10000"/>
          </a:bodyPr>
          <a:lstStyle/>
          <a:p>
            <a:r>
              <a:rPr lang="en-US" sz="2800" b="1" dirty="0"/>
              <a:t>   </a:t>
            </a:r>
            <a:r>
              <a:rPr lang="en-US" sz="2800" b="1" u="sng" dirty="0"/>
              <a:t>DS2 Is Needed For Spatial Learning</a:t>
            </a:r>
          </a:p>
        </p:txBody>
      </p:sp>
      <p:sp>
        <p:nvSpPr>
          <p:cNvPr id="7" name="!!M1">
            <a:extLst>
              <a:ext uri="{FF2B5EF4-FFF2-40B4-BE49-F238E27FC236}">
                <a16:creationId xmlns:a16="http://schemas.microsoft.com/office/drawing/2014/main" id="{596A618B-AF5B-D57A-DA0C-1468A0089309}"/>
              </a:ext>
            </a:extLst>
          </p:cNvPr>
          <p:cNvSpPr>
            <a:spLocks/>
          </p:cNvSpPr>
          <p:nvPr/>
        </p:nvSpPr>
        <p:spPr>
          <a:xfrm>
            <a:off x="152401" y="5321880"/>
            <a:ext cx="4094598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Extended Figure 4a: </a:t>
            </a:r>
            <a:r>
              <a:rPr lang="en-US" sz="4400" dirty="0">
                <a:solidFill>
                  <a:schemeClr val="bg1"/>
                </a:solidFill>
              </a:rPr>
              <a:t>Optogenetics silences DS2 during tone.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0" name="!!Focus">
            <a:extLst>
              <a:ext uri="{FF2B5EF4-FFF2-40B4-BE49-F238E27FC236}">
                <a16:creationId xmlns:a16="http://schemas.microsoft.com/office/drawing/2014/main" id="{86D8CD17-C455-8758-67D1-A643AA2D2E0D}"/>
              </a:ext>
            </a:extLst>
          </p:cNvPr>
          <p:cNvSpPr/>
          <p:nvPr/>
        </p:nvSpPr>
        <p:spPr>
          <a:xfrm rot="10800000">
            <a:off x="8458200" y="1219200"/>
            <a:ext cx="883778" cy="16002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!!M1">
            <a:extLst>
              <a:ext uri="{FF2B5EF4-FFF2-40B4-BE49-F238E27FC236}">
                <a16:creationId xmlns:a16="http://schemas.microsoft.com/office/drawing/2014/main" id="{516F2808-2DC9-BA1E-67ED-052D409189FD}"/>
              </a:ext>
            </a:extLst>
          </p:cNvPr>
          <p:cNvSpPr>
            <a:spLocks/>
          </p:cNvSpPr>
          <p:nvPr/>
        </p:nvSpPr>
        <p:spPr>
          <a:xfrm>
            <a:off x="211865" y="3266605"/>
            <a:ext cx="11887200" cy="102028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Extended Figure 4b: </a:t>
            </a:r>
            <a:r>
              <a:rPr lang="en-US" sz="4400" dirty="0">
                <a:solidFill>
                  <a:srgbClr val="FF0000"/>
                </a:solidFill>
              </a:rPr>
              <a:t>Silenced mice fail to avoid.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  <p:sp>
        <p:nvSpPr>
          <p:cNvPr id="11" name="!!Focus2">
            <a:extLst>
              <a:ext uri="{FF2B5EF4-FFF2-40B4-BE49-F238E27FC236}">
                <a16:creationId xmlns:a16="http://schemas.microsoft.com/office/drawing/2014/main" id="{CD8A5E60-5B79-F759-936A-3B5CA9960D38}"/>
              </a:ext>
            </a:extLst>
          </p:cNvPr>
          <p:cNvSpPr/>
          <p:nvPr/>
        </p:nvSpPr>
        <p:spPr>
          <a:xfrm rot="10800000">
            <a:off x="4128389" y="1221533"/>
            <a:ext cx="883778" cy="1600200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9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373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79AB5-DEAF-4268-AC7A-DC74EBA95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919447-A43A-BDFD-E495-B43555DFA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03" y="-3878144"/>
            <a:ext cx="8289297" cy="7916744"/>
          </a:xfrm>
          <a:prstGeom prst="rect">
            <a:avLst/>
          </a:prstGeom>
          <a:ln w="38100">
            <a:noFill/>
          </a:ln>
        </p:spPr>
      </p:pic>
      <p:sp>
        <p:nvSpPr>
          <p:cNvPr id="19" name="!!Freeform: Shape 18">
            <a:extLst>
              <a:ext uri="{FF2B5EF4-FFF2-40B4-BE49-F238E27FC236}">
                <a16:creationId xmlns:a16="http://schemas.microsoft.com/office/drawing/2014/main" id="{2B7B7D74-95D7-D71D-B6D5-FBFA1FB78824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EE46930D-2F56-8145-F615-E1FDF5806E96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78382FA5-54A1-69E8-1ADF-2D240A403C06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37FD766A-044F-5076-98BF-0DA5E8995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47A6D59-3FB0-D699-48F3-52CBD7A956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8" name="!!T2">
            <a:extLst>
              <a:ext uri="{FF2B5EF4-FFF2-40B4-BE49-F238E27FC236}">
                <a16:creationId xmlns:a16="http://schemas.microsoft.com/office/drawing/2014/main" id="{D1F5E225-697E-B1B0-563A-4F05EFF770B3}"/>
              </a:ext>
            </a:extLst>
          </p:cNvPr>
          <p:cNvSpPr/>
          <p:nvPr/>
        </p:nvSpPr>
        <p:spPr>
          <a:xfrm>
            <a:off x="-4235283" y="1841861"/>
            <a:ext cx="3242636" cy="348002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CORE INSIGHT   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DS2 encodes stationary, real-world position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C78B05D0-C5C9-1F51-ABBC-087029C84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F175C10F-B43B-C5F9-7560-CE6D253A87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71E61D88-4A6E-043D-16F5-8E0BFB93FA39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3" name="!!M1">
            <a:extLst>
              <a:ext uri="{FF2B5EF4-FFF2-40B4-BE49-F238E27FC236}">
                <a16:creationId xmlns:a16="http://schemas.microsoft.com/office/drawing/2014/main" id="{59B59734-812B-2760-BEE3-11D65347CC7E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A600E098-ABAA-4E25-DB95-C10BBFEC0848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007D9523-430D-2D1A-8A86-D0B20DF1582F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E34DF4D2-1D9B-7F07-FA53-893EC1AFB72A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F74393DA-95A3-6760-393A-ADC16AC37DC0}"/>
              </a:ext>
            </a:extLst>
          </p:cNvPr>
          <p:cNvSpPr/>
          <p:nvPr/>
        </p:nvSpPr>
        <p:spPr>
          <a:xfrm>
            <a:off x="-152400" y="3945"/>
            <a:ext cx="12496800" cy="45325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 lnSpcReduction="10000"/>
          </a:bodyPr>
          <a:lstStyle/>
          <a:p>
            <a:r>
              <a:rPr lang="en-US" sz="2800" b="1" dirty="0"/>
              <a:t>   </a:t>
            </a:r>
            <a:r>
              <a:rPr lang="en-US" sz="2800" b="1" u="sng" dirty="0"/>
              <a:t>DS2 Is Needed For Spatial Learning</a:t>
            </a: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8952C0EB-3ED5-1987-36F7-72AC3AEAF355}"/>
              </a:ext>
            </a:extLst>
          </p:cNvPr>
          <p:cNvSpPr>
            <a:spLocks/>
          </p:cNvSpPr>
          <p:nvPr/>
        </p:nvSpPr>
        <p:spPr>
          <a:xfrm>
            <a:off x="152401" y="5321880"/>
            <a:ext cx="4094598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Extended Figure 4a: </a:t>
            </a:r>
            <a:r>
              <a:rPr lang="en-US" sz="4400" dirty="0">
                <a:solidFill>
                  <a:schemeClr val="bg1"/>
                </a:solidFill>
              </a:rPr>
              <a:t>Optogenetics silences DS2 during tone.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9309F363-19F1-1AA0-0FC9-146214250404}"/>
              </a:ext>
            </a:extLst>
          </p:cNvPr>
          <p:cNvSpPr>
            <a:spLocks/>
          </p:cNvSpPr>
          <p:nvPr/>
        </p:nvSpPr>
        <p:spPr>
          <a:xfrm>
            <a:off x="4394345" y="5337944"/>
            <a:ext cx="4096512" cy="130759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Extended Figure 4b: </a:t>
            </a:r>
            <a:r>
              <a:rPr lang="en-US" sz="4400" dirty="0">
                <a:solidFill>
                  <a:schemeClr val="bg1"/>
                </a:solidFill>
              </a:rPr>
              <a:t>Silenced mice fail to avoid.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8AA765-256C-8976-6CB6-18F8810B8F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400" y="551319"/>
            <a:ext cx="749849" cy="2166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82A9986-0988-18D1-7D8B-7E2B3884F7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578720"/>
            <a:ext cx="738489" cy="216623"/>
          </a:xfrm>
          <a:prstGeom prst="rect">
            <a:avLst/>
          </a:prstGeom>
        </p:spPr>
      </p:pic>
      <p:sp>
        <p:nvSpPr>
          <p:cNvPr id="24" name="!!M1">
            <a:extLst>
              <a:ext uri="{FF2B5EF4-FFF2-40B4-BE49-F238E27FC236}">
                <a16:creationId xmlns:a16="http://schemas.microsoft.com/office/drawing/2014/main" id="{563C3721-99AC-14BB-08E7-B722CD4CE97B}"/>
              </a:ext>
            </a:extLst>
          </p:cNvPr>
          <p:cNvSpPr>
            <a:spLocks/>
          </p:cNvSpPr>
          <p:nvPr/>
        </p:nvSpPr>
        <p:spPr>
          <a:xfrm>
            <a:off x="197978" y="4356957"/>
            <a:ext cx="11887200" cy="63050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r>
              <a:rPr lang="fr-FR" sz="4400" b="1" dirty="0">
                <a:solidFill>
                  <a:srgbClr val="FF0000"/>
                </a:solidFill>
              </a:rPr>
              <a:t>Extended Figure 4c: </a:t>
            </a:r>
            <a:r>
              <a:rPr lang="en-US" sz="4400" dirty="0">
                <a:solidFill>
                  <a:srgbClr val="FF0000"/>
                </a:solidFill>
              </a:rPr>
              <a:t>Stats show DS2 is necessary for learning.</a:t>
            </a:r>
            <a:endParaRPr lang="en-US" sz="44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1436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FA3DE-4992-A9B1-1250-3736C2A3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E93310-593D-DC59-0443-3A411D900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763" y="1792463"/>
            <a:ext cx="3427100" cy="327307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06C1938B-E151-64D2-1E89-595740738ACC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77153E89-63F9-2548-29E4-877B3DE5AD76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46E6596F-BC21-2F5B-D991-4536B67609EF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BE929AD0-793D-BDD7-4BA3-0116F9481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BAD5543-35F5-1135-45F9-95BF339726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8" name="!!T2">
            <a:extLst>
              <a:ext uri="{FF2B5EF4-FFF2-40B4-BE49-F238E27FC236}">
                <a16:creationId xmlns:a16="http://schemas.microsoft.com/office/drawing/2014/main" id="{509FD4B3-F050-DB83-EE95-01D3039592A0}"/>
              </a:ext>
            </a:extLst>
          </p:cNvPr>
          <p:cNvSpPr/>
          <p:nvPr/>
        </p:nvSpPr>
        <p:spPr>
          <a:xfrm>
            <a:off x="-4235283" y="1841861"/>
            <a:ext cx="3242636" cy="3480020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CORE INSIGHT    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DS2 encodes stationary, real-world position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C6B99B01-EE99-9D14-5CAE-C2A06337B5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57379D89-3C23-328B-62D5-BAC50698F4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55472BBC-BE5C-008F-5A22-F45786AE7661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3" name="!!M1">
            <a:extLst>
              <a:ext uri="{FF2B5EF4-FFF2-40B4-BE49-F238E27FC236}">
                <a16:creationId xmlns:a16="http://schemas.microsoft.com/office/drawing/2014/main" id="{5B5288EC-421C-AC52-BFFA-9259A6474663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E1CDCABB-CE71-B527-ED10-E8793AA594C0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579526CE-E687-D150-EE10-2AD7D93F49AA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1BAD0747-08F9-2A05-A560-529702C32EAF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06777E9B-6020-9A1B-6961-30E5BBCEE69C}"/>
              </a:ext>
            </a:extLst>
          </p:cNvPr>
          <p:cNvSpPr/>
          <p:nvPr/>
        </p:nvSpPr>
        <p:spPr>
          <a:xfrm>
            <a:off x="3429000" y="603156"/>
            <a:ext cx="5638800" cy="826475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92500"/>
          </a:bodyPr>
          <a:lstStyle/>
          <a:p>
            <a:r>
              <a:rPr lang="en-US" sz="1900" b="1" dirty="0">
                <a:solidFill>
                  <a:srgbClr val="FF0000"/>
                </a:solidFill>
              </a:rPr>
              <a:t>   CORE INSIGHT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DS2 Is Needed For Spatial Learning</a:t>
            </a: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2CE2544E-C7AB-3CFD-2244-37187A22D3A2}"/>
              </a:ext>
            </a:extLst>
          </p:cNvPr>
          <p:cNvSpPr>
            <a:spLocks/>
          </p:cNvSpPr>
          <p:nvPr/>
        </p:nvSpPr>
        <p:spPr>
          <a:xfrm>
            <a:off x="152401" y="5321880"/>
            <a:ext cx="4094598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Extended Figure 4a: </a:t>
            </a:r>
            <a:r>
              <a:rPr lang="en-US" sz="4400" dirty="0">
                <a:solidFill>
                  <a:schemeClr val="bg1"/>
                </a:solidFill>
              </a:rPr>
              <a:t>Optogenetics silences DS2 during tone.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63DA3747-75DD-ACEE-3D14-DA37A5504C50}"/>
              </a:ext>
            </a:extLst>
          </p:cNvPr>
          <p:cNvSpPr>
            <a:spLocks/>
          </p:cNvSpPr>
          <p:nvPr/>
        </p:nvSpPr>
        <p:spPr>
          <a:xfrm>
            <a:off x="4394345" y="5337944"/>
            <a:ext cx="4096512" cy="130759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Extended Figure 4b: </a:t>
            </a:r>
            <a:r>
              <a:rPr lang="en-US" sz="4400" dirty="0">
                <a:solidFill>
                  <a:schemeClr val="bg1"/>
                </a:solidFill>
              </a:rPr>
              <a:t>Silenced mice fail to avoid.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4" name="!!M1">
            <a:extLst>
              <a:ext uri="{FF2B5EF4-FFF2-40B4-BE49-F238E27FC236}">
                <a16:creationId xmlns:a16="http://schemas.microsoft.com/office/drawing/2014/main" id="{CAD0140D-DBAA-E3BA-473B-3EFC00FB80D4}"/>
              </a:ext>
            </a:extLst>
          </p:cNvPr>
          <p:cNvSpPr>
            <a:spLocks/>
          </p:cNvSpPr>
          <p:nvPr/>
        </p:nvSpPr>
        <p:spPr>
          <a:xfrm>
            <a:off x="8638203" y="5346975"/>
            <a:ext cx="3401396" cy="130759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fr-FR" sz="4400" dirty="0">
                <a:solidFill>
                  <a:schemeClr val="bg1"/>
                </a:solidFill>
              </a:rPr>
              <a:t>Extended Figure 4c: </a:t>
            </a:r>
            <a:r>
              <a:rPr lang="en-US" sz="4400" dirty="0">
                <a:solidFill>
                  <a:schemeClr val="bg1"/>
                </a:solidFill>
              </a:rPr>
              <a:t>Stats show DS2 is necessary for learning.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0AAAB852-5B45-9EF2-E00F-A4BAF6465DF7}"/>
              </a:ext>
            </a:extLst>
          </p:cNvPr>
          <p:cNvSpPr/>
          <p:nvPr/>
        </p:nvSpPr>
        <p:spPr>
          <a:xfrm>
            <a:off x="360538" y="72232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DS2 Is Unique</a:t>
            </a:r>
          </a:p>
        </p:txBody>
      </p:sp>
      <p:sp>
        <p:nvSpPr>
          <p:cNvPr id="6" name="!!T-BG">
            <a:extLst>
              <a:ext uri="{FF2B5EF4-FFF2-40B4-BE49-F238E27FC236}">
                <a16:creationId xmlns:a16="http://schemas.microsoft.com/office/drawing/2014/main" id="{51FB2D60-D30A-8F52-23CF-3BD7E744955A}"/>
              </a:ext>
            </a:extLst>
          </p:cNvPr>
          <p:cNvSpPr/>
          <p:nvPr/>
        </p:nvSpPr>
        <p:spPr>
          <a:xfrm>
            <a:off x="2652323" y="72288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Circuit Mechanisms </a:t>
            </a:r>
          </a:p>
          <a:p>
            <a:pPr algn="ctr"/>
            <a:r>
              <a:rPr lang="en-US" b="1" dirty="0"/>
              <a:t>Characterized</a:t>
            </a:r>
          </a:p>
        </p:txBody>
      </p:sp>
      <p:sp>
        <p:nvSpPr>
          <p:cNvPr id="7" name="!!T-BG">
            <a:extLst>
              <a:ext uri="{FF2B5EF4-FFF2-40B4-BE49-F238E27FC236}">
                <a16:creationId xmlns:a16="http://schemas.microsoft.com/office/drawing/2014/main" id="{1ADBD8CB-83A8-0098-965F-CD98AF81A038}"/>
              </a:ext>
            </a:extLst>
          </p:cNvPr>
          <p:cNvSpPr/>
          <p:nvPr/>
        </p:nvSpPr>
        <p:spPr>
          <a:xfrm>
            <a:off x="4944108" y="72232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Global Hypothesis Substantiated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A792A960-0BF7-7AB4-9DBD-F44767860CF3}"/>
              </a:ext>
            </a:extLst>
          </p:cNvPr>
          <p:cNvSpPr/>
          <p:nvPr/>
        </p:nvSpPr>
        <p:spPr>
          <a:xfrm>
            <a:off x="7235893" y="72232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Encoding Illuminated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4D38C68B-3A0B-31FB-956E-976A25F76FFB}"/>
              </a:ext>
            </a:extLst>
          </p:cNvPr>
          <p:cNvSpPr/>
          <p:nvPr/>
        </p:nvSpPr>
        <p:spPr>
          <a:xfrm>
            <a:off x="9527678" y="72232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Essential for learning</a:t>
            </a:r>
          </a:p>
        </p:txBody>
      </p:sp>
    </p:spTree>
    <p:extLst>
      <p:ext uri="{BB962C8B-B14F-4D97-AF65-F5344CB8AC3E}">
        <p14:creationId xmlns:p14="http://schemas.microsoft.com/office/powerpoint/2010/main" val="4285828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486F-C0FC-2F40-9EA2-0D22D229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1021C670-1E99-9F13-5D4A-7D16131A6731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51872F23-BE8A-A92B-B6C4-4910D3576553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00DB253D-691C-355C-ACB6-09D80795064B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8314ABEC-C9C9-CF87-8477-C458F03F9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B6B2708-2B82-9170-AEF6-1C3A623213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94E0D378-A3CF-98A0-956E-D7501A924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3B4C7E3D-F4B9-0AD9-C4FA-8FBA5F5951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6D5E7A7E-C864-E56D-90C2-91A87ADDB01E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3" name="!!M1">
            <a:extLst>
              <a:ext uri="{FF2B5EF4-FFF2-40B4-BE49-F238E27FC236}">
                <a16:creationId xmlns:a16="http://schemas.microsoft.com/office/drawing/2014/main" id="{18D5F5FB-30D9-BA38-9D7A-206C59C77ED8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47EBF0E4-B059-A5BB-637C-E84C84D8FEC0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E42D16E5-078F-5513-FFEC-4411048D99BA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002C269D-63D5-6CEA-6819-CE4FE20BEC41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4A0CA4FF-EF42-1D92-E362-1468267BCD98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DS2 RECAP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F8D18741-0A3C-E711-27DD-DA0B607DA5A6}"/>
              </a:ext>
            </a:extLst>
          </p:cNvPr>
          <p:cNvSpPr/>
          <p:nvPr/>
        </p:nvSpPr>
        <p:spPr>
          <a:xfrm>
            <a:off x="360538" y="190500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E05D248B-AFE2-26DD-1FD5-E8DF23035495}"/>
              </a:ext>
            </a:extLst>
          </p:cNvPr>
          <p:cNvSpPr/>
          <p:nvPr/>
        </p:nvSpPr>
        <p:spPr>
          <a:xfrm>
            <a:off x="2652323" y="1910523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Circuit Mechanisms </a:t>
            </a:r>
          </a:p>
          <a:p>
            <a:pPr algn="ctr"/>
            <a:r>
              <a:rPr lang="en-US" b="1" dirty="0"/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3BCDD272-468A-CEB9-C991-AA3B4E68F62D}"/>
              </a:ext>
            </a:extLst>
          </p:cNvPr>
          <p:cNvSpPr/>
          <p:nvPr/>
        </p:nvSpPr>
        <p:spPr>
          <a:xfrm>
            <a:off x="4944108" y="1904999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0C2CA390-919C-7996-3F23-0C99F9786B06}"/>
              </a:ext>
            </a:extLst>
          </p:cNvPr>
          <p:cNvSpPr/>
          <p:nvPr/>
        </p:nvSpPr>
        <p:spPr>
          <a:xfrm>
            <a:off x="7235893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71CD4BB4-BF86-7701-CF61-AA0349AEF413}"/>
              </a:ext>
            </a:extLst>
          </p:cNvPr>
          <p:cNvSpPr/>
          <p:nvPr/>
        </p:nvSpPr>
        <p:spPr>
          <a:xfrm>
            <a:off x="9527678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875748-6A2A-426F-CF47-8AC7055391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614" y="9102065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8C3632-F5B7-AB33-A76F-F61DA9FA2F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190" y="7315200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71BB26-6E57-3B51-50A5-A516BC5E37D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34880"/>
          <a:stretch>
            <a:fillRect/>
          </a:stretch>
        </p:blipFill>
        <p:spPr>
          <a:xfrm>
            <a:off x="2553093" y="8434785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9E036D-6352-080B-EB92-6E7E1A9D9E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3093" y="7315200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CF9106A4-4979-17F7-C623-7734D74731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9590" y="7322341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FFD756-6DEF-C5B7-2D41-730F57E9627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90182" y="9061107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3CA0C4DC-7BDF-FF54-EA70-A5D346BAE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31" y="7340403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3F2585CB-3C57-72D6-760A-4DB636ABBC20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7247704" y="8542223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51F87A8-4827-2961-F1B4-82B74A5BB3C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7516" y="7348506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6417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BE7E-5E02-71D0-4D73-88F6F251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1D91D8BF-06AD-FA0E-57C1-B8EE3451DB10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B4E2C09C-6963-486A-133C-6AA4A30D9939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44C5A52D-2BCB-7BEC-1679-FCBEA113DFA4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80FEA8A8-A565-5A9E-654A-046787E23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AE72A67-EA97-4938-BDC2-F0DA63926E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BEDC9597-47C0-F65D-16CF-F59889FDB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CAA1A414-D43C-85CC-FC45-CFD76FE59C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BBBCA994-0701-AE1A-ED05-AC94482FB892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3" name="!!M1">
            <a:extLst>
              <a:ext uri="{FF2B5EF4-FFF2-40B4-BE49-F238E27FC236}">
                <a16:creationId xmlns:a16="http://schemas.microsoft.com/office/drawing/2014/main" id="{83592D03-0C5D-057C-EE8A-98A8387A71D7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2EA4A5E3-B456-286E-69BB-2863FA45FAE8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16DF43B3-43CA-E0BA-64DD-3BF2E41A86AC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3B98FAF0-2F0D-A147-63F5-662078CEFB75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23287FBA-46A9-2F0A-97E3-434E1AE08A0F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DS2 RECAP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11F0294E-7134-013B-67E2-5EFCF116BC3E}"/>
              </a:ext>
            </a:extLst>
          </p:cNvPr>
          <p:cNvSpPr/>
          <p:nvPr/>
        </p:nvSpPr>
        <p:spPr>
          <a:xfrm>
            <a:off x="360538" y="190500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982353A4-887A-1CCE-7474-A0C6DFA2DA09}"/>
              </a:ext>
            </a:extLst>
          </p:cNvPr>
          <p:cNvSpPr/>
          <p:nvPr/>
        </p:nvSpPr>
        <p:spPr>
          <a:xfrm>
            <a:off x="2652323" y="1910523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Circuit Mechanisms </a:t>
            </a:r>
          </a:p>
          <a:p>
            <a:pPr algn="ctr"/>
            <a:r>
              <a:rPr lang="en-US" b="1" dirty="0"/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49856125-8286-1125-D83A-2EA4BF5D44C9}"/>
              </a:ext>
            </a:extLst>
          </p:cNvPr>
          <p:cNvSpPr/>
          <p:nvPr/>
        </p:nvSpPr>
        <p:spPr>
          <a:xfrm>
            <a:off x="4944108" y="1904999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AF2F195C-E60E-6B60-0286-927ADFB022E7}"/>
              </a:ext>
            </a:extLst>
          </p:cNvPr>
          <p:cNvSpPr/>
          <p:nvPr/>
        </p:nvSpPr>
        <p:spPr>
          <a:xfrm>
            <a:off x="7235893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9E4F63CD-DE90-5C20-554B-89B0F34AA8BF}"/>
              </a:ext>
            </a:extLst>
          </p:cNvPr>
          <p:cNvSpPr/>
          <p:nvPr/>
        </p:nvSpPr>
        <p:spPr>
          <a:xfrm>
            <a:off x="9527678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7D03C9-DD6C-F996-F7B8-07C55C1CB1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614" y="5118853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FAFA30-96AD-83AE-1469-A3A1655E4E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190" y="3331988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3152B9-CFB4-36BC-8B77-3186D633ED9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34880"/>
          <a:stretch>
            <a:fillRect/>
          </a:stretch>
        </p:blipFill>
        <p:spPr>
          <a:xfrm>
            <a:off x="2553093" y="8434785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467247F-319E-157D-1158-B51C5EFFF0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3093" y="7315200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2D909327-5781-CDB0-4040-77AF591E20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9590" y="7322341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C83E0E-D059-CE02-1EF6-C03D1C6712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90182" y="9061107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5F3FDDBB-AB1B-0815-9F10-6B711533C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31" y="7340403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B5D25DE8-B1BE-FF0D-4FF4-DE48C5287BE6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7247704" y="8542223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D8C143F-1D4A-C341-A6EB-DDA2E2FBED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7516" y="7348506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5466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F6A49-44DE-7F0F-F32D-FB320AA1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ABB37BE1-CABF-3757-3ECB-6C97B3C9D3CE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9F71D6C0-8586-10C9-2FD8-0416922A2E86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5F0C1BD0-4A4C-E0EA-26E6-49CB17558D19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DB8B4420-1722-AD9B-4C8C-A154BD86F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03293EF-DEF0-4B98-B90B-392F0EDC72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A3D4A148-ECB8-4508-33D0-B5029170E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39377303-AF8F-0432-5651-51E2B748B7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0F6CFE3B-9D12-9D4B-98C1-C15EAF126E37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3" name="!!M1">
            <a:extLst>
              <a:ext uri="{FF2B5EF4-FFF2-40B4-BE49-F238E27FC236}">
                <a16:creationId xmlns:a16="http://schemas.microsoft.com/office/drawing/2014/main" id="{8658DA4E-2CC2-4AD2-6519-AC9BE70B6C9F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FAC46C9C-B92F-456E-F375-9E88E12CCAB9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45CBABD6-7A57-D1AC-8BFA-60BAE80E7FC1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E4B3EEA5-9F8D-769B-C9DF-8E002423C0EB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2C26B99B-06C9-A949-C52C-130CCF2C4F58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DS2 RECAP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A7835A0D-9C22-7409-E9D7-5DE6B0572A58}"/>
              </a:ext>
            </a:extLst>
          </p:cNvPr>
          <p:cNvSpPr/>
          <p:nvPr/>
        </p:nvSpPr>
        <p:spPr>
          <a:xfrm>
            <a:off x="360538" y="190500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134E36FB-44DF-9EE1-0735-C566F17C1AAE}"/>
              </a:ext>
            </a:extLst>
          </p:cNvPr>
          <p:cNvSpPr/>
          <p:nvPr/>
        </p:nvSpPr>
        <p:spPr>
          <a:xfrm>
            <a:off x="2652323" y="1910523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76C559ED-00D2-35CB-9C3C-E4FB2CB33E4E}"/>
              </a:ext>
            </a:extLst>
          </p:cNvPr>
          <p:cNvSpPr/>
          <p:nvPr/>
        </p:nvSpPr>
        <p:spPr>
          <a:xfrm>
            <a:off x="4944108" y="1904999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47AE615F-DDC7-536A-766F-97B601AD29F6}"/>
              </a:ext>
            </a:extLst>
          </p:cNvPr>
          <p:cNvSpPr/>
          <p:nvPr/>
        </p:nvSpPr>
        <p:spPr>
          <a:xfrm>
            <a:off x="7235893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0C95D067-A14F-F078-1A1A-0CCD016E48A0}"/>
              </a:ext>
            </a:extLst>
          </p:cNvPr>
          <p:cNvSpPr/>
          <p:nvPr/>
        </p:nvSpPr>
        <p:spPr>
          <a:xfrm>
            <a:off x="9527678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30FD3D-BB7B-5DDB-5309-FAD75DD2F0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614" y="5118853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0A7CCD-2F5C-337C-A1F6-583B891C90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190" y="3331988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ED2702-53B3-4A37-E41F-6088E9A8224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34880"/>
          <a:stretch>
            <a:fillRect/>
          </a:stretch>
        </p:blipFill>
        <p:spPr>
          <a:xfrm>
            <a:off x="2553093" y="4466813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15F4175-C30B-803D-ED95-54C77379E3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3093" y="3347228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0BED2DD8-D976-2B1C-1961-AFAC97C75B5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9590" y="7322341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448CA18-7A50-60A6-4DD7-B002B7532D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90182" y="9061107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26948060-099C-3221-5BC2-113FA7098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31" y="7340403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46E53814-6FD1-009F-2AE5-5174E9496861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7247704" y="8542223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C6A5203-ABC3-2EE3-31E8-AD6222B2908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7516" y="7348506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5946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F5778-94E4-AC63-87C0-8C61ED67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38AA4060-EA38-7BAD-08BB-97864CB3965D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061CA89E-0893-7CCD-15A2-AE060B366907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3D202A1D-D389-39B2-4821-3DE60B563F1C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9663B3AE-98B5-3E64-2D08-9E2D3FAE7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A9564B3-D6D7-30D6-F648-8231CDB317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686FD743-43FE-4E76-377C-3EDA0C0BF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A3410976-C101-D4A8-60E5-24164DFA2B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A438F441-34BC-A548-BCFE-57B02C4CF4FA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3" name="!!M1">
            <a:extLst>
              <a:ext uri="{FF2B5EF4-FFF2-40B4-BE49-F238E27FC236}">
                <a16:creationId xmlns:a16="http://schemas.microsoft.com/office/drawing/2014/main" id="{71831211-B627-AA15-388E-05F0375E19FD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9AB0CC26-D065-F94D-923B-4A0F3595E968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B566E509-A389-F499-A48D-7A81A50D24A4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425EF778-B202-5AE9-0DE6-87480CFBFD0E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1D0415FE-46F6-E6E6-A61F-F940478AF8FE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DS2 RECAP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1EB57066-4115-4BA6-CA26-67746193F801}"/>
              </a:ext>
            </a:extLst>
          </p:cNvPr>
          <p:cNvSpPr/>
          <p:nvPr/>
        </p:nvSpPr>
        <p:spPr>
          <a:xfrm>
            <a:off x="360538" y="190500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788AE333-FE7C-7764-0C8B-45B7D4113BAE}"/>
              </a:ext>
            </a:extLst>
          </p:cNvPr>
          <p:cNvSpPr/>
          <p:nvPr/>
        </p:nvSpPr>
        <p:spPr>
          <a:xfrm>
            <a:off x="2652323" y="1910523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C22E2402-467E-9234-A7F8-A4373D8B6577}"/>
              </a:ext>
            </a:extLst>
          </p:cNvPr>
          <p:cNvSpPr/>
          <p:nvPr/>
        </p:nvSpPr>
        <p:spPr>
          <a:xfrm>
            <a:off x="4944108" y="1904999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A418DB46-715B-0BBC-CB9D-22D2A06FD3A6}"/>
              </a:ext>
            </a:extLst>
          </p:cNvPr>
          <p:cNvSpPr/>
          <p:nvPr/>
        </p:nvSpPr>
        <p:spPr>
          <a:xfrm>
            <a:off x="7235893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5E534865-2FF2-6ECE-CB49-88E10F6981CC}"/>
              </a:ext>
            </a:extLst>
          </p:cNvPr>
          <p:cNvSpPr/>
          <p:nvPr/>
        </p:nvSpPr>
        <p:spPr>
          <a:xfrm>
            <a:off x="9527678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EE7B78-13A4-2C4D-2042-B7194E65EB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614" y="5118853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D27BF9-620C-AFDD-A69C-434A37565C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190" y="3331988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C1A938-412C-F21C-B026-BFB31959E74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34880"/>
          <a:stretch>
            <a:fillRect/>
          </a:stretch>
        </p:blipFill>
        <p:spPr>
          <a:xfrm>
            <a:off x="2553093" y="4466813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1AFA31C-62B0-836A-08DA-C38E476C54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3093" y="3347228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CC799EFD-100E-6100-5477-C46D884BA7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9590" y="3330803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A725CD6-CCE8-8C5A-6CE4-968126A3698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90182" y="5069569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E0BC6E25-A336-B911-ACE3-6FF1A7E9A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31" y="7340403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15B1B700-77E0-11C2-EEFA-F98D1C97F8B3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7247704" y="8542223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959F5E-CCF1-2542-C133-CAB24E761AB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7516" y="7348506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4511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A44E2-A833-523E-4F53-6ADEDD2C7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859D7D07-FF45-BCB7-14FE-6C9A414B6FA3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FB03FDF7-EB13-574C-C384-1DEBFFF4914B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E05D1118-1D68-9DAE-CD76-3D71C387FFD3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E1E9A002-874E-26B7-F10D-9E1964E8D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C395DDE-7D5F-50A4-CFB9-36E44FA25B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2BF6E4D1-32AD-56DA-ACAB-18CFAEB8C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C3DF6E81-B238-24C4-997E-87DB37D744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46E9F523-0B47-ED6B-72EC-51F134C1F2FC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3" name="!!M1">
            <a:extLst>
              <a:ext uri="{FF2B5EF4-FFF2-40B4-BE49-F238E27FC236}">
                <a16:creationId xmlns:a16="http://schemas.microsoft.com/office/drawing/2014/main" id="{73142A43-EC49-9FD1-816B-6FF17B4BFF63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0DDE4B57-7E7F-213F-A683-290BA8621317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74E8ED25-F643-AED0-88F3-6A6B93C05CB1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CC59453C-880C-8B66-A581-BFD30DFB8D98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C6A856E0-7279-3D4B-87BD-8880B68F9F0F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DS2 RECAP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EBC28119-874A-8E8C-E523-97E4F62ADAEE}"/>
              </a:ext>
            </a:extLst>
          </p:cNvPr>
          <p:cNvSpPr/>
          <p:nvPr/>
        </p:nvSpPr>
        <p:spPr>
          <a:xfrm>
            <a:off x="360538" y="190500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C3570E61-CD07-0494-D7EC-4FDEEEB43082}"/>
              </a:ext>
            </a:extLst>
          </p:cNvPr>
          <p:cNvSpPr/>
          <p:nvPr/>
        </p:nvSpPr>
        <p:spPr>
          <a:xfrm>
            <a:off x="2652323" y="1910523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0C45809F-CDFE-8E76-EC02-2E5B2433F05A}"/>
              </a:ext>
            </a:extLst>
          </p:cNvPr>
          <p:cNvSpPr/>
          <p:nvPr/>
        </p:nvSpPr>
        <p:spPr>
          <a:xfrm>
            <a:off x="4944108" y="1904999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5CA9E99F-3A3B-60B3-6EE3-0FCEECEC8C8C}"/>
              </a:ext>
            </a:extLst>
          </p:cNvPr>
          <p:cNvSpPr/>
          <p:nvPr/>
        </p:nvSpPr>
        <p:spPr>
          <a:xfrm>
            <a:off x="7235893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4C6558F7-A275-745B-BD52-409A26BBFB62}"/>
              </a:ext>
            </a:extLst>
          </p:cNvPr>
          <p:cNvSpPr/>
          <p:nvPr/>
        </p:nvSpPr>
        <p:spPr>
          <a:xfrm>
            <a:off x="9527678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EDDED96-BA70-100F-7011-7792982E1B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614" y="5118853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1553D5-F96A-2676-B309-FB66C7D3DA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190" y="3331988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8BD77C-674F-EB6B-F2E2-BCD362FCB43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34880"/>
          <a:stretch>
            <a:fillRect/>
          </a:stretch>
        </p:blipFill>
        <p:spPr>
          <a:xfrm>
            <a:off x="2553093" y="4466813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6DB4D0-8B47-9A2B-1895-185461D144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3093" y="3347228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E8855456-4899-6D35-9824-44EFCAF15F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9590" y="3330803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83BCF38-F1D3-FFC8-365A-9124BE7F63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90182" y="5069569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837CD1F6-D034-EE2E-6015-B535CBE39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31" y="3329743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614A4D4-5AD5-81DB-E439-15EDB92673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7516" y="7348506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8199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9353F-5832-C06A-8D7A-76A937825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DBFE07BC-312C-8E5F-2B17-8B4EBAD1D441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12FC5C88-C3AC-2575-8241-862301BDD09D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66A1E98F-E3C9-7474-AAA2-296BEC37B6E2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A07B4381-B06D-2CA4-D924-2E6052D94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8A34849-46A6-3DDA-5A7B-A1300CFBC6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9" name="Picture 38" descr="A screenshot of a graph&#10;&#10;AI-generated content may be incorrect.">
            <a:extLst>
              <a:ext uri="{FF2B5EF4-FFF2-40B4-BE49-F238E27FC236}">
                <a16:creationId xmlns:a16="http://schemas.microsoft.com/office/drawing/2014/main" id="{70089500-FCAF-1B9D-DB72-B2B9B64DA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2201" y="1219200"/>
            <a:ext cx="1637821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0" name="Picture 3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B51411BC-B581-CBF7-73FB-C2B38EA54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6148" y="1219200"/>
            <a:ext cx="2489629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1" name="Picture 40" descr="A close-up of a graph&#10;&#10;AI-generated content may be incorrect.">
            <a:extLst>
              <a:ext uri="{FF2B5EF4-FFF2-40B4-BE49-F238E27FC236}">
                <a16:creationId xmlns:a16="http://schemas.microsoft.com/office/drawing/2014/main" id="{86BD298B-A35A-6A08-B432-D0B0A81011B2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13792200" y="4140751"/>
            <a:ext cx="3759760" cy="23622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3" name="!!M1">
            <a:extLst>
              <a:ext uri="{FF2B5EF4-FFF2-40B4-BE49-F238E27FC236}">
                <a16:creationId xmlns:a16="http://schemas.microsoft.com/office/drawing/2014/main" id="{7BB5252E-6D72-A9A9-BE78-010575340988}"/>
              </a:ext>
            </a:extLst>
          </p:cNvPr>
          <p:cNvSpPr>
            <a:spLocks/>
          </p:cNvSpPr>
          <p:nvPr/>
        </p:nvSpPr>
        <p:spPr>
          <a:xfrm>
            <a:off x="15666148" y="603156"/>
            <a:ext cx="2489629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3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CA1 place cells (PC) fire robustly during DS2 events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EAAC26E8-ED8F-2644-FC0C-CFDBE48C7DB5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CC0EA053-6228-0A42-A0EC-287743D7D036}"/>
              </a:ext>
            </a:extLst>
          </p:cNvPr>
          <p:cNvSpPr>
            <a:spLocks/>
          </p:cNvSpPr>
          <p:nvPr/>
        </p:nvSpPr>
        <p:spPr>
          <a:xfrm>
            <a:off x="13735737" y="3514271"/>
            <a:ext cx="3816223" cy="52495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100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DS2 consistently decodes to current position.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5C551BC0-BD58-B3CE-D5E6-57359552CAF8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FCD499B6-99C6-7974-63E1-DE57BF565B3A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DS2 RECAP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071526B3-FE8B-2D08-060A-7172F921976C}"/>
              </a:ext>
            </a:extLst>
          </p:cNvPr>
          <p:cNvSpPr/>
          <p:nvPr/>
        </p:nvSpPr>
        <p:spPr>
          <a:xfrm>
            <a:off x="360538" y="190500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8277EA86-D485-C773-0DA0-34992F6091FF}"/>
              </a:ext>
            </a:extLst>
          </p:cNvPr>
          <p:cNvSpPr/>
          <p:nvPr/>
        </p:nvSpPr>
        <p:spPr>
          <a:xfrm>
            <a:off x="2652323" y="1910523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2D697997-9391-114D-6805-6144911434E5}"/>
              </a:ext>
            </a:extLst>
          </p:cNvPr>
          <p:cNvSpPr/>
          <p:nvPr/>
        </p:nvSpPr>
        <p:spPr>
          <a:xfrm>
            <a:off x="4944108" y="1904999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F228C3FA-0A33-78C6-5B7A-79FC4EF6A208}"/>
              </a:ext>
            </a:extLst>
          </p:cNvPr>
          <p:cNvSpPr/>
          <p:nvPr/>
        </p:nvSpPr>
        <p:spPr>
          <a:xfrm>
            <a:off x="7235893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12A47310-D810-D368-BD0F-8DFC84B98770}"/>
              </a:ext>
            </a:extLst>
          </p:cNvPr>
          <p:cNvSpPr/>
          <p:nvPr/>
        </p:nvSpPr>
        <p:spPr>
          <a:xfrm>
            <a:off x="9527678" y="1904998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26243F-88BC-C372-C550-E7A37E18CC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614" y="5118853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8F5CAD-80E7-5EC3-061D-EC319F038A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190" y="3331988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2F63A01-B867-E737-FE68-D0FBED7481B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34880"/>
          <a:stretch>
            <a:fillRect/>
          </a:stretch>
        </p:blipFill>
        <p:spPr>
          <a:xfrm>
            <a:off x="2553093" y="4466813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F73CE9-941E-3746-2A50-B9CF21D8BF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3093" y="3347228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B8F12CA9-F0D3-CBFB-151B-76478E5D613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9590" y="3330803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D165AC-5AA0-CA49-FE89-382C0BD0F5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90182" y="5069569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0AFED710-7C44-9C7C-2167-EAE04F698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31" y="3329743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A40ECA0-CBF2-D265-B159-5B16BEB19B0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47516" y="3329743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92131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D6172-F6D4-EE23-E9E3-46B25A03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!M1">
            <a:extLst>
              <a:ext uri="{FF2B5EF4-FFF2-40B4-BE49-F238E27FC236}">
                <a16:creationId xmlns:a16="http://schemas.microsoft.com/office/drawing/2014/main" id="{8FD53CD1-B506-DD3E-8E62-64CF7F4E4C65}"/>
              </a:ext>
            </a:extLst>
          </p:cNvPr>
          <p:cNvSpPr>
            <a:spLocks/>
          </p:cNvSpPr>
          <p:nvPr/>
        </p:nvSpPr>
        <p:spPr>
          <a:xfrm>
            <a:off x="-5105399" y="2722297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sensory activation for DS2</a:t>
            </a: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8E1BA813-F76B-693E-FCA3-BEB8D98A505F}"/>
              </a:ext>
            </a:extLst>
          </p:cNvPr>
          <p:cNvSpPr>
            <a:spLocks/>
          </p:cNvSpPr>
          <p:nvPr/>
        </p:nvSpPr>
        <p:spPr>
          <a:xfrm>
            <a:off x="-5105400" y="3821366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is generated by spontaneous arousal</a:t>
            </a:r>
            <a:r>
              <a:rPr lang="en-US" sz="4400" dirty="0">
                <a:solidFill>
                  <a:schemeClr val="bg1"/>
                </a:solidFill>
              </a:rPr>
              <a:t> as well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CEB4D28B-4D6A-D17D-1A20-8C51D9057008}"/>
              </a:ext>
            </a:extLst>
          </p:cNvPr>
          <p:cNvSpPr>
            <a:spLocks/>
          </p:cNvSpPr>
          <p:nvPr/>
        </p:nvSpPr>
        <p:spPr>
          <a:xfrm>
            <a:off x="-5105400" y="4943295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A “check in” signal </a:t>
            </a:r>
          </a:p>
        </p:txBody>
      </p:sp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F5C2AE6A-8D87-A120-C824-C933BD540118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6B71639E-3061-B11E-5E5B-B25775D82C9A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084C0AAA-7C03-C212-7AF0-C14F4BBCE3C6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pic>
        <p:nvPicPr>
          <p:cNvPr id="35" name="Picture 34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CB3ECF66-0F70-C7EC-4D53-D8A123D25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922" y="1219200"/>
            <a:ext cx="3659165" cy="214208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37" name="Picture 3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714258B-8F28-E572-6942-69AECA1E34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0" t="2034"/>
          <a:stretch>
            <a:fillRect/>
          </a:stretch>
        </p:blipFill>
        <p:spPr>
          <a:xfrm>
            <a:off x="17858266" y="4140751"/>
            <a:ext cx="4166485" cy="24124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3" name="!!M1">
            <a:extLst>
              <a:ext uri="{FF2B5EF4-FFF2-40B4-BE49-F238E27FC236}">
                <a16:creationId xmlns:a16="http://schemas.microsoft.com/office/drawing/2014/main" id="{47FC326F-D621-93A6-73F9-814F7A05C51B}"/>
              </a:ext>
            </a:extLst>
          </p:cNvPr>
          <p:cNvSpPr>
            <a:spLocks/>
          </p:cNvSpPr>
          <p:nvPr/>
        </p:nvSpPr>
        <p:spPr>
          <a:xfrm>
            <a:off x="12394995" y="210797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Triggered most likely by MEC</a:t>
            </a:r>
          </a:p>
        </p:txBody>
      </p:sp>
      <p:sp>
        <p:nvSpPr>
          <p:cNvPr id="44" name="!!M5">
            <a:extLst>
              <a:ext uri="{FF2B5EF4-FFF2-40B4-BE49-F238E27FC236}">
                <a16:creationId xmlns:a16="http://schemas.microsoft.com/office/drawing/2014/main" id="{E0A16142-B757-C678-D900-220900453563}"/>
              </a:ext>
            </a:extLst>
          </p:cNvPr>
          <p:cNvSpPr>
            <a:spLocks/>
          </p:cNvSpPr>
          <p:nvPr/>
        </p:nvSpPr>
        <p:spPr>
          <a:xfrm>
            <a:off x="18377171" y="603156"/>
            <a:ext cx="3690690" cy="512064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85000" lnSpcReduction="1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current location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7BB1CFEF-5D5E-1A82-A344-A3EFA65E6B11}"/>
              </a:ext>
            </a:extLst>
          </p:cNvPr>
          <p:cNvSpPr>
            <a:spLocks/>
          </p:cNvSpPr>
          <p:nvPr/>
        </p:nvSpPr>
        <p:spPr>
          <a:xfrm>
            <a:off x="4435201" y="1635294"/>
            <a:ext cx="3816223" cy="3202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Mostly reiterates points made in the figures.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46" name="!!M5">
            <a:extLst>
              <a:ext uri="{FF2B5EF4-FFF2-40B4-BE49-F238E27FC236}">
                <a16:creationId xmlns:a16="http://schemas.microsoft.com/office/drawing/2014/main" id="{4BB44EE5-D178-B78B-617A-0B3A3BE806D9}"/>
              </a:ext>
            </a:extLst>
          </p:cNvPr>
          <p:cNvSpPr>
            <a:spLocks/>
          </p:cNvSpPr>
          <p:nvPr/>
        </p:nvSpPr>
        <p:spPr>
          <a:xfrm>
            <a:off x="17858266" y="3518015"/>
            <a:ext cx="4209596" cy="52120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DS2 encodes state, not stimulus identity.</a:t>
            </a:r>
            <a:endParaRPr lang="en-US" sz="2400" u="sng" dirty="0">
              <a:solidFill>
                <a:schemeClr val="bg1"/>
              </a:solidFill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C5233473-A131-E5BB-6C1E-E11182112EAE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Discussion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5FDF934C-2E51-0E3B-0177-E11960A2CA77}"/>
              </a:ext>
            </a:extLst>
          </p:cNvPr>
          <p:cNvSpPr/>
          <p:nvPr/>
        </p:nvSpPr>
        <p:spPr>
          <a:xfrm>
            <a:off x="360538" y="79467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4C5364AB-5A6A-5172-5722-7D19D5591A8C}"/>
              </a:ext>
            </a:extLst>
          </p:cNvPr>
          <p:cNvSpPr/>
          <p:nvPr/>
        </p:nvSpPr>
        <p:spPr>
          <a:xfrm>
            <a:off x="2652323" y="79523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09665844-5514-4441-81C9-C2816A0B6AAD}"/>
              </a:ext>
            </a:extLst>
          </p:cNvPr>
          <p:cNvSpPr/>
          <p:nvPr/>
        </p:nvSpPr>
        <p:spPr>
          <a:xfrm>
            <a:off x="4944108" y="79467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63252D64-5678-D041-627C-803E2E2AF479}"/>
              </a:ext>
            </a:extLst>
          </p:cNvPr>
          <p:cNvSpPr/>
          <p:nvPr/>
        </p:nvSpPr>
        <p:spPr>
          <a:xfrm>
            <a:off x="7235893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25408C0C-C8DA-8282-D78E-FA61E658BB30}"/>
              </a:ext>
            </a:extLst>
          </p:cNvPr>
          <p:cNvSpPr/>
          <p:nvPr/>
        </p:nvSpPr>
        <p:spPr>
          <a:xfrm>
            <a:off x="9527678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A3E868-F4E4-8671-93C0-146CAC13A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614" y="11160650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1F766C-1051-8AFA-BBF8-2674722CD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190" y="9373785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04CE92-64E4-E59B-7AED-1AB522169BB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4880"/>
          <a:stretch>
            <a:fillRect/>
          </a:stretch>
        </p:blipFill>
        <p:spPr>
          <a:xfrm>
            <a:off x="2553093" y="10508610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5C5BCE6-8267-3BD0-67EB-0BE848A07E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3093" y="9389025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FEB4A5C5-C179-EFAB-8EDC-89A2E0047B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9590" y="9372600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7CF92B-E825-46FE-831D-0ACB8C49C0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0182" y="11111366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F5C356CA-2E6D-FA08-7D7D-03BD8C398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31" y="9371540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678DE172-9D7F-43AB-4964-F1C7AC1573C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</a:blip>
          <a:stretch>
            <a:fillRect/>
          </a:stretch>
        </p:blipFill>
        <p:spPr>
          <a:xfrm>
            <a:off x="7247704" y="10573360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E0C6605-EDFE-F901-B415-7C3831EC85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47516" y="9371540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M1">
            <a:extLst>
              <a:ext uri="{FF2B5EF4-FFF2-40B4-BE49-F238E27FC236}">
                <a16:creationId xmlns:a16="http://schemas.microsoft.com/office/drawing/2014/main" id="{711B0089-2C06-D6CA-5EEA-201D97ABAFA7}"/>
              </a:ext>
            </a:extLst>
          </p:cNvPr>
          <p:cNvSpPr>
            <a:spLocks/>
          </p:cNvSpPr>
          <p:nvPr/>
        </p:nvSpPr>
        <p:spPr>
          <a:xfrm>
            <a:off x="-5257800" y="210797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difference in Tone vs Puff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F3EC85-9EF6-6FAF-69EB-CED0F217A3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5257800" y="2764476"/>
            <a:ext cx="2467256" cy="3455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48E3E21-AABB-EC61-FDDE-615D8C6EBA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13439956" y="2760397"/>
            <a:ext cx="2889335" cy="20830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!!Focus">
            <a:extLst>
              <a:ext uri="{FF2B5EF4-FFF2-40B4-BE49-F238E27FC236}">
                <a16:creationId xmlns:a16="http://schemas.microsoft.com/office/drawing/2014/main" id="{E065825C-B233-F205-857B-81CBF70B1DE1}"/>
              </a:ext>
            </a:extLst>
          </p:cNvPr>
          <p:cNvSpPr/>
          <p:nvPr/>
        </p:nvSpPr>
        <p:spPr>
          <a:xfrm>
            <a:off x="15877699" y="4202334"/>
            <a:ext cx="604745" cy="25193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55C20465-D7D0-F0D1-AD82-814491241A38}"/>
              </a:ext>
            </a:extLst>
          </p:cNvPr>
          <p:cNvSpPr>
            <a:spLocks/>
          </p:cNvSpPr>
          <p:nvPr/>
        </p:nvSpPr>
        <p:spPr>
          <a:xfrm>
            <a:off x="12573000" y="4960420"/>
            <a:ext cx="4270451" cy="105776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r>
              <a:rPr lang="en-US" dirty="0"/>
              <a:t>MEC Contains: Neurons that encode </a:t>
            </a:r>
            <a:r>
              <a:rPr lang="en-US" b="1" dirty="0"/>
              <a:t>self-referenced movement variables</a:t>
            </a:r>
            <a:r>
              <a:rPr lang="en-US" dirty="0"/>
              <a:t>, </a:t>
            </a:r>
            <a:r>
              <a:rPr lang="en-US" b="1" dirty="0"/>
              <a:t>locations</a:t>
            </a:r>
            <a:r>
              <a:rPr lang="en-US" dirty="0"/>
              <a:t>, and </a:t>
            </a:r>
            <a:r>
              <a:rPr lang="en-US" b="1" dirty="0"/>
              <a:t>environmental borders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61541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336B8-C5BB-FF47-F30C-CED5919CA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30E2A5F7-DAC4-6FC4-8EA8-937CBFE69727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ED10E4E1-2B4A-8C3C-89F9-1E1B02375A80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11E8A5F1-E45A-ED5A-698F-9B7593B4BD91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C883329C-0CE9-2456-50A8-C9C89DCCCEFF}"/>
              </a:ext>
            </a:extLst>
          </p:cNvPr>
          <p:cNvSpPr>
            <a:spLocks/>
          </p:cNvSpPr>
          <p:nvPr/>
        </p:nvSpPr>
        <p:spPr>
          <a:xfrm>
            <a:off x="12547395" y="210797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Triggered most likely by MEC</a:t>
            </a: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89AC1B2C-BF6E-EFB7-7DFD-A719420F57BE}"/>
              </a:ext>
            </a:extLst>
          </p:cNvPr>
          <p:cNvSpPr>
            <a:spLocks/>
          </p:cNvSpPr>
          <p:nvPr/>
        </p:nvSpPr>
        <p:spPr>
          <a:xfrm>
            <a:off x="4435201" y="1635294"/>
            <a:ext cx="3816223" cy="3202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Mostly reiterates points made in the figures.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658B2ECB-8F5A-4582-7B44-E8D9E7EFDA44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Discussion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D3BA73F9-5DA5-A386-8E18-F6F22B519E66}"/>
              </a:ext>
            </a:extLst>
          </p:cNvPr>
          <p:cNvSpPr/>
          <p:nvPr/>
        </p:nvSpPr>
        <p:spPr>
          <a:xfrm>
            <a:off x="360538" y="79467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F68A57DC-7E03-5E1E-721D-E8EB12B4720D}"/>
              </a:ext>
            </a:extLst>
          </p:cNvPr>
          <p:cNvSpPr/>
          <p:nvPr/>
        </p:nvSpPr>
        <p:spPr>
          <a:xfrm>
            <a:off x="2652323" y="79523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BB8F9203-B794-D1B9-74A4-5E8D1B90EA96}"/>
              </a:ext>
            </a:extLst>
          </p:cNvPr>
          <p:cNvSpPr/>
          <p:nvPr/>
        </p:nvSpPr>
        <p:spPr>
          <a:xfrm>
            <a:off x="4944108" y="79467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1EDA8EB5-EFED-DF85-EC3C-3DEDECACE839}"/>
              </a:ext>
            </a:extLst>
          </p:cNvPr>
          <p:cNvSpPr/>
          <p:nvPr/>
        </p:nvSpPr>
        <p:spPr>
          <a:xfrm>
            <a:off x="7235893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D419D1CD-1585-0CBD-0A2E-B330D60922A2}"/>
              </a:ext>
            </a:extLst>
          </p:cNvPr>
          <p:cNvSpPr/>
          <p:nvPr/>
        </p:nvSpPr>
        <p:spPr>
          <a:xfrm>
            <a:off x="9527678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1F0F37-47CF-D02C-62C9-11F4C74E6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4" y="11160650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9224D5-0CFC-5F25-F6D1-C46608551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0" y="9373785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86B9EF-32E9-8BFF-E43C-3CA372BDA9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2553093" y="10508610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D331289-9B74-1B89-B788-C18C907F16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93" y="9389025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B76A89DC-BC02-E479-3DEF-715AB12F23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590" y="9372600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EB8478-5413-708F-C792-FD74CC8658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182" y="11111366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FD15C90B-5F5B-91B4-B70F-6A2AB8E290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8131" y="9371540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477DEE6A-A476-90C8-03F1-893BE448D155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7247704" y="10573360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5866C5-72D3-1BE8-A2A9-C38FA4A434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516" y="9371540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M1">
            <a:extLst>
              <a:ext uri="{FF2B5EF4-FFF2-40B4-BE49-F238E27FC236}">
                <a16:creationId xmlns:a16="http://schemas.microsoft.com/office/drawing/2014/main" id="{53241292-92BE-74DB-668A-5305B8B31CCC}"/>
              </a:ext>
            </a:extLst>
          </p:cNvPr>
          <p:cNvSpPr>
            <a:spLocks/>
          </p:cNvSpPr>
          <p:nvPr/>
        </p:nvSpPr>
        <p:spPr>
          <a:xfrm>
            <a:off x="564621" y="210797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difference in Tone vs Puff</a:t>
            </a: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21DF08D7-CCCF-AD40-2021-19C278F85930}"/>
              </a:ext>
            </a:extLst>
          </p:cNvPr>
          <p:cNvSpPr>
            <a:spLocks/>
          </p:cNvSpPr>
          <p:nvPr/>
        </p:nvSpPr>
        <p:spPr>
          <a:xfrm>
            <a:off x="881325" y="2750709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sensory activation for DS2</a:t>
            </a: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C0B4B97B-9595-18E2-083A-9C31C724F7D2}"/>
              </a:ext>
            </a:extLst>
          </p:cNvPr>
          <p:cNvSpPr>
            <a:spLocks/>
          </p:cNvSpPr>
          <p:nvPr/>
        </p:nvSpPr>
        <p:spPr>
          <a:xfrm>
            <a:off x="881324" y="3849778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is generated by spontaneous arousal</a:t>
            </a:r>
            <a:r>
              <a:rPr lang="en-US" sz="4400" dirty="0">
                <a:solidFill>
                  <a:schemeClr val="bg1"/>
                </a:solidFill>
              </a:rPr>
              <a:t> as well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7A423B82-7D28-C708-5765-9A5D87D4EBEF}"/>
              </a:ext>
            </a:extLst>
          </p:cNvPr>
          <p:cNvSpPr>
            <a:spLocks/>
          </p:cNvSpPr>
          <p:nvPr/>
        </p:nvSpPr>
        <p:spPr>
          <a:xfrm>
            <a:off x="881324" y="4971707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A “check in” signal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C63C5DE-7DDE-F351-73DA-737AAB0414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13592356" y="2760397"/>
            <a:ext cx="2889335" cy="20830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!!Focus">
            <a:extLst>
              <a:ext uri="{FF2B5EF4-FFF2-40B4-BE49-F238E27FC236}">
                <a16:creationId xmlns:a16="http://schemas.microsoft.com/office/drawing/2014/main" id="{ECF1FD95-7A33-3BF3-A2F1-8EE276C75BCD}"/>
              </a:ext>
            </a:extLst>
          </p:cNvPr>
          <p:cNvSpPr/>
          <p:nvPr/>
        </p:nvSpPr>
        <p:spPr>
          <a:xfrm>
            <a:off x="16030099" y="4202334"/>
            <a:ext cx="604745" cy="25193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AA780C5A-122F-CC05-FDE3-8324C5206A7C}"/>
              </a:ext>
            </a:extLst>
          </p:cNvPr>
          <p:cNvSpPr>
            <a:spLocks/>
          </p:cNvSpPr>
          <p:nvPr/>
        </p:nvSpPr>
        <p:spPr>
          <a:xfrm>
            <a:off x="12725400" y="4960420"/>
            <a:ext cx="4270451" cy="105776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r>
              <a:rPr lang="en-US" dirty="0"/>
              <a:t>MEC Contains: Neurons that encode </a:t>
            </a:r>
            <a:r>
              <a:rPr lang="en-US" b="1" dirty="0"/>
              <a:t>self-referenced movement variables</a:t>
            </a:r>
            <a:r>
              <a:rPr lang="en-US" dirty="0"/>
              <a:t>, </a:t>
            </a:r>
            <a:r>
              <a:rPr lang="en-US" b="1" dirty="0"/>
              <a:t>locations</a:t>
            </a:r>
            <a:r>
              <a:rPr lang="en-US" dirty="0"/>
              <a:t>, and </a:t>
            </a:r>
            <a:r>
              <a:rPr lang="en-US" b="1" dirty="0"/>
              <a:t>environmental borders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4DA932-ACA5-F10D-4E93-0FCB19A717B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621" y="2764476"/>
            <a:ext cx="2467256" cy="3455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0777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63C3-7036-7766-EFA2-71C9EBC5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56FFE6F8-2863-6FC9-62C3-B1EE046AD84A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DAC7CB63-92D0-CF4E-7CD6-5AA666AE5A9C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E9F71F27-76DB-101D-C16B-6B990B064F12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4D8D1168-79C2-E171-261F-4FBFB73A932C}"/>
              </a:ext>
            </a:extLst>
          </p:cNvPr>
          <p:cNvSpPr>
            <a:spLocks/>
          </p:cNvSpPr>
          <p:nvPr/>
        </p:nvSpPr>
        <p:spPr>
          <a:xfrm>
            <a:off x="12547395" y="210797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Triggered most likely by MEC</a:t>
            </a: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822551A2-37C9-F69E-3F66-5806672718F9}"/>
              </a:ext>
            </a:extLst>
          </p:cNvPr>
          <p:cNvSpPr>
            <a:spLocks/>
          </p:cNvSpPr>
          <p:nvPr/>
        </p:nvSpPr>
        <p:spPr>
          <a:xfrm>
            <a:off x="4435201" y="1635294"/>
            <a:ext cx="3816223" cy="3202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Mostly reiterates points made in the figures.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7ACA3D9A-F658-8B34-B972-A391326F0E9A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Discussion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7ABBCBB9-9301-171E-ADE8-04DE01179E11}"/>
              </a:ext>
            </a:extLst>
          </p:cNvPr>
          <p:cNvSpPr/>
          <p:nvPr/>
        </p:nvSpPr>
        <p:spPr>
          <a:xfrm>
            <a:off x="360538" y="79467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D4B174B5-AA22-0E13-E759-184568571B52}"/>
              </a:ext>
            </a:extLst>
          </p:cNvPr>
          <p:cNvSpPr/>
          <p:nvPr/>
        </p:nvSpPr>
        <p:spPr>
          <a:xfrm>
            <a:off x="2652323" y="79523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BC72E60E-0D44-4390-40DC-6371ED9C006C}"/>
              </a:ext>
            </a:extLst>
          </p:cNvPr>
          <p:cNvSpPr/>
          <p:nvPr/>
        </p:nvSpPr>
        <p:spPr>
          <a:xfrm>
            <a:off x="4944108" y="79467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B07B9AA0-DBB0-E580-2D87-4FE478ADA9BA}"/>
              </a:ext>
            </a:extLst>
          </p:cNvPr>
          <p:cNvSpPr/>
          <p:nvPr/>
        </p:nvSpPr>
        <p:spPr>
          <a:xfrm>
            <a:off x="7235893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9F82337E-20D1-D7D3-2F36-2528B4B4D796}"/>
              </a:ext>
            </a:extLst>
          </p:cNvPr>
          <p:cNvSpPr/>
          <p:nvPr/>
        </p:nvSpPr>
        <p:spPr>
          <a:xfrm>
            <a:off x="9527678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6EE132-18ED-E80D-0C78-2E8BE86AF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4" y="11160650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5B53F2-14CD-6AEF-F2B7-4B8F1DA76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0" y="9373785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53D81D-05B3-5777-8F60-61368572F6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2553093" y="10508610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71F9DF-9C53-BF0B-1259-58C9CC18AA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93" y="9389025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32291F57-6C80-CD0A-ECEF-023E51B72A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590" y="9372600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9399835-3658-10AA-782C-D77A130F7A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182" y="11111366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1F60DE52-E5E9-2AD4-68CF-20C199CCFD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8131" y="9371540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9B18155D-5F34-44B2-CD32-B644384123D8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7247704" y="10573360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5FF10DC-8B59-2507-03EF-3D0A3780C8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516" y="9371540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M1">
            <a:extLst>
              <a:ext uri="{FF2B5EF4-FFF2-40B4-BE49-F238E27FC236}">
                <a16:creationId xmlns:a16="http://schemas.microsoft.com/office/drawing/2014/main" id="{AB42A366-9231-F57A-259A-34FA43D76908}"/>
              </a:ext>
            </a:extLst>
          </p:cNvPr>
          <p:cNvSpPr>
            <a:spLocks/>
          </p:cNvSpPr>
          <p:nvPr/>
        </p:nvSpPr>
        <p:spPr>
          <a:xfrm>
            <a:off x="564621" y="210797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difference in Tone vs Puff</a:t>
            </a: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1CA57D77-875E-2048-AFED-52593621E9C2}"/>
              </a:ext>
            </a:extLst>
          </p:cNvPr>
          <p:cNvSpPr>
            <a:spLocks/>
          </p:cNvSpPr>
          <p:nvPr/>
        </p:nvSpPr>
        <p:spPr>
          <a:xfrm>
            <a:off x="3200401" y="2750709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sensory activation for DS2</a:t>
            </a: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F1463382-0E8C-2F4B-A3F5-687B14326476}"/>
              </a:ext>
            </a:extLst>
          </p:cNvPr>
          <p:cNvSpPr>
            <a:spLocks/>
          </p:cNvSpPr>
          <p:nvPr/>
        </p:nvSpPr>
        <p:spPr>
          <a:xfrm>
            <a:off x="3200400" y="3849778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is generated by spontaneous arousal</a:t>
            </a:r>
            <a:r>
              <a:rPr lang="en-US" sz="4400" dirty="0">
                <a:solidFill>
                  <a:schemeClr val="bg1"/>
                </a:solidFill>
              </a:rPr>
              <a:t> as well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C4210956-DF13-B7C0-0429-DCFA5F6CF769}"/>
              </a:ext>
            </a:extLst>
          </p:cNvPr>
          <p:cNvSpPr>
            <a:spLocks/>
          </p:cNvSpPr>
          <p:nvPr/>
        </p:nvSpPr>
        <p:spPr>
          <a:xfrm>
            <a:off x="3200400" y="4971707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A “check in” signal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9F6D41C-838F-42EA-DC7E-8B1AA557880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13592356" y="2760397"/>
            <a:ext cx="2889335" cy="20830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!!Focus">
            <a:extLst>
              <a:ext uri="{FF2B5EF4-FFF2-40B4-BE49-F238E27FC236}">
                <a16:creationId xmlns:a16="http://schemas.microsoft.com/office/drawing/2014/main" id="{BEDB2EBF-4614-9A6D-2223-A3793B603DE9}"/>
              </a:ext>
            </a:extLst>
          </p:cNvPr>
          <p:cNvSpPr/>
          <p:nvPr/>
        </p:nvSpPr>
        <p:spPr>
          <a:xfrm>
            <a:off x="16030099" y="4202334"/>
            <a:ext cx="604745" cy="25193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E3BB8D-2CF1-EF7B-0A93-11B3C692A46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621" y="2764476"/>
            <a:ext cx="2467256" cy="3455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837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95BE-CB60-7572-3653-58188E3E2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EFFB6836-F882-45B2-F12C-AB4A4B6322E3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8BDA9D8F-1C9B-67A3-EC91-EA7499C05D7F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84F34F49-8ABC-BA4A-2A7E-921E0A8D537C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1585896F-33EF-F3F2-1837-2D4841E3021C}"/>
              </a:ext>
            </a:extLst>
          </p:cNvPr>
          <p:cNvSpPr>
            <a:spLocks/>
          </p:cNvSpPr>
          <p:nvPr/>
        </p:nvSpPr>
        <p:spPr>
          <a:xfrm>
            <a:off x="7235893" y="210797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Triggered most likely by MEC</a:t>
            </a: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B9672495-7D01-6AAA-E72F-83C2846130B3}"/>
              </a:ext>
            </a:extLst>
          </p:cNvPr>
          <p:cNvSpPr>
            <a:spLocks/>
          </p:cNvSpPr>
          <p:nvPr/>
        </p:nvSpPr>
        <p:spPr>
          <a:xfrm>
            <a:off x="4435201" y="1635294"/>
            <a:ext cx="3816223" cy="3202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Mostly reiterates points made in the figures.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D1EBC3C4-9069-7C0F-F808-373A5D9DB8DE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Discussion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BBC3E1DF-FD01-41E0-8D88-58DE330730AE}"/>
              </a:ext>
            </a:extLst>
          </p:cNvPr>
          <p:cNvSpPr/>
          <p:nvPr/>
        </p:nvSpPr>
        <p:spPr>
          <a:xfrm>
            <a:off x="360538" y="79467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82464468-666E-D466-9DB6-E78EDFBBDA96}"/>
              </a:ext>
            </a:extLst>
          </p:cNvPr>
          <p:cNvSpPr/>
          <p:nvPr/>
        </p:nvSpPr>
        <p:spPr>
          <a:xfrm>
            <a:off x="2652323" y="79523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2E56A18F-EE6B-C2AE-EA47-F380A82E153A}"/>
              </a:ext>
            </a:extLst>
          </p:cNvPr>
          <p:cNvSpPr/>
          <p:nvPr/>
        </p:nvSpPr>
        <p:spPr>
          <a:xfrm>
            <a:off x="4944108" y="79467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2CCEF86F-5A1C-1A88-0188-60AA1055997E}"/>
              </a:ext>
            </a:extLst>
          </p:cNvPr>
          <p:cNvSpPr/>
          <p:nvPr/>
        </p:nvSpPr>
        <p:spPr>
          <a:xfrm>
            <a:off x="7235893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A95BDA1E-365F-B4E6-EC55-00BF081117AB}"/>
              </a:ext>
            </a:extLst>
          </p:cNvPr>
          <p:cNvSpPr/>
          <p:nvPr/>
        </p:nvSpPr>
        <p:spPr>
          <a:xfrm>
            <a:off x="9527678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179EB0-C69D-EDA7-F56F-8411D4BA4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4" y="11160650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0BBCFE-028A-C019-D18B-63F4D37C5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0" y="9373785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CF6021-2DB3-8385-9171-8FEF23C5D3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2553093" y="10508610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427D07-9F6F-7141-7A82-A06C3D745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93" y="9389025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5B584BE2-2957-544A-E9DB-F597DC5ADE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590" y="9372600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B9D08A9-45E9-2472-C525-A636FFB46C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182" y="11111366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FAE38037-E52B-A493-43B8-AB19DD9030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8131" y="9371540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C2EBF4A3-2BA0-C653-FD7D-2E5B9F34734D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7247704" y="10573360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8547464-00B5-012A-C425-F2A2BA38BF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516" y="9371540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M1">
            <a:extLst>
              <a:ext uri="{FF2B5EF4-FFF2-40B4-BE49-F238E27FC236}">
                <a16:creationId xmlns:a16="http://schemas.microsoft.com/office/drawing/2014/main" id="{5C6E9FC1-73C7-825F-4FCC-A4F9CFC62719}"/>
              </a:ext>
            </a:extLst>
          </p:cNvPr>
          <p:cNvSpPr>
            <a:spLocks/>
          </p:cNvSpPr>
          <p:nvPr/>
        </p:nvSpPr>
        <p:spPr>
          <a:xfrm>
            <a:off x="564621" y="210797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difference in Tone vs Puff</a:t>
            </a: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FE0254F1-AE49-FA00-6ADD-95C9F5BC5F92}"/>
              </a:ext>
            </a:extLst>
          </p:cNvPr>
          <p:cNvSpPr>
            <a:spLocks/>
          </p:cNvSpPr>
          <p:nvPr/>
        </p:nvSpPr>
        <p:spPr>
          <a:xfrm>
            <a:off x="3200401" y="2750709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sensory activation for DS2</a:t>
            </a: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EEEB9A34-154D-9E24-CE4C-E69182F8250C}"/>
              </a:ext>
            </a:extLst>
          </p:cNvPr>
          <p:cNvSpPr>
            <a:spLocks/>
          </p:cNvSpPr>
          <p:nvPr/>
        </p:nvSpPr>
        <p:spPr>
          <a:xfrm>
            <a:off x="3200400" y="3849778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is generated by spontaneous arousal</a:t>
            </a:r>
            <a:r>
              <a:rPr lang="en-US" sz="4400" dirty="0">
                <a:solidFill>
                  <a:schemeClr val="bg1"/>
                </a:solidFill>
              </a:rPr>
              <a:t> as well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6BAB6B6F-D73F-27D0-D28B-6B7810E56EA2}"/>
              </a:ext>
            </a:extLst>
          </p:cNvPr>
          <p:cNvSpPr>
            <a:spLocks/>
          </p:cNvSpPr>
          <p:nvPr/>
        </p:nvSpPr>
        <p:spPr>
          <a:xfrm>
            <a:off x="3200400" y="4971707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A “check in” signal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B7276-6686-4101-10EA-8261F9510D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8380454" y="2760397"/>
            <a:ext cx="2889335" cy="20830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!!Focus">
            <a:extLst>
              <a:ext uri="{FF2B5EF4-FFF2-40B4-BE49-F238E27FC236}">
                <a16:creationId xmlns:a16="http://schemas.microsoft.com/office/drawing/2014/main" id="{762D7AAF-A465-2835-3B4C-6AEA1ACD3F35}"/>
              </a:ext>
            </a:extLst>
          </p:cNvPr>
          <p:cNvSpPr/>
          <p:nvPr/>
        </p:nvSpPr>
        <p:spPr>
          <a:xfrm>
            <a:off x="10818197" y="4202334"/>
            <a:ext cx="604745" cy="25193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8CF7C478-1327-5544-EB70-437F4578D570}"/>
              </a:ext>
            </a:extLst>
          </p:cNvPr>
          <p:cNvSpPr>
            <a:spLocks/>
          </p:cNvSpPr>
          <p:nvPr/>
        </p:nvSpPr>
        <p:spPr>
          <a:xfrm>
            <a:off x="7688075" y="6889027"/>
            <a:ext cx="4270451" cy="105776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r>
              <a:rPr lang="en-US" dirty="0"/>
              <a:t>MEC Contains: Neurons that encode </a:t>
            </a:r>
            <a:r>
              <a:rPr lang="en-US" b="1" dirty="0"/>
              <a:t>self-referenced movement variables</a:t>
            </a:r>
            <a:r>
              <a:rPr lang="en-US" dirty="0"/>
              <a:t>, </a:t>
            </a:r>
            <a:r>
              <a:rPr lang="en-US" b="1" dirty="0"/>
              <a:t>locations</a:t>
            </a:r>
            <a:r>
              <a:rPr lang="en-US" dirty="0"/>
              <a:t>, and </a:t>
            </a:r>
            <a:r>
              <a:rPr lang="en-US" b="1" dirty="0"/>
              <a:t>environmental borders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E66C7C-E549-D635-5FE6-64D10ACBD47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621" y="2764476"/>
            <a:ext cx="2467256" cy="3455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335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190F9-10F1-C3EF-886C-FAEEB49EE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86EDDCFA-E93F-E796-D089-DC60DFB95989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1FA5EE36-0F49-C134-4208-B086DD423661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107A8303-E6B9-73FF-E2B9-8DC9155EDB56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06092FD5-4F30-F8E4-B9EB-0B003D54EEE4}"/>
              </a:ext>
            </a:extLst>
          </p:cNvPr>
          <p:cNvSpPr>
            <a:spLocks/>
          </p:cNvSpPr>
          <p:nvPr/>
        </p:nvSpPr>
        <p:spPr>
          <a:xfrm>
            <a:off x="7235893" y="210797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55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Triggered most likely by MEC</a:t>
            </a: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232A248E-36C6-C02D-14BE-40D42DA25E41}"/>
              </a:ext>
            </a:extLst>
          </p:cNvPr>
          <p:cNvSpPr>
            <a:spLocks/>
          </p:cNvSpPr>
          <p:nvPr/>
        </p:nvSpPr>
        <p:spPr>
          <a:xfrm>
            <a:off x="4435201" y="1635294"/>
            <a:ext cx="3816223" cy="3202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Mostly reiterates points made in the figures.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54B417FF-C49E-6FE0-653E-FAE35DEB6A51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Discussion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756B09BC-3626-4042-5300-818C01C8E280}"/>
              </a:ext>
            </a:extLst>
          </p:cNvPr>
          <p:cNvSpPr/>
          <p:nvPr/>
        </p:nvSpPr>
        <p:spPr>
          <a:xfrm>
            <a:off x="360538" y="79467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0789F6B2-1A4A-9046-7780-61766C00B845}"/>
              </a:ext>
            </a:extLst>
          </p:cNvPr>
          <p:cNvSpPr/>
          <p:nvPr/>
        </p:nvSpPr>
        <p:spPr>
          <a:xfrm>
            <a:off x="2652323" y="79523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6ECF1EC1-527D-9239-A1A7-5D55B801A366}"/>
              </a:ext>
            </a:extLst>
          </p:cNvPr>
          <p:cNvSpPr/>
          <p:nvPr/>
        </p:nvSpPr>
        <p:spPr>
          <a:xfrm>
            <a:off x="4944108" y="79467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02C022D4-68E8-1910-D5C6-6FD380576DE2}"/>
              </a:ext>
            </a:extLst>
          </p:cNvPr>
          <p:cNvSpPr/>
          <p:nvPr/>
        </p:nvSpPr>
        <p:spPr>
          <a:xfrm>
            <a:off x="7235893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67298C2F-9BB9-A45B-DD35-EF98481C8425}"/>
              </a:ext>
            </a:extLst>
          </p:cNvPr>
          <p:cNvSpPr/>
          <p:nvPr/>
        </p:nvSpPr>
        <p:spPr>
          <a:xfrm>
            <a:off x="9527678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7F85AC-CD5E-3FB9-4915-4AB08A2BD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4" y="11160650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2E5881-0D8B-FAF0-C94B-13D8E28D8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0" y="9373785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165D1A-2AE7-914A-C4E5-D1BB1F7F78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2553093" y="10508610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C06693-3446-4BE6-229D-D334F30BD7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93" y="9389025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F4FAC8D0-C502-010E-569F-DE7018E729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590" y="9372600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383943-E6D5-5483-C713-2887484BF5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182" y="11111366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8A7116E0-524F-00EB-2A89-BF29FA920C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8131" y="9371540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E2DCB016-7F34-AB79-D2FA-34F0435F3585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7247704" y="10573360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C8F17D1-742B-9C03-448E-CE7D8FFF87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516" y="9371540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M1">
            <a:extLst>
              <a:ext uri="{FF2B5EF4-FFF2-40B4-BE49-F238E27FC236}">
                <a16:creationId xmlns:a16="http://schemas.microsoft.com/office/drawing/2014/main" id="{6FB65F98-64F8-3260-6B03-419EE3A121CD}"/>
              </a:ext>
            </a:extLst>
          </p:cNvPr>
          <p:cNvSpPr>
            <a:spLocks/>
          </p:cNvSpPr>
          <p:nvPr/>
        </p:nvSpPr>
        <p:spPr>
          <a:xfrm>
            <a:off x="564621" y="210797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62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difference in Tone vs Puff</a:t>
            </a: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262E0D06-AAA3-6328-15E3-C699D0C6AF86}"/>
              </a:ext>
            </a:extLst>
          </p:cNvPr>
          <p:cNvSpPr>
            <a:spLocks/>
          </p:cNvSpPr>
          <p:nvPr/>
        </p:nvSpPr>
        <p:spPr>
          <a:xfrm>
            <a:off x="3200401" y="2750709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sensory activation for DS2</a:t>
            </a: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280605B8-F0A2-7ED4-CFE1-4026B9CF6CAC}"/>
              </a:ext>
            </a:extLst>
          </p:cNvPr>
          <p:cNvSpPr>
            <a:spLocks/>
          </p:cNvSpPr>
          <p:nvPr/>
        </p:nvSpPr>
        <p:spPr>
          <a:xfrm>
            <a:off x="3200400" y="3849778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is generated by spontaneous arousal</a:t>
            </a:r>
            <a:r>
              <a:rPr lang="en-US" sz="4400" dirty="0">
                <a:solidFill>
                  <a:schemeClr val="bg1"/>
                </a:solidFill>
              </a:rPr>
              <a:t> as well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A0739781-EF3D-2488-46B1-3241D59DB21B}"/>
              </a:ext>
            </a:extLst>
          </p:cNvPr>
          <p:cNvSpPr>
            <a:spLocks/>
          </p:cNvSpPr>
          <p:nvPr/>
        </p:nvSpPr>
        <p:spPr>
          <a:xfrm>
            <a:off x="3200400" y="4971707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A “check in” signal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3459A5-12C9-3E9E-D220-13629A356E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8380454" y="2760397"/>
            <a:ext cx="2889335" cy="20830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!!Focus">
            <a:extLst>
              <a:ext uri="{FF2B5EF4-FFF2-40B4-BE49-F238E27FC236}">
                <a16:creationId xmlns:a16="http://schemas.microsoft.com/office/drawing/2014/main" id="{A04FC1E3-18E4-7CF8-54D6-FE76F21FF277}"/>
              </a:ext>
            </a:extLst>
          </p:cNvPr>
          <p:cNvSpPr/>
          <p:nvPr/>
        </p:nvSpPr>
        <p:spPr>
          <a:xfrm>
            <a:off x="10818197" y="4202334"/>
            <a:ext cx="604745" cy="25193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7C096CBD-0E80-5000-0EED-E896CC53ABE3}"/>
              </a:ext>
            </a:extLst>
          </p:cNvPr>
          <p:cNvSpPr>
            <a:spLocks/>
          </p:cNvSpPr>
          <p:nvPr/>
        </p:nvSpPr>
        <p:spPr>
          <a:xfrm>
            <a:off x="7688075" y="5073173"/>
            <a:ext cx="4270451" cy="105776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 lnSpcReduction="20000"/>
          </a:bodyPr>
          <a:lstStyle/>
          <a:p>
            <a:r>
              <a:rPr lang="en-US" dirty="0"/>
              <a:t>MEC Contains: Neurons that encode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Self-referenced movement variables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Environmental borders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A7E8D1-CCF5-83BF-A58B-73F126ADAC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621" y="2764476"/>
            <a:ext cx="2467256" cy="3455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1249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D853E-39F0-721F-FC88-6222928B8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67D5597B-ECDA-483D-47E8-049CD768A868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0F358E85-F8C5-C35A-F4BC-523EEE54899B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46678114-6E34-45AE-B28E-EA770417E4FD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81D5AFC5-D8EF-6786-3348-83E7ABB4C071}"/>
              </a:ext>
            </a:extLst>
          </p:cNvPr>
          <p:cNvSpPr>
            <a:spLocks/>
          </p:cNvSpPr>
          <p:nvPr/>
        </p:nvSpPr>
        <p:spPr>
          <a:xfrm>
            <a:off x="7235893" y="164911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Weaknesses</a:t>
            </a: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F0D894E2-5FD4-9F75-FA53-E513F3D708CE}"/>
              </a:ext>
            </a:extLst>
          </p:cNvPr>
          <p:cNvSpPr>
            <a:spLocks/>
          </p:cNvSpPr>
          <p:nvPr/>
        </p:nvSpPr>
        <p:spPr>
          <a:xfrm>
            <a:off x="4435201" y="941037"/>
            <a:ext cx="3816223" cy="3202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Mostly reiterates points made in the figures.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4864089A-03BE-94EF-5075-04F1401C7A63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85000" lnSpcReduction="2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Strengths &amp; Weaknesses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81525EFC-370F-3A30-CC95-727B187555D6}"/>
              </a:ext>
            </a:extLst>
          </p:cNvPr>
          <p:cNvSpPr/>
          <p:nvPr/>
        </p:nvSpPr>
        <p:spPr>
          <a:xfrm>
            <a:off x="360538" y="79467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5A4E03D5-2385-D9A2-95B1-F2BD6EFDE67A}"/>
              </a:ext>
            </a:extLst>
          </p:cNvPr>
          <p:cNvSpPr/>
          <p:nvPr/>
        </p:nvSpPr>
        <p:spPr>
          <a:xfrm>
            <a:off x="2652323" y="79523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023753FF-911F-E171-A11B-FAE1D3F5CA45}"/>
              </a:ext>
            </a:extLst>
          </p:cNvPr>
          <p:cNvSpPr/>
          <p:nvPr/>
        </p:nvSpPr>
        <p:spPr>
          <a:xfrm>
            <a:off x="4944108" y="79467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083303A8-5A49-2140-5BCB-267789EB9556}"/>
              </a:ext>
            </a:extLst>
          </p:cNvPr>
          <p:cNvSpPr/>
          <p:nvPr/>
        </p:nvSpPr>
        <p:spPr>
          <a:xfrm>
            <a:off x="7235893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34C1AE24-9653-1D83-A18B-199092B5AFC3}"/>
              </a:ext>
            </a:extLst>
          </p:cNvPr>
          <p:cNvSpPr/>
          <p:nvPr/>
        </p:nvSpPr>
        <p:spPr>
          <a:xfrm>
            <a:off x="9527678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FB6EFE-7224-B88E-06DB-AE374A12C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4" y="11160650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591F7E-C8BA-B4BD-4EE5-5A3731E7C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0" y="9373785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300D14-FE2E-3D85-1E65-B3A1850EBB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2553093" y="10508610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9A79A0-33B7-C5D4-04BF-D6B2F8CA72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93" y="9389025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CC9AD167-368C-50A7-CBCA-9A6A5ABD46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590" y="9372600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6CB0049-B6AF-D371-3A1E-454DE1471F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182" y="11111366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7797BAC6-5C7F-4E9A-7BBD-0C1C5F3A7E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8131" y="9371540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0B85EFE0-B10D-CCB4-D016-8DA6116ED88D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7247704" y="10573360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47AC2F8-3C92-8361-9ADC-A8EF79E7A9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516" y="9371540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M1">
            <a:extLst>
              <a:ext uri="{FF2B5EF4-FFF2-40B4-BE49-F238E27FC236}">
                <a16:creationId xmlns:a16="http://schemas.microsoft.com/office/drawing/2014/main" id="{6DCFDA75-CD10-DC4D-E8EB-C6B69E99CBF6}"/>
              </a:ext>
            </a:extLst>
          </p:cNvPr>
          <p:cNvSpPr>
            <a:spLocks/>
          </p:cNvSpPr>
          <p:nvPr/>
        </p:nvSpPr>
        <p:spPr>
          <a:xfrm>
            <a:off x="564621" y="164911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Strengths</a:t>
            </a: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6003F733-6ABB-10B7-CF6C-2B24CD132DEA}"/>
              </a:ext>
            </a:extLst>
          </p:cNvPr>
          <p:cNvSpPr>
            <a:spLocks/>
          </p:cNvSpPr>
          <p:nvPr/>
        </p:nvSpPr>
        <p:spPr>
          <a:xfrm>
            <a:off x="-2514600" y="2750709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sensory activation for DS2</a:t>
            </a: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6687859B-882D-4A9B-82DD-3708153F93DB}"/>
              </a:ext>
            </a:extLst>
          </p:cNvPr>
          <p:cNvSpPr>
            <a:spLocks/>
          </p:cNvSpPr>
          <p:nvPr/>
        </p:nvSpPr>
        <p:spPr>
          <a:xfrm>
            <a:off x="-2514601" y="3849778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is generated by spontaneous arousal</a:t>
            </a:r>
            <a:r>
              <a:rPr lang="en-US" sz="4400" dirty="0">
                <a:solidFill>
                  <a:schemeClr val="bg1"/>
                </a:solidFill>
              </a:rPr>
              <a:t> as well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C267CE1A-3FAF-68C7-B92C-1A682936FD08}"/>
              </a:ext>
            </a:extLst>
          </p:cNvPr>
          <p:cNvSpPr>
            <a:spLocks/>
          </p:cNvSpPr>
          <p:nvPr/>
        </p:nvSpPr>
        <p:spPr>
          <a:xfrm>
            <a:off x="-2514601" y="4971707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A “check in” signal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AFEDBA-3366-4279-9EBF-A442EB122B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13868400" y="2760397"/>
            <a:ext cx="2889335" cy="20830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!!Focus">
            <a:extLst>
              <a:ext uri="{FF2B5EF4-FFF2-40B4-BE49-F238E27FC236}">
                <a16:creationId xmlns:a16="http://schemas.microsoft.com/office/drawing/2014/main" id="{BD193AF8-7895-D2D1-385F-4E25176DCA13}"/>
              </a:ext>
            </a:extLst>
          </p:cNvPr>
          <p:cNvSpPr/>
          <p:nvPr/>
        </p:nvSpPr>
        <p:spPr>
          <a:xfrm>
            <a:off x="16306143" y="4202334"/>
            <a:ext cx="604745" cy="25193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F05F500E-9BB9-5CE4-8B86-610D465B4701}"/>
              </a:ext>
            </a:extLst>
          </p:cNvPr>
          <p:cNvSpPr>
            <a:spLocks/>
          </p:cNvSpPr>
          <p:nvPr/>
        </p:nvSpPr>
        <p:spPr>
          <a:xfrm>
            <a:off x="13176021" y="5073173"/>
            <a:ext cx="4270451" cy="105776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r>
              <a:rPr lang="en-US" dirty="0"/>
              <a:t>MEC Contains: Neurons that encode </a:t>
            </a:r>
            <a:r>
              <a:rPr lang="en-US" b="1" dirty="0"/>
              <a:t>self-referenced movement variables</a:t>
            </a:r>
            <a:r>
              <a:rPr lang="en-US" dirty="0"/>
              <a:t>, </a:t>
            </a:r>
            <a:r>
              <a:rPr lang="en-US" b="1" dirty="0"/>
              <a:t>locations</a:t>
            </a:r>
            <a:r>
              <a:rPr lang="en-US" dirty="0"/>
              <a:t>, and </a:t>
            </a:r>
            <a:r>
              <a:rPr lang="en-US" b="1" dirty="0"/>
              <a:t>environmental borders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5C24A0-4D58-8E10-6532-E127CAD33B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5150380" y="2764476"/>
            <a:ext cx="2467256" cy="3455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1">
            <a:extLst>
              <a:ext uri="{FF2B5EF4-FFF2-40B4-BE49-F238E27FC236}">
                <a16:creationId xmlns:a16="http://schemas.microsoft.com/office/drawing/2014/main" id="{88204642-FCE4-B3BD-658E-CB128771233A}"/>
              </a:ext>
            </a:extLst>
          </p:cNvPr>
          <p:cNvSpPr>
            <a:spLocks/>
          </p:cNvSpPr>
          <p:nvPr/>
        </p:nvSpPr>
        <p:spPr>
          <a:xfrm>
            <a:off x="564621" y="2399928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/>
              <a:t>Disruption of the "Binary State" Dogma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4" name="!!M1">
            <a:extLst>
              <a:ext uri="{FF2B5EF4-FFF2-40B4-BE49-F238E27FC236}">
                <a16:creationId xmlns:a16="http://schemas.microsoft.com/office/drawing/2014/main" id="{E98E39EF-2765-9C9E-48FD-87BABE9119F6}"/>
              </a:ext>
            </a:extLst>
          </p:cNvPr>
          <p:cNvSpPr>
            <a:spLocks/>
          </p:cNvSpPr>
          <p:nvPr/>
        </p:nvSpPr>
        <p:spPr>
          <a:xfrm>
            <a:off x="-5029200" y="3498997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/>
              <a:t>Causal Verification via Optogenetics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868370E6-F0EA-0E5C-8CE3-02205346FF07}"/>
              </a:ext>
            </a:extLst>
          </p:cNvPr>
          <p:cNvSpPr>
            <a:spLocks/>
          </p:cNvSpPr>
          <p:nvPr/>
        </p:nvSpPr>
        <p:spPr>
          <a:xfrm>
            <a:off x="-5029200" y="4620926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r>
              <a:rPr lang="en-US" sz="2800" dirty="0"/>
              <a:t>Cross-Dataset Validation</a:t>
            </a:r>
            <a:endParaRPr lang="en-US" sz="28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0938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23782-A08A-761E-3FC1-9AC847699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87FF5DEF-8C0A-0D84-5F44-A3966766CAEF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DC247745-982A-1132-3FA0-3BEEED6FEE72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32931515-6859-6A22-1C1F-236CDD1450AA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D5785C5E-6073-7274-5284-042524FD04CC}"/>
              </a:ext>
            </a:extLst>
          </p:cNvPr>
          <p:cNvSpPr>
            <a:spLocks/>
          </p:cNvSpPr>
          <p:nvPr/>
        </p:nvSpPr>
        <p:spPr>
          <a:xfrm>
            <a:off x="7235893" y="164911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Weaknesses</a:t>
            </a: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06C97558-2A54-AA93-4360-86CE3B2366F8}"/>
              </a:ext>
            </a:extLst>
          </p:cNvPr>
          <p:cNvSpPr>
            <a:spLocks/>
          </p:cNvSpPr>
          <p:nvPr/>
        </p:nvSpPr>
        <p:spPr>
          <a:xfrm>
            <a:off x="4435201" y="941037"/>
            <a:ext cx="3816223" cy="3202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Mostly reiterates points made in the figures.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E44BF6A5-473F-09CA-DFE4-0B57750775BB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85000" lnSpcReduction="2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Strengths &amp; Weaknesses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68BBA2BB-A029-4FDB-7B3F-B184AF242E93}"/>
              </a:ext>
            </a:extLst>
          </p:cNvPr>
          <p:cNvSpPr/>
          <p:nvPr/>
        </p:nvSpPr>
        <p:spPr>
          <a:xfrm>
            <a:off x="360538" y="79467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D5C72FEA-CA21-82C0-3D4E-E3B35A035E9D}"/>
              </a:ext>
            </a:extLst>
          </p:cNvPr>
          <p:cNvSpPr/>
          <p:nvPr/>
        </p:nvSpPr>
        <p:spPr>
          <a:xfrm>
            <a:off x="2652323" y="79523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D04B8741-D5B6-6E0D-F52E-4A1C7C3E971D}"/>
              </a:ext>
            </a:extLst>
          </p:cNvPr>
          <p:cNvSpPr/>
          <p:nvPr/>
        </p:nvSpPr>
        <p:spPr>
          <a:xfrm>
            <a:off x="4944108" y="79467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D5493DCB-1FB7-DE32-8CDA-F9B993D145CB}"/>
              </a:ext>
            </a:extLst>
          </p:cNvPr>
          <p:cNvSpPr/>
          <p:nvPr/>
        </p:nvSpPr>
        <p:spPr>
          <a:xfrm>
            <a:off x="7235893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436F7D92-9EFE-30FB-A969-1BBEACB41C45}"/>
              </a:ext>
            </a:extLst>
          </p:cNvPr>
          <p:cNvSpPr/>
          <p:nvPr/>
        </p:nvSpPr>
        <p:spPr>
          <a:xfrm>
            <a:off x="9527678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07A6EA-C118-5F2A-D1CC-E306C49AD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4" y="11160650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79106E-2FDA-9669-8452-C94B424EC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0" y="9373785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A65F1F-F47A-F702-207E-7C7EDA12D5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2553093" y="10508610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17E1D0-2667-EC2C-569F-0E40AB016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93" y="9389025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35DCA1E9-360E-4504-62D0-D3DF539B98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590" y="9372600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A6E3E14-4152-C65B-B311-FBC929578C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182" y="11111366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A93C77A8-615A-7DE1-67E1-6259B320C4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8131" y="9371540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0BB86BAC-68B3-4F6E-192E-6F355495B320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7247704" y="10573360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63A36A-FF23-F50E-3479-7D8136A20B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516" y="9371540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M1">
            <a:extLst>
              <a:ext uri="{FF2B5EF4-FFF2-40B4-BE49-F238E27FC236}">
                <a16:creationId xmlns:a16="http://schemas.microsoft.com/office/drawing/2014/main" id="{A4457F8E-F4EF-3FE9-99D1-F3FE286FD47C}"/>
              </a:ext>
            </a:extLst>
          </p:cNvPr>
          <p:cNvSpPr>
            <a:spLocks/>
          </p:cNvSpPr>
          <p:nvPr/>
        </p:nvSpPr>
        <p:spPr>
          <a:xfrm>
            <a:off x="564621" y="164911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Strengths</a:t>
            </a: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03CE47DF-91DC-766B-1DDF-EE0BBC795D65}"/>
              </a:ext>
            </a:extLst>
          </p:cNvPr>
          <p:cNvSpPr>
            <a:spLocks/>
          </p:cNvSpPr>
          <p:nvPr/>
        </p:nvSpPr>
        <p:spPr>
          <a:xfrm>
            <a:off x="-2514600" y="2750709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sensory activation for DS2</a:t>
            </a: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527B2E23-AFAD-992C-32FD-AA801265EC30}"/>
              </a:ext>
            </a:extLst>
          </p:cNvPr>
          <p:cNvSpPr>
            <a:spLocks/>
          </p:cNvSpPr>
          <p:nvPr/>
        </p:nvSpPr>
        <p:spPr>
          <a:xfrm>
            <a:off x="-2514601" y="3849778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is generated by spontaneous arousal</a:t>
            </a:r>
            <a:r>
              <a:rPr lang="en-US" sz="4400" dirty="0">
                <a:solidFill>
                  <a:schemeClr val="bg1"/>
                </a:solidFill>
              </a:rPr>
              <a:t> as well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20003577-8E84-98CF-58BF-F4E50839F4D2}"/>
              </a:ext>
            </a:extLst>
          </p:cNvPr>
          <p:cNvSpPr>
            <a:spLocks/>
          </p:cNvSpPr>
          <p:nvPr/>
        </p:nvSpPr>
        <p:spPr>
          <a:xfrm>
            <a:off x="-2514601" y="4971707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A “check in” signal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831B10-5735-B90C-1531-91F9445304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13868400" y="2760397"/>
            <a:ext cx="2889335" cy="20830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!!Focus">
            <a:extLst>
              <a:ext uri="{FF2B5EF4-FFF2-40B4-BE49-F238E27FC236}">
                <a16:creationId xmlns:a16="http://schemas.microsoft.com/office/drawing/2014/main" id="{8AA601CD-83BF-397D-FCF4-CEEDC7E7FC8B}"/>
              </a:ext>
            </a:extLst>
          </p:cNvPr>
          <p:cNvSpPr/>
          <p:nvPr/>
        </p:nvSpPr>
        <p:spPr>
          <a:xfrm>
            <a:off x="16306143" y="4202334"/>
            <a:ext cx="604745" cy="25193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8C2BD229-853A-09A4-31FD-BD604548144A}"/>
              </a:ext>
            </a:extLst>
          </p:cNvPr>
          <p:cNvSpPr>
            <a:spLocks/>
          </p:cNvSpPr>
          <p:nvPr/>
        </p:nvSpPr>
        <p:spPr>
          <a:xfrm>
            <a:off x="13176021" y="5073173"/>
            <a:ext cx="4270451" cy="105776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r>
              <a:rPr lang="en-US" dirty="0"/>
              <a:t>MEC Contains: Neurons that encode </a:t>
            </a:r>
            <a:r>
              <a:rPr lang="en-US" b="1" dirty="0"/>
              <a:t>self-referenced movement variables</a:t>
            </a:r>
            <a:r>
              <a:rPr lang="en-US" dirty="0"/>
              <a:t>, </a:t>
            </a:r>
            <a:r>
              <a:rPr lang="en-US" b="1" dirty="0"/>
              <a:t>locations</a:t>
            </a:r>
            <a:r>
              <a:rPr lang="en-US" dirty="0"/>
              <a:t>, and </a:t>
            </a:r>
            <a:r>
              <a:rPr lang="en-US" b="1" dirty="0"/>
              <a:t>environmental borders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7ADD19-7508-C37A-3C84-9B08AB02946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5150380" y="2764476"/>
            <a:ext cx="2467256" cy="3455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1">
            <a:extLst>
              <a:ext uri="{FF2B5EF4-FFF2-40B4-BE49-F238E27FC236}">
                <a16:creationId xmlns:a16="http://schemas.microsoft.com/office/drawing/2014/main" id="{E6A3D49D-D84D-7875-27F8-7D9464846C83}"/>
              </a:ext>
            </a:extLst>
          </p:cNvPr>
          <p:cNvSpPr>
            <a:spLocks/>
          </p:cNvSpPr>
          <p:nvPr/>
        </p:nvSpPr>
        <p:spPr>
          <a:xfrm>
            <a:off x="564621" y="2399928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/>
              <a:t>Disruption of the "Binary State" Dogma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4" name="!!M1">
            <a:extLst>
              <a:ext uri="{FF2B5EF4-FFF2-40B4-BE49-F238E27FC236}">
                <a16:creationId xmlns:a16="http://schemas.microsoft.com/office/drawing/2014/main" id="{C2B896A1-BCBF-F8AF-95D2-0A7DF5CB6E23}"/>
              </a:ext>
            </a:extLst>
          </p:cNvPr>
          <p:cNvSpPr>
            <a:spLocks/>
          </p:cNvSpPr>
          <p:nvPr/>
        </p:nvSpPr>
        <p:spPr>
          <a:xfrm>
            <a:off x="564620" y="3498997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/>
              <a:t>Causal Verification via Optogenetics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DB997F0B-EE25-E883-5876-719C00FECBC3}"/>
              </a:ext>
            </a:extLst>
          </p:cNvPr>
          <p:cNvSpPr>
            <a:spLocks/>
          </p:cNvSpPr>
          <p:nvPr/>
        </p:nvSpPr>
        <p:spPr>
          <a:xfrm>
            <a:off x="-5029200" y="4620926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r>
              <a:rPr lang="en-US" sz="2800" dirty="0"/>
              <a:t>Cross-Dataset Validation</a:t>
            </a:r>
            <a:endParaRPr lang="en-US" sz="28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04670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807D-3E40-8255-C206-366F269A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689416ED-7D04-15AB-705E-B6E54CB9E4BC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5EF2BB7A-8B8B-25B1-C65D-D9DE47D242B8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A81382CA-5A82-7D0B-64F3-2259A772850C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B2EC7EB5-0C1D-AC95-3860-6E668EA4EE3B}"/>
              </a:ext>
            </a:extLst>
          </p:cNvPr>
          <p:cNvSpPr>
            <a:spLocks/>
          </p:cNvSpPr>
          <p:nvPr/>
        </p:nvSpPr>
        <p:spPr>
          <a:xfrm>
            <a:off x="7235893" y="164911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Weaknesses</a:t>
            </a: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B2763D29-92D0-5AE9-EE26-BE0395005513}"/>
              </a:ext>
            </a:extLst>
          </p:cNvPr>
          <p:cNvSpPr>
            <a:spLocks/>
          </p:cNvSpPr>
          <p:nvPr/>
        </p:nvSpPr>
        <p:spPr>
          <a:xfrm>
            <a:off x="4435201" y="941037"/>
            <a:ext cx="3816223" cy="3202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Mostly reiterates points made in the figures.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55AAC074-3E73-D2F0-E21A-4A1823BB5129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85000" lnSpcReduction="2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Strengths &amp; Weaknesses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D47551CA-9764-4EC7-5632-71933AD8766F}"/>
              </a:ext>
            </a:extLst>
          </p:cNvPr>
          <p:cNvSpPr/>
          <p:nvPr/>
        </p:nvSpPr>
        <p:spPr>
          <a:xfrm>
            <a:off x="360538" y="79467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42664AA0-DE2B-ECAB-4A7C-FEFBF6C8949B}"/>
              </a:ext>
            </a:extLst>
          </p:cNvPr>
          <p:cNvSpPr/>
          <p:nvPr/>
        </p:nvSpPr>
        <p:spPr>
          <a:xfrm>
            <a:off x="2652323" y="79523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48CDEB7B-53D7-E39A-898A-92F9CE43DCEC}"/>
              </a:ext>
            </a:extLst>
          </p:cNvPr>
          <p:cNvSpPr/>
          <p:nvPr/>
        </p:nvSpPr>
        <p:spPr>
          <a:xfrm>
            <a:off x="4944108" y="79467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FE5195E8-7FAD-9A54-88B9-A7E7419250F8}"/>
              </a:ext>
            </a:extLst>
          </p:cNvPr>
          <p:cNvSpPr/>
          <p:nvPr/>
        </p:nvSpPr>
        <p:spPr>
          <a:xfrm>
            <a:off x="7235893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F814373E-6B38-9D87-C7D2-7B57A198900A}"/>
              </a:ext>
            </a:extLst>
          </p:cNvPr>
          <p:cNvSpPr/>
          <p:nvPr/>
        </p:nvSpPr>
        <p:spPr>
          <a:xfrm>
            <a:off x="9527678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FE1DA6-00CE-5832-4231-3F116FADC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4" y="11160650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B41968-21CF-F876-3B5C-0646B3F73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0" y="9373785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69ACF5-FD8B-19E7-79A7-AF4DA7276C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2553093" y="10508610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832A455-EA94-73F6-F759-80C49DA3BC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93" y="9389025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272C9BBB-69B4-3C80-A80A-D682936650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590" y="9372600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BE50813-2055-34F5-9C15-510A211843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182" y="11111366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242B56FD-E6EB-FFE5-FFBC-BAC6FBCBB4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8131" y="9371540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5AD0BDA6-D1ED-D7A6-8A35-E06D69807DDC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7247704" y="10573360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0AD02B1-6454-B86A-3335-24F164BD72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516" y="9371540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M1">
            <a:extLst>
              <a:ext uri="{FF2B5EF4-FFF2-40B4-BE49-F238E27FC236}">
                <a16:creationId xmlns:a16="http://schemas.microsoft.com/office/drawing/2014/main" id="{56DA8400-4DA7-2D2A-9297-E353E3D102C7}"/>
              </a:ext>
            </a:extLst>
          </p:cNvPr>
          <p:cNvSpPr>
            <a:spLocks/>
          </p:cNvSpPr>
          <p:nvPr/>
        </p:nvSpPr>
        <p:spPr>
          <a:xfrm>
            <a:off x="564621" y="164911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Strengths</a:t>
            </a: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F9878E8B-8F01-2516-1627-534204DEA305}"/>
              </a:ext>
            </a:extLst>
          </p:cNvPr>
          <p:cNvSpPr>
            <a:spLocks/>
          </p:cNvSpPr>
          <p:nvPr/>
        </p:nvSpPr>
        <p:spPr>
          <a:xfrm>
            <a:off x="-2514600" y="2750709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sensory activation for DS2</a:t>
            </a: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27887715-3109-629E-CCA3-309A66C0B2D7}"/>
              </a:ext>
            </a:extLst>
          </p:cNvPr>
          <p:cNvSpPr>
            <a:spLocks/>
          </p:cNvSpPr>
          <p:nvPr/>
        </p:nvSpPr>
        <p:spPr>
          <a:xfrm>
            <a:off x="-2514601" y="3849778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is generated by spontaneous arousal</a:t>
            </a:r>
            <a:r>
              <a:rPr lang="en-US" sz="4400" dirty="0">
                <a:solidFill>
                  <a:schemeClr val="bg1"/>
                </a:solidFill>
              </a:rPr>
              <a:t> as well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C8363606-0F88-4BB3-4EF9-8E7A5B692375}"/>
              </a:ext>
            </a:extLst>
          </p:cNvPr>
          <p:cNvSpPr>
            <a:spLocks/>
          </p:cNvSpPr>
          <p:nvPr/>
        </p:nvSpPr>
        <p:spPr>
          <a:xfrm>
            <a:off x="-2514601" y="4971707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A “check in” signal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66C811A-96A9-A63E-E02D-21CB74F2DC5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13868400" y="2760397"/>
            <a:ext cx="2889335" cy="20830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!!Focus">
            <a:extLst>
              <a:ext uri="{FF2B5EF4-FFF2-40B4-BE49-F238E27FC236}">
                <a16:creationId xmlns:a16="http://schemas.microsoft.com/office/drawing/2014/main" id="{4CBFE401-2928-A089-67D4-8C21A3997BD1}"/>
              </a:ext>
            </a:extLst>
          </p:cNvPr>
          <p:cNvSpPr/>
          <p:nvPr/>
        </p:nvSpPr>
        <p:spPr>
          <a:xfrm>
            <a:off x="16306143" y="4202334"/>
            <a:ext cx="604745" cy="25193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83777AA9-6AA0-FA83-D88F-8D062B4860A6}"/>
              </a:ext>
            </a:extLst>
          </p:cNvPr>
          <p:cNvSpPr>
            <a:spLocks/>
          </p:cNvSpPr>
          <p:nvPr/>
        </p:nvSpPr>
        <p:spPr>
          <a:xfrm>
            <a:off x="13176021" y="5073173"/>
            <a:ext cx="4270451" cy="105776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r>
              <a:rPr lang="en-US" dirty="0"/>
              <a:t>MEC Contains: Neurons that encode </a:t>
            </a:r>
            <a:r>
              <a:rPr lang="en-US" b="1" dirty="0"/>
              <a:t>self-referenced movement variables</a:t>
            </a:r>
            <a:r>
              <a:rPr lang="en-US" dirty="0"/>
              <a:t>, </a:t>
            </a:r>
            <a:r>
              <a:rPr lang="en-US" b="1" dirty="0"/>
              <a:t>locations</a:t>
            </a:r>
            <a:r>
              <a:rPr lang="en-US" dirty="0"/>
              <a:t>, and </a:t>
            </a:r>
            <a:r>
              <a:rPr lang="en-US" b="1" dirty="0"/>
              <a:t>environmental borders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CCCB8C-8A7C-EFEE-4EAD-BD88660B692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5150380" y="2764476"/>
            <a:ext cx="2467256" cy="3455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1">
            <a:extLst>
              <a:ext uri="{FF2B5EF4-FFF2-40B4-BE49-F238E27FC236}">
                <a16:creationId xmlns:a16="http://schemas.microsoft.com/office/drawing/2014/main" id="{87640D82-4219-3DB2-42FA-8CA7261A87A3}"/>
              </a:ext>
            </a:extLst>
          </p:cNvPr>
          <p:cNvSpPr>
            <a:spLocks/>
          </p:cNvSpPr>
          <p:nvPr/>
        </p:nvSpPr>
        <p:spPr>
          <a:xfrm>
            <a:off x="564621" y="2399928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/>
              <a:t>Disruption of the "Binary State" Dogma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4" name="!!M1">
            <a:extLst>
              <a:ext uri="{FF2B5EF4-FFF2-40B4-BE49-F238E27FC236}">
                <a16:creationId xmlns:a16="http://schemas.microsoft.com/office/drawing/2014/main" id="{5840810A-5CD6-21D3-A113-1389982DC22F}"/>
              </a:ext>
            </a:extLst>
          </p:cNvPr>
          <p:cNvSpPr>
            <a:spLocks/>
          </p:cNvSpPr>
          <p:nvPr/>
        </p:nvSpPr>
        <p:spPr>
          <a:xfrm>
            <a:off x="564620" y="3498997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/>
              <a:t>Causal Verification via Optogenetics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6BF4620D-F0AC-0C9B-A38F-9C9DD30F761F}"/>
              </a:ext>
            </a:extLst>
          </p:cNvPr>
          <p:cNvSpPr>
            <a:spLocks/>
          </p:cNvSpPr>
          <p:nvPr/>
        </p:nvSpPr>
        <p:spPr>
          <a:xfrm>
            <a:off x="564620" y="4620926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r>
              <a:rPr lang="en-US" sz="2800" dirty="0"/>
              <a:t>Cross-Dataset Validation</a:t>
            </a:r>
            <a:endParaRPr lang="en-US" sz="2800" dirty="0">
              <a:solidFill>
                <a:schemeClr val="bg1"/>
              </a:solidFill>
              <a:effectLst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DCE41EE-9632-5C64-C520-4A3D462093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411200" y="2242710"/>
            <a:ext cx="4435964" cy="461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691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E4372-B8F6-4B0A-0E8D-7EDDDD9E4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53D3275D-9A60-FE03-B543-86115C446D1B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2603671C-5D96-8D6D-DF1A-821315FCD221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BD94061A-944D-3162-D9B3-B0C69628DF5C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sp>
        <p:nvSpPr>
          <p:cNvPr id="43" name="!!M1">
            <a:extLst>
              <a:ext uri="{FF2B5EF4-FFF2-40B4-BE49-F238E27FC236}">
                <a16:creationId xmlns:a16="http://schemas.microsoft.com/office/drawing/2014/main" id="{AE22E49B-F667-D69D-88C1-093E319623C8}"/>
              </a:ext>
            </a:extLst>
          </p:cNvPr>
          <p:cNvSpPr>
            <a:spLocks/>
          </p:cNvSpPr>
          <p:nvPr/>
        </p:nvSpPr>
        <p:spPr>
          <a:xfrm>
            <a:off x="7235893" y="164911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Weaknesses</a:t>
            </a:r>
          </a:p>
        </p:txBody>
      </p:sp>
      <p:sp>
        <p:nvSpPr>
          <p:cNvPr id="45" name="!!M1">
            <a:extLst>
              <a:ext uri="{FF2B5EF4-FFF2-40B4-BE49-F238E27FC236}">
                <a16:creationId xmlns:a16="http://schemas.microsoft.com/office/drawing/2014/main" id="{0C08E026-5B11-FC1C-C4F3-20E3E4FA7A20}"/>
              </a:ext>
            </a:extLst>
          </p:cNvPr>
          <p:cNvSpPr>
            <a:spLocks/>
          </p:cNvSpPr>
          <p:nvPr/>
        </p:nvSpPr>
        <p:spPr>
          <a:xfrm>
            <a:off x="4435201" y="941037"/>
            <a:ext cx="3816223" cy="3202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92500"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Mostly reiterates points made in the figures.</a:t>
            </a:r>
            <a:endParaRPr lang="en-US" sz="160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7E15368A-0CD2-CA5A-CE11-910FAFEAE0E6}"/>
              </a:ext>
            </a:extLst>
          </p:cNvPr>
          <p:cNvSpPr/>
          <p:nvPr/>
        </p:nvSpPr>
        <p:spPr>
          <a:xfrm>
            <a:off x="3523913" y="205428"/>
            <a:ext cx="56388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 fontScale="85000" lnSpcReduction="20000"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Strengths &amp; Weaknesses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DA7D5675-B1F6-0232-4C8D-9541425AF0F5}"/>
              </a:ext>
            </a:extLst>
          </p:cNvPr>
          <p:cNvSpPr/>
          <p:nvPr/>
        </p:nvSpPr>
        <p:spPr>
          <a:xfrm>
            <a:off x="360538" y="79467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50E21A1A-9A05-99A7-F009-B5EF179446C1}"/>
              </a:ext>
            </a:extLst>
          </p:cNvPr>
          <p:cNvSpPr/>
          <p:nvPr/>
        </p:nvSpPr>
        <p:spPr>
          <a:xfrm>
            <a:off x="2652323" y="79523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454B2378-DE83-BA51-D971-BFAF831DDE54}"/>
              </a:ext>
            </a:extLst>
          </p:cNvPr>
          <p:cNvSpPr/>
          <p:nvPr/>
        </p:nvSpPr>
        <p:spPr>
          <a:xfrm>
            <a:off x="4944108" y="79467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FF2D79E2-B3D6-E34F-F7BA-8EFADBE735A2}"/>
              </a:ext>
            </a:extLst>
          </p:cNvPr>
          <p:cNvSpPr/>
          <p:nvPr/>
        </p:nvSpPr>
        <p:spPr>
          <a:xfrm>
            <a:off x="7235893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57C793AF-F2E2-7994-9DE0-D2C9C2A3F7C3}"/>
              </a:ext>
            </a:extLst>
          </p:cNvPr>
          <p:cNvSpPr/>
          <p:nvPr/>
        </p:nvSpPr>
        <p:spPr>
          <a:xfrm>
            <a:off x="9527678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55646D-9D6A-BE10-1845-3B23F20CD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4" y="11160650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1F93EB-C72C-33CA-A101-B5A5A00ED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0" y="9373785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E6683D-C9D0-4477-84B9-2543511629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2553093" y="10508610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7554923-F0FE-AD1A-AF11-0CA7C67713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93" y="9389025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A5A76E55-1186-AD53-B165-3D660EFDE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590" y="9372600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4B05E75-647C-02D0-3AAC-50E06B768E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182" y="11111366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FC04EB87-F610-32E1-FC69-8EB7E8F707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8131" y="9371540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E1316824-63AF-AB38-1D72-2ECE4F68BB53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7247704" y="10573360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75C0C38-2EEA-2B08-98A6-28BF0C7BEA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516" y="9371540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!!M1">
            <a:extLst>
              <a:ext uri="{FF2B5EF4-FFF2-40B4-BE49-F238E27FC236}">
                <a16:creationId xmlns:a16="http://schemas.microsoft.com/office/drawing/2014/main" id="{BDAE4CC8-5D54-6C91-EA67-FC3F8FE170EF}"/>
              </a:ext>
            </a:extLst>
          </p:cNvPr>
          <p:cNvSpPr>
            <a:spLocks/>
          </p:cNvSpPr>
          <p:nvPr/>
        </p:nvSpPr>
        <p:spPr>
          <a:xfrm>
            <a:off x="564621" y="164911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Strengths</a:t>
            </a:r>
          </a:p>
        </p:txBody>
      </p:sp>
      <p:sp>
        <p:nvSpPr>
          <p:cNvPr id="12" name="!!M1">
            <a:extLst>
              <a:ext uri="{FF2B5EF4-FFF2-40B4-BE49-F238E27FC236}">
                <a16:creationId xmlns:a16="http://schemas.microsoft.com/office/drawing/2014/main" id="{10D116A9-110B-419E-B8C8-FC5B1AFE6E3F}"/>
              </a:ext>
            </a:extLst>
          </p:cNvPr>
          <p:cNvSpPr>
            <a:spLocks/>
          </p:cNvSpPr>
          <p:nvPr/>
        </p:nvSpPr>
        <p:spPr>
          <a:xfrm>
            <a:off x="-2514600" y="2750709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No sensory activation for DS2</a:t>
            </a:r>
          </a:p>
        </p:txBody>
      </p:sp>
      <p:sp>
        <p:nvSpPr>
          <p:cNvPr id="13" name="!!M1">
            <a:extLst>
              <a:ext uri="{FF2B5EF4-FFF2-40B4-BE49-F238E27FC236}">
                <a16:creationId xmlns:a16="http://schemas.microsoft.com/office/drawing/2014/main" id="{8F00CE2B-1B70-16EB-8687-7B48CB287BBB}"/>
              </a:ext>
            </a:extLst>
          </p:cNvPr>
          <p:cNvSpPr>
            <a:spLocks/>
          </p:cNvSpPr>
          <p:nvPr/>
        </p:nvSpPr>
        <p:spPr>
          <a:xfrm>
            <a:off x="-2514601" y="3849778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0000" lnSpcReduction="20000"/>
          </a:bodyPr>
          <a:lstStyle/>
          <a:p>
            <a:r>
              <a:rPr lang="en-US" sz="4400" dirty="0">
                <a:solidFill>
                  <a:schemeClr val="bg1"/>
                </a:solidFill>
                <a:effectLst/>
              </a:rPr>
              <a:t>DS2 is generated by spontaneous arousal</a:t>
            </a:r>
            <a:r>
              <a:rPr lang="en-US" sz="4400" dirty="0">
                <a:solidFill>
                  <a:schemeClr val="bg1"/>
                </a:solidFill>
              </a:rPr>
              <a:t> as well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!!M1">
            <a:extLst>
              <a:ext uri="{FF2B5EF4-FFF2-40B4-BE49-F238E27FC236}">
                <a16:creationId xmlns:a16="http://schemas.microsoft.com/office/drawing/2014/main" id="{BA5FB8F9-BA5E-6764-922D-46456716588E}"/>
              </a:ext>
            </a:extLst>
          </p:cNvPr>
          <p:cNvSpPr>
            <a:spLocks/>
          </p:cNvSpPr>
          <p:nvPr/>
        </p:nvSpPr>
        <p:spPr>
          <a:xfrm>
            <a:off x="-2514601" y="4971707"/>
            <a:ext cx="211733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A “check in” signal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B000B60-7E29-AB14-D4B1-4D13F9085E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t="2426" b="8934"/>
          <a:stretch>
            <a:fillRect/>
          </a:stretch>
        </p:blipFill>
        <p:spPr>
          <a:xfrm>
            <a:off x="13868400" y="2760397"/>
            <a:ext cx="2889335" cy="20830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2" name="!!Focus">
            <a:extLst>
              <a:ext uri="{FF2B5EF4-FFF2-40B4-BE49-F238E27FC236}">
                <a16:creationId xmlns:a16="http://schemas.microsoft.com/office/drawing/2014/main" id="{D74BBF1A-6242-0363-8A36-328251ABBDB0}"/>
              </a:ext>
            </a:extLst>
          </p:cNvPr>
          <p:cNvSpPr/>
          <p:nvPr/>
        </p:nvSpPr>
        <p:spPr>
          <a:xfrm>
            <a:off x="16306143" y="4202334"/>
            <a:ext cx="604745" cy="251931"/>
          </a:xfrm>
          <a:prstGeom prst="flowChartProcess">
            <a:avLst/>
          </a:prstGeom>
          <a:solidFill>
            <a:schemeClr val="accent1">
              <a:lumMod val="40000"/>
              <a:lumOff val="60000"/>
              <a:alpha val="37000"/>
            </a:schemeClr>
          </a:solidFill>
          <a:ln w="44450" cap="rnd" cmpd="tri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90600"/>
                      <a:gd name="csY0" fmla="*/ 0 h 654570"/>
                      <a:gd name="csX1" fmla="*/ 515112 w 990600"/>
                      <a:gd name="csY1" fmla="*/ 0 h 654570"/>
                      <a:gd name="csX2" fmla="*/ 990600 w 990600"/>
                      <a:gd name="csY2" fmla="*/ 0 h 654570"/>
                      <a:gd name="csX3" fmla="*/ 990600 w 990600"/>
                      <a:gd name="csY3" fmla="*/ 307647 h 654570"/>
                      <a:gd name="csX4" fmla="*/ 990600 w 990600"/>
                      <a:gd name="csY4" fmla="*/ 654569 h 654570"/>
                      <a:gd name="csX5" fmla="*/ 515112 w 990600"/>
                      <a:gd name="csY5" fmla="*/ 654569 h 654570"/>
                      <a:gd name="csX6" fmla="*/ 0 w 990600"/>
                      <a:gd name="csY6" fmla="*/ 654569 h 654570"/>
                      <a:gd name="csX7" fmla="*/ 0 w 990600"/>
                      <a:gd name="csY7" fmla="*/ 333830 h 654570"/>
                      <a:gd name="csX8" fmla="*/ 0 w 990600"/>
                      <a:gd name="csY8" fmla="*/ 0 h 65457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990600" h="654570" fill="none" extrusionOk="0">
                        <a:moveTo>
                          <a:pt x="0" y="0"/>
                        </a:moveTo>
                        <a:cubicBezTo>
                          <a:pt x="105773" y="-7124"/>
                          <a:pt x="346873" y="39738"/>
                          <a:pt x="515112" y="0"/>
                        </a:cubicBezTo>
                        <a:cubicBezTo>
                          <a:pt x="683351" y="-39738"/>
                          <a:pt x="773621" y="8421"/>
                          <a:pt x="990600" y="0"/>
                        </a:cubicBezTo>
                        <a:cubicBezTo>
                          <a:pt x="1004757" y="62637"/>
                          <a:pt x="972627" y="188309"/>
                          <a:pt x="990600" y="307647"/>
                        </a:cubicBezTo>
                        <a:cubicBezTo>
                          <a:pt x="1008573" y="426985"/>
                          <a:pt x="954772" y="583057"/>
                          <a:pt x="990600" y="654569"/>
                        </a:cubicBezTo>
                        <a:cubicBezTo>
                          <a:pt x="891216" y="697386"/>
                          <a:pt x="751152" y="637885"/>
                          <a:pt x="515112" y="654569"/>
                        </a:cubicBezTo>
                        <a:cubicBezTo>
                          <a:pt x="279072" y="671253"/>
                          <a:pt x="139987" y="619061"/>
                          <a:pt x="0" y="654569"/>
                        </a:cubicBezTo>
                        <a:cubicBezTo>
                          <a:pt x="-8991" y="524065"/>
                          <a:pt x="11404" y="425161"/>
                          <a:pt x="0" y="333830"/>
                        </a:cubicBezTo>
                        <a:cubicBezTo>
                          <a:pt x="-11404" y="242499"/>
                          <a:pt x="4223" y="88092"/>
                          <a:pt x="0" y="0"/>
                        </a:cubicBezTo>
                        <a:close/>
                      </a:path>
                      <a:path w="990600" h="654570" stroke="0" extrusionOk="0">
                        <a:moveTo>
                          <a:pt x="0" y="0"/>
                        </a:moveTo>
                        <a:cubicBezTo>
                          <a:pt x="180418" y="-29252"/>
                          <a:pt x="322539" y="21792"/>
                          <a:pt x="485394" y="0"/>
                        </a:cubicBezTo>
                        <a:cubicBezTo>
                          <a:pt x="648249" y="-21792"/>
                          <a:pt x="746767" y="19096"/>
                          <a:pt x="990600" y="0"/>
                        </a:cubicBezTo>
                        <a:cubicBezTo>
                          <a:pt x="994863" y="97613"/>
                          <a:pt x="972722" y="242955"/>
                          <a:pt x="990600" y="340376"/>
                        </a:cubicBezTo>
                        <a:cubicBezTo>
                          <a:pt x="1008478" y="437797"/>
                          <a:pt x="953981" y="531740"/>
                          <a:pt x="990600" y="654569"/>
                        </a:cubicBezTo>
                        <a:cubicBezTo>
                          <a:pt x="805599" y="694484"/>
                          <a:pt x="750255" y="607238"/>
                          <a:pt x="515112" y="654569"/>
                        </a:cubicBezTo>
                        <a:cubicBezTo>
                          <a:pt x="279969" y="701900"/>
                          <a:pt x="187545" y="648934"/>
                          <a:pt x="0" y="654569"/>
                        </a:cubicBezTo>
                        <a:cubicBezTo>
                          <a:pt x="-31178" y="545765"/>
                          <a:pt x="32011" y="429136"/>
                          <a:pt x="0" y="340376"/>
                        </a:cubicBezTo>
                        <a:cubicBezTo>
                          <a:pt x="-32011" y="251616"/>
                          <a:pt x="31754" y="893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AE82A249-8B40-ADE5-3BBC-1C900026E95F}"/>
              </a:ext>
            </a:extLst>
          </p:cNvPr>
          <p:cNvSpPr>
            <a:spLocks/>
          </p:cNvSpPr>
          <p:nvPr/>
        </p:nvSpPr>
        <p:spPr>
          <a:xfrm>
            <a:off x="13176021" y="5073173"/>
            <a:ext cx="4270451" cy="1057768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/>
          </a:bodyPr>
          <a:lstStyle/>
          <a:p>
            <a:r>
              <a:rPr lang="en-US" dirty="0"/>
              <a:t>MEC Contains: Neurons that encode </a:t>
            </a:r>
            <a:r>
              <a:rPr lang="en-US" b="1" dirty="0"/>
              <a:t>self-referenced movement variables</a:t>
            </a:r>
            <a:r>
              <a:rPr lang="en-US" dirty="0"/>
              <a:t>, </a:t>
            </a:r>
            <a:r>
              <a:rPr lang="en-US" b="1" dirty="0"/>
              <a:t>locations</a:t>
            </a:r>
            <a:r>
              <a:rPr lang="en-US" dirty="0"/>
              <a:t>, and </a:t>
            </a:r>
            <a:r>
              <a:rPr lang="en-US" b="1" dirty="0"/>
              <a:t>environmental borders</a:t>
            </a:r>
            <a:endParaRPr lang="en-US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E7F4B2-0C86-14DF-F2A1-C28F16FC58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5150380" y="2764476"/>
            <a:ext cx="2467256" cy="34553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!!M1">
            <a:extLst>
              <a:ext uri="{FF2B5EF4-FFF2-40B4-BE49-F238E27FC236}">
                <a16:creationId xmlns:a16="http://schemas.microsoft.com/office/drawing/2014/main" id="{FEC54BF5-5A93-D889-9162-79B5BAD42CA1}"/>
              </a:ext>
            </a:extLst>
          </p:cNvPr>
          <p:cNvSpPr>
            <a:spLocks/>
          </p:cNvSpPr>
          <p:nvPr/>
        </p:nvSpPr>
        <p:spPr>
          <a:xfrm>
            <a:off x="564621" y="2399928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/>
              <a:t>Disruption of the "Binary State" Dogma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4" name="!!M1">
            <a:extLst>
              <a:ext uri="{FF2B5EF4-FFF2-40B4-BE49-F238E27FC236}">
                <a16:creationId xmlns:a16="http://schemas.microsoft.com/office/drawing/2014/main" id="{03CAE693-FABD-2D52-27E0-9B741B8FCA0A}"/>
              </a:ext>
            </a:extLst>
          </p:cNvPr>
          <p:cNvSpPr>
            <a:spLocks/>
          </p:cNvSpPr>
          <p:nvPr/>
        </p:nvSpPr>
        <p:spPr>
          <a:xfrm>
            <a:off x="564620" y="3498997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/>
              <a:t>Causal Verification via Optogenetics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29" name="!!M1">
            <a:extLst>
              <a:ext uri="{FF2B5EF4-FFF2-40B4-BE49-F238E27FC236}">
                <a16:creationId xmlns:a16="http://schemas.microsoft.com/office/drawing/2014/main" id="{EEE88402-E220-879E-6A97-950D6F6C0D73}"/>
              </a:ext>
            </a:extLst>
          </p:cNvPr>
          <p:cNvSpPr>
            <a:spLocks/>
          </p:cNvSpPr>
          <p:nvPr/>
        </p:nvSpPr>
        <p:spPr>
          <a:xfrm>
            <a:off x="564620" y="4620926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r>
              <a:rPr lang="en-US" sz="2800" dirty="0"/>
              <a:t>Cross-Dataset Validation</a:t>
            </a:r>
            <a:endParaRPr lang="en-US" sz="2800" dirty="0">
              <a:solidFill>
                <a:schemeClr val="bg1"/>
              </a:solidFill>
              <a:effectLst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74C1AB2-CDD4-3019-2BEC-B73280CDAC4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8121" y="2190211"/>
            <a:ext cx="4443341" cy="462296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9BC92A0-F2B6-3CCA-016C-0EEECD943F86}"/>
              </a:ext>
            </a:extLst>
          </p:cNvPr>
          <p:cNvSpPr/>
          <p:nvPr/>
        </p:nvSpPr>
        <p:spPr>
          <a:xfrm>
            <a:off x="360538" y="7505732"/>
            <a:ext cx="3525662" cy="1828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7A3FC7B-A39D-1518-D219-524E6AF3608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15400" y="7099529"/>
            <a:ext cx="3107539" cy="242014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7FBDDA3-0889-C483-3E0A-8B8029D4401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45787" y="7142987"/>
            <a:ext cx="4494805" cy="2415907"/>
          </a:xfrm>
          <a:prstGeom prst="rect">
            <a:avLst/>
          </a:prstGeom>
        </p:spPr>
      </p:pic>
      <p:pic>
        <p:nvPicPr>
          <p:cNvPr id="35" name="Picture 34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22DAF17D-D7F4-8F0A-C7D1-97325EE761C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38" y="7554101"/>
            <a:ext cx="3491822" cy="1714877"/>
          </a:xfrm>
          <a:prstGeom prst="rect">
            <a:avLst/>
          </a:prstGeom>
        </p:spPr>
      </p:pic>
      <p:sp>
        <p:nvSpPr>
          <p:cNvPr id="36" name="!!M2">
            <a:extLst>
              <a:ext uri="{FF2B5EF4-FFF2-40B4-BE49-F238E27FC236}">
                <a16:creationId xmlns:a16="http://schemas.microsoft.com/office/drawing/2014/main" id="{F9A513D0-88BB-1732-0AFB-F68C4C033025}"/>
              </a:ext>
            </a:extLst>
          </p:cNvPr>
          <p:cNvSpPr>
            <a:spLocks/>
          </p:cNvSpPr>
          <p:nvPr/>
        </p:nvSpPr>
        <p:spPr>
          <a:xfrm>
            <a:off x="8915257" y="9682716"/>
            <a:ext cx="3107539" cy="16330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NGP Cohort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Adam: </a:t>
            </a:r>
            <a:r>
              <a:rPr lang="en-US" sz="2800" dirty="0" err="1">
                <a:solidFill>
                  <a:schemeClr val="bg1"/>
                </a:solidFill>
              </a:rPr>
              <a:t>Powerpoint</a:t>
            </a:r>
            <a:r>
              <a:rPr lang="en-US" sz="2800" dirty="0">
                <a:solidFill>
                  <a:schemeClr val="bg1"/>
                </a:solidFill>
              </a:rPr>
              <a:t> mentor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Laura: </a:t>
            </a:r>
            <a:r>
              <a:rPr lang="en-US" sz="2800" dirty="0">
                <a:solidFill>
                  <a:schemeClr val="bg1"/>
                </a:solidFill>
              </a:rPr>
              <a:t>Immaculate EQ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Maddy: </a:t>
            </a:r>
            <a:r>
              <a:rPr lang="en-US" sz="2800" dirty="0">
                <a:solidFill>
                  <a:schemeClr val="bg1"/>
                </a:solidFill>
              </a:rPr>
              <a:t>Being so FR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Senjuti: </a:t>
            </a:r>
            <a:r>
              <a:rPr lang="en-US" sz="2800" dirty="0">
                <a:solidFill>
                  <a:schemeClr val="bg1"/>
                </a:solidFill>
              </a:rPr>
              <a:t>Existential Chitchat</a:t>
            </a:r>
          </a:p>
        </p:txBody>
      </p:sp>
      <p:sp>
        <p:nvSpPr>
          <p:cNvPr id="37" name="!!M2">
            <a:extLst>
              <a:ext uri="{FF2B5EF4-FFF2-40B4-BE49-F238E27FC236}">
                <a16:creationId xmlns:a16="http://schemas.microsoft.com/office/drawing/2014/main" id="{FB1F875A-5323-4F31-6991-A2E55F521D6D}"/>
              </a:ext>
            </a:extLst>
          </p:cNvPr>
          <p:cNvSpPr>
            <a:spLocks/>
          </p:cNvSpPr>
          <p:nvPr/>
        </p:nvSpPr>
        <p:spPr>
          <a:xfrm>
            <a:off x="4265560" y="9682716"/>
            <a:ext cx="4421240" cy="16330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numCol="2" rtlCol="0" anchor="t" anchorCtr="0">
            <a:normAutofit fontScale="47500" lnSpcReduction="20000"/>
          </a:bodyPr>
          <a:lstStyle/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Jeremy Barry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Rain Younger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Mohsen Bayat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Thomas Bausman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Isabella Piatek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Angelina Woychosky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Sylvia Clouse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Hunter Holoubek</a:t>
            </a:r>
          </a:p>
        </p:txBody>
      </p:sp>
      <p:pic>
        <p:nvPicPr>
          <p:cNvPr id="38" name="Picture 37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686C215A-E646-DE07-636F-69C49B3819A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787" y="8912538"/>
            <a:ext cx="1348694" cy="629073"/>
          </a:xfrm>
          <a:prstGeom prst="rect">
            <a:avLst/>
          </a:prstGeom>
        </p:spPr>
      </p:pic>
      <p:sp>
        <p:nvSpPr>
          <p:cNvPr id="39" name="!!M2">
            <a:extLst>
              <a:ext uri="{FF2B5EF4-FFF2-40B4-BE49-F238E27FC236}">
                <a16:creationId xmlns:a16="http://schemas.microsoft.com/office/drawing/2014/main" id="{55CB20A4-5036-652F-D96E-33E7911AB359}"/>
              </a:ext>
            </a:extLst>
          </p:cNvPr>
          <p:cNvSpPr>
            <a:spLocks/>
          </p:cNvSpPr>
          <p:nvPr/>
        </p:nvSpPr>
        <p:spPr>
          <a:xfrm>
            <a:off x="360538" y="9682716"/>
            <a:ext cx="3491822" cy="16330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numCol="2" rtlCol="0" anchor="t" anchorCtr="0">
            <a:normAutofit/>
          </a:bodyPr>
          <a:lstStyle/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JOM!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Elaine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Et al.</a:t>
            </a:r>
          </a:p>
        </p:txBody>
      </p:sp>
    </p:spTree>
    <p:extLst>
      <p:ext uri="{BB962C8B-B14F-4D97-AF65-F5344CB8AC3E}">
        <p14:creationId xmlns:p14="http://schemas.microsoft.com/office/powerpoint/2010/main" val="705438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AA98-A804-7013-F241-C376D0888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17F3AAD-D13E-CCDA-D9BB-25114A3ECFFA}"/>
              </a:ext>
            </a:extLst>
          </p:cNvPr>
          <p:cNvSpPr/>
          <p:nvPr/>
        </p:nvSpPr>
        <p:spPr>
          <a:xfrm>
            <a:off x="360538" y="2133600"/>
            <a:ext cx="3525662" cy="1828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56C473E8-CA8E-6C1F-C292-F382369D4D9D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28BEF1E9-18F3-8717-56EB-B7A2581E8E78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408CC0F0-04EF-7C9D-4F8F-02484806B0E4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F07FA229-D8FC-7F78-05BD-04BE4F46419F}"/>
              </a:ext>
            </a:extLst>
          </p:cNvPr>
          <p:cNvSpPr/>
          <p:nvPr/>
        </p:nvSpPr>
        <p:spPr>
          <a:xfrm>
            <a:off x="0" y="205428"/>
            <a:ext cx="121920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Thank you for your time and attention!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86F1FF1C-5C6B-D0BB-5423-100F7D42B499}"/>
              </a:ext>
            </a:extLst>
          </p:cNvPr>
          <p:cNvSpPr/>
          <p:nvPr/>
        </p:nvSpPr>
        <p:spPr>
          <a:xfrm>
            <a:off x="360538" y="79467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9D4F3399-F50F-F89B-E695-4FC333430B4B}"/>
              </a:ext>
            </a:extLst>
          </p:cNvPr>
          <p:cNvSpPr/>
          <p:nvPr/>
        </p:nvSpPr>
        <p:spPr>
          <a:xfrm>
            <a:off x="2652323" y="79523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009EA547-AB34-48D3-4C3B-59F040052261}"/>
              </a:ext>
            </a:extLst>
          </p:cNvPr>
          <p:cNvSpPr/>
          <p:nvPr/>
        </p:nvSpPr>
        <p:spPr>
          <a:xfrm>
            <a:off x="4944108" y="79467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AD7AF06E-D18D-DC83-562C-0A806B7532CC}"/>
              </a:ext>
            </a:extLst>
          </p:cNvPr>
          <p:cNvSpPr/>
          <p:nvPr/>
        </p:nvSpPr>
        <p:spPr>
          <a:xfrm>
            <a:off x="7235893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54BD23FE-2E63-1C0D-C759-D465A998C786}"/>
              </a:ext>
            </a:extLst>
          </p:cNvPr>
          <p:cNvSpPr/>
          <p:nvPr/>
        </p:nvSpPr>
        <p:spPr>
          <a:xfrm>
            <a:off x="9527678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F8EF63-0740-E89C-DDC2-19CE87BF3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4" y="11160650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C686AF-5222-4BE8-DFB3-3F24FB169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0" y="9373785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C5A0610-974D-14DE-53B6-0D6524737A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2553093" y="10508610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C1DF5AC-C509-FE6A-B17F-E2D581227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93" y="9389025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ED3557ED-8A56-E4BA-E424-CAEA242568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590" y="9372600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9E5D74-2EE9-F3E6-27C9-3A7EBF40F3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182" y="11111366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D8426372-F06A-0FC5-5739-1B72756A3A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8131" y="9371540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C136CBC6-A240-A51A-4E6F-0139E394A137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7247704" y="10573360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C124C73-23C0-6E21-1FDB-1D54666462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516" y="9371540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C13A3B-CE08-02A2-01A8-5FBDF3288A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5400" y="1727397"/>
            <a:ext cx="3107539" cy="24201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A62CED-6DCE-8061-8317-E15AE3AFE1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5787" y="1770855"/>
            <a:ext cx="4494805" cy="2415907"/>
          </a:xfrm>
          <a:prstGeom prst="rect">
            <a:avLst/>
          </a:prstGeom>
        </p:spPr>
      </p:pic>
      <p:pic>
        <p:nvPicPr>
          <p:cNvPr id="18" name="Picture 17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099C24DA-D75E-2A01-4DC1-7723CD1D700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38" y="2181969"/>
            <a:ext cx="3491822" cy="1714877"/>
          </a:xfrm>
          <a:prstGeom prst="rect">
            <a:avLst/>
          </a:prstGeom>
        </p:spPr>
      </p:pic>
      <p:sp>
        <p:nvSpPr>
          <p:cNvPr id="22" name="!!M2">
            <a:extLst>
              <a:ext uri="{FF2B5EF4-FFF2-40B4-BE49-F238E27FC236}">
                <a16:creationId xmlns:a16="http://schemas.microsoft.com/office/drawing/2014/main" id="{80C7BC93-7C16-11BB-3FE6-93DF2003EF0B}"/>
              </a:ext>
            </a:extLst>
          </p:cNvPr>
          <p:cNvSpPr>
            <a:spLocks/>
          </p:cNvSpPr>
          <p:nvPr/>
        </p:nvSpPr>
        <p:spPr>
          <a:xfrm>
            <a:off x="8915257" y="4310584"/>
            <a:ext cx="3107539" cy="16330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47500" lnSpcReduction="20000"/>
          </a:bodyPr>
          <a:lstStyle/>
          <a:p>
            <a:pPr eaLnBrk="0" fontAlgn="base" hangingPunct="0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</a:rPr>
              <a:t>NGP Cohort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Adam: </a:t>
            </a:r>
            <a:r>
              <a:rPr lang="en-US" sz="2800" dirty="0" err="1">
                <a:solidFill>
                  <a:schemeClr val="bg1"/>
                </a:solidFill>
              </a:rPr>
              <a:t>Powerpoint</a:t>
            </a:r>
            <a:r>
              <a:rPr lang="en-US" sz="2800" dirty="0">
                <a:solidFill>
                  <a:schemeClr val="bg1"/>
                </a:solidFill>
              </a:rPr>
              <a:t> mentor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Laura: </a:t>
            </a:r>
            <a:r>
              <a:rPr lang="en-US" sz="2800" dirty="0">
                <a:solidFill>
                  <a:schemeClr val="bg1"/>
                </a:solidFill>
              </a:rPr>
              <a:t>Immaculate EQ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Maddy: </a:t>
            </a:r>
            <a:r>
              <a:rPr lang="en-US" sz="2800" dirty="0">
                <a:solidFill>
                  <a:schemeClr val="bg1"/>
                </a:solidFill>
              </a:rPr>
              <a:t>Being so FR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Senjuti: </a:t>
            </a:r>
            <a:r>
              <a:rPr lang="en-US" sz="2800" dirty="0">
                <a:solidFill>
                  <a:schemeClr val="bg1"/>
                </a:solidFill>
              </a:rPr>
              <a:t>Existential Chitchat</a:t>
            </a:r>
          </a:p>
        </p:txBody>
      </p:sp>
      <p:sp>
        <p:nvSpPr>
          <p:cNvPr id="24" name="!!M2">
            <a:extLst>
              <a:ext uri="{FF2B5EF4-FFF2-40B4-BE49-F238E27FC236}">
                <a16:creationId xmlns:a16="http://schemas.microsoft.com/office/drawing/2014/main" id="{9CC4E914-60CF-54F4-0874-8DDC2696CA0E}"/>
              </a:ext>
            </a:extLst>
          </p:cNvPr>
          <p:cNvSpPr>
            <a:spLocks/>
          </p:cNvSpPr>
          <p:nvPr/>
        </p:nvSpPr>
        <p:spPr>
          <a:xfrm>
            <a:off x="4265560" y="4310584"/>
            <a:ext cx="4421240" cy="16330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numCol="2" rtlCol="0" anchor="t" anchorCtr="0">
            <a:normAutofit fontScale="47500" lnSpcReduction="20000"/>
          </a:bodyPr>
          <a:lstStyle/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Jeremy Barry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Rain Younger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Mohsen Bayat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Thomas Bausman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Isabella Piatek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Angelina Woychosky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Sylvia Clouse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Hunter Holoubek</a:t>
            </a:r>
          </a:p>
        </p:txBody>
      </p:sp>
      <p:pic>
        <p:nvPicPr>
          <p:cNvPr id="29" name="Picture 28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9D92F833-1AD5-CDB1-EED7-048B8A94E7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787" y="3540406"/>
            <a:ext cx="1348694" cy="629073"/>
          </a:xfrm>
          <a:prstGeom prst="rect">
            <a:avLst/>
          </a:prstGeom>
        </p:spPr>
      </p:pic>
      <p:sp>
        <p:nvSpPr>
          <p:cNvPr id="30" name="!!M2">
            <a:extLst>
              <a:ext uri="{FF2B5EF4-FFF2-40B4-BE49-F238E27FC236}">
                <a16:creationId xmlns:a16="http://schemas.microsoft.com/office/drawing/2014/main" id="{070EFB99-2EEE-15BE-A143-3B01E6A6338A}"/>
              </a:ext>
            </a:extLst>
          </p:cNvPr>
          <p:cNvSpPr>
            <a:spLocks/>
          </p:cNvSpPr>
          <p:nvPr/>
        </p:nvSpPr>
        <p:spPr>
          <a:xfrm>
            <a:off x="360538" y="4310584"/>
            <a:ext cx="3491822" cy="1633016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numCol="2" rtlCol="0" anchor="t" anchorCtr="0">
            <a:normAutofit/>
          </a:bodyPr>
          <a:lstStyle/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JOM!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ELAINE!</a:t>
            </a:r>
          </a:p>
          <a:p>
            <a:pPr marL="457200" indent="-457200" eaLnBrk="0" fontAlgn="base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ET AL.!</a:t>
            </a:r>
          </a:p>
        </p:txBody>
      </p:sp>
      <p:sp>
        <p:nvSpPr>
          <p:cNvPr id="31" name="!!M1">
            <a:extLst>
              <a:ext uri="{FF2B5EF4-FFF2-40B4-BE49-F238E27FC236}">
                <a16:creationId xmlns:a16="http://schemas.microsoft.com/office/drawing/2014/main" id="{537FEE72-FE9E-6410-91FF-A38E6FABCBF4}"/>
              </a:ext>
            </a:extLst>
          </p:cNvPr>
          <p:cNvSpPr>
            <a:spLocks/>
          </p:cNvSpPr>
          <p:nvPr/>
        </p:nvSpPr>
        <p:spPr>
          <a:xfrm>
            <a:off x="13146468" y="164911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Weaknesses</a:t>
            </a:r>
          </a:p>
        </p:txBody>
      </p:sp>
      <p:sp>
        <p:nvSpPr>
          <p:cNvPr id="32" name="!!M1">
            <a:extLst>
              <a:ext uri="{FF2B5EF4-FFF2-40B4-BE49-F238E27FC236}">
                <a16:creationId xmlns:a16="http://schemas.microsoft.com/office/drawing/2014/main" id="{271E75A3-C91B-9FF8-C467-05BE8DD0A7B7}"/>
              </a:ext>
            </a:extLst>
          </p:cNvPr>
          <p:cNvSpPr>
            <a:spLocks/>
          </p:cNvSpPr>
          <p:nvPr/>
        </p:nvSpPr>
        <p:spPr>
          <a:xfrm>
            <a:off x="-5943599" y="1649112"/>
            <a:ext cx="4753113" cy="53043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7500" lnSpcReduction="20000"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Strengths</a:t>
            </a:r>
          </a:p>
        </p:txBody>
      </p:sp>
      <p:sp>
        <p:nvSpPr>
          <p:cNvPr id="33" name="!!M1">
            <a:extLst>
              <a:ext uri="{FF2B5EF4-FFF2-40B4-BE49-F238E27FC236}">
                <a16:creationId xmlns:a16="http://schemas.microsoft.com/office/drawing/2014/main" id="{85DBEE17-5813-7CAF-7937-43236DB52769}"/>
              </a:ext>
            </a:extLst>
          </p:cNvPr>
          <p:cNvSpPr>
            <a:spLocks/>
          </p:cNvSpPr>
          <p:nvPr/>
        </p:nvSpPr>
        <p:spPr>
          <a:xfrm>
            <a:off x="-5943599" y="2399928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/>
              <a:t>Disruption of the "Binary State" Dogma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4" name="!!M1">
            <a:extLst>
              <a:ext uri="{FF2B5EF4-FFF2-40B4-BE49-F238E27FC236}">
                <a16:creationId xmlns:a16="http://schemas.microsoft.com/office/drawing/2014/main" id="{2598DF5B-F16D-3008-0075-04B80B10ED41}"/>
              </a:ext>
            </a:extLst>
          </p:cNvPr>
          <p:cNvSpPr>
            <a:spLocks/>
          </p:cNvSpPr>
          <p:nvPr/>
        </p:nvSpPr>
        <p:spPr>
          <a:xfrm>
            <a:off x="-5943600" y="3498997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/>
              <a:t>Causal Verification via Optogenetics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!!M1">
            <a:extLst>
              <a:ext uri="{FF2B5EF4-FFF2-40B4-BE49-F238E27FC236}">
                <a16:creationId xmlns:a16="http://schemas.microsoft.com/office/drawing/2014/main" id="{956426D1-93E2-751B-AC96-FFE6AF1F7FFB}"/>
              </a:ext>
            </a:extLst>
          </p:cNvPr>
          <p:cNvSpPr>
            <a:spLocks/>
          </p:cNvSpPr>
          <p:nvPr/>
        </p:nvSpPr>
        <p:spPr>
          <a:xfrm>
            <a:off x="-5943600" y="4620926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Autofit/>
          </a:bodyPr>
          <a:lstStyle/>
          <a:p>
            <a:r>
              <a:rPr lang="en-US" sz="2800" dirty="0"/>
              <a:t>Cross-Dataset Validation</a:t>
            </a:r>
            <a:endParaRPr lang="en-US" sz="2800" dirty="0">
              <a:solidFill>
                <a:schemeClr val="bg1"/>
              </a:solidFill>
              <a:effectLst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772B243-2A7F-15C8-B2D7-54C87E757D5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478696" y="2190211"/>
            <a:ext cx="4443341" cy="462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90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39B0F-B0E2-7723-6B40-D557465F5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 hidden="1">
            <a:extLst>
              <a:ext uri="{FF2B5EF4-FFF2-40B4-BE49-F238E27FC236}">
                <a16:creationId xmlns:a16="http://schemas.microsoft.com/office/drawing/2014/main" id="{97E0ABF6-DBD6-CFF7-56CA-BBC542393309}"/>
              </a:ext>
            </a:extLst>
          </p:cNvPr>
          <p:cNvSpPr/>
          <p:nvPr/>
        </p:nvSpPr>
        <p:spPr>
          <a:xfrm>
            <a:off x="-778502" y="457201"/>
            <a:ext cx="14554200" cy="6400799"/>
          </a:xfrm>
          <a:custGeom>
            <a:avLst/>
            <a:gdLst>
              <a:gd name="csX0" fmla="*/ 936550 w 14554200"/>
              <a:gd name="csY0" fmla="*/ 48756 h 6400799"/>
              <a:gd name="csX1" fmla="*/ 936550 w 14554200"/>
              <a:gd name="csY1" fmla="*/ 179235 h 6400799"/>
              <a:gd name="csX2" fmla="*/ 930902 w 14554200"/>
              <a:gd name="csY2" fmla="*/ 179235 h 6400799"/>
              <a:gd name="csX3" fmla="*/ 930902 w 14554200"/>
              <a:gd name="csY3" fmla="*/ 2616750 h 6400799"/>
              <a:gd name="csX4" fmla="*/ 936550 w 14554200"/>
              <a:gd name="csY4" fmla="*/ 2616750 h 6400799"/>
              <a:gd name="csX5" fmla="*/ 936550 w 14554200"/>
              <a:gd name="csY5" fmla="*/ 3683549 h 6400799"/>
              <a:gd name="csX6" fmla="*/ 9269359 w 14554200"/>
              <a:gd name="csY6" fmla="*/ 3683549 h 6400799"/>
              <a:gd name="csX7" fmla="*/ 9269359 w 14554200"/>
              <a:gd name="csY7" fmla="*/ 2616750 h 6400799"/>
              <a:gd name="csX8" fmla="*/ 9269359 w 14554200"/>
              <a:gd name="csY8" fmla="*/ 179235 h 6400799"/>
              <a:gd name="csX9" fmla="*/ 9269359 w 14554200"/>
              <a:gd name="csY9" fmla="*/ 48756 h 6400799"/>
              <a:gd name="csX10" fmla="*/ 0 w 14554200"/>
              <a:gd name="csY10" fmla="*/ 0 h 6400799"/>
              <a:gd name="csX11" fmla="*/ 685800 w 14554200"/>
              <a:gd name="csY11" fmla="*/ 0 h 6400799"/>
              <a:gd name="csX12" fmla="*/ 7696200 w 14554200"/>
              <a:gd name="csY12" fmla="*/ 0 h 6400799"/>
              <a:gd name="csX13" fmla="*/ 9269359 w 14554200"/>
              <a:gd name="csY13" fmla="*/ 0 h 6400799"/>
              <a:gd name="csX14" fmla="*/ 11068206 w 14554200"/>
              <a:gd name="csY14" fmla="*/ 0 h 6400799"/>
              <a:gd name="csX15" fmla="*/ 14554200 w 14554200"/>
              <a:gd name="csY15" fmla="*/ 0 h 6400799"/>
              <a:gd name="csX16" fmla="*/ 14554200 w 14554200"/>
              <a:gd name="csY16" fmla="*/ 6400797 h 6400799"/>
              <a:gd name="csX17" fmla="*/ 13508447 w 14554200"/>
              <a:gd name="csY17" fmla="*/ 6400797 h 6400799"/>
              <a:gd name="csX18" fmla="*/ 13508447 w 14554200"/>
              <a:gd name="csY18" fmla="*/ 6400799 h 6400799"/>
              <a:gd name="csX19" fmla="*/ 7924800 w 14554200"/>
              <a:gd name="csY19" fmla="*/ 6400799 h 6400799"/>
              <a:gd name="csX20" fmla="*/ 7924800 w 14554200"/>
              <a:gd name="csY20" fmla="*/ 6400798 h 6400799"/>
              <a:gd name="csX21" fmla="*/ 762000 w 14554200"/>
              <a:gd name="csY21" fmla="*/ 6400798 h 6400799"/>
              <a:gd name="csX22" fmla="*/ 762000 w 14554200"/>
              <a:gd name="csY22" fmla="*/ 6400797 h 6400799"/>
              <a:gd name="csX23" fmla="*/ 0 w 14554200"/>
              <a:gd name="csY23" fmla="*/ 6400797 h 64007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4554200" h="6400799">
                <a:moveTo>
                  <a:pt x="936550" y="48756"/>
                </a:moveTo>
                <a:lnTo>
                  <a:pt x="936550" y="179235"/>
                </a:lnTo>
                <a:lnTo>
                  <a:pt x="930902" y="179235"/>
                </a:lnTo>
                <a:lnTo>
                  <a:pt x="930902" y="2616750"/>
                </a:lnTo>
                <a:lnTo>
                  <a:pt x="936550" y="2616750"/>
                </a:lnTo>
                <a:lnTo>
                  <a:pt x="936550" y="3683549"/>
                </a:lnTo>
                <a:lnTo>
                  <a:pt x="9269359" y="3683549"/>
                </a:lnTo>
                <a:lnTo>
                  <a:pt x="9269359" y="2616750"/>
                </a:lnTo>
                <a:lnTo>
                  <a:pt x="9269359" y="179235"/>
                </a:lnTo>
                <a:lnTo>
                  <a:pt x="9269359" y="48756"/>
                </a:lnTo>
                <a:close/>
                <a:moveTo>
                  <a:pt x="0" y="0"/>
                </a:moveTo>
                <a:lnTo>
                  <a:pt x="685800" y="0"/>
                </a:lnTo>
                <a:lnTo>
                  <a:pt x="7696200" y="0"/>
                </a:lnTo>
                <a:lnTo>
                  <a:pt x="9269359" y="0"/>
                </a:lnTo>
                <a:lnTo>
                  <a:pt x="11068206" y="0"/>
                </a:lnTo>
                <a:lnTo>
                  <a:pt x="14554200" y="0"/>
                </a:lnTo>
                <a:lnTo>
                  <a:pt x="14554200" y="6400797"/>
                </a:lnTo>
                <a:lnTo>
                  <a:pt x="13508447" y="6400797"/>
                </a:lnTo>
                <a:lnTo>
                  <a:pt x="13508447" y="6400799"/>
                </a:lnTo>
                <a:lnTo>
                  <a:pt x="7924800" y="6400799"/>
                </a:lnTo>
                <a:lnTo>
                  <a:pt x="7924800" y="6400798"/>
                </a:lnTo>
                <a:lnTo>
                  <a:pt x="762000" y="6400798"/>
                </a:lnTo>
                <a:lnTo>
                  <a:pt x="762000" y="6400797"/>
                </a:lnTo>
                <a:lnTo>
                  <a:pt x="0" y="6400797"/>
                </a:lnTo>
                <a:close/>
              </a:path>
            </a:pathLst>
          </a:custGeom>
          <a:solidFill>
            <a:schemeClr val="tx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!!T-BG_">
            <a:extLst>
              <a:ext uri="{FF2B5EF4-FFF2-40B4-BE49-F238E27FC236}">
                <a16:creationId xmlns:a16="http://schemas.microsoft.com/office/drawing/2014/main" id="{9E907AB0-E384-8ADC-09B0-ED868AE14ABE}"/>
              </a:ext>
            </a:extLst>
          </p:cNvPr>
          <p:cNvSpPr/>
          <p:nvPr/>
        </p:nvSpPr>
        <p:spPr>
          <a:xfrm>
            <a:off x="2941178" y="-4343400"/>
            <a:ext cx="6400800" cy="2466412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T1">
            <a:extLst>
              <a:ext uri="{FF2B5EF4-FFF2-40B4-BE49-F238E27FC236}">
                <a16:creationId xmlns:a16="http://schemas.microsoft.com/office/drawing/2014/main" id="{8AA23E41-5E50-7FB8-2C4C-D507C7312612}"/>
              </a:ext>
            </a:extLst>
          </p:cNvPr>
          <p:cNvSpPr txBox="1">
            <a:spLocks/>
          </p:cNvSpPr>
          <p:nvPr/>
        </p:nvSpPr>
        <p:spPr>
          <a:xfrm>
            <a:off x="3067050" y="-4126805"/>
            <a:ext cx="6149057" cy="235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350" b="1" u="sng" dirty="0">
                <a:solidFill>
                  <a:schemeClr val="bg1"/>
                </a:solidFill>
              </a:rPr>
              <a:t>Is DS2 Necessary for Learning?</a:t>
            </a:r>
          </a:p>
        </p:txBody>
      </p:sp>
      <p:sp>
        <p:nvSpPr>
          <p:cNvPr id="3" name="!!T2">
            <a:extLst>
              <a:ext uri="{FF2B5EF4-FFF2-40B4-BE49-F238E27FC236}">
                <a16:creationId xmlns:a16="http://schemas.microsoft.com/office/drawing/2014/main" id="{8B68BB87-C77A-E5BE-8AF1-DC022CECB096}"/>
              </a:ext>
            </a:extLst>
          </p:cNvPr>
          <p:cNvSpPr/>
          <p:nvPr/>
        </p:nvSpPr>
        <p:spPr>
          <a:xfrm>
            <a:off x="0" y="205428"/>
            <a:ext cx="12192000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Thank you for your time and attention!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2" name="!!T-BG">
            <a:extLst>
              <a:ext uri="{FF2B5EF4-FFF2-40B4-BE49-F238E27FC236}">
                <a16:creationId xmlns:a16="http://schemas.microsoft.com/office/drawing/2014/main" id="{6C981D8A-32CA-A3B1-8334-2EBA3726A908}"/>
              </a:ext>
            </a:extLst>
          </p:cNvPr>
          <p:cNvSpPr/>
          <p:nvPr/>
        </p:nvSpPr>
        <p:spPr>
          <a:xfrm>
            <a:off x="360538" y="7946797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DS2 Is Unique</a:t>
            </a:r>
          </a:p>
        </p:txBody>
      </p:sp>
      <p:sp>
        <p:nvSpPr>
          <p:cNvPr id="8" name="!!T-BG">
            <a:extLst>
              <a:ext uri="{FF2B5EF4-FFF2-40B4-BE49-F238E27FC236}">
                <a16:creationId xmlns:a16="http://schemas.microsoft.com/office/drawing/2014/main" id="{0407BDEF-F23A-2D7D-CACC-751775377D79}"/>
              </a:ext>
            </a:extLst>
          </p:cNvPr>
          <p:cNvSpPr/>
          <p:nvPr/>
        </p:nvSpPr>
        <p:spPr>
          <a:xfrm>
            <a:off x="2652323" y="7952320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Circuit Mechanisms </a:t>
            </a:r>
          </a:p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Characterized</a:t>
            </a:r>
          </a:p>
        </p:txBody>
      </p:sp>
      <p:sp>
        <p:nvSpPr>
          <p:cNvPr id="9" name="!!T-BG">
            <a:extLst>
              <a:ext uri="{FF2B5EF4-FFF2-40B4-BE49-F238E27FC236}">
                <a16:creationId xmlns:a16="http://schemas.microsoft.com/office/drawing/2014/main" id="{47053BC6-C160-B8EF-B7BB-E0B9FF98387A}"/>
              </a:ext>
            </a:extLst>
          </p:cNvPr>
          <p:cNvSpPr/>
          <p:nvPr/>
        </p:nvSpPr>
        <p:spPr>
          <a:xfrm>
            <a:off x="4944108" y="7946796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Global Hypothesis Substantiated</a:t>
            </a:r>
          </a:p>
        </p:txBody>
      </p:sp>
      <p:sp>
        <p:nvSpPr>
          <p:cNvPr id="10" name="!!T-BG">
            <a:extLst>
              <a:ext uri="{FF2B5EF4-FFF2-40B4-BE49-F238E27FC236}">
                <a16:creationId xmlns:a16="http://schemas.microsoft.com/office/drawing/2014/main" id="{3CAFED3B-6C29-C59F-AD25-F02481CD0EE4}"/>
              </a:ext>
            </a:extLst>
          </p:cNvPr>
          <p:cNvSpPr/>
          <p:nvPr/>
        </p:nvSpPr>
        <p:spPr>
          <a:xfrm>
            <a:off x="7235893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Encoding Illuminated</a:t>
            </a:r>
          </a:p>
        </p:txBody>
      </p:sp>
      <p:sp>
        <p:nvSpPr>
          <p:cNvPr id="11" name="!!T-BG">
            <a:extLst>
              <a:ext uri="{FF2B5EF4-FFF2-40B4-BE49-F238E27FC236}">
                <a16:creationId xmlns:a16="http://schemas.microsoft.com/office/drawing/2014/main" id="{83273D30-CE3E-2343-10B9-9985B07893FA}"/>
              </a:ext>
            </a:extLst>
          </p:cNvPr>
          <p:cNvSpPr/>
          <p:nvPr/>
        </p:nvSpPr>
        <p:spPr>
          <a:xfrm>
            <a:off x="9527678" y="7946795"/>
            <a:ext cx="1933364" cy="1300923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 for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3DF6FE-23AF-9661-969C-234672778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14" y="11160650"/>
            <a:ext cx="2251211" cy="53043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59786A-4D50-4BB1-F59B-08E3E202D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0" y="9373785"/>
            <a:ext cx="2251210" cy="16175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E6A011E-1103-41EE-0CB1-BB03B60F55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880"/>
          <a:stretch>
            <a:fillRect/>
          </a:stretch>
        </p:blipFill>
        <p:spPr>
          <a:xfrm>
            <a:off x="2553093" y="10508610"/>
            <a:ext cx="2251210" cy="16188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56AE3F9-1283-1213-6AE0-FB5224A6B9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3093" y="9389025"/>
            <a:ext cx="2236786" cy="95184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5" name="!!P2">
            <a:extLst>
              <a:ext uri="{FF2B5EF4-FFF2-40B4-BE49-F238E27FC236}">
                <a16:creationId xmlns:a16="http://schemas.microsoft.com/office/drawing/2014/main" id="{87C18BAF-BA4F-0ABE-EFCE-61B5AD908A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590" y="9372600"/>
            <a:ext cx="1767817" cy="21601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E9A2848-9E6A-EF7D-BA53-054D9F39E0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182" y="11111366"/>
            <a:ext cx="1767818" cy="162670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6" name="Picture 25" descr="A collage of images of graphs and diagrams&#10;&#10;AI-generated content may be incorrect.">
            <a:extLst>
              <a:ext uri="{FF2B5EF4-FFF2-40B4-BE49-F238E27FC236}">
                <a16:creationId xmlns:a16="http://schemas.microsoft.com/office/drawing/2014/main" id="{89930F66-4F0D-7314-4BFA-4090EB86CC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8131" y="9371540"/>
            <a:ext cx="1869453" cy="10943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7" name="Picture 26" descr="A close-up of a graph&#10;&#10;AI-generated content may be incorrect.">
            <a:extLst>
              <a:ext uri="{FF2B5EF4-FFF2-40B4-BE49-F238E27FC236}">
                <a16:creationId xmlns:a16="http://schemas.microsoft.com/office/drawing/2014/main" id="{06100A49-D18F-1DF8-8FC1-9AE824DBB92C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7247704" y="10573360"/>
            <a:ext cx="1869453" cy="11745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7976B8B-65F2-CA28-8673-1D77639BD0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516" y="9371540"/>
            <a:ext cx="1984934" cy="189572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2" name="!!M1">
            <a:extLst>
              <a:ext uri="{FF2B5EF4-FFF2-40B4-BE49-F238E27FC236}">
                <a16:creationId xmlns:a16="http://schemas.microsoft.com/office/drawing/2014/main" id="{A42E5846-D507-F3B0-B403-F2810E1F7CC0}"/>
              </a:ext>
            </a:extLst>
          </p:cNvPr>
          <p:cNvSpPr>
            <a:spLocks/>
          </p:cNvSpPr>
          <p:nvPr/>
        </p:nvSpPr>
        <p:spPr>
          <a:xfrm>
            <a:off x="-5029199" y="2399928"/>
            <a:ext cx="4753114" cy="951847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0" rIns="0" bIns="0" rtlCol="0" anchor="t" anchorCtr="0">
            <a:normAutofit fontScale="70000" lnSpcReduction="20000"/>
          </a:bodyPr>
          <a:lstStyle/>
          <a:p>
            <a:r>
              <a:rPr lang="en-US" sz="4400" dirty="0"/>
              <a:t>Disruption of the "Binary State" Dogma</a:t>
            </a:r>
            <a:endParaRPr lang="en-US" sz="4400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!!T2">
            <a:extLst>
              <a:ext uri="{FF2B5EF4-FFF2-40B4-BE49-F238E27FC236}">
                <a16:creationId xmlns:a16="http://schemas.microsoft.com/office/drawing/2014/main" id="{4F8F7EE9-439C-7BE0-FBB4-025FDB658723}"/>
              </a:ext>
            </a:extLst>
          </p:cNvPr>
          <p:cNvSpPr/>
          <p:nvPr/>
        </p:nvSpPr>
        <p:spPr>
          <a:xfrm>
            <a:off x="2293902" y="2053003"/>
            <a:ext cx="7459698" cy="1307519"/>
          </a:xfrm>
          <a:prstGeom prst="snip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Questions?</a:t>
            </a:r>
            <a:endParaRPr lang="en-US" sz="6600" b="1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E4EBAC-7BFF-8AB5-A50D-B59C87ED59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751" y="3459480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259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6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36487</TotalTime>
  <Words>30401</Words>
  <Application>Microsoft Office PowerPoint</Application>
  <PresentationFormat>Widescreen</PresentationFormat>
  <Paragraphs>2991</Paragraphs>
  <Slides>188</Slides>
  <Notes>187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188</vt:i4>
      </vt:variant>
    </vt:vector>
  </HeadingPairs>
  <TitlesOfParts>
    <vt:vector size="193" baseType="lpstr">
      <vt:lpstr>Aptos</vt:lpstr>
      <vt:lpstr>Aptos Display</vt:lpstr>
      <vt:lpstr>Arial</vt:lpstr>
      <vt:lpstr>Wingdings</vt:lpstr>
      <vt:lpstr>Office Theme</vt:lpstr>
      <vt:lpstr>Neural and Behavioral State Switching During Hippocampal Dentate Spikes</vt:lpstr>
      <vt:lpstr>The "Online" vs. "Offline“ Gap</vt:lpstr>
      <vt:lpstr>The "Online" vs. "Offline“ Gap</vt:lpstr>
      <vt:lpstr>The "Online" vs. "Offline“ Gap</vt:lpstr>
      <vt:lpstr>The "Online" vs. "Offline“ Gap</vt:lpstr>
      <vt:lpstr>The "Online" vs. "Offline" Gap</vt:lpstr>
      <vt:lpstr>Not All Spikes Are Created Equal</vt:lpstr>
      <vt:lpstr>Not All Spikes Are Created Equal</vt:lpstr>
      <vt:lpstr>Not All Spikes Are Created Equal</vt:lpstr>
      <vt:lpstr>Not All Spikes Are Created Equal</vt:lpstr>
      <vt:lpstr>Not All Spikes Are Created Equal</vt:lpstr>
      <vt:lpstr>Not All Spikes Are Created Equal</vt:lpstr>
      <vt:lpstr>Not All Spikes Are Created Equal</vt:lpstr>
      <vt:lpstr>Not All Spikes Are Created Equal </vt:lpstr>
      <vt:lpstr>Not All Spikes Are Created Equal </vt:lpstr>
      <vt:lpstr>Not All Spikes Are Created Equal </vt:lpstr>
      <vt:lpstr>Not All Spikes Are Created Equal </vt:lpstr>
      <vt:lpstr>Not All Spikes Are Created Equal </vt:lpstr>
      <vt:lpstr>Not All Spikes Are Created Equal </vt:lpstr>
      <vt:lpstr>Not All Spikes Are Created Equal </vt:lpstr>
      <vt:lpstr>Getting To Know Our Offline Spikes</vt:lpstr>
      <vt:lpstr>Getting To Know Our Offline Spikes</vt:lpstr>
      <vt:lpstr>Getting To Know Our Offline Spikes</vt:lpstr>
      <vt:lpstr>Getting To Know Our Offline Spikes</vt:lpstr>
      <vt:lpstr>Getting To Know Our Offline Spikes</vt:lpstr>
      <vt:lpstr>Getting To Know Our Offline Spikes</vt:lpstr>
      <vt:lpstr>Getting To Know Our Offline Spikes</vt:lpstr>
      <vt:lpstr>Getting To Know Our Offline Spikes</vt:lpstr>
      <vt:lpstr>Getting To Know Our Offline Spikes</vt:lpstr>
      <vt:lpstr>Getting To Know Our Offline Spikes</vt:lpstr>
      <vt:lpstr>Getting To Know Our Offline Spikes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Shahriar Akhavan Tafti</dc:creator>
  <cp:lastModifiedBy>Shahriar Akhavan Tafti</cp:lastModifiedBy>
  <cp:revision>37</cp:revision>
  <dcterms:created xsi:type="dcterms:W3CDTF">2025-12-26T01:33:05Z</dcterms:created>
  <dcterms:modified xsi:type="dcterms:W3CDTF">2026-08-24T16:54:48Z</dcterms:modified>
</cp:coreProperties>
</file>