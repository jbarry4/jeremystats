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 id="377" r:id="rId1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tableStyles" Target="tableStyle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notesMaster" Target="notesMasters/notesMaster1.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7F03A5F-60F6-4675-9DDF-196E080C2481}" type="datetimeFigureOut">
              <a:rPr lang="en-US" smtClean="0"/>
              <a:t>10/23/2026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02527C0-2EEE-4A24-877A-E52264EBE2CC}" type="slidenum">
              <a:rPr lang="en-US" smtClean="0"/>
              <a:t>‹#›</a:t>
            </a:fld>
            <a:endParaRPr lang="en-US"/>
          </a:p>
        </p:txBody>
      </p:sp>
    </p:spTree>
    <p:extLst>
      <p:ext uri="{BB962C8B-B14F-4D97-AF65-F5344CB8AC3E}">
        <p14:creationId xmlns:p14="http://schemas.microsoft.com/office/powerpoint/2010/main" val="7171842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From Jarvis, tabs 8 and 9 (the Monolith page). Every number on these slides is the tab's own.</a:t>
            </a:r>
          </a:p>
        </p:txBody>
      </p:sp>
      <p:sp>
        <p:nvSpPr>
          <p:cNvPr id="4" name="Slide Number Placeholder 3"/>
          <p:cNvSpPr>
            <a:spLocks noGrp="1"/>
          </p:cNvSpPr>
          <p:nvPr>
            <p:ph type="sldNum" sz="quarter" idx="5"/>
          </p:nvPr>
        </p:nvSpPr>
        <p:spPr/>
        <p:txBody>
          <a:bodyPr/>
          <a:lstStyle/>
          <a:p>
            <a:fld id="{402527C0-2EEE-4A24-877A-E52264EBE2CC}" type="slidenum">
              <a:rPr lang="en-US" smtClean="0"/>
              <a:t>1</a:t>
            </a:fld>
            <a:endParaRPr lang="en-US"/>
          </a:p>
        </p:txBody>
      </p:sp>
    </p:spTree>
    <p:extLst>
      <p:ext uri="{BB962C8B-B14F-4D97-AF65-F5344CB8AC3E}">
        <p14:creationId xmlns:p14="http://schemas.microsoft.com/office/powerpoint/2010/main" val="19688353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newest note is the big red one; older ones shrink and stay on the right until the topic ends.</a:t>
            </a:r>
          </a:p>
        </p:txBody>
      </p:sp>
      <p:sp>
        <p:nvSpPr>
          <p:cNvPr id="4" name="Slide Number Placeholder 3"/>
          <p:cNvSpPr>
            <a:spLocks noGrp="1"/>
          </p:cNvSpPr>
          <p:nvPr>
            <p:ph type="sldNum" sz="quarter" idx="5"/>
          </p:nvPr>
        </p:nvSpPr>
        <p:spPr/>
        <p:txBody>
          <a:bodyPr/>
          <a:lstStyle/>
          <a:p>
            <a:fld id="{402527C0-2EEE-4A24-877A-E52264EBE2CC}" type="slidenum">
              <a:rPr lang="en-US" smtClean="0"/>
              <a:t>2</a:t>
            </a:fld>
            <a:endParaRPr lang="en-US"/>
          </a:p>
        </p:txBody>
      </p:sp>
    </p:spTree>
    <p:extLst>
      <p:ext uri="{BB962C8B-B14F-4D97-AF65-F5344CB8AC3E}">
        <p14:creationId xmlns:p14="http://schemas.microsoft.com/office/powerpoint/2010/main" val="25774226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Coherence is computed the way Dickson et al. 2022 and Jeremy’s MATLAB do it (mscohere).</a:t>
            </a:r>
          </a:p>
        </p:txBody>
      </p:sp>
      <p:sp>
        <p:nvSpPr>
          <p:cNvPr id="4" name="Slide Number Placeholder 3"/>
          <p:cNvSpPr>
            <a:spLocks noGrp="1"/>
          </p:cNvSpPr>
          <p:nvPr>
            <p:ph type="sldNum" sz="quarter" idx="5"/>
          </p:nvPr>
        </p:nvSpPr>
        <p:spPr/>
        <p:txBody>
          <a:bodyPr/>
          <a:lstStyle/>
          <a:p>
            <a:fld id="{402527C0-2EEE-4A24-877A-E52264EBE2CC}" type="slidenum">
              <a:rPr lang="en-US" smtClean="0"/>
              <a:t>3</a:t>
            </a:fld>
            <a:endParaRPr lang="en-US"/>
          </a:p>
        </p:txBody>
      </p:sp>
    </p:spTree>
    <p:extLst>
      <p:ext uri="{BB962C8B-B14F-4D97-AF65-F5344CB8AC3E}">
        <p14:creationId xmlns:p14="http://schemas.microsoft.com/office/powerpoint/2010/main" val="25758344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Coherence in each window is the mean over the session’s trials (12 to 16 a session), per rat and day.</a:t>
            </a:r>
          </a:p>
        </p:txBody>
      </p:sp>
      <p:sp>
        <p:nvSpPr>
          <p:cNvPr id="4" name="Slide Number Placeholder 3"/>
          <p:cNvSpPr>
            <a:spLocks noGrp="1"/>
          </p:cNvSpPr>
          <p:nvPr>
            <p:ph type="sldNum" sz="quarter" idx="5"/>
          </p:nvPr>
        </p:nvSpPr>
        <p:spPr/>
        <p:txBody>
          <a:bodyPr/>
          <a:lstStyle/>
          <a:p>
            <a:fld id="{402527C0-2EEE-4A24-877A-E52264EBE2CC}" type="slidenum">
              <a:rPr lang="en-US" smtClean="0"/>
              <a:t>8</a:t>
            </a:fld>
            <a:endParaRPr lang="en-US"/>
          </a:p>
        </p:txBody>
      </p:sp>
    </p:spTree>
    <p:extLst>
      <p:ext uri="{BB962C8B-B14F-4D97-AF65-F5344CB8AC3E}">
        <p14:creationId xmlns:p14="http://schemas.microsoft.com/office/powerpoint/2010/main" val="122780958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Pooled over the four sounds, so the comparison is first cue against second cue, agnostic of pair identity.</a:t>
            </a:r>
          </a:p>
        </p:txBody>
      </p:sp>
      <p:sp>
        <p:nvSpPr>
          <p:cNvPr id="4" name="Slide Number Placeholder 3"/>
          <p:cNvSpPr>
            <a:spLocks noGrp="1"/>
          </p:cNvSpPr>
          <p:nvPr>
            <p:ph type="sldNum" sz="quarter" idx="5"/>
          </p:nvPr>
        </p:nvSpPr>
        <p:spPr/>
        <p:txBody>
          <a:bodyPr/>
          <a:lstStyle/>
          <a:p>
            <a:fld id="{402527C0-2EEE-4A24-877A-E52264EBE2CC}" type="slidenum">
              <a:rPr lang="en-US" smtClean="0"/>
              <a:t>9</a:t>
            </a:fld>
            <a:endParaRPr lang="en-US"/>
          </a:p>
        </p:txBody>
      </p:sp>
    </p:spTree>
    <p:extLst>
      <p:ext uri="{BB962C8B-B14F-4D97-AF65-F5344CB8AC3E}">
        <p14:creationId xmlns:p14="http://schemas.microsoft.com/office/powerpoint/2010/main" val="45841164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Per rat: the mean over its pairs of (Precon4 cue − baseline) − (Precon1 cue − baseline). A one-sample t-test of these 8 numbers: t(7) = 2.77, P = 0.028.</a:t>
            </a:r>
          </a:p>
        </p:txBody>
      </p:sp>
      <p:sp>
        <p:nvSpPr>
          <p:cNvPr id="4" name="Slide Number Placeholder 3"/>
          <p:cNvSpPr>
            <a:spLocks noGrp="1"/>
          </p:cNvSpPr>
          <p:nvPr>
            <p:ph type="sldNum" sz="quarter" idx="5"/>
          </p:nvPr>
        </p:nvSpPr>
        <p:spPr/>
        <p:txBody>
          <a:bodyPr/>
          <a:lstStyle/>
          <a:p>
            <a:fld id="{402527C0-2EEE-4A24-877A-E52264EBE2CC}" type="slidenum">
              <a:rPr lang="en-US" smtClean="0"/>
              <a:t>11</a:t>
            </a:fld>
            <a:endParaRPr lang="en-US"/>
          </a:p>
        </p:txBody>
      </p:sp>
    </p:spTree>
    <p:extLst>
      <p:ext uri="{BB962C8B-B14F-4D97-AF65-F5344CB8AC3E}">
        <p14:creationId xmlns:p14="http://schemas.microsoft.com/office/powerpoint/2010/main" val="351532852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lights are drawn in colours that colour-blind readers tell apart, with a shape for each state as well.</a:t>
            </a:r>
          </a:p>
        </p:txBody>
      </p:sp>
      <p:sp>
        <p:nvSpPr>
          <p:cNvPr id="4" name="Slide Number Placeholder 3"/>
          <p:cNvSpPr>
            <a:spLocks noGrp="1"/>
          </p:cNvSpPr>
          <p:nvPr>
            <p:ph type="sldNum" sz="quarter" idx="5"/>
          </p:nvPr>
        </p:nvSpPr>
        <p:spPr/>
        <p:txBody>
          <a:bodyPr/>
          <a:lstStyle/>
          <a:p>
            <a:fld id="{402527C0-2EEE-4A24-877A-E52264EBE2CC}" type="slidenum">
              <a:rPr lang="en-US" smtClean="0"/>
              <a:t>12</a:t>
            </a:fld>
            <a:endParaRPr lang="en-US"/>
          </a:p>
        </p:txBody>
      </p:sp>
    </p:spTree>
    <p:extLst>
      <p:ext uri="{BB962C8B-B14F-4D97-AF65-F5344CB8AC3E}">
        <p14:creationId xmlns:p14="http://schemas.microsoft.com/office/powerpoint/2010/main" val="279733490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Mixed model, rat as the unit, Day × Phase: comparison 1 F(1, 7) = 9.57, P = 0.017; comparison 2 F(1, 7) = 6.83, P = 0.035.</a:t>
            </a:r>
          </a:p>
        </p:txBody>
      </p:sp>
      <p:sp>
        <p:nvSpPr>
          <p:cNvPr id="4" name="Slide Number Placeholder 3"/>
          <p:cNvSpPr>
            <a:spLocks noGrp="1"/>
          </p:cNvSpPr>
          <p:nvPr>
            <p:ph type="sldNum" sz="quarter" idx="5"/>
          </p:nvPr>
        </p:nvSpPr>
        <p:spPr/>
        <p:txBody>
          <a:bodyPr/>
          <a:lstStyle/>
          <a:p>
            <a:fld id="{402527C0-2EEE-4A24-877A-E52264EBE2CC}" type="slidenum">
              <a:rPr lang="en-US" smtClean="0"/>
              <a:t>13</a:t>
            </a:fld>
            <a:endParaRPr lang="en-US"/>
          </a:p>
        </p:txBody>
      </p:sp>
    </p:spTree>
    <p:extLst>
      <p:ext uri="{BB962C8B-B14F-4D97-AF65-F5344CB8AC3E}">
        <p14:creationId xmlns:p14="http://schemas.microsoft.com/office/powerpoint/2010/main" val="361958860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 light passes if either its Day × factor term or its Day × factor × Pair term has P &lt; 0.05: about 24 × (1 − 0.95²) ≈ 2.3 expected by chance alone; 3 lit.</a:t>
            </a:r>
          </a:p>
        </p:txBody>
      </p:sp>
      <p:sp>
        <p:nvSpPr>
          <p:cNvPr id="4" name="Slide Number Placeholder 3"/>
          <p:cNvSpPr>
            <a:spLocks noGrp="1"/>
          </p:cNvSpPr>
          <p:nvPr>
            <p:ph type="sldNum" sz="quarter" idx="5"/>
          </p:nvPr>
        </p:nvSpPr>
        <p:spPr/>
        <p:txBody>
          <a:bodyPr/>
          <a:lstStyle/>
          <a:p>
            <a:fld id="{402527C0-2EEE-4A24-877A-E52264EBE2CC}" type="slidenum">
              <a:rPr lang="en-US" smtClean="0"/>
              <a:t>15</a:t>
            </a:fld>
            <a:endParaRPr lang="en-US"/>
          </a:p>
        </p:txBody>
      </p:sp>
    </p:spTree>
    <p:extLst>
      <p:ext uri="{BB962C8B-B14F-4D97-AF65-F5344CB8AC3E}">
        <p14:creationId xmlns:p14="http://schemas.microsoft.com/office/powerpoint/2010/main" val="284512367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How each row of the ring figures is made. Shown for one pair, R ACC – R RSC (comparison 1, gamma coherence; the pair whose change is largest), each bar the mean over the rats. a, the Precon1 cue effect: the cue window's coherence minus the baseline's, on Precon1 (a–c of a ring figure). b, the Precon4 cue effect, the same on Precon4 (d–f). c, the change in cue effect: Precon4's minus Precon1's (g–i), the number tab 8's light tests. Orange arrows: up; purple: down. A ring draws this for every pair at once, each line's width the size of its number.</a:t>
            </a:r>
          </a:p>
        </p:txBody>
      </p:sp>
      <p:sp>
        <p:nvSpPr>
          <p:cNvPr id="4" name="Slide Number Placeholder 3"/>
          <p:cNvSpPr>
            <a:spLocks noGrp="1"/>
          </p:cNvSpPr>
          <p:nvPr>
            <p:ph type="sldNum" sz="quarter" idx="5"/>
          </p:nvPr>
        </p:nvSpPr>
        <p:spPr/>
        <p:txBody>
          <a:bodyPr/>
          <a:lstStyle/>
          <a:p>
            <a:fld id="{402527C0-2EEE-4A24-877A-E52264EBE2CC}" type="slidenum">
              <a:rPr lang="en-US" smtClean="0"/>
              <a:t>16</a:t>
            </a:fld>
            <a:endParaRPr lang="en-US"/>
          </a:p>
        </p:txBody>
      </p:sp>
    </p:spTree>
    <p:extLst>
      <p:ext uri="{BB962C8B-B14F-4D97-AF65-F5344CB8AC3E}">
        <p14:creationId xmlns:p14="http://schemas.microsoft.com/office/powerpoint/2010/main" val="331344247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Baseline (20 s) → both cues, gamma 30–90 Hz: the connectome of the change from Baseline (20 s) to Cue 1 + Cue 2 (20 s). a–c, the Precon1 cue effect (Cues − Baseline, on Precon1); d–f, the Precon4 cue effect; g–i, the change in cue effect (Precon4’s minus Precon1’s). Each ring holds the 12 regions (open, a region no pair reaches with at least 4 rats); each edge is one of the 44 pairs tested, curving toward the centre, its width the mean change in coherence from Baseline (20 s) to Cue 1 + Cue 2 (20 s) over the rats (Dickson 2022: 59–61 Hz notch, hanning(1024), 512 overlap, 2,048 points, averaged over 30–90 Hz without 59–61 Hz), orange for an increase and purple for a decrease. Left column, the increases; middle, the decreases; right, both. Under each ring, its statistic (the summed increases, the summed decreases, or the sum of all) against 10,000 sets of fake trials from the same rats’ FP1 and FP2 recordings, where there were no cues: a fake cue onset every 10 s of FP, the trial’s own windows round it, measured as a trial’s are; in each set every session gets as many fake trials as it had real ones, drawn at random with replacement, each with its two windows in random order (with no cue, either can stand for it) and losing the windows the matching real trial lost to clipping, and its change is made as the real one is. The vertical line is the observed value, with its rank among the sets and its P (increases one-sided upward, decreases downward, both two-sided; *P &lt; 0.05, **P &lt; 0.01, ***P &lt; 0.001; uncorrected). n = 8 rats, 12–16 trials per session. Significant: none.</a:t>
            </a:r>
          </a:p>
        </p:txBody>
      </p:sp>
      <p:sp>
        <p:nvSpPr>
          <p:cNvPr id="4" name="Slide Number Placeholder 3"/>
          <p:cNvSpPr>
            <a:spLocks noGrp="1"/>
          </p:cNvSpPr>
          <p:nvPr>
            <p:ph type="sldNum" sz="quarter" idx="5"/>
          </p:nvPr>
        </p:nvSpPr>
        <p:spPr/>
        <p:txBody>
          <a:bodyPr/>
          <a:lstStyle/>
          <a:p>
            <a:fld id="{402527C0-2EEE-4A24-877A-E52264EBE2CC}" type="slidenum">
              <a:rPr lang="en-US" smtClean="0"/>
              <a:t>22</a:t>
            </a:fld>
            <a:endParaRPr lang="en-US"/>
          </a:p>
        </p:txBody>
      </p:sp>
    </p:spTree>
    <p:extLst>
      <p:ext uri="{BB962C8B-B14F-4D97-AF65-F5344CB8AC3E}">
        <p14:creationId xmlns:p14="http://schemas.microsoft.com/office/powerpoint/2010/main" val="31097263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 fake cue onset every 10 s of FP1 and FP2 (1,017 fake trials in all), the trial's own windows round it, measured with the same wires, clipping and measures; each set draws each session's fake trials at random, with replacement, losing the windows its real trials lost.</a:t>
            </a:r>
          </a:p>
        </p:txBody>
      </p:sp>
      <p:sp>
        <p:nvSpPr>
          <p:cNvPr id="4" name="Slide Number Placeholder 3"/>
          <p:cNvSpPr>
            <a:spLocks noGrp="1"/>
          </p:cNvSpPr>
          <p:nvPr>
            <p:ph type="sldNum" sz="quarter" idx="5"/>
          </p:nvPr>
        </p:nvSpPr>
        <p:spPr/>
        <p:txBody>
          <a:bodyPr/>
          <a:lstStyle/>
          <a:p>
            <a:fld id="{402527C0-2EEE-4A24-877A-E52264EBE2CC}" type="slidenum">
              <a:rPr lang="en-US" smtClean="0"/>
              <a:t>30</a:t>
            </a:fld>
            <a:endParaRPr lang="en-US"/>
          </a:p>
        </p:txBody>
      </p:sp>
    </p:spTree>
    <p:extLst>
      <p:ext uri="{BB962C8B-B14F-4D97-AF65-F5344CB8AC3E}">
        <p14:creationId xmlns:p14="http://schemas.microsoft.com/office/powerpoint/2010/main" val="186194574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Rank 8998 of 10001.</a:t>
            </a:r>
          </a:p>
        </p:txBody>
      </p:sp>
      <p:sp>
        <p:nvSpPr>
          <p:cNvPr id="4" name="Slide Number Placeholder 3"/>
          <p:cNvSpPr>
            <a:spLocks noGrp="1"/>
          </p:cNvSpPr>
          <p:nvPr>
            <p:ph type="sldNum" sz="quarter" idx="5"/>
          </p:nvPr>
        </p:nvSpPr>
        <p:spPr/>
        <p:txBody>
          <a:bodyPr/>
          <a:lstStyle/>
          <a:p>
            <a:fld id="{402527C0-2EEE-4A24-877A-E52264EBE2CC}" type="slidenum">
              <a:rPr lang="en-US" smtClean="0"/>
              <a:t>31</a:t>
            </a:fld>
            <a:endParaRPr lang="en-US"/>
          </a:p>
        </p:txBody>
      </p:sp>
    </p:spTree>
    <p:extLst>
      <p:ext uri="{BB962C8B-B14F-4D97-AF65-F5344CB8AC3E}">
        <p14:creationId xmlns:p14="http://schemas.microsoft.com/office/powerpoint/2010/main" val="275442038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Trial-to-trial noise inside a session is about 1.7 times wider than the spread between rats.</a:t>
            </a:r>
          </a:p>
        </p:txBody>
      </p:sp>
      <p:sp>
        <p:nvSpPr>
          <p:cNvPr id="4" name="Slide Number Placeholder 3"/>
          <p:cNvSpPr>
            <a:spLocks noGrp="1"/>
          </p:cNvSpPr>
          <p:nvPr>
            <p:ph type="sldNum" sz="quarter" idx="5"/>
          </p:nvPr>
        </p:nvSpPr>
        <p:spPr/>
        <p:txBody>
          <a:bodyPr/>
          <a:lstStyle/>
          <a:p>
            <a:fld id="{402527C0-2EEE-4A24-877A-E52264EBE2CC}" type="slidenum">
              <a:rPr lang="en-US" smtClean="0"/>
              <a:t>32</a:t>
            </a:fld>
            <a:endParaRPr lang="en-US"/>
          </a:p>
        </p:txBody>
      </p:sp>
    </p:spTree>
    <p:extLst>
      <p:ext uri="{BB962C8B-B14F-4D97-AF65-F5344CB8AC3E}">
        <p14:creationId xmlns:p14="http://schemas.microsoft.com/office/powerpoint/2010/main" val="285604911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Exact sign-flip test, the rat as the unit (as the mixed model behind tab 8's light). P is the share of the 256 patterns at least as extreme, the real one included; rank 254.</a:t>
            </a:r>
          </a:p>
        </p:txBody>
      </p:sp>
      <p:sp>
        <p:nvSpPr>
          <p:cNvPr id="4" name="Slide Number Placeholder 3"/>
          <p:cNvSpPr>
            <a:spLocks noGrp="1"/>
          </p:cNvSpPr>
          <p:nvPr>
            <p:ph type="sldNum" sz="quarter" idx="5"/>
          </p:nvPr>
        </p:nvSpPr>
        <p:spPr/>
        <p:txBody>
          <a:bodyPr/>
          <a:lstStyle/>
          <a:p>
            <a:fld id="{402527C0-2EEE-4A24-877A-E52264EBE2CC}" type="slidenum">
              <a:rPr lang="en-US" smtClean="0"/>
              <a:t>33</a:t>
            </a:fld>
            <a:endParaRPr lang="en-US"/>
          </a:p>
        </p:txBody>
      </p:sp>
    </p:spTree>
    <p:extLst>
      <p:ext uri="{BB962C8B-B14F-4D97-AF65-F5344CB8AC3E}">
        <p14:creationId xmlns:p14="http://schemas.microsoft.com/office/powerpoint/2010/main" val="267346894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Baseline (10 s) → cue 1, gamma 30–90 Hz: the connectome of the change from Baseline (10 s) to Cue 1. a–c, the Precon1 cue-1 effect (Cue 1 − Baseline, on Precon1); d–f, the Precon4 cue-1 effect; g–i, the change in cue-1 effect (Precon4’s minus Precon1’s). Each ring holds the 12 regions (open, a region no pair reaches with at least 4 rats); each edge is one of the 44 pairs tested, curving toward the centre, its width the mean change in coherence from Baseline (10 s) to Cue 1 over the rats (Dickson 2022: 59–61 Hz notch, hanning(1024), 512 overlap, 2,048 points, averaged over 30–90 Hz without 59–61 Hz), orange for an increase and purple for a decrease. Left column, the increases; middle, the decreases; right, both. Under each ring, its statistic (the summed increases, the summed decreases, or the sum of all) against 10,000 sets of fake trials from the same rats’ FP1 and FP2 recordings, where there were no cues: a fake cue onset every 10 s of FP, the trial’s own windows round it, measured as a trial’s are; in each set every session gets as many fake trials as it had real ones, drawn at random with replacement, each with its two windows in random order (with no cue, either can stand for it) and losing the windows the matching real trial lost to clipping, and its change is made as the real one is. The vertical line is the observed value, with its rank among the sets and its P (increases one-sided upward, decreases downward, both two-sided; *P &lt; 0.05, **P &lt; 0.01, ***P &lt; 0.001; uncorrected). n = 8 rats, 12–16 trials per session. Significant: Precon1 cue-1 effect, decreases: P = 0.030; Change in cue-1 effect, increases: P = 0.037.</a:t>
            </a:r>
          </a:p>
        </p:txBody>
      </p:sp>
      <p:sp>
        <p:nvSpPr>
          <p:cNvPr id="4" name="Slide Number Placeholder 3"/>
          <p:cNvSpPr>
            <a:spLocks noGrp="1"/>
          </p:cNvSpPr>
          <p:nvPr>
            <p:ph type="sldNum" sz="quarter" idx="5"/>
          </p:nvPr>
        </p:nvSpPr>
        <p:spPr/>
        <p:txBody>
          <a:bodyPr/>
          <a:lstStyle/>
          <a:p>
            <a:fld id="{402527C0-2EEE-4A24-877A-E52264EBE2CC}" type="slidenum">
              <a:rPr lang="en-US" smtClean="0"/>
              <a:t>38</a:t>
            </a:fld>
            <a:endParaRPr lang="en-US"/>
          </a:p>
        </p:txBody>
      </p:sp>
    </p:spTree>
    <p:extLst>
      <p:ext uri="{BB962C8B-B14F-4D97-AF65-F5344CB8AC3E}">
        <p14:creationId xmlns:p14="http://schemas.microsoft.com/office/powerpoint/2010/main" val="164034502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Baseline (20 s) → both cues, theta 5–12 Hz: the connectome of the change from Baseline (20 s) to Cue 1 + Cue 2 (20 s). a–c, the Precon1 cue effect (Cues − Baseline, on Precon1); d–f, the Precon4 cue effect; g–i, the change in cue effect (Precon4’s minus Precon1’s). Each ring holds the 12 regions (open, a region no pair reaches with at least 4 rats); each edge is one of the 44 pairs tested, curving toward the centre, its width the mean change in coherence from Baseline (20 s) to Cue 1 + Cue 2 (20 s) over the rats (Dickson 2022: 59–61 Hz notch, hanning(1024), 512 overlap, 2,048 points, averaged over 30–90 Hz without 59–61 Hz), orange for an increase and purple for a decrease. Left column, the increases; middle, the decreases; right, both. Under each ring, its statistic (the summed increases, the summed decreases, or the sum of all) against 10,000 sets of fake trials from the same rats’ FP1 and FP2 recordings, where there were no cues: a fake cue onset every 10 s of FP, the trial’s own windows round it, measured as a trial’s are; in each set every session gets as many fake trials as it had real ones, drawn at random with replacement, each with its two windows in random order (with no cue, either can stand for it) and losing the windows the matching real trial lost to clipping, and its change is made as the real one is. The vertical line is the observed value, with its rank among the sets and its P (increases one-sided upward, decreases downward, both two-sided; *P &lt; 0.05, **P &lt; 0.01, ***P &lt; 0.001; uncorrected). n = 8 rats, 12–16 trials per session. Significant: Precon1 cue effect, increases: P = 0.029.</a:t>
            </a:r>
          </a:p>
        </p:txBody>
      </p:sp>
      <p:sp>
        <p:nvSpPr>
          <p:cNvPr id="4" name="Slide Number Placeholder 3"/>
          <p:cNvSpPr>
            <a:spLocks noGrp="1"/>
          </p:cNvSpPr>
          <p:nvPr>
            <p:ph type="sldNum" sz="quarter" idx="5"/>
          </p:nvPr>
        </p:nvSpPr>
        <p:spPr/>
        <p:txBody>
          <a:bodyPr/>
          <a:lstStyle/>
          <a:p>
            <a:fld id="{402527C0-2EEE-4A24-877A-E52264EBE2CC}" type="slidenum">
              <a:rPr lang="en-US" smtClean="0"/>
              <a:t>43</a:t>
            </a:fld>
            <a:endParaRPr lang="en-US"/>
          </a:p>
        </p:txBody>
      </p:sp>
    </p:spTree>
    <p:extLst>
      <p:ext uri="{BB962C8B-B14F-4D97-AF65-F5344CB8AC3E}">
        <p14:creationId xmlns:p14="http://schemas.microsoft.com/office/powerpoint/2010/main" val="88727898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One day's cue effect, not the change across days: on that day the cue moved theta coherence beyond what FP or the shuffles give.</a:t>
            </a:r>
          </a:p>
        </p:txBody>
      </p:sp>
      <p:sp>
        <p:nvSpPr>
          <p:cNvPr id="4" name="Slide Number Placeholder 3"/>
          <p:cNvSpPr>
            <a:spLocks noGrp="1"/>
          </p:cNvSpPr>
          <p:nvPr>
            <p:ph type="sldNum" sz="quarter" idx="5"/>
          </p:nvPr>
        </p:nvSpPr>
        <p:spPr/>
        <p:txBody>
          <a:bodyPr/>
          <a:lstStyle/>
          <a:p>
            <a:fld id="{402527C0-2EEE-4A24-877A-E52264EBE2CC}" type="slidenum">
              <a:rPr lang="en-US" smtClean="0"/>
              <a:t>44</a:t>
            </a:fld>
            <a:endParaRPr lang="en-US"/>
          </a:p>
        </p:txBody>
      </p:sp>
    </p:spTree>
    <p:extLst>
      <p:ext uri="{BB962C8B-B14F-4D97-AF65-F5344CB8AC3E}">
        <p14:creationId xmlns:p14="http://schemas.microsoft.com/office/powerpoint/2010/main" val="321714318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Baseline (10 s) → cue 1, theta 5–12 Hz: the connectome of the change from Baseline (10 s) to Cue 1. a–c, the Precon1 cue-1 effect (Cue 1 − Baseline, on Precon1); d–f, the Precon4 cue-1 effect; g–i, the change in cue-1 effect (Precon4’s minus Precon1’s). Each ring holds the 12 regions (open, a region no pair reaches with at least 4 rats); each edge is one of the 44 pairs tested, curving toward the centre, its width the mean change in coherence from Baseline (10 s) to Cue 1 over the rats (Dickson 2022: 59–61 Hz notch, hanning(1024), 512 overlap, 2,048 points, averaged over 30–90 Hz without 59–61 Hz), orange for an increase and purple for a decrease. Left column, the increases; middle, the decreases; right, both. Under each ring, its statistic (the summed increases, the summed decreases, or the sum of all) against 10,000 sets of fake trials from the same rats’ FP1 and FP2 recordings, where there were no cues: a fake cue onset every 10 s of FP, the trial’s own windows round it, measured as a trial’s are; in each set every session gets as many fake trials as it had real ones, drawn at random with replacement, each with its two windows in random order (with no cue, either can stand for it) and losing the windows the matching real trial lost to clipping, and its change is made as the real one is. The vertical line is the observed value, with its rank among the sets and its P (increases one-sided upward, decreases downward, both two-sided; *P &lt; 0.05, **P &lt; 0.01, ***P &lt; 0.001; uncorrected). n = 8 rats, 12–16 trials per session. Significant: Precon1 cue-1 effect, increases: P = 0.007; Precon1 cue-1 effect, both: P = 0.018; Precon4 cue-1 effect, increases: P &lt; 0.001; Precon4 cue-1 effect, both: P &lt; 0.001.</a:t>
            </a:r>
          </a:p>
        </p:txBody>
      </p:sp>
      <p:sp>
        <p:nvSpPr>
          <p:cNvPr id="4" name="Slide Number Placeholder 3"/>
          <p:cNvSpPr>
            <a:spLocks noGrp="1"/>
          </p:cNvSpPr>
          <p:nvPr>
            <p:ph type="sldNum" sz="quarter" idx="5"/>
          </p:nvPr>
        </p:nvSpPr>
        <p:spPr/>
        <p:txBody>
          <a:bodyPr/>
          <a:lstStyle/>
          <a:p>
            <a:fld id="{402527C0-2EEE-4A24-877A-E52264EBE2CC}" type="slidenum">
              <a:rPr lang="en-US" smtClean="0"/>
              <a:t>46</a:t>
            </a:fld>
            <a:endParaRPr lang="en-US"/>
          </a:p>
        </p:txBody>
      </p:sp>
    </p:spTree>
    <p:extLst>
      <p:ext uri="{BB962C8B-B14F-4D97-AF65-F5344CB8AC3E}">
        <p14:creationId xmlns:p14="http://schemas.microsoft.com/office/powerpoint/2010/main" val="139726299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One day's cue effect, not the change across days: on that day the cue moved theta coherence beyond what FP or the shuffles give.</a:t>
            </a:r>
          </a:p>
        </p:txBody>
      </p:sp>
      <p:sp>
        <p:nvSpPr>
          <p:cNvPr id="4" name="Slide Number Placeholder 3"/>
          <p:cNvSpPr>
            <a:spLocks noGrp="1"/>
          </p:cNvSpPr>
          <p:nvPr>
            <p:ph type="sldNum" sz="quarter" idx="5"/>
          </p:nvPr>
        </p:nvSpPr>
        <p:spPr/>
        <p:txBody>
          <a:bodyPr/>
          <a:lstStyle/>
          <a:p>
            <a:fld id="{402527C0-2EEE-4A24-877A-E52264EBE2CC}" type="slidenum">
              <a:rPr lang="en-US" smtClean="0"/>
              <a:t>47</a:t>
            </a:fld>
            <a:endParaRPr lang="en-US"/>
          </a:p>
        </p:txBody>
      </p:sp>
    </p:spTree>
    <p:extLst>
      <p:ext uri="{BB962C8B-B14F-4D97-AF65-F5344CB8AC3E}">
        <p14:creationId xmlns:p14="http://schemas.microsoft.com/office/powerpoint/2010/main" val="36070037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One day's cue effect, not the change across days: on that day the cue moved theta coherence beyond what FP or the shuffles give.</a:t>
            </a:r>
          </a:p>
        </p:txBody>
      </p:sp>
      <p:sp>
        <p:nvSpPr>
          <p:cNvPr id="4" name="Slide Number Placeholder 3"/>
          <p:cNvSpPr>
            <a:spLocks noGrp="1"/>
          </p:cNvSpPr>
          <p:nvPr>
            <p:ph type="sldNum" sz="quarter" idx="5"/>
          </p:nvPr>
        </p:nvSpPr>
        <p:spPr/>
        <p:txBody>
          <a:bodyPr/>
          <a:lstStyle/>
          <a:p>
            <a:fld id="{402527C0-2EEE-4A24-877A-E52264EBE2CC}" type="slidenum">
              <a:rPr lang="en-US" smtClean="0"/>
              <a:t>48</a:t>
            </a:fld>
            <a:endParaRPr lang="en-US"/>
          </a:p>
        </p:txBody>
      </p:sp>
    </p:spTree>
    <p:extLst>
      <p:ext uri="{BB962C8B-B14F-4D97-AF65-F5344CB8AC3E}">
        <p14:creationId xmlns:p14="http://schemas.microsoft.com/office/powerpoint/2010/main" val="257612167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Cue 1 → cue 2, gamma 30–90 Hz: the connectome of the change from Cue 1 to Cue 2. a–c, the Precon1 cue 1→2 effect (Cue 2 − Cue 1, on Precon1); d–f, the Precon4 cue 1→2 effect; g–i, the change in cue 1→2 effect (Precon4’s minus Precon1’s). Each ring holds the 12 regions (open, a region no pair reaches with at least 4 rats); each edge is one of the 44 pairs tested, curving toward the centre, its width the mean change in coherence from Cue 1 to Cue 2 over the rats (Dickson 2022: 59–61 Hz notch, hanning(1024), 512 overlap, 2,048 points, averaged over 30–90 Hz without 59–61 Hz), orange for an increase and purple for a decrease. Left column, the increases; middle, the decreases; right, both. Under each ring, its statistic (the summed increases, the summed decreases, or the sum of all) against 10,000 sets of fake trials from the same rats’ FP1 and FP2 recordings, where there were no cues: a fake cue onset every 10 s of FP, the trial’s own windows round it, measured as a trial’s are; in each set every session gets as many fake trials as it had real ones, drawn at random with replacement, each with its two windows in random order (with no cue, either can stand for it) and losing the windows the matching real trial lost to clipping, and its change is made as the real one is. The vertical line is the observed value, with its rank among the sets and its P (increases one-sided upward, decreases downward, both two-sided; *P &lt; 0.05, **P &lt; 0.01, ***P &lt; 0.001; uncorrected). n = 8 rats, 12–16 trials per session. Significant: none.</a:t>
            </a:r>
          </a:p>
        </p:txBody>
      </p:sp>
      <p:sp>
        <p:nvSpPr>
          <p:cNvPr id="4" name="Slide Number Placeholder 3"/>
          <p:cNvSpPr>
            <a:spLocks noGrp="1"/>
          </p:cNvSpPr>
          <p:nvPr>
            <p:ph type="sldNum" sz="quarter" idx="5"/>
          </p:nvPr>
        </p:nvSpPr>
        <p:spPr/>
        <p:txBody>
          <a:bodyPr/>
          <a:lstStyle/>
          <a:p>
            <a:fld id="{402527C0-2EEE-4A24-877A-E52264EBE2CC}" type="slidenum">
              <a:rPr lang="en-US" smtClean="0"/>
              <a:t>50</a:t>
            </a:fld>
            <a:endParaRPr lang="en-US"/>
          </a:p>
        </p:txBody>
      </p:sp>
    </p:spTree>
    <p:extLst>
      <p:ext uri="{BB962C8B-B14F-4D97-AF65-F5344CB8AC3E}">
        <p14:creationId xmlns:p14="http://schemas.microsoft.com/office/powerpoint/2010/main" val="97927191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Cue 1 → cue 2, gamma 30–90 Hz: the connectome of the change from Cue 1 to Cue 2. a–c, the Precon1 cue 1→2 effect (Cue 2 − Cue 1, on Precon1); d–f, the Precon4 cue 1→2 effect; g–i, the change in cue 1→2 effect (Precon4’s minus Precon1’s). Each ring holds the 12 regions (open, a region no pair reaches with at least 4 rats); each edge is one of the 44 pairs tested, curving toward the centre, its width the mean change in coherence from Cue 1 to Cue 2 over the rats (Dickson 2022: 59–61 Hz notch, hanning(1024), 512 overlap, 2,048 points, averaged over 30–90 Hz without 59–61 Hz), orange for an increase and purple for a decrease. Left column, the increases; middle, the decreases; right, both. Under each ring, its statistic (the summed increases, the summed decreases, or the sum of all) against 10,000 sets of fake trials from the same rats’ FP1 and FP2 recordings, where there were no cues: a fake cue onset every 10 s of FP, the trial’s own windows round it, measured as a trial’s are; in each set every session gets as many fake trials as it had real ones, drawn at random with replacement, each with its two windows in random order (with no cue, either can stand for it) and losing the windows the matching real trial lost to clipping, and its change is made as the real one is. The vertical line is the observed value, with its rank among the sets and its P (increases one-sided upward, decreases downward, both two-sided; *P &lt; 0.05, **P &lt; 0.01, ***P &lt; 0.001; uncorrected). n = 8 rats, 12–16 trials per session. Significant: none.</a:t>
            </a:r>
          </a:p>
        </p:txBody>
      </p:sp>
      <p:sp>
        <p:nvSpPr>
          <p:cNvPr id="4" name="Slide Number Placeholder 3"/>
          <p:cNvSpPr>
            <a:spLocks noGrp="1"/>
          </p:cNvSpPr>
          <p:nvPr>
            <p:ph type="sldNum" sz="quarter" idx="5"/>
          </p:nvPr>
        </p:nvSpPr>
        <p:spPr/>
        <p:txBody>
          <a:bodyPr/>
          <a:lstStyle/>
          <a:p>
            <a:fld id="{402527C0-2EEE-4A24-877A-E52264EBE2CC}" type="slidenum">
              <a:rPr lang="en-US" smtClean="0"/>
              <a:t>51</a:t>
            </a:fld>
            <a:endParaRPr lang="en-US"/>
          </a:p>
        </p:txBody>
      </p:sp>
    </p:spTree>
    <p:extLst>
      <p:ext uri="{BB962C8B-B14F-4D97-AF65-F5344CB8AC3E}">
        <p14:creationId xmlns:p14="http://schemas.microsoft.com/office/powerpoint/2010/main" val="78592269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Cue 1 → cue 2, theta 5–12 Hz: the connectome of the change from Cue 1 to Cue 2. a–c, the Precon1 cue 1→2 effect (Cue 2 − Cue 1, on Precon1); d–f, the Precon4 cue 1→2 effect; g–i, the change in cue 1→2 effect (Precon4’s minus Precon1’s). Each ring holds the 12 regions (open, a region no pair reaches with at least 4 rats); each edge is one of the 44 pairs tested, curving toward the centre, its width the mean change in coherence from Cue 1 to Cue 2 over the rats (Dickson 2022: 59–61 Hz notch, hanning(1024), 512 overlap, 2,048 points, averaged over 30–90 Hz without 59–61 Hz), orange for an increase and purple for a decrease. Left column, the increases; middle, the decreases; right, both. Under each ring, its statistic (the summed increases, the summed decreases, or the sum of all) against 10,000 sets of fake trials from the same rats’ FP1 and FP2 recordings, where there were no cues: a fake cue onset every 10 s of FP, the trial’s own windows round it, measured as a trial’s are; in each set every session gets as many fake trials as it had real ones, drawn at random with replacement, each with its two windows in random order (with no cue, either can stand for it) and losing the windows the matching real trial lost to clipping, and its change is made as the real one is. The vertical line is the observed value, with its rank among the sets and its P (increases one-sided upward, decreases downward, both two-sided; *P &lt; 0.05, **P &lt; 0.01, ***P &lt; 0.001; uncorrected). n = 8 rats, 12–16 trials per session. Significant: Precon4 cue 1→2 effect, decreases: P = 0.009; Precon4 cue 1→2 effect, both: P = 0.021.</a:t>
            </a:r>
          </a:p>
        </p:txBody>
      </p:sp>
      <p:sp>
        <p:nvSpPr>
          <p:cNvPr id="4" name="Slide Number Placeholder 3"/>
          <p:cNvSpPr>
            <a:spLocks noGrp="1"/>
          </p:cNvSpPr>
          <p:nvPr>
            <p:ph type="sldNum" sz="quarter" idx="5"/>
          </p:nvPr>
        </p:nvSpPr>
        <p:spPr/>
        <p:txBody>
          <a:bodyPr/>
          <a:lstStyle/>
          <a:p>
            <a:fld id="{402527C0-2EEE-4A24-877A-E52264EBE2CC}" type="slidenum">
              <a:rPr lang="en-US" smtClean="0"/>
              <a:t>53</a:t>
            </a:fld>
            <a:endParaRPr lang="en-US"/>
          </a:p>
        </p:txBody>
      </p:sp>
    </p:spTree>
    <p:extLst>
      <p:ext uri="{BB962C8B-B14F-4D97-AF65-F5344CB8AC3E}">
        <p14:creationId xmlns:p14="http://schemas.microsoft.com/office/powerpoint/2010/main" val="224809627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Cue 1 → cue 2, theta 5–12 Hz: the connectome of the change from Cue 1 to Cue 2. a–c, the Precon1 cue 1→2 effect (Cue 2 − Cue 1, on Precon1); d–f, the Precon4 cue 1→2 effect; g–i, the change in cue 1→2 effect (Precon4’s minus Precon1’s). Each ring holds the 12 regions (open, a region no pair reaches with at least 4 rats); each edge is one of the 44 pairs tested, curving toward the centre, its width the mean change in coherence from Cue 1 to Cue 2 over the rats (Dickson 2022: 59–61 Hz notch, hanning(1024), 512 overlap, 2,048 points, averaged over 30–90 Hz without 59–61 Hz), orange for an increase and purple for a decrease. Left column, the increases; middle, the decreases; right, both. Under each ring, its statistic (the summed increases, the summed decreases, or the sum of all) against 10,000 sets of fake trials from the same rats’ FP1 and FP2 recordings, where there were no cues: a fake cue onset every 10 s of FP, the trial’s own windows round it, measured as a trial’s are; in each set every session gets as many fake trials as it had real ones, drawn at random with replacement, each with its two windows in random order (with no cue, either can stand for it) and losing the windows the matching real trial lost to clipping, and its change is made as the real one is. The vertical line is the observed value, with its rank among the sets and its P (increases one-sided upward, decreases downward, both two-sided; *P &lt; 0.05, **P &lt; 0.01, ***P &lt; 0.001; uncorrected). n = 8 rats, 12–16 trials per session. Significant: Precon4 cue 1→2 effect, decreases: P = 0.009; Precon4 cue 1→2 effect, both: P = 0.021.</a:t>
            </a:r>
          </a:p>
        </p:txBody>
      </p:sp>
      <p:sp>
        <p:nvSpPr>
          <p:cNvPr id="4" name="Slide Number Placeholder 3"/>
          <p:cNvSpPr>
            <a:spLocks noGrp="1"/>
          </p:cNvSpPr>
          <p:nvPr>
            <p:ph type="sldNum" sz="quarter" idx="5"/>
          </p:nvPr>
        </p:nvSpPr>
        <p:spPr/>
        <p:txBody>
          <a:bodyPr/>
          <a:lstStyle/>
          <a:p>
            <a:fld id="{402527C0-2EEE-4A24-877A-E52264EBE2CC}" type="slidenum">
              <a:rPr lang="en-US" smtClean="0"/>
              <a:t>54</a:t>
            </a:fld>
            <a:endParaRPr lang="en-US"/>
          </a:p>
        </p:txBody>
      </p:sp>
    </p:spTree>
    <p:extLst>
      <p:ext uri="{BB962C8B-B14F-4D97-AF65-F5344CB8AC3E}">
        <p14:creationId xmlns:p14="http://schemas.microsoft.com/office/powerpoint/2010/main" val="229399963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One day's cue effect, not the change across days: on that day the cue moved theta coherence beyond what FP or the shuffles give.</a:t>
            </a:r>
          </a:p>
        </p:txBody>
      </p:sp>
      <p:sp>
        <p:nvSpPr>
          <p:cNvPr id="4" name="Slide Number Placeholder 3"/>
          <p:cNvSpPr>
            <a:spLocks noGrp="1"/>
          </p:cNvSpPr>
          <p:nvPr>
            <p:ph type="sldNum" sz="quarter" idx="5"/>
          </p:nvPr>
        </p:nvSpPr>
        <p:spPr/>
        <p:txBody>
          <a:bodyPr/>
          <a:lstStyle/>
          <a:p>
            <a:fld id="{402527C0-2EEE-4A24-877A-E52264EBE2CC}" type="slidenum">
              <a:rPr lang="en-US" smtClean="0"/>
              <a:t>55</a:t>
            </a:fld>
            <a:endParaRPr lang="en-US"/>
          </a:p>
        </p:txBody>
      </p:sp>
    </p:spTree>
    <p:extLst>
      <p:ext uri="{BB962C8B-B14F-4D97-AF65-F5344CB8AC3E}">
        <p14:creationId xmlns:p14="http://schemas.microsoft.com/office/powerpoint/2010/main" val="258823598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Baseline (20 s) → both cues · followed up from the gamma coherence of R ACC – R RSC: direction. a, the pair on the ring of regions (the arrow, the direction measured). Then, for each measure: its value for each rat at Baseline (20 s) and Cue 1 + Cue 2 (20 s) on Precon1 (grey) and Precon4 (black), each rat's two windows joined, the mean ± s.e.m. beside them; each rat's change between the days, (Precon4 Cue 1 + Cue 2 (20 s) − Baseline (20 s)) − (Precon1 Cue 1 + Cue 2 (20 s) − Baseline (20 s)), with the mean ± 95% confidence interval; and that mean against 10,000 shuffles in which each session's trials had their two windows swapped at random (grey) and against 10,000 sets of fake trials from the same rats' FP1 and FP2, where there were no cues, each session as many as it had real trials, in random order, losing the windows its real trials lost (blue). The pair was followed up because its own change in coherence had P &lt; 0.05 (uncorrected; no pair survives correction on its own), and of the measures run on it these are the ones whose t-test had P &lt; 0.05: they are leads, chosen by that test. Granger R RSC → R ACC: FP intervals P &lt; 0.001, rank 9,998 of 10,001; within-session shuffles P = 0.002, rank 9,990 of 10,001; t(5) = 2.68, P = 0.044 (one-sample t-test of each rat's change, uncorrected).</a:t>
            </a:r>
          </a:p>
        </p:txBody>
      </p:sp>
      <p:sp>
        <p:nvSpPr>
          <p:cNvPr id="4" name="Slide Number Placeholder 3"/>
          <p:cNvSpPr>
            <a:spLocks noGrp="1"/>
          </p:cNvSpPr>
          <p:nvPr>
            <p:ph type="sldNum" sz="quarter" idx="5"/>
          </p:nvPr>
        </p:nvSpPr>
        <p:spPr/>
        <p:txBody>
          <a:bodyPr/>
          <a:lstStyle/>
          <a:p>
            <a:fld id="{402527C0-2EEE-4A24-877A-E52264EBE2CC}" type="slidenum">
              <a:rPr lang="en-US" smtClean="0"/>
              <a:t>61</a:t>
            </a:fld>
            <a:endParaRPr lang="en-US"/>
          </a:p>
        </p:txBody>
      </p:sp>
    </p:spTree>
    <p:extLst>
      <p:ext uri="{BB962C8B-B14F-4D97-AF65-F5344CB8AC3E}">
        <p14:creationId xmlns:p14="http://schemas.microsoft.com/office/powerpoint/2010/main" val="428320592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Baseline (20 s) → both cues · followed up from the gamma coherence of R ACC – R RSC: direction. a, the pair on the ring of regions (the arrow, the direction measured). Then, for each measure: its value for each rat at Baseline (20 s) and Cue 1 + Cue 2 (20 s) on Precon1 (grey) and Precon4 (black), each rat's two windows joined, the mean ± s.e.m. beside them; each rat's change between the days, (Precon4 Cue 1 + Cue 2 (20 s) − Baseline (20 s)) − (Precon1 Cue 1 + Cue 2 (20 s) − Baseline (20 s)), with the mean ± 95% confidence interval; and that mean against 10,000 shuffles in which each session's trials had their two windows swapped at random (grey) and against 10,000 sets of fake trials from the same rats' FP1 and FP2, where there were no cues, each session as many as it had real trials, in random order, losing the windows its real trials lost (blue). The pair was followed up because its own change in coherence had P &lt; 0.05 (uncorrected; no pair survives correction on its own), and of the measures run on it these are the ones whose t-test had P &lt; 0.05: they are leads, chosen by that test. Granger R RSC → R ACC: FP intervals P &lt; 0.001, rank 9,998 of 10,001; within-session shuffles P = 0.002, rank 9,990 of 10,001; t(5) = 2.68, P = 0.044 (one-sample t-test of each rat's change, uncorrected).</a:t>
            </a:r>
          </a:p>
        </p:txBody>
      </p:sp>
      <p:sp>
        <p:nvSpPr>
          <p:cNvPr id="4" name="Slide Number Placeholder 3"/>
          <p:cNvSpPr>
            <a:spLocks noGrp="1"/>
          </p:cNvSpPr>
          <p:nvPr>
            <p:ph type="sldNum" sz="quarter" idx="5"/>
          </p:nvPr>
        </p:nvSpPr>
        <p:spPr/>
        <p:txBody>
          <a:bodyPr/>
          <a:lstStyle/>
          <a:p>
            <a:fld id="{402527C0-2EEE-4A24-877A-E52264EBE2CC}" type="slidenum">
              <a:rPr lang="en-US" smtClean="0"/>
              <a:t>66</a:t>
            </a:fld>
            <a:endParaRPr lang="en-US"/>
          </a:p>
        </p:txBody>
      </p:sp>
    </p:spTree>
    <p:extLst>
      <p:ext uri="{BB962C8B-B14F-4D97-AF65-F5344CB8AC3E}">
        <p14:creationId xmlns:p14="http://schemas.microsoft.com/office/powerpoint/2010/main" val="349132894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FP: rank 9998 of 10001, P &lt; 0.001. Shuffles: rank 9990 of 10001, P = 0.002. t(5) = 2.68, P = 0.044; mean change 0.01122.</a:t>
            </a:r>
          </a:p>
        </p:txBody>
      </p:sp>
      <p:sp>
        <p:nvSpPr>
          <p:cNvPr id="4" name="Slide Number Placeholder 3"/>
          <p:cNvSpPr>
            <a:spLocks noGrp="1"/>
          </p:cNvSpPr>
          <p:nvPr>
            <p:ph type="sldNum" sz="quarter" idx="5"/>
          </p:nvPr>
        </p:nvSpPr>
        <p:spPr/>
        <p:txBody>
          <a:bodyPr/>
          <a:lstStyle/>
          <a:p>
            <a:fld id="{402527C0-2EEE-4A24-877A-E52264EBE2CC}" type="slidenum">
              <a:rPr lang="en-US" smtClean="0"/>
              <a:t>67</a:t>
            </a:fld>
            <a:endParaRPr lang="en-US"/>
          </a:p>
        </p:txBody>
      </p:sp>
    </p:spTree>
    <p:extLst>
      <p:ext uri="{BB962C8B-B14F-4D97-AF65-F5344CB8AC3E}">
        <p14:creationId xmlns:p14="http://schemas.microsoft.com/office/powerpoint/2010/main" val="8911965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Baseline (20 s) → both cues · followed up from the gamma coherence of R ACC – R RSC: theta–gamma coupling, R RSC θ → R ACC γ. a, the pair on the ring of regions (the arrow, the direction measured). Then, for each measure: its value for each rat at Baseline (20 s) and Cue 1 + Cue 2 (20 s) on Precon1 (grey) and Precon4 (black), each rat's values as dots (PAC is never drawn as lines), the mean ± s.e.m. beside them; each rat's change between the days, (Precon4 Cue 1 + Cue 2 (20 s) − Baseline (20 s)) − (Precon1 Cue 1 + Cue 2 (20 s) − Baseline (20 s)), with the mean ± 95% confidence interval; and that mean against 10,000 shuffles in which each session's trials had their two windows swapped at random (grey) and against 10,000 sets of fake trials from the same rats' FP1 and FP2, where there were no cues, each session as many as it had real trials, in random order, losing the windows its real trials lost (blue). The pair was followed up because its own change in coherence had P &lt; 0.05 (uncorrected; no pair survives correction on its own), and of the measures run on it these are the ones whose t-test had P &lt; 0.05: they are leads, chosen by that test. PAC is Tort's modulation index (18 theta-phase bins) of gamma (30–90 Hz) amplitude over theta (5–12 Hz) phase, computed over each trial's whole window (the whole baseline, or the whole cue window), then averaged over the session's trials: a dot is one rat. The roses are the same windows' gamma amplitude in each theta-phase bin, normalised, averaged over the trials and then the rats; the comodulogram is the change in cue effect in narrow theta (2 Hz) and gamma (10 Hz) bands. PAC R RSC θ → R ACC γ: FP intervals P = 0.006, rank 31 of 10,001; within-session shuffles P = 0.025, rank 114 of 10,001; t(5) = −3.74, P = 0.013 (one-sample t-test of each rat's change, uncorrected).</a:t>
            </a:r>
          </a:p>
        </p:txBody>
      </p:sp>
      <p:sp>
        <p:nvSpPr>
          <p:cNvPr id="4" name="Slide Number Placeholder 3"/>
          <p:cNvSpPr>
            <a:spLocks noGrp="1"/>
          </p:cNvSpPr>
          <p:nvPr>
            <p:ph type="sldNum" sz="quarter" idx="5"/>
          </p:nvPr>
        </p:nvSpPr>
        <p:spPr/>
        <p:txBody>
          <a:bodyPr/>
          <a:lstStyle/>
          <a:p>
            <a:fld id="{402527C0-2EEE-4A24-877A-E52264EBE2CC}" type="slidenum">
              <a:rPr lang="en-US" smtClean="0"/>
              <a:t>68</a:t>
            </a:fld>
            <a:endParaRPr lang="en-US"/>
          </a:p>
        </p:txBody>
      </p:sp>
    </p:spTree>
    <p:extLst>
      <p:ext uri="{BB962C8B-B14F-4D97-AF65-F5344CB8AC3E}">
        <p14:creationId xmlns:p14="http://schemas.microsoft.com/office/powerpoint/2010/main" val="343649300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FP: rank 31 of 10001, P = 0.006. Shuffles: rank 114 of 10001, P = 0.025. t(5) = -3.74, P = 0.013; mean change -0.0001204.</a:t>
            </a:r>
          </a:p>
        </p:txBody>
      </p:sp>
      <p:sp>
        <p:nvSpPr>
          <p:cNvPr id="4" name="Slide Number Placeholder 3"/>
          <p:cNvSpPr>
            <a:spLocks noGrp="1"/>
          </p:cNvSpPr>
          <p:nvPr>
            <p:ph type="sldNum" sz="quarter" idx="5"/>
          </p:nvPr>
        </p:nvSpPr>
        <p:spPr/>
        <p:txBody>
          <a:bodyPr/>
          <a:lstStyle/>
          <a:p>
            <a:fld id="{402527C0-2EEE-4A24-877A-E52264EBE2CC}" type="slidenum">
              <a:rPr lang="en-US" smtClean="0"/>
              <a:t>69</a:t>
            </a:fld>
            <a:endParaRPr lang="en-US"/>
          </a:p>
        </p:txBody>
      </p:sp>
    </p:spTree>
    <p:extLst>
      <p:ext uri="{BB962C8B-B14F-4D97-AF65-F5344CB8AC3E}">
        <p14:creationId xmlns:p14="http://schemas.microsoft.com/office/powerpoint/2010/main" val="166897568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Mean over rats of each rat's normalised gamma amplitude in 18 theta-phase bins, read from the recordings (the VACC's copies) through tab 8's own wires; the four roses share one scale.</a:t>
            </a:r>
          </a:p>
        </p:txBody>
      </p:sp>
      <p:sp>
        <p:nvSpPr>
          <p:cNvPr id="4" name="Slide Number Placeholder 3"/>
          <p:cNvSpPr>
            <a:spLocks noGrp="1"/>
          </p:cNvSpPr>
          <p:nvPr>
            <p:ph type="sldNum" sz="quarter" idx="5"/>
          </p:nvPr>
        </p:nvSpPr>
        <p:spPr/>
        <p:txBody>
          <a:bodyPr/>
          <a:lstStyle/>
          <a:p>
            <a:fld id="{402527C0-2EEE-4A24-877A-E52264EBE2CC}" type="slidenum">
              <a:rPr lang="en-US" smtClean="0"/>
              <a:t>70</a:t>
            </a:fld>
            <a:endParaRPr lang="en-US"/>
          </a:p>
        </p:txBody>
      </p:sp>
    </p:spTree>
    <p:extLst>
      <p:ext uri="{BB962C8B-B14F-4D97-AF65-F5344CB8AC3E}">
        <p14:creationId xmlns:p14="http://schemas.microsoft.com/office/powerpoint/2010/main" val="167344717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Baseline (20 s) → both cues · followed up from the gamma coherence of R DHC – L RSC: amplitudes together. a, the pair on the ring of regions. Then, for each measure: its value for each rat at Baseline (20 s) and Cue 1 + Cue 2 (20 s) on Precon1 (grey) and Precon4 (black), each rat's two windows joined, the mean ± s.e.m. beside them; each rat's change between the days, (Precon4 Cue 1 + Cue 2 (20 s) − Baseline (20 s)) − (Precon1 Cue 1 + Cue 2 (20 s) − Baseline (20 s)), with the mean ± 95% confidence interval; and that mean against 10,000 shuffles in which each session's trials had their two windows swapped at random (grey) and against 10,000 sets of fake trials from the same rats' FP1 and FP2, where there were no cues, each session as many as it had real trials, in random order, losing the windows its real trials lost (blue). The pair was followed up because its own change in coherence had P &lt; 0.05 (uncorrected; no pair survives correction on its own), and of the measures run on it these are the ones whose t-test had P &lt; 0.05: they are leads, chosen by that test. Amplitude cross-correlation peak: FP intervals P = 0.047, rank 9,785 of 10,001; within-session shuffles P = 0.014, rank 9,937 of 10,001; t(6) = 2.54, P = 0.044 (one-sample t-test of each rat's change, uncorrected).</a:t>
            </a:r>
          </a:p>
        </p:txBody>
      </p:sp>
      <p:sp>
        <p:nvSpPr>
          <p:cNvPr id="4" name="Slide Number Placeholder 3"/>
          <p:cNvSpPr>
            <a:spLocks noGrp="1"/>
          </p:cNvSpPr>
          <p:nvPr>
            <p:ph type="sldNum" sz="quarter" idx="5"/>
          </p:nvPr>
        </p:nvSpPr>
        <p:spPr/>
        <p:txBody>
          <a:bodyPr/>
          <a:lstStyle/>
          <a:p>
            <a:fld id="{402527C0-2EEE-4A24-877A-E52264EBE2CC}" type="slidenum">
              <a:rPr lang="en-US" smtClean="0"/>
              <a:t>73</a:t>
            </a:fld>
            <a:endParaRPr lang="en-US"/>
          </a:p>
        </p:txBody>
      </p:sp>
    </p:spTree>
    <p:extLst>
      <p:ext uri="{BB962C8B-B14F-4D97-AF65-F5344CB8AC3E}">
        <p14:creationId xmlns:p14="http://schemas.microsoft.com/office/powerpoint/2010/main" val="114216457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FP: rank 9785 of 10001, P = 0.047. Shuffles: rank 9937 of 10001, P = 0.014. t(6) = 2.54, P = 0.044; mean change 0.03468.</a:t>
            </a:r>
          </a:p>
        </p:txBody>
      </p:sp>
      <p:sp>
        <p:nvSpPr>
          <p:cNvPr id="4" name="Slide Number Placeholder 3"/>
          <p:cNvSpPr>
            <a:spLocks noGrp="1"/>
          </p:cNvSpPr>
          <p:nvPr>
            <p:ph type="sldNum" sz="quarter" idx="5"/>
          </p:nvPr>
        </p:nvSpPr>
        <p:spPr/>
        <p:txBody>
          <a:bodyPr/>
          <a:lstStyle/>
          <a:p>
            <a:fld id="{402527C0-2EEE-4A24-877A-E52264EBE2CC}" type="slidenum">
              <a:rPr lang="en-US" smtClean="0"/>
              <a:t>74</a:t>
            </a:fld>
            <a:endParaRPr lang="en-US"/>
          </a:p>
        </p:txBody>
      </p:sp>
    </p:spTree>
    <p:extLst>
      <p:ext uri="{BB962C8B-B14F-4D97-AF65-F5344CB8AC3E}">
        <p14:creationId xmlns:p14="http://schemas.microsoft.com/office/powerpoint/2010/main" val="40090225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Baseline (20 s) → both cues · followed up from the gamma coherence of R RSC – L POR-SUB: direction. a, the pair on the ring of regions (the arrow, the direction measured). Then, for each measure: its value for each rat at Baseline (20 s) and Cue 1 + Cue 2 (20 s) on Precon1 (grey) and Precon4 (black), each rat's two windows joined, the mean ± s.e.m. beside them; each rat's change between the days, (Precon4 Cue 1 + Cue 2 (20 s) − Baseline (20 s)) − (Precon1 Cue 1 + Cue 2 (20 s) − Baseline (20 s)), with the mean ± 95% confidence interval; and that mean against 10,000 shuffles in which each session's trials had their two windows swapped at random (grey) and against 10,000 sets of fake trials from the same rats' FP1 and FP2, where there were no cues, each session as many as it had real trials, in random order, losing the windows its real trials lost (blue). The pair was followed up because its own change in coherence had P &lt; 0.05 (uncorrected; no pair survives correction on its own), and of the measures run on it these are the ones whose t-test had P &lt; 0.05: they are leads, chosen by that test. Granger R RSC → L POR-SUB: FP intervals P = 0.096, rank 9,536 of 10,001; within-session shuffles P = 0.028, rank 9,881 of 10,001; t(3) = 3.42, P = 0.042 (one-sample t-test of each rat's change, uncorrected).</a:t>
            </a:r>
          </a:p>
        </p:txBody>
      </p:sp>
      <p:sp>
        <p:nvSpPr>
          <p:cNvPr id="4" name="Slide Number Placeholder 3"/>
          <p:cNvSpPr>
            <a:spLocks noGrp="1"/>
          </p:cNvSpPr>
          <p:nvPr>
            <p:ph type="sldNum" sz="quarter" idx="5"/>
          </p:nvPr>
        </p:nvSpPr>
        <p:spPr/>
        <p:txBody>
          <a:bodyPr/>
          <a:lstStyle/>
          <a:p>
            <a:fld id="{402527C0-2EEE-4A24-877A-E52264EBE2CC}" type="slidenum">
              <a:rPr lang="en-US" smtClean="0"/>
              <a:t>75</a:t>
            </a:fld>
            <a:endParaRPr lang="en-US"/>
          </a:p>
        </p:txBody>
      </p:sp>
    </p:spTree>
    <p:extLst>
      <p:ext uri="{BB962C8B-B14F-4D97-AF65-F5344CB8AC3E}">
        <p14:creationId xmlns:p14="http://schemas.microsoft.com/office/powerpoint/2010/main" val="385046872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FP: rank 9536 of 10001, P = 0.096. Shuffles: rank 9881 of 10001, P = 0.028. t(3) = 3.42, P = 0.042; mean change 0.009354.</a:t>
            </a:r>
          </a:p>
        </p:txBody>
      </p:sp>
      <p:sp>
        <p:nvSpPr>
          <p:cNvPr id="4" name="Slide Number Placeholder 3"/>
          <p:cNvSpPr>
            <a:spLocks noGrp="1"/>
          </p:cNvSpPr>
          <p:nvPr>
            <p:ph type="sldNum" sz="quarter" idx="5"/>
          </p:nvPr>
        </p:nvSpPr>
        <p:spPr/>
        <p:txBody>
          <a:bodyPr/>
          <a:lstStyle/>
          <a:p>
            <a:fld id="{402527C0-2EEE-4A24-877A-E52264EBE2CC}" type="slidenum">
              <a:rPr lang="en-US" smtClean="0"/>
              <a:t>76</a:t>
            </a:fld>
            <a:endParaRPr lang="en-US"/>
          </a:p>
        </p:txBody>
      </p:sp>
    </p:spTree>
    <p:extLst>
      <p:ext uri="{BB962C8B-B14F-4D97-AF65-F5344CB8AC3E}">
        <p14:creationId xmlns:p14="http://schemas.microsoft.com/office/powerpoint/2010/main" val="317248689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Baseline (20 s) → both cues · followed up from the gamma coherence of R ACC – R RSC: not volume conduction. a, the pair on the ring of regions. Then, for each measure: its value for each rat at Baseline (20 s) and Cue 1 + Cue 2 (20 s) on Precon1 (grey) and Precon4 (black), each rat's two windows joined, the mean ± s.e.m. beside them; each rat's change between the days, (Precon4 Cue 1 + Cue 2 (20 s) − Baseline (20 s)) − (Precon1 Cue 1 + Cue 2 (20 s) − Baseline (20 s)), with the mean ± 95% confidence interval; and that mean against 10,000 shuffles in which each session's trials had their two windows swapped at random (grey) and against 10,000 sets of fake trials from the same rats' FP1 and FP2, where there were no cues, each session as many as it had real trials, in random order, losing the windows its real trials lost (blue). The pair was followed up because its own change in coherence had P &lt; 0.05 (uncorrected; no pair survives correction on its own), and of the measures run on it these are the ones whose t-test had P &lt; 0.05: they are leads, chosen by that test. Imaginary coherence: FP intervals P = 0.080, rank 9,613 of 10,001; within-session shuffles P = 0.091, rank 9,519 of 10,001; t(5) = 3.52, P = 0.017 (one-sample t-test of each rat's change, uncorrected).</a:t>
            </a:r>
          </a:p>
        </p:txBody>
      </p:sp>
      <p:sp>
        <p:nvSpPr>
          <p:cNvPr id="4" name="Slide Number Placeholder 3"/>
          <p:cNvSpPr>
            <a:spLocks noGrp="1"/>
          </p:cNvSpPr>
          <p:nvPr>
            <p:ph type="sldNum" sz="quarter" idx="5"/>
          </p:nvPr>
        </p:nvSpPr>
        <p:spPr/>
        <p:txBody>
          <a:bodyPr/>
          <a:lstStyle/>
          <a:p>
            <a:fld id="{402527C0-2EEE-4A24-877A-E52264EBE2CC}" type="slidenum">
              <a:rPr lang="en-US" smtClean="0"/>
              <a:t>77</a:t>
            </a:fld>
            <a:endParaRPr lang="en-US"/>
          </a:p>
        </p:txBody>
      </p:sp>
    </p:spTree>
    <p:extLst>
      <p:ext uri="{BB962C8B-B14F-4D97-AF65-F5344CB8AC3E}">
        <p14:creationId xmlns:p14="http://schemas.microsoft.com/office/powerpoint/2010/main" val="156062602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FP: rank 9613 of 10001, P = 0.080. Shuffles: rank 9519 of 10001, P = 0.091. t(5) = 3.52, P = 0.017; mean change 0.01195.</a:t>
            </a:r>
          </a:p>
        </p:txBody>
      </p:sp>
      <p:sp>
        <p:nvSpPr>
          <p:cNvPr id="4" name="Slide Number Placeholder 3"/>
          <p:cNvSpPr>
            <a:spLocks noGrp="1"/>
          </p:cNvSpPr>
          <p:nvPr>
            <p:ph type="sldNum" sz="quarter" idx="5"/>
          </p:nvPr>
        </p:nvSpPr>
        <p:spPr/>
        <p:txBody>
          <a:bodyPr/>
          <a:lstStyle/>
          <a:p>
            <a:fld id="{402527C0-2EEE-4A24-877A-E52264EBE2CC}" type="slidenum">
              <a:rPr lang="en-US" smtClean="0"/>
              <a:t>78</a:t>
            </a:fld>
            <a:endParaRPr lang="en-US"/>
          </a:p>
        </p:txBody>
      </p:sp>
    </p:spTree>
    <p:extLst>
      <p:ext uri="{BB962C8B-B14F-4D97-AF65-F5344CB8AC3E}">
        <p14:creationId xmlns:p14="http://schemas.microsoft.com/office/powerpoint/2010/main" val="188133823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Baseline (20 s) → both cues · followed up from the gamma coherence of R PER – L DHC: amplitudes together. a, the pair on the ring of regions. Then, for each measure: its value for each rat at Baseline (20 s) and Cue 1 + Cue 2 (20 s) on Precon1 (grey) and Precon4 (black), each rat's two windows joined, the mean ± s.e.m. beside them; each rat's change between the days, (Precon4 Cue 1 + Cue 2 (20 s) − Baseline (20 s)) − (Precon1 Cue 1 + Cue 2 (20 s) − Baseline (20 s)), with the mean ± 95% confidence interval; and that mean against 10,000 shuffles in which each session's trials had their two windows swapped at random (grey) and against 10,000 sets of fake trials from the same rats' FP1 and FP2, where there were no cues, each session as many as it had real trials, in random order, losing the windows its real trials lost (blue). The pair was followed up because its own change in coherence had P &lt; 0.05 (uncorrected; no pair survives correction on its own), and of the measures run on it these are the ones whose t-test had P &lt; 0.05: they are leads, chosen by that test. Amplitude cross-correlation peak: FP intervals P = 0.364, rank 1,821 of 10,001; within-session shuffles P = 0.259, rank 1,288 of 10,001; t(3) = −8.63, P = 0.003 (one-sample t-test of each rat's change, uncorrected).</a:t>
            </a:r>
          </a:p>
        </p:txBody>
      </p:sp>
      <p:sp>
        <p:nvSpPr>
          <p:cNvPr id="4" name="Slide Number Placeholder 3"/>
          <p:cNvSpPr>
            <a:spLocks noGrp="1"/>
          </p:cNvSpPr>
          <p:nvPr>
            <p:ph type="sldNum" sz="quarter" idx="5"/>
          </p:nvPr>
        </p:nvSpPr>
        <p:spPr/>
        <p:txBody>
          <a:bodyPr/>
          <a:lstStyle/>
          <a:p>
            <a:fld id="{402527C0-2EEE-4A24-877A-E52264EBE2CC}" type="slidenum">
              <a:rPr lang="en-US" smtClean="0"/>
              <a:t>79</a:t>
            </a:fld>
            <a:endParaRPr lang="en-US"/>
          </a:p>
        </p:txBody>
      </p:sp>
    </p:spTree>
    <p:extLst>
      <p:ext uri="{BB962C8B-B14F-4D97-AF65-F5344CB8AC3E}">
        <p14:creationId xmlns:p14="http://schemas.microsoft.com/office/powerpoint/2010/main" val="27234637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FP: rank 1821 of 10001, P = 0.364. Shuffles: rank 1288 of 10001, P = 0.259. t(3) = -8.63, P = 0.003; mean change -0.01971.</a:t>
            </a:r>
          </a:p>
        </p:txBody>
      </p:sp>
      <p:sp>
        <p:nvSpPr>
          <p:cNvPr id="4" name="Slide Number Placeholder 3"/>
          <p:cNvSpPr>
            <a:spLocks noGrp="1"/>
          </p:cNvSpPr>
          <p:nvPr>
            <p:ph type="sldNum" sz="quarter" idx="5"/>
          </p:nvPr>
        </p:nvSpPr>
        <p:spPr/>
        <p:txBody>
          <a:bodyPr/>
          <a:lstStyle/>
          <a:p>
            <a:fld id="{402527C0-2EEE-4A24-877A-E52264EBE2CC}" type="slidenum">
              <a:rPr lang="en-US" smtClean="0"/>
              <a:t>80</a:t>
            </a:fld>
            <a:endParaRPr lang="en-US"/>
          </a:p>
        </p:txBody>
      </p:sp>
    </p:spTree>
    <p:extLst>
      <p:ext uri="{BB962C8B-B14F-4D97-AF65-F5344CB8AC3E}">
        <p14:creationId xmlns:p14="http://schemas.microsoft.com/office/powerpoint/2010/main" val="274018849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Baseline (20 s) → both cues · followed up from the gamma coherence of R PER – L DHC: theta–gamma coupling within R PER. a, the pair on the ring of regions. Then, for each measure: its value for each rat at Baseline (20 s) and Cue 1 + Cue 2 (20 s) on Precon1 (grey) and Precon4 (black), each rat's values as dots (PAC is never drawn as lines), the mean ± s.e.m. beside them; each rat's change between the days, (Precon4 Cue 1 + Cue 2 (20 s) − Baseline (20 s)) − (Precon1 Cue 1 + Cue 2 (20 s) − Baseline (20 s)), with the mean ± 95% confidence interval; and that mean against 10,000 shuffles in which each session's trials had their two windows swapped at random (grey) and against 10,000 sets of fake trials from the same rats' FP1 and FP2, where there were no cues, each session as many as it had real trials, in random order, losing the windows its real trials lost (blue). The pair was followed up because its own change in coherence had P &lt; 0.05 (uncorrected; no pair survives correction on its own), and of the measures run on it these are the ones whose t-test had P &lt; 0.05: they are leads, chosen by that test. PAC is Tort's modulation index (18 theta-phase bins) of gamma (30–90 Hz) amplitude over theta (5–12 Hz) phase, computed over each trial's whole window (the whole baseline, or the whole cue window), then averaged over the session's trials: a dot is one rat. The roses are the same windows' gamma amplitude in each theta-phase bin, normalised, averaged over the trials and then the rats; the comodulogram is the change in cue effect in narrow theta (2 Hz) and gamma (10 Hz) bands. PAC within R PER: FP intervals P = 0.389, rank 8,109 of 10,001; within-session shuffles P = 0.546, rank 7,280 of 10,001; t(4) = 3.89, P = 0.018 (one-sample t-test of each rat's change, uncorrected).</a:t>
            </a:r>
          </a:p>
        </p:txBody>
      </p:sp>
      <p:sp>
        <p:nvSpPr>
          <p:cNvPr id="4" name="Slide Number Placeholder 3"/>
          <p:cNvSpPr>
            <a:spLocks noGrp="1"/>
          </p:cNvSpPr>
          <p:nvPr>
            <p:ph type="sldNum" sz="quarter" idx="5"/>
          </p:nvPr>
        </p:nvSpPr>
        <p:spPr/>
        <p:txBody>
          <a:bodyPr/>
          <a:lstStyle/>
          <a:p>
            <a:fld id="{402527C0-2EEE-4A24-877A-E52264EBE2CC}" type="slidenum">
              <a:rPr lang="en-US" smtClean="0"/>
              <a:t>81</a:t>
            </a:fld>
            <a:endParaRPr lang="en-US"/>
          </a:p>
        </p:txBody>
      </p:sp>
    </p:spTree>
    <p:extLst>
      <p:ext uri="{BB962C8B-B14F-4D97-AF65-F5344CB8AC3E}">
        <p14:creationId xmlns:p14="http://schemas.microsoft.com/office/powerpoint/2010/main" val="4876568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FP: rank 8109 of 10001, P = 0.389. Shuffles: rank 7280 of 10001, P = 0.546. t(4) = 3.89, P = 0.018; mean change 5.763e-05.</a:t>
            </a:r>
          </a:p>
        </p:txBody>
      </p:sp>
      <p:sp>
        <p:nvSpPr>
          <p:cNvPr id="4" name="Slide Number Placeholder 3"/>
          <p:cNvSpPr>
            <a:spLocks noGrp="1"/>
          </p:cNvSpPr>
          <p:nvPr>
            <p:ph type="sldNum" sz="quarter" idx="5"/>
          </p:nvPr>
        </p:nvSpPr>
        <p:spPr/>
        <p:txBody>
          <a:bodyPr/>
          <a:lstStyle/>
          <a:p>
            <a:fld id="{402527C0-2EEE-4A24-877A-E52264EBE2CC}" type="slidenum">
              <a:rPr lang="en-US" smtClean="0"/>
              <a:t>82</a:t>
            </a:fld>
            <a:endParaRPr lang="en-US"/>
          </a:p>
        </p:txBody>
      </p:sp>
    </p:spTree>
    <p:extLst>
      <p:ext uri="{BB962C8B-B14F-4D97-AF65-F5344CB8AC3E}">
        <p14:creationId xmlns:p14="http://schemas.microsoft.com/office/powerpoint/2010/main" val="280075255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Baseline (10 s) → cue 1 · followed up from the gamma coherence of R ACC – L OFC: not volume conduction. a, the pair on the ring of regions. Then, for each measure: its value for each rat at Baseline (10 s) and Cue 1 on Precon1 (grey) and Precon4 (black), each rat's two windows joined, the mean ± s.e.m. beside them; each rat's change between the days, (Precon4 Cue 1 − Baseline (10 s)) − (Precon1 Cue 1 − Baseline (10 s)), with the mean ± 95% confidence interval; and that mean against 10,000 shuffles in which each session's trials had their two windows swapped at random (grey) and against 10,000 sets of fake trials from the same rats' FP1 and FP2, where there were no cues, each session as many as it had real trials, in random order, losing the windows its real trials lost (blue). The pair was followed up because its own change in coherence had P &lt; 0.05 (uncorrected; no pair survives correction on its own), and of the measures run on it these are the ones whose t-test had P &lt; 0.05: they are leads, chosen by that test. PLI: FP intervals P = 0.023, rank 9,894 of 10,001; within-session shuffles P = 0.027, rank 9,869 of 10,001; t(7) = 2.65, P = 0.033 (one-sample t-test of each rat's change, uncorrected); Imaginary coherence: FP intervals P = 0.008, rank 9,957 of 10,001; within-session shuffles P = 0.012, rank 9,942 of 10,001; t(7) = 3.14, P = 0.016 (one-sample t-test of each rat's change, uncorrected).</a:t>
            </a:r>
          </a:p>
        </p:txBody>
      </p:sp>
      <p:sp>
        <p:nvSpPr>
          <p:cNvPr id="4" name="Slide Number Placeholder 3"/>
          <p:cNvSpPr>
            <a:spLocks noGrp="1"/>
          </p:cNvSpPr>
          <p:nvPr>
            <p:ph type="sldNum" sz="quarter" idx="5"/>
          </p:nvPr>
        </p:nvSpPr>
        <p:spPr/>
        <p:txBody>
          <a:bodyPr/>
          <a:lstStyle/>
          <a:p>
            <a:fld id="{402527C0-2EEE-4A24-877A-E52264EBE2CC}" type="slidenum">
              <a:rPr lang="en-US" smtClean="0"/>
              <a:t>84</a:t>
            </a:fld>
            <a:endParaRPr lang="en-US"/>
          </a:p>
        </p:txBody>
      </p:sp>
    </p:spTree>
    <p:extLst>
      <p:ext uri="{BB962C8B-B14F-4D97-AF65-F5344CB8AC3E}">
        <p14:creationId xmlns:p14="http://schemas.microsoft.com/office/powerpoint/2010/main" val="278067221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FP: rank 9894 of 10001, P = 0.023. Shuffles: rank 9869 of 10001, P = 0.027. t(7) = 2.65, P = 0.033; mean change 0.01533.</a:t>
            </a:r>
          </a:p>
        </p:txBody>
      </p:sp>
      <p:sp>
        <p:nvSpPr>
          <p:cNvPr id="4" name="Slide Number Placeholder 3"/>
          <p:cNvSpPr>
            <a:spLocks noGrp="1"/>
          </p:cNvSpPr>
          <p:nvPr>
            <p:ph type="sldNum" sz="quarter" idx="5"/>
          </p:nvPr>
        </p:nvSpPr>
        <p:spPr/>
        <p:txBody>
          <a:bodyPr/>
          <a:lstStyle/>
          <a:p>
            <a:fld id="{402527C0-2EEE-4A24-877A-E52264EBE2CC}" type="slidenum">
              <a:rPr lang="en-US" smtClean="0"/>
              <a:t>85</a:t>
            </a:fld>
            <a:endParaRPr lang="en-US"/>
          </a:p>
        </p:txBody>
      </p:sp>
    </p:spTree>
    <p:extLst>
      <p:ext uri="{BB962C8B-B14F-4D97-AF65-F5344CB8AC3E}">
        <p14:creationId xmlns:p14="http://schemas.microsoft.com/office/powerpoint/2010/main" val="2557206303"/>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FP: rank 9957 of 10001, P = 0.008. Shuffles: rank 9942 of 10001, P = 0.012. t(7) = 3.14, P = 0.016; mean change 0.0163.</a:t>
            </a:r>
          </a:p>
        </p:txBody>
      </p:sp>
      <p:sp>
        <p:nvSpPr>
          <p:cNvPr id="4" name="Slide Number Placeholder 3"/>
          <p:cNvSpPr>
            <a:spLocks noGrp="1"/>
          </p:cNvSpPr>
          <p:nvPr>
            <p:ph type="sldNum" sz="quarter" idx="5"/>
          </p:nvPr>
        </p:nvSpPr>
        <p:spPr/>
        <p:txBody>
          <a:bodyPr/>
          <a:lstStyle/>
          <a:p>
            <a:fld id="{402527C0-2EEE-4A24-877A-E52264EBE2CC}" type="slidenum">
              <a:rPr lang="en-US" smtClean="0"/>
              <a:t>87</a:t>
            </a:fld>
            <a:endParaRPr lang="en-US"/>
          </a:p>
        </p:txBody>
      </p:sp>
    </p:spTree>
    <p:extLst>
      <p:ext uri="{BB962C8B-B14F-4D97-AF65-F5344CB8AC3E}">
        <p14:creationId xmlns:p14="http://schemas.microsoft.com/office/powerpoint/2010/main" val="1750903869"/>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Baseline (10 s) → cue 1 · followed up from the gamma coherence of R DHC – L RSC: direction. a, the pair on the ring of regions. Then, for each measure: its value for each rat at Baseline (10 s) and Cue 1 on Precon1 (grey) and Precon4 (black), each rat's two windows joined, the mean ± s.e.m. beside them; each rat's change between the days, (Precon4 Cue 1 − Baseline (10 s)) − (Precon1 Cue 1 − Baseline (10 s)), with the mean ± 95% confidence interval; and that mean against 10,000 shuffles in which each session's trials had their two windows swapped at random (grey) and against 10,000 sets of fake trials from the same rats' FP1 and FP2, where there were no cues, each session as many as it had real trials, in random order, losing the windows its real trials lost (blue). The pair was followed up because its own change in coherence had P &lt; 0.05 (uncorrected; no pair survives correction on its own), and of the measures run on it these are the ones whose t-test had P &lt; 0.05: they are leads, chosen by that test. Amplitude lag: FP intervals P = 0.014, rank 72 of 10,001; within-session shuffles P = 0.020, rank 98 of 10,001; t(6) = −3.47, P = 0.013 (one-sample t-test of each rat's change, uncorrected).</a:t>
            </a:r>
          </a:p>
        </p:txBody>
      </p:sp>
      <p:sp>
        <p:nvSpPr>
          <p:cNvPr id="4" name="Slide Number Placeholder 3"/>
          <p:cNvSpPr>
            <a:spLocks noGrp="1"/>
          </p:cNvSpPr>
          <p:nvPr>
            <p:ph type="sldNum" sz="quarter" idx="5"/>
          </p:nvPr>
        </p:nvSpPr>
        <p:spPr/>
        <p:txBody>
          <a:bodyPr/>
          <a:lstStyle/>
          <a:p>
            <a:fld id="{402527C0-2EEE-4A24-877A-E52264EBE2CC}" type="slidenum">
              <a:rPr lang="en-US" smtClean="0"/>
              <a:t>88</a:t>
            </a:fld>
            <a:endParaRPr lang="en-US"/>
          </a:p>
        </p:txBody>
      </p:sp>
    </p:spTree>
    <p:extLst>
      <p:ext uri="{BB962C8B-B14F-4D97-AF65-F5344CB8AC3E}">
        <p14:creationId xmlns:p14="http://schemas.microsoft.com/office/powerpoint/2010/main" val="123422038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FP: rank 72 of 10001, P = 0.014. Shuffles: rank 98 of 10001, P = 0.020. t(6) = -3.47, P = 0.013; mean change -27.44.</a:t>
            </a:r>
          </a:p>
        </p:txBody>
      </p:sp>
      <p:sp>
        <p:nvSpPr>
          <p:cNvPr id="4" name="Slide Number Placeholder 3"/>
          <p:cNvSpPr>
            <a:spLocks noGrp="1"/>
          </p:cNvSpPr>
          <p:nvPr>
            <p:ph type="sldNum" sz="quarter" idx="5"/>
          </p:nvPr>
        </p:nvSpPr>
        <p:spPr/>
        <p:txBody>
          <a:bodyPr/>
          <a:lstStyle/>
          <a:p>
            <a:fld id="{402527C0-2EEE-4A24-877A-E52264EBE2CC}" type="slidenum">
              <a:rPr lang="en-US" smtClean="0"/>
              <a:t>89</a:t>
            </a:fld>
            <a:endParaRPr lang="en-US"/>
          </a:p>
        </p:txBody>
      </p:sp>
    </p:spTree>
    <p:extLst>
      <p:ext uri="{BB962C8B-B14F-4D97-AF65-F5344CB8AC3E}">
        <p14:creationId xmlns:p14="http://schemas.microsoft.com/office/powerpoint/2010/main" val="875259149"/>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Baseline (10 s) → cue 1 · followed up from the gamma coherence of L OFC – L ACC: amplitudes together. a, the pair on the ring of regions. Then, for each measure: its value for each rat at Baseline (10 s) and Cue 1 on Precon1 (grey) and Precon4 (black), each rat's two windows joined, the mean ± s.e.m. beside them; each rat's change between the days, (Precon4 Cue 1 − Baseline (10 s)) − (Precon1 Cue 1 − Baseline (10 s)), with the mean ± 95% confidence interval; and that mean against 10,000 shuffles in which each session's trials had their two windows swapped at random (grey) and against 10,000 sets of fake trials from the same rats' FP1 and FP2, where there were no cues, each session as many as it had real trials, in random order, losing the windows its real trials lost (blue). The pair was followed up because its own change in coherence had P &lt; 0.05 (uncorrected; no pair survives correction on its own), and of the measures run on it these are the ones whose t-test had P &lt; 0.05: they are leads, chosen by that test. Amplitude cross-correlation peak: FP intervals P = 0.016, rank 9,916 of 10,001; within-session shuffles P = 0.020, rank 9,903 of 10,001; t(7) = 5.07, P = 0.001 (one-sample t-test of each rat's change, uncorrected).</a:t>
            </a:r>
          </a:p>
        </p:txBody>
      </p:sp>
      <p:sp>
        <p:nvSpPr>
          <p:cNvPr id="4" name="Slide Number Placeholder 3"/>
          <p:cNvSpPr>
            <a:spLocks noGrp="1"/>
          </p:cNvSpPr>
          <p:nvPr>
            <p:ph type="sldNum" sz="quarter" idx="5"/>
          </p:nvPr>
        </p:nvSpPr>
        <p:spPr/>
        <p:txBody>
          <a:bodyPr/>
          <a:lstStyle/>
          <a:p>
            <a:fld id="{402527C0-2EEE-4A24-877A-E52264EBE2CC}" type="slidenum">
              <a:rPr lang="en-US" smtClean="0"/>
              <a:t>90</a:t>
            </a:fld>
            <a:endParaRPr lang="en-US"/>
          </a:p>
        </p:txBody>
      </p:sp>
    </p:spTree>
    <p:extLst>
      <p:ext uri="{BB962C8B-B14F-4D97-AF65-F5344CB8AC3E}">
        <p14:creationId xmlns:p14="http://schemas.microsoft.com/office/powerpoint/2010/main" val="3794714"/>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FP: rank 9916 of 10001, P = 0.016. Shuffles: rank 9903 of 10001, P = 0.020. t(7) = 5.07, P = 0.001; mean change 0.04594.</a:t>
            </a:r>
          </a:p>
        </p:txBody>
      </p:sp>
      <p:sp>
        <p:nvSpPr>
          <p:cNvPr id="4" name="Slide Number Placeholder 3"/>
          <p:cNvSpPr>
            <a:spLocks noGrp="1"/>
          </p:cNvSpPr>
          <p:nvPr>
            <p:ph type="sldNum" sz="quarter" idx="5"/>
          </p:nvPr>
        </p:nvSpPr>
        <p:spPr/>
        <p:txBody>
          <a:bodyPr/>
          <a:lstStyle/>
          <a:p>
            <a:fld id="{402527C0-2EEE-4A24-877A-E52264EBE2CC}" type="slidenum">
              <a:rPr lang="en-US" smtClean="0"/>
              <a:t>91</a:t>
            </a:fld>
            <a:endParaRPr lang="en-US"/>
          </a:p>
        </p:txBody>
      </p:sp>
    </p:spTree>
    <p:extLst>
      <p:ext uri="{BB962C8B-B14F-4D97-AF65-F5344CB8AC3E}">
        <p14:creationId xmlns:p14="http://schemas.microsoft.com/office/powerpoint/2010/main" val="208356799"/>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Baseline (10 s) → cue 1 · followed up from the gamma coherence of R ACC – L RSC: amplitudes together. a, the pair on the ring of regions. Then, for each measure: its value for each rat at Baseline (10 s) and Cue 1 on Precon1 (grey) and Precon4 (black), each rat's two windows joined, the mean ± s.e.m. beside them; each rat's change between the days, (Precon4 Cue 1 − Baseline (10 s)) − (Precon1 Cue 1 − Baseline (10 s)), with the mean ± 95% confidence interval; and that mean against 10,000 shuffles in which each session's trials had their two windows swapped at random (grey) and against 10,000 sets of fake trials from the same rats' FP1 and FP2, where there were no cues, each session as many as it had real trials, in random order, losing the windows its real trials lost (blue). The pair was followed up because its own change in coherence had P &lt; 0.05 (uncorrected; no pair survives correction on its own), and of the measures run on it these are the ones whose t-test had P &lt; 0.05: they are leads, chosen by that test. Amplitude cross-correlation peak: FP intervals P = 0.028, rank 9,862 of 10,001; within-session shuffles P = 0.001, rank 9,993 of 10,001; t(6) = 3.72, P = 0.010 (one-sample t-test of each rat's change, uncorrected).</a:t>
            </a:r>
          </a:p>
        </p:txBody>
      </p:sp>
      <p:sp>
        <p:nvSpPr>
          <p:cNvPr id="4" name="Slide Number Placeholder 3"/>
          <p:cNvSpPr>
            <a:spLocks noGrp="1"/>
          </p:cNvSpPr>
          <p:nvPr>
            <p:ph type="sldNum" sz="quarter" idx="5"/>
          </p:nvPr>
        </p:nvSpPr>
        <p:spPr/>
        <p:txBody>
          <a:bodyPr/>
          <a:lstStyle/>
          <a:p>
            <a:fld id="{402527C0-2EEE-4A24-877A-E52264EBE2CC}" type="slidenum">
              <a:rPr lang="en-US" smtClean="0"/>
              <a:t>92</a:t>
            </a:fld>
            <a:endParaRPr lang="en-US"/>
          </a:p>
        </p:txBody>
      </p:sp>
    </p:spTree>
    <p:extLst>
      <p:ext uri="{BB962C8B-B14F-4D97-AF65-F5344CB8AC3E}">
        <p14:creationId xmlns:p14="http://schemas.microsoft.com/office/powerpoint/2010/main" val="1874682833"/>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FP: rank 9862 of 10001, P = 0.028. Shuffles: rank 9993 of 10001, P = 0.001. t(6) = 3.72, P = 0.010; mean change 0.04523.</a:t>
            </a:r>
          </a:p>
        </p:txBody>
      </p:sp>
      <p:sp>
        <p:nvSpPr>
          <p:cNvPr id="4" name="Slide Number Placeholder 3"/>
          <p:cNvSpPr>
            <a:spLocks noGrp="1"/>
          </p:cNvSpPr>
          <p:nvPr>
            <p:ph type="sldNum" sz="quarter" idx="5"/>
          </p:nvPr>
        </p:nvSpPr>
        <p:spPr/>
        <p:txBody>
          <a:bodyPr/>
          <a:lstStyle/>
          <a:p>
            <a:fld id="{402527C0-2EEE-4A24-877A-E52264EBE2CC}" type="slidenum">
              <a:rPr lang="en-US" smtClean="0"/>
              <a:t>93</a:t>
            </a:fld>
            <a:endParaRPr lang="en-US"/>
          </a:p>
        </p:txBody>
      </p:sp>
    </p:spTree>
    <p:extLst>
      <p:ext uri="{BB962C8B-B14F-4D97-AF65-F5344CB8AC3E}">
        <p14:creationId xmlns:p14="http://schemas.microsoft.com/office/powerpoint/2010/main" val="260551419"/>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Baseline (10 s) → cue 1 · followed up from the gamma coherence of R ACC – R OFC: amplitudes together. a, the pair on the ring of regions. Then, for each measure: its value for each rat at Baseline (10 s) and Cue 1 on Precon1 (grey) and Precon4 (black), each rat's two windows joined, the mean ± s.e.m. beside them; each rat's change between the days, (Precon4 Cue 1 − Baseline (10 s)) − (Precon1 Cue 1 − Baseline (10 s)), with the mean ± 95% confidence interval; and that mean against 10,000 shuffles in which each session's trials had their two windows swapped at random (grey) and against 10,000 sets of fake trials from the same rats' FP1 and FP2, where there were no cues, each session as many as it had real trials, in random order, losing the windows its real trials lost (blue). The pair was followed up because its own change in coherence had P &lt; 0.05 (uncorrected; no pair survives correction on its own), and of the measures run on it these are the ones whose t-test had P &lt; 0.05: they are leads, chosen by that test. Amplitude cross-correlation peak: FP intervals P = 0.034, rank 9,846 of 10,001; within-session shuffles P = 0.004, rank 9,980 of 10,001; t(7) = 3.17, P = 0.016 (one-sample t-test of each rat's change, uncorrected).</a:t>
            </a:r>
          </a:p>
        </p:txBody>
      </p:sp>
      <p:sp>
        <p:nvSpPr>
          <p:cNvPr id="4" name="Slide Number Placeholder 3"/>
          <p:cNvSpPr>
            <a:spLocks noGrp="1"/>
          </p:cNvSpPr>
          <p:nvPr>
            <p:ph type="sldNum" sz="quarter" idx="5"/>
          </p:nvPr>
        </p:nvSpPr>
        <p:spPr/>
        <p:txBody>
          <a:bodyPr/>
          <a:lstStyle/>
          <a:p>
            <a:fld id="{402527C0-2EEE-4A24-877A-E52264EBE2CC}" type="slidenum">
              <a:rPr lang="en-US" smtClean="0"/>
              <a:t>94</a:t>
            </a:fld>
            <a:endParaRPr lang="en-US"/>
          </a:p>
        </p:txBody>
      </p:sp>
    </p:spTree>
    <p:extLst>
      <p:ext uri="{BB962C8B-B14F-4D97-AF65-F5344CB8AC3E}">
        <p14:creationId xmlns:p14="http://schemas.microsoft.com/office/powerpoint/2010/main" val="690511002"/>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FP: rank 9846 of 10001, P = 0.034. Shuffles: rank 9980 of 10001, P = 0.004. t(7) = 3.17, P = 0.016; mean change 0.03322.</a:t>
            </a:r>
          </a:p>
        </p:txBody>
      </p:sp>
      <p:sp>
        <p:nvSpPr>
          <p:cNvPr id="4" name="Slide Number Placeholder 3"/>
          <p:cNvSpPr>
            <a:spLocks noGrp="1"/>
          </p:cNvSpPr>
          <p:nvPr>
            <p:ph type="sldNum" sz="quarter" idx="5"/>
          </p:nvPr>
        </p:nvSpPr>
        <p:spPr/>
        <p:txBody>
          <a:bodyPr/>
          <a:lstStyle/>
          <a:p>
            <a:fld id="{402527C0-2EEE-4A24-877A-E52264EBE2CC}" type="slidenum">
              <a:rPr lang="en-US" smtClean="0"/>
              <a:t>95</a:t>
            </a:fld>
            <a:endParaRPr lang="en-US"/>
          </a:p>
        </p:txBody>
      </p:sp>
    </p:spTree>
    <p:extLst>
      <p:ext uri="{BB962C8B-B14F-4D97-AF65-F5344CB8AC3E}">
        <p14:creationId xmlns:p14="http://schemas.microsoft.com/office/powerpoint/2010/main" val="3506710755"/>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Baseline (10 s) → cue 1 · followed up from the gamma coherence of L RSC – L ACC: direction. a, the pair on the ring of regions (the arrow, the direction measured). Then, for each measure: its value for each rat at Baseline (10 s) and Cue 1 on Precon1 (grey) and Precon4 (black), each rat's two windows joined, the mean ± s.e.m. beside them; each rat's change between the days, (Precon4 Cue 1 − Baseline (10 s)) − (Precon1 Cue 1 − Baseline (10 s)), with the mean ± 95% confidence interval; and that mean against 10,000 shuffles in which each session's trials had their two windows swapped at random (grey) and against 10,000 sets of fake trials from the same rats' FP1 and FP2, where there were no cues, each session as many as it had real trials, in random order, losing the windows its real trials lost (blue). The pair was followed up because its own change in coherence had P &lt; 0.05 (uncorrected; no pair survives correction on its own), and of the measures run on it these are the ones whose t-test had P &lt; 0.05: they are leads, chosen by that test. Granger L ACC → L RSC: FP intervals P = 0.040, rank 9,793 of 10,001; within-session shuffles P = 0.008, rank 9,955 of 10,001; t(6) = 2.82, P = 0.030 (one-sample t-test of each rat's change, uncorrected).</a:t>
            </a:r>
          </a:p>
        </p:txBody>
      </p:sp>
      <p:sp>
        <p:nvSpPr>
          <p:cNvPr id="4" name="Slide Number Placeholder 3"/>
          <p:cNvSpPr>
            <a:spLocks noGrp="1"/>
          </p:cNvSpPr>
          <p:nvPr>
            <p:ph type="sldNum" sz="quarter" idx="5"/>
          </p:nvPr>
        </p:nvSpPr>
        <p:spPr/>
        <p:txBody>
          <a:bodyPr/>
          <a:lstStyle/>
          <a:p>
            <a:fld id="{402527C0-2EEE-4A24-877A-E52264EBE2CC}" type="slidenum">
              <a:rPr lang="en-US" smtClean="0"/>
              <a:t>96</a:t>
            </a:fld>
            <a:endParaRPr lang="en-US"/>
          </a:p>
        </p:txBody>
      </p:sp>
    </p:spTree>
    <p:extLst>
      <p:ext uri="{BB962C8B-B14F-4D97-AF65-F5344CB8AC3E}">
        <p14:creationId xmlns:p14="http://schemas.microsoft.com/office/powerpoint/2010/main" val="2593286475"/>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FP: rank 9793 of 10001, P = 0.040. Shuffles: rank 9955 of 10001, P = 0.008. t(6) = 2.82, P = 0.030; mean change 0.008396.</a:t>
            </a:r>
          </a:p>
        </p:txBody>
      </p:sp>
      <p:sp>
        <p:nvSpPr>
          <p:cNvPr id="4" name="Slide Number Placeholder 3"/>
          <p:cNvSpPr>
            <a:spLocks noGrp="1"/>
          </p:cNvSpPr>
          <p:nvPr>
            <p:ph type="sldNum" sz="quarter" idx="5"/>
          </p:nvPr>
        </p:nvSpPr>
        <p:spPr/>
        <p:txBody>
          <a:bodyPr/>
          <a:lstStyle/>
          <a:p>
            <a:fld id="{402527C0-2EEE-4A24-877A-E52264EBE2CC}" type="slidenum">
              <a:rPr lang="en-US" smtClean="0"/>
              <a:t>97</a:t>
            </a:fld>
            <a:endParaRPr lang="en-US"/>
          </a:p>
        </p:txBody>
      </p:sp>
    </p:spTree>
    <p:extLst>
      <p:ext uri="{BB962C8B-B14F-4D97-AF65-F5344CB8AC3E}">
        <p14:creationId xmlns:p14="http://schemas.microsoft.com/office/powerpoint/2010/main" val="86057576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Baseline (10 s) → cue 1 · followed up from the gamma coherence of R DHC – L OFC: amplitudes together. a, the pair on the ring of regions. Then, for each measure: its value for each rat at Baseline (10 s) and Cue 1 on Precon1 (grey) and Precon4 (black), each rat's two windows joined, the mean ± s.e.m. beside them; each rat's change between the days, (Precon4 Cue 1 − Baseline (10 s)) − (Precon1 Cue 1 − Baseline (10 s)), with the mean ± 95% confidence interval; and that mean against 10,000 shuffles in which each session's trials had their two windows swapped at random (grey) and against 10,000 sets of fake trials from the same rats' FP1 and FP2, where there were no cues, each session as many as it had real trials, in random order, losing the windows its real trials lost (blue). The pair was followed up because its own change in coherence had P &lt; 0.05 (uncorrected; no pair survives correction on its own), and of the measures run on it these are the ones whose t-test had P &lt; 0.05: they are leads, chosen by that test. Amplitude cross-correlation peak: FP intervals P = 0.027, rank 9,865 of 10,001; within-session shuffles P = 0.082, rank 9,567 of 10,001; t(7) = 3.09, P = 0.018 (one-sample t-test of each rat's change, uncorrected).</a:t>
            </a:r>
          </a:p>
        </p:txBody>
      </p:sp>
      <p:sp>
        <p:nvSpPr>
          <p:cNvPr id="4" name="Slide Number Placeholder 3"/>
          <p:cNvSpPr>
            <a:spLocks noGrp="1"/>
          </p:cNvSpPr>
          <p:nvPr>
            <p:ph type="sldNum" sz="quarter" idx="5"/>
          </p:nvPr>
        </p:nvSpPr>
        <p:spPr/>
        <p:txBody>
          <a:bodyPr/>
          <a:lstStyle/>
          <a:p>
            <a:fld id="{402527C0-2EEE-4A24-877A-E52264EBE2CC}" type="slidenum">
              <a:rPr lang="en-US" smtClean="0"/>
              <a:t>98</a:t>
            </a:fld>
            <a:endParaRPr lang="en-US"/>
          </a:p>
        </p:txBody>
      </p:sp>
    </p:spTree>
    <p:extLst>
      <p:ext uri="{BB962C8B-B14F-4D97-AF65-F5344CB8AC3E}">
        <p14:creationId xmlns:p14="http://schemas.microsoft.com/office/powerpoint/2010/main" val="2618513706"/>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FP: rank 9865 of 10001, P = 0.027. Shuffles: rank 9567 of 10001, P = 0.082. t(7) = 3.09, P = 0.018; mean change 0.03085.</a:t>
            </a:r>
          </a:p>
        </p:txBody>
      </p:sp>
      <p:sp>
        <p:nvSpPr>
          <p:cNvPr id="4" name="Slide Number Placeholder 3"/>
          <p:cNvSpPr>
            <a:spLocks noGrp="1"/>
          </p:cNvSpPr>
          <p:nvPr>
            <p:ph type="sldNum" sz="quarter" idx="5"/>
          </p:nvPr>
        </p:nvSpPr>
        <p:spPr/>
        <p:txBody>
          <a:bodyPr/>
          <a:lstStyle/>
          <a:p>
            <a:fld id="{402527C0-2EEE-4A24-877A-E52264EBE2CC}" type="slidenum">
              <a:rPr lang="en-US" smtClean="0"/>
              <a:t>99</a:t>
            </a:fld>
            <a:endParaRPr lang="en-US"/>
          </a:p>
        </p:txBody>
      </p:sp>
    </p:spTree>
    <p:extLst>
      <p:ext uri="{BB962C8B-B14F-4D97-AF65-F5344CB8AC3E}">
        <p14:creationId xmlns:p14="http://schemas.microsoft.com/office/powerpoint/2010/main" val="2571939665"/>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Baseline (10 s) → cue 1 · followed up from the gamma coherence of R DHC – L OFC: theta–gamma coupling, R DHC θ → L OFC γ. a, the pair on the ring of regions (the arrow, the direction measured). Then, for each measure: its value for each rat at Baseline (10 s) and Cue 1 on Precon1 (grey) and Precon4 (black), each rat's values as dots (PAC is never drawn as lines), the mean ± s.e.m. beside them; each rat's change between the days, (Precon4 Cue 1 − Baseline (10 s)) − (Precon1 Cue 1 − Baseline (10 s)), with the mean ± 95% confidence interval; and that mean against 10,000 shuffles in which each session's trials had their two windows swapped at random (grey) and against 10,000 sets of fake trials from the same rats' FP1 and FP2, where there were no cues, each session as many as it had real trials, in random order, losing the windows its real trials lost (blue). The pair was followed up because its own change in coherence had P &lt; 0.05 (uncorrected; no pair survives correction on its own), and of the measures run on it these are the ones whose t-test had P &lt; 0.05: they are leads, chosen by that test. PAC is Tort's modulation index (18 theta-phase bins) of gamma (30–90 Hz) amplitude over theta (5–12 Hz) phase, computed over each trial's whole window (the whole baseline, or the whole cue window), then averaged over the session's trials: a dot is one rat. The roses are the same windows' gamma amplitude in each theta-phase bin, normalised, averaged over the trials and then the rats; the comodulogram is the change in cue effect in narrow theta (2 Hz) and gamma (10 Hz) bands. PAC R DHC θ → L OFC γ: FP intervals P = 0.029, rank 9,858 of 10,001; within-session shuffles P = 0.103, rank 9,485 of 10,001; t(7) = 2.54, P = 0.039 (one-sample t-test of each rat's change, uncorrected).</a:t>
            </a:r>
          </a:p>
        </p:txBody>
      </p:sp>
      <p:sp>
        <p:nvSpPr>
          <p:cNvPr id="4" name="Slide Number Placeholder 3"/>
          <p:cNvSpPr>
            <a:spLocks noGrp="1"/>
          </p:cNvSpPr>
          <p:nvPr>
            <p:ph type="sldNum" sz="quarter" idx="5"/>
          </p:nvPr>
        </p:nvSpPr>
        <p:spPr/>
        <p:txBody>
          <a:bodyPr/>
          <a:lstStyle/>
          <a:p>
            <a:fld id="{402527C0-2EEE-4A24-877A-E52264EBE2CC}" type="slidenum">
              <a:rPr lang="en-US" smtClean="0"/>
              <a:t>100</a:t>
            </a:fld>
            <a:endParaRPr lang="en-US"/>
          </a:p>
        </p:txBody>
      </p:sp>
    </p:spTree>
    <p:extLst>
      <p:ext uri="{BB962C8B-B14F-4D97-AF65-F5344CB8AC3E}">
        <p14:creationId xmlns:p14="http://schemas.microsoft.com/office/powerpoint/2010/main" val="1821659079"/>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FP: rank 9858 of 10001, P = 0.029. Shuffles: rank 9485 of 10001, P = 0.103. t(7) = 2.54, P = 0.039; mean change 0.00015.</a:t>
            </a:r>
          </a:p>
        </p:txBody>
      </p:sp>
      <p:sp>
        <p:nvSpPr>
          <p:cNvPr id="4" name="Slide Number Placeholder 3"/>
          <p:cNvSpPr>
            <a:spLocks noGrp="1"/>
          </p:cNvSpPr>
          <p:nvPr>
            <p:ph type="sldNum" sz="quarter" idx="5"/>
          </p:nvPr>
        </p:nvSpPr>
        <p:spPr/>
        <p:txBody>
          <a:bodyPr/>
          <a:lstStyle/>
          <a:p>
            <a:fld id="{402527C0-2EEE-4A24-877A-E52264EBE2CC}" type="slidenum">
              <a:rPr lang="en-US" smtClean="0"/>
              <a:t>101</a:t>
            </a:fld>
            <a:endParaRPr lang="en-US"/>
          </a:p>
        </p:txBody>
      </p:sp>
    </p:spTree>
    <p:extLst>
      <p:ext uri="{BB962C8B-B14F-4D97-AF65-F5344CB8AC3E}">
        <p14:creationId xmlns:p14="http://schemas.microsoft.com/office/powerpoint/2010/main" val="3453907343"/>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Baseline (10 s) → cue 1 · followed up from the gamma coherence of R ACC – R RSC: not volume conduction. a, the pair on the ring of regions. Then, for each measure: its value for each rat at Baseline (10 s) and Cue 1 on Precon1 (grey) and Precon4 (black), each rat's two windows joined, the mean ± s.e.m. beside them; each rat's change between the days, (Precon4 Cue 1 − Baseline (10 s)) − (Precon1 Cue 1 − Baseline (10 s)), with the mean ± 95% confidence interval; and that mean against 10,000 shuffles in which each session's trials had their two windows swapped at random (grey) and against 10,000 sets of fake trials from the same rats' FP1 and FP2, where there were no cues, each session as many as it had real trials, in random order, losing the windows its real trials lost (blue). The pair was followed up because its own change in coherence had P &lt; 0.05 (uncorrected; no pair survives correction on its own), and of the measures run on it these are the ones whose t-test had P &lt; 0.05: they are leads, chosen by that test. Imaginary coherence: FP intervals P = 0.042, rank 9,796 of 10,001; within-session shuffles P = 0.058, rank 9,721 of 10,001; t(5) = 7.13, P &lt; 0.001 (one-sample t-test of each rat's change, uncorrected).</a:t>
            </a:r>
          </a:p>
        </p:txBody>
      </p:sp>
      <p:sp>
        <p:nvSpPr>
          <p:cNvPr id="4" name="Slide Number Placeholder 3"/>
          <p:cNvSpPr>
            <a:spLocks noGrp="1"/>
          </p:cNvSpPr>
          <p:nvPr>
            <p:ph type="sldNum" sz="quarter" idx="5"/>
          </p:nvPr>
        </p:nvSpPr>
        <p:spPr/>
        <p:txBody>
          <a:bodyPr/>
          <a:lstStyle/>
          <a:p>
            <a:fld id="{402527C0-2EEE-4A24-877A-E52264EBE2CC}" type="slidenum">
              <a:rPr lang="en-US" smtClean="0"/>
              <a:t>103</a:t>
            </a:fld>
            <a:endParaRPr lang="en-US"/>
          </a:p>
        </p:txBody>
      </p:sp>
    </p:spTree>
    <p:extLst>
      <p:ext uri="{BB962C8B-B14F-4D97-AF65-F5344CB8AC3E}">
        <p14:creationId xmlns:p14="http://schemas.microsoft.com/office/powerpoint/2010/main" val="4137964697"/>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FP: rank 9796 of 10001, P = 0.042. Shuffles: rank 9721 of 10001, P = 0.058. t(5) = 7.13, P &lt; 0.001; mean change 0.01537.</a:t>
            </a:r>
          </a:p>
        </p:txBody>
      </p:sp>
      <p:sp>
        <p:nvSpPr>
          <p:cNvPr id="4" name="Slide Number Placeholder 3"/>
          <p:cNvSpPr>
            <a:spLocks noGrp="1"/>
          </p:cNvSpPr>
          <p:nvPr>
            <p:ph type="sldNum" sz="quarter" idx="5"/>
          </p:nvPr>
        </p:nvSpPr>
        <p:spPr/>
        <p:txBody>
          <a:bodyPr/>
          <a:lstStyle/>
          <a:p>
            <a:fld id="{402527C0-2EEE-4A24-877A-E52264EBE2CC}" type="slidenum">
              <a:rPr lang="en-US" smtClean="0"/>
              <a:t>104</a:t>
            </a:fld>
            <a:endParaRPr lang="en-US"/>
          </a:p>
        </p:txBody>
      </p:sp>
    </p:spTree>
    <p:extLst>
      <p:ext uri="{BB962C8B-B14F-4D97-AF65-F5344CB8AC3E}">
        <p14:creationId xmlns:p14="http://schemas.microsoft.com/office/powerpoint/2010/main" val="2978362213"/>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Baseline (10 s) → cue 1 · followed up from the gamma coherence of R ACC – L ACC: amplitudes together. a, the pair on the ring of regions. Then, for each measure: its value for each rat at Baseline (10 s) and Cue 1 on Precon1 (grey) and Precon4 (black), each rat's two windows joined, the mean ± s.e.m. beside them; each rat's change between the days, (Precon4 Cue 1 − Baseline (10 s)) − (Precon1 Cue 1 − Baseline (10 s)), with the mean ± 95% confidence interval; and that mean against 10,000 shuffles in which each session's trials had their two windows swapped at random (grey) and against 10,000 sets of fake trials from the same rats' FP1 and FP2, where there were no cues, each session as many as it had real trials, in random order, losing the windows its real trials lost (blue). The pair was followed up because its own change in coherence had P &lt; 0.05 (uncorrected; no pair survives correction on its own), and of the measures run on it these are the ones whose t-test had P &lt; 0.05: they are leads, chosen by that test. Amplitude cross-correlation peak: FP intervals P = 0.064, rank 9,692 of 10,001; within-session shuffles P = 0.027, rank 9,856 of 10,001; t(7) = 2.89, P = 0.023 (one-sample t-test of each rat's change, uncorrected).</a:t>
            </a:r>
          </a:p>
        </p:txBody>
      </p:sp>
      <p:sp>
        <p:nvSpPr>
          <p:cNvPr id="4" name="Slide Number Placeholder 3"/>
          <p:cNvSpPr>
            <a:spLocks noGrp="1"/>
          </p:cNvSpPr>
          <p:nvPr>
            <p:ph type="sldNum" sz="quarter" idx="5"/>
          </p:nvPr>
        </p:nvSpPr>
        <p:spPr/>
        <p:txBody>
          <a:bodyPr/>
          <a:lstStyle/>
          <a:p>
            <a:fld id="{402527C0-2EEE-4A24-877A-E52264EBE2CC}" type="slidenum">
              <a:rPr lang="en-US" smtClean="0"/>
              <a:t>105</a:t>
            </a:fld>
            <a:endParaRPr lang="en-US"/>
          </a:p>
        </p:txBody>
      </p:sp>
    </p:spTree>
    <p:extLst>
      <p:ext uri="{BB962C8B-B14F-4D97-AF65-F5344CB8AC3E}">
        <p14:creationId xmlns:p14="http://schemas.microsoft.com/office/powerpoint/2010/main" val="3642754168"/>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FP: rank 9692 of 10001, P = 0.064. Shuffles: rank 9856 of 10001, P = 0.027. t(7) = 2.89, P = 0.023; mean change 0.03769.</a:t>
            </a:r>
          </a:p>
        </p:txBody>
      </p:sp>
      <p:sp>
        <p:nvSpPr>
          <p:cNvPr id="4" name="Slide Number Placeholder 3"/>
          <p:cNvSpPr>
            <a:spLocks noGrp="1"/>
          </p:cNvSpPr>
          <p:nvPr>
            <p:ph type="sldNum" sz="quarter" idx="5"/>
          </p:nvPr>
        </p:nvSpPr>
        <p:spPr/>
        <p:txBody>
          <a:bodyPr/>
          <a:lstStyle/>
          <a:p>
            <a:fld id="{402527C0-2EEE-4A24-877A-E52264EBE2CC}" type="slidenum">
              <a:rPr lang="en-US" smtClean="0"/>
              <a:t>106</a:t>
            </a:fld>
            <a:endParaRPr lang="en-US"/>
          </a:p>
        </p:txBody>
      </p:sp>
    </p:spTree>
    <p:extLst>
      <p:ext uri="{BB962C8B-B14F-4D97-AF65-F5344CB8AC3E}">
        <p14:creationId xmlns:p14="http://schemas.microsoft.com/office/powerpoint/2010/main" val="4148355258"/>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Baseline (10 s) → cue 1 · followed up from the gamma coherence of R ACC – L ACC: not volume conduction. a, the pair on the ring of regions. Then, for each measure: its value for each rat at Baseline (10 s) and Cue 1 on Precon1 (grey) and Precon4 (black), each rat's two windows joined, the mean ± s.e.m. beside them; each rat's change between the days, (Precon4 Cue 1 − Baseline (10 s)) − (Precon1 Cue 1 − Baseline (10 s)), with the mean ± 95% confidence interval; and that mean against 10,000 shuffles in which each session's trials had their two windows swapped at random (grey) and against 10,000 sets of fake trials from the same rats' FP1 and FP2, where there were no cues, each session as many as it had real trials, in random order, losing the windows its real trials lost (blue). The pair was followed up because its own change in coherence had P &lt; 0.05 (uncorrected; no pair survives correction on its own), and of the measures run on it these are the ones whose t-test had P &lt; 0.05: they are leads, chosen by that test. Imaginary coherence: FP intervals P = 0.064, rank 9,664 of 10,001; within-session shuffles P = 0.077, rank 9,635 of 10,001; t(7) = 2.78, P = 0.027 (one-sample t-test of each rat's change, uncorrected).</a:t>
            </a:r>
          </a:p>
        </p:txBody>
      </p:sp>
      <p:sp>
        <p:nvSpPr>
          <p:cNvPr id="4" name="Slide Number Placeholder 3"/>
          <p:cNvSpPr>
            <a:spLocks noGrp="1"/>
          </p:cNvSpPr>
          <p:nvPr>
            <p:ph type="sldNum" sz="quarter" idx="5"/>
          </p:nvPr>
        </p:nvSpPr>
        <p:spPr/>
        <p:txBody>
          <a:bodyPr/>
          <a:lstStyle/>
          <a:p>
            <a:fld id="{402527C0-2EEE-4A24-877A-E52264EBE2CC}" type="slidenum">
              <a:rPr lang="en-US" smtClean="0"/>
              <a:t>107</a:t>
            </a:fld>
            <a:endParaRPr lang="en-US"/>
          </a:p>
        </p:txBody>
      </p:sp>
    </p:spTree>
    <p:extLst>
      <p:ext uri="{BB962C8B-B14F-4D97-AF65-F5344CB8AC3E}">
        <p14:creationId xmlns:p14="http://schemas.microsoft.com/office/powerpoint/2010/main" val="196423991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FP: rank 9664 of 10001, P = 0.064. Shuffles: rank 9635 of 10001, P = 0.077. t(7) = 2.78, P = 0.027; mean change 0.01397.</a:t>
            </a:r>
          </a:p>
        </p:txBody>
      </p:sp>
      <p:sp>
        <p:nvSpPr>
          <p:cNvPr id="4" name="Slide Number Placeholder 3"/>
          <p:cNvSpPr>
            <a:spLocks noGrp="1"/>
          </p:cNvSpPr>
          <p:nvPr>
            <p:ph type="sldNum" sz="quarter" idx="5"/>
          </p:nvPr>
        </p:nvSpPr>
        <p:spPr/>
        <p:txBody>
          <a:bodyPr/>
          <a:lstStyle/>
          <a:p>
            <a:fld id="{402527C0-2EEE-4A24-877A-E52264EBE2CC}" type="slidenum">
              <a:rPr lang="en-US" smtClean="0"/>
              <a:t>108</a:t>
            </a:fld>
            <a:endParaRPr lang="en-US"/>
          </a:p>
        </p:txBody>
      </p:sp>
    </p:spTree>
    <p:extLst>
      <p:ext uri="{BB962C8B-B14F-4D97-AF65-F5344CB8AC3E}">
        <p14:creationId xmlns:p14="http://schemas.microsoft.com/office/powerpoint/2010/main" val="201574155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Baseline (10 s) → cue 1 · followed up from the gamma coherence of R ACC – L OFC: theta–gamma coupling, R ACC θ → L OFC γ. a, the pair on the ring of regions (the arrow, the direction measured). Then, for each measure: its value for each rat at Baseline (10 s) and Cue 1 on Precon1 (grey) and Precon4 (black), each rat's values as dots (PAC is never drawn as lines), the mean ± s.e.m. beside them; each rat's change between the days, (Precon4 Cue 1 − Baseline (10 s)) − (Precon1 Cue 1 − Baseline (10 s)), with the mean ± 95% confidence interval; and that mean against 10,000 shuffles in which each session's trials had their two windows swapped at random (grey) and against 10,000 sets of fake trials from the same rats' FP1 and FP2, where there were no cues, each session as many as it had real trials, in random order, losing the windows its real trials lost (blue). The pair was followed up because its own change in coherence had P &lt; 0.05 (uncorrected; no pair survives correction on its own), and of the measures run on it these are the ones whose t-test had P &lt; 0.05: they are leads, chosen by that test. PAC is Tort's modulation index (18 theta-phase bins) of gamma (30–90 Hz) amplitude over theta (5–12 Hz) phase, computed over each trial's whole window (the whole baseline, or the whole cue window), then averaged over the session's trials: a dot is one rat. The roses are the same windows' gamma amplitude in each theta-phase bin, normalised, averaged over the trials and then the rats; the comodulogram is the change in cue effect in narrow theta (2 Hz) and gamma (10 Hz) bands. PAC R ACC θ → L OFC γ: FP intervals P = 0.179, rank 9,126 of 10,001; within-session shuffles P = 0.187, rank 9,004 of 10,001; t(7) = 3.53, P = 0.010 (one-sample t-test of each rat's change, uncorrected).</a:t>
            </a:r>
          </a:p>
        </p:txBody>
      </p:sp>
      <p:sp>
        <p:nvSpPr>
          <p:cNvPr id="4" name="Slide Number Placeholder 3"/>
          <p:cNvSpPr>
            <a:spLocks noGrp="1"/>
          </p:cNvSpPr>
          <p:nvPr>
            <p:ph type="sldNum" sz="quarter" idx="5"/>
          </p:nvPr>
        </p:nvSpPr>
        <p:spPr/>
        <p:txBody>
          <a:bodyPr/>
          <a:lstStyle/>
          <a:p>
            <a:fld id="{402527C0-2EEE-4A24-877A-E52264EBE2CC}" type="slidenum">
              <a:rPr lang="en-US" smtClean="0"/>
              <a:t>109</a:t>
            </a:fld>
            <a:endParaRPr lang="en-US"/>
          </a:p>
        </p:txBody>
      </p:sp>
    </p:spTree>
    <p:extLst>
      <p:ext uri="{BB962C8B-B14F-4D97-AF65-F5344CB8AC3E}">
        <p14:creationId xmlns:p14="http://schemas.microsoft.com/office/powerpoint/2010/main" val="2851472406"/>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FP: rank 9126 of 10001, P = 0.179. Shuffles: rank 9004 of 10001, P = 0.187. t(7) = 3.53, P = 0.010; mean change 9.734e-05.</a:t>
            </a:r>
          </a:p>
        </p:txBody>
      </p:sp>
      <p:sp>
        <p:nvSpPr>
          <p:cNvPr id="4" name="Slide Number Placeholder 3"/>
          <p:cNvSpPr>
            <a:spLocks noGrp="1"/>
          </p:cNvSpPr>
          <p:nvPr>
            <p:ph type="sldNum" sz="quarter" idx="5"/>
          </p:nvPr>
        </p:nvSpPr>
        <p:spPr/>
        <p:txBody>
          <a:bodyPr/>
          <a:lstStyle/>
          <a:p>
            <a:fld id="{402527C0-2EEE-4A24-877A-E52264EBE2CC}" type="slidenum">
              <a:rPr lang="en-US" smtClean="0"/>
              <a:t>110</a:t>
            </a:fld>
            <a:endParaRPr lang="en-US"/>
          </a:p>
        </p:txBody>
      </p:sp>
    </p:spTree>
    <p:extLst>
      <p:ext uri="{BB962C8B-B14F-4D97-AF65-F5344CB8AC3E}">
        <p14:creationId xmlns:p14="http://schemas.microsoft.com/office/powerpoint/2010/main" val="1225231018"/>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Baseline (10 s) → cue 1 · followed up from the gamma coherence of R OFC – L RSC: theta–gamma coupling, L RSC θ → R OFC γ. a, the pair on the ring of regions (the arrow, the direction measured). Then, for each measure: its value for each rat at Baseline (10 s) and Cue 1 on Precon1 (grey) and Precon4 (black), each rat's values as dots (PAC is never drawn as lines), the mean ± s.e.m. beside them; each rat's change between the days, (Precon4 Cue 1 − Baseline (10 s)) − (Precon1 Cue 1 − Baseline (10 s)), with the mean ± 95% confidence interval; and that mean against 10,000 shuffles in which each session's trials had their two windows swapped at random (grey) and against 10,000 sets of fake trials from the same rats' FP1 and FP2, where there were no cues, each session as many as it had real trials, in random order, losing the windows its real trials lost (blue). The pair was followed up because its own change in coherence had P &lt; 0.05 (uncorrected; no pair survives correction on its own), and of the measures run on it these are the ones whose t-test had P &lt; 0.05: they are leads, chosen by that test. PAC is Tort's modulation index (18 theta-phase bins) of gamma (30–90 Hz) amplitude over theta (5–12 Hz) phase, computed over each trial's whole window (the whole baseline, or the whole cue window), then averaged over the session's trials: a dot is one rat. The roses are the same windows' gamma amplitude in each theta-phase bin, normalised, averaged over the trials and then the rats; the comodulogram is the change in cue effect in narrow theta (2 Hz) and gamma (10 Hz) bands. PAC L RSC θ → R OFC γ: FP intervals P = 0.298, rank 8,472 of 10,001; within-session shuffles P = 0.135, rank 9,285 of 10,001; t(6) = 3.13, P = 0.020 (one-sample t-test of each rat's change, uncorrected).</a:t>
            </a:r>
          </a:p>
        </p:txBody>
      </p:sp>
      <p:sp>
        <p:nvSpPr>
          <p:cNvPr id="4" name="Slide Number Placeholder 3"/>
          <p:cNvSpPr>
            <a:spLocks noGrp="1"/>
          </p:cNvSpPr>
          <p:nvPr>
            <p:ph type="sldNum" sz="quarter" idx="5"/>
          </p:nvPr>
        </p:nvSpPr>
        <p:spPr/>
        <p:txBody>
          <a:bodyPr/>
          <a:lstStyle/>
          <a:p>
            <a:fld id="{402527C0-2EEE-4A24-877A-E52264EBE2CC}" type="slidenum">
              <a:rPr lang="en-US" smtClean="0"/>
              <a:t>112</a:t>
            </a:fld>
            <a:endParaRPr lang="en-US"/>
          </a:p>
        </p:txBody>
      </p:sp>
    </p:spTree>
    <p:extLst>
      <p:ext uri="{BB962C8B-B14F-4D97-AF65-F5344CB8AC3E}">
        <p14:creationId xmlns:p14="http://schemas.microsoft.com/office/powerpoint/2010/main" val="494565419"/>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FP: rank 8472 of 10001, P = 0.298. Shuffles: rank 9285 of 10001, P = 0.135. t(6) = 3.13, P = 0.020; mean change 9.774e-05.</a:t>
            </a:r>
          </a:p>
        </p:txBody>
      </p:sp>
      <p:sp>
        <p:nvSpPr>
          <p:cNvPr id="4" name="Slide Number Placeholder 3"/>
          <p:cNvSpPr>
            <a:spLocks noGrp="1"/>
          </p:cNvSpPr>
          <p:nvPr>
            <p:ph type="sldNum" sz="quarter" idx="5"/>
          </p:nvPr>
        </p:nvSpPr>
        <p:spPr/>
        <p:txBody>
          <a:bodyPr/>
          <a:lstStyle/>
          <a:p>
            <a:fld id="{402527C0-2EEE-4A24-877A-E52264EBE2CC}" type="slidenum">
              <a:rPr lang="en-US" smtClean="0"/>
              <a:t>113</a:t>
            </a:fld>
            <a:endParaRPr lang="en-US"/>
          </a:p>
        </p:txBody>
      </p:sp>
    </p:spTree>
    <p:extLst>
      <p:ext uri="{BB962C8B-B14F-4D97-AF65-F5344CB8AC3E}">
        <p14:creationId xmlns:p14="http://schemas.microsoft.com/office/powerpoint/2010/main" val="1053875655"/>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Monolith page, tabs 8 (Joe's data) and 9 (Joe's figures). Questions to Shahriar.</a:t>
            </a:r>
          </a:p>
        </p:txBody>
      </p:sp>
      <p:sp>
        <p:nvSpPr>
          <p:cNvPr id="4" name="Slide Number Placeholder 3"/>
          <p:cNvSpPr>
            <a:spLocks noGrp="1"/>
          </p:cNvSpPr>
          <p:nvPr>
            <p:ph type="sldNum" sz="quarter" idx="5"/>
          </p:nvPr>
        </p:nvSpPr>
        <p:spPr/>
        <p:txBody>
          <a:bodyPr/>
          <a:lstStyle/>
          <a:p>
            <a:fld id="{402527C0-2EEE-4A24-877A-E52264EBE2CC}" type="slidenum">
              <a:rPr lang="en-US" smtClean="0"/>
              <a:t>122</a:t>
            </a:fld>
            <a:endParaRPr lang="en-US"/>
          </a:p>
        </p:txBody>
      </p:sp>
    </p:spTree>
    <p:extLst>
      <p:ext uri="{BB962C8B-B14F-4D97-AF65-F5344CB8AC3E}">
        <p14:creationId xmlns:p14="http://schemas.microsoft.com/office/powerpoint/2010/main" val="2330747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813B7A-2C50-C62F-E7DA-A18AD165037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3AF5499-E84D-C0B1-3E29-DE832934E03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1121734-49DF-B0DA-80DC-464902122C58}"/>
              </a:ext>
            </a:extLst>
          </p:cNvPr>
          <p:cNvSpPr>
            <a:spLocks noGrp="1"/>
          </p:cNvSpPr>
          <p:nvPr>
            <p:ph type="dt" sz="half" idx="10"/>
          </p:nvPr>
        </p:nvSpPr>
        <p:spPr/>
        <p:txBody>
          <a:bodyPr/>
          <a:lstStyle/>
          <a:p>
            <a:fld id="{D776E079-BAB4-49AB-B335-AD3F399CC0C4}" type="datetimeFigureOut">
              <a:rPr lang="en-US" smtClean="0"/>
              <a:t>10/23/2026</a:t>
            </a:fld>
            <a:endParaRPr lang="en-US"/>
          </a:p>
        </p:txBody>
      </p:sp>
      <p:sp>
        <p:nvSpPr>
          <p:cNvPr id="5" name="Footer Placeholder 4">
            <a:extLst>
              <a:ext uri="{FF2B5EF4-FFF2-40B4-BE49-F238E27FC236}">
                <a16:creationId xmlns:a16="http://schemas.microsoft.com/office/drawing/2014/main" id="{6592524F-D38F-C73A-293A-F7902A48A8D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8CC25C5-0557-7A48-9543-A993195238F4}"/>
              </a:ext>
            </a:extLst>
          </p:cNvPr>
          <p:cNvSpPr>
            <a:spLocks noGrp="1"/>
          </p:cNvSpPr>
          <p:nvPr>
            <p:ph type="sldNum" sz="quarter" idx="12"/>
          </p:nvPr>
        </p:nvSpPr>
        <p:spPr/>
        <p:txBody>
          <a:bodyPr/>
          <a:lstStyle/>
          <a:p>
            <a:fld id="{712B2FE9-749F-4F18-9533-C4190A04D5AD}" type="slidenum">
              <a:rPr lang="en-US" smtClean="0"/>
              <a:t>‹#›</a:t>
            </a:fld>
            <a:endParaRPr lang="en-US"/>
          </a:p>
        </p:txBody>
      </p:sp>
    </p:spTree>
    <p:extLst>
      <p:ext uri="{BB962C8B-B14F-4D97-AF65-F5344CB8AC3E}">
        <p14:creationId xmlns:p14="http://schemas.microsoft.com/office/powerpoint/2010/main" val="37842747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4BE0FE-8846-5C6B-52B2-2EFA61D24D0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1FA55CA-8232-9B34-BD73-DAC6BB04922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C4CEF84-6FC7-54DE-EEC4-07A4F4394EDE}"/>
              </a:ext>
            </a:extLst>
          </p:cNvPr>
          <p:cNvSpPr>
            <a:spLocks noGrp="1"/>
          </p:cNvSpPr>
          <p:nvPr>
            <p:ph type="dt" sz="half" idx="10"/>
          </p:nvPr>
        </p:nvSpPr>
        <p:spPr/>
        <p:txBody>
          <a:bodyPr/>
          <a:lstStyle/>
          <a:p>
            <a:fld id="{D776E079-BAB4-49AB-B335-AD3F399CC0C4}" type="datetimeFigureOut">
              <a:rPr lang="en-US" smtClean="0"/>
              <a:t>10/23/2026</a:t>
            </a:fld>
            <a:endParaRPr lang="en-US"/>
          </a:p>
        </p:txBody>
      </p:sp>
      <p:sp>
        <p:nvSpPr>
          <p:cNvPr id="5" name="Footer Placeholder 4">
            <a:extLst>
              <a:ext uri="{FF2B5EF4-FFF2-40B4-BE49-F238E27FC236}">
                <a16:creationId xmlns:a16="http://schemas.microsoft.com/office/drawing/2014/main" id="{88C9760D-8884-9857-FA19-45E157AE66E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ECD765D-951D-886A-E005-70FB063DF4DC}"/>
              </a:ext>
            </a:extLst>
          </p:cNvPr>
          <p:cNvSpPr>
            <a:spLocks noGrp="1"/>
          </p:cNvSpPr>
          <p:nvPr>
            <p:ph type="sldNum" sz="quarter" idx="12"/>
          </p:nvPr>
        </p:nvSpPr>
        <p:spPr/>
        <p:txBody>
          <a:bodyPr/>
          <a:lstStyle/>
          <a:p>
            <a:fld id="{712B2FE9-749F-4F18-9533-C4190A04D5AD}" type="slidenum">
              <a:rPr lang="en-US" smtClean="0"/>
              <a:t>‹#›</a:t>
            </a:fld>
            <a:endParaRPr lang="en-US"/>
          </a:p>
        </p:txBody>
      </p:sp>
    </p:spTree>
    <p:extLst>
      <p:ext uri="{BB962C8B-B14F-4D97-AF65-F5344CB8AC3E}">
        <p14:creationId xmlns:p14="http://schemas.microsoft.com/office/powerpoint/2010/main" val="38298668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C73736-E7D0-E2C8-0BB0-1BC03B08A54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6256E8C-36B4-BDE3-3884-7BAB6C37DCA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98E0B0C-1DF1-BE6D-D9C0-C9FEE25E4088}"/>
              </a:ext>
            </a:extLst>
          </p:cNvPr>
          <p:cNvSpPr>
            <a:spLocks noGrp="1"/>
          </p:cNvSpPr>
          <p:nvPr>
            <p:ph type="dt" sz="half" idx="10"/>
          </p:nvPr>
        </p:nvSpPr>
        <p:spPr/>
        <p:txBody>
          <a:bodyPr/>
          <a:lstStyle/>
          <a:p>
            <a:fld id="{D776E079-BAB4-49AB-B335-AD3F399CC0C4}" type="datetimeFigureOut">
              <a:rPr lang="en-US" smtClean="0"/>
              <a:t>10/23/2026</a:t>
            </a:fld>
            <a:endParaRPr lang="en-US"/>
          </a:p>
        </p:txBody>
      </p:sp>
      <p:sp>
        <p:nvSpPr>
          <p:cNvPr id="5" name="Footer Placeholder 4">
            <a:extLst>
              <a:ext uri="{FF2B5EF4-FFF2-40B4-BE49-F238E27FC236}">
                <a16:creationId xmlns:a16="http://schemas.microsoft.com/office/drawing/2014/main" id="{AE3F7D8A-A586-818A-0276-D28746D3CB3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D85AD40-F3F7-6843-3CA6-7C40757AFA9E}"/>
              </a:ext>
            </a:extLst>
          </p:cNvPr>
          <p:cNvSpPr>
            <a:spLocks noGrp="1"/>
          </p:cNvSpPr>
          <p:nvPr>
            <p:ph type="sldNum" sz="quarter" idx="12"/>
          </p:nvPr>
        </p:nvSpPr>
        <p:spPr/>
        <p:txBody>
          <a:bodyPr/>
          <a:lstStyle/>
          <a:p>
            <a:fld id="{712B2FE9-749F-4F18-9533-C4190A04D5AD}" type="slidenum">
              <a:rPr lang="en-US" smtClean="0"/>
              <a:t>‹#›</a:t>
            </a:fld>
            <a:endParaRPr lang="en-US"/>
          </a:p>
        </p:txBody>
      </p:sp>
    </p:spTree>
    <p:extLst>
      <p:ext uri="{BB962C8B-B14F-4D97-AF65-F5344CB8AC3E}">
        <p14:creationId xmlns:p14="http://schemas.microsoft.com/office/powerpoint/2010/main" val="35517990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E03C3D-B9D1-56A5-3156-B8E178AF3F3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96767BF-C49C-1CA7-31BE-06355718909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BF4C4CB-5F82-BE8C-32EF-AF74650C4AB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75EB6E8-4381-BC25-7AF9-29A8FFBEDD04}"/>
              </a:ext>
            </a:extLst>
          </p:cNvPr>
          <p:cNvSpPr>
            <a:spLocks noGrp="1"/>
          </p:cNvSpPr>
          <p:nvPr>
            <p:ph type="dt" sz="half" idx="10"/>
          </p:nvPr>
        </p:nvSpPr>
        <p:spPr/>
        <p:txBody>
          <a:bodyPr/>
          <a:lstStyle/>
          <a:p>
            <a:fld id="{D776E079-BAB4-49AB-B335-AD3F399CC0C4}" type="datetimeFigureOut">
              <a:rPr lang="en-US" smtClean="0"/>
              <a:t>10/23/2026</a:t>
            </a:fld>
            <a:endParaRPr lang="en-US"/>
          </a:p>
        </p:txBody>
      </p:sp>
      <p:sp>
        <p:nvSpPr>
          <p:cNvPr id="6" name="Footer Placeholder 5">
            <a:extLst>
              <a:ext uri="{FF2B5EF4-FFF2-40B4-BE49-F238E27FC236}">
                <a16:creationId xmlns:a16="http://schemas.microsoft.com/office/drawing/2014/main" id="{87DAF748-783B-142F-9853-74D36436138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84FCCA1-DA01-8223-D8F1-9602B2C38272}"/>
              </a:ext>
            </a:extLst>
          </p:cNvPr>
          <p:cNvSpPr>
            <a:spLocks noGrp="1"/>
          </p:cNvSpPr>
          <p:nvPr>
            <p:ph type="sldNum" sz="quarter" idx="12"/>
          </p:nvPr>
        </p:nvSpPr>
        <p:spPr/>
        <p:txBody>
          <a:bodyPr/>
          <a:lstStyle/>
          <a:p>
            <a:fld id="{712B2FE9-749F-4F18-9533-C4190A04D5AD}" type="slidenum">
              <a:rPr lang="en-US" smtClean="0"/>
              <a:t>‹#›</a:t>
            </a:fld>
            <a:endParaRPr lang="en-US"/>
          </a:p>
        </p:txBody>
      </p:sp>
    </p:spTree>
    <p:extLst>
      <p:ext uri="{BB962C8B-B14F-4D97-AF65-F5344CB8AC3E}">
        <p14:creationId xmlns:p14="http://schemas.microsoft.com/office/powerpoint/2010/main" val="23057756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E94E02-BD41-9E4E-F6ED-E473CC0B027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78EC355-9478-B4BA-0DBA-7FCFEE3E6C8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1CD6F91-3AAB-C294-743F-3A509C8A244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2BB88BB-FC73-862F-229E-8E1BBC01EF7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6E8E2B3-0263-C1D7-D2C4-A934A883E6E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C727C96-99CD-76C7-2230-1A1F82477C2D}"/>
              </a:ext>
            </a:extLst>
          </p:cNvPr>
          <p:cNvSpPr>
            <a:spLocks noGrp="1"/>
          </p:cNvSpPr>
          <p:nvPr>
            <p:ph type="dt" sz="half" idx="10"/>
          </p:nvPr>
        </p:nvSpPr>
        <p:spPr/>
        <p:txBody>
          <a:bodyPr/>
          <a:lstStyle/>
          <a:p>
            <a:fld id="{D776E079-BAB4-49AB-B335-AD3F399CC0C4}" type="datetimeFigureOut">
              <a:rPr lang="en-US" smtClean="0"/>
              <a:t>10/23/2026</a:t>
            </a:fld>
            <a:endParaRPr lang="en-US"/>
          </a:p>
        </p:txBody>
      </p:sp>
      <p:sp>
        <p:nvSpPr>
          <p:cNvPr id="8" name="Footer Placeholder 7">
            <a:extLst>
              <a:ext uri="{FF2B5EF4-FFF2-40B4-BE49-F238E27FC236}">
                <a16:creationId xmlns:a16="http://schemas.microsoft.com/office/drawing/2014/main" id="{9ECF7C9B-9D01-D325-EB6E-AC1EB2EE02F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2CD4A68-8F03-288F-A7F4-79B3BB4AF57C}"/>
              </a:ext>
            </a:extLst>
          </p:cNvPr>
          <p:cNvSpPr>
            <a:spLocks noGrp="1"/>
          </p:cNvSpPr>
          <p:nvPr>
            <p:ph type="sldNum" sz="quarter" idx="12"/>
          </p:nvPr>
        </p:nvSpPr>
        <p:spPr/>
        <p:txBody>
          <a:bodyPr/>
          <a:lstStyle/>
          <a:p>
            <a:fld id="{712B2FE9-749F-4F18-9533-C4190A04D5AD}" type="slidenum">
              <a:rPr lang="en-US" smtClean="0"/>
              <a:t>‹#›</a:t>
            </a:fld>
            <a:endParaRPr lang="en-US"/>
          </a:p>
        </p:txBody>
      </p:sp>
    </p:spTree>
    <p:extLst>
      <p:ext uri="{BB962C8B-B14F-4D97-AF65-F5344CB8AC3E}">
        <p14:creationId xmlns:p14="http://schemas.microsoft.com/office/powerpoint/2010/main" val="9866746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851715-EC87-EB35-E075-B13C31614D3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31D786E-75B9-93DF-73C7-FEBAED18C136}"/>
              </a:ext>
            </a:extLst>
          </p:cNvPr>
          <p:cNvSpPr>
            <a:spLocks noGrp="1"/>
          </p:cNvSpPr>
          <p:nvPr>
            <p:ph type="dt" sz="half" idx="10"/>
          </p:nvPr>
        </p:nvSpPr>
        <p:spPr/>
        <p:txBody>
          <a:bodyPr/>
          <a:lstStyle/>
          <a:p>
            <a:fld id="{D776E079-BAB4-49AB-B335-AD3F399CC0C4}" type="datetimeFigureOut">
              <a:rPr lang="en-US" smtClean="0"/>
              <a:t>10/23/2026</a:t>
            </a:fld>
            <a:endParaRPr lang="en-US"/>
          </a:p>
        </p:txBody>
      </p:sp>
      <p:sp>
        <p:nvSpPr>
          <p:cNvPr id="4" name="Footer Placeholder 3">
            <a:extLst>
              <a:ext uri="{FF2B5EF4-FFF2-40B4-BE49-F238E27FC236}">
                <a16:creationId xmlns:a16="http://schemas.microsoft.com/office/drawing/2014/main" id="{4E3E7C33-2A6A-924E-772A-C8D17CA2370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391B7BB-5A32-1106-4F02-D61789B3A76B}"/>
              </a:ext>
            </a:extLst>
          </p:cNvPr>
          <p:cNvSpPr>
            <a:spLocks noGrp="1"/>
          </p:cNvSpPr>
          <p:nvPr>
            <p:ph type="sldNum" sz="quarter" idx="12"/>
          </p:nvPr>
        </p:nvSpPr>
        <p:spPr/>
        <p:txBody>
          <a:bodyPr/>
          <a:lstStyle/>
          <a:p>
            <a:fld id="{712B2FE9-749F-4F18-9533-C4190A04D5AD}" type="slidenum">
              <a:rPr lang="en-US" smtClean="0"/>
              <a:t>‹#›</a:t>
            </a:fld>
            <a:endParaRPr lang="en-US"/>
          </a:p>
        </p:txBody>
      </p:sp>
    </p:spTree>
    <p:extLst>
      <p:ext uri="{BB962C8B-B14F-4D97-AF65-F5344CB8AC3E}">
        <p14:creationId xmlns:p14="http://schemas.microsoft.com/office/powerpoint/2010/main" val="35288032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3D1674F-6A6F-B1D9-5F77-751BA01730AC}"/>
              </a:ext>
            </a:extLst>
          </p:cNvPr>
          <p:cNvSpPr>
            <a:spLocks noGrp="1"/>
          </p:cNvSpPr>
          <p:nvPr>
            <p:ph type="dt" sz="half" idx="10"/>
          </p:nvPr>
        </p:nvSpPr>
        <p:spPr/>
        <p:txBody>
          <a:bodyPr/>
          <a:lstStyle/>
          <a:p>
            <a:fld id="{D776E079-BAB4-49AB-B335-AD3F399CC0C4}" type="datetimeFigureOut">
              <a:rPr lang="en-US" smtClean="0"/>
              <a:t>10/23/2026</a:t>
            </a:fld>
            <a:endParaRPr lang="en-US"/>
          </a:p>
        </p:txBody>
      </p:sp>
      <p:sp>
        <p:nvSpPr>
          <p:cNvPr id="3" name="Footer Placeholder 2">
            <a:extLst>
              <a:ext uri="{FF2B5EF4-FFF2-40B4-BE49-F238E27FC236}">
                <a16:creationId xmlns:a16="http://schemas.microsoft.com/office/drawing/2014/main" id="{A56DA827-D6B6-769E-CF77-AE0097202BF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76E9D58-FC36-0D7A-EE51-E219AD0403AC}"/>
              </a:ext>
            </a:extLst>
          </p:cNvPr>
          <p:cNvSpPr>
            <a:spLocks noGrp="1"/>
          </p:cNvSpPr>
          <p:nvPr>
            <p:ph type="sldNum" sz="quarter" idx="12"/>
          </p:nvPr>
        </p:nvSpPr>
        <p:spPr/>
        <p:txBody>
          <a:bodyPr/>
          <a:lstStyle/>
          <a:p>
            <a:fld id="{712B2FE9-749F-4F18-9533-C4190A04D5AD}" type="slidenum">
              <a:rPr lang="en-US" smtClean="0"/>
              <a:t>‹#›</a:t>
            </a:fld>
            <a:endParaRPr lang="en-US"/>
          </a:p>
        </p:txBody>
      </p:sp>
    </p:spTree>
    <p:extLst>
      <p:ext uri="{BB962C8B-B14F-4D97-AF65-F5344CB8AC3E}">
        <p14:creationId xmlns:p14="http://schemas.microsoft.com/office/powerpoint/2010/main" val="606343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DE746F-E387-ED6C-0D2A-50A2627C5ED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E8A0F36-A6F3-2071-1601-2F3F92027BF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0CA43FC-F73F-358F-6CCE-F8D4E0A3D37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FCE29F8-ABE1-54C0-14EC-17FA3A848968}"/>
              </a:ext>
            </a:extLst>
          </p:cNvPr>
          <p:cNvSpPr>
            <a:spLocks noGrp="1"/>
          </p:cNvSpPr>
          <p:nvPr>
            <p:ph type="dt" sz="half" idx="10"/>
          </p:nvPr>
        </p:nvSpPr>
        <p:spPr/>
        <p:txBody>
          <a:bodyPr/>
          <a:lstStyle/>
          <a:p>
            <a:fld id="{D776E079-BAB4-49AB-B335-AD3F399CC0C4}" type="datetimeFigureOut">
              <a:rPr lang="en-US" smtClean="0"/>
              <a:t>10/23/2026</a:t>
            </a:fld>
            <a:endParaRPr lang="en-US"/>
          </a:p>
        </p:txBody>
      </p:sp>
      <p:sp>
        <p:nvSpPr>
          <p:cNvPr id="6" name="Footer Placeholder 5">
            <a:extLst>
              <a:ext uri="{FF2B5EF4-FFF2-40B4-BE49-F238E27FC236}">
                <a16:creationId xmlns:a16="http://schemas.microsoft.com/office/drawing/2014/main" id="{2B9D2E99-B758-6BCB-6CA2-3AE8C4771BC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6F59713-D2EE-473E-6D63-70A7C7731281}"/>
              </a:ext>
            </a:extLst>
          </p:cNvPr>
          <p:cNvSpPr>
            <a:spLocks noGrp="1"/>
          </p:cNvSpPr>
          <p:nvPr>
            <p:ph type="sldNum" sz="quarter" idx="12"/>
          </p:nvPr>
        </p:nvSpPr>
        <p:spPr/>
        <p:txBody>
          <a:bodyPr/>
          <a:lstStyle/>
          <a:p>
            <a:fld id="{712B2FE9-749F-4F18-9533-C4190A04D5AD}" type="slidenum">
              <a:rPr lang="en-US" smtClean="0"/>
              <a:t>‹#›</a:t>
            </a:fld>
            <a:endParaRPr lang="en-US"/>
          </a:p>
        </p:txBody>
      </p:sp>
    </p:spTree>
    <p:extLst>
      <p:ext uri="{BB962C8B-B14F-4D97-AF65-F5344CB8AC3E}">
        <p14:creationId xmlns:p14="http://schemas.microsoft.com/office/powerpoint/2010/main" val="5188957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109DCB-478A-8F02-3461-98E3F84593D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DD9C259-B1C7-0B9B-B833-E49F3295365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E594765-592B-C980-8B3D-A9542B5D073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B897576-7F12-2F61-D2EF-CAB561EBC0B5}"/>
              </a:ext>
            </a:extLst>
          </p:cNvPr>
          <p:cNvSpPr>
            <a:spLocks noGrp="1"/>
          </p:cNvSpPr>
          <p:nvPr>
            <p:ph type="dt" sz="half" idx="10"/>
          </p:nvPr>
        </p:nvSpPr>
        <p:spPr/>
        <p:txBody>
          <a:bodyPr/>
          <a:lstStyle/>
          <a:p>
            <a:fld id="{D776E079-BAB4-49AB-B335-AD3F399CC0C4}" type="datetimeFigureOut">
              <a:rPr lang="en-US" smtClean="0"/>
              <a:t>10/23/2026</a:t>
            </a:fld>
            <a:endParaRPr lang="en-US"/>
          </a:p>
        </p:txBody>
      </p:sp>
      <p:sp>
        <p:nvSpPr>
          <p:cNvPr id="6" name="Footer Placeholder 5">
            <a:extLst>
              <a:ext uri="{FF2B5EF4-FFF2-40B4-BE49-F238E27FC236}">
                <a16:creationId xmlns:a16="http://schemas.microsoft.com/office/drawing/2014/main" id="{0F59CDDA-41E6-FC69-9C12-8FE99EDE85B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0A3C29E-536C-6528-3EBD-940605F50E9D}"/>
              </a:ext>
            </a:extLst>
          </p:cNvPr>
          <p:cNvSpPr>
            <a:spLocks noGrp="1"/>
          </p:cNvSpPr>
          <p:nvPr>
            <p:ph type="sldNum" sz="quarter" idx="12"/>
          </p:nvPr>
        </p:nvSpPr>
        <p:spPr/>
        <p:txBody>
          <a:bodyPr/>
          <a:lstStyle/>
          <a:p>
            <a:fld id="{712B2FE9-749F-4F18-9533-C4190A04D5AD}" type="slidenum">
              <a:rPr lang="en-US" smtClean="0"/>
              <a:t>‹#›</a:t>
            </a:fld>
            <a:endParaRPr lang="en-US"/>
          </a:p>
        </p:txBody>
      </p:sp>
    </p:spTree>
    <p:extLst>
      <p:ext uri="{BB962C8B-B14F-4D97-AF65-F5344CB8AC3E}">
        <p14:creationId xmlns:p14="http://schemas.microsoft.com/office/powerpoint/2010/main" val="12252223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5BC35D-7B46-B148-D31F-5266EAE6625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87EFE4F-5DFF-79A0-6A4D-6A970659385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6268C05-520A-AD4D-29D0-9DBA4C72BEF6}"/>
              </a:ext>
            </a:extLst>
          </p:cNvPr>
          <p:cNvSpPr>
            <a:spLocks noGrp="1"/>
          </p:cNvSpPr>
          <p:nvPr>
            <p:ph type="dt" sz="half" idx="10"/>
          </p:nvPr>
        </p:nvSpPr>
        <p:spPr/>
        <p:txBody>
          <a:bodyPr/>
          <a:lstStyle/>
          <a:p>
            <a:fld id="{D776E079-BAB4-49AB-B335-AD3F399CC0C4}" type="datetimeFigureOut">
              <a:rPr lang="en-US" smtClean="0"/>
              <a:t>10/23/2026</a:t>
            </a:fld>
            <a:endParaRPr lang="en-US"/>
          </a:p>
        </p:txBody>
      </p:sp>
      <p:sp>
        <p:nvSpPr>
          <p:cNvPr id="5" name="Footer Placeholder 4">
            <a:extLst>
              <a:ext uri="{FF2B5EF4-FFF2-40B4-BE49-F238E27FC236}">
                <a16:creationId xmlns:a16="http://schemas.microsoft.com/office/drawing/2014/main" id="{F29DE215-2D7B-BA98-ADAA-EA4FED5774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979B3B2-EBAE-A321-F60A-2DA6F32997B5}"/>
              </a:ext>
            </a:extLst>
          </p:cNvPr>
          <p:cNvSpPr>
            <a:spLocks noGrp="1"/>
          </p:cNvSpPr>
          <p:nvPr>
            <p:ph type="sldNum" sz="quarter" idx="12"/>
          </p:nvPr>
        </p:nvSpPr>
        <p:spPr/>
        <p:txBody>
          <a:bodyPr/>
          <a:lstStyle/>
          <a:p>
            <a:fld id="{712B2FE9-749F-4F18-9533-C4190A04D5AD}" type="slidenum">
              <a:rPr lang="en-US" smtClean="0"/>
              <a:t>‹#›</a:t>
            </a:fld>
            <a:endParaRPr lang="en-US"/>
          </a:p>
        </p:txBody>
      </p:sp>
    </p:spTree>
    <p:extLst>
      <p:ext uri="{BB962C8B-B14F-4D97-AF65-F5344CB8AC3E}">
        <p14:creationId xmlns:p14="http://schemas.microsoft.com/office/powerpoint/2010/main" val="37847189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F71AB2B-A8B8-56E2-D052-E4318C27F36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A925DAA-A46A-2ECB-C9D4-0A787042996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8B2090D-E9DB-CD67-8A7F-500BA0FDE751}"/>
              </a:ext>
            </a:extLst>
          </p:cNvPr>
          <p:cNvSpPr>
            <a:spLocks noGrp="1"/>
          </p:cNvSpPr>
          <p:nvPr>
            <p:ph type="dt" sz="half" idx="10"/>
          </p:nvPr>
        </p:nvSpPr>
        <p:spPr/>
        <p:txBody>
          <a:bodyPr/>
          <a:lstStyle/>
          <a:p>
            <a:fld id="{D776E079-BAB4-49AB-B335-AD3F399CC0C4}" type="datetimeFigureOut">
              <a:rPr lang="en-US" smtClean="0"/>
              <a:t>10/23/2026</a:t>
            </a:fld>
            <a:endParaRPr lang="en-US"/>
          </a:p>
        </p:txBody>
      </p:sp>
      <p:sp>
        <p:nvSpPr>
          <p:cNvPr id="5" name="Footer Placeholder 4">
            <a:extLst>
              <a:ext uri="{FF2B5EF4-FFF2-40B4-BE49-F238E27FC236}">
                <a16:creationId xmlns:a16="http://schemas.microsoft.com/office/drawing/2014/main" id="{45521A18-9CB8-271D-E347-DDACD38AF82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CBFABB6-6C9E-EB4E-0322-B7B746A2DA1E}"/>
              </a:ext>
            </a:extLst>
          </p:cNvPr>
          <p:cNvSpPr>
            <a:spLocks noGrp="1"/>
          </p:cNvSpPr>
          <p:nvPr>
            <p:ph type="sldNum" sz="quarter" idx="12"/>
          </p:nvPr>
        </p:nvSpPr>
        <p:spPr/>
        <p:txBody>
          <a:bodyPr/>
          <a:lstStyle/>
          <a:p>
            <a:fld id="{712B2FE9-749F-4F18-9533-C4190A04D5AD}" type="slidenum">
              <a:rPr lang="en-US" smtClean="0"/>
              <a:t>‹#›</a:t>
            </a:fld>
            <a:endParaRPr lang="en-US"/>
          </a:p>
        </p:txBody>
      </p:sp>
    </p:spTree>
    <p:extLst>
      <p:ext uri="{BB962C8B-B14F-4D97-AF65-F5344CB8AC3E}">
        <p14:creationId xmlns:p14="http://schemas.microsoft.com/office/powerpoint/2010/main" val="36895768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E947161-42B8-657E-FCDD-8BCA06A2881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1E809DC-A73B-33AE-56E2-05EC41163B6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29A4E5E-6A2A-1A75-352E-9A0D8AD30F0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776E079-BAB4-49AB-B335-AD3F399CC0C4}" type="datetimeFigureOut">
              <a:rPr lang="en-US" smtClean="0"/>
              <a:t>10/23/2026</a:t>
            </a:fld>
            <a:endParaRPr lang="en-US"/>
          </a:p>
        </p:txBody>
      </p:sp>
      <p:sp>
        <p:nvSpPr>
          <p:cNvPr id="5" name="Footer Placeholder 4">
            <a:extLst>
              <a:ext uri="{FF2B5EF4-FFF2-40B4-BE49-F238E27FC236}">
                <a16:creationId xmlns:a16="http://schemas.microsoft.com/office/drawing/2014/main" id="{98C3B7A7-BCD4-47E2-AFC4-D0E9776720F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407079D3-CEB7-F0AF-BA45-0D93259678F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12B2FE9-749F-4F18-9533-C4190A04D5AD}" type="slidenum">
              <a:rPr lang="en-US" smtClean="0"/>
              <a:t>‹#›</a:t>
            </a:fld>
            <a:endParaRPr lang="en-US"/>
          </a:p>
        </p:txBody>
      </p:sp>
    </p:spTree>
    <p:extLst>
      <p:ext uri="{BB962C8B-B14F-4D97-AF65-F5344CB8AC3E}">
        <p14:creationId xmlns:p14="http://schemas.microsoft.com/office/powerpoint/2010/main" val="130279704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49.xml"/><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50.xml"/><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51.xml"/><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52.xml"/><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53.xml"/><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54.xml"/><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55.xml"/><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56.xml"/><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57.xml"/><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58.xml"/><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59.xml"/><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60.xml"/><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61.xml"/><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62.xml"/><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63.xml"/><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64.xml"/><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65.xml"/><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66.xml"/><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67.xml"/><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68.xml"/><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69.xml"/><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70.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tage">
            <a:extLst>
              <a:ext uri="{FF2B5EF4-FFF2-40B4-BE49-F238E27FC236}">
                <a16:creationId xmlns:a16="http://schemas.microsoft.com/office/drawing/2014/main" id="{AF8BFC1B-1629-E6C2-5C95-BA130505FB8D}"/>
              </a:ext>
            </a:extLst>
          </p:cNvPr>
          <p:cNvSpPr/>
          <p:nvPr/>
        </p:nvSpPr>
        <p:spPr>
          <a:xfrm>
            <a:off x="0" y="0"/>
            <a:ext cx="12192000" cy="6858000"/>
          </a:xfrm>
          <a:prstGeom prst="rect">
            <a:avLst/>
          </a:prstGeom>
          <a:solidFill>
            <a:srgbClr val="ECEC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D1">
            <a:extLst>
              <a:ext uri="{FF2B5EF4-FFF2-40B4-BE49-F238E27FC236}">
                <a16:creationId xmlns:a16="http://schemas.microsoft.com/office/drawing/2014/main" id="{88A65DA8-2F61-4C4F-784D-1816D7DDE67E}"/>
              </a:ext>
            </a:extLst>
          </p:cNvPr>
          <p:cNvSpPr/>
          <p:nvPr/>
        </p:nvSpPr>
        <p:spPr>
          <a:xfrm>
            <a:off x="0" y="685800"/>
            <a:ext cx="7670800" cy="635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2">
            <a:extLst>
              <a:ext uri="{FF2B5EF4-FFF2-40B4-BE49-F238E27FC236}">
                <a16:creationId xmlns:a16="http://schemas.microsoft.com/office/drawing/2014/main" id="{2D6AB493-3914-35BD-02A1-2646043B945C}"/>
              </a:ext>
            </a:extLst>
          </p:cNvPr>
          <p:cNvSpPr/>
          <p:nvPr/>
        </p:nvSpPr>
        <p:spPr>
          <a:xfrm>
            <a:off x="0" y="6858000"/>
            <a:ext cx="7670800" cy="635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D3">
            <a:extLst>
              <a:ext uri="{FF2B5EF4-FFF2-40B4-BE49-F238E27FC236}">
                <a16:creationId xmlns:a16="http://schemas.microsoft.com/office/drawing/2014/main" id="{6694AE60-2913-8BA3-AE92-9CE988413848}"/>
              </a:ext>
            </a:extLst>
          </p:cNvPr>
          <p:cNvSpPr/>
          <p:nvPr/>
        </p:nvSpPr>
        <p:spPr>
          <a:xfrm>
            <a:off x="0" y="685800"/>
            <a:ext cx="6350" cy="617220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4">
            <a:extLst>
              <a:ext uri="{FF2B5EF4-FFF2-40B4-BE49-F238E27FC236}">
                <a16:creationId xmlns:a16="http://schemas.microsoft.com/office/drawing/2014/main" id="{6DEC8396-6F2D-4F11-CA5C-B815A9C3CDD9}"/>
              </a:ext>
            </a:extLst>
          </p:cNvPr>
          <p:cNvSpPr/>
          <p:nvPr/>
        </p:nvSpPr>
        <p:spPr>
          <a:xfrm>
            <a:off x="7670800" y="685800"/>
            <a:ext cx="6350" cy="617220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ail">
            <a:extLst>
              <a:ext uri="{FF2B5EF4-FFF2-40B4-BE49-F238E27FC236}">
                <a16:creationId xmlns:a16="http://schemas.microsoft.com/office/drawing/2014/main" id="{85AA80B6-24B8-9726-46C5-CBC140E02A6E}"/>
              </a:ext>
            </a:extLst>
          </p:cNvPr>
          <p:cNvSpPr/>
          <p:nvPr/>
        </p:nvSpPr>
        <p:spPr>
          <a:xfrm>
            <a:off x="7670800" y="685800"/>
            <a:ext cx="4521200" cy="61722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N1">
            <a:extLst>
              <a:ext uri="{FF2B5EF4-FFF2-40B4-BE49-F238E27FC236}">
                <a16:creationId xmlns:a16="http://schemas.microsoft.com/office/drawing/2014/main" id="{873BBC26-2E44-81A0-5ECC-007676623081}"/>
              </a:ext>
            </a:extLst>
          </p:cNvPr>
          <p:cNvSpPr/>
          <p:nvPr/>
        </p:nvSpPr>
        <p:spPr>
          <a:xfrm>
            <a:off x="12573000" y="838200"/>
            <a:ext cx="4241800" cy="107899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One idea per slide. The blue box is where to look; the black boxes say what it means.</a:t>
            </a:r>
          </a:p>
        </p:txBody>
      </p:sp>
      <p:sp>
        <p:nvSpPr>
          <p:cNvPr id="9" name="!!T-BG">
            <a:extLst>
              <a:ext uri="{FF2B5EF4-FFF2-40B4-BE49-F238E27FC236}">
                <a16:creationId xmlns:a16="http://schemas.microsoft.com/office/drawing/2014/main" id="{F6B614CC-87B9-3B1E-9CDB-5CE4B7220E4D}"/>
              </a:ext>
            </a:extLst>
          </p:cNvPr>
          <p:cNvSpPr/>
          <p:nvPr/>
        </p:nvSpPr>
        <p:spPr>
          <a:xfrm>
            <a:off x="1905000" y="1905000"/>
            <a:ext cx="8382000" cy="3048000"/>
          </a:xfrm>
          <a:prstGeom prst="snip2DiagRect">
            <a:avLst>
              <a:gd name="adj1" fmla="val 0"/>
              <a:gd name="adj2" fmla="val 16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
            <a:extLst>
              <a:ext uri="{FF2B5EF4-FFF2-40B4-BE49-F238E27FC236}">
                <a16:creationId xmlns:a16="http://schemas.microsoft.com/office/drawing/2014/main" id="{FE624A1F-BB77-04A4-F9BE-DE8BEC83D648}"/>
              </a:ext>
            </a:extLst>
          </p:cNvPr>
          <p:cNvSpPr txBox="1"/>
          <p:nvPr/>
        </p:nvSpPr>
        <p:spPr>
          <a:xfrm>
            <a:off x="2286000" y="2032000"/>
            <a:ext cx="7620000" cy="2794000"/>
          </a:xfrm>
          <a:prstGeom prst="rect">
            <a:avLst/>
          </a:prstGeom>
          <a:noFill/>
        </p:spPr>
        <p:txBody>
          <a:bodyPr vert="horz" wrap="square" lIns="76200" tIns="50800" rIns="76200" bIns="50800" rtlCol="0" anchor="ctr">
            <a:noAutofit/>
          </a:bodyPr>
          <a:lstStyle/>
          <a:p>
            <a:pPr algn="ctr">
              <a:lnSpc>
                <a:spcPct val="95000"/>
              </a:lnSpc>
            </a:pPr>
            <a:r>
              <a:rPr lang="en-US" sz="4000" b="1">
                <a:solidFill>
                  <a:srgbClr val="FFFFFF"/>
                </a:solidFill>
                <a:latin typeface="Aptos Display" panose="020B0004020202020204" pitchFamily="34" charset="0"/>
              </a:rPr>
              <a:t>Did the cues change how the regions </a:t>
            </a:r>
            <a:r>
              <a:rPr lang="en-US" sz="4000" b="1">
                <a:solidFill>
                  <a:srgbClr val="FF0000"/>
                </a:solidFill>
                <a:latin typeface="Aptos Display" panose="020B0004020202020204" pitchFamily="34" charset="0"/>
              </a:rPr>
              <a:t>talk?</a:t>
            </a:r>
          </a:p>
          <a:p>
            <a:pPr algn="ctr">
              <a:lnSpc>
                <a:spcPct val="95000"/>
              </a:lnSpc>
            </a:pPr>
            <a:r>
              <a:rPr lang="en-US" sz="2000">
                <a:solidFill>
                  <a:srgbClr val="FFFFFF"/>
                </a:solidFill>
                <a:latin typeface="Aptos Display" panose="020B0004020202020204" pitchFamily="34" charset="0"/>
              </a:rPr>
              <a:t>Precon1 → Precon4 · 8 rats · theta and gamma coherence</a:t>
            </a:r>
          </a:p>
          <a:p>
            <a:pPr algn="ctr">
              <a:lnSpc>
                <a:spcPct val="95000"/>
              </a:lnSpc>
            </a:pPr>
            <a:r>
              <a:rPr lang="en-US" sz="2000">
                <a:solidFill>
                  <a:srgbClr val="FFFFFF"/>
                </a:solidFill>
                <a:latin typeface="Aptos Display" panose="020B0004020202020204" pitchFamily="34" charset="0"/>
              </a:rPr>
              <a:t>Shahriar · 23 October 2026</a:t>
            </a:r>
          </a:p>
        </p:txBody>
      </p:sp>
    </p:spTree>
    <p:extLst>
      <p:ext uri="{BB962C8B-B14F-4D97-AF65-F5344CB8AC3E}">
        <p14:creationId xmlns:p14="http://schemas.microsoft.com/office/powerpoint/2010/main" val="34205955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tage">
            <a:extLst>
              <a:ext uri="{FF2B5EF4-FFF2-40B4-BE49-F238E27FC236}">
                <a16:creationId xmlns:a16="http://schemas.microsoft.com/office/drawing/2014/main" id="{0F1323EB-B1AA-BE9D-04BE-D3E3C7B4D3B2}"/>
              </a:ext>
            </a:extLst>
          </p:cNvPr>
          <p:cNvSpPr/>
          <p:nvPr/>
        </p:nvSpPr>
        <p:spPr>
          <a:xfrm>
            <a:off x="0" y="685800"/>
            <a:ext cx="7670800" cy="6172200"/>
          </a:xfrm>
          <a:prstGeom prst="rect">
            <a:avLst/>
          </a:prstGeom>
          <a:solidFill>
            <a:srgbClr val="ECEC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I_coherence">
            <a:extLst>
              <a:ext uri="{FF2B5EF4-FFF2-40B4-BE49-F238E27FC236}">
                <a16:creationId xmlns:a16="http://schemas.microsoft.com/office/drawing/2014/main" id="{C751277C-ADF3-DDC2-98AB-104341F5E7E7}"/>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287909" y="1790893"/>
            <a:ext cx="7120382" cy="3987414"/>
          </a:xfrm>
          <a:prstGeom prst="rect">
            <a:avLst/>
          </a:prstGeom>
          <a:ln w="9525">
            <a:solidFill>
              <a:srgbClr val="B0B0B0"/>
            </a:solidFill>
          </a:ln>
        </p:spPr>
      </p:pic>
      <p:sp>
        <p:nvSpPr>
          <p:cNvPr id="5" name="!!D1">
            <a:extLst>
              <a:ext uri="{FF2B5EF4-FFF2-40B4-BE49-F238E27FC236}">
                <a16:creationId xmlns:a16="http://schemas.microsoft.com/office/drawing/2014/main" id="{EF3C7823-B1F9-E02D-F4AF-CE926DE781BA}"/>
              </a:ext>
            </a:extLst>
          </p:cNvPr>
          <p:cNvSpPr/>
          <p:nvPr/>
        </p:nvSpPr>
        <p:spPr>
          <a:xfrm>
            <a:off x="0" y="685800"/>
            <a:ext cx="7670800" cy="635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2">
            <a:extLst>
              <a:ext uri="{FF2B5EF4-FFF2-40B4-BE49-F238E27FC236}">
                <a16:creationId xmlns:a16="http://schemas.microsoft.com/office/drawing/2014/main" id="{FB093737-B852-FFA4-2504-52ED7AD29062}"/>
              </a:ext>
            </a:extLst>
          </p:cNvPr>
          <p:cNvSpPr/>
          <p:nvPr/>
        </p:nvSpPr>
        <p:spPr>
          <a:xfrm>
            <a:off x="0" y="6858000"/>
            <a:ext cx="7670800" cy="635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3">
            <a:extLst>
              <a:ext uri="{FF2B5EF4-FFF2-40B4-BE49-F238E27FC236}">
                <a16:creationId xmlns:a16="http://schemas.microsoft.com/office/drawing/2014/main" id="{F84EC031-5D21-05E8-5AD0-605D48601584}"/>
              </a:ext>
            </a:extLst>
          </p:cNvPr>
          <p:cNvSpPr/>
          <p:nvPr/>
        </p:nvSpPr>
        <p:spPr>
          <a:xfrm>
            <a:off x="0" y="685800"/>
            <a:ext cx="6350" cy="617220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4">
            <a:extLst>
              <a:ext uri="{FF2B5EF4-FFF2-40B4-BE49-F238E27FC236}">
                <a16:creationId xmlns:a16="http://schemas.microsoft.com/office/drawing/2014/main" id="{6E30039E-2D40-61B8-2284-26C65A4191FB}"/>
              </a:ext>
            </a:extLst>
          </p:cNvPr>
          <p:cNvSpPr/>
          <p:nvPr/>
        </p:nvSpPr>
        <p:spPr>
          <a:xfrm>
            <a:off x="7670800" y="685800"/>
            <a:ext cx="6350" cy="617220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ocus">
            <a:extLst>
              <a:ext uri="{FF2B5EF4-FFF2-40B4-BE49-F238E27FC236}">
                <a16:creationId xmlns:a16="http://schemas.microsoft.com/office/drawing/2014/main" id="{83C4DE54-C4BB-CECD-4263-2CEBD48FA220}"/>
              </a:ext>
            </a:extLst>
          </p:cNvPr>
          <p:cNvSpPr/>
          <p:nvPr/>
        </p:nvSpPr>
        <p:spPr>
          <a:xfrm>
            <a:off x="382847" y="1980770"/>
            <a:ext cx="6930505" cy="1803830"/>
          </a:xfrm>
          <a:prstGeom prst="rect">
            <a:avLst/>
          </a:prstGeom>
          <a:solidFill>
            <a:srgbClr val="83CBEB">
              <a:alpha val="37000"/>
            </a:srgbClr>
          </a:solidFill>
          <a:ln w="38100">
            <a:solidFill>
              <a:srgbClr val="46B1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ail">
            <a:extLst>
              <a:ext uri="{FF2B5EF4-FFF2-40B4-BE49-F238E27FC236}">
                <a16:creationId xmlns:a16="http://schemas.microsoft.com/office/drawing/2014/main" id="{6C7A7F4C-FEAE-CD5D-E077-E7DB62935914}"/>
              </a:ext>
            </a:extLst>
          </p:cNvPr>
          <p:cNvSpPr/>
          <p:nvPr/>
        </p:nvSpPr>
        <p:spPr>
          <a:xfrm>
            <a:off x="7670800" y="685800"/>
            <a:ext cx="4521200" cy="61722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N1">
            <a:extLst>
              <a:ext uri="{FF2B5EF4-FFF2-40B4-BE49-F238E27FC236}">
                <a16:creationId xmlns:a16="http://schemas.microsoft.com/office/drawing/2014/main" id="{07C867EB-5A77-AB3A-7AE4-2E2A0F1EA9AF}"/>
              </a:ext>
            </a:extLst>
          </p:cNvPr>
          <p:cNvSpPr/>
          <p:nvPr/>
        </p:nvSpPr>
        <p:spPr>
          <a:xfrm>
            <a:off x="7797800" y="838200"/>
            <a:ext cx="4241800" cy="107899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One idea per slide. The blue box is where to look; the black boxes say what it means.</a:t>
            </a:r>
          </a:p>
        </p:txBody>
      </p:sp>
      <p:sp>
        <p:nvSpPr>
          <p:cNvPr id="12" name="!!N2">
            <a:extLst>
              <a:ext uri="{FF2B5EF4-FFF2-40B4-BE49-F238E27FC236}">
                <a16:creationId xmlns:a16="http://schemas.microsoft.com/office/drawing/2014/main" id="{033848C0-634D-EF89-1162-E0C651E8BB92}"/>
              </a:ext>
            </a:extLst>
          </p:cNvPr>
          <p:cNvSpPr/>
          <p:nvPr/>
        </p:nvSpPr>
        <p:spPr>
          <a:xfrm>
            <a:off x="12573000" y="838200"/>
            <a:ext cx="4241800" cy="107899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Coherence: how much two regions’ rhythms rise and fall together. In step, it is near 1.</a:t>
            </a:r>
          </a:p>
        </p:txBody>
      </p:sp>
      <p:sp>
        <p:nvSpPr>
          <p:cNvPr id="13" name="!!T-BG">
            <a:extLst>
              <a:ext uri="{FF2B5EF4-FFF2-40B4-BE49-F238E27FC236}">
                <a16:creationId xmlns:a16="http://schemas.microsoft.com/office/drawing/2014/main" id="{1D8F079B-860C-0FE4-0F65-3779DEE73D07}"/>
              </a:ext>
            </a:extLst>
          </p:cNvPr>
          <p:cNvSpPr/>
          <p:nvPr/>
        </p:nvSpPr>
        <p:spPr>
          <a:xfrm>
            <a:off x="-381000" y="0"/>
            <a:ext cx="12954000" cy="685800"/>
          </a:xfrm>
          <a:prstGeom prst="snip2DiagRect">
            <a:avLst>
              <a:gd name="adj1" fmla="val 0"/>
              <a:gd name="adj2" fmla="val 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
            <a:extLst>
              <a:ext uri="{FF2B5EF4-FFF2-40B4-BE49-F238E27FC236}">
                <a16:creationId xmlns:a16="http://schemas.microsoft.com/office/drawing/2014/main" id="{F5AA6AC5-8D80-8ECD-017E-C7BA7E8BE564}"/>
              </a:ext>
            </a:extLst>
          </p:cNvPr>
          <p:cNvSpPr txBox="1"/>
          <p:nvPr/>
        </p:nvSpPr>
        <p:spPr>
          <a:xfrm>
            <a:off x="127000" y="0"/>
            <a:ext cx="11811000" cy="685800"/>
          </a:xfrm>
          <a:prstGeom prst="rect">
            <a:avLst/>
          </a:prstGeom>
          <a:noFill/>
        </p:spPr>
        <p:txBody>
          <a:bodyPr vert="horz" wrap="square" lIns="76200" tIns="25400" rIns="76200" bIns="25400" rtlCol="0" anchor="ctr">
            <a:noAutofit/>
          </a:bodyPr>
          <a:lstStyle/>
          <a:p>
            <a:pPr>
              <a:lnSpc>
                <a:spcPct val="95000"/>
              </a:lnSpc>
            </a:pPr>
            <a:r>
              <a:rPr lang="en-US" sz="2400" b="1" u="sng">
                <a:solidFill>
                  <a:srgbClr val="FFFFFF"/>
                </a:solidFill>
                <a:latin typeface="Aptos Display" panose="020B0004020202020204" pitchFamily="34" charset="0"/>
              </a:rPr>
              <a:t>How to read this deck</a:t>
            </a:r>
          </a:p>
        </p:txBody>
      </p:sp>
    </p:spTree>
    <p:extLst>
      <p:ext uri="{BB962C8B-B14F-4D97-AF65-F5344CB8AC3E}">
        <p14:creationId xmlns:p14="http://schemas.microsoft.com/office/powerpoint/2010/main" val="41815812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tage">
            <a:extLst>
              <a:ext uri="{FF2B5EF4-FFF2-40B4-BE49-F238E27FC236}">
                <a16:creationId xmlns:a16="http://schemas.microsoft.com/office/drawing/2014/main" id="{EE3E9643-7EFA-202F-87A5-006E18CE2552}"/>
              </a:ext>
            </a:extLst>
          </p:cNvPr>
          <p:cNvSpPr/>
          <p:nvPr/>
        </p:nvSpPr>
        <p:spPr>
          <a:xfrm>
            <a:off x="0" y="685800"/>
            <a:ext cx="7670800" cy="6172200"/>
          </a:xfrm>
          <a:prstGeom prst="rect">
            <a:avLst/>
          </a:prstGeom>
          <a:solidFill>
            <a:srgbClr val="ECEC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I_coherence">
            <a:extLst>
              <a:ext uri="{FF2B5EF4-FFF2-40B4-BE49-F238E27FC236}">
                <a16:creationId xmlns:a16="http://schemas.microsoft.com/office/drawing/2014/main" id="{463BCCD5-4737-4500-96F2-4DCD0E5DC4E8}"/>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287909" y="1790893"/>
            <a:ext cx="7120382" cy="3987414"/>
          </a:xfrm>
          <a:prstGeom prst="rect">
            <a:avLst/>
          </a:prstGeom>
          <a:ln w="9525">
            <a:solidFill>
              <a:srgbClr val="B0B0B0"/>
            </a:solidFill>
          </a:ln>
        </p:spPr>
      </p:pic>
      <p:sp>
        <p:nvSpPr>
          <p:cNvPr id="5" name="!!D1">
            <a:extLst>
              <a:ext uri="{FF2B5EF4-FFF2-40B4-BE49-F238E27FC236}">
                <a16:creationId xmlns:a16="http://schemas.microsoft.com/office/drawing/2014/main" id="{B7AE2EEC-2380-7EF5-1F06-064DC91CE306}"/>
              </a:ext>
            </a:extLst>
          </p:cNvPr>
          <p:cNvSpPr/>
          <p:nvPr/>
        </p:nvSpPr>
        <p:spPr>
          <a:xfrm>
            <a:off x="0" y="685800"/>
            <a:ext cx="7670800" cy="635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2">
            <a:extLst>
              <a:ext uri="{FF2B5EF4-FFF2-40B4-BE49-F238E27FC236}">
                <a16:creationId xmlns:a16="http://schemas.microsoft.com/office/drawing/2014/main" id="{D85F9F79-2F6D-A882-5201-F0CBD876B78C}"/>
              </a:ext>
            </a:extLst>
          </p:cNvPr>
          <p:cNvSpPr/>
          <p:nvPr/>
        </p:nvSpPr>
        <p:spPr>
          <a:xfrm>
            <a:off x="0" y="6858000"/>
            <a:ext cx="7670800" cy="635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3">
            <a:extLst>
              <a:ext uri="{FF2B5EF4-FFF2-40B4-BE49-F238E27FC236}">
                <a16:creationId xmlns:a16="http://schemas.microsoft.com/office/drawing/2014/main" id="{0ECFA524-454F-BC42-600D-5415A6121470}"/>
              </a:ext>
            </a:extLst>
          </p:cNvPr>
          <p:cNvSpPr/>
          <p:nvPr/>
        </p:nvSpPr>
        <p:spPr>
          <a:xfrm>
            <a:off x="0" y="685800"/>
            <a:ext cx="6350" cy="617220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4">
            <a:extLst>
              <a:ext uri="{FF2B5EF4-FFF2-40B4-BE49-F238E27FC236}">
                <a16:creationId xmlns:a16="http://schemas.microsoft.com/office/drawing/2014/main" id="{F32DBE33-34E0-EDEF-B5AF-C10078E000AA}"/>
              </a:ext>
            </a:extLst>
          </p:cNvPr>
          <p:cNvSpPr/>
          <p:nvPr/>
        </p:nvSpPr>
        <p:spPr>
          <a:xfrm>
            <a:off x="7670800" y="685800"/>
            <a:ext cx="6350" cy="617220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ocus">
            <a:extLst>
              <a:ext uri="{FF2B5EF4-FFF2-40B4-BE49-F238E27FC236}">
                <a16:creationId xmlns:a16="http://schemas.microsoft.com/office/drawing/2014/main" id="{212543B1-72A0-9FDA-00E6-3B3F65524557}"/>
              </a:ext>
            </a:extLst>
          </p:cNvPr>
          <p:cNvSpPr/>
          <p:nvPr/>
        </p:nvSpPr>
        <p:spPr>
          <a:xfrm>
            <a:off x="382847" y="1980770"/>
            <a:ext cx="6930505" cy="1803830"/>
          </a:xfrm>
          <a:prstGeom prst="rect">
            <a:avLst/>
          </a:prstGeom>
          <a:solidFill>
            <a:srgbClr val="83CBEB">
              <a:alpha val="37000"/>
            </a:srgbClr>
          </a:solidFill>
          <a:ln w="38100">
            <a:solidFill>
              <a:srgbClr val="46B1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ail">
            <a:extLst>
              <a:ext uri="{FF2B5EF4-FFF2-40B4-BE49-F238E27FC236}">
                <a16:creationId xmlns:a16="http://schemas.microsoft.com/office/drawing/2014/main" id="{977805EF-F958-3ADC-F13D-E4BC0D79D945}"/>
              </a:ext>
            </a:extLst>
          </p:cNvPr>
          <p:cNvSpPr/>
          <p:nvPr/>
        </p:nvSpPr>
        <p:spPr>
          <a:xfrm>
            <a:off x="7670800" y="685800"/>
            <a:ext cx="4521200" cy="61722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N2">
            <a:extLst>
              <a:ext uri="{FF2B5EF4-FFF2-40B4-BE49-F238E27FC236}">
                <a16:creationId xmlns:a16="http://schemas.microsoft.com/office/drawing/2014/main" id="{9AE14856-5A71-3366-3098-17DC21171F46}"/>
              </a:ext>
            </a:extLst>
          </p:cNvPr>
          <p:cNvSpPr/>
          <p:nvPr/>
        </p:nvSpPr>
        <p:spPr>
          <a:xfrm>
            <a:off x="7797800" y="838200"/>
            <a:ext cx="4241800" cy="107899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Coherence: how much two regions’ rhythms rise and fall together. In step, it is near 1.</a:t>
            </a:r>
          </a:p>
        </p:txBody>
      </p:sp>
      <p:sp>
        <p:nvSpPr>
          <p:cNvPr id="12" name="!!N3">
            <a:extLst>
              <a:ext uri="{FF2B5EF4-FFF2-40B4-BE49-F238E27FC236}">
                <a16:creationId xmlns:a16="http://schemas.microsoft.com/office/drawing/2014/main" id="{7297D39A-C1FA-5C90-0EDE-A77B7CE5F57A}"/>
              </a:ext>
            </a:extLst>
          </p:cNvPr>
          <p:cNvSpPr/>
          <p:nvPr/>
        </p:nvSpPr>
        <p:spPr>
          <a:xfrm>
            <a:off x="12573000" y="1559052"/>
            <a:ext cx="4241800" cy="1362456"/>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When B’s timing drifts against A’s, it is near 0. In step, B’s peaks keep the same distance from A’s (the dotted lines).</a:t>
            </a:r>
          </a:p>
        </p:txBody>
      </p:sp>
      <p:sp>
        <p:nvSpPr>
          <p:cNvPr id="13" name="!!N1">
            <a:extLst>
              <a:ext uri="{FF2B5EF4-FFF2-40B4-BE49-F238E27FC236}">
                <a16:creationId xmlns:a16="http://schemas.microsoft.com/office/drawing/2014/main" id="{588C80FC-45E9-4F32-A4AE-C48E5AABDE34}"/>
              </a:ext>
            </a:extLst>
          </p:cNvPr>
          <p:cNvSpPr/>
          <p:nvPr/>
        </p:nvSpPr>
        <p:spPr>
          <a:xfrm>
            <a:off x="12573000" y="838200"/>
            <a:ext cx="4241800" cy="107899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One idea per slide. The blue box is where to look; the black boxes say what it means.</a:t>
            </a:r>
          </a:p>
        </p:txBody>
      </p:sp>
      <p:sp>
        <p:nvSpPr>
          <p:cNvPr id="14" name="!!T-BG">
            <a:extLst>
              <a:ext uri="{FF2B5EF4-FFF2-40B4-BE49-F238E27FC236}">
                <a16:creationId xmlns:a16="http://schemas.microsoft.com/office/drawing/2014/main" id="{330C003E-F1B1-AB9D-C247-1F7AF2146797}"/>
              </a:ext>
            </a:extLst>
          </p:cNvPr>
          <p:cNvSpPr/>
          <p:nvPr/>
        </p:nvSpPr>
        <p:spPr>
          <a:xfrm>
            <a:off x="-381000" y="0"/>
            <a:ext cx="12954000" cy="685800"/>
          </a:xfrm>
          <a:prstGeom prst="snip2DiagRect">
            <a:avLst>
              <a:gd name="adj1" fmla="val 0"/>
              <a:gd name="adj2" fmla="val 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
            <a:extLst>
              <a:ext uri="{FF2B5EF4-FFF2-40B4-BE49-F238E27FC236}">
                <a16:creationId xmlns:a16="http://schemas.microsoft.com/office/drawing/2014/main" id="{DF6A24FB-9925-63BC-B7CE-174727029552}"/>
              </a:ext>
            </a:extLst>
          </p:cNvPr>
          <p:cNvSpPr txBox="1"/>
          <p:nvPr/>
        </p:nvSpPr>
        <p:spPr>
          <a:xfrm>
            <a:off x="127000" y="0"/>
            <a:ext cx="11811000" cy="685800"/>
          </a:xfrm>
          <a:prstGeom prst="rect">
            <a:avLst/>
          </a:prstGeom>
          <a:noFill/>
        </p:spPr>
        <p:txBody>
          <a:bodyPr vert="horz" wrap="square" lIns="76200" tIns="25400" rIns="76200" bIns="25400" rtlCol="0" anchor="ctr">
            <a:noAutofit/>
          </a:bodyPr>
          <a:lstStyle/>
          <a:p>
            <a:pPr>
              <a:lnSpc>
                <a:spcPct val="95000"/>
              </a:lnSpc>
            </a:pPr>
            <a:r>
              <a:rPr lang="en-US" sz="2400" b="1" u="sng">
                <a:solidFill>
                  <a:srgbClr val="FFFFFF"/>
                </a:solidFill>
                <a:latin typeface="Aptos Display" panose="020B0004020202020204" pitchFamily="34" charset="0"/>
              </a:rPr>
              <a:t>What was measured</a:t>
            </a:r>
          </a:p>
        </p:txBody>
      </p:sp>
    </p:spTree>
    <p:extLst>
      <p:ext uri="{BB962C8B-B14F-4D97-AF65-F5344CB8AC3E}">
        <p14:creationId xmlns:p14="http://schemas.microsoft.com/office/powerpoint/2010/main" val="42269082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tage">
            <a:extLst>
              <a:ext uri="{FF2B5EF4-FFF2-40B4-BE49-F238E27FC236}">
                <a16:creationId xmlns:a16="http://schemas.microsoft.com/office/drawing/2014/main" id="{84A36347-2D90-6580-3567-8F4AF2ABBFE2}"/>
              </a:ext>
            </a:extLst>
          </p:cNvPr>
          <p:cNvSpPr/>
          <p:nvPr/>
        </p:nvSpPr>
        <p:spPr>
          <a:xfrm>
            <a:off x="0" y="685800"/>
            <a:ext cx="7670800" cy="6172200"/>
          </a:xfrm>
          <a:prstGeom prst="rect">
            <a:avLst/>
          </a:prstGeom>
          <a:solidFill>
            <a:srgbClr val="ECEC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I_coherence">
            <a:extLst>
              <a:ext uri="{FF2B5EF4-FFF2-40B4-BE49-F238E27FC236}">
                <a16:creationId xmlns:a16="http://schemas.microsoft.com/office/drawing/2014/main" id="{69CA13F9-778F-6344-4B58-2C06D73BCA03}"/>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287909" y="1790893"/>
            <a:ext cx="7120382" cy="3987414"/>
          </a:xfrm>
          <a:prstGeom prst="rect">
            <a:avLst/>
          </a:prstGeom>
          <a:ln w="9525">
            <a:solidFill>
              <a:srgbClr val="B0B0B0"/>
            </a:solidFill>
          </a:ln>
        </p:spPr>
      </p:pic>
      <p:sp>
        <p:nvSpPr>
          <p:cNvPr id="5" name="!!D1">
            <a:extLst>
              <a:ext uri="{FF2B5EF4-FFF2-40B4-BE49-F238E27FC236}">
                <a16:creationId xmlns:a16="http://schemas.microsoft.com/office/drawing/2014/main" id="{13F7E9B4-0482-8097-6FE9-E3AC57671454}"/>
              </a:ext>
            </a:extLst>
          </p:cNvPr>
          <p:cNvSpPr/>
          <p:nvPr/>
        </p:nvSpPr>
        <p:spPr>
          <a:xfrm>
            <a:off x="0" y="685800"/>
            <a:ext cx="7670800" cy="635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2">
            <a:extLst>
              <a:ext uri="{FF2B5EF4-FFF2-40B4-BE49-F238E27FC236}">
                <a16:creationId xmlns:a16="http://schemas.microsoft.com/office/drawing/2014/main" id="{7323DB8E-0B76-6687-7B74-1FDA435A3F3D}"/>
              </a:ext>
            </a:extLst>
          </p:cNvPr>
          <p:cNvSpPr/>
          <p:nvPr/>
        </p:nvSpPr>
        <p:spPr>
          <a:xfrm>
            <a:off x="0" y="6858000"/>
            <a:ext cx="7670800" cy="635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3">
            <a:extLst>
              <a:ext uri="{FF2B5EF4-FFF2-40B4-BE49-F238E27FC236}">
                <a16:creationId xmlns:a16="http://schemas.microsoft.com/office/drawing/2014/main" id="{5F05F975-2612-B2C0-9450-A64F4ECAFE08}"/>
              </a:ext>
            </a:extLst>
          </p:cNvPr>
          <p:cNvSpPr/>
          <p:nvPr/>
        </p:nvSpPr>
        <p:spPr>
          <a:xfrm>
            <a:off x="0" y="685800"/>
            <a:ext cx="6350" cy="617220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4">
            <a:extLst>
              <a:ext uri="{FF2B5EF4-FFF2-40B4-BE49-F238E27FC236}">
                <a16:creationId xmlns:a16="http://schemas.microsoft.com/office/drawing/2014/main" id="{A7C8C5F2-A62D-9F7B-B059-B8E061D55181}"/>
              </a:ext>
            </a:extLst>
          </p:cNvPr>
          <p:cNvSpPr/>
          <p:nvPr/>
        </p:nvSpPr>
        <p:spPr>
          <a:xfrm>
            <a:off x="7670800" y="685800"/>
            <a:ext cx="6350" cy="617220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ocus">
            <a:extLst>
              <a:ext uri="{FF2B5EF4-FFF2-40B4-BE49-F238E27FC236}">
                <a16:creationId xmlns:a16="http://schemas.microsoft.com/office/drawing/2014/main" id="{B3660D95-59DF-F258-D584-03D25A2DC93A}"/>
              </a:ext>
            </a:extLst>
          </p:cNvPr>
          <p:cNvSpPr/>
          <p:nvPr/>
        </p:nvSpPr>
        <p:spPr>
          <a:xfrm>
            <a:off x="382847" y="3879538"/>
            <a:ext cx="6930505" cy="1803831"/>
          </a:xfrm>
          <a:prstGeom prst="rect">
            <a:avLst/>
          </a:prstGeom>
          <a:solidFill>
            <a:srgbClr val="83CBEB">
              <a:alpha val="37000"/>
            </a:srgbClr>
          </a:solidFill>
          <a:ln w="38100">
            <a:solidFill>
              <a:srgbClr val="46B1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ail">
            <a:extLst>
              <a:ext uri="{FF2B5EF4-FFF2-40B4-BE49-F238E27FC236}">
                <a16:creationId xmlns:a16="http://schemas.microsoft.com/office/drawing/2014/main" id="{A09F51B7-B941-C049-6948-66015B150491}"/>
              </a:ext>
            </a:extLst>
          </p:cNvPr>
          <p:cNvSpPr/>
          <p:nvPr/>
        </p:nvSpPr>
        <p:spPr>
          <a:xfrm>
            <a:off x="7670800" y="685800"/>
            <a:ext cx="4521200" cy="61722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N2">
            <a:extLst>
              <a:ext uri="{FF2B5EF4-FFF2-40B4-BE49-F238E27FC236}">
                <a16:creationId xmlns:a16="http://schemas.microsoft.com/office/drawing/2014/main" id="{438770DE-B9AD-40A1-3571-C156CFC0FB5C}"/>
              </a:ext>
            </a:extLst>
          </p:cNvPr>
          <p:cNvSpPr/>
          <p:nvPr/>
        </p:nvSpPr>
        <p:spPr>
          <a:xfrm>
            <a:off x="7797800" y="838200"/>
            <a:ext cx="4241800" cy="60655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Coherence: how much two regions’ rhythms rise and fall together. In step, it is near 1.</a:t>
            </a:r>
          </a:p>
        </p:txBody>
      </p:sp>
      <p:sp>
        <p:nvSpPr>
          <p:cNvPr id="12" name="!!N3">
            <a:extLst>
              <a:ext uri="{FF2B5EF4-FFF2-40B4-BE49-F238E27FC236}">
                <a16:creationId xmlns:a16="http://schemas.microsoft.com/office/drawing/2014/main" id="{F1AF8D79-D47D-A669-BE94-FE72F6C9E52B}"/>
              </a:ext>
            </a:extLst>
          </p:cNvPr>
          <p:cNvSpPr/>
          <p:nvPr/>
        </p:nvSpPr>
        <p:spPr>
          <a:xfrm>
            <a:off x="7797800" y="1559052"/>
            <a:ext cx="4241800" cy="1362456"/>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When B’s timing drifts against A’s, it is near 0. In step, B’s peaks keep the same distance from A’s (the dotted lines).</a:t>
            </a:r>
          </a:p>
        </p:txBody>
      </p:sp>
      <p:sp>
        <p:nvSpPr>
          <p:cNvPr id="13" name="!!N4">
            <a:extLst>
              <a:ext uri="{FF2B5EF4-FFF2-40B4-BE49-F238E27FC236}">
                <a16:creationId xmlns:a16="http://schemas.microsoft.com/office/drawing/2014/main" id="{241AB498-B445-0539-3E27-BCC33677B40C}"/>
              </a:ext>
            </a:extLst>
          </p:cNvPr>
          <p:cNvSpPr/>
          <p:nvPr/>
        </p:nvSpPr>
        <p:spPr>
          <a:xfrm>
            <a:off x="12573000" y="2468880"/>
            <a:ext cx="4241800" cy="1645920"/>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Two rhythms, as in Joe’s proposal: theta (5–12 Hz) and gamma (30–90 Hz), between every pair of 12 regions. 44 pairs had at least 4 rats on both days.</a:t>
            </a:r>
          </a:p>
        </p:txBody>
      </p:sp>
      <p:sp>
        <p:nvSpPr>
          <p:cNvPr id="14" name="!!T-BG">
            <a:extLst>
              <a:ext uri="{FF2B5EF4-FFF2-40B4-BE49-F238E27FC236}">
                <a16:creationId xmlns:a16="http://schemas.microsoft.com/office/drawing/2014/main" id="{3F8176B8-2CF0-5A58-C4BD-D7B749588865}"/>
              </a:ext>
            </a:extLst>
          </p:cNvPr>
          <p:cNvSpPr/>
          <p:nvPr/>
        </p:nvSpPr>
        <p:spPr>
          <a:xfrm>
            <a:off x="-381000" y="0"/>
            <a:ext cx="12954000" cy="685800"/>
          </a:xfrm>
          <a:prstGeom prst="snip2DiagRect">
            <a:avLst>
              <a:gd name="adj1" fmla="val 0"/>
              <a:gd name="adj2" fmla="val 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
            <a:extLst>
              <a:ext uri="{FF2B5EF4-FFF2-40B4-BE49-F238E27FC236}">
                <a16:creationId xmlns:a16="http://schemas.microsoft.com/office/drawing/2014/main" id="{E1E46044-25B8-2D41-74E6-64C26456EEFA}"/>
              </a:ext>
            </a:extLst>
          </p:cNvPr>
          <p:cNvSpPr txBox="1"/>
          <p:nvPr/>
        </p:nvSpPr>
        <p:spPr>
          <a:xfrm>
            <a:off x="127000" y="0"/>
            <a:ext cx="11811000" cy="685800"/>
          </a:xfrm>
          <a:prstGeom prst="rect">
            <a:avLst/>
          </a:prstGeom>
          <a:noFill/>
        </p:spPr>
        <p:txBody>
          <a:bodyPr vert="horz" wrap="square" lIns="76200" tIns="25400" rIns="76200" bIns="25400" rtlCol="0" anchor="ctr">
            <a:noAutofit/>
          </a:bodyPr>
          <a:lstStyle/>
          <a:p>
            <a:pPr>
              <a:lnSpc>
                <a:spcPct val="95000"/>
              </a:lnSpc>
            </a:pPr>
            <a:r>
              <a:rPr lang="en-US" sz="2400" b="1" u="sng">
                <a:solidFill>
                  <a:srgbClr val="FFFFFF"/>
                </a:solidFill>
                <a:latin typeface="Aptos Display" panose="020B0004020202020204" pitchFamily="34" charset="0"/>
              </a:rPr>
              <a:t>What was measured</a:t>
            </a:r>
          </a:p>
        </p:txBody>
      </p:sp>
    </p:spTree>
    <p:extLst>
      <p:ext uri="{BB962C8B-B14F-4D97-AF65-F5344CB8AC3E}">
        <p14:creationId xmlns:p14="http://schemas.microsoft.com/office/powerpoint/2010/main" val="249682873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tage">
            <a:extLst>
              <a:ext uri="{FF2B5EF4-FFF2-40B4-BE49-F238E27FC236}">
                <a16:creationId xmlns:a16="http://schemas.microsoft.com/office/drawing/2014/main" id="{E05B9135-45DC-AABF-8841-D05107562F0A}"/>
              </a:ext>
            </a:extLst>
          </p:cNvPr>
          <p:cNvSpPr/>
          <p:nvPr/>
        </p:nvSpPr>
        <p:spPr>
          <a:xfrm>
            <a:off x="0" y="685800"/>
            <a:ext cx="7670800" cy="6172200"/>
          </a:xfrm>
          <a:prstGeom prst="rect">
            <a:avLst/>
          </a:prstGeom>
          <a:solidFill>
            <a:srgbClr val="ECEC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I_coherence">
            <a:extLst>
              <a:ext uri="{FF2B5EF4-FFF2-40B4-BE49-F238E27FC236}">
                <a16:creationId xmlns:a16="http://schemas.microsoft.com/office/drawing/2014/main" id="{0F87455B-FFF1-DC00-61C7-C83DFC80784D}"/>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287909" y="1790893"/>
            <a:ext cx="7120382" cy="3987414"/>
          </a:xfrm>
          <a:prstGeom prst="rect">
            <a:avLst/>
          </a:prstGeom>
          <a:ln w="9525">
            <a:solidFill>
              <a:srgbClr val="B0B0B0"/>
            </a:solidFill>
          </a:ln>
        </p:spPr>
      </p:pic>
      <p:sp>
        <p:nvSpPr>
          <p:cNvPr id="5" name="!!D1">
            <a:extLst>
              <a:ext uri="{FF2B5EF4-FFF2-40B4-BE49-F238E27FC236}">
                <a16:creationId xmlns:a16="http://schemas.microsoft.com/office/drawing/2014/main" id="{4EE4DF7B-7002-DA47-BAD3-0C0FD5EB308C}"/>
              </a:ext>
            </a:extLst>
          </p:cNvPr>
          <p:cNvSpPr/>
          <p:nvPr/>
        </p:nvSpPr>
        <p:spPr>
          <a:xfrm>
            <a:off x="0" y="685800"/>
            <a:ext cx="7670800" cy="635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2">
            <a:extLst>
              <a:ext uri="{FF2B5EF4-FFF2-40B4-BE49-F238E27FC236}">
                <a16:creationId xmlns:a16="http://schemas.microsoft.com/office/drawing/2014/main" id="{7839C0C5-8FA0-EA02-4102-CE27BA91FEAC}"/>
              </a:ext>
            </a:extLst>
          </p:cNvPr>
          <p:cNvSpPr/>
          <p:nvPr/>
        </p:nvSpPr>
        <p:spPr>
          <a:xfrm>
            <a:off x="0" y="6858000"/>
            <a:ext cx="7670800" cy="635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3">
            <a:extLst>
              <a:ext uri="{FF2B5EF4-FFF2-40B4-BE49-F238E27FC236}">
                <a16:creationId xmlns:a16="http://schemas.microsoft.com/office/drawing/2014/main" id="{416BAEB4-4702-4237-7EB1-404A7B5B9FAB}"/>
              </a:ext>
            </a:extLst>
          </p:cNvPr>
          <p:cNvSpPr/>
          <p:nvPr/>
        </p:nvSpPr>
        <p:spPr>
          <a:xfrm>
            <a:off x="0" y="685800"/>
            <a:ext cx="6350" cy="617220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4">
            <a:extLst>
              <a:ext uri="{FF2B5EF4-FFF2-40B4-BE49-F238E27FC236}">
                <a16:creationId xmlns:a16="http://schemas.microsoft.com/office/drawing/2014/main" id="{AC136C9D-E304-8266-C97F-8190AE2E6808}"/>
              </a:ext>
            </a:extLst>
          </p:cNvPr>
          <p:cNvSpPr/>
          <p:nvPr/>
        </p:nvSpPr>
        <p:spPr>
          <a:xfrm>
            <a:off x="7670800" y="685800"/>
            <a:ext cx="6350" cy="617220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ail">
            <a:extLst>
              <a:ext uri="{FF2B5EF4-FFF2-40B4-BE49-F238E27FC236}">
                <a16:creationId xmlns:a16="http://schemas.microsoft.com/office/drawing/2014/main" id="{58516B23-8D28-3CC1-8FD4-2D2A3A42DDD5}"/>
              </a:ext>
            </a:extLst>
          </p:cNvPr>
          <p:cNvSpPr/>
          <p:nvPr/>
        </p:nvSpPr>
        <p:spPr>
          <a:xfrm>
            <a:off x="7670800" y="685800"/>
            <a:ext cx="4521200" cy="61722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N2">
            <a:extLst>
              <a:ext uri="{FF2B5EF4-FFF2-40B4-BE49-F238E27FC236}">
                <a16:creationId xmlns:a16="http://schemas.microsoft.com/office/drawing/2014/main" id="{7F5E4DF6-7858-C34F-CED9-905D838D90F7}"/>
              </a:ext>
            </a:extLst>
          </p:cNvPr>
          <p:cNvSpPr/>
          <p:nvPr/>
        </p:nvSpPr>
        <p:spPr>
          <a:xfrm>
            <a:off x="7797800" y="838200"/>
            <a:ext cx="4241800" cy="60655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Coherence: how much two regions’ rhythms rise and fall together. In step, it is near 1.</a:t>
            </a:r>
          </a:p>
        </p:txBody>
      </p:sp>
      <p:sp>
        <p:nvSpPr>
          <p:cNvPr id="11" name="!!N3">
            <a:extLst>
              <a:ext uri="{FF2B5EF4-FFF2-40B4-BE49-F238E27FC236}">
                <a16:creationId xmlns:a16="http://schemas.microsoft.com/office/drawing/2014/main" id="{B6B420FC-53E7-6643-CA8B-A27069403543}"/>
              </a:ext>
            </a:extLst>
          </p:cNvPr>
          <p:cNvSpPr/>
          <p:nvPr/>
        </p:nvSpPr>
        <p:spPr>
          <a:xfrm>
            <a:off x="7797800" y="1559052"/>
            <a:ext cx="4241800" cy="795528"/>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When B’s timing drifts against A’s, it is near 0. In step, B’s peaks keep the same distance from A’s (the dotted lines).</a:t>
            </a:r>
          </a:p>
        </p:txBody>
      </p:sp>
      <p:sp>
        <p:nvSpPr>
          <p:cNvPr id="12" name="!!N4">
            <a:extLst>
              <a:ext uri="{FF2B5EF4-FFF2-40B4-BE49-F238E27FC236}">
                <a16:creationId xmlns:a16="http://schemas.microsoft.com/office/drawing/2014/main" id="{AC2F51AE-D286-C05F-2394-71221362E83F}"/>
              </a:ext>
            </a:extLst>
          </p:cNvPr>
          <p:cNvSpPr/>
          <p:nvPr/>
        </p:nvSpPr>
        <p:spPr>
          <a:xfrm>
            <a:off x="7797800" y="2468880"/>
            <a:ext cx="4241800" cy="1645920"/>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Two rhythms, as in Joe’s proposal: theta (5–12 Hz) and gamma (30–90 Hz), between every pair of 12 regions. 44 pairs had at least 4 rats on both days.</a:t>
            </a:r>
          </a:p>
        </p:txBody>
      </p:sp>
      <p:sp>
        <p:nvSpPr>
          <p:cNvPr id="13" name="!!N5">
            <a:extLst>
              <a:ext uri="{FF2B5EF4-FFF2-40B4-BE49-F238E27FC236}">
                <a16:creationId xmlns:a16="http://schemas.microsoft.com/office/drawing/2014/main" id="{BDCE53E0-ADEF-8044-6494-3CB0D66CCA59}"/>
              </a:ext>
            </a:extLst>
          </p:cNvPr>
          <p:cNvSpPr/>
          <p:nvPr/>
        </p:nvSpPr>
        <p:spPr>
          <a:xfrm>
            <a:off x="12573000" y="838200"/>
            <a:ext cx="4241800" cy="795528"/>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Each trial: a baseline before cue 1, then cue 1 and cue 2.</a:t>
            </a:r>
          </a:p>
        </p:txBody>
      </p:sp>
      <p:sp>
        <p:nvSpPr>
          <p:cNvPr id="14" name="!!T-BG">
            <a:extLst>
              <a:ext uri="{FF2B5EF4-FFF2-40B4-BE49-F238E27FC236}">
                <a16:creationId xmlns:a16="http://schemas.microsoft.com/office/drawing/2014/main" id="{9A1CB6A6-B717-58DD-4867-65476026FFC0}"/>
              </a:ext>
            </a:extLst>
          </p:cNvPr>
          <p:cNvSpPr/>
          <p:nvPr/>
        </p:nvSpPr>
        <p:spPr>
          <a:xfrm>
            <a:off x="-381000" y="0"/>
            <a:ext cx="12954000" cy="685800"/>
          </a:xfrm>
          <a:prstGeom prst="snip2DiagRect">
            <a:avLst>
              <a:gd name="adj1" fmla="val 0"/>
              <a:gd name="adj2" fmla="val 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
            <a:extLst>
              <a:ext uri="{FF2B5EF4-FFF2-40B4-BE49-F238E27FC236}">
                <a16:creationId xmlns:a16="http://schemas.microsoft.com/office/drawing/2014/main" id="{BA97D6DB-39CF-5EDA-3B03-DE95A6E65131}"/>
              </a:ext>
            </a:extLst>
          </p:cNvPr>
          <p:cNvSpPr txBox="1"/>
          <p:nvPr/>
        </p:nvSpPr>
        <p:spPr>
          <a:xfrm>
            <a:off x="127000" y="0"/>
            <a:ext cx="11811000" cy="685800"/>
          </a:xfrm>
          <a:prstGeom prst="rect">
            <a:avLst/>
          </a:prstGeom>
          <a:noFill/>
        </p:spPr>
        <p:txBody>
          <a:bodyPr vert="horz" wrap="square" lIns="76200" tIns="25400" rIns="76200" bIns="25400" rtlCol="0" anchor="ctr">
            <a:noAutofit/>
          </a:bodyPr>
          <a:lstStyle/>
          <a:p>
            <a:pPr>
              <a:lnSpc>
                <a:spcPct val="95000"/>
              </a:lnSpc>
            </a:pPr>
            <a:r>
              <a:rPr lang="en-US" sz="2400" b="1" u="sng">
                <a:solidFill>
                  <a:srgbClr val="FFFFFF"/>
                </a:solidFill>
                <a:latin typeface="Aptos Display" panose="020B0004020202020204" pitchFamily="34" charset="0"/>
              </a:rPr>
              <a:t>What was measured</a:t>
            </a:r>
          </a:p>
        </p:txBody>
      </p:sp>
    </p:spTree>
    <p:extLst>
      <p:ext uri="{BB962C8B-B14F-4D97-AF65-F5344CB8AC3E}">
        <p14:creationId xmlns:p14="http://schemas.microsoft.com/office/powerpoint/2010/main" val="168957895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tage">
            <a:extLst>
              <a:ext uri="{FF2B5EF4-FFF2-40B4-BE49-F238E27FC236}">
                <a16:creationId xmlns:a16="http://schemas.microsoft.com/office/drawing/2014/main" id="{BAB816F0-D5C5-2F4B-A26E-4EAA63F3F15C}"/>
              </a:ext>
            </a:extLst>
          </p:cNvPr>
          <p:cNvSpPr/>
          <p:nvPr/>
        </p:nvSpPr>
        <p:spPr>
          <a:xfrm>
            <a:off x="0" y="685800"/>
            <a:ext cx="7670800" cy="6172200"/>
          </a:xfrm>
          <a:prstGeom prst="rect">
            <a:avLst/>
          </a:prstGeom>
          <a:solidFill>
            <a:srgbClr val="ECEC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I_timeline">
            <a:extLst>
              <a:ext uri="{FF2B5EF4-FFF2-40B4-BE49-F238E27FC236}">
                <a16:creationId xmlns:a16="http://schemas.microsoft.com/office/drawing/2014/main" id="{CDF096E5-4555-53D1-C089-45DB78002E7C}"/>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287909" y="1814628"/>
            <a:ext cx="7120382" cy="3939945"/>
          </a:xfrm>
          <a:prstGeom prst="rect">
            <a:avLst/>
          </a:prstGeom>
          <a:ln w="9525">
            <a:solidFill>
              <a:srgbClr val="B0B0B0"/>
            </a:solidFill>
          </a:ln>
        </p:spPr>
      </p:pic>
      <p:sp>
        <p:nvSpPr>
          <p:cNvPr id="5" name="!!D1">
            <a:extLst>
              <a:ext uri="{FF2B5EF4-FFF2-40B4-BE49-F238E27FC236}">
                <a16:creationId xmlns:a16="http://schemas.microsoft.com/office/drawing/2014/main" id="{C5F039C5-E9EA-9661-4421-76B314D085F3}"/>
              </a:ext>
            </a:extLst>
          </p:cNvPr>
          <p:cNvSpPr/>
          <p:nvPr/>
        </p:nvSpPr>
        <p:spPr>
          <a:xfrm>
            <a:off x="0" y="685800"/>
            <a:ext cx="7670800" cy="635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2">
            <a:extLst>
              <a:ext uri="{FF2B5EF4-FFF2-40B4-BE49-F238E27FC236}">
                <a16:creationId xmlns:a16="http://schemas.microsoft.com/office/drawing/2014/main" id="{1860C6EA-32D4-D4B2-9039-4B2089E6977B}"/>
              </a:ext>
            </a:extLst>
          </p:cNvPr>
          <p:cNvSpPr/>
          <p:nvPr/>
        </p:nvSpPr>
        <p:spPr>
          <a:xfrm>
            <a:off x="0" y="6858000"/>
            <a:ext cx="7670800" cy="635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3">
            <a:extLst>
              <a:ext uri="{FF2B5EF4-FFF2-40B4-BE49-F238E27FC236}">
                <a16:creationId xmlns:a16="http://schemas.microsoft.com/office/drawing/2014/main" id="{7A5EF69A-7F17-5184-1C92-D0888A407D73}"/>
              </a:ext>
            </a:extLst>
          </p:cNvPr>
          <p:cNvSpPr/>
          <p:nvPr/>
        </p:nvSpPr>
        <p:spPr>
          <a:xfrm>
            <a:off x="0" y="685800"/>
            <a:ext cx="6350" cy="617220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4">
            <a:extLst>
              <a:ext uri="{FF2B5EF4-FFF2-40B4-BE49-F238E27FC236}">
                <a16:creationId xmlns:a16="http://schemas.microsoft.com/office/drawing/2014/main" id="{59E62E67-D246-7FE0-E084-737E631B1790}"/>
              </a:ext>
            </a:extLst>
          </p:cNvPr>
          <p:cNvSpPr/>
          <p:nvPr/>
        </p:nvSpPr>
        <p:spPr>
          <a:xfrm>
            <a:off x="7670800" y="685800"/>
            <a:ext cx="6350" cy="617220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ocus">
            <a:extLst>
              <a:ext uri="{FF2B5EF4-FFF2-40B4-BE49-F238E27FC236}">
                <a16:creationId xmlns:a16="http://schemas.microsoft.com/office/drawing/2014/main" id="{74B34AF6-B9C2-9F9F-7F29-7AF00E114167}"/>
              </a:ext>
            </a:extLst>
          </p:cNvPr>
          <p:cNvSpPr/>
          <p:nvPr/>
        </p:nvSpPr>
        <p:spPr>
          <a:xfrm>
            <a:off x="990857" y="2206437"/>
            <a:ext cx="5798112" cy="1016444"/>
          </a:xfrm>
          <a:prstGeom prst="rect">
            <a:avLst/>
          </a:prstGeom>
          <a:solidFill>
            <a:srgbClr val="83CBEB">
              <a:alpha val="37000"/>
            </a:srgbClr>
          </a:solidFill>
          <a:ln w="38100">
            <a:solidFill>
              <a:srgbClr val="46B1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ail">
            <a:extLst>
              <a:ext uri="{FF2B5EF4-FFF2-40B4-BE49-F238E27FC236}">
                <a16:creationId xmlns:a16="http://schemas.microsoft.com/office/drawing/2014/main" id="{F122EEE8-C64E-C353-923F-42B6DDDE90C2}"/>
              </a:ext>
            </a:extLst>
          </p:cNvPr>
          <p:cNvSpPr/>
          <p:nvPr/>
        </p:nvSpPr>
        <p:spPr>
          <a:xfrm>
            <a:off x="7670800" y="685800"/>
            <a:ext cx="4521200" cy="61722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N5">
            <a:extLst>
              <a:ext uri="{FF2B5EF4-FFF2-40B4-BE49-F238E27FC236}">
                <a16:creationId xmlns:a16="http://schemas.microsoft.com/office/drawing/2014/main" id="{9FF8E7CA-8367-2933-1B45-187DD2F3BE54}"/>
              </a:ext>
            </a:extLst>
          </p:cNvPr>
          <p:cNvSpPr/>
          <p:nvPr/>
        </p:nvSpPr>
        <p:spPr>
          <a:xfrm>
            <a:off x="7797800" y="838200"/>
            <a:ext cx="4241800" cy="795528"/>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Each trial: a baseline before cue 1, then cue 1 and cue 2.</a:t>
            </a:r>
          </a:p>
        </p:txBody>
      </p:sp>
      <p:sp>
        <p:nvSpPr>
          <p:cNvPr id="12" name="!!N6">
            <a:extLst>
              <a:ext uri="{FF2B5EF4-FFF2-40B4-BE49-F238E27FC236}">
                <a16:creationId xmlns:a16="http://schemas.microsoft.com/office/drawing/2014/main" id="{7B47DBAE-7853-49D2-6612-C5B2FE87EBA9}"/>
              </a:ext>
            </a:extLst>
          </p:cNvPr>
          <p:cNvSpPr/>
          <p:nvPr/>
        </p:nvSpPr>
        <p:spPr>
          <a:xfrm>
            <a:off x="12573000" y="1370076"/>
            <a:ext cx="4241800" cy="795528"/>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Comparison 1: the 20 s baseline against both cues (20 s).</a:t>
            </a:r>
          </a:p>
        </p:txBody>
      </p:sp>
      <p:sp>
        <p:nvSpPr>
          <p:cNvPr id="13" name="!!N2">
            <a:extLst>
              <a:ext uri="{FF2B5EF4-FFF2-40B4-BE49-F238E27FC236}">
                <a16:creationId xmlns:a16="http://schemas.microsoft.com/office/drawing/2014/main" id="{3117B720-58D1-21EE-D414-D379B37D7A6F}"/>
              </a:ext>
            </a:extLst>
          </p:cNvPr>
          <p:cNvSpPr/>
          <p:nvPr/>
        </p:nvSpPr>
        <p:spPr>
          <a:xfrm>
            <a:off x="12573000" y="838200"/>
            <a:ext cx="4241800" cy="60655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Coherence: how much two regions’ rhythms rise and fall together. In step, it is near 1.</a:t>
            </a:r>
          </a:p>
        </p:txBody>
      </p:sp>
      <p:sp>
        <p:nvSpPr>
          <p:cNvPr id="14" name="!!N3">
            <a:extLst>
              <a:ext uri="{FF2B5EF4-FFF2-40B4-BE49-F238E27FC236}">
                <a16:creationId xmlns:a16="http://schemas.microsoft.com/office/drawing/2014/main" id="{CBFE0495-BB63-0FAD-C401-4B2D1A25C289}"/>
              </a:ext>
            </a:extLst>
          </p:cNvPr>
          <p:cNvSpPr/>
          <p:nvPr/>
        </p:nvSpPr>
        <p:spPr>
          <a:xfrm>
            <a:off x="12573000" y="1559052"/>
            <a:ext cx="4241800" cy="795528"/>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When B’s timing drifts against A’s, it is near 0. In step, B’s peaks keep the same distance from A’s (the dotted lines).</a:t>
            </a:r>
          </a:p>
        </p:txBody>
      </p:sp>
      <p:sp>
        <p:nvSpPr>
          <p:cNvPr id="15" name="!!N4">
            <a:extLst>
              <a:ext uri="{FF2B5EF4-FFF2-40B4-BE49-F238E27FC236}">
                <a16:creationId xmlns:a16="http://schemas.microsoft.com/office/drawing/2014/main" id="{42D354CB-B97C-9D3E-F6E7-58690E3172AC}"/>
              </a:ext>
            </a:extLst>
          </p:cNvPr>
          <p:cNvSpPr/>
          <p:nvPr/>
        </p:nvSpPr>
        <p:spPr>
          <a:xfrm>
            <a:off x="12573000" y="2468880"/>
            <a:ext cx="4241800" cy="1645920"/>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Two rhythms, as in Joe’s proposal: theta (5–12 Hz) and gamma (30–90 Hz), between every pair of 12 regions. 44 pairs had at least 4 rats on both days.</a:t>
            </a:r>
          </a:p>
        </p:txBody>
      </p:sp>
      <p:sp>
        <p:nvSpPr>
          <p:cNvPr id="16" name="!!T-BG">
            <a:extLst>
              <a:ext uri="{FF2B5EF4-FFF2-40B4-BE49-F238E27FC236}">
                <a16:creationId xmlns:a16="http://schemas.microsoft.com/office/drawing/2014/main" id="{B636B4BE-9217-372E-99E9-E92EB6D5E036}"/>
              </a:ext>
            </a:extLst>
          </p:cNvPr>
          <p:cNvSpPr/>
          <p:nvPr/>
        </p:nvSpPr>
        <p:spPr>
          <a:xfrm>
            <a:off x="-381000" y="0"/>
            <a:ext cx="12954000" cy="685800"/>
          </a:xfrm>
          <a:prstGeom prst="snip2DiagRect">
            <a:avLst>
              <a:gd name="adj1" fmla="val 0"/>
              <a:gd name="adj2" fmla="val 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
            <a:extLst>
              <a:ext uri="{FF2B5EF4-FFF2-40B4-BE49-F238E27FC236}">
                <a16:creationId xmlns:a16="http://schemas.microsoft.com/office/drawing/2014/main" id="{0B8ABBF9-72B7-7577-655D-C0B6533E5691}"/>
              </a:ext>
            </a:extLst>
          </p:cNvPr>
          <p:cNvSpPr txBox="1"/>
          <p:nvPr/>
        </p:nvSpPr>
        <p:spPr>
          <a:xfrm>
            <a:off x="127000" y="0"/>
            <a:ext cx="11811000" cy="685800"/>
          </a:xfrm>
          <a:prstGeom prst="rect">
            <a:avLst/>
          </a:prstGeom>
          <a:noFill/>
        </p:spPr>
        <p:txBody>
          <a:bodyPr vert="horz" wrap="square" lIns="76200" tIns="25400" rIns="76200" bIns="25400" rtlCol="0" anchor="ctr">
            <a:noAutofit/>
          </a:bodyPr>
          <a:lstStyle/>
          <a:p>
            <a:pPr>
              <a:lnSpc>
                <a:spcPct val="95000"/>
              </a:lnSpc>
            </a:pPr>
            <a:r>
              <a:rPr lang="en-US" sz="2400" b="1" u="sng">
                <a:solidFill>
                  <a:srgbClr val="FFFFFF"/>
                </a:solidFill>
                <a:latin typeface="Aptos Display" panose="020B0004020202020204" pitchFamily="34" charset="0"/>
              </a:rPr>
              <a:t>What was measured</a:t>
            </a:r>
          </a:p>
        </p:txBody>
      </p:sp>
    </p:spTree>
    <p:extLst>
      <p:ext uri="{BB962C8B-B14F-4D97-AF65-F5344CB8AC3E}">
        <p14:creationId xmlns:p14="http://schemas.microsoft.com/office/powerpoint/2010/main" val="231753559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tage">
            <a:extLst>
              <a:ext uri="{FF2B5EF4-FFF2-40B4-BE49-F238E27FC236}">
                <a16:creationId xmlns:a16="http://schemas.microsoft.com/office/drawing/2014/main" id="{B670EC92-72E9-FB8E-35FC-D179A0C4FB0A}"/>
              </a:ext>
            </a:extLst>
          </p:cNvPr>
          <p:cNvSpPr/>
          <p:nvPr/>
        </p:nvSpPr>
        <p:spPr>
          <a:xfrm>
            <a:off x="0" y="685800"/>
            <a:ext cx="7670800" cy="6172200"/>
          </a:xfrm>
          <a:prstGeom prst="rect">
            <a:avLst/>
          </a:prstGeom>
          <a:solidFill>
            <a:srgbClr val="ECEC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I_timeline">
            <a:extLst>
              <a:ext uri="{FF2B5EF4-FFF2-40B4-BE49-F238E27FC236}">
                <a16:creationId xmlns:a16="http://schemas.microsoft.com/office/drawing/2014/main" id="{799D0E7D-53D3-D4C5-56DD-DC2B15EC96CD}"/>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287909" y="1814628"/>
            <a:ext cx="7120382" cy="3939945"/>
          </a:xfrm>
          <a:prstGeom prst="rect">
            <a:avLst/>
          </a:prstGeom>
          <a:ln w="9525">
            <a:solidFill>
              <a:srgbClr val="B0B0B0"/>
            </a:solidFill>
          </a:ln>
        </p:spPr>
      </p:pic>
      <p:sp>
        <p:nvSpPr>
          <p:cNvPr id="5" name="!!D1">
            <a:extLst>
              <a:ext uri="{FF2B5EF4-FFF2-40B4-BE49-F238E27FC236}">
                <a16:creationId xmlns:a16="http://schemas.microsoft.com/office/drawing/2014/main" id="{E3E3997E-DD1E-71E8-BCEC-7BB72B42703A}"/>
              </a:ext>
            </a:extLst>
          </p:cNvPr>
          <p:cNvSpPr/>
          <p:nvPr/>
        </p:nvSpPr>
        <p:spPr>
          <a:xfrm>
            <a:off x="0" y="685800"/>
            <a:ext cx="7670800" cy="635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2">
            <a:extLst>
              <a:ext uri="{FF2B5EF4-FFF2-40B4-BE49-F238E27FC236}">
                <a16:creationId xmlns:a16="http://schemas.microsoft.com/office/drawing/2014/main" id="{E0D3D460-FA3D-C5D9-ADC0-1B4007CC2698}"/>
              </a:ext>
            </a:extLst>
          </p:cNvPr>
          <p:cNvSpPr/>
          <p:nvPr/>
        </p:nvSpPr>
        <p:spPr>
          <a:xfrm>
            <a:off x="0" y="6858000"/>
            <a:ext cx="7670800" cy="635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3">
            <a:extLst>
              <a:ext uri="{FF2B5EF4-FFF2-40B4-BE49-F238E27FC236}">
                <a16:creationId xmlns:a16="http://schemas.microsoft.com/office/drawing/2014/main" id="{FDAC7623-8BE1-F9A2-EC3B-338CF10974AD}"/>
              </a:ext>
            </a:extLst>
          </p:cNvPr>
          <p:cNvSpPr/>
          <p:nvPr/>
        </p:nvSpPr>
        <p:spPr>
          <a:xfrm>
            <a:off x="0" y="685800"/>
            <a:ext cx="6350" cy="617220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4">
            <a:extLst>
              <a:ext uri="{FF2B5EF4-FFF2-40B4-BE49-F238E27FC236}">
                <a16:creationId xmlns:a16="http://schemas.microsoft.com/office/drawing/2014/main" id="{B7A2BB8C-9349-5CCD-E725-0B0F06445637}"/>
              </a:ext>
            </a:extLst>
          </p:cNvPr>
          <p:cNvSpPr/>
          <p:nvPr/>
        </p:nvSpPr>
        <p:spPr>
          <a:xfrm>
            <a:off x="7670800" y="685800"/>
            <a:ext cx="6350" cy="617220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ocus">
            <a:extLst>
              <a:ext uri="{FF2B5EF4-FFF2-40B4-BE49-F238E27FC236}">
                <a16:creationId xmlns:a16="http://schemas.microsoft.com/office/drawing/2014/main" id="{363841C6-1F8D-DC1E-075F-70B54AF1D1E2}"/>
              </a:ext>
            </a:extLst>
          </p:cNvPr>
          <p:cNvSpPr/>
          <p:nvPr/>
        </p:nvSpPr>
        <p:spPr>
          <a:xfrm>
            <a:off x="572724" y="3624109"/>
            <a:ext cx="6271996" cy="534970"/>
          </a:xfrm>
          <a:prstGeom prst="rect">
            <a:avLst/>
          </a:prstGeom>
          <a:solidFill>
            <a:srgbClr val="83CBEB">
              <a:alpha val="37000"/>
            </a:srgbClr>
          </a:solidFill>
          <a:ln w="38100">
            <a:solidFill>
              <a:srgbClr val="46B1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ail">
            <a:extLst>
              <a:ext uri="{FF2B5EF4-FFF2-40B4-BE49-F238E27FC236}">
                <a16:creationId xmlns:a16="http://schemas.microsoft.com/office/drawing/2014/main" id="{E1BDBB45-5394-58CF-5F21-1B3AB3D2048B}"/>
              </a:ext>
            </a:extLst>
          </p:cNvPr>
          <p:cNvSpPr/>
          <p:nvPr/>
        </p:nvSpPr>
        <p:spPr>
          <a:xfrm>
            <a:off x="7670800" y="685800"/>
            <a:ext cx="4521200" cy="61722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N5">
            <a:extLst>
              <a:ext uri="{FF2B5EF4-FFF2-40B4-BE49-F238E27FC236}">
                <a16:creationId xmlns:a16="http://schemas.microsoft.com/office/drawing/2014/main" id="{41E55A49-19A9-55AE-1016-9014C8DFAB29}"/>
              </a:ext>
            </a:extLst>
          </p:cNvPr>
          <p:cNvSpPr/>
          <p:nvPr/>
        </p:nvSpPr>
        <p:spPr>
          <a:xfrm>
            <a:off x="7797800" y="838200"/>
            <a:ext cx="4241800" cy="417576"/>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Each trial: a baseline before cue 1, then cue 1 and cue 2.</a:t>
            </a:r>
          </a:p>
        </p:txBody>
      </p:sp>
      <p:sp>
        <p:nvSpPr>
          <p:cNvPr id="12" name="!!N6">
            <a:extLst>
              <a:ext uri="{FF2B5EF4-FFF2-40B4-BE49-F238E27FC236}">
                <a16:creationId xmlns:a16="http://schemas.microsoft.com/office/drawing/2014/main" id="{52285CB5-0AA9-561A-A472-07BAF67F8E1C}"/>
              </a:ext>
            </a:extLst>
          </p:cNvPr>
          <p:cNvSpPr/>
          <p:nvPr/>
        </p:nvSpPr>
        <p:spPr>
          <a:xfrm>
            <a:off x="7797800" y="1370076"/>
            <a:ext cx="4241800" cy="795528"/>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Comparison 1: the 20 s baseline against both cues (20 s).</a:t>
            </a:r>
          </a:p>
        </p:txBody>
      </p:sp>
      <p:sp>
        <p:nvSpPr>
          <p:cNvPr id="13" name="!!N7">
            <a:extLst>
              <a:ext uri="{FF2B5EF4-FFF2-40B4-BE49-F238E27FC236}">
                <a16:creationId xmlns:a16="http://schemas.microsoft.com/office/drawing/2014/main" id="{49CDC19A-977E-66CE-C5DC-C4F267D57BCE}"/>
              </a:ext>
            </a:extLst>
          </p:cNvPr>
          <p:cNvSpPr/>
          <p:nvPr/>
        </p:nvSpPr>
        <p:spPr>
          <a:xfrm>
            <a:off x="12573000" y="2090928"/>
            <a:ext cx="4241800" cy="795528"/>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Comparison 2: the 10 s baseline against cue 1.</a:t>
            </a:r>
          </a:p>
        </p:txBody>
      </p:sp>
      <p:sp>
        <p:nvSpPr>
          <p:cNvPr id="14" name="!!T-BG">
            <a:extLst>
              <a:ext uri="{FF2B5EF4-FFF2-40B4-BE49-F238E27FC236}">
                <a16:creationId xmlns:a16="http://schemas.microsoft.com/office/drawing/2014/main" id="{A78506B0-793F-B4C4-4437-30165E21D7FA}"/>
              </a:ext>
            </a:extLst>
          </p:cNvPr>
          <p:cNvSpPr/>
          <p:nvPr/>
        </p:nvSpPr>
        <p:spPr>
          <a:xfrm>
            <a:off x="-381000" y="0"/>
            <a:ext cx="12954000" cy="685800"/>
          </a:xfrm>
          <a:prstGeom prst="snip2DiagRect">
            <a:avLst>
              <a:gd name="adj1" fmla="val 0"/>
              <a:gd name="adj2" fmla="val 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
            <a:extLst>
              <a:ext uri="{FF2B5EF4-FFF2-40B4-BE49-F238E27FC236}">
                <a16:creationId xmlns:a16="http://schemas.microsoft.com/office/drawing/2014/main" id="{EFF14389-7723-E4B0-3D2E-F7F677087D33}"/>
              </a:ext>
            </a:extLst>
          </p:cNvPr>
          <p:cNvSpPr txBox="1"/>
          <p:nvPr/>
        </p:nvSpPr>
        <p:spPr>
          <a:xfrm>
            <a:off x="127000" y="0"/>
            <a:ext cx="11811000" cy="685800"/>
          </a:xfrm>
          <a:prstGeom prst="rect">
            <a:avLst/>
          </a:prstGeom>
          <a:noFill/>
        </p:spPr>
        <p:txBody>
          <a:bodyPr vert="horz" wrap="square" lIns="76200" tIns="25400" rIns="76200" bIns="25400" rtlCol="0" anchor="ctr">
            <a:noAutofit/>
          </a:bodyPr>
          <a:lstStyle/>
          <a:p>
            <a:pPr>
              <a:lnSpc>
                <a:spcPct val="95000"/>
              </a:lnSpc>
            </a:pPr>
            <a:r>
              <a:rPr lang="en-US" sz="2400" b="1" u="sng">
                <a:solidFill>
                  <a:srgbClr val="FFFFFF"/>
                </a:solidFill>
                <a:latin typeface="Aptos Display" panose="020B0004020202020204" pitchFamily="34" charset="0"/>
              </a:rPr>
              <a:t>What was measured</a:t>
            </a:r>
          </a:p>
        </p:txBody>
      </p:sp>
    </p:spTree>
    <p:extLst>
      <p:ext uri="{BB962C8B-B14F-4D97-AF65-F5344CB8AC3E}">
        <p14:creationId xmlns:p14="http://schemas.microsoft.com/office/powerpoint/2010/main" val="231850537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tage">
            <a:extLst>
              <a:ext uri="{FF2B5EF4-FFF2-40B4-BE49-F238E27FC236}">
                <a16:creationId xmlns:a16="http://schemas.microsoft.com/office/drawing/2014/main" id="{6D7BA91A-D76A-AF56-7272-D668AB8BB447}"/>
              </a:ext>
            </a:extLst>
          </p:cNvPr>
          <p:cNvSpPr/>
          <p:nvPr/>
        </p:nvSpPr>
        <p:spPr>
          <a:xfrm>
            <a:off x="0" y="685800"/>
            <a:ext cx="7670800" cy="6172200"/>
          </a:xfrm>
          <a:prstGeom prst="rect">
            <a:avLst/>
          </a:prstGeom>
          <a:solidFill>
            <a:srgbClr val="ECEC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I_timeline">
            <a:extLst>
              <a:ext uri="{FF2B5EF4-FFF2-40B4-BE49-F238E27FC236}">
                <a16:creationId xmlns:a16="http://schemas.microsoft.com/office/drawing/2014/main" id="{1C202A7F-8A71-07A8-DC1B-9CF1BEAC6DE3}"/>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287909" y="1814628"/>
            <a:ext cx="7120382" cy="3939945"/>
          </a:xfrm>
          <a:prstGeom prst="rect">
            <a:avLst/>
          </a:prstGeom>
          <a:ln w="9525">
            <a:solidFill>
              <a:srgbClr val="B0B0B0"/>
            </a:solidFill>
          </a:ln>
        </p:spPr>
      </p:pic>
      <p:sp>
        <p:nvSpPr>
          <p:cNvPr id="5" name="!!D1">
            <a:extLst>
              <a:ext uri="{FF2B5EF4-FFF2-40B4-BE49-F238E27FC236}">
                <a16:creationId xmlns:a16="http://schemas.microsoft.com/office/drawing/2014/main" id="{37669F10-649E-BFFD-0F9E-2CB476750594}"/>
              </a:ext>
            </a:extLst>
          </p:cNvPr>
          <p:cNvSpPr/>
          <p:nvPr/>
        </p:nvSpPr>
        <p:spPr>
          <a:xfrm>
            <a:off x="0" y="685800"/>
            <a:ext cx="7670800" cy="635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2">
            <a:extLst>
              <a:ext uri="{FF2B5EF4-FFF2-40B4-BE49-F238E27FC236}">
                <a16:creationId xmlns:a16="http://schemas.microsoft.com/office/drawing/2014/main" id="{FCCFE7FD-03EC-12D3-9F87-9EB31BA37CC1}"/>
              </a:ext>
            </a:extLst>
          </p:cNvPr>
          <p:cNvSpPr/>
          <p:nvPr/>
        </p:nvSpPr>
        <p:spPr>
          <a:xfrm>
            <a:off x="0" y="6858000"/>
            <a:ext cx="7670800" cy="635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3">
            <a:extLst>
              <a:ext uri="{FF2B5EF4-FFF2-40B4-BE49-F238E27FC236}">
                <a16:creationId xmlns:a16="http://schemas.microsoft.com/office/drawing/2014/main" id="{FE39E53D-FC3E-5480-8E3E-762CF8793695}"/>
              </a:ext>
            </a:extLst>
          </p:cNvPr>
          <p:cNvSpPr/>
          <p:nvPr/>
        </p:nvSpPr>
        <p:spPr>
          <a:xfrm>
            <a:off x="0" y="685800"/>
            <a:ext cx="6350" cy="617220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4">
            <a:extLst>
              <a:ext uri="{FF2B5EF4-FFF2-40B4-BE49-F238E27FC236}">
                <a16:creationId xmlns:a16="http://schemas.microsoft.com/office/drawing/2014/main" id="{FC35C544-13D0-56A7-E12A-CA8D074FFCF9}"/>
              </a:ext>
            </a:extLst>
          </p:cNvPr>
          <p:cNvSpPr/>
          <p:nvPr/>
        </p:nvSpPr>
        <p:spPr>
          <a:xfrm>
            <a:off x="7670800" y="685800"/>
            <a:ext cx="6350" cy="617220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ocus">
            <a:extLst>
              <a:ext uri="{FF2B5EF4-FFF2-40B4-BE49-F238E27FC236}">
                <a16:creationId xmlns:a16="http://schemas.microsoft.com/office/drawing/2014/main" id="{1FCA1CDA-F06D-F281-40BB-B771E850E7B2}"/>
              </a:ext>
            </a:extLst>
          </p:cNvPr>
          <p:cNvSpPr/>
          <p:nvPr/>
        </p:nvSpPr>
        <p:spPr>
          <a:xfrm>
            <a:off x="572724" y="4319570"/>
            <a:ext cx="6271996" cy="534971"/>
          </a:xfrm>
          <a:prstGeom prst="rect">
            <a:avLst/>
          </a:prstGeom>
          <a:solidFill>
            <a:srgbClr val="83CBEB">
              <a:alpha val="37000"/>
            </a:srgbClr>
          </a:solidFill>
          <a:ln w="38100">
            <a:solidFill>
              <a:srgbClr val="46B1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ail">
            <a:extLst>
              <a:ext uri="{FF2B5EF4-FFF2-40B4-BE49-F238E27FC236}">
                <a16:creationId xmlns:a16="http://schemas.microsoft.com/office/drawing/2014/main" id="{DC4DF051-8D8B-DD6C-A56D-E75AEC32095B}"/>
              </a:ext>
            </a:extLst>
          </p:cNvPr>
          <p:cNvSpPr/>
          <p:nvPr/>
        </p:nvSpPr>
        <p:spPr>
          <a:xfrm>
            <a:off x="7670800" y="685800"/>
            <a:ext cx="4521200" cy="61722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N5">
            <a:extLst>
              <a:ext uri="{FF2B5EF4-FFF2-40B4-BE49-F238E27FC236}">
                <a16:creationId xmlns:a16="http://schemas.microsoft.com/office/drawing/2014/main" id="{944470FD-4B20-245B-CC46-F6377C742705}"/>
              </a:ext>
            </a:extLst>
          </p:cNvPr>
          <p:cNvSpPr/>
          <p:nvPr/>
        </p:nvSpPr>
        <p:spPr>
          <a:xfrm>
            <a:off x="7797800" y="838200"/>
            <a:ext cx="4241800" cy="417576"/>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Each trial: a baseline before cue 1, then cue 1 and cue 2.</a:t>
            </a:r>
          </a:p>
        </p:txBody>
      </p:sp>
      <p:sp>
        <p:nvSpPr>
          <p:cNvPr id="12" name="!!N6">
            <a:extLst>
              <a:ext uri="{FF2B5EF4-FFF2-40B4-BE49-F238E27FC236}">
                <a16:creationId xmlns:a16="http://schemas.microsoft.com/office/drawing/2014/main" id="{9C5CB6B0-BCEA-5E96-4809-A01C6ED2BA23}"/>
              </a:ext>
            </a:extLst>
          </p:cNvPr>
          <p:cNvSpPr/>
          <p:nvPr/>
        </p:nvSpPr>
        <p:spPr>
          <a:xfrm>
            <a:off x="7797800" y="1370076"/>
            <a:ext cx="4241800" cy="60655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Comparison 1: the 20 s baseline against both cues (20 s).</a:t>
            </a:r>
          </a:p>
        </p:txBody>
      </p:sp>
      <p:sp>
        <p:nvSpPr>
          <p:cNvPr id="13" name="!!N7">
            <a:extLst>
              <a:ext uri="{FF2B5EF4-FFF2-40B4-BE49-F238E27FC236}">
                <a16:creationId xmlns:a16="http://schemas.microsoft.com/office/drawing/2014/main" id="{56FE7ED8-B477-B52A-F7BD-8A6A472C822D}"/>
              </a:ext>
            </a:extLst>
          </p:cNvPr>
          <p:cNvSpPr/>
          <p:nvPr/>
        </p:nvSpPr>
        <p:spPr>
          <a:xfrm>
            <a:off x="7797800" y="2090928"/>
            <a:ext cx="4241800" cy="795528"/>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Comparison 2: the 10 s baseline against cue 1.</a:t>
            </a:r>
          </a:p>
        </p:txBody>
      </p:sp>
      <p:sp>
        <p:nvSpPr>
          <p:cNvPr id="14" name="!!N8">
            <a:extLst>
              <a:ext uri="{FF2B5EF4-FFF2-40B4-BE49-F238E27FC236}">
                <a16:creationId xmlns:a16="http://schemas.microsoft.com/office/drawing/2014/main" id="{561EEC53-7D1E-FDE8-3574-606A686D34C7}"/>
              </a:ext>
            </a:extLst>
          </p:cNvPr>
          <p:cNvSpPr/>
          <p:nvPr/>
        </p:nvSpPr>
        <p:spPr>
          <a:xfrm>
            <a:off x="12573000" y="2622804"/>
            <a:ext cx="4241800" cy="107899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Comparison 5: cue 1 against cue 2, on every trial whatever its sounds: not A against B, nor C against D.</a:t>
            </a:r>
          </a:p>
        </p:txBody>
      </p:sp>
      <p:sp>
        <p:nvSpPr>
          <p:cNvPr id="15" name="!!T-BG">
            <a:extLst>
              <a:ext uri="{FF2B5EF4-FFF2-40B4-BE49-F238E27FC236}">
                <a16:creationId xmlns:a16="http://schemas.microsoft.com/office/drawing/2014/main" id="{FF656617-2680-595B-9D33-3376CFCEB4C8}"/>
              </a:ext>
            </a:extLst>
          </p:cNvPr>
          <p:cNvSpPr/>
          <p:nvPr/>
        </p:nvSpPr>
        <p:spPr>
          <a:xfrm>
            <a:off x="-381000" y="0"/>
            <a:ext cx="12954000" cy="685800"/>
          </a:xfrm>
          <a:prstGeom prst="snip2DiagRect">
            <a:avLst>
              <a:gd name="adj1" fmla="val 0"/>
              <a:gd name="adj2" fmla="val 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
            <a:extLst>
              <a:ext uri="{FF2B5EF4-FFF2-40B4-BE49-F238E27FC236}">
                <a16:creationId xmlns:a16="http://schemas.microsoft.com/office/drawing/2014/main" id="{7EC3A97D-1DD2-9B11-2278-D403187C6B58}"/>
              </a:ext>
            </a:extLst>
          </p:cNvPr>
          <p:cNvSpPr txBox="1"/>
          <p:nvPr/>
        </p:nvSpPr>
        <p:spPr>
          <a:xfrm>
            <a:off x="127000" y="0"/>
            <a:ext cx="11811000" cy="685800"/>
          </a:xfrm>
          <a:prstGeom prst="rect">
            <a:avLst/>
          </a:prstGeom>
          <a:noFill/>
        </p:spPr>
        <p:txBody>
          <a:bodyPr vert="horz" wrap="square" lIns="76200" tIns="25400" rIns="76200" bIns="25400" rtlCol="0" anchor="ctr">
            <a:noAutofit/>
          </a:bodyPr>
          <a:lstStyle/>
          <a:p>
            <a:pPr>
              <a:lnSpc>
                <a:spcPct val="95000"/>
              </a:lnSpc>
            </a:pPr>
            <a:r>
              <a:rPr lang="en-US" sz="2400" b="1" u="sng">
                <a:solidFill>
                  <a:srgbClr val="FFFFFF"/>
                </a:solidFill>
                <a:latin typeface="Aptos Display" panose="020B0004020202020204" pitchFamily="34" charset="0"/>
              </a:rPr>
              <a:t>What was measured</a:t>
            </a:r>
          </a:p>
        </p:txBody>
      </p:sp>
    </p:spTree>
    <p:extLst>
      <p:ext uri="{BB962C8B-B14F-4D97-AF65-F5344CB8AC3E}">
        <p14:creationId xmlns:p14="http://schemas.microsoft.com/office/powerpoint/2010/main" val="425438146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tage">
            <a:extLst>
              <a:ext uri="{FF2B5EF4-FFF2-40B4-BE49-F238E27FC236}">
                <a16:creationId xmlns:a16="http://schemas.microsoft.com/office/drawing/2014/main" id="{3A17B999-08B5-3CC0-7923-5C144779FCD2}"/>
              </a:ext>
            </a:extLst>
          </p:cNvPr>
          <p:cNvSpPr/>
          <p:nvPr/>
        </p:nvSpPr>
        <p:spPr>
          <a:xfrm>
            <a:off x="0" y="685800"/>
            <a:ext cx="7670800" cy="6172200"/>
          </a:xfrm>
          <a:prstGeom prst="rect">
            <a:avLst/>
          </a:prstGeom>
          <a:solidFill>
            <a:srgbClr val="ECEC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I_timeline">
            <a:extLst>
              <a:ext uri="{FF2B5EF4-FFF2-40B4-BE49-F238E27FC236}">
                <a16:creationId xmlns:a16="http://schemas.microsoft.com/office/drawing/2014/main" id="{F16DAD09-091F-2D8A-FC46-4DC5173486D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287909" y="1814628"/>
            <a:ext cx="7120382" cy="3939945"/>
          </a:xfrm>
          <a:prstGeom prst="rect">
            <a:avLst/>
          </a:prstGeom>
          <a:ln w="9525">
            <a:solidFill>
              <a:srgbClr val="B0B0B0"/>
            </a:solidFill>
          </a:ln>
        </p:spPr>
      </p:pic>
      <p:sp>
        <p:nvSpPr>
          <p:cNvPr id="5" name="!!D1">
            <a:extLst>
              <a:ext uri="{FF2B5EF4-FFF2-40B4-BE49-F238E27FC236}">
                <a16:creationId xmlns:a16="http://schemas.microsoft.com/office/drawing/2014/main" id="{FF8B2040-7EDB-F0B4-C304-1EEDE44D9B01}"/>
              </a:ext>
            </a:extLst>
          </p:cNvPr>
          <p:cNvSpPr/>
          <p:nvPr/>
        </p:nvSpPr>
        <p:spPr>
          <a:xfrm>
            <a:off x="0" y="685800"/>
            <a:ext cx="7670800" cy="635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2">
            <a:extLst>
              <a:ext uri="{FF2B5EF4-FFF2-40B4-BE49-F238E27FC236}">
                <a16:creationId xmlns:a16="http://schemas.microsoft.com/office/drawing/2014/main" id="{8A21E8E0-0981-2D61-9080-6014B17EC727}"/>
              </a:ext>
            </a:extLst>
          </p:cNvPr>
          <p:cNvSpPr/>
          <p:nvPr/>
        </p:nvSpPr>
        <p:spPr>
          <a:xfrm>
            <a:off x="0" y="6858000"/>
            <a:ext cx="7670800" cy="635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3">
            <a:extLst>
              <a:ext uri="{FF2B5EF4-FFF2-40B4-BE49-F238E27FC236}">
                <a16:creationId xmlns:a16="http://schemas.microsoft.com/office/drawing/2014/main" id="{A88CA572-3FB4-5585-6CF7-2417C331C58C}"/>
              </a:ext>
            </a:extLst>
          </p:cNvPr>
          <p:cNvSpPr/>
          <p:nvPr/>
        </p:nvSpPr>
        <p:spPr>
          <a:xfrm>
            <a:off x="0" y="685800"/>
            <a:ext cx="6350" cy="617220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4">
            <a:extLst>
              <a:ext uri="{FF2B5EF4-FFF2-40B4-BE49-F238E27FC236}">
                <a16:creationId xmlns:a16="http://schemas.microsoft.com/office/drawing/2014/main" id="{B9F9F8B6-EA85-1E63-1B56-5EF81831A72B}"/>
              </a:ext>
            </a:extLst>
          </p:cNvPr>
          <p:cNvSpPr/>
          <p:nvPr/>
        </p:nvSpPr>
        <p:spPr>
          <a:xfrm>
            <a:off x="7670800" y="685800"/>
            <a:ext cx="6350" cy="617220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ocus">
            <a:extLst>
              <a:ext uri="{FF2B5EF4-FFF2-40B4-BE49-F238E27FC236}">
                <a16:creationId xmlns:a16="http://schemas.microsoft.com/office/drawing/2014/main" id="{F954F365-39E8-3731-4316-B045EA810CDB}"/>
              </a:ext>
            </a:extLst>
          </p:cNvPr>
          <p:cNvSpPr/>
          <p:nvPr/>
        </p:nvSpPr>
        <p:spPr>
          <a:xfrm>
            <a:off x="572724" y="5015032"/>
            <a:ext cx="6271996" cy="534971"/>
          </a:xfrm>
          <a:prstGeom prst="rect">
            <a:avLst/>
          </a:prstGeom>
          <a:solidFill>
            <a:srgbClr val="83CBEB">
              <a:alpha val="37000"/>
            </a:srgbClr>
          </a:solidFill>
          <a:ln w="38100">
            <a:solidFill>
              <a:srgbClr val="46B1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ail">
            <a:extLst>
              <a:ext uri="{FF2B5EF4-FFF2-40B4-BE49-F238E27FC236}">
                <a16:creationId xmlns:a16="http://schemas.microsoft.com/office/drawing/2014/main" id="{427B47A3-BC0B-6F41-A9B7-A2A157ADB082}"/>
              </a:ext>
            </a:extLst>
          </p:cNvPr>
          <p:cNvSpPr/>
          <p:nvPr/>
        </p:nvSpPr>
        <p:spPr>
          <a:xfrm>
            <a:off x="7670800" y="685800"/>
            <a:ext cx="4521200" cy="61722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N5">
            <a:extLst>
              <a:ext uri="{FF2B5EF4-FFF2-40B4-BE49-F238E27FC236}">
                <a16:creationId xmlns:a16="http://schemas.microsoft.com/office/drawing/2014/main" id="{99D08940-4BF0-8871-AB57-4DB43BB6AAEB}"/>
              </a:ext>
            </a:extLst>
          </p:cNvPr>
          <p:cNvSpPr/>
          <p:nvPr/>
        </p:nvSpPr>
        <p:spPr>
          <a:xfrm>
            <a:off x="7797800" y="838200"/>
            <a:ext cx="4241800" cy="417576"/>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Each trial: a baseline before cue 1, then cue 1 and cue 2.</a:t>
            </a:r>
          </a:p>
        </p:txBody>
      </p:sp>
      <p:sp>
        <p:nvSpPr>
          <p:cNvPr id="12" name="!!N6">
            <a:extLst>
              <a:ext uri="{FF2B5EF4-FFF2-40B4-BE49-F238E27FC236}">
                <a16:creationId xmlns:a16="http://schemas.microsoft.com/office/drawing/2014/main" id="{4C59F6F6-D633-99F4-D576-CF4E234AE728}"/>
              </a:ext>
            </a:extLst>
          </p:cNvPr>
          <p:cNvSpPr/>
          <p:nvPr/>
        </p:nvSpPr>
        <p:spPr>
          <a:xfrm>
            <a:off x="7797800" y="1370076"/>
            <a:ext cx="4241800" cy="60655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Comparison 1: the 20 s baseline against both cues (20 s).</a:t>
            </a:r>
          </a:p>
        </p:txBody>
      </p:sp>
      <p:sp>
        <p:nvSpPr>
          <p:cNvPr id="13" name="!!N7">
            <a:extLst>
              <a:ext uri="{FF2B5EF4-FFF2-40B4-BE49-F238E27FC236}">
                <a16:creationId xmlns:a16="http://schemas.microsoft.com/office/drawing/2014/main" id="{F4B61C11-198E-5A8E-4DE9-FACCEA248F49}"/>
              </a:ext>
            </a:extLst>
          </p:cNvPr>
          <p:cNvSpPr/>
          <p:nvPr/>
        </p:nvSpPr>
        <p:spPr>
          <a:xfrm>
            <a:off x="7797800" y="2090928"/>
            <a:ext cx="4241800" cy="417576"/>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Comparison 2: the 10 s baseline against cue 1.</a:t>
            </a:r>
          </a:p>
        </p:txBody>
      </p:sp>
      <p:sp>
        <p:nvSpPr>
          <p:cNvPr id="14" name="!!N8">
            <a:extLst>
              <a:ext uri="{FF2B5EF4-FFF2-40B4-BE49-F238E27FC236}">
                <a16:creationId xmlns:a16="http://schemas.microsoft.com/office/drawing/2014/main" id="{F07B2DD6-B892-ABA1-92D3-BC39A2FB5189}"/>
              </a:ext>
            </a:extLst>
          </p:cNvPr>
          <p:cNvSpPr/>
          <p:nvPr/>
        </p:nvSpPr>
        <p:spPr>
          <a:xfrm>
            <a:off x="7797800" y="2622804"/>
            <a:ext cx="4241800" cy="107899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Comparison 5: cue 1 against cue 2, on every trial whatever its sounds: not A against B, nor C against D.</a:t>
            </a:r>
          </a:p>
        </p:txBody>
      </p:sp>
      <p:sp>
        <p:nvSpPr>
          <p:cNvPr id="15" name="!!N9">
            <a:extLst>
              <a:ext uri="{FF2B5EF4-FFF2-40B4-BE49-F238E27FC236}">
                <a16:creationId xmlns:a16="http://schemas.microsoft.com/office/drawing/2014/main" id="{313880E9-99A5-22B8-22B8-D5A107DE4B4E}"/>
              </a:ext>
            </a:extLst>
          </p:cNvPr>
          <p:cNvSpPr/>
          <p:nvPr/>
        </p:nvSpPr>
        <p:spPr>
          <a:xfrm>
            <a:off x="12573000" y="838200"/>
            <a:ext cx="4241800" cy="107899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The question: did the cues’ effect on coherence change from Precon1 to Precon4?</a:t>
            </a:r>
          </a:p>
        </p:txBody>
      </p:sp>
      <p:sp>
        <p:nvSpPr>
          <p:cNvPr id="16" name="!!T-BG">
            <a:extLst>
              <a:ext uri="{FF2B5EF4-FFF2-40B4-BE49-F238E27FC236}">
                <a16:creationId xmlns:a16="http://schemas.microsoft.com/office/drawing/2014/main" id="{770BFF55-EAC9-01D5-61CE-41F5070BB6FD}"/>
              </a:ext>
            </a:extLst>
          </p:cNvPr>
          <p:cNvSpPr/>
          <p:nvPr/>
        </p:nvSpPr>
        <p:spPr>
          <a:xfrm>
            <a:off x="-381000" y="0"/>
            <a:ext cx="12954000" cy="685800"/>
          </a:xfrm>
          <a:prstGeom prst="snip2DiagRect">
            <a:avLst>
              <a:gd name="adj1" fmla="val 0"/>
              <a:gd name="adj2" fmla="val 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
            <a:extLst>
              <a:ext uri="{FF2B5EF4-FFF2-40B4-BE49-F238E27FC236}">
                <a16:creationId xmlns:a16="http://schemas.microsoft.com/office/drawing/2014/main" id="{E0CB134D-BC0E-AB84-B94F-A4ED84A93395}"/>
              </a:ext>
            </a:extLst>
          </p:cNvPr>
          <p:cNvSpPr txBox="1"/>
          <p:nvPr/>
        </p:nvSpPr>
        <p:spPr>
          <a:xfrm>
            <a:off x="127000" y="0"/>
            <a:ext cx="11811000" cy="685800"/>
          </a:xfrm>
          <a:prstGeom prst="rect">
            <a:avLst/>
          </a:prstGeom>
          <a:noFill/>
        </p:spPr>
        <p:txBody>
          <a:bodyPr vert="horz" wrap="square" lIns="76200" tIns="25400" rIns="76200" bIns="25400" rtlCol="0" anchor="ctr">
            <a:noAutofit/>
          </a:bodyPr>
          <a:lstStyle/>
          <a:p>
            <a:pPr>
              <a:lnSpc>
                <a:spcPct val="95000"/>
              </a:lnSpc>
            </a:pPr>
            <a:r>
              <a:rPr lang="en-US" sz="2400" b="1" u="sng">
                <a:solidFill>
                  <a:srgbClr val="FFFFFF"/>
                </a:solidFill>
                <a:latin typeface="Aptos Display" panose="020B0004020202020204" pitchFamily="34" charset="0"/>
              </a:rPr>
              <a:t>What was measured</a:t>
            </a:r>
          </a:p>
        </p:txBody>
      </p:sp>
    </p:spTree>
    <p:extLst>
      <p:ext uri="{BB962C8B-B14F-4D97-AF65-F5344CB8AC3E}">
        <p14:creationId xmlns:p14="http://schemas.microsoft.com/office/powerpoint/2010/main" val="171187890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tage">
            <a:extLst>
              <a:ext uri="{FF2B5EF4-FFF2-40B4-BE49-F238E27FC236}">
                <a16:creationId xmlns:a16="http://schemas.microsoft.com/office/drawing/2014/main" id="{C4E91FAE-49FD-5861-ED64-A976000E8ECB}"/>
              </a:ext>
            </a:extLst>
          </p:cNvPr>
          <p:cNvSpPr/>
          <p:nvPr/>
        </p:nvSpPr>
        <p:spPr>
          <a:xfrm>
            <a:off x="0" y="685800"/>
            <a:ext cx="7670800" cy="6172200"/>
          </a:xfrm>
          <a:prstGeom prst="rect">
            <a:avLst/>
          </a:prstGeom>
          <a:solidFill>
            <a:srgbClr val="ECEC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I_rats_m1">
            <a:extLst>
              <a:ext uri="{FF2B5EF4-FFF2-40B4-BE49-F238E27FC236}">
                <a16:creationId xmlns:a16="http://schemas.microsoft.com/office/drawing/2014/main" id="{5D57AE54-AA10-3D0B-E434-38DA61FACEE2}"/>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287909" y="1411139"/>
            <a:ext cx="7120382" cy="4746921"/>
          </a:xfrm>
          <a:prstGeom prst="rect">
            <a:avLst/>
          </a:prstGeom>
          <a:ln w="9525">
            <a:solidFill>
              <a:srgbClr val="B0B0B0"/>
            </a:solidFill>
          </a:ln>
        </p:spPr>
      </p:pic>
      <p:sp>
        <p:nvSpPr>
          <p:cNvPr id="5" name="!!D1">
            <a:extLst>
              <a:ext uri="{FF2B5EF4-FFF2-40B4-BE49-F238E27FC236}">
                <a16:creationId xmlns:a16="http://schemas.microsoft.com/office/drawing/2014/main" id="{C9C8D76F-750F-FF08-06EB-98514F7245E3}"/>
              </a:ext>
            </a:extLst>
          </p:cNvPr>
          <p:cNvSpPr/>
          <p:nvPr/>
        </p:nvSpPr>
        <p:spPr>
          <a:xfrm>
            <a:off x="0" y="685800"/>
            <a:ext cx="7670800" cy="635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2">
            <a:extLst>
              <a:ext uri="{FF2B5EF4-FFF2-40B4-BE49-F238E27FC236}">
                <a16:creationId xmlns:a16="http://schemas.microsoft.com/office/drawing/2014/main" id="{637CD6EE-621C-5D11-8B5C-087AA0C845DF}"/>
              </a:ext>
            </a:extLst>
          </p:cNvPr>
          <p:cNvSpPr/>
          <p:nvPr/>
        </p:nvSpPr>
        <p:spPr>
          <a:xfrm>
            <a:off x="0" y="6858000"/>
            <a:ext cx="7670800" cy="635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3">
            <a:extLst>
              <a:ext uri="{FF2B5EF4-FFF2-40B4-BE49-F238E27FC236}">
                <a16:creationId xmlns:a16="http://schemas.microsoft.com/office/drawing/2014/main" id="{122062CF-F682-E061-4AAB-9FD72C05EC70}"/>
              </a:ext>
            </a:extLst>
          </p:cNvPr>
          <p:cNvSpPr/>
          <p:nvPr/>
        </p:nvSpPr>
        <p:spPr>
          <a:xfrm>
            <a:off x="0" y="685800"/>
            <a:ext cx="6350" cy="617220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4">
            <a:extLst>
              <a:ext uri="{FF2B5EF4-FFF2-40B4-BE49-F238E27FC236}">
                <a16:creationId xmlns:a16="http://schemas.microsoft.com/office/drawing/2014/main" id="{279431F7-AABA-FA82-9415-727AFE6B34EB}"/>
              </a:ext>
            </a:extLst>
          </p:cNvPr>
          <p:cNvSpPr/>
          <p:nvPr/>
        </p:nvSpPr>
        <p:spPr>
          <a:xfrm>
            <a:off x="7670800" y="685800"/>
            <a:ext cx="6350" cy="617220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ail">
            <a:extLst>
              <a:ext uri="{FF2B5EF4-FFF2-40B4-BE49-F238E27FC236}">
                <a16:creationId xmlns:a16="http://schemas.microsoft.com/office/drawing/2014/main" id="{B26BFF71-099F-DB4E-A5EC-A470BD351844}"/>
              </a:ext>
            </a:extLst>
          </p:cNvPr>
          <p:cNvSpPr/>
          <p:nvPr/>
        </p:nvSpPr>
        <p:spPr>
          <a:xfrm>
            <a:off x="7670800" y="685800"/>
            <a:ext cx="4521200" cy="61722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N9">
            <a:extLst>
              <a:ext uri="{FF2B5EF4-FFF2-40B4-BE49-F238E27FC236}">
                <a16:creationId xmlns:a16="http://schemas.microsoft.com/office/drawing/2014/main" id="{18F9C28E-C3CD-7661-E75F-BBFC5DC8EAD6}"/>
              </a:ext>
            </a:extLst>
          </p:cNvPr>
          <p:cNvSpPr/>
          <p:nvPr/>
        </p:nvSpPr>
        <p:spPr>
          <a:xfrm>
            <a:off x="7797800" y="838200"/>
            <a:ext cx="4241800" cy="107899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The question: did the cues’ effect on coherence change from Precon1 to Precon4?</a:t>
            </a:r>
          </a:p>
        </p:txBody>
      </p:sp>
      <p:sp>
        <p:nvSpPr>
          <p:cNvPr id="11" name="!!N10">
            <a:extLst>
              <a:ext uri="{FF2B5EF4-FFF2-40B4-BE49-F238E27FC236}">
                <a16:creationId xmlns:a16="http://schemas.microsoft.com/office/drawing/2014/main" id="{4D55015F-1FF4-F2FC-278B-DAB9090D5294}"/>
              </a:ext>
            </a:extLst>
          </p:cNvPr>
          <p:cNvSpPr/>
          <p:nvPr/>
        </p:nvSpPr>
        <p:spPr>
          <a:xfrm>
            <a:off x="12573000" y="1559052"/>
            <a:ext cx="4241800" cy="1645920"/>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Each dot is one rat (comparison 1, gamma): its cue effect (cue − baseline) on Precon4, minus its cue effect on Precon1, averaged over its pairs. 7 of 8 are above 0.</a:t>
            </a:r>
          </a:p>
        </p:txBody>
      </p:sp>
      <p:sp>
        <p:nvSpPr>
          <p:cNvPr id="12" name="!!N5">
            <a:extLst>
              <a:ext uri="{FF2B5EF4-FFF2-40B4-BE49-F238E27FC236}">
                <a16:creationId xmlns:a16="http://schemas.microsoft.com/office/drawing/2014/main" id="{419F1952-DDBA-56A3-3E9B-6AA7F85E3AD7}"/>
              </a:ext>
            </a:extLst>
          </p:cNvPr>
          <p:cNvSpPr/>
          <p:nvPr/>
        </p:nvSpPr>
        <p:spPr>
          <a:xfrm>
            <a:off x="12573000" y="838200"/>
            <a:ext cx="4241800" cy="417576"/>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Each trial: a baseline before cue 1, then cue 1 and cue 2.</a:t>
            </a:r>
          </a:p>
        </p:txBody>
      </p:sp>
      <p:sp>
        <p:nvSpPr>
          <p:cNvPr id="13" name="!!N6">
            <a:extLst>
              <a:ext uri="{FF2B5EF4-FFF2-40B4-BE49-F238E27FC236}">
                <a16:creationId xmlns:a16="http://schemas.microsoft.com/office/drawing/2014/main" id="{5BBC7BC0-3E1C-63EE-A0E1-A8D6F2D66819}"/>
              </a:ext>
            </a:extLst>
          </p:cNvPr>
          <p:cNvSpPr/>
          <p:nvPr/>
        </p:nvSpPr>
        <p:spPr>
          <a:xfrm>
            <a:off x="12573000" y="1370076"/>
            <a:ext cx="4241800" cy="60655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Comparison 1: the 20 s baseline against both cues (20 s).</a:t>
            </a:r>
          </a:p>
        </p:txBody>
      </p:sp>
      <p:sp>
        <p:nvSpPr>
          <p:cNvPr id="14" name="!!N7">
            <a:extLst>
              <a:ext uri="{FF2B5EF4-FFF2-40B4-BE49-F238E27FC236}">
                <a16:creationId xmlns:a16="http://schemas.microsoft.com/office/drawing/2014/main" id="{EA5FCF80-9D77-4CED-5D9D-D2B518CCDE4F}"/>
              </a:ext>
            </a:extLst>
          </p:cNvPr>
          <p:cNvSpPr/>
          <p:nvPr/>
        </p:nvSpPr>
        <p:spPr>
          <a:xfrm>
            <a:off x="12573000" y="2090928"/>
            <a:ext cx="4241800" cy="417576"/>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Comparison 2: the 10 s baseline against cue 1.</a:t>
            </a:r>
          </a:p>
        </p:txBody>
      </p:sp>
      <p:sp>
        <p:nvSpPr>
          <p:cNvPr id="15" name="!!N8">
            <a:extLst>
              <a:ext uri="{FF2B5EF4-FFF2-40B4-BE49-F238E27FC236}">
                <a16:creationId xmlns:a16="http://schemas.microsoft.com/office/drawing/2014/main" id="{8C494053-AE7A-17BB-8637-549A8196FA0F}"/>
              </a:ext>
            </a:extLst>
          </p:cNvPr>
          <p:cNvSpPr/>
          <p:nvPr/>
        </p:nvSpPr>
        <p:spPr>
          <a:xfrm>
            <a:off x="12573000" y="2622804"/>
            <a:ext cx="4241800" cy="107899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Comparison 5: cue 1 against cue 2, on every trial whatever its sounds: not A against B, nor C against D.</a:t>
            </a:r>
          </a:p>
        </p:txBody>
      </p:sp>
      <p:sp>
        <p:nvSpPr>
          <p:cNvPr id="16" name="!!T-BG">
            <a:extLst>
              <a:ext uri="{FF2B5EF4-FFF2-40B4-BE49-F238E27FC236}">
                <a16:creationId xmlns:a16="http://schemas.microsoft.com/office/drawing/2014/main" id="{D9772FD1-A7DC-38AC-C7BF-91BEBBB6417D}"/>
              </a:ext>
            </a:extLst>
          </p:cNvPr>
          <p:cNvSpPr/>
          <p:nvPr/>
        </p:nvSpPr>
        <p:spPr>
          <a:xfrm>
            <a:off x="-381000" y="0"/>
            <a:ext cx="12954000" cy="685800"/>
          </a:xfrm>
          <a:prstGeom prst="snip2DiagRect">
            <a:avLst>
              <a:gd name="adj1" fmla="val 0"/>
              <a:gd name="adj2" fmla="val 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
            <a:extLst>
              <a:ext uri="{FF2B5EF4-FFF2-40B4-BE49-F238E27FC236}">
                <a16:creationId xmlns:a16="http://schemas.microsoft.com/office/drawing/2014/main" id="{14D44093-A716-D356-91C0-FAEC25A932D6}"/>
              </a:ext>
            </a:extLst>
          </p:cNvPr>
          <p:cNvSpPr txBox="1"/>
          <p:nvPr/>
        </p:nvSpPr>
        <p:spPr>
          <a:xfrm>
            <a:off x="127000" y="0"/>
            <a:ext cx="11811000" cy="685800"/>
          </a:xfrm>
          <a:prstGeom prst="rect">
            <a:avLst/>
          </a:prstGeom>
          <a:noFill/>
        </p:spPr>
        <p:txBody>
          <a:bodyPr vert="horz" wrap="square" lIns="76200" tIns="25400" rIns="76200" bIns="25400" rtlCol="0" anchor="ctr">
            <a:noAutofit/>
          </a:bodyPr>
          <a:lstStyle/>
          <a:p>
            <a:pPr>
              <a:lnSpc>
                <a:spcPct val="95000"/>
              </a:lnSpc>
            </a:pPr>
            <a:r>
              <a:rPr lang="en-US" sz="2400" b="1" u="sng">
                <a:solidFill>
                  <a:srgbClr val="FFFFFF"/>
                </a:solidFill>
                <a:latin typeface="Aptos Display" panose="020B0004020202020204" pitchFamily="34" charset="0"/>
              </a:rPr>
              <a:t>What was measured</a:t>
            </a:r>
          </a:p>
        </p:txBody>
      </p:sp>
    </p:spTree>
    <p:extLst>
      <p:ext uri="{BB962C8B-B14F-4D97-AF65-F5344CB8AC3E}">
        <p14:creationId xmlns:p14="http://schemas.microsoft.com/office/powerpoint/2010/main" val="357092793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tage">
            <a:extLst>
              <a:ext uri="{FF2B5EF4-FFF2-40B4-BE49-F238E27FC236}">
                <a16:creationId xmlns:a16="http://schemas.microsoft.com/office/drawing/2014/main" id="{891917C7-AA51-4404-BD32-CDE8C27F41C8}"/>
              </a:ext>
            </a:extLst>
          </p:cNvPr>
          <p:cNvSpPr/>
          <p:nvPr/>
        </p:nvSpPr>
        <p:spPr>
          <a:xfrm>
            <a:off x="0" y="685800"/>
            <a:ext cx="7670800" cy="6172200"/>
          </a:xfrm>
          <a:prstGeom prst="rect">
            <a:avLst/>
          </a:prstGeom>
          <a:solidFill>
            <a:srgbClr val="ECEC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I_rats_m1">
            <a:extLst>
              <a:ext uri="{FF2B5EF4-FFF2-40B4-BE49-F238E27FC236}">
                <a16:creationId xmlns:a16="http://schemas.microsoft.com/office/drawing/2014/main" id="{E18ED68D-54D5-1CDB-4389-AAF3E897E30C}"/>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287909" y="1411139"/>
            <a:ext cx="7120382" cy="4746921"/>
          </a:xfrm>
          <a:prstGeom prst="rect">
            <a:avLst/>
          </a:prstGeom>
          <a:ln w="9525">
            <a:solidFill>
              <a:srgbClr val="B0B0B0"/>
            </a:solidFill>
          </a:ln>
        </p:spPr>
      </p:pic>
      <p:sp>
        <p:nvSpPr>
          <p:cNvPr id="5" name="!!D1">
            <a:extLst>
              <a:ext uri="{FF2B5EF4-FFF2-40B4-BE49-F238E27FC236}">
                <a16:creationId xmlns:a16="http://schemas.microsoft.com/office/drawing/2014/main" id="{139BDBAE-6BE4-D88F-B118-35C7237CE68B}"/>
              </a:ext>
            </a:extLst>
          </p:cNvPr>
          <p:cNvSpPr/>
          <p:nvPr/>
        </p:nvSpPr>
        <p:spPr>
          <a:xfrm>
            <a:off x="0" y="685800"/>
            <a:ext cx="7670800" cy="635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2">
            <a:extLst>
              <a:ext uri="{FF2B5EF4-FFF2-40B4-BE49-F238E27FC236}">
                <a16:creationId xmlns:a16="http://schemas.microsoft.com/office/drawing/2014/main" id="{68FDF548-9CD2-6539-1FB3-FC837F962B24}"/>
              </a:ext>
            </a:extLst>
          </p:cNvPr>
          <p:cNvSpPr/>
          <p:nvPr/>
        </p:nvSpPr>
        <p:spPr>
          <a:xfrm>
            <a:off x="0" y="6858000"/>
            <a:ext cx="7670800" cy="635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3">
            <a:extLst>
              <a:ext uri="{FF2B5EF4-FFF2-40B4-BE49-F238E27FC236}">
                <a16:creationId xmlns:a16="http://schemas.microsoft.com/office/drawing/2014/main" id="{9D633629-9E0B-FDBF-EA5D-96D8E8A78DAA}"/>
              </a:ext>
            </a:extLst>
          </p:cNvPr>
          <p:cNvSpPr/>
          <p:nvPr/>
        </p:nvSpPr>
        <p:spPr>
          <a:xfrm>
            <a:off x="0" y="685800"/>
            <a:ext cx="6350" cy="617220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4">
            <a:extLst>
              <a:ext uri="{FF2B5EF4-FFF2-40B4-BE49-F238E27FC236}">
                <a16:creationId xmlns:a16="http://schemas.microsoft.com/office/drawing/2014/main" id="{F91D54FB-6DB6-D652-F320-CFD5B9383DE3}"/>
              </a:ext>
            </a:extLst>
          </p:cNvPr>
          <p:cNvSpPr/>
          <p:nvPr/>
        </p:nvSpPr>
        <p:spPr>
          <a:xfrm>
            <a:off x="7670800" y="685800"/>
            <a:ext cx="6350" cy="617220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ocus">
            <a:extLst>
              <a:ext uri="{FF2B5EF4-FFF2-40B4-BE49-F238E27FC236}">
                <a16:creationId xmlns:a16="http://schemas.microsoft.com/office/drawing/2014/main" id="{1368E97D-698B-BF96-6321-9AD58A181513}"/>
              </a:ext>
            </a:extLst>
          </p:cNvPr>
          <p:cNvSpPr/>
          <p:nvPr/>
        </p:nvSpPr>
        <p:spPr>
          <a:xfrm>
            <a:off x="1474639" y="1648485"/>
            <a:ext cx="5696306" cy="3797538"/>
          </a:xfrm>
          <a:prstGeom prst="rect">
            <a:avLst/>
          </a:prstGeom>
          <a:solidFill>
            <a:srgbClr val="83CBEB">
              <a:alpha val="37000"/>
            </a:srgbClr>
          </a:solidFill>
          <a:ln w="38100">
            <a:solidFill>
              <a:srgbClr val="46B1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ail">
            <a:extLst>
              <a:ext uri="{FF2B5EF4-FFF2-40B4-BE49-F238E27FC236}">
                <a16:creationId xmlns:a16="http://schemas.microsoft.com/office/drawing/2014/main" id="{C414ABF8-0911-CC21-5738-48D3C63042F9}"/>
              </a:ext>
            </a:extLst>
          </p:cNvPr>
          <p:cNvSpPr/>
          <p:nvPr/>
        </p:nvSpPr>
        <p:spPr>
          <a:xfrm>
            <a:off x="7670800" y="685800"/>
            <a:ext cx="4521200" cy="61722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N9">
            <a:extLst>
              <a:ext uri="{FF2B5EF4-FFF2-40B4-BE49-F238E27FC236}">
                <a16:creationId xmlns:a16="http://schemas.microsoft.com/office/drawing/2014/main" id="{E84EC7E7-9230-C14D-43E5-2621CCFBE3B8}"/>
              </a:ext>
            </a:extLst>
          </p:cNvPr>
          <p:cNvSpPr/>
          <p:nvPr/>
        </p:nvSpPr>
        <p:spPr>
          <a:xfrm>
            <a:off x="7797800" y="838200"/>
            <a:ext cx="4241800" cy="60655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The question: did the cues’ effect on coherence </a:t>
            </a:r>
            <a:r>
              <a:rPr lang="en-US" sz="1200" b="1">
                <a:solidFill>
                  <a:srgbClr val="FFFFFF"/>
                </a:solidFill>
                <a:latin typeface="Aptos" panose="020B0004020202020204" pitchFamily="34" charset="0"/>
              </a:rPr>
              <a:t>change</a:t>
            </a:r>
            <a:r>
              <a:rPr lang="en-US" sz="1200">
                <a:solidFill>
                  <a:srgbClr val="FFFFFF"/>
                </a:solidFill>
                <a:latin typeface="Aptos" panose="020B0004020202020204" pitchFamily="34" charset="0"/>
              </a:rPr>
              <a:t> from Precon1 to Precon4?</a:t>
            </a:r>
          </a:p>
        </p:txBody>
      </p:sp>
      <p:sp>
        <p:nvSpPr>
          <p:cNvPr id="12" name="!!N10">
            <a:extLst>
              <a:ext uri="{FF2B5EF4-FFF2-40B4-BE49-F238E27FC236}">
                <a16:creationId xmlns:a16="http://schemas.microsoft.com/office/drawing/2014/main" id="{E0DDF847-1D3B-1ADA-953B-C02012CFDE72}"/>
              </a:ext>
            </a:extLst>
          </p:cNvPr>
          <p:cNvSpPr/>
          <p:nvPr/>
        </p:nvSpPr>
        <p:spPr>
          <a:xfrm>
            <a:off x="7797800" y="1559052"/>
            <a:ext cx="4241800" cy="1645920"/>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Each dot is one rat (comparison 1, gamma): its cue effect (cue − baseline) on Precon4, minus its cue effect on Precon1, averaged over its pairs. 7 of 8 are above 0.</a:t>
            </a:r>
          </a:p>
        </p:txBody>
      </p:sp>
      <p:sp>
        <p:nvSpPr>
          <p:cNvPr id="13" name="!!N11">
            <a:extLst>
              <a:ext uri="{FF2B5EF4-FFF2-40B4-BE49-F238E27FC236}">
                <a16:creationId xmlns:a16="http://schemas.microsoft.com/office/drawing/2014/main" id="{C9DE9628-10FC-30A8-2342-19972E818E3F}"/>
              </a:ext>
            </a:extLst>
          </p:cNvPr>
          <p:cNvSpPr/>
          <p:nvPr/>
        </p:nvSpPr>
        <p:spPr>
          <a:xfrm>
            <a:off x="12573000" y="838200"/>
            <a:ext cx="4241800" cy="1929384"/>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12 comparisons, each in theta and gamma. Blue: unlikely to be chance (P &lt; 0.05). Orange diamond: a check that lit. Hollow: not clear of chance, which is not the same as no change.</a:t>
            </a:r>
          </a:p>
        </p:txBody>
      </p:sp>
      <p:sp>
        <p:nvSpPr>
          <p:cNvPr id="14" name="!!T-BG">
            <a:extLst>
              <a:ext uri="{FF2B5EF4-FFF2-40B4-BE49-F238E27FC236}">
                <a16:creationId xmlns:a16="http://schemas.microsoft.com/office/drawing/2014/main" id="{08805736-FE17-860A-C36C-399F6EE9C92B}"/>
              </a:ext>
            </a:extLst>
          </p:cNvPr>
          <p:cNvSpPr/>
          <p:nvPr/>
        </p:nvSpPr>
        <p:spPr>
          <a:xfrm>
            <a:off x="-381000" y="0"/>
            <a:ext cx="12954000" cy="685800"/>
          </a:xfrm>
          <a:prstGeom prst="snip2DiagRect">
            <a:avLst>
              <a:gd name="adj1" fmla="val 0"/>
              <a:gd name="adj2" fmla="val 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
            <a:extLst>
              <a:ext uri="{FF2B5EF4-FFF2-40B4-BE49-F238E27FC236}">
                <a16:creationId xmlns:a16="http://schemas.microsoft.com/office/drawing/2014/main" id="{DBC4D919-EF49-C3FB-FF90-7D495DCF4742}"/>
              </a:ext>
            </a:extLst>
          </p:cNvPr>
          <p:cNvSpPr txBox="1"/>
          <p:nvPr/>
        </p:nvSpPr>
        <p:spPr>
          <a:xfrm>
            <a:off x="127000" y="0"/>
            <a:ext cx="11811000" cy="685800"/>
          </a:xfrm>
          <a:prstGeom prst="rect">
            <a:avLst/>
          </a:prstGeom>
          <a:noFill/>
        </p:spPr>
        <p:txBody>
          <a:bodyPr vert="horz" wrap="square" lIns="76200" tIns="25400" rIns="76200" bIns="25400" rtlCol="0" anchor="ctr">
            <a:noAutofit/>
          </a:bodyPr>
          <a:lstStyle/>
          <a:p>
            <a:pPr>
              <a:lnSpc>
                <a:spcPct val="95000"/>
              </a:lnSpc>
            </a:pPr>
            <a:r>
              <a:rPr lang="en-US" sz="2400" b="1" u="sng">
                <a:solidFill>
                  <a:srgbClr val="FFFFFF"/>
                </a:solidFill>
                <a:latin typeface="Aptos Display" panose="020B0004020202020204" pitchFamily="34" charset="0"/>
              </a:rPr>
              <a:t>What was measured</a:t>
            </a:r>
          </a:p>
        </p:txBody>
      </p:sp>
    </p:spTree>
    <p:extLst>
      <p:ext uri="{BB962C8B-B14F-4D97-AF65-F5344CB8AC3E}">
        <p14:creationId xmlns:p14="http://schemas.microsoft.com/office/powerpoint/2010/main" val="83229093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tage">
            <a:extLst>
              <a:ext uri="{FF2B5EF4-FFF2-40B4-BE49-F238E27FC236}">
                <a16:creationId xmlns:a16="http://schemas.microsoft.com/office/drawing/2014/main" id="{6F451B9F-4F03-19F9-4BFE-E120DA61DCF7}"/>
              </a:ext>
            </a:extLst>
          </p:cNvPr>
          <p:cNvSpPr/>
          <p:nvPr/>
        </p:nvSpPr>
        <p:spPr>
          <a:xfrm>
            <a:off x="0" y="685800"/>
            <a:ext cx="7670800" cy="6172200"/>
          </a:xfrm>
          <a:prstGeom prst="rect">
            <a:avLst/>
          </a:prstGeom>
          <a:solidFill>
            <a:srgbClr val="ECEC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I_lights">
            <a:extLst>
              <a:ext uri="{FF2B5EF4-FFF2-40B4-BE49-F238E27FC236}">
                <a16:creationId xmlns:a16="http://schemas.microsoft.com/office/drawing/2014/main" id="{D6B6F454-F30C-3F43-509D-92C40EF078C6}"/>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287909" y="1676967"/>
            <a:ext cx="7120382" cy="4215266"/>
          </a:xfrm>
          <a:prstGeom prst="rect">
            <a:avLst/>
          </a:prstGeom>
          <a:ln w="9525">
            <a:solidFill>
              <a:srgbClr val="B0B0B0"/>
            </a:solidFill>
          </a:ln>
        </p:spPr>
      </p:pic>
      <p:sp>
        <p:nvSpPr>
          <p:cNvPr id="5" name="!!D1">
            <a:extLst>
              <a:ext uri="{FF2B5EF4-FFF2-40B4-BE49-F238E27FC236}">
                <a16:creationId xmlns:a16="http://schemas.microsoft.com/office/drawing/2014/main" id="{CA4E0B9A-DE5A-B04A-3EA8-7048B451A396}"/>
              </a:ext>
            </a:extLst>
          </p:cNvPr>
          <p:cNvSpPr/>
          <p:nvPr/>
        </p:nvSpPr>
        <p:spPr>
          <a:xfrm>
            <a:off x="0" y="685800"/>
            <a:ext cx="7670800" cy="635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2">
            <a:extLst>
              <a:ext uri="{FF2B5EF4-FFF2-40B4-BE49-F238E27FC236}">
                <a16:creationId xmlns:a16="http://schemas.microsoft.com/office/drawing/2014/main" id="{FC368AD9-D150-A1C3-674E-C800C56CC8FF}"/>
              </a:ext>
            </a:extLst>
          </p:cNvPr>
          <p:cNvSpPr/>
          <p:nvPr/>
        </p:nvSpPr>
        <p:spPr>
          <a:xfrm>
            <a:off x="0" y="6858000"/>
            <a:ext cx="7670800" cy="635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3">
            <a:extLst>
              <a:ext uri="{FF2B5EF4-FFF2-40B4-BE49-F238E27FC236}">
                <a16:creationId xmlns:a16="http://schemas.microsoft.com/office/drawing/2014/main" id="{7E895770-8A25-BA20-16BE-08634B88D7C7}"/>
              </a:ext>
            </a:extLst>
          </p:cNvPr>
          <p:cNvSpPr/>
          <p:nvPr/>
        </p:nvSpPr>
        <p:spPr>
          <a:xfrm>
            <a:off x="0" y="685800"/>
            <a:ext cx="6350" cy="617220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4">
            <a:extLst>
              <a:ext uri="{FF2B5EF4-FFF2-40B4-BE49-F238E27FC236}">
                <a16:creationId xmlns:a16="http://schemas.microsoft.com/office/drawing/2014/main" id="{3F6AE813-3D80-1BC3-5961-BE058E5BB21E}"/>
              </a:ext>
            </a:extLst>
          </p:cNvPr>
          <p:cNvSpPr/>
          <p:nvPr/>
        </p:nvSpPr>
        <p:spPr>
          <a:xfrm>
            <a:off x="7670800" y="685800"/>
            <a:ext cx="6350" cy="617220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ail">
            <a:extLst>
              <a:ext uri="{FF2B5EF4-FFF2-40B4-BE49-F238E27FC236}">
                <a16:creationId xmlns:a16="http://schemas.microsoft.com/office/drawing/2014/main" id="{7CE36EDD-C431-2AB6-896E-FBBA296D8ADB}"/>
              </a:ext>
            </a:extLst>
          </p:cNvPr>
          <p:cNvSpPr/>
          <p:nvPr/>
        </p:nvSpPr>
        <p:spPr>
          <a:xfrm>
            <a:off x="7670800" y="685800"/>
            <a:ext cx="4521200" cy="61722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N11">
            <a:extLst>
              <a:ext uri="{FF2B5EF4-FFF2-40B4-BE49-F238E27FC236}">
                <a16:creationId xmlns:a16="http://schemas.microsoft.com/office/drawing/2014/main" id="{1A099CA1-2697-A9E6-BD55-EBDE831D69E6}"/>
              </a:ext>
            </a:extLst>
          </p:cNvPr>
          <p:cNvSpPr/>
          <p:nvPr/>
        </p:nvSpPr>
        <p:spPr>
          <a:xfrm>
            <a:off x="7797800" y="838200"/>
            <a:ext cx="4241800" cy="1929384"/>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12 comparisons, each in theta and gamma. Blue: unlikely to be chance (P &lt; 0.05). Orange diamond: a check that lit. Hollow: not clear of chance, which is not the same as no change.</a:t>
            </a:r>
          </a:p>
        </p:txBody>
      </p:sp>
      <p:sp>
        <p:nvSpPr>
          <p:cNvPr id="11" name="!!N12">
            <a:extLst>
              <a:ext uri="{FF2B5EF4-FFF2-40B4-BE49-F238E27FC236}">
                <a16:creationId xmlns:a16="http://schemas.microsoft.com/office/drawing/2014/main" id="{B9D31F54-FFAB-0870-0398-84D23721CED8}"/>
              </a:ext>
            </a:extLst>
          </p:cNvPr>
          <p:cNvSpPr/>
          <p:nvPr/>
        </p:nvSpPr>
        <p:spPr>
          <a:xfrm>
            <a:off x="12573000" y="1937004"/>
            <a:ext cx="4241800" cy="1362456"/>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Two lit, both in gamma: comparison 1 (P = 0.017, 7 of 8 rats the same way) and comparison 2 (P = 0.035, 6 of 8).</a:t>
            </a:r>
          </a:p>
        </p:txBody>
      </p:sp>
      <p:sp>
        <p:nvSpPr>
          <p:cNvPr id="12" name="!!N9">
            <a:extLst>
              <a:ext uri="{FF2B5EF4-FFF2-40B4-BE49-F238E27FC236}">
                <a16:creationId xmlns:a16="http://schemas.microsoft.com/office/drawing/2014/main" id="{2A810A10-4E74-5391-B99E-179652603BDF}"/>
              </a:ext>
            </a:extLst>
          </p:cNvPr>
          <p:cNvSpPr/>
          <p:nvPr/>
        </p:nvSpPr>
        <p:spPr>
          <a:xfrm>
            <a:off x="12573000" y="838200"/>
            <a:ext cx="4241800" cy="60655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The question: did the cues’ effect on coherence </a:t>
            </a:r>
            <a:r>
              <a:rPr lang="en-US" sz="1200" b="1">
                <a:solidFill>
                  <a:srgbClr val="FFFFFF"/>
                </a:solidFill>
                <a:latin typeface="Aptos" panose="020B0004020202020204" pitchFamily="34" charset="0"/>
              </a:rPr>
              <a:t>change</a:t>
            </a:r>
            <a:r>
              <a:rPr lang="en-US" sz="1200">
                <a:solidFill>
                  <a:srgbClr val="FFFFFF"/>
                </a:solidFill>
                <a:latin typeface="Aptos" panose="020B0004020202020204" pitchFamily="34" charset="0"/>
              </a:rPr>
              <a:t> from Precon1 to Precon4?</a:t>
            </a:r>
          </a:p>
        </p:txBody>
      </p:sp>
      <p:sp>
        <p:nvSpPr>
          <p:cNvPr id="13" name="!!N10">
            <a:extLst>
              <a:ext uri="{FF2B5EF4-FFF2-40B4-BE49-F238E27FC236}">
                <a16:creationId xmlns:a16="http://schemas.microsoft.com/office/drawing/2014/main" id="{F420B2E2-7011-E3BE-0A0C-FE57A599B337}"/>
              </a:ext>
            </a:extLst>
          </p:cNvPr>
          <p:cNvSpPr/>
          <p:nvPr/>
        </p:nvSpPr>
        <p:spPr>
          <a:xfrm>
            <a:off x="12573000" y="1559052"/>
            <a:ext cx="4241800" cy="1645920"/>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Each dot is one rat (comparison 1, gamma): its cue effect (cue − baseline) on Precon4, minus its cue effect on Precon1, averaged over its pairs. 7 of 8 are above 0.</a:t>
            </a:r>
          </a:p>
        </p:txBody>
      </p:sp>
      <p:sp>
        <p:nvSpPr>
          <p:cNvPr id="14" name="!!T-BG">
            <a:extLst>
              <a:ext uri="{FF2B5EF4-FFF2-40B4-BE49-F238E27FC236}">
                <a16:creationId xmlns:a16="http://schemas.microsoft.com/office/drawing/2014/main" id="{EC4BA867-A6FB-53C0-3476-ADD77707C02D}"/>
              </a:ext>
            </a:extLst>
          </p:cNvPr>
          <p:cNvSpPr/>
          <p:nvPr/>
        </p:nvSpPr>
        <p:spPr>
          <a:xfrm>
            <a:off x="-381000" y="0"/>
            <a:ext cx="12954000" cy="685800"/>
          </a:xfrm>
          <a:prstGeom prst="snip2DiagRect">
            <a:avLst>
              <a:gd name="adj1" fmla="val 0"/>
              <a:gd name="adj2" fmla="val 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
            <a:extLst>
              <a:ext uri="{FF2B5EF4-FFF2-40B4-BE49-F238E27FC236}">
                <a16:creationId xmlns:a16="http://schemas.microsoft.com/office/drawing/2014/main" id="{5B2396DA-D68C-834E-D190-D1B848576A47}"/>
              </a:ext>
            </a:extLst>
          </p:cNvPr>
          <p:cNvSpPr txBox="1"/>
          <p:nvPr/>
        </p:nvSpPr>
        <p:spPr>
          <a:xfrm>
            <a:off x="127000" y="0"/>
            <a:ext cx="11811000" cy="685800"/>
          </a:xfrm>
          <a:prstGeom prst="rect">
            <a:avLst/>
          </a:prstGeom>
          <a:noFill/>
        </p:spPr>
        <p:txBody>
          <a:bodyPr vert="horz" wrap="square" lIns="76200" tIns="25400" rIns="76200" bIns="25400" rtlCol="0" anchor="ctr">
            <a:noAutofit/>
          </a:bodyPr>
          <a:lstStyle/>
          <a:p>
            <a:pPr>
              <a:lnSpc>
                <a:spcPct val="95000"/>
              </a:lnSpc>
            </a:pPr>
            <a:r>
              <a:rPr lang="en-US" sz="2400" b="1" u="sng">
                <a:solidFill>
                  <a:srgbClr val="FFFFFF"/>
                </a:solidFill>
                <a:latin typeface="Aptos Display" panose="020B0004020202020204" pitchFamily="34" charset="0"/>
              </a:rPr>
              <a:t>Tab 8: what lit up</a:t>
            </a:r>
          </a:p>
        </p:txBody>
      </p:sp>
    </p:spTree>
    <p:extLst>
      <p:ext uri="{BB962C8B-B14F-4D97-AF65-F5344CB8AC3E}">
        <p14:creationId xmlns:p14="http://schemas.microsoft.com/office/powerpoint/2010/main" val="725420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tage">
            <a:extLst>
              <a:ext uri="{FF2B5EF4-FFF2-40B4-BE49-F238E27FC236}">
                <a16:creationId xmlns:a16="http://schemas.microsoft.com/office/drawing/2014/main" id="{A43DB097-6805-9680-2C34-D8A79C3BAA72}"/>
              </a:ext>
            </a:extLst>
          </p:cNvPr>
          <p:cNvSpPr/>
          <p:nvPr/>
        </p:nvSpPr>
        <p:spPr>
          <a:xfrm>
            <a:off x="0" y="685800"/>
            <a:ext cx="7670800" cy="6172200"/>
          </a:xfrm>
          <a:prstGeom prst="rect">
            <a:avLst/>
          </a:prstGeom>
          <a:solidFill>
            <a:srgbClr val="ECEC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I_lights">
            <a:extLst>
              <a:ext uri="{FF2B5EF4-FFF2-40B4-BE49-F238E27FC236}">
                <a16:creationId xmlns:a16="http://schemas.microsoft.com/office/drawing/2014/main" id="{788EBE37-87EC-73CA-9534-6E3D88DA47CF}"/>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287909" y="1676967"/>
            <a:ext cx="7120382" cy="4215266"/>
          </a:xfrm>
          <a:prstGeom prst="rect">
            <a:avLst/>
          </a:prstGeom>
          <a:ln w="9525">
            <a:solidFill>
              <a:srgbClr val="B0B0B0"/>
            </a:solidFill>
          </a:ln>
        </p:spPr>
      </p:pic>
      <p:sp>
        <p:nvSpPr>
          <p:cNvPr id="5" name="!!D1">
            <a:extLst>
              <a:ext uri="{FF2B5EF4-FFF2-40B4-BE49-F238E27FC236}">
                <a16:creationId xmlns:a16="http://schemas.microsoft.com/office/drawing/2014/main" id="{A1D99DE5-89AE-83D0-6F49-0FD0C515ED1F}"/>
              </a:ext>
            </a:extLst>
          </p:cNvPr>
          <p:cNvSpPr/>
          <p:nvPr/>
        </p:nvSpPr>
        <p:spPr>
          <a:xfrm>
            <a:off x="0" y="685800"/>
            <a:ext cx="7670800" cy="635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2">
            <a:extLst>
              <a:ext uri="{FF2B5EF4-FFF2-40B4-BE49-F238E27FC236}">
                <a16:creationId xmlns:a16="http://schemas.microsoft.com/office/drawing/2014/main" id="{AE6A19D7-F590-0443-2796-A479D71AE9BC}"/>
              </a:ext>
            </a:extLst>
          </p:cNvPr>
          <p:cNvSpPr/>
          <p:nvPr/>
        </p:nvSpPr>
        <p:spPr>
          <a:xfrm>
            <a:off x="0" y="6858000"/>
            <a:ext cx="7670800" cy="635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3">
            <a:extLst>
              <a:ext uri="{FF2B5EF4-FFF2-40B4-BE49-F238E27FC236}">
                <a16:creationId xmlns:a16="http://schemas.microsoft.com/office/drawing/2014/main" id="{88A1C38B-E1D6-3D1F-3A91-54FF2FA7F990}"/>
              </a:ext>
            </a:extLst>
          </p:cNvPr>
          <p:cNvSpPr/>
          <p:nvPr/>
        </p:nvSpPr>
        <p:spPr>
          <a:xfrm>
            <a:off x="0" y="685800"/>
            <a:ext cx="6350" cy="617220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4">
            <a:extLst>
              <a:ext uri="{FF2B5EF4-FFF2-40B4-BE49-F238E27FC236}">
                <a16:creationId xmlns:a16="http://schemas.microsoft.com/office/drawing/2014/main" id="{9CA5B9DD-EC5E-0923-D1BA-E9FE85863575}"/>
              </a:ext>
            </a:extLst>
          </p:cNvPr>
          <p:cNvSpPr/>
          <p:nvPr/>
        </p:nvSpPr>
        <p:spPr>
          <a:xfrm>
            <a:off x="7670800" y="685800"/>
            <a:ext cx="6350" cy="617220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ocus">
            <a:extLst>
              <a:ext uri="{FF2B5EF4-FFF2-40B4-BE49-F238E27FC236}">
                <a16:creationId xmlns:a16="http://schemas.microsoft.com/office/drawing/2014/main" id="{BDE1595B-B48B-F971-822E-53875FED990B}"/>
              </a:ext>
            </a:extLst>
          </p:cNvPr>
          <p:cNvSpPr/>
          <p:nvPr/>
        </p:nvSpPr>
        <p:spPr>
          <a:xfrm>
            <a:off x="6458907" y="1999758"/>
            <a:ext cx="379754" cy="303803"/>
          </a:xfrm>
          <a:prstGeom prst="rect">
            <a:avLst/>
          </a:prstGeom>
          <a:solidFill>
            <a:srgbClr val="83CBEB">
              <a:alpha val="37000"/>
            </a:srgbClr>
          </a:solidFill>
          <a:ln w="38100">
            <a:solidFill>
              <a:srgbClr val="46B1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ocus2">
            <a:extLst>
              <a:ext uri="{FF2B5EF4-FFF2-40B4-BE49-F238E27FC236}">
                <a16:creationId xmlns:a16="http://schemas.microsoft.com/office/drawing/2014/main" id="{43B0F200-2A31-48C1-3BE7-A1449142F53D}"/>
              </a:ext>
            </a:extLst>
          </p:cNvPr>
          <p:cNvSpPr/>
          <p:nvPr/>
        </p:nvSpPr>
        <p:spPr>
          <a:xfrm>
            <a:off x="6458907" y="2303561"/>
            <a:ext cx="379754" cy="303803"/>
          </a:xfrm>
          <a:prstGeom prst="rect">
            <a:avLst/>
          </a:prstGeom>
          <a:solidFill>
            <a:srgbClr val="83CBEB">
              <a:alpha val="37000"/>
            </a:srgbClr>
          </a:solidFill>
          <a:ln w="38100">
            <a:solidFill>
              <a:srgbClr val="46B1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ail">
            <a:extLst>
              <a:ext uri="{FF2B5EF4-FFF2-40B4-BE49-F238E27FC236}">
                <a16:creationId xmlns:a16="http://schemas.microsoft.com/office/drawing/2014/main" id="{A1FF4D3C-774A-E983-1FA2-C71D470A0041}"/>
              </a:ext>
            </a:extLst>
          </p:cNvPr>
          <p:cNvSpPr/>
          <p:nvPr/>
        </p:nvSpPr>
        <p:spPr>
          <a:xfrm>
            <a:off x="7670800" y="685800"/>
            <a:ext cx="4521200" cy="61722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N11">
            <a:extLst>
              <a:ext uri="{FF2B5EF4-FFF2-40B4-BE49-F238E27FC236}">
                <a16:creationId xmlns:a16="http://schemas.microsoft.com/office/drawing/2014/main" id="{19E1841D-C27D-8DC2-CBEF-A63449006FDC}"/>
              </a:ext>
            </a:extLst>
          </p:cNvPr>
          <p:cNvSpPr/>
          <p:nvPr/>
        </p:nvSpPr>
        <p:spPr>
          <a:xfrm>
            <a:off x="7797800" y="838200"/>
            <a:ext cx="4241800" cy="984504"/>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12 comparisons, each in theta and gamma. Blue: unlikely to be chance (P &lt; 0.05). Orange diamond: a check that lit. Hollow: not clear of chance, which is not the same as no change.</a:t>
            </a:r>
          </a:p>
        </p:txBody>
      </p:sp>
      <p:sp>
        <p:nvSpPr>
          <p:cNvPr id="13" name="!!N12">
            <a:extLst>
              <a:ext uri="{FF2B5EF4-FFF2-40B4-BE49-F238E27FC236}">
                <a16:creationId xmlns:a16="http://schemas.microsoft.com/office/drawing/2014/main" id="{AD4C1609-83EC-DE0C-55AE-470B9B79CD44}"/>
              </a:ext>
            </a:extLst>
          </p:cNvPr>
          <p:cNvSpPr/>
          <p:nvPr/>
        </p:nvSpPr>
        <p:spPr>
          <a:xfrm>
            <a:off x="7797800" y="1937004"/>
            <a:ext cx="4241800" cy="1362456"/>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Two lit, both in gamma: comparison 1 (P = 0.017, 7 of 8 rats the same way) and comparison 2 (P = 0.035, 6 of 8).</a:t>
            </a:r>
          </a:p>
        </p:txBody>
      </p:sp>
      <p:sp>
        <p:nvSpPr>
          <p:cNvPr id="14" name="!!N13">
            <a:extLst>
              <a:ext uri="{FF2B5EF4-FFF2-40B4-BE49-F238E27FC236}">
                <a16:creationId xmlns:a16="http://schemas.microsoft.com/office/drawing/2014/main" id="{B36E1254-4232-3D21-215E-B01F0E165AB1}"/>
              </a:ext>
            </a:extLst>
          </p:cNvPr>
          <p:cNvSpPr/>
          <p:nvPr/>
        </p:nvSpPr>
        <p:spPr>
          <a:xfrm>
            <a:off x="12573000" y="2657856"/>
            <a:ext cx="4241800" cy="1362456"/>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One check lit too: Noise vs Click in theta (P = 0.039). The checks were expected to stay dark: worth a look, not a finding.</a:t>
            </a:r>
          </a:p>
        </p:txBody>
      </p:sp>
      <p:sp>
        <p:nvSpPr>
          <p:cNvPr id="15" name="!!T-BG">
            <a:extLst>
              <a:ext uri="{FF2B5EF4-FFF2-40B4-BE49-F238E27FC236}">
                <a16:creationId xmlns:a16="http://schemas.microsoft.com/office/drawing/2014/main" id="{5AA66F33-CB68-38E5-568A-390438144942}"/>
              </a:ext>
            </a:extLst>
          </p:cNvPr>
          <p:cNvSpPr/>
          <p:nvPr/>
        </p:nvSpPr>
        <p:spPr>
          <a:xfrm>
            <a:off x="-381000" y="0"/>
            <a:ext cx="12954000" cy="685800"/>
          </a:xfrm>
          <a:prstGeom prst="snip2DiagRect">
            <a:avLst>
              <a:gd name="adj1" fmla="val 0"/>
              <a:gd name="adj2" fmla="val 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
            <a:extLst>
              <a:ext uri="{FF2B5EF4-FFF2-40B4-BE49-F238E27FC236}">
                <a16:creationId xmlns:a16="http://schemas.microsoft.com/office/drawing/2014/main" id="{60E0FA68-285E-2B89-54B4-E1A1BDBA4A05}"/>
              </a:ext>
            </a:extLst>
          </p:cNvPr>
          <p:cNvSpPr txBox="1"/>
          <p:nvPr/>
        </p:nvSpPr>
        <p:spPr>
          <a:xfrm>
            <a:off x="127000" y="0"/>
            <a:ext cx="11811000" cy="685800"/>
          </a:xfrm>
          <a:prstGeom prst="rect">
            <a:avLst/>
          </a:prstGeom>
          <a:noFill/>
        </p:spPr>
        <p:txBody>
          <a:bodyPr vert="horz" wrap="square" lIns="76200" tIns="25400" rIns="76200" bIns="25400" rtlCol="0" anchor="ctr">
            <a:noAutofit/>
          </a:bodyPr>
          <a:lstStyle/>
          <a:p>
            <a:pPr>
              <a:lnSpc>
                <a:spcPct val="95000"/>
              </a:lnSpc>
            </a:pPr>
            <a:r>
              <a:rPr lang="en-US" sz="2400" b="1" u="sng">
                <a:solidFill>
                  <a:srgbClr val="FFFFFF"/>
                </a:solidFill>
                <a:latin typeface="Aptos Display" panose="020B0004020202020204" pitchFamily="34" charset="0"/>
              </a:rPr>
              <a:t>Tab 8: what lit up</a:t>
            </a:r>
          </a:p>
        </p:txBody>
      </p:sp>
    </p:spTree>
    <p:extLst>
      <p:ext uri="{BB962C8B-B14F-4D97-AF65-F5344CB8AC3E}">
        <p14:creationId xmlns:p14="http://schemas.microsoft.com/office/powerpoint/2010/main" val="221867145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tage">
            <a:extLst>
              <a:ext uri="{FF2B5EF4-FFF2-40B4-BE49-F238E27FC236}">
                <a16:creationId xmlns:a16="http://schemas.microsoft.com/office/drawing/2014/main" id="{853331A1-67A4-69F5-CD25-946BDF6B365A}"/>
              </a:ext>
            </a:extLst>
          </p:cNvPr>
          <p:cNvSpPr/>
          <p:nvPr/>
        </p:nvSpPr>
        <p:spPr>
          <a:xfrm>
            <a:off x="0" y="685800"/>
            <a:ext cx="7670800" cy="6172200"/>
          </a:xfrm>
          <a:prstGeom prst="rect">
            <a:avLst/>
          </a:prstGeom>
          <a:solidFill>
            <a:srgbClr val="ECEC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I_lights">
            <a:extLst>
              <a:ext uri="{FF2B5EF4-FFF2-40B4-BE49-F238E27FC236}">
                <a16:creationId xmlns:a16="http://schemas.microsoft.com/office/drawing/2014/main" id="{4B416ECF-9F45-742A-B5BE-A868F3904329}"/>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287909" y="1676967"/>
            <a:ext cx="7120382" cy="4215266"/>
          </a:xfrm>
          <a:prstGeom prst="rect">
            <a:avLst/>
          </a:prstGeom>
          <a:ln w="9525">
            <a:solidFill>
              <a:srgbClr val="B0B0B0"/>
            </a:solidFill>
          </a:ln>
        </p:spPr>
      </p:pic>
      <p:sp>
        <p:nvSpPr>
          <p:cNvPr id="5" name="!!D1">
            <a:extLst>
              <a:ext uri="{FF2B5EF4-FFF2-40B4-BE49-F238E27FC236}">
                <a16:creationId xmlns:a16="http://schemas.microsoft.com/office/drawing/2014/main" id="{8521EF2D-277D-6531-D670-D6965C66EAC7}"/>
              </a:ext>
            </a:extLst>
          </p:cNvPr>
          <p:cNvSpPr/>
          <p:nvPr/>
        </p:nvSpPr>
        <p:spPr>
          <a:xfrm>
            <a:off x="0" y="685800"/>
            <a:ext cx="7670800" cy="635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2">
            <a:extLst>
              <a:ext uri="{FF2B5EF4-FFF2-40B4-BE49-F238E27FC236}">
                <a16:creationId xmlns:a16="http://schemas.microsoft.com/office/drawing/2014/main" id="{DC46BCD2-C281-C7F5-E0EB-F58F0EDB5B4A}"/>
              </a:ext>
            </a:extLst>
          </p:cNvPr>
          <p:cNvSpPr/>
          <p:nvPr/>
        </p:nvSpPr>
        <p:spPr>
          <a:xfrm>
            <a:off x="0" y="6858000"/>
            <a:ext cx="7670800" cy="635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3">
            <a:extLst>
              <a:ext uri="{FF2B5EF4-FFF2-40B4-BE49-F238E27FC236}">
                <a16:creationId xmlns:a16="http://schemas.microsoft.com/office/drawing/2014/main" id="{920866B6-6356-B679-6F50-E1D58D61F116}"/>
              </a:ext>
            </a:extLst>
          </p:cNvPr>
          <p:cNvSpPr/>
          <p:nvPr/>
        </p:nvSpPr>
        <p:spPr>
          <a:xfrm>
            <a:off x="0" y="685800"/>
            <a:ext cx="6350" cy="617220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4">
            <a:extLst>
              <a:ext uri="{FF2B5EF4-FFF2-40B4-BE49-F238E27FC236}">
                <a16:creationId xmlns:a16="http://schemas.microsoft.com/office/drawing/2014/main" id="{AC44DA83-144F-980A-D7CE-3F50A70A8E4D}"/>
              </a:ext>
            </a:extLst>
          </p:cNvPr>
          <p:cNvSpPr/>
          <p:nvPr/>
        </p:nvSpPr>
        <p:spPr>
          <a:xfrm>
            <a:off x="7670800" y="685800"/>
            <a:ext cx="6350" cy="617220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ocus">
            <a:extLst>
              <a:ext uri="{FF2B5EF4-FFF2-40B4-BE49-F238E27FC236}">
                <a16:creationId xmlns:a16="http://schemas.microsoft.com/office/drawing/2014/main" id="{6D25A7E6-4F14-4610-4924-44B98DD60425}"/>
              </a:ext>
            </a:extLst>
          </p:cNvPr>
          <p:cNvSpPr/>
          <p:nvPr/>
        </p:nvSpPr>
        <p:spPr>
          <a:xfrm>
            <a:off x="5414584" y="4430181"/>
            <a:ext cx="379754" cy="303803"/>
          </a:xfrm>
          <a:prstGeom prst="rect">
            <a:avLst/>
          </a:prstGeom>
          <a:solidFill>
            <a:srgbClr val="83CBEB">
              <a:alpha val="37000"/>
            </a:srgbClr>
          </a:solidFill>
          <a:ln w="38100">
            <a:solidFill>
              <a:srgbClr val="46B1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ail">
            <a:extLst>
              <a:ext uri="{FF2B5EF4-FFF2-40B4-BE49-F238E27FC236}">
                <a16:creationId xmlns:a16="http://schemas.microsoft.com/office/drawing/2014/main" id="{F4EEE6F7-13B2-A94C-DC3D-F37D51575183}"/>
              </a:ext>
            </a:extLst>
          </p:cNvPr>
          <p:cNvSpPr/>
          <p:nvPr/>
        </p:nvSpPr>
        <p:spPr>
          <a:xfrm>
            <a:off x="7670800" y="685800"/>
            <a:ext cx="4521200" cy="61722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N11">
            <a:extLst>
              <a:ext uri="{FF2B5EF4-FFF2-40B4-BE49-F238E27FC236}">
                <a16:creationId xmlns:a16="http://schemas.microsoft.com/office/drawing/2014/main" id="{2BCD8CF2-02DC-CE33-31F9-512B6DF59013}"/>
              </a:ext>
            </a:extLst>
          </p:cNvPr>
          <p:cNvSpPr/>
          <p:nvPr/>
        </p:nvSpPr>
        <p:spPr>
          <a:xfrm>
            <a:off x="7797800" y="838200"/>
            <a:ext cx="4241800" cy="984504"/>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12 comparisons, each in theta and gamma. Blue: unlikely to be chance (P &lt; 0.05). Orange diamond: a check that lit. Hollow: not clear of chance, which is not the same as no change.</a:t>
            </a:r>
          </a:p>
        </p:txBody>
      </p:sp>
      <p:sp>
        <p:nvSpPr>
          <p:cNvPr id="12" name="!!N12">
            <a:extLst>
              <a:ext uri="{FF2B5EF4-FFF2-40B4-BE49-F238E27FC236}">
                <a16:creationId xmlns:a16="http://schemas.microsoft.com/office/drawing/2014/main" id="{11BDBFEF-5947-D11E-DC81-F36A4F9A77D3}"/>
              </a:ext>
            </a:extLst>
          </p:cNvPr>
          <p:cNvSpPr/>
          <p:nvPr/>
        </p:nvSpPr>
        <p:spPr>
          <a:xfrm>
            <a:off x="7797800" y="1937004"/>
            <a:ext cx="4241800" cy="60655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Two lit, both in gamma: comparison 1 (P = 0.017, 7 of 8 rats the same way) and comparison 2 (P = 0.035, 6 of 8).</a:t>
            </a:r>
          </a:p>
        </p:txBody>
      </p:sp>
      <p:sp>
        <p:nvSpPr>
          <p:cNvPr id="13" name="!!N13">
            <a:extLst>
              <a:ext uri="{FF2B5EF4-FFF2-40B4-BE49-F238E27FC236}">
                <a16:creationId xmlns:a16="http://schemas.microsoft.com/office/drawing/2014/main" id="{817AB7F5-D989-8A0F-E866-AE5E4DAF3665}"/>
              </a:ext>
            </a:extLst>
          </p:cNvPr>
          <p:cNvSpPr/>
          <p:nvPr/>
        </p:nvSpPr>
        <p:spPr>
          <a:xfrm>
            <a:off x="7797800" y="2657856"/>
            <a:ext cx="4241800" cy="1362456"/>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One check lit too: Noise vs Click in theta (P = 0.039). The checks were expected to stay dark: worth a look, not a finding.</a:t>
            </a:r>
          </a:p>
        </p:txBody>
      </p:sp>
      <p:sp>
        <p:nvSpPr>
          <p:cNvPr id="14" name="!!N14">
            <a:extLst>
              <a:ext uri="{FF2B5EF4-FFF2-40B4-BE49-F238E27FC236}">
                <a16:creationId xmlns:a16="http://schemas.microsoft.com/office/drawing/2014/main" id="{5DBE8D70-9E9B-8069-3D55-F6A9A8AFCA42}"/>
              </a:ext>
            </a:extLst>
          </p:cNvPr>
          <p:cNvSpPr/>
          <p:nvPr/>
        </p:nvSpPr>
        <p:spPr>
          <a:xfrm>
            <a:off x="12573000" y="3567684"/>
            <a:ext cx="4241800" cy="1645920"/>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Nothing is corrected across the 24 lights, and each has two ways to pass. If nothing had changed anywhere, about 2 would light by chance; 3 lit.</a:t>
            </a:r>
          </a:p>
        </p:txBody>
      </p:sp>
      <p:sp>
        <p:nvSpPr>
          <p:cNvPr id="15" name="!!T-BG">
            <a:extLst>
              <a:ext uri="{FF2B5EF4-FFF2-40B4-BE49-F238E27FC236}">
                <a16:creationId xmlns:a16="http://schemas.microsoft.com/office/drawing/2014/main" id="{EDA4881A-6221-8D06-F96F-8873B8E1F287}"/>
              </a:ext>
            </a:extLst>
          </p:cNvPr>
          <p:cNvSpPr/>
          <p:nvPr/>
        </p:nvSpPr>
        <p:spPr>
          <a:xfrm>
            <a:off x="-381000" y="0"/>
            <a:ext cx="12954000" cy="685800"/>
          </a:xfrm>
          <a:prstGeom prst="snip2DiagRect">
            <a:avLst>
              <a:gd name="adj1" fmla="val 0"/>
              <a:gd name="adj2" fmla="val 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
            <a:extLst>
              <a:ext uri="{FF2B5EF4-FFF2-40B4-BE49-F238E27FC236}">
                <a16:creationId xmlns:a16="http://schemas.microsoft.com/office/drawing/2014/main" id="{D5D9913E-0F86-AE82-97E0-276513EFEE45}"/>
              </a:ext>
            </a:extLst>
          </p:cNvPr>
          <p:cNvSpPr txBox="1"/>
          <p:nvPr/>
        </p:nvSpPr>
        <p:spPr>
          <a:xfrm>
            <a:off x="127000" y="0"/>
            <a:ext cx="11811000" cy="685800"/>
          </a:xfrm>
          <a:prstGeom prst="rect">
            <a:avLst/>
          </a:prstGeom>
          <a:noFill/>
        </p:spPr>
        <p:txBody>
          <a:bodyPr vert="horz" wrap="square" lIns="76200" tIns="25400" rIns="76200" bIns="25400" rtlCol="0" anchor="ctr">
            <a:noAutofit/>
          </a:bodyPr>
          <a:lstStyle/>
          <a:p>
            <a:pPr>
              <a:lnSpc>
                <a:spcPct val="95000"/>
              </a:lnSpc>
            </a:pPr>
            <a:r>
              <a:rPr lang="en-US" sz="2400" b="1" u="sng">
                <a:solidFill>
                  <a:srgbClr val="FFFFFF"/>
                </a:solidFill>
                <a:latin typeface="Aptos Display" panose="020B0004020202020204" pitchFamily="34" charset="0"/>
              </a:rPr>
              <a:t>Tab 8: what lit up</a:t>
            </a:r>
          </a:p>
        </p:txBody>
      </p:sp>
    </p:spTree>
    <p:extLst>
      <p:ext uri="{BB962C8B-B14F-4D97-AF65-F5344CB8AC3E}">
        <p14:creationId xmlns:p14="http://schemas.microsoft.com/office/powerpoint/2010/main" val="144901657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tage">
            <a:extLst>
              <a:ext uri="{FF2B5EF4-FFF2-40B4-BE49-F238E27FC236}">
                <a16:creationId xmlns:a16="http://schemas.microsoft.com/office/drawing/2014/main" id="{26B74FD9-C92E-F909-6EC4-2FE114CCBDD0}"/>
              </a:ext>
            </a:extLst>
          </p:cNvPr>
          <p:cNvSpPr/>
          <p:nvPr/>
        </p:nvSpPr>
        <p:spPr>
          <a:xfrm>
            <a:off x="0" y="685800"/>
            <a:ext cx="7670800" cy="6172200"/>
          </a:xfrm>
          <a:prstGeom prst="rect">
            <a:avLst/>
          </a:prstGeom>
          <a:solidFill>
            <a:srgbClr val="ECEC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I_lights">
            <a:extLst>
              <a:ext uri="{FF2B5EF4-FFF2-40B4-BE49-F238E27FC236}">
                <a16:creationId xmlns:a16="http://schemas.microsoft.com/office/drawing/2014/main" id="{864DFD93-E2E2-FC0D-2331-42CF9B731FD0}"/>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287909" y="1676967"/>
            <a:ext cx="7120382" cy="4215266"/>
          </a:xfrm>
          <a:prstGeom prst="rect">
            <a:avLst/>
          </a:prstGeom>
          <a:ln w="9525">
            <a:solidFill>
              <a:srgbClr val="B0B0B0"/>
            </a:solidFill>
          </a:ln>
        </p:spPr>
      </p:pic>
      <p:sp>
        <p:nvSpPr>
          <p:cNvPr id="5" name="!!D1">
            <a:extLst>
              <a:ext uri="{FF2B5EF4-FFF2-40B4-BE49-F238E27FC236}">
                <a16:creationId xmlns:a16="http://schemas.microsoft.com/office/drawing/2014/main" id="{95554128-175D-F85F-16EE-68A40DEE175F}"/>
              </a:ext>
            </a:extLst>
          </p:cNvPr>
          <p:cNvSpPr/>
          <p:nvPr/>
        </p:nvSpPr>
        <p:spPr>
          <a:xfrm>
            <a:off x="0" y="685800"/>
            <a:ext cx="7670800" cy="635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2">
            <a:extLst>
              <a:ext uri="{FF2B5EF4-FFF2-40B4-BE49-F238E27FC236}">
                <a16:creationId xmlns:a16="http://schemas.microsoft.com/office/drawing/2014/main" id="{0E6E4938-25F5-ADD1-096C-14462B473905}"/>
              </a:ext>
            </a:extLst>
          </p:cNvPr>
          <p:cNvSpPr/>
          <p:nvPr/>
        </p:nvSpPr>
        <p:spPr>
          <a:xfrm>
            <a:off x="0" y="6858000"/>
            <a:ext cx="7670800" cy="635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3">
            <a:extLst>
              <a:ext uri="{FF2B5EF4-FFF2-40B4-BE49-F238E27FC236}">
                <a16:creationId xmlns:a16="http://schemas.microsoft.com/office/drawing/2014/main" id="{58DA6E97-ECF2-5149-7E4D-E6F4B9021E9F}"/>
              </a:ext>
            </a:extLst>
          </p:cNvPr>
          <p:cNvSpPr/>
          <p:nvPr/>
        </p:nvSpPr>
        <p:spPr>
          <a:xfrm>
            <a:off x="0" y="685800"/>
            <a:ext cx="6350" cy="617220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4">
            <a:extLst>
              <a:ext uri="{FF2B5EF4-FFF2-40B4-BE49-F238E27FC236}">
                <a16:creationId xmlns:a16="http://schemas.microsoft.com/office/drawing/2014/main" id="{6C267FCF-A6FE-E284-F91E-D11C8CBB1BEE}"/>
              </a:ext>
            </a:extLst>
          </p:cNvPr>
          <p:cNvSpPr/>
          <p:nvPr/>
        </p:nvSpPr>
        <p:spPr>
          <a:xfrm>
            <a:off x="7670800" y="685800"/>
            <a:ext cx="6350" cy="617220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ail">
            <a:extLst>
              <a:ext uri="{FF2B5EF4-FFF2-40B4-BE49-F238E27FC236}">
                <a16:creationId xmlns:a16="http://schemas.microsoft.com/office/drawing/2014/main" id="{4225FF51-AD94-539B-3DD3-F0394E329A2F}"/>
              </a:ext>
            </a:extLst>
          </p:cNvPr>
          <p:cNvSpPr/>
          <p:nvPr/>
        </p:nvSpPr>
        <p:spPr>
          <a:xfrm>
            <a:off x="7670800" y="685800"/>
            <a:ext cx="4521200" cy="61722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N11">
            <a:extLst>
              <a:ext uri="{FF2B5EF4-FFF2-40B4-BE49-F238E27FC236}">
                <a16:creationId xmlns:a16="http://schemas.microsoft.com/office/drawing/2014/main" id="{E2D44B1F-FA84-B5E5-DD0F-20DB1A7B4784}"/>
              </a:ext>
            </a:extLst>
          </p:cNvPr>
          <p:cNvSpPr/>
          <p:nvPr/>
        </p:nvSpPr>
        <p:spPr>
          <a:xfrm>
            <a:off x="7797800" y="838200"/>
            <a:ext cx="4241800" cy="984504"/>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12 comparisons, each in theta and gamma. Blue: unlikely to be chance (P &lt; 0.05). Orange diamond: a check that lit. Hollow: not clear of chance, which is not the same as no change.</a:t>
            </a:r>
          </a:p>
        </p:txBody>
      </p:sp>
      <p:sp>
        <p:nvSpPr>
          <p:cNvPr id="11" name="!!N12">
            <a:extLst>
              <a:ext uri="{FF2B5EF4-FFF2-40B4-BE49-F238E27FC236}">
                <a16:creationId xmlns:a16="http://schemas.microsoft.com/office/drawing/2014/main" id="{2775B77E-94C1-A91F-DE31-DF93E1211494}"/>
              </a:ext>
            </a:extLst>
          </p:cNvPr>
          <p:cNvSpPr/>
          <p:nvPr/>
        </p:nvSpPr>
        <p:spPr>
          <a:xfrm>
            <a:off x="7797800" y="1937004"/>
            <a:ext cx="4241800" cy="60655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Two lit, both in gamma: comparison 1 (P = 0.017, 7 of 8 rats the same way) and comparison 2 (P = 0.035, 6 of 8).</a:t>
            </a:r>
          </a:p>
        </p:txBody>
      </p:sp>
      <p:sp>
        <p:nvSpPr>
          <p:cNvPr id="12" name="!!N13">
            <a:extLst>
              <a:ext uri="{FF2B5EF4-FFF2-40B4-BE49-F238E27FC236}">
                <a16:creationId xmlns:a16="http://schemas.microsoft.com/office/drawing/2014/main" id="{8F18972B-1999-A8DC-E8CE-5C30003C24D9}"/>
              </a:ext>
            </a:extLst>
          </p:cNvPr>
          <p:cNvSpPr/>
          <p:nvPr/>
        </p:nvSpPr>
        <p:spPr>
          <a:xfrm>
            <a:off x="7797800" y="2657856"/>
            <a:ext cx="4241800" cy="795528"/>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One check lit too: Noise vs Click in theta (P = 0.039). The checks were expected to stay dark: worth a look, not a finding.</a:t>
            </a:r>
          </a:p>
        </p:txBody>
      </p:sp>
      <p:sp>
        <p:nvSpPr>
          <p:cNvPr id="13" name="!!N14">
            <a:extLst>
              <a:ext uri="{FF2B5EF4-FFF2-40B4-BE49-F238E27FC236}">
                <a16:creationId xmlns:a16="http://schemas.microsoft.com/office/drawing/2014/main" id="{7CE4EADC-7C9D-D0F2-7AFC-681D63DBF201}"/>
              </a:ext>
            </a:extLst>
          </p:cNvPr>
          <p:cNvSpPr/>
          <p:nvPr/>
        </p:nvSpPr>
        <p:spPr>
          <a:xfrm>
            <a:off x="7797800" y="3567684"/>
            <a:ext cx="4241800" cy="1645920"/>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Nothing is corrected across the 24 lights, and each has two ways to pass. If nothing had changed anywhere, about 2 would light by chance; 3 lit.</a:t>
            </a:r>
          </a:p>
        </p:txBody>
      </p:sp>
      <p:sp>
        <p:nvSpPr>
          <p:cNvPr id="14" name="!!T-BG">
            <a:extLst>
              <a:ext uri="{FF2B5EF4-FFF2-40B4-BE49-F238E27FC236}">
                <a16:creationId xmlns:a16="http://schemas.microsoft.com/office/drawing/2014/main" id="{78A0DBB4-B5A2-200E-DB55-6DA937D1B26C}"/>
              </a:ext>
            </a:extLst>
          </p:cNvPr>
          <p:cNvSpPr/>
          <p:nvPr/>
        </p:nvSpPr>
        <p:spPr>
          <a:xfrm>
            <a:off x="-381000" y="0"/>
            <a:ext cx="12954000" cy="685800"/>
          </a:xfrm>
          <a:prstGeom prst="snip2DiagRect">
            <a:avLst>
              <a:gd name="adj1" fmla="val 0"/>
              <a:gd name="adj2" fmla="val 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
            <a:extLst>
              <a:ext uri="{FF2B5EF4-FFF2-40B4-BE49-F238E27FC236}">
                <a16:creationId xmlns:a16="http://schemas.microsoft.com/office/drawing/2014/main" id="{849A1B0E-844D-EBA3-4071-75716AAECF0C}"/>
              </a:ext>
            </a:extLst>
          </p:cNvPr>
          <p:cNvSpPr txBox="1"/>
          <p:nvPr/>
        </p:nvSpPr>
        <p:spPr>
          <a:xfrm>
            <a:off x="127000" y="0"/>
            <a:ext cx="11811000" cy="685800"/>
          </a:xfrm>
          <a:prstGeom prst="rect">
            <a:avLst/>
          </a:prstGeom>
          <a:noFill/>
        </p:spPr>
        <p:txBody>
          <a:bodyPr vert="horz" wrap="square" lIns="76200" tIns="25400" rIns="76200" bIns="25400" rtlCol="0" anchor="ctr">
            <a:noAutofit/>
          </a:bodyPr>
          <a:lstStyle/>
          <a:p>
            <a:pPr>
              <a:lnSpc>
                <a:spcPct val="95000"/>
              </a:lnSpc>
            </a:pPr>
            <a:r>
              <a:rPr lang="en-US" sz="2400" b="1" u="sng">
                <a:solidFill>
                  <a:srgbClr val="FFFFFF"/>
                </a:solidFill>
                <a:latin typeface="Aptos Display" panose="020B0004020202020204" pitchFamily="34" charset="0"/>
              </a:rPr>
              <a:t>Tab 8: what lit up</a:t>
            </a:r>
          </a:p>
        </p:txBody>
      </p:sp>
    </p:spTree>
    <p:extLst>
      <p:ext uri="{BB962C8B-B14F-4D97-AF65-F5344CB8AC3E}">
        <p14:creationId xmlns:p14="http://schemas.microsoft.com/office/powerpoint/2010/main" val="400168863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tage">
            <a:extLst>
              <a:ext uri="{FF2B5EF4-FFF2-40B4-BE49-F238E27FC236}">
                <a16:creationId xmlns:a16="http://schemas.microsoft.com/office/drawing/2014/main" id="{FA6AB478-0E6F-1BA6-83CB-152C9383DD10}"/>
              </a:ext>
            </a:extLst>
          </p:cNvPr>
          <p:cNvSpPr/>
          <p:nvPr/>
        </p:nvSpPr>
        <p:spPr>
          <a:xfrm>
            <a:off x="0" y="685800"/>
            <a:ext cx="7670800" cy="6172200"/>
          </a:xfrm>
          <a:prstGeom prst="rect">
            <a:avLst/>
          </a:prstGeom>
          <a:solidFill>
            <a:srgbClr val="ECEC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FS1">
            <a:extLst>
              <a:ext uri="{FF2B5EF4-FFF2-40B4-BE49-F238E27FC236}">
                <a16:creationId xmlns:a16="http://schemas.microsoft.com/office/drawing/2014/main" id="{9D9242BB-17C6-1BFA-A7B7-D80E626BBE0F}"/>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287909" y="2734335"/>
            <a:ext cx="7120382" cy="2100529"/>
          </a:xfrm>
          <a:prstGeom prst="rect">
            <a:avLst/>
          </a:prstGeom>
          <a:ln w="9525">
            <a:solidFill>
              <a:srgbClr val="B0B0B0"/>
            </a:solidFill>
          </a:ln>
        </p:spPr>
      </p:pic>
      <p:sp>
        <p:nvSpPr>
          <p:cNvPr id="5" name="!!D1">
            <a:extLst>
              <a:ext uri="{FF2B5EF4-FFF2-40B4-BE49-F238E27FC236}">
                <a16:creationId xmlns:a16="http://schemas.microsoft.com/office/drawing/2014/main" id="{25430BB8-9F59-1DBA-90E6-F82F2935DA5E}"/>
              </a:ext>
            </a:extLst>
          </p:cNvPr>
          <p:cNvSpPr/>
          <p:nvPr/>
        </p:nvSpPr>
        <p:spPr>
          <a:xfrm>
            <a:off x="0" y="685800"/>
            <a:ext cx="7670800" cy="635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2">
            <a:extLst>
              <a:ext uri="{FF2B5EF4-FFF2-40B4-BE49-F238E27FC236}">
                <a16:creationId xmlns:a16="http://schemas.microsoft.com/office/drawing/2014/main" id="{70205EFB-048A-1DFA-C8CB-4CBB9188814D}"/>
              </a:ext>
            </a:extLst>
          </p:cNvPr>
          <p:cNvSpPr/>
          <p:nvPr/>
        </p:nvSpPr>
        <p:spPr>
          <a:xfrm>
            <a:off x="0" y="6858000"/>
            <a:ext cx="7670800" cy="635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3">
            <a:extLst>
              <a:ext uri="{FF2B5EF4-FFF2-40B4-BE49-F238E27FC236}">
                <a16:creationId xmlns:a16="http://schemas.microsoft.com/office/drawing/2014/main" id="{F588BF44-AFED-CA3C-3C07-2E15CDF8B203}"/>
              </a:ext>
            </a:extLst>
          </p:cNvPr>
          <p:cNvSpPr/>
          <p:nvPr/>
        </p:nvSpPr>
        <p:spPr>
          <a:xfrm>
            <a:off x="0" y="685800"/>
            <a:ext cx="6350" cy="617220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4">
            <a:extLst>
              <a:ext uri="{FF2B5EF4-FFF2-40B4-BE49-F238E27FC236}">
                <a16:creationId xmlns:a16="http://schemas.microsoft.com/office/drawing/2014/main" id="{6873ED6C-B853-9616-0AF5-92A39209E116}"/>
              </a:ext>
            </a:extLst>
          </p:cNvPr>
          <p:cNvSpPr/>
          <p:nvPr/>
        </p:nvSpPr>
        <p:spPr>
          <a:xfrm>
            <a:off x="7670800" y="685800"/>
            <a:ext cx="6350" cy="617220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ail">
            <a:extLst>
              <a:ext uri="{FF2B5EF4-FFF2-40B4-BE49-F238E27FC236}">
                <a16:creationId xmlns:a16="http://schemas.microsoft.com/office/drawing/2014/main" id="{2A7911D1-1658-0E97-8481-7D00CCEE96D4}"/>
              </a:ext>
            </a:extLst>
          </p:cNvPr>
          <p:cNvSpPr/>
          <p:nvPr/>
        </p:nvSpPr>
        <p:spPr>
          <a:xfrm>
            <a:off x="7670800" y="685800"/>
            <a:ext cx="4521200" cy="61722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N15">
            <a:extLst>
              <a:ext uri="{FF2B5EF4-FFF2-40B4-BE49-F238E27FC236}">
                <a16:creationId xmlns:a16="http://schemas.microsoft.com/office/drawing/2014/main" id="{C48F2049-DDD9-01A2-0D49-D06223D3A897}"/>
              </a:ext>
            </a:extLst>
          </p:cNvPr>
          <p:cNvSpPr/>
          <p:nvPr/>
        </p:nvSpPr>
        <p:spPr>
          <a:xfrm>
            <a:off x="12573000" y="838200"/>
            <a:ext cx="4241800" cy="1362456"/>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One pair, R ACC – R RSC, comparison 1 in gamma. The Precon1 cue effect: cues minus baseline on Precon1, -0.019.</a:t>
            </a:r>
          </a:p>
        </p:txBody>
      </p:sp>
      <p:sp>
        <p:nvSpPr>
          <p:cNvPr id="11" name="!!N11">
            <a:extLst>
              <a:ext uri="{FF2B5EF4-FFF2-40B4-BE49-F238E27FC236}">
                <a16:creationId xmlns:a16="http://schemas.microsoft.com/office/drawing/2014/main" id="{C86C9278-A93F-82B4-BDBC-E6D5DF44AFEB}"/>
              </a:ext>
            </a:extLst>
          </p:cNvPr>
          <p:cNvSpPr/>
          <p:nvPr/>
        </p:nvSpPr>
        <p:spPr>
          <a:xfrm>
            <a:off x="12573000" y="838200"/>
            <a:ext cx="4241800" cy="984504"/>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12 comparisons, each in theta and gamma. Blue: unlikely to be chance (P &lt; 0.05). Orange diamond: a check that lit. Hollow: not clear of chance, which is not the same as no change.</a:t>
            </a:r>
          </a:p>
        </p:txBody>
      </p:sp>
      <p:sp>
        <p:nvSpPr>
          <p:cNvPr id="12" name="!!N12">
            <a:extLst>
              <a:ext uri="{FF2B5EF4-FFF2-40B4-BE49-F238E27FC236}">
                <a16:creationId xmlns:a16="http://schemas.microsoft.com/office/drawing/2014/main" id="{26B77B4C-35FC-E471-AB2C-0AEF364B5956}"/>
              </a:ext>
            </a:extLst>
          </p:cNvPr>
          <p:cNvSpPr/>
          <p:nvPr/>
        </p:nvSpPr>
        <p:spPr>
          <a:xfrm>
            <a:off x="12573000" y="1937004"/>
            <a:ext cx="4241800" cy="60655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Two lit, both in gamma: comparison 1 (P = 0.017, 7 of 8 rats the same way) and comparison 2 (P = 0.035, 6 of 8).</a:t>
            </a:r>
          </a:p>
        </p:txBody>
      </p:sp>
      <p:sp>
        <p:nvSpPr>
          <p:cNvPr id="13" name="!!N13">
            <a:extLst>
              <a:ext uri="{FF2B5EF4-FFF2-40B4-BE49-F238E27FC236}">
                <a16:creationId xmlns:a16="http://schemas.microsoft.com/office/drawing/2014/main" id="{32563873-E32E-12E5-5564-03CCDCB3298B}"/>
              </a:ext>
            </a:extLst>
          </p:cNvPr>
          <p:cNvSpPr/>
          <p:nvPr/>
        </p:nvSpPr>
        <p:spPr>
          <a:xfrm>
            <a:off x="12573000" y="2657856"/>
            <a:ext cx="4241800" cy="795528"/>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One check lit too: Noise vs Click in theta (P = 0.039). The checks were expected to stay dark: worth a look, not a finding.</a:t>
            </a:r>
          </a:p>
        </p:txBody>
      </p:sp>
      <p:sp>
        <p:nvSpPr>
          <p:cNvPr id="14" name="!!N14">
            <a:extLst>
              <a:ext uri="{FF2B5EF4-FFF2-40B4-BE49-F238E27FC236}">
                <a16:creationId xmlns:a16="http://schemas.microsoft.com/office/drawing/2014/main" id="{56949E69-D15E-7215-D459-C315601CAD84}"/>
              </a:ext>
            </a:extLst>
          </p:cNvPr>
          <p:cNvSpPr/>
          <p:nvPr/>
        </p:nvSpPr>
        <p:spPr>
          <a:xfrm>
            <a:off x="12573000" y="3567684"/>
            <a:ext cx="4241800" cy="1645920"/>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Nothing is corrected across the 24 lights, and each has two ways to pass. If nothing had changed anywhere, about 2 would light by chance; 3 lit.</a:t>
            </a:r>
          </a:p>
        </p:txBody>
      </p:sp>
      <p:sp>
        <p:nvSpPr>
          <p:cNvPr id="15" name="!!T-BG">
            <a:extLst>
              <a:ext uri="{FF2B5EF4-FFF2-40B4-BE49-F238E27FC236}">
                <a16:creationId xmlns:a16="http://schemas.microsoft.com/office/drawing/2014/main" id="{EF346B91-B9F5-AB97-B9EE-8B517622F3EC}"/>
              </a:ext>
            </a:extLst>
          </p:cNvPr>
          <p:cNvSpPr/>
          <p:nvPr/>
        </p:nvSpPr>
        <p:spPr>
          <a:xfrm>
            <a:off x="1905000" y="1905000"/>
            <a:ext cx="8382000" cy="3048000"/>
          </a:xfrm>
          <a:prstGeom prst="snip2DiagRect">
            <a:avLst>
              <a:gd name="adj1" fmla="val 0"/>
              <a:gd name="adj2" fmla="val 16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
            <a:extLst>
              <a:ext uri="{FF2B5EF4-FFF2-40B4-BE49-F238E27FC236}">
                <a16:creationId xmlns:a16="http://schemas.microsoft.com/office/drawing/2014/main" id="{DCE98CDF-954E-63E0-9D57-E960B718C498}"/>
              </a:ext>
            </a:extLst>
          </p:cNvPr>
          <p:cNvSpPr txBox="1"/>
          <p:nvPr/>
        </p:nvSpPr>
        <p:spPr>
          <a:xfrm>
            <a:off x="2286000" y="2032000"/>
            <a:ext cx="7620000" cy="2794000"/>
          </a:xfrm>
          <a:prstGeom prst="rect">
            <a:avLst/>
          </a:prstGeom>
          <a:noFill/>
        </p:spPr>
        <p:txBody>
          <a:bodyPr vert="horz" wrap="square" lIns="76200" tIns="50800" rIns="76200" bIns="50800" rtlCol="0" anchor="ctr">
            <a:noAutofit/>
          </a:bodyPr>
          <a:lstStyle/>
          <a:p>
            <a:pPr algn="ctr">
              <a:lnSpc>
                <a:spcPct val="95000"/>
              </a:lnSpc>
            </a:pPr>
            <a:r>
              <a:rPr lang="en-US" sz="4000" b="1">
                <a:solidFill>
                  <a:srgbClr val="FF0000"/>
                </a:solidFill>
                <a:latin typeface="Aptos Display" panose="020B0004020202020204" pitchFamily="34" charset="0"/>
              </a:rPr>
              <a:t>Figure S1</a:t>
            </a:r>
          </a:p>
          <a:p>
            <a:pPr algn="ctr">
              <a:lnSpc>
                <a:spcPct val="95000"/>
              </a:lnSpc>
            </a:pPr>
            <a:r>
              <a:rPr lang="en-US" sz="2000">
                <a:solidFill>
                  <a:srgbClr val="FFFFFF"/>
                </a:solidFill>
                <a:latin typeface="Aptos Display" panose="020B0004020202020204" pitchFamily="34" charset="0"/>
              </a:rPr>
              <a:t>How each row of a ring is made, on one pair</a:t>
            </a:r>
          </a:p>
        </p:txBody>
      </p:sp>
    </p:spTree>
    <p:extLst>
      <p:ext uri="{BB962C8B-B14F-4D97-AF65-F5344CB8AC3E}">
        <p14:creationId xmlns:p14="http://schemas.microsoft.com/office/powerpoint/2010/main" val="161531386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tage">
            <a:extLst>
              <a:ext uri="{FF2B5EF4-FFF2-40B4-BE49-F238E27FC236}">
                <a16:creationId xmlns:a16="http://schemas.microsoft.com/office/drawing/2014/main" id="{35FD03CF-8DF0-9594-F7EE-5D4FF398A71C}"/>
              </a:ext>
            </a:extLst>
          </p:cNvPr>
          <p:cNvSpPr/>
          <p:nvPr/>
        </p:nvSpPr>
        <p:spPr>
          <a:xfrm>
            <a:off x="0" y="685800"/>
            <a:ext cx="7670800" cy="6172200"/>
          </a:xfrm>
          <a:prstGeom prst="rect">
            <a:avLst/>
          </a:prstGeom>
          <a:solidFill>
            <a:srgbClr val="ECEC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FS1">
            <a:extLst>
              <a:ext uri="{FF2B5EF4-FFF2-40B4-BE49-F238E27FC236}">
                <a16:creationId xmlns:a16="http://schemas.microsoft.com/office/drawing/2014/main" id="{237F48B4-D38A-2CCE-D315-6443A5313395}"/>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287909" y="2734335"/>
            <a:ext cx="7120382" cy="2100529"/>
          </a:xfrm>
          <a:prstGeom prst="rect">
            <a:avLst/>
          </a:prstGeom>
          <a:ln w="9525">
            <a:solidFill>
              <a:srgbClr val="B0B0B0"/>
            </a:solidFill>
          </a:ln>
        </p:spPr>
      </p:pic>
      <p:sp>
        <p:nvSpPr>
          <p:cNvPr id="5" name="!!D1">
            <a:extLst>
              <a:ext uri="{FF2B5EF4-FFF2-40B4-BE49-F238E27FC236}">
                <a16:creationId xmlns:a16="http://schemas.microsoft.com/office/drawing/2014/main" id="{AF40BE32-8869-CD21-9F6A-FE18A40B1690}"/>
              </a:ext>
            </a:extLst>
          </p:cNvPr>
          <p:cNvSpPr/>
          <p:nvPr/>
        </p:nvSpPr>
        <p:spPr>
          <a:xfrm>
            <a:off x="0" y="685800"/>
            <a:ext cx="7670800" cy="635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2">
            <a:extLst>
              <a:ext uri="{FF2B5EF4-FFF2-40B4-BE49-F238E27FC236}">
                <a16:creationId xmlns:a16="http://schemas.microsoft.com/office/drawing/2014/main" id="{7D9595E7-03AF-2728-18DC-EABE44CD714D}"/>
              </a:ext>
            </a:extLst>
          </p:cNvPr>
          <p:cNvSpPr/>
          <p:nvPr/>
        </p:nvSpPr>
        <p:spPr>
          <a:xfrm>
            <a:off x="0" y="6858000"/>
            <a:ext cx="7670800" cy="635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3">
            <a:extLst>
              <a:ext uri="{FF2B5EF4-FFF2-40B4-BE49-F238E27FC236}">
                <a16:creationId xmlns:a16="http://schemas.microsoft.com/office/drawing/2014/main" id="{685E3683-623F-16D8-F982-09E775500320}"/>
              </a:ext>
            </a:extLst>
          </p:cNvPr>
          <p:cNvSpPr/>
          <p:nvPr/>
        </p:nvSpPr>
        <p:spPr>
          <a:xfrm>
            <a:off x="0" y="685800"/>
            <a:ext cx="6350" cy="617220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4">
            <a:extLst>
              <a:ext uri="{FF2B5EF4-FFF2-40B4-BE49-F238E27FC236}">
                <a16:creationId xmlns:a16="http://schemas.microsoft.com/office/drawing/2014/main" id="{40CDE91D-24FB-CA0B-BE4B-233A6621BC31}"/>
              </a:ext>
            </a:extLst>
          </p:cNvPr>
          <p:cNvSpPr/>
          <p:nvPr/>
        </p:nvSpPr>
        <p:spPr>
          <a:xfrm>
            <a:off x="7670800" y="685800"/>
            <a:ext cx="6350" cy="617220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ocus">
            <a:extLst>
              <a:ext uri="{FF2B5EF4-FFF2-40B4-BE49-F238E27FC236}">
                <a16:creationId xmlns:a16="http://schemas.microsoft.com/office/drawing/2014/main" id="{711CAC90-6579-9D3A-6C49-4B52070F4F8E}"/>
              </a:ext>
            </a:extLst>
          </p:cNvPr>
          <p:cNvSpPr/>
          <p:nvPr/>
        </p:nvSpPr>
        <p:spPr>
          <a:xfrm>
            <a:off x="287909" y="2734335"/>
            <a:ext cx="2412836" cy="2100530"/>
          </a:xfrm>
          <a:prstGeom prst="rect">
            <a:avLst/>
          </a:prstGeom>
          <a:solidFill>
            <a:srgbClr val="83CBEB">
              <a:alpha val="37000"/>
            </a:srgbClr>
          </a:solidFill>
          <a:ln w="38100">
            <a:solidFill>
              <a:srgbClr val="46B1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ail">
            <a:extLst>
              <a:ext uri="{FF2B5EF4-FFF2-40B4-BE49-F238E27FC236}">
                <a16:creationId xmlns:a16="http://schemas.microsoft.com/office/drawing/2014/main" id="{986F6253-9DDD-3791-240B-BB81E62A68C5}"/>
              </a:ext>
            </a:extLst>
          </p:cNvPr>
          <p:cNvSpPr/>
          <p:nvPr/>
        </p:nvSpPr>
        <p:spPr>
          <a:xfrm>
            <a:off x="7670800" y="685800"/>
            <a:ext cx="4521200" cy="61722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N15">
            <a:extLst>
              <a:ext uri="{FF2B5EF4-FFF2-40B4-BE49-F238E27FC236}">
                <a16:creationId xmlns:a16="http://schemas.microsoft.com/office/drawing/2014/main" id="{0D04061F-E6E9-6A86-0189-0A15E7B0FFAC}"/>
              </a:ext>
            </a:extLst>
          </p:cNvPr>
          <p:cNvSpPr/>
          <p:nvPr/>
        </p:nvSpPr>
        <p:spPr>
          <a:xfrm>
            <a:off x="7797800" y="838200"/>
            <a:ext cx="4241800" cy="1362456"/>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One pair, R ACC – R RSC, comparison 1 in gamma. The Precon1 cue effect: cues minus baseline on Precon1, -0.019.</a:t>
            </a:r>
          </a:p>
        </p:txBody>
      </p:sp>
      <p:sp>
        <p:nvSpPr>
          <p:cNvPr id="12" name="!!N16">
            <a:extLst>
              <a:ext uri="{FF2B5EF4-FFF2-40B4-BE49-F238E27FC236}">
                <a16:creationId xmlns:a16="http://schemas.microsoft.com/office/drawing/2014/main" id="{73ADB3B6-682B-5583-5726-6481DB0AD98F}"/>
              </a:ext>
            </a:extLst>
          </p:cNvPr>
          <p:cNvSpPr/>
          <p:nvPr/>
        </p:nvSpPr>
        <p:spPr>
          <a:xfrm>
            <a:off x="12573000" y="1748028"/>
            <a:ext cx="4241800" cy="795528"/>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The Precon4 cue effect: the same on Precon4, +0.016.</a:t>
            </a:r>
          </a:p>
        </p:txBody>
      </p:sp>
      <p:sp>
        <p:nvSpPr>
          <p:cNvPr id="13" name="!!T-BG">
            <a:extLst>
              <a:ext uri="{FF2B5EF4-FFF2-40B4-BE49-F238E27FC236}">
                <a16:creationId xmlns:a16="http://schemas.microsoft.com/office/drawing/2014/main" id="{02CEDDC0-4E5D-410D-BF16-AB576FDF59B3}"/>
              </a:ext>
            </a:extLst>
          </p:cNvPr>
          <p:cNvSpPr/>
          <p:nvPr/>
        </p:nvSpPr>
        <p:spPr>
          <a:xfrm>
            <a:off x="-381000" y="0"/>
            <a:ext cx="12954000" cy="685800"/>
          </a:xfrm>
          <a:prstGeom prst="snip2DiagRect">
            <a:avLst>
              <a:gd name="adj1" fmla="val 0"/>
              <a:gd name="adj2" fmla="val 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
            <a:extLst>
              <a:ext uri="{FF2B5EF4-FFF2-40B4-BE49-F238E27FC236}">
                <a16:creationId xmlns:a16="http://schemas.microsoft.com/office/drawing/2014/main" id="{8FD178A9-8FE2-1AF7-FE3D-F6DBAA676421}"/>
              </a:ext>
            </a:extLst>
          </p:cNvPr>
          <p:cNvSpPr txBox="1"/>
          <p:nvPr/>
        </p:nvSpPr>
        <p:spPr>
          <a:xfrm>
            <a:off x="127000" y="0"/>
            <a:ext cx="11811000" cy="685800"/>
          </a:xfrm>
          <a:prstGeom prst="rect">
            <a:avLst/>
          </a:prstGeom>
          <a:noFill/>
        </p:spPr>
        <p:txBody>
          <a:bodyPr vert="horz" wrap="square" lIns="76200" tIns="25400" rIns="76200" bIns="25400" rtlCol="0" anchor="ctr">
            <a:noAutofit/>
          </a:bodyPr>
          <a:lstStyle/>
          <a:p>
            <a:pPr>
              <a:lnSpc>
                <a:spcPct val="95000"/>
              </a:lnSpc>
            </a:pPr>
            <a:r>
              <a:rPr lang="en-US" sz="2400" b="1" u="sng">
                <a:solidFill>
                  <a:srgbClr val="FFFFFF"/>
                </a:solidFill>
                <a:latin typeface="Aptos Display" panose="020B0004020202020204" pitchFamily="34" charset="0"/>
              </a:rPr>
              <a:t>Figure S1 · what a row is</a:t>
            </a:r>
          </a:p>
        </p:txBody>
      </p:sp>
    </p:spTree>
    <p:extLst>
      <p:ext uri="{BB962C8B-B14F-4D97-AF65-F5344CB8AC3E}">
        <p14:creationId xmlns:p14="http://schemas.microsoft.com/office/powerpoint/2010/main" val="12313145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tage">
            <a:extLst>
              <a:ext uri="{FF2B5EF4-FFF2-40B4-BE49-F238E27FC236}">
                <a16:creationId xmlns:a16="http://schemas.microsoft.com/office/drawing/2014/main" id="{D530AAC8-8273-8896-2186-BF877ACD0DED}"/>
              </a:ext>
            </a:extLst>
          </p:cNvPr>
          <p:cNvSpPr/>
          <p:nvPr/>
        </p:nvSpPr>
        <p:spPr>
          <a:xfrm>
            <a:off x="0" y="685800"/>
            <a:ext cx="7670800" cy="6172200"/>
          </a:xfrm>
          <a:prstGeom prst="rect">
            <a:avLst/>
          </a:prstGeom>
          <a:solidFill>
            <a:srgbClr val="ECEC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FS1">
            <a:extLst>
              <a:ext uri="{FF2B5EF4-FFF2-40B4-BE49-F238E27FC236}">
                <a16:creationId xmlns:a16="http://schemas.microsoft.com/office/drawing/2014/main" id="{1CCD4960-4F10-656E-FB95-357CAF809391}"/>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287909" y="2734335"/>
            <a:ext cx="7120382" cy="2100529"/>
          </a:xfrm>
          <a:prstGeom prst="rect">
            <a:avLst/>
          </a:prstGeom>
          <a:ln w="9525">
            <a:solidFill>
              <a:srgbClr val="B0B0B0"/>
            </a:solidFill>
          </a:ln>
        </p:spPr>
      </p:pic>
      <p:sp>
        <p:nvSpPr>
          <p:cNvPr id="5" name="!!D1">
            <a:extLst>
              <a:ext uri="{FF2B5EF4-FFF2-40B4-BE49-F238E27FC236}">
                <a16:creationId xmlns:a16="http://schemas.microsoft.com/office/drawing/2014/main" id="{FCCF4D5B-4582-D67B-FD30-03BE78DCD088}"/>
              </a:ext>
            </a:extLst>
          </p:cNvPr>
          <p:cNvSpPr/>
          <p:nvPr/>
        </p:nvSpPr>
        <p:spPr>
          <a:xfrm>
            <a:off x="0" y="685800"/>
            <a:ext cx="7670800" cy="635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2">
            <a:extLst>
              <a:ext uri="{FF2B5EF4-FFF2-40B4-BE49-F238E27FC236}">
                <a16:creationId xmlns:a16="http://schemas.microsoft.com/office/drawing/2014/main" id="{9437368F-9381-39D1-8AA3-E9CA730A9F05}"/>
              </a:ext>
            </a:extLst>
          </p:cNvPr>
          <p:cNvSpPr/>
          <p:nvPr/>
        </p:nvSpPr>
        <p:spPr>
          <a:xfrm>
            <a:off x="0" y="6858000"/>
            <a:ext cx="7670800" cy="635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3">
            <a:extLst>
              <a:ext uri="{FF2B5EF4-FFF2-40B4-BE49-F238E27FC236}">
                <a16:creationId xmlns:a16="http://schemas.microsoft.com/office/drawing/2014/main" id="{00305DCF-8F7E-2D9A-0140-482148FD63AB}"/>
              </a:ext>
            </a:extLst>
          </p:cNvPr>
          <p:cNvSpPr/>
          <p:nvPr/>
        </p:nvSpPr>
        <p:spPr>
          <a:xfrm>
            <a:off x="0" y="685800"/>
            <a:ext cx="6350" cy="617220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4">
            <a:extLst>
              <a:ext uri="{FF2B5EF4-FFF2-40B4-BE49-F238E27FC236}">
                <a16:creationId xmlns:a16="http://schemas.microsoft.com/office/drawing/2014/main" id="{524A3EC8-3A54-63A8-FA66-1485F7679871}"/>
              </a:ext>
            </a:extLst>
          </p:cNvPr>
          <p:cNvSpPr/>
          <p:nvPr/>
        </p:nvSpPr>
        <p:spPr>
          <a:xfrm>
            <a:off x="7670800" y="685800"/>
            <a:ext cx="6350" cy="617220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ocus">
            <a:extLst>
              <a:ext uri="{FF2B5EF4-FFF2-40B4-BE49-F238E27FC236}">
                <a16:creationId xmlns:a16="http://schemas.microsoft.com/office/drawing/2014/main" id="{2DAC42CA-9DE0-2BE8-74B4-1D0F7C525AB7}"/>
              </a:ext>
            </a:extLst>
          </p:cNvPr>
          <p:cNvSpPr/>
          <p:nvPr/>
        </p:nvSpPr>
        <p:spPr>
          <a:xfrm>
            <a:off x="2661828" y="2734335"/>
            <a:ext cx="2373919" cy="2100530"/>
          </a:xfrm>
          <a:prstGeom prst="rect">
            <a:avLst/>
          </a:prstGeom>
          <a:solidFill>
            <a:srgbClr val="83CBEB">
              <a:alpha val="37000"/>
            </a:srgbClr>
          </a:solidFill>
          <a:ln w="38100">
            <a:solidFill>
              <a:srgbClr val="46B1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ail">
            <a:extLst>
              <a:ext uri="{FF2B5EF4-FFF2-40B4-BE49-F238E27FC236}">
                <a16:creationId xmlns:a16="http://schemas.microsoft.com/office/drawing/2014/main" id="{FA86CCEE-94E4-A2F0-0468-16C8053882B5}"/>
              </a:ext>
            </a:extLst>
          </p:cNvPr>
          <p:cNvSpPr/>
          <p:nvPr/>
        </p:nvSpPr>
        <p:spPr>
          <a:xfrm>
            <a:off x="7670800" y="685800"/>
            <a:ext cx="4521200" cy="61722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N15">
            <a:extLst>
              <a:ext uri="{FF2B5EF4-FFF2-40B4-BE49-F238E27FC236}">
                <a16:creationId xmlns:a16="http://schemas.microsoft.com/office/drawing/2014/main" id="{355B0381-8804-22A3-3884-EC2612382465}"/>
              </a:ext>
            </a:extLst>
          </p:cNvPr>
          <p:cNvSpPr/>
          <p:nvPr/>
        </p:nvSpPr>
        <p:spPr>
          <a:xfrm>
            <a:off x="7797800" y="838200"/>
            <a:ext cx="4241800" cy="795528"/>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One pair, R ACC – R RSC, comparison 1 in gamma. The Precon1 cue effect: cues minus baseline on Precon1, -0.019.</a:t>
            </a:r>
          </a:p>
        </p:txBody>
      </p:sp>
      <p:sp>
        <p:nvSpPr>
          <p:cNvPr id="12" name="!!N16">
            <a:extLst>
              <a:ext uri="{FF2B5EF4-FFF2-40B4-BE49-F238E27FC236}">
                <a16:creationId xmlns:a16="http://schemas.microsoft.com/office/drawing/2014/main" id="{3BE24D7C-F680-6FA5-4017-56647D917B90}"/>
              </a:ext>
            </a:extLst>
          </p:cNvPr>
          <p:cNvSpPr/>
          <p:nvPr/>
        </p:nvSpPr>
        <p:spPr>
          <a:xfrm>
            <a:off x="7797800" y="1748028"/>
            <a:ext cx="4241800" cy="795528"/>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The Precon4 cue effect: the same on Precon4, +0.016.</a:t>
            </a:r>
          </a:p>
        </p:txBody>
      </p:sp>
      <p:sp>
        <p:nvSpPr>
          <p:cNvPr id="13" name="!!N17">
            <a:extLst>
              <a:ext uri="{FF2B5EF4-FFF2-40B4-BE49-F238E27FC236}">
                <a16:creationId xmlns:a16="http://schemas.microsoft.com/office/drawing/2014/main" id="{07F4A9A7-A6B9-416A-626D-280C5D636021}"/>
              </a:ext>
            </a:extLst>
          </p:cNvPr>
          <p:cNvSpPr/>
          <p:nvPr/>
        </p:nvSpPr>
        <p:spPr>
          <a:xfrm>
            <a:off x="12573000" y="2279904"/>
            <a:ext cx="4241800" cy="107899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The change in cue effect: Precon4’s minus Precon1’s, +0.035. This is what tab 8’s light tested.</a:t>
            </a:r>
          </a:p>
        </p:txBody>
      </p:sp>
      <p:sp>
        <p:nvSpPr>
          <p:cNvPr id="14" name="!!T-BG">
            <a:extLst>
              <a:ext uri="{FF2B5EF4-FFF2-40B4-BE49-F238E27FC236}">
                <a16:creationId xmlns:a16="http://schemas.microsoft.com/office/drawing/2014/main" id="{04332613-B5C8-FC30-A0FB-E47D425BA2DD}"/>
              </a:ext>
            </a:extLst>
          </p:cNvPr>
          <p:cNvSpPr/>
          <p:nvPr/>
        </p:nvSpPr>
        <p:spPr>
          <a:xfrm>
            <a:off x="-381000" y="0"/>
            <a:ext cx="12954000" cy="685800"/>
          </a:xfrm>
          <a:prstGeom prst="snip2DiagRect">
            <a:avLst>
              <a:gd name="adj1" fmla="val 0"/>
              <a:gd name="adj2" fmla="val 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
            <a:extLst>
              <a:ext uri="{FF2B5EF4-FFF2-40B4-BE49-F238E27FC236}">
                <a16:creationId xmlns:a16="http://schemas.microsoft.com/office/drawing/2014/main" id="{75A5F5FF-AF39-E64D-A25D-36318E00196C}"/>
              </a:ext>
            </a:extLst>
          </p:cNvPr>
          <p:cNvSpPr txBox="1"/>
          <p:nvPr/>
        </p:nvSpPr>
        <p:spPr>
          <a:xfrm>
            <a:off x="127000" y="0"/>
            <a:ext cx="11811000" cy="685800"/>
          </a:xfrm>
          <a:prstGeom prst="rect">
            <a:avLst/>
          </a:prstGeom>
          <a:noFill/>
        </p:spPr>
        <p:txBody>
          <a:bodyPr vert="horz" wrap="square" lIns="76200" tIns="25400" rIns="76200" bIns="25400" rtlCol="0" anchor="ctr">
            <a:noAutofit/>
          </a:bodyPr>
          <a:lstStyle/>
          <a:p>
            <a:pPr>
              <a:lnSpc>
                <a:spcPct val="95000"/>
              </a:lnSpc>
            </a:pPr>
            <a:r>
              <a:rPr lang="en-US" sz="2400" b="1" u="sng">
                <a:solidFill>
                  <a:srgbClr val="FFFFFF"/>
                </a:solidFill>
                <a:latin typeface="Aptos Display" panose="020B0004020202020204" pitchFamily="34" charset="0"/>
              </a:rPr>
              <a:t>Figure S1 · what a row is</a:t>
            </a:r>
          </a:p>
        </p:txBody>
      </p:sp>
    </p:spTree>
    <p:extLst>
      <p:ext uri="{BB962C8B-B14F-4D97-AF65-F5344CB8AC3E}">
        <p14:creationId xmlns:p14="http://schemas.microsoft.com/office/powerpoint/2010/main" val="47939647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tage">
            <a:extLst>
              <a:ext uri="{FF2B5EF4-FFF2-40B4-BE49-F238E27FC236}">
                <a16:creationId xmlns:a16="http://schemas.microsoft.com/office/drawing/2014/main" id="{BDFC8B60-DE4A-8523-A3D4-62A9793C79CB}"/>
              </a:ext>
            </a:extLst>
          </p:cNvPr>
          <p:cNvSpPr/>
          <p:nvPr/>
        </p:nvSpPr>
        <p:spPr>
          <a:xfrm>
            <a:off x="0" y="685800"/>
            <a:ext cx="7670800" cy="6172200"/>
          </a:xfrm>
          <a:prstGeom prst="rect">
            <a:avLst/>
          </a:prstGeom>
          <a:solidFill>
            <a:srgbClr val="ECEC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FS1">
            <a:extLst>
              <a:ext uri="{FF2B5EF4-FFF2-40B4-BE49-F238E27FC236}">
                <a16:creationId xmlns:a16="http://schemas.microsoft.com/office/drawing/2014/main" id="{5CD418B7-4F35-49C0-1368-AE3ACD557A9B}"/>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287909" y="2734335"/>
            <a:ext cx="7120382" cy="2100529"/>
          </a:xfrm>
          <a:prstGeom prst="rect">
            <a:avLst/>
          </a:prstGeom>
          <a:ln w="9525">
            <a:solidFill>
              <a:srgbClr val="B0B0B0"/>
            </a:solidFill>
          </a:ln>
        </p:spPr>
      </p:pic>
      <p:sp>
        <p:nvSpPr>
          <p:cNvPr id="5" name="!!D1">
            <a:extLst>
              <a:ext uri="{FF2B5EF4-FFF2-40B4-BE49-F238E27FC236}">
                <a16:creationId xmlns:a16="http://schemas.microsoft.com/office/drawing/2014/main" id="{D5597093-83E4-6D9B-EC39-5D197CF661A7}"/>
              </a:ext>
            </a:extLst>
          </p:cNvPr>
          <p:cNvSpPr/>
          <p:nvPr/>
        </p:nvSpPr>
        <p:spPr>
          <a:xfrm>
            <a:off x="0" y="685800"/>
            <a:ext cx="7670800" cy="635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2">
            <a:extLst>
              <a:ext uri="{FF2B5EF4-FFF2-40B4-BE49-F238E27FC236}">
                <a16:creationId xmlns:a16="http://schemas.microsoft.com/office/drawing/2014/main" id="{C43E0E69-91F2-16E0-099E-15C7473DCEBA}"/>
              </a:ext>
            </a:extLst>
          </p:cNvPr>
          <p:cNvSpPr/>
          <p:nvPr/>
        </p:nvSpPr>
        <p:spPr>
          <a:xfrm>
            <a:off x="0" y="6858000"/>
            <a:ext cx="7670800" cy="635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3">
            <a:extLst>
              <a:ext uri="{FF2B5EF4-FFF2-40B4-BE49-F238E27FC236}">
                <a16:creationId xmlns:a16="http://schemas.microsoft.com/office/drawing/2014/main" id="{61CF5798-91DC-0EEB-BEDB-052EBE7291B4}"/>
              </a:ext>
            </a:extLst>
          </p:cNvPr>
          <p:cNvSpPr/>
          <p:nvPr/>
        </p:nvSpPr>
        <p:spPr>
          <a:xfrm>
            <a:off x="0" y="685800"/>
            <a:ext cx="6350" cy="617220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4">
            <a:extLst>
              <a:ext uri="{FF2B5EF4-FFF2-40B4-BE49-F238E27FC236}">
                <a16:creationId xmlns:a16="http://schemas.microsoft.com/office/drawing/2014/main" id="{41501098-5B8C-99BF-5DA2-B61B71AE0B06}"/>
              </a:ext>
            </a:extLst>
          </p:cNvPr>
          <p:cNvSpPr/>
          <p:nvPr/>
        </p:nvSpPr>
        <p:spPr>
          <a:xfrm>
            <a:off x="7670800" y="685800"/>
            <a:ext cx="6350" cy="617220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ocus">
            <a:extLst>
              <a:ext uri="{FF2B5EF4-FFF2-40B4-BE49-F238E27FC236}">
                <a16:creationId xmlns:a16="http://schemas.microsoft.com/office/drawing/2014/main" id="{18907880-7C78-F50A-4A34-3B8B6609CA41}"/>
              </a:ext>
            </a:extLst>
          </p:cNvPr>
          <p:cNvSpPr/>
          <p:nvPr/>
        </p:nvSpPr>
        <p:spPr>
          <a:xfrm>
            <a:off x="4996830" y="2734335"/>
            <a:ext cx="2411461" cy="2100530"/>
          </a:xfrm>
          <a:prstGeom prst="rect">
            <a:avLst/>
          </a:prstGeom>
          <a:solidFill>
            <a:srgbClr val="83CBEB">
              <a:alpha val="37000"/>
            </a:srgbClr>
          </a:solidFill>
          <a:ln w="38100">
            <a:solidFill>
              <a:srgbClr val="46B1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ail">
            <a:extLst>
              <a:ext uri="{FF2B5EF4-FFF2-40B4-BE49-F238E27FC236}">
                <a16:creationId xmlns:a16="http://schemas.microsoft.com/office/drawing/2014/main" id="{202C39D1-040C-E1D9-7F71-318E31E0C2A5}"/>
              </a:ext>
            </a:extLst>
          </p:cNvPr>
          <p:cNvSpPr/>
          <p:nvPr/>
        </p:nvSpPr>
        <p:spPr>
          <a:xfrm>
            <a:off x="7670800" y="685800"/>
            <a:ext cx="4521200" cy="61722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N15">
            <a:extLst>
              <a:ext uri="{FF2B5EF4-FFF2-40B4-BE49-F238E27FC236}">
                <a16:creationId xmlns:a16="http://schemas.microsoft.com/office/drawing/2014/main" id="{0EAE0CCF-FEDB-C86F-1310-1F2EBFD0B5EA}"/>
              </a:ext>
            </a:extLst>
          </p:cNvPr>
          <p:cNvSpPr/>
          <p:nvPr/>
        </p:nvSpPr>
        <p:spPr>
          <a:xfrm>
            <a:off x="7797800" y="838200"/>
            <a:ext cx="4241800" cy="795528"/>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One pair, R ACC – R RSC, comparison 1 in gamma. The Precon1 cue effect: cues minus baseline on Precon1, -0.019.</a:t>
            </a:r>
          </a:p>
        </p:txBody>
      </p:sp>
      <p:sp>
        <p:nvSpPr>
          <p:cNvPr id="12" name="!!N16">
            <a:extLst>
              <a:ext uri="{FF2B5EF4-FFF2-40B4-BE49-F238E27FC236}">
                <a16:creationId xmlns:a16="http://schemas.microsoft.com/office/drawing/2014/main" id="{6A567052-78A2-8E0E-D505-EBB5697D3177}"/>
              </a:ext>
            </a:extLst>
          </p:cNvPr>
          <p:cNvSpPr/>
          <p:nvPr/>
        </p:nvSpPr>
        <p:spPr>
          <a:xfrm>
            <a:off x="7797800" y="1748028"/>
            <a:ext cx="4241800" cy="417576"/>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The Precon4 cue effect: the same on Precon4, +0.016.</a:t>
            </a:r>
          </a:p>
        </p:txBody>
      </p:sp>
      <p:sp>
        <p:nvSpPr>
          <p:cNvPr id="13" name="!!N17">
            <a:extLst>
              <a:ext uri="{FF2B5EF4-FFF2-40B4-BE49-F238E27FC236}">
                <a16:creationId xmlns:a16="http://schemas.microsoft.com/office/drawing/2014/main" id="{107A424C-9D55-AA87-692A-F31DFA2C5D57}"/>
              </a:ext>
            </a:extLst>
          </p:cNvPr>
          <p:cNvSpPr/>
          <p:nvPr/>
        </p:nvSpPr>
        <p:spPr>
          <a:xfrm>
            <a:off x="7797800" y="2279904"/>
            <a:ext cx="4241800" cy="107899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The change in cue effect: Precon4’s minus Precon1’s, +0.035. This is what tab 8’s light tested.</a:t>
            </a:r>
          </a:p>
        </p:txBody>
      </p:sp>
      <p:sp>
        <p:nvSpPr>
          <p:cNvPr id="14" name="!!N18">
            <a:extLst>
              <a:ext uri="{FF2B5EF4-FFF2-40B4-BE49-F238E27FC236}">
                <a16:creationId xmlns:a16="http://schemas.microsoft.com/office/drawing/2014/main" id="{F2A30BA4-E811-5E17-CBFF-1BCDBF79A6F7}"/>
              </a:ext>
            </a:extLst>
          </p:cNvPr>
          <p:cNvSpPr/>
          <p:nvPr/>
        </p:nvSpPr>
        <p:spPr>
          <a:xfrm>
            <a:off x="12573000" y="3000756"/>
            <a:ext cx="4241800" cy="107899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A ring draws these three numbers for every pair at once: its three rows.</a:t>
            </a:r>
          </a:p>
        </p:txBody>
      </p:sp>
      <p:sp>
        <p:nvSpPr>
          <p:cNvPr id="15" name="!!T-BG">
            <a:extLst>
              <a:ext uri="{FF2B5EF4-FFF2-40B4-BE49-F238E27FC236}">
                <a16:creationId xmlns:a16="http://schemas.microsoft.com/office/drawing/2014/main" id="{63CEAE3C-12F0-55D8-7A8F-FF24556E501A}"/>
              </a:ext>
            </a:extLst>
          </p:cNvPr>
          <p:cNvSpPr/>
          <p:nvPr/>
        </p:nvSpPr>
        <p:spPr>
          <a:xfrm>
            <a:off x="-381000" y="0"/>
            <a:ext cx="12954000" cy="685800"/>
          </a:xfrm>
          <a:prstGeom prst="snip2DiagRect">
            <a:avLst>
              <a:gd name="adj1" fmla="val 0"/>
              <a:gd name="adj2" fmla="val 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
            <a:extLst>
              <a:ext uri="{FF2B5EF4-FFF2-40B4-BE49-F238E27FC236}">
                <a16:creationId xmlns:a16="http://schemas.microsoft.com/office/drawing/2014/main" id="{E63EFF79-6AB0-7A3D-8423-95609C581406}"/>
              </a:ext>
            </a:extLst>
          </p:cNvPr>
          <p:cNvSpPr txBox="1"/>
          <p:nvPr/>
        </p:nvSpPr>
        <p:spPr>
          <a:xfrm>
            <a:off x="127000" y="0"/>
            <a:ext cx="11811000" cy="685800"/>
          </a:xfrm>
          <a:prstGeom prst="rect">
            <a:avLst/>
          </a:prstGeom>
          <a:noFill/>
        </p:spPr>
        <p:txBody>
          <a:bodyPr vert="horz" wrap="square" lIns="76200" tIns="25400" rIns="76200" bIns="25400" rtlCol="0" anchor="ctr">
            <a:noAutofit/>
          </a:bodyPr>
          <a:lstStyle/>
          <a:p>
            <a:pPr>
              <a:lnSpc>
                <a:spcPct val="95000"/>
              </a:lnSpc>
            </a:pPr>
            <a:r>
              <a:rPr lang="en-US" sz="2400" b="1" u="sng">
                <a:solidFill>
                  <a:srgbClr val="FFFFFF"/>
                </a:solidFill>
                <a:latin typeface="Aptos Display" panose="020B0004020202020204" pitchFamily="34" charset="0"/>
              </a:rPr>
              <a:t>Figure S1 · what a row is</a:t>
            </a:r>
          </a:p>
        </p:txBody>
      </p:sp>
    </p:spTree>
    <p:extLst>
      <p:ext uri="{BB962C8B-B14F-4D97-AF65-F5344CB8AC3E}">
        <p14:creationId xmlns:p14="http://schemas.microsoft.com/office/powerpoint/2010/main" val="13186654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tage">
            <a:extLst>
              <a:ext uri="{FF2B5EF4-FFF2-40B4-BE49-F238E27FC236}">
                <a16:creationId xmlns:a16="http://schemas.microsoft.com/office/drawing/2014/main" id="{7EFFD974-1AB6-82C2-500A-3108F4E3BA10}"/>
              </a:ext>
            </a:extLst>
          </p:cNvPr>
          <p:cNvSpPr/>
          <p:nvPr/>
        </p:nvSpPr>
        <p:spPr>
          <a:xfrm>
            <a:off x="0" y="685800"/>
            <a:ext cx="7670800" cy="6172200"/>
          </a:xfrm>
          <a:prstGeom prst="rect">
            <a:avLst/>
          </a:prstGeom>
          <a:solidFill>
            <a:srgbClr val="ECEC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FS1">
            <a:extLst>
              <a:ext uri="{FF2B5EF4-FFF2-40B4-BE49-F238E27FC236}">
                <a16:creationId xmlns:a16="http://schemas.microsoft.com/office/drawing/2014/main" id="{9D9F395B-2A03-2A19-BFEC-6815917856C4}"/>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287909" y="2734335"/>
            <a:ext cx="7120382" cy="2100529"/>
          </a:xfrm>
          <a:prstGeom prst="rect">
            <a:avLst/>
          </a:prstGeom>
          <a:ln w="9525">
            <a:solidFill>
              <a:srgbClr val="B0B0B0"/>
            </a:solidFill>
          </a:ln>
        </p:spPr>
      </p:pic>
      <p:sp>
        <p:nvSpPr>
          <p:cNvPr id="5" name="!!D1">
            <a:extLst>
              <a:ext uri="{FF2B5EF4-FFF2-40B4-BE49-F238E27FC236}">
                <a16:creationId xmlns:a16="http://schemas.microsoft.com/office/drawing/2014/main" id="{54652FE0-B969-383A-6ADD-40359E4AD194}"/>
              </a:ext>
            </a:extLst>
          </p:cNvPr>
          <p:cNvSpPr/>
          <p:nvPr/>
        </p:nvSpPr>
        <p:spPr>
          <a:xfrm>
            <a:off x="0" y="685800"/>
            <a:ext cx="7670800" cy="635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2">
            <a:extLst>
              <a:ext uri="{FF2B5EF4-FFF2-40B4-BE49-F238E27FC236}">
                <a16:creationId xmlns:a16="http://schemas.microsoft.com/office/drawing/2014/main" id="{1818CEBC-EC13-7C9E-FEDF-4340576622F2}"/>
              </a:ext>
            </a:extLst>
          </p:cNvPr>
          <p:cNvSpPr/>
          <p:nvPr/>
        </p:nvSpPr>
        <p:spPr>
          <a:xfrm>
            <a:off x="0" y="6858000"/>
            <a:ext cx="7670800" cy="635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3">
            <a:extLst>
              <a:ext uri="{FF2B5EF4-FFF2-40B4-BE49-F238E27FC236}">
                <a16:creationId xmlns:a16="http://schemas.microsoft.com/office/drawing/2014/main" id="{D8BA3603-7650-AEE7-4F64-2F6893146D91}"/>
              </a:ext>
            </a:extLst>
          </p:cNvPr>
          <p:cNvSpPr/>
          <p:nvPr/>
        </p:nvSpPr>
        <p:spPr>
          <a:xfrm>
            <a:off x="0" y="685800"/>
            <a:ext cx="6350" cy="617220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4">
            <a:extLst>
              <a:ext uri="{FF2B5EF4-FFF2-40B4-BE49-F238E27FC236}">
                <a16:creationId xmlns:a16="http://schemas.microsoft.com/office/drawing/2014/main" id="{09203F05-D94F-E8AC-9B81-7AC229445D67}"/>
              </a:ext>
            </a:extLst>
          </p:cNvPr>
          <p:cNvSpPr/>
          <p:nvPr/>
        </p:nvSpPr>
        <p:spPr>
          <a:xfrm>
            <a:off x="7670800" y="685800"/>
            <a:ext cx="6350" cy="617220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ail">
            <a:extLst>
              <a:ext uri="{FF2B5EF4-FFF2-40B4-BE49-F238E27FC236}">
                <a16:creationId xmlns:a16="http://schemas.microsoft.com/office/drawing/2014/main" id="{486EFF0E-7F93-BA20-BC11-8D0D54B39718}"/>
              </a:ext>
            </a:extLst>
          </p:cNvPr>
          <p:cNvSpPr/>
          <p:nvPr/>
        </p:nvSpPr>
        <p:spPr>
          <a:xfrm>
            <a:off x="7670800" y="685800"/>
            <a:ext cx="4521200" cy="61722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N15">
            <a:extLst>
              <a:ext uri="{FF2B5EF4-FFF2-40B4-BE49-F238E27FC236}">
                <a16:creationId xmlns:a16="http://schemas.microsoft.com/office/drawing/2014/main" id="{11AB3E70-D443-BCA8-F78C-A0A3CD089FA9}"/>
              </a:ext>
            </a:extLst>
          </p:cNvPr>
          <p:cNvSpPr/>
          <p:nvPr/>
        </p:nvSpPr>
        <p:spPr>
          <a:xfrm>
            <a:off x="7797800" y="838200"/>
            <a:ext cx="4241800" cy="795528"/>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One pair, R ACC – R RSC, comparison 1 in gamma. The Precon1 cue effect: cues minus baseline on Precon1, -0.019.</a:t>
            </a:r>
          </a:p>
        </p:txBody>
      </p:sp>
      <p:sp>
        <p:nvSpPr>
          <p:cNvPr id="11" name="!!N16">
            <a:extLst>
              <a:ext uri="{FF2B5EF4-FFF2-40B4-BE49-F238E27FC236}">
                <a16:creationId xmlns:a16="http://schemas.microsoft.com/office/drawing/2014/main" id="{064DBA98-9555-6E97-6CFD-CC2025B8390D}"/>
              </a:ext>
            </a:extLst>
          </p:cNvPr>
          <p:cNvSpPr/>
          <p:nvPr/>
        </p:nvSpPr>
        <p:spPr>
          <a:xfrm>
            <a:off x="7797800" y="1748028"/>
            <a:ext cx="4241800" cy="417576"/>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The Precon4 cue effect: the same on Precon4, +0.016.</a:t>
            </a:r>
          </a:p>
        </p:txBody>
      </p:sp>
      <p:sp>
        <p:nvSpPr>
          <p:cNvPr id="12" name="!!N17">
            <a:extLst>
              <a:ext uri="{FF2B5EF4-FFF2-40B4-BE49-F238E27FC236}">
                <a16:creationId xmlns:a16="http://schemas.microsoft.com/office/drawing/2014/main" id="{06418BD8-A4EE-6137-2D6A-0DB09C6A201D}"/>
              </a:ext>
            </a:extLst>
          </p:cNvPr>
          <p:cNvSpPr/>
          <p:nvPr/>
        </p:nvSpPr>
        <p:spPr>
          <a:xfrm>
            <a:off x="7797800" y="2279904"/>
            <a:ext cx="4241800" cy="60655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The </a:t>
            </a:r>
            <a:r>
              <a:rPr lang="en-US" sz="1200" b="1">
                <a:solidFill>
                  <a:srgbClr val="FFFFFF"/>
                </a:solidFill>
                <a:latin typeface="Aptos" panose="020B0004020202020204" pitchFamily="34" charset="0"/>
              </a:rPr>
              <a:t>change in cue effect</a:t>
            </a:r>
            <a:r>
              <a:rPr lang="en-US" sz="1200">
                <a:solidFill>
                  <a:srgbClr val="FFFFFF"/>
                </a:solidFill>
                <a:latin typeface="Aptos" panose="020B0004020202020204" pitchFamily="34" charset="0"/>
              </a:rPr>
              <a:t>: Precon4’s minus Precon1’s, +0.035. This is what tab 8’s light tested.</a:t>
            </a:r>
          </a:p>
        </p:txBody>
      </p:sp>
      <p:sp>
        <p:nvSpPr>
          <p:cNvPr id="13" name="!!N18">
            <a:extLst>
              <a:ext uri="{FF2B5EF4-FFF2-40B4-BE49-F238E27FC236}">
                <a16:creationId xmlns:a16="http://schemas.microsoft.com/office/drawing/2014/main" id="{6CE7EB15-3B41-C720-68F4-6AF97F9017FA}"/>
              </a:ext>
            </a:extLst>
          </p:cNvPr>
          <p:cNvSpPr/>
          <p:nvPr/>
        </p:nvSpPr>
        <p:spPr>
          <a:xfrm>
            <a:off x="7797800" y="3000756"/>
            <a:ext cx="4241800" cy="107899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A ring draws these three numbers for every pair at once: its three rows.</a:t>
            </a:r>
          </a:p>
        </p:txBody>
      </p:sp>
      <p:sp>
        <p:nvSpPr>
          <p:cNvPr id="14" name="!!T-BG">
            <a:extLst>
              <a:ext uri="{FF2B5EF4-FFF2-40B4-BE49-F238E27FC236}">
                <a16:creationId xmlns:a16="http://schemas.microsoft.com/office/drawing/2014/main" id="{0147F176-75C8-8E9D-253F-A68471C4101A}"/>
              </a:ext>
            </a:extLst>
          </p:cNvPr>
          <p:cNvSpPr/>
          <p:nvPr/>
        </p:nvSpPr>
        <p:spPr>
          <a:xfrm>
            <a:off x="-381000" y="0"/>
            <a:ext cx="12954000" cy="685800"/>
          </a:xfrm>
          <a:prstGeom prst="snip2DiagRect">
            <a:avLst>
              <a:gd name="adj1" fmla="val 0"/>
              <a:gd name="adj2" fmla="val 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
            <a:extLst>
              <a:ext uri="{FF2B5EF4-FFF2-40B4-BE49-F238E27FC236}">
                <a16:creationId xmlns:a16="http://schemas.microsoft.com/office/drawing/2014/main" id="{945E78CD-3488-70B8-712B-5C32764F3886}"/>
              </a:ext>
            </a:extLst>
          </p:cNvPr>
          <p:cNvSpPr txBox="1"/>
          <p:nvPr/>
        </p:nvSpPr>
        <p:spPr>
          <a:xfrm>
            <a:off x="127000" y="0"/>
            <a:ext cx="11811000" cy="685800"/>
          </a:xfrm>
          <a:prstGeom prst="rect">
            <a:avLst/>
          </a:prstGeom>
          <a:noFill/>
        </p:spPr>
        <p:txBody>
          <a:bodyPr vert="horz" wrap="square" lIns="76200" tIns="25400" rIns="76200" bIns="25400" rtlCol="0" anchor="ctr">
            <a:noAutofit/>
          </a:bodyPr>
          <a:lstStyle/>
          <a:p>
            <a:pPr>
              <a:lnSpc>
                <a:spcPct val="95000"/>
              </a:lnSpc>
            </a:pPr>
            <a:r>
              <a:rPr lang="en-US" sz="2400" b="1" u="sng">
                <a:solidFill>
                  <a:srgbClr val="FFFFFF"/>
                </a:solidFill>
                <a:latin typeface="Aptos Display" panose="020B0004020202020204" pitchFamily="34" charset="0"/>
              </a:rPr>
              <a:t>Figure S1 · what a row is</a:t>
            </a:r>
          </a:p>
        </p:txBody>
      </p:sp>
    </p:spTree>
    <p:extLst>
      <p:ext uri="{BB962C8B-B14F-4D97-AF65-F5344CB8AC3E}">
        <p14:creationId xmlns:p14="http://schemas.microsoft.com/office/powerpoint/2010/main" val="29653656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tage">
            <a:extLst>
              <a:ext uri="{FF2B5EF4-FFF2-40B4-BE49-F238E27FC236}">
                <a16:creationId xmlns:a16="http://schemas.microsoft.com/office/drawing/2014/main" id="{A99BA3D6-4E76-6A9A-F489-B930D288ACE7}"/>
              </a:ext>
            </a:extLst>
          </p:cNvPr>
          <p:cNvSpPr/>
          <p:nvPr/>
        </p:nvSpPr>
        <p:spPr>
          <a:xfrm>
            <a:off x="0" y="685800"/>
            <a:ext cx="7670800" cy="6172200"/>
          </a:xfrm>
          <a:prstGeom prst="rect">
            <a:avLst/>
          </a:prstGeom>
          <a:solidFill>
            <a:srgbClr val="ECEC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F2_fp">
            <a:extLst>
              <a:ext uri="{FF2B5EF4-FFF2-40B4-BE49-F238E27FC236}">
                <a16:creationId xmlns:a16="http://schemas.microsoft.com/office/drawing/2014/main" id="{52CF037A-6A47-D183-0FDF-2CFDFAAB77FB}"/>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1287723" y="901954"/>
            <a:ext cx="5120754" cy="5765292"/>
          </a:xfrm>
          <a:prstGeom prst="rect">
            <a:avLst/>
          </a:prstGeom>
          <a:ln w="9525">
            <a:solidFill>
              <a:srgbClr val="B0B0B0"/>
            </a:solidFill>
          </a:ln>
        </p:spPr>
      </p:pic>
      <p:sp>
        <p:nvSpPr>
          <p:cNvPr id="5" name="!!D1">
            <a:extLst>
              <a:ext uri="{FF2B5EF4-FFF2-40B4-BE49-F238E27FC236}">
                <a16:creationId xmlns:a16="http://schemas.microsoft.com/office/drawing/2014/main" id="{98220B89-FE38-B195-AAA7-2741FDAA084A}"/>
              </a:ext>
            </a:extLst>
          </p:cNvPr>
          <p:cNvSpPr/>
          <p:nvPr/>
        </p:nvSpPr>
        <p:spPr>
          <a:xfrm>
            <a:off x="0" y="685800"/>
            <a:ext cx="7670800" cy="635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2">
            <a:extLst>
              <a:ext uri="{FF2B5EF4-FFF2-40B4-BE49-F238E27FC236}">
                <a16:creationId xmlns:a16="http://schemas.microsoft.com/office/drawing/2014/main" id="{D084DE17-3813-A910-4B2B-D7C485F95898}"/>
              </a:ext>
            </a:extLst>
          </p:cNvPr>
          <p:cNvSpPr/>
          <p:nvPr/>
        </p:nvSpPr>
        <p:spPr>
          <a:xfrm>
            <a:off x="0" y="6858000"/>
            <a:ext cx="7670800" cy="635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3">
            <a:extLst>
              <a:ext uri="{FF2B5EF4-FFF2-40B4-BE49-F238E27FC236}">
                <a16:creationId xmlns:a16="http://schemas.microsoft.com/office/drawing/2014/main" id="{A94C1C76-C0C2-BCA6-F348-9641186E090E}"/>
              </a:ext>
            </a:extLst>
          </p:cNvPr>
          <p:cNvSpPr/>
          <p:nvPr/>
        </p:nvSpPr>
        <p:spPr>
          <a:xfrm>
            <a:off x="0" y="685800"/>
            <a:ext cx="6350" cy="617220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4">
            <a:extLst>
              <a:ext uri="{FF2B5EF4-FFF2-40B4-BE49-F238E27FC236}">
                <a16:creationId xmlns:a16="http://schemas.microsoft.com/office/drawing/2014/main" id="{40842310-FB96-4100-53B1-67C306103DA0}"/>
              </a:ext>
            </a:extLst>
          </p:cNvPr>
          <p:cNvSpPr/>
          <p:nvPr/>
        </p:nvSpPr>
        <p:spPr>
          <a:xfrm>
            <a:off x="7670800" y="685800"/>
            <a:ext cx="6350" cy="617220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ail">
            <a:extLst>
              <a:ext uri="{FF2B5EF4-FFF2-40B4-BE49-F238E27FC236}">
                <a16:creationId xmlns:a16="http://schemas.microsoft.com/office/drawing/2014/main" id="{A8B2B2CC-857C-1693-1E33-75603751CC96}"/>
              </a:ext>
            </a:extLst>
          </p:cNvPr>
          <p:cNvSpPr/>
          <p:nvPr/>
        </p:nvSpPr>
        <p:spPr>
          <a:xfrm>
            <a:off x="7670800" y="685800"/>
            <a:ext cx="4521200" cy="61722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N19">
            <a:extLst>
              <a:ext uri="{FF2B5EF4-FFF2-40B4-BE49-F238E27FC236}">
                <a16:creationId xmlns:a16="http://schemas.microsoft.com/office/drawing/2014/main" id="{1CE064D1-C91E-7B2A-88D8-695DF4683134}"/>
              </a:ext>
            </a:extLst>
          </p:cNvPr>
          <p:cNvSpPr/>
          <p:nvPr/>
        </p:nvSpPr>
        <p:spPr>
          <a:xfrm>
            <a:off x="12573000" y="838200"/>
            <a:ext cx="4241800" cy="1362456"/>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Every ring is the same 12 regions. Each line is one pair, 44 pairs in all. Grey dots: regions no pair reached with 4 rats.</a:t>
            </a:r>
          </a:p>
        </p:txBody>
      </p:sp>
      <p:sp>
        <p:nvSpPr>
          <p:cNvPr id="11" name="!!N15">
            <a:extLst>
              <a:ext uri="{FF2B5EF4-FFF2-40B4-BE49-F238E27FC236}">
                <a16:creationId xmlns:a16="http://schemas.microsoft.com/office/drawing/2014/main" id="{EF4A36CC-13F4-EBE1-4040-D99145C8DE84}"/>
              </a:ext>
            </a:extLst>
          </p:cNvPr>
          <p:cNvSpPr/>
          <p:nvPr/>
        </p:nvSpPr>
        <p:spPr>
          <a:xfrm>
            <a:off x="12573000" y="838200"/>
            <a:ext cx="4241800" cy="795528"/>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One pair, R ACC – R RSC, comparison 1 in gamma. The Precon1 cue effect: cues minus baseline on Precon1, -0.019.</a:t>
            </a:r>
          </a:p>
        </p:txBody>
      </p:sp>
      <p:sp>
        <p:nvSpPr>
          <p:cNvPr id="12" name="!!N16">
            <a:extLst>
              <a:ext uri="{FF2B5EF4-FFF2-40B4-BE49-F238E27FC236}">
                <a16:creationId xmlns:a16="http://schemas.microsoft.com/office/drawing/2014/main" id="{A388990A-DD7D-B97C-6BEB-6619A5117391}"/>
              </a:ext>
            </a:extLst>
          </p:cNvPr>
          <p:cNvSpPr/>
          <p:nvPr/>
        </p:nvSpPr>
        <p:spPr>
          <a:xfrm>
            <a:off x="12573000" y="1748028"/>
            <a:ext cx="4241800" cy="417576"/>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The Precon4 cue effect: the same on Precon4, +0.016.</a:t>
            </a:r>
          </a:p>
        </p:txBody>
      </p:sp>
      <p:sp>
        <p:nvSpPr>
          <p:cNvPr id="13" name="!!N17">
            <a:extLst>
              <a:ext uri="{FF2B5EF4-FFF2-40B4-BE49-F238E27FC236}">
                <a16:creationId xmlns:a16="http://schemas.microsoft.com/office/drawing/2014/main" id="{4BA35C8F-741F-8906-FEF5-D7411F4C53D2}"/>
              </a:ext>
            </a:extLst>
          </p:cNvPr>
          <p:cNvSpPr/>
          <p:nvPr/>
        </p:nvSpPr>
        <p:spPr>
          <a:xfrm>
            <a:off x="12573000" y="2279904"/>
            <a:ext cx="4241800" cy="60655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The </a:t>
            </a:r>
            <a:r>
              <a:rPr lang="en-US" sz="1200" b="1">
                <a:solidFill>
                  <a:srgbClr val="FFFFFF"/>
                </a:solidFill>
                <a:latin typeface="Aptos" panose="020B0004020202020204" pitchFamily="34" charset="0"/>
              </a:rPr>
              <a:t>change in cue effect</a:t>
            </a:r>
            <a:r>
              <a:rPr lang="en-US" sz="1200">
                <a:solidFill>
                  <a:srgbClr val="FFFFFF"/>
                </a:solidFill>
                <a:latin typeface="Aptos" panose="020B0004020202020204" pitchFamily="34" charset="0"/>
              </a:rPr>
              <a:t>: Precon4’s minus Precon1’s, +0.035. This is what tab 8’s light tested.</a:t>
            </a:r>
          </a:p>
        </p:txBody>
      </p:sp>
      <p:sp>
        <p:nvSpPr>
          <p:cNvPr id="14" name="!!N18">
            <a:extLst>
              <a:ext uri="{FF2B5EF4-FFF2-40B4-BE49-F238E27FC236}">
                <a16:creationId xmlns:a16="http://schemas.microsoft.com/office/drawing/2014/main" id="{4D4D3342-D2E9-E1E1-CA23-EA40202DFC40}"/>
              </a:ext>
            </a:extLst>
          </p:cNvPr>
          <p:cNvSpPr/>
          <p:nvPr/>
        </p:nvSpPr>
        <p:spPr>
          <a:xfrm>
            <a:off x="12573000" y="3000756"/>
            <a:ext cx="4241800" cy="107899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A ring draws these three numbers for every pair at once: its three rows.</a:t>
            </a:r>
          </a:p>
        </p:txBody>
      </p:sp>
      <p:sp>
        <p:nvSpPr>
          <p:cNvPr id="15" name="!!T-BG">
            <a:extLst>
              <a:ext uri="{FF2B5EF4-FFF2-40B4-BE49-F238E27FC236}">
                <a16:creationId xmlns:a16="http://schemas.microsoft.com/office/drawing/2014/main" id="{6D806EF6-A550-61F9-B149-6F0665AC45A4}"/>
              </a:ext>
            </a:extLst>
          </p:cNvPr>
          <p:cNvSpPr/>
          <p:nvPr/>
        </p:nvSpPr>
        <p:spPr>
          <a:xfrm>
            <a:off x="1905000" y="1905000"/>
            <a:ext cx="8382000" cy="3048000"/>
          </a:xfrm>
          <a:prstGeom prst="snip2DiagRect">
            <a:avLst>
              <a:gd name="adj1" fmla="val 0"/>
              <a:gd name="adj2" fmla="val 16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
            <a:extLst>
              <a:ext uri="{FF2B5EF4-FFF2-40B4-BE49-F238E27FC236}">
                <a16:creationId xmlns:a16="http://schemas.microsoft.com/office/drawing/2014/main" id="{B72F0BBF-EC2C-98CF-0BE6-328FC5BFB5D3}"/>
              </a:ext>
            </a:extLst>
          </p:cNvPr>
          <p:cNvSpPr txBox="1"/>
          <p:nvPr/>
        </p:nvSpPr>
        <p:spPr>
          <a:xfrm>
            <a:off x="2286000" y="2032000"/>
            <a:ext cx="7620000" cy="2794000"/>
          </a:xfrm>
          <a:prstGeom prst="rect">
            <a:avLst/>
          </a:prstGeom>
          <a:noFill/>
        </p:spPr>
        <p:txBody>
          <a:bodyPr vert="horz" wrap="square" lIns="76200" tIns="50800" rIns="76200" bIns="50800" rtlCol="0" anchor="ctr">
            <a:noAutofit/>
          </a:bodyPr>
          <a:lstStyle/>
          <a:p>
            <a:pPr algn="ctr">
              <a:lnSpc>
                <a:spcPct val="95000"/>
              </a:lnSpc>
            </a:pPr>
            <a:r>
              <a:rPr lang="en-US" sz="4000" b="1">
                <a:solidFill>
                  <a:srgbClr val="FF0000"/>
                </a:solidFill>
                <a:latin typeface="Aptos Display" panose="020B0004020202020204" pitchFamily="34" charset="0"/>
              </a:rPr>
              <a:t>Figure 2</a:t>
            </a:r>
          </a:p>
          <a:p>
            <a:pPr algn="ctr">
              <a:lnSpc>
                <a:spcPct val="95000"/>
              </a:lnSpc>
            </a:pPr>
            <a:r>
              <a:rPr lang="en-US" sz="2000">
                <a:solidFill>
                  <a:srgbClr val="FFFFFF"/>
                </a:solidFill>
                <a:latin typeface="Aptos Display" panose="020B0004020202020204" pitchFamily="34" charset="0"/>
              </a:rPr>
              <a:t>Comparison 1, baseline → both cues, gamma: the whole network</a:t>
            </a:r>
          </a:p>
        </p:txBody>
      </p:sp>
    </p:spTree>
    <p:extLst>
      <p:ext uri="{BB962C8B-B14F-4D97-AF65-F5344CB8AC3E}">
        <p14:creationId xmlns:p14="http://schemas.microsoft.com/office/powerpoint/2010/main" val="171459471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tage">
            <a:extLst>
              <a:ext uri="{FF2B5EF4-FFF2-40B4-BE49-F238E27FC236}">
                <a16:creationId xmlns:a16="http://schemas.microsoft.com/office/drawing/2014/main" id="{37E147EE-92AF-CD3C-91C0-7D3559398792}"/>
              </a:ext>
            </a:extLst>
          </p:cNvPr>
          <p:cNvSpPr/>
          <p:nvPr/>
        </p:nvSpPr>
        <p:spPr>
          <a:xfrm>
            <a:off x="0" y="685800"/>
            <a:ext cx="7670800" cy="6172200"/>
          </a:xfrm>
          <a:prstGeom prst="rect">
            <a:avLst/>
          </a:prstGeom>
          <a:solidFill>
            <a:srgbClr val="ECEC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F2_fp">
            <a:extLst>
              <a:ext uri="{FF2B5EF4-FFF2-40B4-BE49-F238E27FC236}">
                <a16:creationId xmlns:a16="http://schemas.microsoft.com/office/drawing/2014/main" id="{59F43B01-BE72-842C-0407-DED049DE2D6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287723" y="901954"/>
            <a:ext cx="5120754" cy="5765292"/>
          </a:xfrm>
          <a:prstGeom prst="rect">
            <a:avLst/>
          </a:prstGeom>
          <a:ln w="9525">
            <a:solidFill>
              <a:srgbClr val="B0B0B0"/>
            </a:solidFill>
          </a:ln>
        </p:spPr>
      </p:pic>
      <p:sp>
        <p:nvSpPr>
          <p:cNvPr id="5" name="!!D1">
            <a:extLst>
              <a:ext uri="{FF2B5EF4-FFF2-40B4-BE49-F238E27FC236}">
                <a16:creationId xmlns:a16="http://schemas.microsoft.com/office/drawing/2014/main" id="{A4AEB7C0-ED73-8D56-A689-582385C33C68}"/>
              </a:ext>
            </a:extLst>
          </p:cNvPr>
          <p:cNvSpPr/>
          <p:nvPr/>
        </p:nvSpPr>
        <p:spPr>
          <a:xfrm>
            <a:off x="0" y="685800"/>
            <a:ext cx="7670800" cy="635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2">
            <a:extLst>
              <a:ext uri="{FF2B5EF4-FFF2-40B4-BE49-F238E27FC236}">
                <a16:creationId xmlns:a16="http://schemas.microsoft.com/office/drawing/2014/main" id="{DC9E407E-64FA-02C9-4349-B61DF6B7AA12}"/>
              </a:ext>
            </a:extLst>
          </p:cNvPr>
          <p:cNvSpPr/>
          <p:nvPr/>
        </p:nvSpPr>
        <p:spPr>
          <a:xfrm>
            <a:off x="0" y="6858000"/>
            <a:ext cx="7670800" cy="635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3">
            <a:extLst>
              <a:ext uri="{FF2B5EF4-FFF2-40B4-BE49-F238E27FC236}">
                <a16:creationId xmlns:a16="http://schemas.microsoft.com/office/drawing/2014/main" id="{174A73CF-CF9D-304F-9BA7-A3711813E28D}"/>
              </a:ext>
            </a:extLst>
          </p:cNvPr>
          <p:cNvSpPr/>
          <p:nvPr/>
        </p:nvSpPr>
        <p:spPr>
          <a:xfrm>
            <a:off x="0" y="685800"/>
            <a:ext cx="6350" cy="617220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4">
            <a:extLst>
              <a:ext uri="{FF2B5EF4-FFF2-40B4-BE49-F238E27FC236}">
                <a16:creationId xmlns:a16="http://schemas.microsoft.com/office/drawing/2014/main" id="{1122E27A-64A4-277C-BFB8-9245647EB426}"/>
              </a:ext>
            </a:extLst>
          </p:cNvPr>
          <p:cNvSpPr/>
          <p:nvPr/>
        </p:nvSpPr>
        <p:spPr>
          <a:xfrm>
            <a:off x="7670800" y="685800"/>
            <a:ext cx="6350" cy="617220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ail">
            <a:extLst>
              <a:ext uri="{FF2B5EF4-FFF2-40B4-BE49-F238E27FC236}">
                <a16:creationId xmlns:a16="http://schemas.microsoft.com/office/drawing/2014/main" id="{6CA5FAC3-FD3A-8604-36AA-8BEBB6CDAF69}"/>
              </a:ext>
            </a:extLst>
          </p:cNvPr>
          <p:cNvSpPr/>
          <p:nvPr/>
        </p:nvSpPr>
        <p:spPr>
          <a:xfrm>
            <a:off x="7670800" y="685800"/>
            <a:ext cx="4521200" cy="61722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N19">
            <a:extLst>
              <a:ext uri="{FF2B5EF4-FFF2-40B4-BE49-F238E27FC236}">
                <a16:creationId xmlns:a16="http://schemas.microsoft.com/office/drawing/2014/main" id="{4B45074A-F42D-8F9D-1CAC-3D7ADED84231}"/>
              </a:ext>
            </a:extLst>
          </p:cNvPr>
          <p:cNvSpPr/>
          <p:nvPr/>
        </p:nvSpPr>
        <p:spPr>
          <a:xfrm>
            <a:off x="7797800" y="838200"/>
            <a:ext cx="4241800" cy="1362456"/>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Every ring is the same 12 regions. Each line is one pair, 44 pairs in all. Grey dots: regions no pair reached with 4 rats.</a:t>
            </a:r>
          </a:p>
        </p:txBody>
      </p:sp>
      <p:sp>
        <p:nvSpPr>
          <p:cNvPr id="11" name="!!N20">
            <a:extLst>
              <a:ext uri="{FF2B5EF4-FFF2-40B4-BE49-F238E27FC236}">
                <a16:creationId xmlns:a16="http://schemas.microsoft.com/office/drawing/2014/main" id="{EF9EE09F-1E88-943D-F7AC-67EEF8A7D394}"/>
              </a:ext>
            </a:extLst>
          </p:cNvPr>
          <p:cNvSpPr/>
          <p:nvPr/>
        </p:nvSpPr>
        <p:spPr>
          <a:xfrm>
            <a:off x="12573000" y="1748028"/>
            <a:ext cx="4241800" cy="107899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A line’s width is that pair’s cue effect, averaged over the rats. Orange: the cues raised coherence.</a:t>
            </a:r>
          </a:p>
        </p:txBody>
      </p:sp>
      <p:sp>
        <p:nvSpPr>
          <p:cNvPr id="12" name="!!T-BG">
            <a:extLst>
              <a:ext uri="{FF2B5EF4-FFF2-40B4-BE49-F238E27FC236}">
                <a16:creationId xmlns:a16="http://schemas.microsoft.com/office/drawing/2014/main" id="{77B3228B-0570-93F5-C935-12DAD737756A}"/>
              </a:ext>
            </a:extLst>
          </p:cNvPr>
          <p:cNvSpPr/>
          <p:nvPr/>
        </p:nvSpPr>
        <p:spPr>
          <a:xfrm>
            <a:off x="-381000" y="0"/>
            <a:ext cx="12954000" cy="685800"/>
          </a:xfrm>
          <a:prstGeom prst="snip2DiagRect">
            <a:avLst>
              <a:gd name="adj1" fmla="val 0"/>
              <a:gd name="adj2" fmla="val 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
            <a:extLst>
              <a:ext uri="{FF2B5EF4-FFF2-40B4-BE49-F238E27FC236}">
                <a16:creationId xmlns:a16="http://schemas.microsoft.com/office/drawing/2014/main" id="{FAA77FDE-7DA9-BF42-9BED-1E4F22B5ECFC}"/>
              </a:ext>
            </a:extLst>
          </p:cNvPr>
          <p:cNvSpPr txBox="1"/>
          <p:nvPr/>
        </p:nvSpPr>
        <p:spPr>
          <a:xfrm>
            <a:off x="127000" y="0"/>
            <a:ext cx="11811000" cy="685800"/>
          </a:xfrm>
          <a:prstGeom prst="rect">
            <a:avLst/>
          </a:prstGeom>
          <a:noFill/>
        </p:spPr>
        <p:txBody>
          <a:bodyPr vert="horz" wrap="square" lIns="76200" tIns="25400" rIns="76200" bIns="25400" rtlCol="0" anchor="ctr">
            <a:noAutofit/>
          </a:bodyPr>
          <a:lstStyle/>
          <a:p>
            <a:pPr>
              <a:lnSpc>
                <a:spcPct val="95000"/>
              </a:lnSpc>
            </a:pPr>
            <a:r>
              <a:rPr lang="en-US" sz="2400" b="1" u="sng">
                <a:solidFill>
                  <a:srgbClr val="FFFFFF"/>
                </a:solidFill>
                <a:latin typeface="Aptos Display" panose="020B0004020202020204" pitchFamily="34" charset="0"/>
              </a:rPr>
              <a:t>Figure 2 · baseline → both cues · gamma</a:t>
            </a:r>
          </a:p>
        </p:txBody>
      </p:sp>
    </p:spTree>
    <p:extLst>
      <p:ext uri="{BB962C8B-B14F-4D97-AF65-F5344CB8AC3E}">
        <p14:creationId xmlns:p14="http://schemas.microsoft.com/office/powerpoint/2010/main" val="152765837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tage">
            <a:extLst>
              <a:ext uri="{FF2B5EF4-FFF2-40B4-BE49-F238E27FC236}">
                <a16:creationId xmlns:a16="http://schemas.microsoft.com/office/drawing/2014/main" id="{FBB9E572-6A16-7DD7-5861-0BB994C44281}"/>
              </a:ext>
            </a:extLst>
          </p:cNvPr>
          <p:cNvSpPr/>
          <p:nvPr/>
        </p:nvSpPr>
        <p:spPr>
          <a:xfrm>
            <a:off x="0" y="685800"/>
            <a:ext cx="7670800" cy="6172200"/>
          </a:xfrm>
          <a:prstGeom prst="rect">
            <a:avLst/>
          </a:prstGeom>
          <a:solidFill>
            <a:srgbClr val="ECEC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F2_fp">
            <a:extLst>
              <a:ext uri="{FF2B5EF4-FFF2-40B4-BE49-F238E27FC236}">
                <a16:creationId xmlns:a16="http://schemas.microsoft.com/office/drawing/2014/main" id="{7669EEF4-829A-7F3B-967F-8BCB0E717FE1}"/>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1039620" y="13211"/>
            <a:ext cx="22080989" cy="24860270"/>
          </a:xfrm>
          <a:prstGeom prst="rect">
            <a:avLst/>
          </a:prstGeom>
          <a:ln w="9525">
            <a:solidFill>
              <a:srgbClr val="B0B0B0"/>
            </a:solidFill>
          </a:ln>
        </p:spPr>
      </p:pic>
      <p:sp>
        <p:nvSpPr>
          <p:cNvPr id="5" name="!!D1">
            <a:extLst>
              <a:ext uri="{FF2B5EF4-FFF2-40B4-BE49-F238E27FC236}">
                <a16:creationId xmlns:a16="http://schemas.microsoft.com/office/drawing/2014/main" id="{A0B7FB15-9EDA-F954-EEE3-3768B0A11101}"/>
              </a:ext>
            </a:extLst>
          </p:cNvPr>
          <p:cNvSpPr/>
          <p:nvPr/>
        </p:nvSpPr>
        <p:spPr>
          <a:xfrm>
            <a:off x="0" y="685800"/>
            <a:ext cx="7670800" cy="569198"/>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2">
            <a:extLst>
              <a:ext uri="{FF2B5EF4-FFF2-40B4-BE49-F238E27FC236}">
                <a16:creationId xmlns:a16="http://schemas.microsoft.com/office/drawing/2014/main" id="{91AB85BC-3E98-9375-51DF-E14794C03A25}"/>
              </a:ext>
            </a:extLst>
          </p:cNvPr>
          <p:cNvSpPr/>
          <p:nvPr/>
        </p:nvSpPr>
        <p:spPr>
          <a:xfrm>
            <a:off x="0" y="6314202"/>
            <a:ext cx="7670800" cy="543798"/>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3">
            <a:extLst>
              <a:ext uri="{FF2B5EF4-FFF2-40B4-BE49-F238E27FC236}">
                <a16:creationId xmlns:a16="http://schemas.microsoft.com/office/drawing/2014/main" id="{167AFF8E-D349-6EFA-ED35-1CC7D9469063}"/>
              </a:ext>
            </a:extLst>
          </p:cNvPr>
          <p:cNvSpPr/>
          <p:nvPr/>
        </p:nvSpPr>
        <p:spPr>
          <a:xfrm>
            <a:off x="0" y="1254998"/>
            <a:ext cx="262509" cy="5059204"/>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4">
            <a:extLst>
              <a:ext uri="{FF2B5EF4-FFF2-40B4-BE49-F238E27FC236}">
                <a16:creationId xmlns:a16="http://schemas.microsoft.com/office/drawing/2014/main" id="{25D22D0B-129E-D254-05F4-E926FB7B6EA6}"/>
              </a:ext>
            </a:extLst>
          </p:cNvPr>
          <p:cNvSpPr/>
          <p:nvPr/>
        </p:nvSpPr>
        <p:spPr>
          <a:xfrm>
            <a:off x="7433691" y="1254998"/>
            <a:ext cx="237109" cy="5059204"/>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ail">
            <a:extLst>
              <a:ext uri="{FF2B5EF4-FFF2-40B4-BE49-F238E27FC236}">
                <a16:creationId xmlns:a16="http://schemas.microsoft.com/office/drawing/2014/main" id="{3E941F06-519F-60A2-0E38-177AEF50460D}"/>
              </a:ext>
            </a:extLst>
          </p:cNvPr>
          <p:cNvSpPr/>
          <p:nvPr/>
        </p:nvSpPr>
        <p:spPr>
          <a:xfrm>
            <a:off x="7670800" y="685800"/>
            <a:ext cx="4521200" cy="61722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N19">
            <a:extLst>
              <a:ext uri="{FF2B5EF4-FFF2-40B4-BE49-F238E27FC236}">
                <a16:creationId xmlns:a16="http://schemas.microsoft.com/office/drawing/2014/main" id="{BD3AF240-DA82-E6C3-4CE4-BE8051700CE3}"/>
              </a:ext>
            </a:extLst>
          </p:cNvPr>
          <p:cNvSpPr/>
          <p:nvPr/>
        </p:nvSpPr>
        <p:spPr>
          <a:xfrm>
            <a:off x="7797800" y="838200"/>
            <a:ext cx="4241800" cy="795528"/>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Every ring is the same 12 regions. Each line is one pair, 44 pairs in all. Grey dots: regions no pair reached with 4 rats.</a:t>
            </a:r>
          </a:p>
        </p:txBody>
      </p:sp>
      <p:sp>
        <p:nvSpPr>
          <p:cNvPr id="11" name="!!N20">
            <a:extLst>
              <a:ext uri="{FF2B5EF4-FFF2-40B4-BE49-F238E27FC236}">
                <a16:creationId xmlns:a16="http://schemas.microsoft.com/office/drawing/2014/main" id="{33D4DF5E-4046-843A-722E-8640E44AFD42}"/>
              </a:ext>
            </a:extLst>
          </p:cNvPr>
          <p:cNvSpPr/>
          <p:nvPr/>
        </p:nvSpPr>
        <p:spPr>
          <a:xfrm>
            <a:off x="7797800" y="1748028"/>
            <a:ext cx="4241800" cy="107899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A line’s width is that pair’s cue effect, averaged over the rats. Orange: the cues raised coherence.</a:t>
            </a:r>
          </a:p>
        </p:txBody>
      </p:sp>
      <p:sp>
        <p:nvSpPr>
          <p:cNvPr id="12" name="!!N21">
            <a:extLst>
              <a:ext uri="{FF2B5EF4-FFF2-40B4-BE49-F238E27FC236}">
                <a16:creationId xmlns:a16="http://schemas.microsoft.com/office/drawing/2014/main" id="{2C37BA7A-678E-8371-E448-23C2742DDB0B}"/>
              </a:ext>
            </a:extLst>
          </p:cNvPr>
          <p:cNvSpPr/>
          <p:nvPr/>
        </p:nvSpPr>
        <p:spPr>
          <a:xfrm>
            <a:off x="12573000" y="2468880"/>
            <a:ext cx="4241800" cy="512064"/>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Purple: they lowered it.</a:t>
            </a:r>
          </a:p>
        </p:txBody>
      </p:sp>
      <p:sp>
        <p:nvSpPr>
          <p:cNvPr id="13" name="!!T-BG">
            <a:extLst>
              <a:ext uri="{FF2B5EF4-FFF2-40B4-BE49-F238E27FC236}">
                <a16:creationId xmlns:a16="http://schemas.microsoft.com/office/drawing/2014/main" id="{EE288D05-747C-6D50-B95F-7C83A7730353}"/>
              </a:ext>
            </a:extLst>
          </p:cNvPr>
          <p:cNvSpPr/>
          <p:nvPr/>
        </p:nvSpPr>
        <p:spPr>
          <a:xfrm>
            <a:off x="-381000" y="0"/>
            <a:ext cx="12954000" cy="685800"/>
          </a:xfrm>
          <a:prstGeom prst="snip2DiagRect">
            <a:avLst>
              <a:gd name="adj1" fmla="val 0"/>
              <a:gd name="adj2" fmla="val 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
            <a:extLst>
              <a:ext uri="{FF2B5EF4-FFF2-40B4-BE49-F238E27FC236}">
                <a16:creationId xmlns:a16="http://schemas.microsoft.com/office/drawing/2014/main" id="{37E8C40D-3D20-F208-F0BB-E45346984BE8}"/>
              </a:ext>
            </a:extLst>
          </p:cNvPr>
          <p:cNvSpPr txBox="1"/>
          <p:nvPr/>
        </p:nvSpPr>
        <p:spPr>
          <a:xfrm>
            <a:off x="127000" y="0"/>
            <a:ext cx="11811000" cy="685800"/>
          </a:xfrm>
          <a:prstGeom prst="rect">
            <a:avLst/>
          </a:prstGeom>
          <a:noFill/>
        </p:spPr>
        <p:txBody>
          <a:bodyPr vert="horz" wrap="square" lIns="76200" tIns="25400" rIns="76200" bIns="25400" rtlCol="0" anchor="ctr">
            <a:noAutofit/>
          </a:bodyPr>
          <a:lstStyle/>
          <a:p>
            <a:pPr>
              <a:lnSpc>
                <a:spcPct val="95000"/>
              </a:lnSpc>
            </a:pPr>
            <a:r>
              <a:rPr lang="en-US" sz="2400" b="1" u="sng">
                <a:solidFill>
                  <a:srgbClr val="FFFFFF"/>
                </a:solidFill>
                <a:latin typeface="Aptos Display" panose="020B0004020202020204" pitchFamily="34" charset="0"/>
              </a:rPr>
              <a:t>Figure 2 · baseline → both cues · gamma</a:t>
            </a:r>
          </a:p>
        </p:txBody>
      </p:sp>
    </p:spTree>
    <p:extLst>
      <p:ext uri="{BB962C8B-B14F-4D97-AF65-F5344CB8AC3E}">
        <p14:creationId xmlns:p14="http://schemas.microsoft.com/office/powerpoint/2010/main" val="283634405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tage">
            <a:extLst>
              <a:ext uri="{FF2B5EF4-FFF2-40B4-BE49-F238E27FC236}">
                <a16:creationId xmlns:a16="http://schemas.microsoft.com/office/drawing/2014/main" id="{C0EFCB57-BE6B-92D3-2237-3FF3679F2588}"/>
              </a:ext>
            </a:extLst>
          </p:cNvPr>
          <p:cNvSpPr/>
          <p:nvPr/>
        </p:nvSpPr>
        <p:spPr>
          <a:xfrm>
            <a:off x="0" y="685800"/>
            <a:ext cx="7670800" cy="6172200"/>
          </a:xfrm>
          <a:prstGeom prst="rect">
            <a:avLst/>
          </a:prstGeom>
          <a:solidFill>
            <a:srgbClr val="ECEC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F2_fp">
            <a:extLst>
              <a:ext uri="{FF2B5EF4-FFF2-40B4-BE49-F238E27FC236}">
                <a16:creationId xmlns:a16="http://schemas.microsoft.com/office/drawing/2014/main" id="{AB0F2BBB-0440-5C60-3542-32CFA2EC5308}"/>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7797949" y="13211"/>
            <a:ext cx="22080989" cy="24860270"/>
          </a:xfrm>
          <a:prstGeom prst="rect">
            <a:avLst/>
          </a:prstGeom>
          <a:ln w="9525">
            <a:solidFill>
              <a:srgbClr val="B0B0B0"/>
            </a:solidFill>
          </a:ln>
        </p:spPr>
      </p:pic>
      <p:sp>
        <p:nvSpPr>
          <p:cNvPr id="5" name="!!D1">
            <a:extLst>
              <a:ext uri="{FF2B5EF4-FFF2-40B4-BE49-F238E27FC236}">
                <a16:creationId xmlns:a16="http://schemas.microsoft.com/office/drawing/2014/main" id="{F080786C-A90C-A4E7-E489-AAFEB057ED26}"/>
              </a:ext>
            </a:extLst>
          </p:cNvPr>
          <p:cNvSpPr/>
          <p:nvPr/>
        </p:nvSpPr>
        <p:spPr>
          <a:xfrm>
            <a:off x="0" y="685800"/>
            <a:ext cx="7670800" cy="569198"/>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2">
            <a:extLst>
              <a:ext uri="{FF2B5EF4-FFF2-40B4-BE49-F238E27FC236}">
                <a16:creationId xmlns:a16="http://schemas.microsoft.com/office/drawing/2014/main" id="{87295FAC-F94A-E9E5-731D-578DDE874524}"/>
              </a:ext>
            </a:extLst>
          </p:cNvPr>
          <p:cNvSpPr/>
          <p:nvPr/>
        </p:nvSpPr>
        <p:spPr>
          <a:xfrm>
            <a:off x="0" y="6314202"/>
            <a:ext cx="7670800" cy="543798"/>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3">
            <a:extLst>
              <a:ext uri="{FF2B5EF4-FFF2-40B4-BE49-F238E27FC236}">
                <a16:creationId xmlns:a16="http://schemas.microsoft.com/office/drawing/2014/main" id="{462303F4-87A7-A3A9-4005-5454DADA9B9C}"/>
              </a:ext>
            </a:extLst>
          </p:cNvPr>
          <p:cNvSpPr/>
          <p:nvPr/>
        </p:nvSpPr>
        <p:spPr>
          <a:xfrm>
            <a:off x="0" y="1254998"/>
            <a:ext cx="262509" cy="5059204"/>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4">
            <a:extLst>
              <a:ext uri="{FF2B5EF4-FFF2-40B4-BE49-F238E27FC236}">
                <a16:creationId xmlns:a16="http://schemas.microsoft.com/office/drawing/2014/main" id="{6CDCF96A-CCCE-2FAF-45AA-58F5FA3F335D}"/>
              </a:ext>
            </a:extLst>
          </p:cNvPr>
          <p:cNvSpPr/>
          <p:nvPr/>
        </p:nvSpPr>
        <p:spPr>
          <a:xfrm>
            <a:off x="7433691" y="1254998"/>
            <a:ext cx="237109" cy="5059204"/>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ail">
            <a:extLst>
              <a:ext uri="{FF2B5EF4-FFF2-40B4-BE49-F238E27FC236}">
                <a16:creationId xmlns:a16="http://schemas.microsoft.com/office/drawing/2014/main" id="{8411DC7D-4124-CD3F-7329-2EA9F08AA9FB}"/>
              </a:ext>
            </a:extLst>
          </p:cNvPr>
          <p:cNvSpPr/>
          <p:nvPr/>
        </p:nvSpPr>
        <p:spPr>
          <a:xfrm>
            <a:off x="7670800" y="685800"/>
            <a:ext cx="4521200" cy="61722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N19">
            <a:extLst>
              <a:ext uri="{FF2B5EF4-FFF2-40B4-BE49-F238E27FC236}">
                <a16:creationId xmlns:a16="http://schemas.microsoft.com/office/drawing/2014/main" id="{74A37A13-E7A2-1CF9-FE5B-3497DBD66DD9}"/>
              </a:ext>
            </a:extLst>
          </p:cNvPr>
          <p:cNvSpPr/>
          <p:nvPr/>
        </p:nvSpPr>
        <p:spPr>
          <a:xfrm>
            <a:off x="7797800" y="838200"/>
            <a:ext cx="4241800" cy="795528"/>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Every ring is the same 12 regions. Each line is one pair, 44 pairs in all. Grey dots: regions no pair reached with 4 rats.</a:t>
            </a:r>
          </a:p>
        </p:txBody>
      </p:sp>
      <p:sp>
        <p:nvSpPr>
          <p:cNvPr id="11" name="!!N20">
            <a:extLst>
              <a:ext uri="{FF2B5EF4-FFF2-40B4-BE49-F238E27FC236}">
                <a16:creationId xmlns:a16="http://schemas.microsoft.com/office/drawing/2014/main" id="{6486B707-E3EE-81A5-227E-9EA39BE6661F}"/>
              </a:ext>
            </a:extLst>
          </p:cNvPr>
          <p:cNvSpPr/>
          <p:nvPr/>
        </p:nvSpPr>
        <p:spPr>
          <a:xfrm>
            <a:off x="7797800" y="1748028"/>
            <a:ext cx="4241800" cy="60655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A line’s width is that pair’s cue effect, averaged over the rats. Orange: the cues raised coherence.</a:t>
            </a:r>
          </a:p>
        </p:txBody>
      </p:sp>
      <p:sp>
        <p:nvSpPr>
          <p:cNvPr id="12" name="!!N21">
            <a:extLst>
              <a:ext uri="{FF2B5EF4-FFF2-40B4-BE49-F238E27FC236}">
                <a16:creationId xmlns:a16="http://schemas.microsoft.com/office/drawing/2014/main" id="{7762CE84-28E2-3542-DD9C-459F39D8F196}"/>
              </a:ext>
            </a:extLst>
          </p:cNvPr>
          <p:cNvSpPr/>
          <p:nvPr/>
        </p:nvSpPr>
        <p:spPr>
          <a:xfrm>
            <a:off x="7797800" y="2468880"/>
            <a:ext cx="4241800" cy="512064"/>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Purple: they lowered it.</a:t>
            </a:r>
          </a:p>
        </p:txBody>
      </p:sp>
      <p:sp>
        <p:nvSpPr>
          <p:cNvPr id="13" name="!!N22">
            <a:extLst>
              <a:ext uri="{FF2B5EF4-FFF2-40B4-BE49-F238E27FC236}">
                <a16:creationId xmlns:a16="http://schemas.microsoft.com/office/drawing/2014/main" id="{4647C01F-8886-5CF2-DFB9-D28527F1E9B4}"/>
              </a:ext>
            </a:extLst>
          </p:cNvPr>
          <p:cNvSpPr/>
          <p:nvPr/>
        </p:nvSpPr>
        <p:spPr>
          <a:xfrm>
            <a:off x="12573000" y="3000756"/>
            <a:ext cx="4241800" cy="1362456"/>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Top row: the Precon1 cue effect (Cues − Baseline). The cues lowered gamma coherence in 31 of the 44 pairs.</a:t>
            </a:r>
          </a:p>
        </p:txBody>
      </p:sp>
      <p:sp>
        <p:nvSpPr>
          <p:cNvPr id="14" name="!!T-BG">
            <a:extLst>
              <a:ext uri="{FF2B5EF4-FFF2-40B4-BE49-F238E27FC236}">
                <a16:creationId xmlns:a16="http://schemas.microsoft.com/office/drawing/2014/main" id="{03DA01B2-44C2-27A7-3E36-68B2880A8D1E}"/>
              </a:ext>
            </a:extLst>
          </p:cNvPr>
          <p:cNvSpPr/>
          <p:nvPr/>
        </p:nvSpPr>
        <p:spPr>
          <a:xfrm>
            <a:off x="-381000" y="0"/>
            <a:ext cx="12954000" cy="685800"/>
          </a:xfrm>
          <a:prstGeom prst="snip2DiagRect">
            <a:avLst>
              <a:gd name="adj1" fmla="val 0"/>
              <a:gd name="adj2" fmla="val 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
            <a:extLst>
              <a:ext uri="{FF2B5EF4-FFF2-40B4-BE49-F238E27FC236}">
                <a16:creationId xmlns:a16="http://schemas.microsoft.com/office/drawing/2014/main" id="{00BFB368-E3A0-F8C1-8E08-F43103F7EB90}"/>
              </a:ext>
            </a:extLst>
          </p:cNvPr>
          <p:cNvSpPr txBox="1"/>
          <p:nvPr/>
        </p:nvSpPr>
        <p:spPr>
          <a:xfrm>
            <a:off x="127000" y="0"/>
            <a:ext cx="11811000" cy="685800"/>
          </a:xfrm>
          <a:prstGeom prst="rect">
            <a:avLst/>
          </a:prstGeom>
          <a:noFill/>
        </p:spPr>
        <p:txBody>
          <a:bodyPr vert="horz" wrap="square" lIns="76200" tIns="25400" rIns="76200" bIns="25400" rtlCol="0" anchor="ctr">
            <a:noAutofit/>
          </a:bodyPr>
          <a:lstStyle/>
          <a:p>
            <a:pPr>
              <a:lnSpc>
                <a:spcPct val="95000"/>
              </a:lnSpc>
            </a:pPr>
            <a:r>
              <a:rPr lang="en-US" sz="2400" b="1" u="sng">
                <a:solidFill>
                  <a:srgbClr val="FFFFFF"/>
                </a:solidFill>
                <a:latin typeface="Aptos Display" panose="020B0004020202020204" pitchFamily="34" charset="0"/>
              </a:rPr>
              <a:t>Figure 2 · baseline → both cues · gamma</a:t>
            </a:r>
          </a:p>
        </p:txBody>
      </p:sp>
    </p:spTree>
    <p:extLst>
      <p:ext uri="{BB962C8B-B14F-4D97-AF65-F5344CB8AC3E}">
        <p14:creationId xmlns:p14="http://schemas.microsoft.com/office/powerpoint/2010/main" val="26812009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tage">
            <a:extLst>
              <a:ext uri="{FF2B5EF4-FFF2-40B4-BE49-F238E27FC236}">
                <a16:creationId xmlns:a16="http://schemas.microsoft.com/office/drawing/2014/main" id="{BDB06D63-8687-2A17-9B8F-3A4BCA391F35}"/>
              </a:ext>
            </a:extLst>
          </p:cNvPr>
          <p:cNvSpPr/>
          <p:nvPr/>
        </p:nvSpPr>
        <p:spPr>
          <a:xfrm>
            <a:off x="0" y="685800"/>
            <a:ext cx="7670800" cy="6172200"/>
          </a:xfrm>
          <a:prstGeom prst="rect">
            <a:avLst/>
          </a:prstGeom>
          <a:solidFill>
            <a:srgbClr val="ECEC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F2_fp">
            <a:extLst>
              <a:ext uri="{FF2B5EF4-FFF2-40B4-BE49-F238E27FC236}">
                <a16:creationId xmlns:a16="http://schemas.microsoft.com/office/drawing/2014/main" id="{A3A42DB6-B1F5-1DEE-7244-7C09B00ED231}"/>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1287723" y="901954"/>
            <a:ext cx="5120754" cy="5765292"/>
          </a:xfrm>
          <a:prstGeom prst="rect">
            <a:avLst/>
          </a:prstGeom>
          <a:ln w="9525">
            <a:solidFill>
              <a:srgbClr val="B0B0B0"/>
            </a:solidFill>
          </a:ln>
        </p:spPr>
      </p:pic>
      <p:sp>
        <p:nvSpPr>
          <p:cNvPr id="5" name="!!D1">
            <a:extLst>
              <a:ext uri="{FF2B5EF4-FFF2-40B4-BE49-F238E27FC236}">
                <a16:creationId xmlns:a16="http://schemas.microsoft.com/office/drawing/2014/main" id="{3105A10B-7E29-0263-B757-6EFFAF07E3F0}"/>
              </a:ext>
            </a:extLst>
          </p:cNvPr>
          <p:cNvSpPr/>
          <p:nvPr/>
        </p:nvSpPr>
        <p:spPr>
          <a:xfrm>
            <a:off x="0" y="685800"/>
            <a:ext cx="7670800" cy="635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2">
            <a:extLst>
              <a:ext uri="{FF2B5EF4-FFF2-40B4-BE49-F238E27FC236}">
                <a16:creationId xmlns:a16="http://schemas.microsoft.com/office/drawing/2014/main" id="{7BA1EC76-8D9B-8963-B316-BC22C6CA3830}"/>
              </a:ext>
            </a:extLst>
          </p:cNvPr>
          <p:cNvSpPr/>
          <p:nvPr/>
        </p:nvSpPr>
        <p:spPr>
          <a:xfrm>
            <a:off x="0" y="6858000"/>
            <a:ext cx="7670800" cy="635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3">
            <a:extLst>
              <a:ext uri="{FF2B5EF4-FFF2-40B4-BE49-F238E27FC236}">
                <a16:creationId xmlns:a16="http://schemas.microsoft.com/office/drawing/2014/main" id="{64FB5250-020D-4915-8520-D0D4255ECCAB}"/>
              </a:ext>
            </a:extLst>
          </p:cNvPr>
          <p:cNvSpPr/>
          <p:nvPr/>
        </p:nvSpPr>
        <p:spPr>
          <a:xfrm>
            <a:off x="0" y="685800"/>
            <a:ext cx="6350" cy="617220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4">
            <a:extLst>
              <a:ext uri="{FF2B5EF4-FFF2-40B4-BE49-F238E27FC236}">
                <a16:creationId xmlns:a16="http://schemas.microsoft.com/office/drawing/2014/main" id="{048C99C3-7D5C-8E6A-CAA6-044C77363D60}"/>
              </a:ext>
            </a:extLst>
          </p:cNvPr>
          <p:cNvSpPr/>
          <p:nvPr/>
        </p:nvSpPr>
        <p:spPr>
          <a:xfrm>
            <a:off x="7670800" y="685800"/>
            <a:ext cx="6350" cy="617220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ocus">
            <a:extLst>
              <a:ext uri="{FF2B5EF4-FFF2-40B4-BE49-F238E27FC236}">
                <a16:creationId xmlns:a16="http://schemas.microsoft.com/office/drawing/2014/main" id="{07BAF628-84F8-536F-2060-ABB20143B42D}"/>
              </a:ext>
            </a:extLst>
          </p:cNvPr>
          <p:cNvSpPr/>
          <p:nvPr/>
        </p:nvSpPr>
        <p:spPr>
          <a:xfrm>
            <a:off x="1315710" y="1041892"/>
            <a:ext cx="5093756" cy="1819199"/>
          </a:xfrm>
          <a:prstGeom prst="rect">
            <a:avLst/>
          </a:prstGeom>
          <a:solidFill>
            <a:srgbClr val="83CBEB">
              <a:alpha val="37000"/>
            </a:srgbClr>
          </a:solidFill>
          <a:ln w="38100">
            <a:solidFill>
              <a:srgbClr val="46B1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ail">
            <a:extLst>
              <a:ext uri="{FF2B5EF4-FFF2-40B4-BE49-F238E27FC236}">
                <a16:creationId xmlns:a16="http://schemas.microsoft.com/office/drawing/2014/main" id="{1074C3B5-0CDE-2A4D-E88A-693A9908C5A1}"/>
              </a:ext>
            </a:extLst>
          </p:cNvPr>
          <p:cNvSpPr/>
          <p:nvPr/>
        </p:nvSpPr>
        <p:spPr>
          <a:xfrm>
            <a:off x="7670800" y="685800"/>
            <a:ext cx="4521200" cy="61722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N19">
            <a:extLst>
              <a:ext uri="{FF2B5EF4-FFF2-40B4-BE49-F238E27FC236}">
                <a16:creationId xmlns:a16="http://schemas.microsoft.com/office/drawing/2014/main" id="{80DBF38E-9F3E-8BD5-98BC-43E49AEFD4E5}"/>
              </a:ext>
            </a:extLst>
          </p:cNvPr>
          <p:cNvSpPr/>
          <p:nvPr/>
        </p:nvSpPr>
        <p:spPr>
          <a:xfrm>
            <a:off x="7797800" y="838200"/>
            <a:ext cx="4241800" cy="795528"/>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Every ring is the same 12 regions. Each line is one pair, 44 pairs in all. Grey dots: regions no pair reached with 4 rats.</a:t>
            </a:r>
          </a:p>
        </p:txBody>
      </p:sp>
      <p:sp>
        <p:nvSpPr>
          <p:cNvPr id="12" name="!!N20">
            <a:extLst>
              <a:ext uri="{FF2B5EF4-FFF2-40B4-BE49-F238E27FC236}">
                <a16:creationId xmlns:a16="http://schemas.microsoft.com/office/drawing/2014/main" id="{FC5D48BC-1AD4-E741-A050-BF66557704B4}"/>
              </a:ext>
            </a:extLst>
          </p:cNvPr>
          <p:cNvSpPr/>
          <p:nvPr/>
        </p:nvSpPr>
        <p:spPr>
          <a:xfrm>
            <a:off x="7797800" y="1748028"/>
            <a:ext cx="4241800" cy="60655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A line’s width is that pair’s cue effect, averaged over the rats. Orange: the cues raised coherence.</a:t>
            </a:r>
          </a:p>
        </p:txBody>
      </p:sp>
      <p:sp>
        <p:nvSpPr>
          <p:cNvPr id="13" name="!!N21">
            <a:extLst>
              <a:ext uri="{FF2B5EF4-FFF2-40B4-BE49-F238E27FC236}">
                <a16:creationId xmlns:a16="http://schemas.microsoft.com/office/drawing/2014/main" id="{EF2BAB15-ED03-9398-E19E-8F9DE4CC0B0D}"/>
              </a:ext>
            </a:extLst>
          </p:cNvPr>
          <p:cNvSpPr/>
          <p:nvPr/>
        </p:nvSpPr>
        <p:spPr>
          <a:xfrm>
            <a:off x="7797800" y="2468880"/>
            <a:ext cx="4241800" cy="417576"/>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Purple: they lowered it.</a:t>
            </a:r>
          </a:p>
        </p:txBody>
      </p:sp>
      <p:sp>
        <p:nvSpPr>
          <p:cNvPr id="14" name="!!N22">
            <a:extLst>
              <a:ext uri="{FF2B5EF4-FFF2-40B4-BE49-F238E27FC236}">
                <a16:creationId xmlns:a16="http://schemas.microsoft.com/office/drawing/2014/main" id="{8702F6B9-4EE2-FD8B-C398-E6E242BDDD1F}"/>
              </a:ext>
            </a:extLst>
          </p:cNvPr>
          <p:cNvSpPr/>
          <p:nvPr/>
        </p:nvSpPr>
        <p:spPr>
          <a:xfrm>
            <a:off x="7797800" y="3000756"/>
            <a:ext cx="4241800" cy="1362456"/>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Top row: the Precon1 cue effect (Cues − Baseline). The cues lowered gamma coherence in 31 of the 44 pairs.</a:t>
            </a:r>
          </a:p>
        </p:txBody>
      </p:sp>
      <p:sp>
        <p:nvSpPr>
          <p:cNvPr id="15" name="!!N23">
            <a:extLst>
              <a:ext uri="{FF2B5EF4-FFF2-40B4-BE49-F238E27FC236}">
                <a16:creationId xmlns:a16="http://schemas.microsoft.com/office/drawing/2014/main" id="{58D65335-4155-5470-8DB8-D4095050EB73}"/>
              </a:ext>
            </a:extLst>
          </p:cNvPr>
          <p:cNvSpPr/>
          <p:nvPr/>
        </p:nvSpPr>
        <p:spPr>
          <a:xfrm>
            <a:off x="12573000" y="3721608"/>
            <a:ext cx="4241800" cy="795528"/>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Middle row: the Precon4 cue effect. About even: 23 pairs up, 21 down.</a:t>
            </a:r>
          </a:p>
        </p:txBody>
      </p:sp>
      <p:sp>
        <p:nvSpPr>
          <p:cNvPr id="16" name="!!T-BG">
            <a:extLst>
              <a:ext uri="{FF2B5EF4-FFF2-40B4-BE49-F238E27FC236}">
                <a16:creationId xmlns:a16="http://schemas.microsoft.com/office/drawing/2014/main" id="{016346C8-4852-3F25-C674-16008A8CDE40}"/>
              </a:ext>
            </a:extLst>
          </p:cNvPr>
          <p:cNvSpPr/>
          <p:nvPr/>
        </p:nvSpPr>
        <p:spPr>
          <a:xfrm>
            <a:off x="-381000" y="0"/>
            <a:ext cx="12954000" cy="685800"/>
          </a:xfrm>
          <a:prstGeom prst="snip2DiagRect">
            <a:avLst>
              <a:gd name="adj1" fmla="val 0"/>
              <a:gd name="adj2" fmla="val 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
            <a:extLst>
              <a:ext uri="{FF2B5EF4-FFF2-40B4-BE49-F238E27FC236}">
                <a16:creationId xmlns:a16="http://schemas.microsoft.com/office/drawing/2014/main" id="{D13B4C62-59FF-C46B-0084-8F616FBF06AA}"/>
              </a:ext>
            </a:extLst>
          </p:cNvPr>
          <p:cNvSpPr txBox="1"/>
          <p:nvPr/>
        </p:nvSpPr>
        <p:spPr>
          <a:xfrm>
            <a:off x="127000" y="0"/>
            <a:ext cx="11811000" cy="685800"/>
          </a:xfrm>
          <a:prstGeom prst="rect">
            <a:avLst/>
          </a:prstGeom>
          <a:noFill/>
        </p:spPr>
        <p:txBody>
          <a:bodyPr vert="horz" wrap="square" lIns="76200" tIns="25400" rIns="76200" bIns="25400" rtlCol="0" anchor="ctr">
            <a:noAutofit/>
          </a:bodyPr>
          <a:lstStyle/>
          <a:p>
            <a:pPr>
              <a:lnSpc>
                <a:spcPct val="95000"/>
              </a:lnSpc>
            </a:pPr>
            <a:r>
              <a:rPr lang="en-US" sz="2400" b="1" u="sng">
                <a:solidFill>
                  <a:srgbClr val="FFFFFF"/>
                </a:solidFill>
                <a:latin typeface="Aptos Display" panose="020B0004020202020204" pitchFamily="34" charset="0"/>
              </a:rPr>
              <a:t>Figure 2 · baseline → both cues · gamma</a:t>
            </a:r>
          </a:p>
        </p:txBody>
      </p:sp>
    </p:spTree>
    <p:extLst>
      <p:ext uri="{BB962C8B-B14F-4D97-AF65-F5344CB8AC3E}">
        <p14:creationId xmlns:p14="http://schemas.microsoft.com/office/powerpoint/2010/main" val="81665540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tage">
            <a:extLst>
              <a:ext uri="{FF2B5EF4-FFF2-40B4-BE49-F238E27FC236}">
                <a16:creationId xmlns:a16="http://schemas.microsoft.com/office/drawing/2014/main" id="{A345C56A-C502-31D8-24AD-D4B5DF85C193}"/>
              </a:ext>
            </a:extLst>
          </p:cNvPr>
          <p:cNvSpPr/>
          <p:nvPr/>
        </p:nvSpPr>
        <p:spPr>
          <a:xfrm>
            <a:off x="0" y="685800"/>
            <a:ext cx="7670800" cy="6172200"/>
          </a:xfrm>
          <a:prstGeom prst="rect">
            <a:avLst/>
          </a:prstGeom>
          <a:solidFill>
            <a:srgbClr val="ECEC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F2_fp">
            <a:extLst>
              <a:ext uri="{FF2B5EF4-FFF2-40B4-BE49-F238E27FC236}">
                <a16:creationId xmlns:a16="http://schemas.microsoft.com/office/drawing/2014/main" id="{6B739CD3-35C1-2214-9FD0-27C066A3B3DF}"/>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1287723" y="901954"/>
            <a:ext cx="5120754" cy="5765292"/>
          </a:xfrm>
          <a:prstGeom prst="rect">
            <a:avLst/>
          </a:prstGeom>
          <a:ln w="9525">
            <a:solidFill>
              <a:srgbClr val="B0B0B0"/>
            </a:solidFill>
          </a:ln>
        </p:spPr>
      </p:pic>
      <p:sp>
        <p:nvSpPr>
          <p:cNvPr id="5" name="!!D1">
            <a:extLst>
              <a:ext uri="{FF2B5EF4-FFF2-40B4-BE49-F238E27FC236}">
                <a16:creationId xmlns:a16="http://schemas.microsoft.com/office/drawing/2014/main" id="{77810FF2-9462-CDAF-97CC-C6B01B88305E}"/>
              </a:ext>
            </a:extLst>
          </p:cNvPr>
          <p:cNvSpPr/>
          <p:nvPr/>
        </p:nvSpPr>
        <p:spPr>
          <a:xfrm>
            <a:off x="0" y="685800"/>
            <a:ext cx="7670800" cy="635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2">
            <a:extLst>
              <a:ext uri="{FF2B5EF4-FFF2-40B4-BE49-F238E27FC236}">
                <a16:creationId xmlns:a16="http://schemas.microsoft.com/office/drawing/2014/main" id="{1A1BBFFF-7711-C882-5931-A1175BF79515}"/>
              </a:ext>
            </a:extLst>
          </p:cNvPr>
          <p:cNvSpPr/>
          <p:nvPr/>
        </p:nvSpPr>
        <p:spPr>
          <a:xfrm>
            <a:off x="0" y="6858000"/>
            <a:ext cx="7670800" cy="635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3">
            <a:extLst>
              <a:ext uri="{FF2B5EF4-FFF2-40B4-BE49-F238E27FC236}">
                <a16:creationId xmlns:a16="http://schemas.microsoft.com/office/drawing/2014/main" id="{A341C619-D4FF-61A8-A0FA-79ADD5CF90CF}"/>
              </a:ext>
            </a:extLst>
          </p:cNvPr>
          <p:cNvSpPr/>
          <p:nvPr/>
        </p:nvSpPr>
        <p:spPr>
          <a:xfrm>
            <a:off x="0" y="685800"/>
            <a:ext cx="6350" cy="617220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4">
            <a:extLst>
              <a:ext uri="{FF2B5EF4-FFF2-40B4-BE49-F238E27FC236}">
                <a16:creationId xmlns:a16="http://schemas.microsoft.com/office/drawing/2014/main" id="{28F51E09-DD2D-3C1B-7EF9-633D769FD36B}"/>
              </a:ext>
            </a:extLst>
          </p:cNvPr>
          <p:cNvSpPr/>
          <p:nvPr/>
        </p:nvSpPr>
        <p:spPr>
          <a:xfrm>
            <a:off x="7670800" y="685800"/>
            <a:ext cx="6350" cy="617220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ocus">
            <a:extLst>
              <a:ext uri="{FF2B5EF4-FFF2-40B4-BE49-F238E27FC236}">
                <a16:creationId xmlns:a16="http://schemas.microsoft.com/office/drawing/2014/main" id="{D4A32B33-4601-FD2E-AFED-E15337D71C4F}"/>
              </a:ext>
            </a:extLst>
          </p:cNvPr>
          <p:cNvSpPr/>
          <p:nvPr/>
        </p:nvSpPr>
        <p:spPr>
          <a:xfrm>
            <a:off x="1315710" y="2777128"/>
            <a:ext cx="5093756" cy="1819198"/>
          </a:xfrm>
          <a:prstGeom prst="rect">
            <a:avLst/>
          </a:prstGeom>
          <a:solidFill>
            <a:srgbClr val="83CBEB">
              <a:alpha val="37000"/>
            </a:srgbClr>
          </a:solidFill>
          <a:ln w="38100">
            <a:solidFill>
              <a:srgbClr val="46B1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ail">
            <a:extLst>
              <a:ext uri="{FF2B5EF4-FFF2-40B4-BE49-F238E27FC236}">
                <a16:creationId xmlns:a16="http://schemas.microsoft.com/office/drawing/2014/main" id="{451017F8-0FF0-CAAD-4B87-6D24D851CF8E}"/>
              </a:ext>
            </a:extLst>
          </p:cNvPr>
          <p:cNvSpPr/>
          <p:nvPr/>
        </p:nvSpPr>
        <p:spPr>
          <a:xfrm>
            <a:off x="7670800" y="685800"/>
            <a:ext cx="4521200" cy="61722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N19">
            <a:extLst>
              <a:ext uri="{FF2B5EF4-FFF2-40B4-BE49-F238E27FC236}">
                <a16:creationId xmlns:a16="http://schemas.microsoft.com/office/drawing/2014/main" id="{83F163D8-E42F-582E-3494-8C8816DBAFE2}"/>
              </a:ext>
            </a:extLst>
          </p:cNvPr>
          <p:cNvSpPr/>
          <p:nvPr/>
        </p:nvSpPr>
        <p:spPr>
          <a:xfrm>
            <a:off x="7797800" y="838200"/>
            <a:ext cx="4241800" cy="795528"/>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Every ring is the same 12 regions. Each line is one pair, 44 pairs in all. Grey dots: regions no pair reached with 4 rats.</a:t>
            </a:r>
          </a:p>
        </p:txBody>
      </p:sp>
      <p:sp>
        <p:nvSpPr>
          <p:cNvPr id="12" name="!!N20">
            <a:extLst>
              <a:ext uri="{FF2B5EF4-FFF2-40B4-BE49-F238E27FC236}">
                <a16:creationId xmlns:a16="http://schemas.microsoft.com/office/drawing/2014/main" id="{7ECF1F9E-50CD-8E14-B6D1-ADF481B02352}"/>
              </a:ext>
            </a:extLst>
          </p:cNvPr>
          <p:cNvSpPr/>
          <p:nvPr/>
        </p:nvSpPr>
        <p:spPr>
          <a:xfrm>
            <a:off x="7797800" y="1748028"/>
            <a:ext cx="4241800" cy="60655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A line’s width is that pair’s cue effect, averaged over the rats. Orange: the cues raised coherence.</a:t>
            </a:r>
          </a:p>
        </p:txBody>
      </p:sp>
      <p:sp>
        <p:nvSpPr>
          <p:cNvPr id="13" name="!!N21">
            <a:extLst>
              <a:ext uri="{FF2B5EF4-FFF2-40B4-BE49-F238E27FC236}">
                <a16:creationId xmlns:a16="http://schemas.microsoft.com/office/drawing/2014/main" id="{12A2ABAE-53C8-0ADA-9AEB-E968E3EF709E}"/>
              </a:ext>
            </a:extLst>
          </p:cNvPr>
          <p:cNvSpPr/>
          <p:nvPr/>
        </p:nvSpPr>
        <p:spPr>
          <a:xfrm>
            <a:off x="7797800" y="2468880"/>
            <a:ext cx="4241800" cy="417576"/>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Purple: they lowered it.</a:t>
            </a:r>
          </a:p>
        </p:txBody>
      </p:sp>
      <p:sp>
        <p:nvSpPr>
          <p:cNvPr id="14" name="!!N22">
            <a:extLst>
              <a:ext uri="{FF2B5EF4-FFF2-40B4-BE49-F238E27FC236}">
                <a16:creationId xmlns:a16="http://schemas.microsoft.com/office/drawing/2014/main" id="{640932D9-D4E4-BE56-ED40-641F2D3A0E49}"/>
              </a:ext>
            </a:extLst>
          </p:cNvPr>
          <p:cNvSpPr/>
          <p:nvPr/>
        </p:nvSpPr>
        <p:spPr>
          <a:xfrm>
            <a:off x="7797800" y="3000756"/>
            <a:ext cx="4241800" cy="60655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Top row: the Precon1 cue effect (Cues − Baseline). The cues lowered gamma coherence in 31 of the 44 pairs.</a:t>
            </a:r>
          </a:p>
        </p:txBody>
      </p:sp>
      <p:sp>
        <p:nvSpPr>
          <p:cNvPr id="15" name="!!N23">
            <a:extLst>
              <a:ext uri="{FF2B5EF4-FFF2-40B4-BE49-F238E27FC236}">
                <a16:creationId xmlns:a16="http://schemas.microsoft.com/office/drawing/2014/main" id="{15990A18-D435-E87A-41F3-AA7E08F020D9}"/>
              </a:ext>
            </a:extLst>
          </p:cNvPr>
          <p:cNvSpPr/>
          <p:nvPr/>
        </p:nvSpPr>
        <p:spPr>
          <a:xfrm>
            <a:off x="7797800" y="3721608"/>
            <a:ext cx="4241800" cy="795528"/>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Middle row: the Precon4 cue effect. About even: 23 pairs up, 21 down.</a:t>
            </a:r>
          </a:p>
        </p:txBody>
      </p:sp>
      <p:sp>
        <p:nvSpPr>
          <p:cNvPr id="16" name="!!N24">
            <a:extLst>
              <a:ext uri="{FF2B5EF4-FFF2-40B4-BE49-F238E27FC236}">
                <a16:creationId xmlns:a16="http://schemas.microsoft.com/office/drawing/2014/main" id="{D2317774-FA65-4E65-E7D9-759C628B6CC2}"/>
              </a:ext>
            </a:extLst>
          </p:cNvPr>
          <p:cNvSpPr/>
          <p:nvPr/>
        </p:nvSpPr>
        <p:spPr>
          <a:xfrm>
            <a:off x="12573000" y="4442460"/>
            <a:ext cx="4241800" cy="107899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Bottom row: the change in cue effect, Precon4’s minus Precon1’s. This is what tab 8’s light tested.</a:t>
            </a:r>
          </a:p>
        </p:txBody>
      </p:sp>
      <p:sp>
        <p:nvSpPr>
          <p:cNvPr id="17" name="!!T-BG">
            <a:extLst>
              <a:ext uri="{FF2B5EF4-FFF2-40B4-BE49-F238E27FC236}">
                <a16:creationId xmlns:a16="http://schemas.microsoft.com/office/drawing/2014/main" id="{5A0CC776-918C-763B-1CFA-1BA696F7259F}"/>
              </a:ext>
            </a:extLst>
          </p:cNvPr>
          <p:cNvSpPr/>
          <p:nvPr/>
        </p:nvSpPr>
        <p:spPr>
          <a:xfrm>
            <a:off x="-381000" y="0"/>
            <a:ext cx="12954000" cy="685800"/>
          </a:xfrm>
          <a:prstGeom prst="snip2DiagRect">
            <a:avLst>
              <a:gd name="adj1" fmla="val 0"/>
              <a:gd name="adj2" fmla="val 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
            <a:extLst>
              <a:ext uri="{FF2B5EF4-FFF2-40B4-BE49-F238E27FC236}">
                <a16:creationId xmlns:a16="http://schemas.microsoft.com/office/drawing/2014/main" id="{C0557630-A538-3D4D-9FF9-546BD92AC8B1}"/>
              </a:ext>
            </a:extLst>
          </p:cNvPr>
          <p:cNvSpPr txBox="1"/>
          <p:nvPr/>
        </p:nvSpPr>
        <p:spPr>
          <a:xfrm>
            <a:off x="127000" y="0"/>
            <a:ext cx="11811000" cy="685800"/>
          </a:xfrm>
          <a:prstGeom prst="rect">
            <a:avLst/>
          </a:prstGeom>
          <a:noFill/>
        </p:spPr>
        <p:txBody>
          <a:bodyPr vert="horz" wrap="square" lIns="76200" tIns="25400" rIns="76200" bIns="25400" rtlCol="0" anchor="ctr">
            <a:noAutofit/>
          </a:bodyPr>
          <a:lstStyle/>
          <a:p>
            <a:pPr>
              <a:lnSpc>
                <a:spcPct val="95000"/>
              </a:lnSpc>
            </a:pPr>
            <a:r>
              <a:rPr lang="en-US" sz="2400" b="1" u="sng">
                <a:solidFill>
                  <a:srgbClr val="FFFFFF"/>
                </a:solidFill>
                <a:latin typeface="Aptos Display" panose="020B0004020202020204" pitchFamily="34" charset="0"/>
              </a:rPr>
              <a:t>Figure 2 · baseline → both cues · gamma</a:t>
            </a:r>
          </a:p>
        </p:txBody>
      </p:sp>
    </p:spTree>
    <p:extLst>
      <p:ext uri="{BB962C8B-B14F-4D97-AF65-F5344CB8AC3E}">
        <p14:creationId xmlns:p14="http://schemas.microsoft.com/office/powerpoint/2010/main" val="252623414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tage">
            <a:extLst>
              <a:ext uri="{FF2B5EF4-FFF2-40B4-BE49-F238E27FC236}">
                <a16:creationId xmlns:a16="http://schemas.microsoft.com/office/drawing/2014/main" id="{F8FFD34D-625E-FE9C-7067-427B0DE3FFD4}"/>
              </a:ext>
            </a:extLst>
          </p:cNvPr>
          <p:cNvSpPr/>
          <p:nvPr/>
        </p:nvSpPr>
        <p:spPr>
          <a:xfrm>
            <a:off x="0" y="685800"/>
            <a:ext cx="7670800" cy="6172200"/>
          </a:xfrm>
          <a:prstGeom prst="rect">
            <a:avLst/>
          </a:prstGeom>
          <a:solidFill>
            <a:srgbClr val="ECEC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F2_fp">
            <a:extLst>
              <a:ext uri="{FF2B5EF4-FFF2-40B4-BE49-F238E27FC236}">
                <a16:creationId xmlns:a16="http://schemas.microsoft.com/office/drawing/2014/main" id="{CBDF0188-88C6-6CF5-7601-5F0FD07F611C}"/>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1287723" y="901954"/>
            <a:ext cx="5120754" cy="5765292"/>
          </a:xfrm>
          <a:prstGeom prst="rect">
            <a:avLst/>
          </a:prstGeom>
          <a:ln w="9525">
            <a:solidFill>
              <a:srgbClr val="B0B0B0"/>
            </a:solidFill>
          </a:ln>
        </p:spPr>
      </p:pic>
      <p:sp>
        <p:nvSpPr>
          <p:cNvPr id="5" name="!!D1">
            <a:extLst>
              <a:ext uri="{FF2B5EF4-FFF2-40B4-BE49-F238E27FC236}">
                <a16:creationId xmlns:a16="http://schemas.microsoft.com/office/drawing/2014/main" id="{92E6AD7D-9B42-C264-8D8C-A50709D07300}"/>
              </a:ext>
            </a:extLst>
          </p:cNvPr>
          <p:cNvSpPr/>
          <p:nvPr/>
        </p:nvSpPr>
        <p:spPr>
          <a:xfrm>
            <a:off x="0" y="685800"/>
            <a:ext cx="7670800" cy="635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2">
            <a:extLst>
              <a:ext uri="{FF2B5EF4-FFF2-40B4-BE49-F238E27FC236}">
                <a16:creationId xmlns:a16="http://schemas.microsoft.com/office/drawing/2014/main" id="{1A0FACB9-AF4E-8B76-92B1-E302D336ABDE}"/>
              </a:ext>
            </a:extLst>
          </p:cNvPr>
          <p:cNvSpPr/>
          <p:nvPr/>
        </p:nvSpPr>
        <p:spPr>
          <a:xfrm>
            <a:off x="0" y="6858000"/>
            <a:ext cx="7670800" cy="635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3">
            <a:extLst>
              <a:ext uri="{FF2B5EF4-FFF2-40B4-BE49-F238E27FC236}">
                <a16:creationId xmlns:a16="http://schemas.microsoft.com/office/drawing/2014/main" id="{8C0A70A7-1EE3-7DD1-E86A-2ACE759D05E2}"/>
              </a:ext>
            </a:extLst>
          </p:cNvPr>
          <p:cNvSpPr/>
          <p:nvPr/>
        </p:nvSpPr>
        <p:spPr>
          <a:xfrm>
            <a:off x="0" y="685800"/>
            <a:ext cx="6350" cy="617220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4">
            <a:extLst>
              <a:ext uri="{FF2B5EF4-FFF2-40B4-BE49-F238E27FC236}">
                <a16:creationId xmlns:a16="http://schemas.microsoft.com/office/drawing/2014/main" id="{EC6E84E3-5AF4-D907-90A1-357CDB8D4C91}"/>
              </a:ext>
            </a:extLst>
          </p:cNvPr>
          <p:cNvSpPr/>
          <p:nvPr/>
        </p:nvSpPr>
        <p:spPr>
          <a:xfrm>
            <a:off x="7670800" y="685800"/>
            <a:ext cx="6350" cy="617220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ocus">
            <a:extLst>
              <a:ext uri="{FF2B5EF4-FFF2-40B4-BE49-F238E27FC236}">
                <a16:creationId xmlns:a16="http://schemas.microsoft.com/office/drawing/2014/main" id="{EE15590A-133D-6D74-A267-DF95CFC0B7E5}"/>
              </a:ext>
            </a:extLst>
          </p:cNvPr>
          <p:cNvSpPr/>
          <p:nvPr/>
        </p:nvSpPr>
        <p:spPr>
          <a:xfrm>
            <a:off x="1315710" y="4512363"/>
            <a:ext cx="5093756" cy="1819199"/>
          </a:xfrm>
          <a:prstGeom prst="rect">
            <a:avLst/>
          </a:prstGeom>
          <a:solidFill>
            <a:srgbClr val="83CBEB">
              <a:alpha val="37000"/>
            </a:srgbClr>
          </a:solidFill>
          <a:ln w="38100">
            <a:solidFill>
              <a:srgbClr val="46B1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ail">
            <a:extLst>
              <a:ext uri="{FF2B5EF4-FFF2-40B4-BE49-F238E27FC236}">
                <a16:creationId xmlns:a16="http://schemas.microsoft.com/office/drawing/2014/main" id="{2FA6E12F-A23F-6FBE-4AF4-2B4833CF5C8C}"/>
              </a:ext>
            </a:extLst>
          </p:cNvPr>
          <p:cNvSpPr/>
          <p:nvPr/>
        </p:nvSpPr>
        <p:spPr>
          <a:xfrm>
            <a:off x="7670800" y="685800"/>
            <a:ext cx="4521200" cy="61722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N19">
            <a:extLst>
              <a:ext uri="{FF2B5EF4-FFF2-40B4-BE49-F238E27FC236}">
                <a16:creationId xmlns:a16="http://schemas.microsoft.com/office/drawing/2014/main" id="{ABF39B77-E950-6E0F-6E8F-1144EF905B96}"/>
              </a:ext>
            </a:extLst>
          </p:cNvPr>
          <p:cNvSpPr/>
          <p:nvPr/>
        </p:nvSpPr>
        <p:spPr>
          <a:xfrm>
            <a:off x="7797800" y="838200"/>
            <a:ext cx="4241800" cy="795528"/>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Every ring is the same 12 regions. Each line is one pair, 44 pairs in all. Grey dots: regions no pair reached with 4 rats.</a:t>
            </a:r>
          </a:p>
        </p:txBody>
      </p:sp>
      <p:sp>
        <p:nvSpPr>
          <p:cNvPr id="12" name="!!N20">
            <a:extLst>
              <a:ext uri="{FF2B5EF4-FFF2-40B4-BE49-F238E27FC236}">
                <a16:creationId xmlns:a16="http://schemas.microsoft.com/office/drawing/2014/main" id="{87E84571-82EB-A5CC-A7E6-6BCB5D678E61}"/>
              </a:ext>
            </a:extLst>
          </p:cNvPr>
          <p:cNvSpPr/>
          <p:nvPr/>
        </p:nvSpPr>
        <p:spPr>
          <a:xfrm>
            <a:off x="7797800" y="1748028"/>
            <a:ext cx="4241800" cy="60655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A line’s width is that pair’s cue effect, averaged over the rats. Orange: the cues raised coherence.</a:t>
            </a:r>
          </a:p>
        </p:txBody>
      </p:sp>
      <p:sp>
        <p:nvSpPr>
          <p:cNvPr id="13" name="!!N21">
            <a:extLst>
              <a:ext uri="{FF2B5EF4-FFF2-40B4-BE49-F238E27FC236}">
                <a16:creationId xmlns:a16="http://schemas.microsoft.com/office/drawing/2014/main" id="{4E5EB2F7-3647-4D76-33EE-B4C30D338795}"/>
              </a:ext>
            </a:extLst>
          </p:cNvPr>
          <p:cNvSpPr/>
          <p:nvPr/>
        </p:nvSpPr>
        <p:spPr>
          <a:xfrm>
            <a:off x="7797800" y="2468880"/>
            <a:ext cx="4241800" cy="417576"/>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Purple: they lowered it.</a:t>
            </a:r>
          </a:p>
        </p:txBody>
      </p:sp>
      <p:sp>
        <p:nvSpPr>
          <p:cNvPr id="14" name="!!N22">
            <a:extLst>
              <a:ext uri="{FF2B5EF4-FFF2-40B4-BE49-F238E27FC236}">
                <a16:creationId xmlns:a16="http://schemas.microsoft.com/office/drawing/2014/main" id="{B0471461-1C9E-DD9C-69D9-EA505576D823}"/>
              </a:ext>
            </a:extLst>
          </p:cNvPr>
          <p:cNvSpPr/>
          <p:nvPr/>
        </p:nvSpPr>
        <p:spPr>
          <a:xfrm>
            <a:off x="7797800" y="3000756"/>
            <a:ext cx="4241800" cy="60655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Top row: the Precon1 cue effect (Cues − Baseline). The cues lowered gamma coherence in 31 of the 44 pairs.</a:t>
            </a:r>
          </a:p>
        </p:txBody>
      </p:sp>
      <p:sp>
        <p:nvSpPr>
          <p:cNvPr id="15" name="!!N23">
            <a:extLst>
              <a:ext uri="{FF2B5EF4-FFF2-40B4-BE49-F238E27FC236}">
                <a16:creationId xmlns:a16="http://schemas.microsoft.com/office/drawing/2014/main" id="{FBD56906-317C-0D4D-9D7A-C097AF60696F}"/>
              </a:ext>
            </a:extLst>
          </p:cNvPr>
          <p:cNvSpPr/>
          <p:nvPr/>
        </p:nvSpPr>
        <p:spPr>
          <a:xfrm>
            <a:off x="7797800" y="3721608"/>
            <a:ext cx="4241800" cy="60655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Middle row: the Precon4 cue effect. About even: 23 pairs up, 21 down.</a:t>
            </a:r>
          </a:p>
        </p:txBody>
      </p:sp>
      <p:sp>
        <p:nvSpPr>
          <p:cNvPr id="16" name="!!N24">
            <a:extLst>
              <a:ext uri="{FF2B5EF4-FFF2-40B4-BE49-F238E27FC236}">
                <a16:creationId xmlns:a16="http://schemas.microsoft.com/office/drawing/2014/main" id="{15384DAB-7013-BFD0-5124-0015B9AE151C}"/>
              </a:ext>
            </a:extLst>
          </p:cNvPr>
          <p:cNvSpPr/>
          <p:nvPr/>
        </p:nvSpPr>
        <p:spPr>
          <a:xfrm>
            <a:off x="7797800" y="4442460"/>
            <a:ext cx="4241800" cy="107899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Bottom row: the change in cue effect, Precon4’s minus Precon1’s. This is what tab 8’s light tested.</a:t>
            </a:r>
          </a:p>
        </p:txBody>
      </p:sp>
      <p:sp>
        <p:nvSpPr>
          <p:cNvPr id="17" name="!!N25">
            <a:extLst>
              <a:ext uri="{FF2B5EF4-FFF2-40B4-BE49-F238E27FC236}">
                <a16:creationId xmlns:a16="http://schemas.microsoft.com/office/drawing/2014/main" id="{1C55E3C7-2A70-5590-83A1-354FF2A20C01}"/>
              </a:ext>
            </a:extLst>
          </p:cNvPr>
          <p:cNvSpPr/>
          <p:nvPr/>
        </p:nvSpPr>
        <p:spPr>
          <a:xfrm>
            <a:off x="12573000" y="838200"/>
            <a:ext cx="4241800" cy="107899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Left column: only the lines that went up. Middle: only those that went down. Right: both.</a:t>
            </a:r>
          </a:p>
        </p:txBody>
      </p:sp>
      <p:sp>
        <p:nvSpPr>
          <p:cNvPr id="18" name="!!T-BG">
            <a:extLst>
              <a:ext uri="{FF2B5EF4-FFF2-40B4-BE49-F238E27FC236}">
                <a16:creationId xmlns:a16="http://schemas.microsoft.com/office/drawing/2014/main" id="{ACBA3FF3-0E63-1C2D-1D26-4F1A6F72CA48}"/>
              </a:ext>
            </a:extLst>
          </p:cNvPr>
          <p:cNvSpPr/>
          <p:nvPr/>
        </p:nvSpPr>
        <p:spPr>
          <a:xfrm>
            <a:off x="-381000" y="0"/>
            <a:ext cx="12954000" cy="685800"/>
          </a:xfrm>
          <a:prstGeom prst="snip2DiagRect">
            <a:avLst>
              <a:gd name="adj1" fmla="val 0"/>
              <a:gd name="adj2" fmla="val 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
            <a:extLst>
              <a:ext uri="{FF2B5EF4-FFF2-40B4-BE49-F238E27FC236}">
                <a16:creationId xmlns:a16="http://schemas.microsoft.com/office/drawing/2014/main" id="{68D6E38B-E1E8-9408-E448-7C86449C0C5E}"/>
              </a:ext>
            </a:extLst>
          </p:cNvPr>
          <p:cNvSpPr txBox="1"/>
          <p:nvPr/>
        </p:nvSpPr>
        <p:spPr>
          <a:xfrm>
            <a:off x="127000" y="0"/>
            <a:ext cx="11811000" cy="685800"/>
          </a:xfrm>
          <a:prstGeom prst="rect">
            <a:avLst/>
          </a:prstGeom>
          <a:noFill/>
        </p:spPr>
        <p:txBody>
          <a:bodyPr vert="horz" wrap="square" lIns="76200" tIns="25400" rIns="76200" bIns="25400" rtlCol="0" anchor="ctr">
            <a:noAutofit/>
          </a:bodyPr>
          <a:lstStyle/>
          <a:p>
            <a:pPr>
              <a:lnSpc>
                <a:spcPct val="95000"/>
              </a:lnSpc>
            </a:pPr>
            <a:r>
              <a:rPr lang="en-US" sz="2400" b="1" u="sng">
                <a:solidFill>
                  <a:srgbClr val="FFFFFF"/>
                </a:solidFill>
                <a:latin typeface="Aptos Display" panose="020B0004020202020204" pitchFamily="34" charset="0"/>
              </a:rPr>
              <a:t>Figure 2 · baseline → both cues · gamma</a:t>
            </a:r>
          </a:p>
        </p:txBody>
      </p:sp>
    </p:spTree>
    <p:extLst>
      <p:ext uri="{BB962C8B-B14F-4D97-AF65-F5344CB8AC3E}">
        <p14:creationId xmlns:p14="http://schemas.microsoft.com/office/powerpoint/2010/main" val="265312546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tage">
            <a:extLst>
              <a:ext uri="{FF2B5EF4-FFF2-40B4-BE49-F238E27FC236}">
                <a16:creationId xmlns:a16="http://schemas.microsoft.com/office/drawing/2014/main" id="{EDA5FA45-AC98-A95D-FB30-2987DA98B0D8}"/>
              </a:ext>
            </a:extLst>
          </p:cNvPr>
          <p:cNvSpPr/>
          <p:nvPr/>
        </p:nvSpPr>
        <p:spPr>
          <a:xfrm>
            <a:off x="0" y="685800"/>
            <a:ext cx="7670800" cy="6172200"/>
          </a:xfrm>
          <a:prstGeom prst="rect">
            <a:avLst/>
          </a:prstGeom>
          <a:solidFill>
            <a:srgbClr val="ECEC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F2_fp">
            <a:extLst>
              <a:ext uri="{FF2B5EF4-FFF2-40B4-BE49-F238E27FC236}">
                <a16:creationId xmlns:a16="http://schemas.microsoft.com/office/drawing/2014/main" id="{8EC32601-6BC4-B31B-CBE4-6AB918A8C2EF}"/>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1287723" y="901954"/>
            <a:ext cx="5120754" cy="5765292"/>
          </a:xfrm>
          <a:prstGeom prst="rect">
            <a:avLst/>
          </a:prstGeom>
          <a:ln w="9525">
            <a:solidFill>
              <a:srgbClr val="B0B0B0"/>
            </a:solidFill>
          </a:ln>
        </p:spPr>
      </p:pic>
      <p:sp>
        <p:nvSpPr>
          <p:cNvPr id="5" name="!!D1">
            <a:extLst>
              <a:ext uri="{FF2B5EF4-FFF2-40B4-BE49-F238E27FC236}">
                <a16:creationId xmlns:a16="http://schemas.microsoft.com/office/drawing/2014/main" id="{FBFBE913-6BB9-3E17-714B-FA2E6A3C6507}"/>
              </a:ext>
            </a:extLst>
          </p:cNvPr>
          <p:cNvSpPr/>
          <p:nvPr/>
        </p:nvSpPr>
        <p:spPr>
          <a:xfrm>
            <a:off x="0" y="685800"/>
            <a:ext cx="7670800" cy="635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2">
            <a:extLst>
              <a:ext uri="{FF2B5EF4-FFF2-40B4-BE49-F238E27FC236}">
                <a16:creationId xmlns:a16="http://schemas.microsoft.com/office/drawing/2014/main" id="{E0EFD0B9-CA05-308C-BB61-CAEACB4E295C}"/>
              </a:ext>
            </a:extLst>
          </p:cNvPr>
          <p:cNvSpPr/>
          <p:nvPr/>
        </p:nvSpPr>
        <p:spPr>
          <a:xfrm>
            <a:off x="0" y="6858000"/>
            <a:ext cx="7670800" cy="635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3">
            <a:extLst>
              <a:ext uri="{FF2B5EF4-FFF2-40B4-BE49-F238E27FC236}">
                <a16:creationId xmlns:a16="http://schemas.microsoft.com/office/drawing/2014/main" id="{0665B6BE-F5E5-9D9D-484E-80294FB8174E}"/>
              </a:ext>
            </a:extLst>
          </p:cNvPr>
          <p:cNvSpPr/>
          <p:nvPr/>
        </p:nvSpPr>
        <p:spPr>
          <a:xfrm>
            <a:off x="0" y="685800"/>
            <a:ext cx="6350" cy="617220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4">
            <a:extLst>
              <a:ext uri="{FF2B5EF4-FFF2-40B4-BE49-F238E27FC236}">
                <a16:creationId xmlns:a16="http://schemas.microsoft.com/office/drawing/2014/main" id="{A6921EBC-1804-34E5-0D2B-4D2A95833B4C}"/>
              </a:ext>
            </a:extLst>
          </p:cNvPr>
          <p:cNvSpPr/>
          <p:nvPr/>
        </p:nvSpPr>
        <p:spPr>
          <a:xfrm>
            <a:off x="7670800" y="685800"/>
            <a:ext cx="6350" cy="617220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ocus">
            <a:extLst>
              <a:ext uri="{FF2B5EF4-FFF2-40B4-BE49-F238E27FC236}">
                <a16:creationId xmlns:a16="http://schemas.microsoft.com/office/drawing/2014/main" id="{F18200D3-6A84-93B7-5B77-AAA32FF1BC70}"/>
              </a:ext>
            </a:extLst>
          </p:cNvPr>
          <p:cNvSpPr/>
          <p:nvPr/>
        </p:nvSpPr>
        <p:spPr>
          <a:xfrm>
            <a:off x="1567599" y="915948"/>
            <a:ext cx="1707248" cy="5471589"/>
          </a:xfrm>
          <a:prstGeom prst="rect">
            <a:avLst/>
          </a:prstGeom>
          <a:solidFill>
            <a:srgbClr val="83CBEB">
              <a:alpha val="37000"/>
            </a:srgbClr>
          </a:solidFill>
          <a:ln w="38100">
            <a:solidFill>
              <a:srgbClr val="46B1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ail">
            <a:extLst>
              <a:ext uri="{FF2B5EF4-FFF2-40B4-BE49-F238E27FC236}">
                <a16:creationId xmlns:a16="http://schemas.microsoft.com/office/drawing/2014/main" id="{7495E027-8FBB-97CA-A95E-73DBBD06D818}"/>
              </a:ext>
            </a:extLst>
          </p:cNvPr>
          <p:cNvSpPr/>
          <p:nvPr/>
        </p:nvSpPr>
        <p:spPr>
          <a:xfrm>
            <a:off x="7670800" y="685800"/>
            <a:ext cx="4521200" cy="61722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N25">
            <a:extLst>
              <a:ext uri="{FF2B5EF4-FFF2-40B4-BE49-F238E27FC236}">
                <a16:creationId xmlns:a16="http://schemas.microsoft.com/office/drawing/2014/main" id="{1394A129-3C6F-1893-0BBE-6F6F8C84E9A0}"/>
              </a:ext>
            </a:extLst>
          </p:cNvPr>
          <p:cNvSpPr/>
          <p:nvPr/>
        </p:nvSpPr>
        <p:spPr>
          <a:xfrm>
            <a:off x="7797800" y="838200"/>
            <a:ext cx="4241800" cy="107899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Left column: only the lines that went up. Middle: only those that went down. Right: both.</a:t>
            </a:r>
          </a:p>
        </p:txBody>
      </p:sp>
      <p:sp>
        <p:nvSpPr>
          <p:cNvPr id="12" name="!!N26">
            <a:extLst>
              <a:ext uri="{FF2B5EF4-FFF2-40B4-BE49-F238E27FC236}">
                <a16:creationId xmlns:a16="http://schemas.microsoft.com/office/drawing/2014/main" id="{2920C43E-726D-060D-5FC8-E7560154D93B}"/>
              </a:ext>
            </a:extLst>
          </p:cNvPr>
          <p:cNvSpPr/>
          <p:nvPr/>
        </p:nvSpPr>
        <p:spPr>
          <a:xfrm>
            <a:off x="12573000" y="838200"/>
            <a:ext cx="4241800" cy="1362456"/>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Each ring becomes one number: its lines added up. Here the change’s increases add up to 0.43: the black line under the ring.</a:t>
            </a:r>
          </a:p>
        </p:txBody>
      </p:sp>
      <p:sp>
        <p:nvSpPr>
          <p:cNvPr id="13" name="!!N19">
            <a:extLst>
              <a:ext uri="{FF2B5EF4-FFF2-40B4-BE49-F238E27FC236}">
                <a16:creationId xmlns:a16="http://schemas.microsoft.com/office/drawing/2014/main" id="{1C2AC993-91A8-519F-4009-C4FFAE3814E3}"/>
              </a:ext>
            </a:extLst>
          </p:cNvPr>
          <p:cNvSpPr/>
          <p:nvPr/>
        </p:nvSpPr>
        <p:spPr>
          <a:xfrm>
            <a:off x="12573000" y="838200"/>
            <a:ext cx="4241800" cy="795528"/>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Every ring is the same 12 regions. Each line is one pair, 44 pairs in all. Grey dots: regions no pair reached with 4 rats.</a:t>
            </a:r>
          </a:p>
        </p:txBody>
      </p:sp>
      <p:sp>
        <p:nvSpPr>
          <p:cNvPr id="14" name="!!N20">
            <a:extLst>
              <a:ext uri="{FF2B5EF4-FFF2-40B4-BE49-F238E27FC236}">
                <a16:creationId xmlns:a16="http://schemas.microsoft.com/office/drawing/2014/main" id="{93CA39E9-6F53-1CCD-B9BE-E895F9581AF9}"/>
              </a:ext>
            </a:extLst>
          </p:cNvPr>
          <p:cNvSpPr/>
          <p:nvPr/>
        </p:nvSpPr>
        <p:spPr>
          <a:xfrm>
            <a:off x="12573000" y="1748028"/>
            <a:ext cx="4241800" cy="60655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A line’s width is that pair’s cue effect, averaged over the rats. Orange: the cues raised coherence.</a:t>
            </a:r>
          </a:p>
        </p:txBody>
      </p:sp>
      <p:sp>
        <p:nvSpPr>
          <p:cNvPr id="15" name="!!N21">
            <a:extLst>
              <a:ext uri="{FF2B5EF4-FFF2-40B4-BE49-F238E27FC236}">
                <a16:creationId xmlns:a16="http://schemas.microsoft.com/office/drawing/2014/main" id="{3EAA8BC5-1850-3E45-9884-E679FA0D7BCE}"/>
              </a:ext>
            </a:extLst>
          </p:cNvPr>
          <p:cNvSpPr/>
          <p:nvPr/>
        </p:nvSpPr>
        <p:spPr>
          <a:xfrm>
            <a:off x="12573000" y="2468880"/>
            <a:ext cx="4241800" cy="417576"/>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Purple: they lowered it.</a:t>
            </a:r>
          </a:p>
        </p:txBody>
      </p:sp>
      <p:sp>
        <p:nvSpPr>
          <p:cNvPr id="16" name="!!N22">
            <a:extLst>
              <a:ext uri="{FF2B5EF4-FFF2-40B4-BE49-F238E27FC236}">
                <a16:creationId xmlns:a16="http://schemas.microsoft.com/office/drawing/2014/main" id="{BEC91B6A-B3E4-26BD-65EC-4E6D27056D40}"/>
              </a:ext>
            </a:extLst>
          </p:cNvPr>
          <p:cNvSpPr/>
          <p:nvPr/>
        </p:nvSpPr>
        <p:spPr>
          <a:xfrm>
            <a:off x="12573000" y="3000756"/>
            <a:ext cx="4241800" cy="60655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Top row: the Precon1 cue effect (Cues − Baseline). The cues lowered gamma coherence in 31 of the 44 pairs.</a:t>
            </a:r>
          </a:p>
        </p:txBody>
      </p:sp>
      <p:sp>
        <p:nvSpPr>
          <p:cNvPr id="17" name="!!N23">
            <a:extLst>
              <a:ext uri="{FF2B5EF4-FFF2-40B4-BE49-F238E27FC236}">
                <a16:creationId xmlns:a16="http://schemas.microsoft.com/office/drawing/2014/main" id="{FD38CD80-BF93-9A00-73A0-551C0961736A}"/>
              </a:ext>
            </a:extLst>
          </p:cNvPr>
          <p:cNvSpPr/>
          <p:nvPr/>
        </p:nvSpPr>
        <p:spPr>
          <a:xfrm>
            <a:off x="12573000" y="3721608"/>
            <a:ext cx="4241800" cy="60655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Middle row: the Precon4 cue effect. About even: 23 pairs up, 21 down.</a:t>
            </a:r>
          </a:p>
        </p:txBody>
      </p:sp>
      <p:sp>
        <p:nvSpPr>
          <p:cNvPr id="18" name="!!N24">
            <a:extLst>
              <a:ext uri="{FF2B5EF4-FFF2-40B4-BE49-F238E27FC236}">
                <a16:creationId xmlns:a16="http://schemas.microsoft.com/office/drawing/2014/main" id="{ABFE560F-08AB-BF22-3AC5-6AB225CC13BB}"/>
              </a:ext>
            </a:extLst>
          </p:cNvPr>
          <p:cNvSpPr/>
          <p:nvPr/>
        </p:nvSpPr>
        <p:spPr>
          <a:xfrm>
            <a:off x="12573000" y="4442460"/>
            <a:ext cx="4241800" cy="107899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Bottom row: the change in cue effect, Precon4’s minus Precon1’s. This is what tab 8’s light tested.</a:t>
            </a:r>
          </a:p>
        </p:txBody>
      </p:sp>
      <p:sp>
        <p:nvSpPr>
          <p:cNvPr id="19" name="!!T-BG">
            <a:extLst>
              <a:ext uri="{FF2B5EF4-FFF2-40B4-BE49-F238E27FC236}">
                <a16:creationId xmlns:a16="http://schemas.microsoft.com/office/drawing/2014/main" id="{C6BA4781-D444-B869-1B46-6AB23D2C0EC3}"/>
              </a:ext>
            </a:extLst>
          </p:cNvPr>
          <p:cNvSpPr/>
          <p:nvPr/>
        </p:nvSpPr>
        <p:spPr>
          <a:xfrm>
            <a:off x="-381000" y="0"/>
            <a:ext cx="12954000" cy="685800"/>
          </a:xfrm>
          <a:prstGeom prst="snip2DiagRect">
            <a:avLst>
              <a:gd name="adj1" fmla="val 0"/>
              <a:gd name="adj2" fmla="val 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
            <a:extLst>
              <a:ext uri="{FF2B5EF4-FFF2-40B4-BE49-F238E27FC236}">
                <a16:creationId xmlns:a16="http://schemas.microsoft.com/office/drawing/2014/main" id="{CF11DCC2-7654-4F81-DE84-625A300DC546}"/>
              </a:ext>
            </a:extLst>
          </p:cNvPr>
          <p:cNvSpPr txBox="1"/>
          <p:nvPr/>
        </p:nvSpPr>
        <p:spPr>
          <a:xfrm>
            <a:off x="127000" y="0"/>
            <a:ext cx="11811000" cy="685800"/>
          </a:xfrm>
          <a:prstGeom prst="rect">
            <a:avLst/>
          </a:prstGeom>
          <a:noFill/>
        </p:spPr>
        <p:txBody>
          <a:bodyPr vert="horz" wrap="square" lIns="76200" tIns="25400" rIns="76200" bIns="25400" rtlCol="0" anchor="ctr">
            <a:noAutofit/>
          </a:bodyPr>
          <a:lstStyle/>
          <a:p>
            <a:pPr>
              <a:lnSpc>
                <a:spcPct val="95000"/>
              </a:lnSpc>
            </a:pPr>
            <a:r>
              <a:rPr lang="en-US" sz="2400" b="1" u="sng">
                <a:solidFill>
                  <a:srgbClr val="FFFFFF"/>
                </a:solidFill>
                <a:latin typeface="Aptos Display" panose="020B0004020202020204" pitchFamily="34" charset="0"/>
              </a:rPr>
              <a:t>Figure 2 · baseline → both cues · gamma</a:t>
            </a:r>
          </a:p>
        </p:txBody>
      </p:sp>
    </p:spTree>
    <p:extLst>
      <p:ext uri="{BB962C8B-B14F-4D97-AF65-F5344CB8AC3E}">
        <p14:creationId xmlns:p14="http://schemas.microsoft.com/office/powerpoint/2010/main" val="131259961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tage">
            <a:extLst>
              <a:ext uri="{FF2B5EF4-FFF2-40B4-BE49-F238E27FC236}">
                <a16:creationId xmlns:a16="http://schemas.microsoft.com/office/drawing/2014/main" id="{2DC89385-98DC-ED3B-57B1-3CC3B40141DD}"/>
              </a:ext>
            </a:extLst>
          </p:cNvPr>
          <p:cNvSpPr/>
          <p:nvPr/>
        </p:nvSpPr>
        <p:spPr>
          <a:xfrm>
            <a:off x="0" y="685800"/>
            <a:ext cx="7670800" cy="6172200"/>
          </a:xfrm>
          <a:prstGeom prst="rect">
            <a:avLst/>
          </a:prstGeom>
          <a:solidFill>
            <a:srgbClr val="ECEC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F2_fp">
            <a:extLst>
              <a:ext uri="{FF2B5EF4-FFF2-40B4-BE49-F238E27FC236}">
                <a16:creationId xmlns:a16="http://schemas.microsoft.com/office/drawing/2014/main" id="{493654E8-F591-A323-344B-583B7EED4263}"/>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143256" y="-12353290"/>
            <a:ext cx="18031533" cy="20301121"/>
          </a:xfrm>
          <a:prstGeom prst="rect">
            <a:avLst/>
          </a:prstGeom>
          <a:ln w="9525">
            <a:solidFill>
              <a:srgbClr val="B0B0B0"/>
            </a:solidFill>
          </a:ln>
        </p:spPr>
      </p:pic>
      <p:sp>
        <p:nvSpPr>
          <p:cNvPr id="5" name="!!D1">
            <a:extLst>
              <a:ext uri="{FF2B5EF4-FFF2-40B4-BE49-F238E27FC236}">
                <a16:creationId xmlns:a16="http://schemas.microsoft.com/office/drawing/2014/main" id="{434E6BEA-6389-4767-AC3C-679DF7554A29}"/>
              </a:ext>
            </a:extLst>
          </p:cNvPr>
          <p:cNvSpPr/>
          <p:nvPr/>
        </p:nvSpPr>
        <p:spPr>
          <a:xfrm>
            <a:off x="0" y="685800"/>
            <a:ext cx="7670800" cy="190754"/>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2">
            <a:extLst>
              <a:ext uri="{FF2B5EF4-FFF2-40B4-BE49-F238E27FC236}">
                <a16:creationId xmlns:a16="http://schemas.microsoft.com/office/drawing/2014/main" id="{982723AD-39A9-832B-6A8F-C1AFE2589D1D}"/>
              </a:ext>
            </a:extLst>
          </p:cNvPr>
          <p:cNvSpPr/>
          <p:nvPr/>
        </p:nvSpPr>
        <p:spPr>
          <a:xfrm>
            <a:off x="0" y="6692646"/>
            <a:ext cx="7670800" cy="165354"/>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3">
            <a:extLst>
              <a:ext uri="{FF2B5EF4-FFF2-40B4-BE49-F238E27FC236}">
                <a16:creationId xmlns:a16="http://schemas.microsoft.com/office/drawing/2014/main" id="{01FBF74C-2CF8-96DF-4F62-E0B9F6FE8D52}"/>
              </a:ext>
            </a:extLst>
          </p:cNvPr>
          <p:cNvSpPr/>
          <p:nvPr/>
        </p:nvSpPr>
        <p:spPr>
          <a:xfrm>
            <a:off x="0" y="876554"/>
            <a:ext cx="915416" cy="5816092"/>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4">
            <a:extLst>
              <a:ext uri="{FF2B5EF4-FFF2-40B4-BE49-F238E27FC236}">
                <a16:creationId xmlns:a16="http://schemas.microsoft.com/office/drawing/2014/main" id="{39EFBFC6-A392-D71F-8EA4-3CA3C95A25E1}"/>
              </a:ext>
            </a:extLst>
          </p:cNvPr>
          <p:cNvSpPr/>
          <p:nvPr/>
        </p:nvSpPr>
        <p:spPr>
          <a:xfrm>
            <a:off x="6780784" y="876554"/>
            <a:ext cx="890016" cy="5816092"/>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ocus">
            <a:extLst>
              <a:ext uri="{FF2B5EF4-FFF2-40B4-BE49-F238E27FC236}">
                <a16:creationId xmlns:a16="http://schemas.microsoft.com/office/drawing/2014/main" id="{93862E31-7A93-5D6B-B899-F49BBDBF17D0}"/>
              </a:ext>
            </a:extLst>
          </p:cNvPr>
          <p:cNvSpPr/>
          <p:nvPr/>
        </p:nvSpPr>
        <p:spPr>
          <a:xfrm>
            <a:off x="940816" y="901954"/>
            <a:ext cx="5814568" cy="4089908"/>
          </a:xfrm>
          <a:prstGeom prst="rect">
            <a:avLst/>
          </a:prstGeom>
          <a:solidFill>
            <a:srgbClr val="83CBEB">
              <a:alpha val="37000"/>
            </a:srgbClr>
          </a:solidFill>
          <a:ln w="38100">
            <a:solidFill>
              <a:srgbClr val="46B1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ail">
            <a:extLst>
              <a:ext uri="{FF2B5EF4-FFF2-40B4-BE49-F238E27FC236}">
                <a16:creationId xmlns:a16="http://schemas.microsoft.com/office/drawing/2014/main" id="{1E3D6031-E30F-E4F3-B8F9-A21FDB0E94B9}"/>
              </a:ext>
            </a:extLst>
          </p:cNvPr>
          <p:cNvSpPr/>
          <p:nvPr/>
        </p:nvSpPr>
        <p:spPr>
          <a:xfrm>
            <a:off x="7670800" y="685800"/>
            <a:ext cx="4521200" cy="61722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N26">
            <a:extLst>
              <a:ext uri="{FF2B5EF4-FFF2-40B4-BE49-F238E27FC236}">
                <a16:creationId xmlns:a16="http://schemas.microsoft.com/office/drawing/2014/main" id="{FC376ACB-BE87-97D5-8485-8E4BD5E259E8}"/>
              </a:ext>
            </a:extLst>
          </p:cNvPr>
          <p:cNvSpPr/>
          <p:nvPr/>
        </p:nvSpPr>
        <p:spPr>
          <a:xfrm>
            <a:off x="7797800" y="838200"/>
            <a:ext cx="4241800" cy="1362456"/>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Each ring becomes one number: its lines added up. Here the change’s increases add up to 0.43: the black line under the ring.</a:t>
            </a:r>
          </a:p>
        </p:txBody>
      </p:sp>
      <p:sp>
        <p:nvSpPr>
          <p:cNvPr id="12" name="!!N27">
            <a:extLst>
              <a:ext uri="{FF2B5EF4-FFF2-40B4-BE49-F238E27FC236}">
                <a16:creationId xmlns:a16="http://schemas.microsoft.com/office/drawing/2014/main" id="{03422F6E-675B-57D0-AFA6-31A305D7D479}"/>
              </a:ext>
            </a:extLst>
          </p:cNvPr>
          <p:cNvSpPr/>
          <p:nvPr/>
        </p:nvSpPr>
        <p:spPr>
          <a:xfrm>
            <a:off x="12573000" y="1748028"/>
            <a:ext cx="4241800" cy="2212848"/>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Test 1, FP: the same rats in FP1 and FP2, with no cues. Fake trials at random moments, measured as real ones are; 10,000 sets, each session as many as it had real trials. Each set’s sum is the grey hill.</a:t>
            </a:r>
          </a:p>
        </p:txBody>
      </p:sp>
      <p:sp>
        <p:nvSpPr>
          <p:cNvPr id="13" name="!!N25">
            <a:extLst>
              <a:ext uri="{FF2B5EF4-FFF2-40B4-BE49-F238E27FC236}">
                <a16:creationId xmlns:a16="http://schemas.microsoft.com/office/drawing/2014/main" id="{DA2815B1-EFE8-0E3B-58D0-4A340057E77E}"/>
              </a:ext>
            </a:extLst>
          </p:cNvPr>
          <p:cNvSpPr/>
          <p:nvPr/>
        </p:nvSpPr>
        <p:spPr>
          <a:xfrm>
            <a:off x="12573000" y="838200"/>
            <a:ext cx="4241800" cy="107899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Left column: only the lines that went up. Middle: only those that went down. Right: both.</a:t>
            </a:r>
          </a:p>
        </p:txBody>
      </p:sp>
      <p:sp>
        <p:nvSpPr>
          <p:cNvPr id="14" name="!!T-BG">
            <a:extLst>
              <a:ext uri="{FF2B5EF4-FFF2-40B4-BE49-F238E27FC236}">
                <a16:creationId xmlns:a16="http://schemas.microsoft.com/office/drawing/2014/main" id="{3AC6DB1B-5EBB-2FB6-B5FA-6445402105F9}"/>
              </a:ext>
            </a:extLst>
          </p:cNvPr>
          <p:cNvSpPr/>
          <p:nvPr/>
        </p:nvSpPr>
        <p:spPr>
          <a:xfrm>
            <a:off x="-381000" y="0"/>
            <a:ext cx="12954000" cy="685800"/>
          </a:xfrm>
          <a:prstGeom prst="snip2DiagRect">
            <a:avLst>
              <a:gd name="adj1" fmla="val 0"/>
              <a:gd name="adj2" fmla="val 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
            <a:extLst>
              <a:ext uri="{FF2B5EF4-FFF2-40B4-BE49-F238E27FC236}">
                <a16:creationId xmlns:a16="http://schemas.microsoft.com/office/drawing/2014/main" id="{05B9DAE4-CFCE-0D81-864D-46BE2A45CCE6}"/>
              </a:ext>
            </a:extLst>
          </p:cNvPr>
          <p:cNvSpPr txBox="1"/>
          <p:nvPr/>
        </p:nvSpPr>
        <p:spPr>
          <a:xfrm>
            <a:off x="127000" y="0"/>
            <a:ext cx="11811000" cy="685800"/>
          </a:xfrm>
          <a:prstGeom prst="rect">
            <a:avLst/>
          </a:prstGeom>
          <a:noFill/>
        </p:spPr>
        <p:txBody>
          <a:bodyPr vert="horz" wrap="square" lIns="76200" tIns="25400" rIns="76200" bIns="25400" rtlCol="0" anchor="ctr">
            <a:noAutofit/>
          </a:bodyPr>
          <a:lstStyle/>
          <a:p>
            <a:pPr>
              <a:lnSpc>
                <a:spcPct val="95000"/>
              </a:lnSpc>
            </a:pPr>
            <a:r>
              <a:rPr lang="en-US" sz="2400" b="1" u="sng">
                <a:solidFill>
                  <a:srgbClr val="FFFFFF"/>
                </a:solidFill>
                <a:latin typeface="Aptos Display" panose="020B0004020202020204" pitchFamily="34" charset="0"/>
              </a:rPr>
              <a:t>Figure 2 · baseline → both cues · gamma</a:t>
            </a:r>
          </a:p>
        </p:txBody>
      </p:sp>
    </p:spTree>
    <p:extLst>
      <p:ext uri="{BB962C8B-B14F-4D97-AF65-F5344CB8AC3E}">
        <p14:creationId xmlns:p14="http://schemas.microsoft.com/office/powerpoint/2010/main" val="63981302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tage">
            <a:extLst>
              <a:ext uri="{FF2B5EF4-FFF2-40B4-BE49-F238E27FC236}">
                <a16:creationId xmlns:a16="http://schemas.microsoft.com/office/drawing/2014/main" id="{2B5A8EA4-C8F4-FB2D-5F81-C031287A53DD}"/>
              </a:ext>
            </a:extLst>
          </p:cNvPr>
          <p:cNvSpPr/>
          <p:nvPr/>
        </p:nvSpPr>
        <p:spPr>
          <a:xfrm>
            <a:off x="0" y="685800"/>
            <a:ext cx="7670800" cy="6172200"/>
          </a:xfrm>
          <a:prstGeom prst="rect">
            <a:avLst/>
          </a:prstGeom>
          <a:solidFill>
            <a:srgbClr val="ECEC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F2_fp">
            <a:extLst>
              <a:ext uri="{FF2B5EF4-FFF2-40B4-BE49-F238E27FC236}">
                <a16:creationId xmlns:a16="http://schemas.microsoft.com/office/drawing/2014/main" id="{08A1CCC9-AE81-D3A0-7992-84ABC7366987}"/>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43256" y="-12353290"/>
            <a:ext cx="18031533" cy="20301121"/>
          </a:xfrm>
          <a:prstGeom prst="rect">
            <a:avLst/>
          </a:prstGeom>
          <a:ln w="9525">
            <a:solidFill>
              <a:srgbClr val="B0B0B0"/>
            </a:solidFill>
          </a:ln>
        </p:spPr>
      </p:pic>
      <p:sp>
        <p:nvSpPr>
          <p:cNvPr id="5" name="!!D1">
            <a:extLst>
              <a:ext uri="{FF2B5EF4-FFF2-40B4-BE49-F238E27FC236}">
                <a16:creationId xmlns:a16="http://schemas.microsoft.com/office/drawing/2014/main" id="{7F641416-FA55-AF89-B7FF-D475DE47B272}"/>
              </a:ext>
            </a:extLst>
          </p:cNvPr>
          <p:cNvSpPr/>
          <p:nvPr/>
        </p:nvSpPr>
        <p:spPr>
          <a:xfrm>
            <a:off x="0" y="685800"/>
            <a:ext cx="7670800" cy="190754"/>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2">
            <a:extLst>
              <a:ext uri="{FF2B5EF4-FFF2-40B4-BE49-F238E27FC236}">
                <a16:creationId xmlns:a16="http://schemas.microsoft.com/office/drawing/2014/main" id="{1BD9C0EC-280B-D4ED-CB16-63A9B64CCB99}"/>
              </a:ext>
            </a:extLst>
          </p:cNvPr>
          <p:cNvSpPr/>
          <p:nvPr/>
        </p:nvSpPr>
        <p:spPr>
          <a:xfrm>
            <a:off x="0" y="6692646"/>
            <a:ext cx="7670800" cy="165354"/>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3">
            <a:extLst>
              <a:ext uri="{FF2B5EF4-FFF2-40B4-BE49-F238E27FC236}">
                <a16:creationId xmlns:a16="http://schemas.microsoft.com/office/drawing/2014/main" id="{41EAA57B-E254-7B63-8D82-E6368B344BAE}"/>
              </a:ext>
            </a:extLst>
          </p:cNvPr>
          <p:cNvSpPr/>
          <p:nvPr/>
        </p:nvSpPr>
        <p:spPr>
          <a:xfrm>
            <a:off x="0" y="876554"/>
            <a:ext cx="915416" cy="5816092"/>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4">
            <a:extLst>
              <a:ext uri="{FF2B5EF4-FFF2-40B4-BE49-F238E27FC236}">
                <a16:creationId xmlns:a16="http://schemas.microsoft.com/office/drawing/2014/main" id="{A50195DF-EEED-D50E-BEA3-7737C8BE4019}"/>
              </a:ext>
            </a:extLst>
          </p:cNvPr>
          <p:cNvSpPr/>
          <p:nvPr/>
        </p:nvSpPr>
        <p:spPr>
          <a:xfrm>
            <a:off x="6780784" y="876554"/>
            <a:ext cx="890016" cy="5816092"/>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ocus">
            <a:extLst>
              <a:ext uri="{FF2B5EF4-FFF2-40B4-BE49-F238E27FC236}">
                <a16:creationId xmlns:a16="http://schemas.microsoft.com/office/drawing/2014/main" id="{219B626E-C505-7015-D4CA-737329C79368}"/>
              </a:ext>
            </a:extLst>
          </p:cNvPr>
          <p:cNvSpPr/>
          <p:nvPr/>
        </p:nvSpPr>
        <p:spPr>
          <a:xfrm>
            <a:off x="1827784" y="4942586"/>
            <a:ext cx="4336288" cy="1626108"/>
          </a:xfrm>
          <a:prstGeom prst="rect">
            <a:avLst/>
          </a:prstGeom>
          <a:solidFill>
            <a:srgbClr val="83CBEB">
              <a:alpha val="37000"/>
            </a:srgbClr>
          </a:solidFill>
          <a:ln w="38100">
            <a:solidFill>
              <a:srgbClr val="46B1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ail">
            <a:extLst>
              <a:ext uri="{FF2B5EF4-FFF2-40B4-BE49-F238E27FC236}">
                <a16:creationId xmlns:a16="http://schemas.microsoft.com/office/drawing/2014/main" id="{4821EFE7-9D0D-5451-EAC4-EAD382DB7569}"/>
              </a:ext>
            </a:extLst>
          </p:cNvPr>
          <p:cNvSpPr/>
          <p:nvPr/>
        </p:nvSpPr>
        <p:spPr>
          <a:xfrm>
            <a:off x="7670800" y="685800"/>
            <a:ext cx="4521200" cy="61722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N26">
            <a:extLst>
              <a:ext uri="{FF2B5EF4-FFF2-40B4-BE49-F238E27FC236}">
                <a16:creationId xmlns:a16="http://schemas.microsoft.com/office/drawing/2014/main" id="{FBAC48F0-D613-95D7-4611-E757019D9F9B}"/>
              </a:ext>
            </a:extLst>
          </p:cNvPr>
          <p:cNvSpPr/>
          <p:nvPr/>
        </p:nvSpPr>
        <p:spPr>
          <a:xfrm>
            <a:off x="7797800" y="838200"/>
            <a:ext cx="4241800" cy="795528"/>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Each ring becomes one number: its lines added up. Here the change’s increases add up to 0.43: the black line under the ring.</a:t>
            </a:r>
          </a:p>
        </p:txBody>
      </p:sp>
      <p:sp>
        <p:nvSpPr>
          <p:cNvPr id="12" name="!!N27">
            <a:extLst>
              <a:ext uri="{FF2B5EF4-FFF2-40B4-BE49-F238E27FC236}">
                <a16:creationId xmlns:a16="http://schemas.microsoft.com/office/drawing/2014/main" id="{BFC4B172-ED2F-8F5A-A5E6-D3725ECE3F93}"/>
              </a:ext>
            </a:extLst>
          </p:cNvPr>
          <p:cNvSpPr/>
          <p:nvPr/>
        </p:nvSpPr>
        <p:spPr>
          <a:xfrm>
            <a:off x="7797800" y="1748028"/>
            <a:ext cx="4241800" cy="2212848"/>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Test 1, FP: the same rats in FP1 and FP2, with no cues. Fake trials at random moments, measured as real ones are; 10,000 sets, each session as many as it had real trials. Each set’s sum is the grey hill.</a:t>
            </a:r>
          </a:p>
        </p:txBody>
      </p:sp>
      <p:sp>
        <p:nvSpPr>
          <p:cNvPr id="13" name="!!N28">
            <a:extLst>
              <a:ext uri="{FF2B5EF4-FFF2-40B4-BE49-F238E27FC236}">
                <a16:creationId xmlns:a16="http://schemas.microsoft.com/office/drawing/2014/main" id="{1D5379DC-5B9A-9BBB-C8BE-1624DC460304}"/>
              </a:ext>
            </a:extLst>
          </p:cNvPr>
          <p:cNvSpPr/>
          <p:nvPr/>
        </p:nvSpPr>
        <p:spPr>
          <a:xfrm>
            <a:off x="12573000" y="2846832"/>
            <a:ext cx="4241800" cy="1362456"/>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The black line is the real sum. Against FP: P = 0.100. It does not stand out of what the rats do with no cues.</a:t>
            </a:r>
          </a:p>
        </p:txBody>
      </p:sp>
      <p:sp>
        <p:nvSpPr>
          <p:cNvPr id="14" name="!!T-BG">
            <a:extLst>
              <a:ext uri="{FF2B5EF4-FFF2-40B4-BE49-F238E27FC236}">
                <a16:creationId xmlns:a16="http://schemas.microsoft.com/office/drawing/2014/main" id="{85FD06BE-0E42-16EB-273B-CB0512B795A6}"/>
              </a:ext>
            </a:extLst>
          </p:cNvPr>
          <p:cNvSpPr/>
          <p:nvPr/>
        </p:nvSpPr>
        <p:spPr>
          <a:xfrm>
            <a:off x="-381000" y="0"/>
            <a:ext cx="12954000" cy="685800"/>
          </a:xfrm>
          <a:prstGeom prst="snip2DiagRect">
            <a:avLst>
              <a:gd name="adj1" fmla="val 0"/>
              <a:gd name="adj2" fmla="val 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
            <a:extLst>
              <a:ext uri="{FF2B5EF4-FFF2-40B4-BE49-F238E27FC236}">
                <a16:creationId xmlns:a16="http://schemas.microsoft.com/office/drawing/2014/main" id="{EAB32BDD-9C09-F9ED-FA0A-AE3CEF326CCB}"/>
              </a:ext>
            </a:extLst>
          </p:cNvPr>
          <p:cNvSpPr txBox="1"/>
          <p:nvPr/>
        </p:nvSpPr>
        <p:spPr>
          <a:xfrm>
            <a:off x="127000" y="0"/>
            <a:ext cx="11811000" cy="685800"/>
          </a:xfrm>
          <a:prstGeom prst="rect">
            <a:avLst/>
          </a:prstGeom>
          <a:noFill/>
        </p:spPr>
        <p:txBody>
          <a:bodyPr vert="horz" wrap="square" lIns="76200" tIns="25400" rIns="76200" bIns="25400" rtlCol="0" anchor="ctr">
            <a:noAutofit/>
          </a:bodyPr>
          <a:lstStyle/>
          <a:p>
            <a:pPr>
              <a:lnSpc>
                <a:spcPct val="95000"/>
              </a:lnSpc>
            </a:pPr>
            <a:r>
              <a:rPr lang="en-US" sz="2400" b="1" u="sng">
                <a:solidFill>
                  <a:srgbClr val="FFFFFF"/>
                </a:solidFill>
                <a:latin typeface="Aptos Display" panose="020B0004020202020204" pitchFamily="34" charset="0"/>
              </a:rPr>
              <a:t>Figure 2 · baseline → both cues · gamma</a:t>
            </a:r>
          </a:p>
        </p:txBody>
      </p:sp>
    </p:spTree>
    <p:extLst>
      <p:ext uri="{BB962C8B-B14F-4D97-AF65-F5344CB8AC3E}">
        <p14:creationId xmlns:p14="http://schemas.microsoft.com/office/powerpoint/2010/main" val="157033502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tage">
            <a:extLst>
              <a:ext uri="{FF2B5EF4-FFF2-40B4-BE49-F238E27FC236}">
                <a16:creationId xmlns:a16="http://schemas.microsoft.com/office/drawing/2014/main" id="{3C47BF08-81A5-6327-5C9E-342A713E3D14}"/>
              </a:ext>
            </a:extLst>
          </p:cNvPr>
          <p:cNvSpPr/>
          <p:nvPr/>
        </p:nvSpPr>
        <p:spPr>
          <a:xfrm>
            <a:off x="0" y="685800"/>
            <a:ext cx="7670800" cy="6172200"/>
          </a:xfrm>
          <a:prstGeom prst="rect">
            <a:avLst/>
          </a:prstGeom>
          <a:solidFill>
            <a:srgbClr val="ECEC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F2_fp">
            <a:extLst>
              <a:ext uri="{FF2B5EF4-FFF2-40B4-BE49-F238E27FC236}">
                <a16:creationId xmlns:a16="http://schemas.microsoft.com/office/drawing/2014/main" id="{A827CAA3-5DE6-C6F5-82A3-728B0E91F7FD}"/>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43256" y="-12353290"/>
            <a:ext cx="18031533" cy="20301121"/>
          </a:xfrm>
          <a:prstGeom prst="rect">
            <a:avLst/>
          </a:prstGeom>
          <a:ln w="9525">
            <a:solidFill>
              <a:srgbClr val="B0B0B0"/>
            </a:solidFill>
          </a:ln>
        </p:spPr>
      </p:pic>
      <p:sp>
        <p:nvSpPr>
          <p:cNvPr id="5" name="!!D1">
            <a:extLst>
              <a:ext uri="{FF2B5EF4-FFF2-40B4-BE49-F238E27FC236}">
                <a16:creationId xmlns:a16="http://schemas.microsoft.com/office/drawing/2014/main" id="{9D4BE298-AFAB-C2EF-930F-4D26CE6576B6}"/>
              </a:ext>
            </a:extLst>
          </p:cNvPr>
          <p:cNvSpPr/>
          <p:nvPr/>
        </p:nvSpPr>
        <p:spPr>
          <a:xfrm>
            <a:off x="0" y="685800"/>
            <a:ext cx="7670800" cy="190754"/>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2">
            <a:extLst>
              <a:ext uri="{FF2B5EF4-FFF2-40B4-BE49-F238E27FC236}">
                <a16:creationId xmlns:a16="http://schemas.microsoft.com/office/drawing/2014/main" id="{1116906F-1EB3-EA0C-5CB0-5E7244C5AC2E}"/>
              </a:ext>
            </a:extLst>
          </p:cNvPr>
          <p:cNvSpPr/>
          <p:nvPr/>
        </p:nvSpPr>
        <p:spPr>
          <a:xfrm>
            <a:off x="0" y="6692646"/>
            <a:ext cx="7670800" cy="165354"/>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3">
            <a:extLst>
              <a:ext uri="{FF2B5EF4-FFF2-40B4-BE49-F238E27FC236}">
                <a16:creationId xmlns:a16="http://schemas.microsoft.com/office/drawing/2014/main" id="{685C6C74-3E7E-D036-A6BB-869846379063}"/>
              </a:ext>
            </a:extLst>
          </p:cNvPr>
          <p:cNvSpPr/>
          <p:nvPr/>
        </p:nvSpPr>
        <p:spPr>
          <a:xfrm>
            <a:off x="0" y="876554"/>
            <a:ext cx="915416" cy="5816092"/>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4">
            <a:extLst>
              <a:ext uri="{FF2B5EF4-FFF2-40B4-BE49-F238E27FC236}">
                <a16:creationId xmlns:a16="http://schemas.microsoft.com/office/drawing/2014/main" id="{28567DDA-B834-6D0A-445C-37E2B53FB702}"/>
              </a:ext>
            </a:extLst>
          </p:cNvPr>
          <p:cNvSpPr/>
          <p:nvPr/>
        </p:nvSpPr>
        <p:spPr>
          <a:xfrm>
            <a:off x="6780784" y="876554"/>
            <a:ext cx="890016" cy="5816092"/>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ocus">
            <a:extLst>
              <a:ext uri="{FF2B5EF4-FFF2-40B4-BE49-F238E27FC236}">
                <a16:creationId xmlns:a16="http://schemas.microsoft.com/office/drawing/2014/main" id="{56AEE9C0-D3D6-7A65-AB62-2BAF8DF51EBD}"/>
              </a:ext>
            </a:extLst>
          </p:cNvPr>
          <p:cNvSpPr/>
          <p:nvPr/>
        </p:nvSpPr>
        <p:spPr>
          <a:xfrm>
            <a:off x="1827784" y="4942586"/>
            <a:ext cx="4336288" cy="1626108"/>
          </a:xfrm>
          <a:prstGeom prst="rect">
            <a:avLst/>
          </a:prstGeom>
          <a:solidFill>
            <a:srgbClr val="83CBEB">
              <a:alpha val="37000"/>
            </a:srgbClr>
          </a:solidFill>
          <a:ln w="38100">
            <a:solidFill>
              <a:srgbClr val="46B1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ail">
            <a:extLst>
              <a:ext uri="{FF2B5EF4-FFF2-40B4-BE49-F238E27FC236}">
                <a16:creationId xmlns:a16="http://schemas.microsoft.com/office/drawing/2014/main" id="{43634061-8528-AFAC-8B18-EFBFC906778E}"/>
              </a:ext>
            </a:extLst>
          </p:cNvPr>
          <p:cNvSpPr/>
          <p:nvPr/>
        </p:nvSpPr>
        <p:spPr>
          <a:xfrm>
            <a:off x="7670800" y="685800"/>
            <a:ext cx="4521200" cy="61722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N26">
            <a:extLst>
              <a:ext uri="{FF2B5EF4-FFF2-40B4-BE49-F238E27FC236}">
                <a16:creationId xmlns:a16="http://schemas.microsoft.com/office/drawing/2014/main" id="{C32CCC84-4766-053E-0113-4BF8F2BEDDD0}"/>
              </a:ext>
            </a:extLst>
          </p:cNvPr>
          <p:cNvSpPr/>
          <p:nvPr/>
        </p:nvSpPr>
        <p:spPr>
          <a:xfrm>
            <a:off x="7797800" y="838200"/>
            <a:ext cx="4241800" cy="795528"/>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Each ring becomes one number: its lines added up. Here the change’s increases add up to 0.43: the black line under the ring.</a:t>
            </a:r>
          </a:p>
        </p:txBody>
      </p:sp>
      <p:sp>
        <p:nvSpPr>
          <p:cNvPr id="12" name="!!N27">
            <a:extLst>
              <a:ext uri="{FF2B5EF4-FFF2-40B4-BE49-F238E27FC236}">
                <a16:creationId xmlns:a16="http://schemas.microsoft.com/office/drawing/2014/main" id="{4FD5FB5C-3782-8D09-CA78-236CCD1BDC38}"/>
              </a:ext>
            </a:extLst>
          </p:cNvPr>
          <p:cNvSpPr/>
          <p:nvPr/>
        </p:nvSpPr>
        <p:spPr>
          <a:xfrm>
            <a:off x="7797800" y="1748028"/>
            <a:ext cx="4241800" cy="984504"/>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Test 1, FP: the same rats in FP1 and FP2, with no cues. Fake trials at random moments, measured as real ones are; 10,000 sets, each session as many as it had real trials. Each set’s sum is the grey hill.</a:t>
            </a:r>
          </a:p>
        </p:txBody>
      </p:sp>
      <p:sp>
        <p:nvSpPr>
          <p:cNvPr id="13" name="!!N28">
            <a:extLst>
              <a:ext uri="{FF2B5EF4-FFF2-40B4-BE49-F238E27FC236}">
                <a16:creationId xmlns:a16="http://schemas.microsoft.com/office/drawing/2014/main" id="{5FE26D4D-5659-A73F-7CC4-95B57E419918}"/>
              </a:ext>
            </a:extLst>
          </p:cNvPr>
          <p:cNvSpPr/>
          <p:nvPr/>
        </p:nvSpPr>
        <p:spPr>
          <a:xfrm>
            <a:off x="7797800" y="2846832"/>
            <a:ext cx="4241800" cy="1362456"/>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The black line is the real sum. Against FP: P = 0.100. It does not stand out of what the rats do with no cues.</a:t>
            </a:r>
          </a:p>
        </p:txBody>
      </p:sp>
      <p:sp>
        <p:nvSpPr>
          <p:cNvPr id="14" name="!!N29">
            <a:extLst>
              <a:ext uri="{FF2B5EF4-FFF2-40B4-BE49-F238E27FC236}">
                <a16:creationId xmlns:a16="http://schemas.microsoft.com/office/drawing/2014/main" id="{B3C07DCD-68C9-1C5C-63C2-C8B50A5839B7}"/>
              </a:ext>
            </a:extLst>
          </p:cNvPr>
          <p:cNvSpPr/>
          <p:nvPr/>
        </p:nvSpPr>
        <p:spPr>
          <a:xfrm>
            <a:off x="12573000" y="838200"/>
            <a:ext cx="4241800" cy="1929384"/>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Test 2, the shuffles (P, a toggle on tab 9): in every session, each trial’s baseline and cue swapped at random, 10,000 times. Single trials vary a lot, so the hill is wide: P = 0.085.</a:t>
            </a:r>
          </a:p>
        </p:txBody>
      </p:sp>
      <p:sp>
        <p:nvSpPr>
          <p:cNvPr id="15" name="!!T-BG">
            <a:extLst>
              <a:ext uri="{FF2B5EF4-FFF2-40B4-BE49-F238E27FC236}">
                <a16:creationId xmlns:a16="http://schemas.microsoft.com/office/drawing/2014/main" id="{86C9AE0F-674A-82E8-A996-D2A4D86FC7BE}"/>
              </a:ext>
            </a:extLst>
          </p:cNvPr>
          <p:cNvSpPr/>
          <p:nvPr/>
        </p:nvSpPr>
        <p:spPr>
          <a:xfrm>
            <a:off x="-381000" y="0"/>
            <a:ext cx="12954000" cy="685800"/>
          </a:xfrm>
          <a:prstGeom prst="snip2DiagRect">
            <a:avLst>
              <a:gd name="adj1" fmla="val 0"/>
              <a:gd name="adj2" fmla="val 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
            <a:extLst>
              <a:ext uri="{FF2B5EF4-FFF2-40B4-BE49-F238E27FC236}">
                <a16:creationId xmlns:a16="http://schemas.microsoft.com/office/drawing/2014/main" id="{26C70FEE-26D7-CC51-338E-D01B1769836C}"/>
              </a:ext>
            </a:extLst>
          </p:cNvPr>
          <p:cNvSpPr txBox="1"/>
          <p:nvPr/>
        </p:nvSpPr>
        <p:spPr>
          <a:xfrm>
            <a:off x="127000" y="0"/>
            <a:ext cx="11811000" cy="685800"/>
          </a:xfrm>
          <a:prstGeom prst="rect">
            <a:avLst/>
          </a:prstGeom>
          <a:noFill/>
        </p:spPr>
        <p:txBody>
          <a:bodyPr vert="horz" wrap="square" lIns="76200" tIns="25400" rIns="76200" bIns="25400" rtlCol="0" anchor="ctr">
            <a:noAutofit/>
          </a:bodyPr>
          <a:lstStyle/>
          <a:p>
            <a:pPr>
              <a:lnSpc>
                <a:spcPct val="95000"/>
              </a:lnSpc>
            </a:pPr>
            <a:r>
              <a:rPr lang="en-US" sz="2400" b="1" u="sng">
                <a:solidFill>
                  <a:srgbClr val="FFFFFF"/>
                </a:solidFill>
                <a:latin typeface="Aptos Display" panose="020B0004020202020204" pitchFamily="34" charset="0"/>
              </a:rPr>
              <a:t>Figure 2 · baseline → both cues · gamma</a:t>
            </a:r>
          </a:p>
        </p:txBody>
      </p:sp>
    </p:spTree>
    <p:extLst>
      <p:ext uri="{BB962C8B-B14F-4D97-AF65-F5344CB8AC3E}">
        <p14:creationId xmlns:p14="http://schemas.microsoft.com/office/powerpoint/2010/main" val="100464540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tage">
            <a:extLst>
              <a:ext uri="{FF2B5EF4-FFF2-40B4-BE49-F238E27FC236}">
                <a16:creationId xmlns:a16="http://schemas.microsoft.com/office/drawing/2014/main" id="{05FB77DE-F71C-4C65-779F-393823D3BF33}"/>
              </a:ext>
            </a:extLst>
          </p:cNvPr>
          <p:cNvSpPr/>
          <p:nvPr/>
        </p:nvSpPr>
        <p:spPr>
          <a:xfrm>
            <a:off x="0" y="685800"/>
            <a:ext cx="7670800" cy="6172200"/>
          </a:xfrm>
          <a:prstGeom prst="rect">
            <a:avLst/>
          </a:prstGeom>
          <a:solidFill>
            <a:srgbClr val="ECEC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F2_trials">
            <a:extLst>
              <a:ext uri="{FF2B5EF4-FFF2-40B4-BE49-F238E27FC236}">
                <a16:creationId xmlns:a16="http://schemas.microsoft.com/office/drawing/2014/main" id="{03933D56-185A-5B7E-E270-2A638AFF9FD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43256" y="-12353290"/>
            <a:ext cx="18031533" cy="20301121"/>
          </a:xfrm>
          <a:prstGeom prst="rect">
            <a:avLst/>
          </a:prstGeom>
          <a:ln w="9525">
            <a:solidFill>
              <a:srgbClr val="B0B0B0"/>
            </a:solidFill>
          </a:ln>
        </p:spPr>
      </p:pic>
      <p:sp>
        <p:nvSpPr>
          <p:cNvPr id="5" name="!!D1">
            <a:extLst>
              <a:ext uri="{FF2B5EF4-FFF2-40B4-BE49-F238E27FC236}">
                <a16:creationId xmlns:a16="http://schemas.microsoft.com/office/drawing/2014/main" id="{C5724B7A-5D5C-4453-11AE-49BEE672E16D}"/>
              </a:ext>
            </a:extLst>
          </p:cNvPr>
          <p:cNvSpPr/>
          <p:nvPr/>
        </p:nvSpPr>
        <p:spPr>
          <a:xfrm>
            <a:off x="0" y="685800"/>
            <a:ext cx="7670800" cy="190754"/>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2">
            <a:extLst>
              <a:ext uri="{FF2B5EF4-FFF2-40B4-BE49-F238E27FC236}">
                <a16:creationId xmlns:a16="http://schemas.microsoft.com/office/drawing/2014/main" id="{56A2703E-EC51-E697-EFA8-AA0DA1F4CD9A}"/>
              </a:ext>
            </a:extLst>
          </p:cNvPr>
          <p:cNvSpPr/>
          <p:nvPr/>
        </p:nvSpPr>
        <p:spPr>
          <a:xfrm>
            <a:off x="0" y="6692646"/>
            <a:ext cx="7670800" cy="165354"/>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3">
            <a:extLst>
              <a:ext uri="{FF2B5EF4-FFF2-40B4-BE49-F238E27FC236}">
                <a16:creationId xmlns:a16="http://schemas.microsoft.com/office/drawing/2014/main" id="{FF18585B-496E-EC05-0CC9-9E0256CE8709}"/>
              </a:ext>
            </a:extLst>
          </p:cNvPr>
          <p:cNvSpPr/>
          <p:nvPr/>
        </p:nvSpPr>
        <p:spPr>
          <a:xfrm>
            <a:off x="0" y="876554"/>
            <a:ext cx="915416" cy="5816092"/>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4">
            <a:extLst>
              <a:ext uri="{FF2B5EF4-FFF2-40B4-BE49-F238E27FC236}">
                <a16:creationId xmlns:a16="http://schemas.microsoft.com/office/drawing/2014/main" id="{D37CA326-10CB-109C-9D6E-83216B82B885}"/>
              </a:ext>
            </a:extLst>
          </p:cNvPr>
          <p:cNvSpPr/>
          <p:nvPr/>
        </p:nvSpPr>
        <p:spPr>
          <a:xfrm>
            <a:off x="6780784" y="876554"/>
            <a:ext cx="890016" cy="5816092"/>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ocus">
            <a:extLst>
              <a:ext uri="{FF2B5EF4-FFF2-40B4-BE49-F238E27FC236}">
                <a16:creationId xmlns:a16="http://schemas.microsoft.com/office/drawing/2014/main" id="{9184A4D1-7D08-8EAA-1F80-B00EC388B223}"/>
              </a:ext>
            </a:extLst>
          </p:cNvPr>
          <p:cNvSpPr/>
          <p:nvPr/>
        </p:nvSpPr>
        <p:spPr>
          <a:xfrm>
            <a:off x="1827784" y="4942586"/>
            <a:ext cx="4336288" cy="1626108"/>
          </a:xfrm>
          <a:prstGeom prst="rect">
            <a:avLst/>
          </a:prstGeom>
          <a:solidFill>
            <a:srgbClr val="83CBEB">
              <a:alpha val="37000"/>
            </a:srgbClr>
          </a:solidFill>
          <a:ln w="38100">
            <a:solidFill>
              <a:srgbClr val="46B1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ail">
            <a:extLst>
              <a:ext uri="{FF2B5EF4-FFF2-40B4-BE49-F238E27FC236}">
                <a16:creationId xmlns:a16="http://schemas.microsoft.com/office/drawing/2014/main" id="{E731FB2A-D9BE-71AF-57C6-8A2BD233E37B}"/>
              </a:ext>
            </a:extLst>
          </p:cNvPr>
          <p:cNvSpPr/>
          <p:nvPr/>
        </p:nvSpPr>
        <p:spPr>
          <a:xfrm>
            <a:off x="7670800" y="685800"/>
            <a:ext cx="4521200" cy="61722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N29">
            <a:extLst>
              <a:ext uri="{FF2B5EF4-FFF2-40B4-BE49-F238E27FC236}">
                <a16:creationId xmlns:a16="http://schemas.microsoft.com/office/drawing/2014/main" id="{C080A2DD-C48C-132F-2E8F-A42D99AA1427}"/>
              </a:ext>
            </a:extLst>
          </p:cNvPr>
          <p:cNvSpPr/>
          <p:nvPr/>
        </p:nvSpPr>
        <p:spPr>
          <a:xfrm>
            <a:off x="7797800" y="838200"/>
            <a:ext cx="4241800" cy="1929384"/>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Test 2, the shuffles (P, a toggle on tab 9): in every session, each trial’s baseline and cue swapped at random, 10,000 times. Single trials vary a lot, so the hill is wide: P = 0.085.</a:t>
            </a:r>
          </a:p>
        </p:txBody>
      </p:sp>
      <p:sp>
        <p:nvSpPr>
          <p:cNvPr id="12" name="!!N30">
            <a:extLst>
              <a:ext uri="{FF2B5EF4-FFF2-40B4-BE49-F238E27FC236}">
                <a16:creationId xmlns:a16="http://schemas.microsoft.com/office/drawing/2014/main" id="{88C47A49-3054-E852-1928-AB3528671458}"/>
              </a:ext>
            </a:extLst>
          </p:cNvPr>
          <p:cNvSpPr/>
          <p:nvPr/>
        </p:nvSpPr>
        <p:spPr>
          <a:xfrm>
            <a:off x="12573000" y="838200"/>
            <a:ext cx="4241800" cy="1929384"/>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Test 3, the rats’ flips (T): if the cues’ effect were the same on both days, each rat’s change could as well point the other way. Flip the signs every way (256 for 8 rats): only 3 sums reach the real one, P = 0.012.</a:t>
            </a:r>
          </a:p>
        </p:txBody>
      </p:sp>
      <p:sp>
        <p:nvSpPr>
          <p:cNvPr id="13" name="!!N26">
            <a:extLst>
              <a:ext uri="{FF2B5EF4-FFF2-40B4-BE49-F238E27FC236}">
                <a16:creationId xmlns:a16="http://schemas.microsoft.com/office/drawing/2014/main" id="{0DB0FE4F-11E4-CEB5-8120-1EB01B4181A6}"/>
              </a:ext>
            </a:extLst>
          </p:cNvPr>
          <p:cNvSpPr/>
          <p:nvPr/>
        </p:nvSpPr>
        <p:spPr>
          <a:xfrm>
            <a:off x="12573000" y="838200"/>
            <a:ext cx="4241800" cy="795528"/>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Each ring becomes one number: its lines added up. Here the change’s increases add up to 0.43: the black line under the ring.</a:t>
            </a:r>
          </a:p>
        </p:txBody>
      </p:sp>
      <p:sp>
        <p:nvSpPr>
          <p:cNvPr id="14" name="!!N27">
            <a:extLst>
              <a:ext uri="{FF2B5EF4-FFF2-40B4-BE49-F238E27FC236}">
                <a16:creationId xmlns:a16="http://schemas.microsoft.com/office/drawing/2014/main" id="{AE5F1EDE-A648-8FFB-0AEB-50DCAF01C58F}"/>
              </a:ext>
            </a:extLst>
          </p:cNvPr>
          <p:cNvSpPr/>
          <p:nvPr/>
        </p:nvSpPr>
        <p:spPr>
          <a:xfrm>
            <a:off x="12573000" y="1748028"/>
            <a:ext cx="4241800" cy="984504"/>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Test 1, FP: the same rats in FP1 and FP2, with no cues. Fake trials at random moments, measured as real ones are; 10,000 sets, each session as many as it had real trials. Each set’s sum is the grey hill.</a:t>
            </a:r>
          </a:p>
        </p:txBody>
      </p:sp>
      <p:sp>
        <p:nvSpPr>
          <p:cNvPr id="15" name="!!N28">
            <a:extLst>
              <a:ext uri="{FF2B5EF4-FFF2-40B4-BE49-F238E27FC236}">
                <a16:creationId xmlns:a16="http://schemas.microsoft.com/office/drawing/2014/main" id="{4EC12EBE-261E-A7B7-7221-0DE3B0B6F580}"/>
              </a:ext>
            </a:extLst>
          </p:cNvPr>
          <p:cNvSpPr/>
          <p:nvPr/>
        </p:nvSpPr>
        <p:spPr>
          <a:xfrm>
            <a:off x="12573000" y="2846832"/>
            <a:ext cx="4241800" cy="1362456"/>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The black line is the real sum. Against FP: P = 0.100. It does not stand out of what the rats do with no cues.</a:t>
            </a:r>
          </a:p>
        </p:txBody>
      </p:sp>
      <p:sp>
        <p:nvSpPr>
          <p:cNvPr id="16" name="!!T-BG">
            <a:extLst>
              <a:ext uri="{FF2B5EF4-FFF2-40B4-BE49-F238E27FC236}">
                <a16:creationId xmlns:a16="http://schemas.microsoft.com/office/drawing/2014/main" id="{CA32FAB5-1928-742C-4ECA-440EE957701F}"/>
              </a:ext>
            </a:extLst>
          </p:cNvPr>
          <p:cNvSpPr/>
          <p:nvPr/>
        </p:nvSpPr>
        <p:spPr>
          <a:xfrm>
            <a:off x="-381000" y="0"/>
            <a:ext cx="12954000" cy="685800"/>
          </a:xfrm>
          <a:prstGeom prst="snip2DiagRect">
            <a:avLst>
              <a:gd name="adj1" fmla="val 0"/>
              <a:gd name="adj2" fmla="val 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
            <a:extLst>
              <a:ext uri="{FF2B5EF4-FFF2-40B4-BE49-F238E27FC236}">
                <a16:creationId xmlns:a16="http://schemas.microsoft.com/office/drawing/2014/main" id="{99AFFBEF-C7E4-1D3B-2C70-889B871FA631}"/>
              </a:ext>
            </a:extLst>
          </p:cNvPr>
          <p:cNvSpPr txBox="1"/>
          <p:nvPr/>
        </p:nvSpPr>
        <p:spPr>
          <a:xfrm>
            <a:off x="127000" y="0"/>
            <a:ext cx="11811000" cy="685800"/>
          </a:xfrm>
          <a:prstGeom prst="rect">
            <a:avLst/>
          </a:prstGeom>
          <a:noFill/>
        </p:spPr>
        <p:txBody>
          <a:bodyPr vert="horz" wrap="square" lIns="76200" tIns="25400" rIns="76200" bIns="25400" rtlCol="0" anchor="ctr">
            <a:noAutofit/>
          </a:bodyPr>
          <a:lstStyle/>
          <a:p>
            <a:pPr>
              <a:lnSpc>
                <a:spcPct val="95000"/>
              </a:lnSpc>
            </a:pPr>
            <a:r>
              <a:rPr lang="en-US" sz="2400" b="1" u="sng">
                <a:solidFill>
                  <a:srgbClr val="FFFFFF"/>
                </a:solidFill>
                <a:latin typeface="Aptos Display" panose="020B0004020202020204" pitchFamily="34" charset="0"/>
              </a:rPr>
              <a:t>Figure 2 · baseline → both cues · gamma</a:t>
            </a:r>
          </a:p>
        </p:txBody>
      </p:sp>
    </p:spTree>
    <p:extLst>
      <p:ext uri="{BB962C8B-B14F-4D97-AF65-F5344CB8AC3E}">
        <p14:creationId xmlns:p14="http://schemas.microsoft.com/office/powerpoint/2010/main" val="63941828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tage">
            <a:extLst>
              <a:ext uri="{FF2B5EF4-FFF2-40B4-BE49-F238E27FC236}">
                <a16:creationId xmlns:a16="http://schemas.microsoft.com/office/drawing/2014/main" id="{85995A8C-D63B-0455-1D1C-69E12362695D}"/>
              </a:ext>
            </a:extLst>
          </p:cNvPr>
          <p:cNvSpPr/>
          <p:nvPr/>
        </p:nvSpPr>
        <p:spPr>
          <a:xfrm>
            <a:off x="0" y="685800"/>
            <a:ext cx="7670800" cy="6172200"/>
          </a:xfrm>
          <a:prstGeom prst="rect">
            <a:avLst/>
          </a:prstGeom>
          <a:solidFill>
            <a:srgbClr val="ECEC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F2">
            <a:extLst>
              <a:ext uri="{FF2B5EF4-FFF2-40B4-BE49-F238E27FC236}">
                <a16:creationId xmlns:a16="http://schemas.microsoft.com/office/drawing/2014/main" id="{FCC3AEF4-4AA4-4156-EDC8-F07389045888}"/>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43256" y="-12353290"/>
            <a:ext cx="18031533" cy="20301121"/>
          </a:xfrm>
          <a:prstGeom prst="rect">
            <a:avLst/>
          </a:prstGeom>
          <a:ln w="9525">
            <a:solidFill>
              <a:srgbClr val="B0B0B0"/>
            </a:solidFill>
          </a:ln>
        </p:spPr>
      </p:pic>
      <p:sp>
        <p:nvSpPr>
          <p:cNvPr id="5" name="!!D1">
            <a:extLst>
              <a:ext uri="{FF2B5EF4-FFF2-40B4-BE49-F238E27FC236}">
                <a16:creationId xmlns:a16="http://schemas.microsoft.com/office/drawing/2014/main" id="{D42F3917-C516-150A-B0B1-B521484CE819}"/>
              </a:ext>
            </a:extLst>
          </p:cNvPr>
          <p:cNvSpPr/>
          <p:nvPr/>
        </p:nvSpPr>
        <p:spPr>
          <a:xfrm>
            <a:off x="0" y="685800"/>
            <a:ext cx="7670800" cy="190754"/>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2">
            <a:extLst>
              <a:ext uri="{FF2B5EF4-FFF2-40B4-BE49-F238E27FC236}">
                <a16:creationId xmlns:a16="http://schemas.microsoft.com/office/drawing/2014/main" id="{EABD03EE-894B-1E3D-E069-06A2F64873AA}"/>
              </a:ext>
            </a:extLst>
          </p:cNvPr>
          <p:cNvSpPr/>
          <p:nvPr/>
        </p:nvSpPr>
        <p:spPr>
          <a:xfrm>
            <a:off x="0" y="6692646"/>
            <a:ext cx="7670800" cy="165354"/>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3">
            <a:extLst>
              <a:ext uri="{FF2B5EF4-FFF2-40B4-BE49-F238E27FC236}">
                <a16:creationId xmlns:a16="http://schemas.microsoft.com/office/drawing/2014/main" id="{5AC4EA4F-120F-789B-D065-A38625CC95FF}"/>
              </a:ext>
            </a:extLst>
          </p:cNvPr>
          <p:cNvSpPr/>
          <p:nvPr/>
        </p:nvSpPr>
        <p:spPr>
          <a:xfrm>
            <a:off x="0" y="876554"/>
            <a:ext cx="915416" cy="5816092"/>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4">
            <a:extLst>
              <a:ext uri="{FF2B5EF4-FFF2-40B4-BE49-F238E27FC236}">
                <a16:creationId xmlns:a16="http://schemas.microsoft.com/office/drawing/2014/main" id="{3C9CC74D-CCC7-49CE-7D26-606E8F310C4D}"/>
              </a:ext>
            </a:extLst>
          </p:cNvPr>
          <p:cNvSpPr/>
          <p:nvPr/>
        </p:nvSpPr>
        <p:spPr>
          <a:xfrm>
            <a:off x="6780784" y="876554"/>
            <a:ext cx="890016" cy="5816092"/>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ocus">
            <a:extLst>
              <a:ext uri="{FF2B5EF4-FFF2-40B4-BE49-F238E27FC236}">
                <a16:creationId xmlns:a16="http://schemas.microsoft.com/office/drawing/2014/main" id="{F2CFDEA0-166C-0866-2FB9-B24C91C5C9E0}"/>
              </a:ext>
            </a:extLst>
          </p:cNvPr>
          <p:cNvSpPr/>
          <p:nvPr/>
        </p:nvSpPr>
        <p:spPr>
          <a:xfrm>
            <a:off x="1827784" y="4942586"/>
            <a:ext cx="4336288" cy="1626108"/>
          </a:xfrm>
          <a:prstGeom prst="rect">
            <a:avLst/>
          </a:prstGeom>
          <a:solidFill>
            <a:srgbClr val="83CBEB">
              <a:alpha val="37000"/>
            </a:srgbClr>
          </a:solidFill>
          <a:ln w="38100">
            <a:solidFill>
              <a:srgbClr val="46B1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ail">
            <a:extLst>
              <a:ext uri="{FF2B5EF4-FFF2-40B4-BE49-F238E27FC236}">
                <a16:creationId xmlns:a16="http://schemas.microsoft.com/office/drawing/2014/main" id="{82B19026-6B33-63D9-AD6E-841B3606E215}"/>
              </a:ext>
            </a:extLst>
          </p:cNvPr>
          <p:cNvSpPr/>
          <p:nvPr/>
        </p:nvSpPr>
        <p:spPr>
          <a:xfrm>
            <a:off x="7670800" y="685800"/>
            <a:ext cx="4521200" cy="61722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N30">
            <a:extLst>
              <a:ext uri="{FF2B5EF4-FFF2-40B4-BE49-F238E27FC236}">
                <a16:creationId xmlns:a16="http://schemas.microsoft.com/office/drawing/2014/main" id="{F043DFC0-3356-4B55-14A0-185F299265D9}"/>
              </a:ext>
            </a:extLst>
          </p:cNvPr>
          <p:cNvSpPr/>
          <p:nvPr/>
        </p:nvSpPr>
        <p:spPr>
          <a:xfrm>
            <a:off x="7797800" y="838200"/>
            <a:ext cx="4241800" cy="1929384"/>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Test 3, the rats’ flips (T): if the cues’ effect were the same on both days, each rat’s change could as well point the other way. Flip the signs every way (256 for 8 rats): only 3 sums reach the real one, P = 0.012.</a:t>
            </a:r>
          </a:p>
        </p:txBody>
      </p:sp>
      <p:sp>
        <p:nvSpPr>
          <p:cNvPr id="12" name="!!N31">
            <a:extLst>
              <a:ext uri="{FF2B5EF4-FFF2-40B4-BE49-F238E27FC236}">
                <a16:creationId xmlns:a16="http://schemas.microsoft.com/office/drawing/2014/main" id="{7A687E83-E5E8-517F-0FBA-CC9E0929E1B3}"/>
              </a:ext>
            </a:extLst>
          </p:cNvPr>
          <p:cNvSpPr/>
          <p:nvPr/>
        </p:nvSpPr>
        <p:spPr>
          <a:xfrm>
            <a:off x="12573000" y="1937004"/>
            <a:ext cx="4241800" cy="107899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Ups and downs together: FP P = 0.199, shuffles P = 0.187, rats’ flips P = 0.023.</a:t>
            </a:r>
          </a:p>
        </p:txBody>
      </p:sp>
      <p:sp>
        <p:nvSpPr>
          <p:cNvPr id="13" name="!!N29">
            <a:extLst>
              <a:ext uri="{FF2B5EF4-FFF2-40B4-BE49-F238E27FC236}">
                <a16:creationId xmlns:a16="http://schemas.microsoft.com/office/drawing/2014/main" id="{444E5E8C-8D88-11FE-A9BC-E535E1F4C4E4}"/>
              </a:ext>
            </a:extLst>
          </p:cNvPr>
          <p:cNvSpPr/>
          <p:nvPr/>
        </p:nvSpPr>
        <p:spPr>
          <a:xfrm>
            <a:off x="12573000" y="838200"/>
            <a:ext cx="4241800" cy="1929384"/>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Test 2, the shuffles (P, a toggle on tab 9): in every session, each trial’s baseline and cue swapped at random, 10,000 times. Single trials vary a lot, so the hill is wide: P = 0.085.</a:t>
            </a:r>
          </a:p>
        </p:txBody>
      </p:sp>
      <p:sp>
        <p:nvSpPr>
          <p:cNvPr id="14" name="!!T-BG">
            <a:extLst>
              <a:ext uri="{FF2B5EF4-FFF2-40B4-BE49-F238E27FC236}">
                <a16:creationId xmlns:a16="http://schemas.microsoft.com/office/drawing/2014/main" id="{B3315649-5637-9955-9D7B-F71391D0E4FF}"/>
              </a:ext>
            </a:extLst>
          </p:cNvPr>
          <p:cNvSpPr/>
          <p:nvPr/>
        </p:nvSpPr>
        <p:spPr>
          <a:xfrm>
            <a:off x="-381000" y="0"/>
            <a:ext cx="12954000" cy="685800"/>
          </a:xfrm>
          <a:prstGeom prst="snip2DiagRect">
            <a:avLst>
              <a:gd name="adj1" fmla="val 0"/>
              <a:gd name="adj2" fmla="val 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
            <a:extLst>
              <a:ext uri="{FF2B5EF4-FFF2-40B4-BE49-F238E27FC236}">
                <a16:creationId xmlns:a16="http://schemas.microsoft.com/office/drawing/2014/main" id="{62292474-A439-7075-974D-AC72578CCF15}"/>
              </a:ext>
            </a:extLst>
          </p:cNvPr>
          <p:cNvSpPr txBox="1"/>
          <p:nvPr/>
        </p:nvSpPr>
        <p:spPr>
          <a:xfrm>
            <a:off x="127000" y="0"/>
            <a:ext cx="11811000" cy="685800"/>
          </a:xfrm>
          <a:prstGeom prst="rect">
            <a:avLst/>
          </a:prstGeom>
          <a:noFill/>
        </p:spPr>
        <p:txBody>
          <a:bodyPr vert="horz" wrap="square" lIns="76200" tIns="25400" rIns="76200" bIns="25400" rtlCol="0" anchor="ctr">
            <a:noAutofit/>
          </a:bodyPr>
          <a:lstStyle/>
          <a:p>
            <a:pPr>
              <a:lnSpc>
                <a:spcPct val="95000"/>
              </a:lnSpc>
            </a:pPr>
            <a:r>
              <a:rPr lang="en-US" sz="2400" b="1" u="sng">
                <a:solidFill>
                  <a:srgbClr val="FFFFFF"/>
                </a:solidFill>
                <a:latin typeface="Aptos Display" panose="020B0004020202020204" pitchFamily="34" charset="0"/>
              </a:rPr>
              <a:t>Figure 2 · baseline → both cues · gamma</a:t>
            </a:r>
          </a:p>
        </p:txBody>
      </p:sp>
    </p:spTree>
    <p:extLst>
      <p:ext uri="{BB962C8B-B14F-4D97-AF65-F5344CB8AC3E}">
        <p14:creationId xmlns:p14="http://schemas.microsoft.com/office/powerpoint/2010/main" val="300814144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tage">
            <a:extLst>
              <a:ext uri="{FF2B5EF4-FFF2-40B4-BE49-F238E27FC236}">
                <a16:creationId xmlns:a16="http://schemas.microsoft.com/office/drawing/2014/main" id="{1C332B4C-C2F7-A877-0CFA-030A2A1407AA}"/>
              </a:ext>
            </a:extLst>
          </p:cNvPr>
          <p:cNvSpPr/>
          <p:nvPr/>
        </p:nvSpPr>
        <p:spPr>
          <a:xfrm>
            <a:off x="0" y="685800"/>
            <a:ext cx="7670800" cy="6172200"/>
          </a:xfrm>
          <a:prstGeom prst="rect">
            <a:avLst/>
          </a:prstGeom>
          <a:solidFill>
            <a:srgbClr val="ECEC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F2">
            <a:extLst>
              <a:ext uri="{FF2B5EF4-FFF2-40B4-BE49-F238E27FC236}">
                <a16:creationId xmlns:a16="http://schemas.microsoft.com/office/drawing/2014/main" id="{B5D94B22-57F3-1C9E-C584-7F958F98D021}"/>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11181080" y="-12353290"/>
            <a:ext cx="18031533" cy="20301121"/>
          </a:xfrm>
          <a:prstGeom prst="rect">
            <a:avLst/>
          </a:prstGeom>
          <a:ln w="9525">
            <a:solidFill>
              <a:srgbClr val="B0B0B0"/>
            </a:solidFill>
          </a:ln>
        </p:spPr>
      </p:pic>
      <p:sp>
        <p:nvSpPr>
          <p:cNvPr id="5" name="!!D1">
            <a:extLst>
              <a:ext uri="{FF2B5EF4-FFF2-40B4-BE49-F238E27FC236}">
                <a16:creationId xmlns:a16="http://schemas.microsoft.com/office/drawing/2014/main" id="{D2FB2A68-CCA1-304E-B5A0-5067F0D59D8A}"/>
              </a:ext>
            </a:extLst>
          </p:cNvPr>
          <p:cNvSpPr/>
          <p:nvPr/>
        </p:nvSpPr>
        <p:spPr>
          <a:xfrm>
            <a:off x="0" y="685800"/>
            <a:ext cx="7670800" cy="190754"/>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2">
            <a:extLst>
              <a:ext uri="{FF2B5EF4-FFF2-40B4-BE49-F238E27FC236}">
                <a16:creationId xmlns:a16="http://schemas.microsoft.com/office/drawing/2014/main" id="{BCD2D15A-CFEF-0192-6350-C8E82838BCC2}"/>
              </a:ext>
            </a:extLst>
          </p:cNvPr>
          <p:cNvSpPr/>
          <p:nvPr/>
        </p:nvSpPr>
        <p:spPr>
          <a:xfrm>
            <a:off x="0" y="6692646"/>
            <a:ext cx="7670800" cy="165354"/>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3">
            <a:extLst>
              <a:ext uri="{FF2B5EF4-FFF2-40B4-BE49-F238E27FC236}">
                <a16:creationId xmlns:a16="http://schemas.microsoft.com/office/drawing/2014/main" id="{746E7521-64A5-1063-14F3-802F10877574}"/>
              </a:ext>
            </a:extLst>
          </p:cNvPr>
          <p:cNvSpPr/>
          <p:nvPr/>
        </p:nvSpPr>
        <p:spPr>
          <a:xfrm>
            <a:off x="0" y="876554"/>
            <a:ext cx="915416" cy="5816092"/>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4">
            <a:extLst>
              <a:ext uri="{FF2B5EF4-FFF2-40B4-BE49-F238E27FC236}">
                <a16:creationId xmlns:a16="http://schemas.microsoft.com/office/drawing/2014/main" id="{735E3659-051D-4D85-5C83-65F46555D1A1}"/>
              </a:ext>
            </a:extLst>
          </p:cNvPr>
          <p:cNvSpPr/>
          <p:nvPr/>
        </p:nvSpPr>
        <p:spPr>
          <a:xfrm>
            <a:off x="6780784" y="876554"/>
            <a:ext cx="890016" cy="5816092"/>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ocus">
            <a:extLst>
              <a:ext uri="{FF2B5EF4-FFF2-40B4-BE49-F238E27FC236}">
                <a16:creationId xmlns:a16="http://schemas.microsoft.com/office/drawing/2014/main" id="{49B6CF22-76FE-EEF0-A03A-810FAB8FC949}"/>
              </a:ext>
            </a:extLst>
          </p:cNvPr>
          <p:cNvSpPr/>
          <p:nvPr/>
        </p:nvSpPr>
        <p:spPr>
          <a:xfrm>
            <a:off x="1827784" y="4942586"/>
            <a:ext cx="4336288" cy="1626108"/>
          </a:xfrm>
          <a:prstGeom prst="rect">
            <a:avLst/>
          </a:prstGeom>
          <a:solidFill>
            <a:srgbClr val="83CBEB">
              <a:alpha val="37000"/>
            </a:srgbClr>
          </a:solidFill>
          <a:ln w="38100">
            <a:solidFill>
              <a:srgbClr val="46B1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ail">
            <a:extLst>
              <a:ext uri="{FF2B5EF4-FFF2-40B4-BE49-F238E27FC236}">
                <a16:creationId xmlns:a16="http://schemas.microsoft.com/office/drawing/2014/main" id="{739794B1-47EF-3BFE-F266-BA15FC42FBF5}"/>
              </a:ext>
            </a:extLst>
          </p:cNvPr>
          <p:cNvSpPr/>
          <p:nvPr/>
        </p:nvSpPr>
        <p:spPr>
          <a:xfrm>
            <a:off x="7670800" y="685800"/>
            <a:ext cx="4521200" cy="61722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N30">
            <a:extLst>
              <a:ext uri="{FF2B5EF4-FFF2-40B4-BE49-F238E27FC236}">
                <a16:creationId xmlns:a16="http://schemas.microsoft.com/office/drawing/2014/main" id="{36639B3A-F27B-E56A-AA1E-3CEF57269142}"/>
              </a:ext>
            </a:extLst>
          </p:cNvPr>
          <p:cNvSpPr/>
          <p:nvPr/>
        </p:nvSpPr>
        <p:spPr>
          <a:xfrm>
            <a:off x="7797800" y="838200"/>
            <a:ext cx="4241800" cy="984504"/>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Test 3, the rats’ flips (T): if the cues’ effect were the same on both days, each rat’s change could as well point the other way. Flip the signs every way (256 for 8 rats): only 3 sums reach the real one, P = 0.012.</a:t>
            </a:r>
          </a:p>
        </p:txBody>
      </p:sp>
      <p:sp>
        <p:nvSpPr>
          <p:cNvPr id="12" name="!!N31">
            <a:extLst>
              <a:ext uri="{FF2B5EF4-FFF2-40B4-BE49-F238E27FC236}">
                <a16:creationId xmlns:a16="http://schemas.microsoft.com/office/drawing/2014/main" id="{CDC2468F-1A14-5B8F-93F9-B558C0EE666C}"/>
              </a:ext>
            </a:extLst>
          </p:cNvPr>
          <p:cNvSpPr/>
          <p:nvPr/>
        </p:nvSpPr>
        <p:spPr>
          <a:xfrm>
            <a:off x="7797800" y="1937004"/>
            <a:ext cx="4241800" cy="107899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Ups and downs together: FP P = 0.199, shuffles P = 0.187, rats’ flips P = 0.023.</a:t>
            </a:r>
          </a:p>
        </p:txBody>
      </p:sp>
      <p:sp>
        <p:nvSpPr>
          <p:cNvPr id="13" name="!!N32">
            <a:extLst>
              <a:ext uri="{FF2B5EF4-FFF2-40B4-BE49-F238E27FC236}">
                <a16:creationId xmlns:a16="http://schemas.microsoft.com/office/drawing/2014/main" id="{4E3A6C5D-631E-14E3-52A6-D9CBF7FCCAD0}"/>
              </a:ext>
            </a:extLst>
          </p:cNvPr>
          <p:cNvSpPr/>
          <p:nvPr/>
        </p:nvSpPr>
        <p:spPr>
          <a:xfrm>
            <a:off x="12573000" y="2657856"/>
            <a:ext cx="4241800" cy="1362456"/>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Neither day’s cue effect passes a test on its own (Precon1 P = 0.055 at best, Precon4 P = 0.359): it is the change between them.</a:t>
            </a:r>
          </a:p>
        </p:txBody>
      </p:sp>
      <p:sp>
        <p:nvSpPr>
          <p:cNvPr id="14" name="!!T-BG">
            <a:extLst>
              <a:ext uri="{FF2B5EF4-FFF2-40B4-BE49-F238E27FC236}">
                <a16:creationId xmlns:a16="http://schemas.microsoft.com/office/drawing/2014/main" id="{70B91E88-DF35-E20A-5F98-E2435C8AFBED}"/>
              </a:ext>
            </a:extLst>
          </p:cNvPr>
          <p:cNvSpPr/>
          <p:nvPr/>
        </p:nvSpPr>
        <p:spPr>
          <a:xfrm>
            <a:off x="-381000" y="0"/>
            <a:ext cx="12954000" cy="685800"/>
          </a:xfrm>
          <a:prstGeom prst="snip2DiagRect">
            <a:avLst>
              <a:gd name="adj1" fmla="val 0"/>
              <a:gd name="adj2" fmla="val 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
            <a:extLst>
              <a:ext uri="{FF2B5EF4-FFF2-40B4-BE49-F238E27FC236}">
                <a16:creationId xmlns:a16="http://schemas.microsoft.com/office/drawing/2014/main" id="{4DF866BB-1A63-EEB8-0C3A-E5588D743542}"/>
              </a:ext>
            </a:extLst>
          </p:cNvPr>
          <p:cNvSpPr txBox="1"/>
          <p:nvPr/>
        </p:nvSpPr>
        <p:spPr>
          <a:xfrm>
            <a:off x="127000" y="0"/>
            <a:ext cx="11811000" cy="685800"/>
          </a:xfrm>
          <a:prstGeom prst="rect">
            <a:avLst/>
          </a:prstGeom>
          <a:noFill/>
        </p:spPr>
        <p:txBody>
          <a:bodyPr vert="horz" wrap="square" lIns="76200" tIns="25400" rIns="76200" bIns="25400" rtlCol="0" anchor="ctr">
            <a:noAutofit/>
          </a:bodyPr>
          <a:lstStyle/>
          <a:p>
            <a:pPr>
              <a:lnSpc>
                <a:spcPct val="95000"/>
              </a:lnSpc>
            </a:pPr>
            <a:r>
              <a:rPr lang="en-US" sz="2400" b="1" u="sng">
                <a:solidFill>
                  <a:srgbClr val="FFFFFF"/>
                </a:solidFill>
                <a:latin typeface="Aptos Display" panose="020B0004020202020204" pitchFamily="34" charset="0"/>
              </a:rPr>
              <a:t>Figure 2 · baseline → both cues · gamma</a:t>
            </a:r>
          </a:p>
        </p:txBody>
      </p:sp>
    </p:spTree>
    <p:extLst>
      <p:ext uri="{BB962C8B-B14F-4D97-AF65-F5344CB8AC3E}">
        <p14:creationId xmlns:p14="http://schemas.microsoft.com/office/powerpoint/2010/main" val="278732570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tage">
            <a:extLst>
              <a:ext uri="{FF2B5EF4-FFF2-40B4-BE49-F238E27FC236}">
                <a16:creationId xmlns:a16="http://schemas.microsoft.com/office/drawing/2014/main" id="{D1D35975-5AF0-8972-05E5-DBB96B651B81}"/>
              </a:ext>
            </a:extLst>
          </p:cNvPr>
          <p:cNvSpPr/>
          <p:nvPr/>
        </p:nvSpPr>
        <p:spPr>
          <a:xfrm>
            <a:off x="0" y="685800"/>
            <a:ext cx="7670800" cy="6172200"/>
          </a:xfrm>
          <a:prstGeom prst="rect">
            <a:avLst/>
          </a:prstGeom>
          <a:solidFill>
            <a:srgbClr val="ECEC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F2">
            <a:extLst>
              <a:ext uri="{FF2B5EF4-FFF2-40B4-BE49-F238E27FC236}">
                <a16:creationId xmlns:a16="http://schemas.microsoft.com/office/drawing/2014/main" id="{C6F58127-C33A-069C-1385-6635DEF4870B}"/>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1287723" y="901954"/>
            <a:ext cx="5120754" cy="5765292"/>
          </a:xfrm>
          <a:prstGeom prst="rect">
            <a:avLst/>
          </a:prstGeom>
          <a:ln w="9525">
            <a:solidFill>
              <a:srgbClr val="B0B0B0"/>
            </a:solidFill>
          </a:ln>
        </p:spPr>
      </p:pic>
      <p:sp>
        <p:nvSpPr>
          <p:cNvPr id="5" name="!!D1">
            <a:extLst>
              <a:ext uri="{FF2B5EF4-FFF2-40B4-BE49-F238E27FC236}">
                <a16:creationId xmlns:a16="http://schemas.microsoft.com/office/drawing/2014/main" id="{58A57AA1-78F8-EE17-37B1-AC31C99E71CD}"/>
              </a:ext>
            </a:extLst>
          </p:cNvPr>
          <p:cNvSpPr/>
          <p:nvPr/>
        </p:nvSpPr>
        <p:spPr>
          <a:xfrm>
            <a:off x="0" y="685800"/>
            <a:ext cx="7670800" cy="635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2">
            <a:extLst>
              <a:ext uri="{FF2B5EF4-FFF2-40B4-BE49-F238E27FC236}">
                <a16:creationId xmlns:a16="http://schemas.microsoft.com/office/drawing/2014/main" id="{092EE20E-F045-D7F9-6ABE-AF1657D5A051}"/>
              </a:ext>
            </a:extLst>
          </p:cNvPr>
          <p:cNvSpPr/>
          <p:nvPr/>
        </p:nvSpPr>
        <p:spPr>
          <a:xfrm>
            <a:off x="0" y="6858000"/>
            <a:ext cx="7670800" cy="635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3">
            <a:extLst>
              <a:ext uri="{FF2B5EF4-FFF2-40B4-BE49-F238E27FC236}">
                <a16:creationId xmlns:a16="http://schemas.microsoft.com/office/drawing/2014/main" id="{EA1F541E-DA38-F658-4EAD-6711FF3B3336}"/>
              </a:ext>
            </a:extLst>
          </p:cNvPr>
          <p:cNvSpPr/>
          <p:nvPr/>
        </p:nvSpPr>
        <p:spPr>
          <a:xfrm>
            <a:off x="0" y="685800"/>
            <a:ext cx="6350" cy="617220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4">
            <a:extLst>
              <a:ext uri="{FF2B5EF4-FFF2-40B4-BE49-F238E27FC236}">
                <a16:creationId xmlns:a16="http://schemas.microsoft.com/office/drawing/2014/main" id="{EECE9035-B0D9-C69F-4E0A-2C5756E1E63E}"/>
              </a:ext>
            </a:extLst>
          </p:cNvPr>
          <p:cNvSpPr/>
          <p:nvPr/>
        </p:nvSpPr>
        <p:spPr>
          <a:xfrm>
            <a:off x="7670800" y="685800"/>
            <a:ext cx="6350" cy="617220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ocus">
            <a:extLst>
              <a:ext uri="{FF2B5EF4-FFF2-40B4-BE49-F238E27FC236}">
                <a16:creationId xmlns:a16="http://schemas.microsoft.com/office/drawing/2014/main" id="{5BC168FD-13FF-2D08-DD85-5088331BDFF5}"/>
              </a:ext>
            </a:extLst>
          </p:cNvPr>
          <p:cNvSpPr/>
          <p:nvPr/>
        </p:nvSpPr>
        <p:spPr>
          <a:xfrm>
            <a:off x="1315710" y="1041892"/>
            <a:ext cx="5093756" cy="1819199"/>
          </a:xfrm>
          <a:prstGeom prst="rect">
            <a:avLst/>
          </a:prstGeom>
          <a:solidFill>
            <a:srgbClr val="83CBEB">
              <a:alpha val="37000"/>
            </a:srgbClr>
          </a:solidFill>
          <a:ln w="38100">
            <a:solidFill>
              <a:srgbClr val="46B1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ocus2">
            <a:extLst>
              <a:ext uri="{FF2B5EF4-FFF2-40B4-BE49-F238E27FC236}">
                <a16:creationId xmlns:a16="http://schemas.microsoft.com/office/drawing/2014/main" id="{D7E14E39-A919-7341-5B29-854C1AEF28A0}"/>
              </a:ext>
            </a:extLst>
          </p:cNvPr>
          <p:cNvSpPr/>
          <p:nvPr/>
        </p:nvSpPr>
        <p:spPr>
          <a:xfrm>
            <a:off x="1315710" y="2777128"/>
            <a:ext cx="5093756" cy="1819198"/>
          </a:xfrm>
          <a:prstGeom prst="rect">
            <a:avLst/>
          </a:prstGeom>
          <a:solidFill>
            <a:srgbClr val="83CBEB">
              <a:alpha val="37000"/>
            </a:srgbClr>
          </a:solidFill>
          <a:ln w="38100">
            <a:solidFill>
              <a:srgbClr val="46B1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ail">
            <a:extLst>
              <a:ext uri="{FF2B5EF4-FFF2-40B4-BE49-F238E27FC236}">
                <a16:creationId xmlns:a16="http://schemas.microsoft.com/office/drawing/2014/main" id="{ACD1B7E2-4168-FE9C-39EC-2533BCDB9C63}"/>
              </a:ext>
            </a:extLst>
          </p:cNvPr>
          <p:cNvSpPr/>
          <p:nvPr/>
        </p:nvSpPr>
        <p:spPr>
          <a:xfrm>
            <a:off x="7670800" y="685800"/>
            <a:ext cx="4521200" cy="61722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N30">
            <a:extLst>
              <a:ext uri="{FF2B5EF4-FFF2-40B4-BE49-F238E27FC236}">
                <a16:creationId xmlns:a16="http://schemas.microsoft.com/office/drawing/2014/main" id="{ED0CD390-FBEA-E47B-D0EC-076D6BABBD31}"/>
              </a:ext>
            </a:extLst>
          </p:cNvPr>
          <p:cNvSpPr/>
          <p:nvPr/>
        </p:nvSpPr>
        <p:spPr>
          <a:xfrm>
            <a:off x="7797800" y="838200"/>
            <a:ext cx="4241800" cy="984504"/>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Test 3, the rats’ flips (T): if the cues’ effect were the same on both days, each rat’s change could as well point the other way. Flip the signs every way (256 for 8 rats): only 3 sums reach the real one, P = 0.012.</a:t>
            </a:r>
          </a:p>
        </p:txBody>
      </p:sp>
      <p:sp>
        <p:nvSpPr>
          <p:cNvPr id="13" name="!!N31">
            <a:extLst>
              <a:ext uri="{FF2B5EF4-FFF2-40B4-BE49-F238E27FC236}">
                <a16:creationId xmlns:a16="http://schemas.microsoft.com/office/drawing/2014/main" id="{3B730507-4494-70C3-4D0F-2BC36C18E899}"/>
              </a:ext>
            </a:extLst>
          </p:cNvPr>
          <p:cNvSpPr/>
          <p:nvPr/>
        </p:nvSpPr>
        <p:spPr>
          <a:xfrm>
            <a:off x="7797800" y="1937004"/>
            <a:ext cx="4241800" cy="60655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Ups and downs together: FP P = 0.199, shuffles P = 0.187, rats’ flips P = 0.023.</a:t>
            </a:r>
          </a:p>
        </p:txBody>
      </p:sp>
      <p:sp>
        <p:nvSpPr>
          <p:cNvPr id="14" name="!!N32">
            <a:extLst>
              <a:ext uri="{FF2B5EF4-FFF2-40B4-BE49-F238E27FC236}">
                <a16:creationId xmlns:a16="http://schemas.microsoft.com/office/drawing/2014/main" id="{1F74F2A5-E7F0-C467-3E85-E73EA04AE55F}"/>
              </a:ext>
            </a:extLst>
          </p:cNvPr>
          <p:cNvSpPr/>
          <p:nvPr/>
        </p:nvSpPr>
        <p:spPr>
          <a:xfrm>
            <a:off x="7797800" y="2657856"/>
            <a:ext cx="4241800" cy="1362456"/>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Neither day’s cue effect passes a test on its own (Precon1 P = 0.055 at best, Precon4 P = 0.359): it is the change between them.</a:t>
            </a:r>
          </a:p>
        </p:txBody>
      </p:sp>
      <p:sp>
        <p:nvSpPr>
          <p:cNvPr id="15" name="!!N33">
            <a:extLst>
              <a:ext uri="{FF2B5EF4-FFF2-40B4-BE49-F238E27FC236}">
                <a16:creationId xmlns:a16="http://schemas.microsoft.com/office/drawing/2014/main" id="{5C55F777-2E6A-BE7D-03CE-284822E90EED}"/>
              </a:ext>
            </a:extLst>
          </p:cNvPr>
          <p:cNvSpPr/>
          <p:nvPr/>
        </p:nvSpPr>
        <p:spPr>
          <a:xfrm>
            <a:off x="12573000" y="838200"/>
            <a:ext cx="4241800" cy="1645920"/>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So: the increases pass only the rats’ flips, the test that matches tab 8’s light; neither FP nor the shuffles confirm it. Figure 2 is a lead, not a finding.</a:t>
            </a:r>
          </a:p>
        </p:txBody>
      </p:sp>
      <p:sp>
        <p:nvSpPr>
          <p:cNvPr id="16" name="!!T-BG">
            <a:extLst>
              <a:ext uri="{FF2B5EF4-FFF2-40B4-BE49-F238E27FC236}">
                <a16:creationId xmlns:a16="http://schemas.microsoft.com/office/drawing/2014/main" id="{3C55EFE9-725D-3AA0-B755-01F60028678D}"/>
              </a:ext>
            </a:extLst>
          </p:cNvPr>
          <p:cNvSpPr/>
          <p:nvPr/>
        </p:nvSpPr>
        <p:spPr>
          <a:xfrm>
            <a:off x="-381000" y="0"/>
            <a:ext cx="12954000" cy="685800"/>
          </a:xfrm>
          <a:prstGeom prst="snip2DiagRect">
            <a:avLst>
              <a:gd name="adj1" fmla="val 0"/>
              <a:gd name="adj2" fmla="val 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
            <a:extLst>
              <a:ext uri="{FF2B5EF4-FFF2-40B4-BE49-F238E27FC236}">
                <a16:creationId xmlns:a16="http://schemas.microsoft.com/office/drawing/2014/main" id="{F452FD0C-EE14-9819-039C-157B84A1CE18}"/>
              </a:ext>
            </a:extLst>
          </p:cNvPr>
          <p:cNvSpPr txBox="1"/>
          <p:nvPr/>
        </p:nvSpPr>
        <p:spPr>
          <a:xfrm>
            <a:off x="127000" y="0"/>
            <a:ext cx="11811000" cy="685800"/>
          </a:xfrm>
          <a:prstGeom prst="rect">
            <a:avLst/>
          </a:prstGeom>
          <a:noFill/>
        </p:spPr>
        <p:txBody>
          <a:bodyPr vert="horz" wrap="square" lIns="76200" tIns="25400" rIns="76200" bIns="25400" rtlCol="0" anchor="ctr">
            <a:noAutofit/>
          </a:bodyPr>
          <a:lstStyle/>
          <a:p>
            <a:pPr>
              <a:lnSpc>
                <a:spcPct val="95000"/>
              </a:lnSpc>
            </a:pPr>
            <a:r>
              <a:rPr lang="en-US" sz="2400" b="1" u="sng">
                <a:solidFill>
                  <a:srgbClr val="FFFFFF"/>
                </a:solidFill>
                <a:latin typeface="Aptos Display" panose="020B0004020202020204" pitchFamily="34" charset="0"/>
              </a:rPr>
              <a:t>Figure 2 · baseline → both cues · gamma</a:t>
            </a:r>
          </a:p>
        </p:txBody>
      </p:sp>
    </p:spTree>
    <p:extLst>
      <p:ext uri="{BB962C8B-B14F-4D97-AF65-F5344CB8AC3E}">
        <p14:creationId xmlns:p14="http://schemas.microsoft.com/office/powerpoint/2010/main" val="157762381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tage">
            <a:extLst>
              <a:ext uri="{FF2B5EF4-FFF2-40B4-BE49-F238E27FC236}">
                <a16:creationId xmlns:a16="http://schemas.microsoft.com/office/drawing/2014/main" id="{38CD9476-13FD-7294-07ED-A531A00D4471}"/>
              </a:ext>
            </a:extLst>
          </p:cNvPr>
          <p:cNvSpPr/>
          <p:nvPr/>
        </p:nvSpPr>
        <p:spPr>
          <a:xfrm>
            <a:off x="0" y="685800"/>
            <a:ext cx="7670800" cy="6172200"/>
          </a:xfrm>
          <a:prstGeom prst="rect">
            <a:avLst/>
          </a:prstGeom>
          <a:solidFill>
            <a:srgbClr val="ECEC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F2">
            <a:extLst>
              <a:ext uri="{FF2B5EF4-FFF2-40B4-BE49-F238E27FC236}">
                <a16:creationId xmlns:a16="http://schemas.microsoft.com/office/drawing/2014/main" id="{2715BA58-0491-B184-4D69-2F6D9E942125}"/>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143256" y="-12353290"/>
            <a:ext cx="18031533" cy="20301121"/>
          </a:xfrm>
          <a:prstGeom prst="rect">
            <a:avLst/>
          </a:prstGeom>
          <a:ln w="9525">
            <a:solidFill>
              <a:srgbClr val="B0B0B0"/>
            </a:solidFill>
          </a:ln>
        </p:spPr>
      </p:pic>
      <p:sp>
        <p:nvSpPr>
          <p:cNvPr id="5" name="!!D1">
            <a:extLst>
              <a:ext uri="{FF2B5EF4-FFF2-40B4-BE49-F238E27FC236}">
                <a16:creationId xmlns:a16="http://schemas.microsoft.com/office/drawing/2014/main" id="{CF05041A-2995-7A80-F419-414A83000102}"/>
              </a:ext>
            </a:extLst>
          </p:cNvPr>
          <p:cNvSpPr/>
          <p:nvPr/>
        </p:nvSpPr>
        <p:spPr>
          <a:xfrm>
            <a:off x="0" y="685800"/>
            <a:ext cx="7670800" cy="190754"/>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2">
            <a:extLst>
              <a:ext uri="{FF2B5EF4-FFF2-40B4-BE49-F238E27FC236}">
                <a16:creationId xmlns:a16="http://schemas.microsoft.com/office/drawing/2014/main" id="{04033678-D2F5-1560-89E5-427E482B3524}"/>
              </a:ext>
            </a:extLst>
          </p:cNvPr>
          <p:cNvSpPr/>
          <p:nvPr/>
        </p:nvSpPr>
        <p:spPr>
          <a:xfrm>
            <a:off x="0" y="6692646"/>
            <a:ext cx="7670800" cy="165354"/>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3">
            <a:extLst>
              <a:ext uri="{FF2B5EF4-FFF2-40B4-BE49-F238E27FC236}">
                <a16:creationId xmlns:a16="http://schemas.microsoft.com/office/drawing/2014/main" id="{1C078F17-E3A7-E3A1-A6C0-E06BCCD5115C}"/>
              </a:ext>
            </a:extLst>
          </p:cNvPr>
          <p:cNvSpPr/>
          <p:nvPr/>
        </p:nvSpPr>
        <p:spPr>
          <a:xfrm>
            <a:off x="0" y="876554"/>
            <a:ext cx="915416" cy="5816092"/>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4">
            <a:extLst>
              <a:ext uri="{FF2B5EF4-FFF2-40B4-BE49-F238E27FC236}">
                <a16:creationId xmlns:a16="http://schemas.microsoft.com/office/drawing/2014/main" id="{824CDFC8-0CB1-EA8F-847F-621F25D0487A}"/>
              </a:ext>
            </a:extLst>
          </p:cNvPr>
          <p:cNvSpPr/>
          <p:nvPr/>
        </p:nvSpPr>
        <p:spPr>
          <a:xfrm>
            <a:off x="6780784" y="876554"/>
            <a:ext cx="890016" cy="5816092"/>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ocus">
            <a:extLst>
              <a:ext uri="{FF2B5EF4-FFF2-40B4-BE49-F238E27FC236}">
                <a16:creationId xmlns:a16="http://schemas.microsoft.com/office/drawing/2014/main" id="{1BF30BB8-58B6-12E1-5E6A-00203D10F421}"/>
              </a:ext>
            </a:extLst>
          </p:cNvPr>
          <p:cNvSpPr/>
          <p:nvPr/>
        </p:nvSpPr>
        <p:spPr>
          <a:xfrm>
            <a:off x="1827784" y="4942586"/>
            <a:ext cx="4336288" cy="1626108"/>
          </a:xfrm>
          <a:prstGeom prst="rect">
            <a:avLst/>
          </a:prstGeom>
          <a:solidFill>
            <a:srgbClr val="83CBEB">
              <a:alpha val="37000"/>
            </a:srgbClr>
          </a:solidFill>
          <a:ln w="38100">
            <a:solidFill>
              <a:srgbClr val="46B1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ail">
            <a:extLst>
              <a:ext uri="{FF2B5EF4-FFF2-40B4-BE49-F238E27FC236}">
                <a16:creationId xmlns:a16="http://schemas.microsoft.com/office/drawing/2014/main" id="{224DC099-62BC-BEE1-A0A3-9128AB27325E}"/>
              </a:ext>
            </a:extLst>
          </p:cNvPr>
          <p:cNvSpPr/>
          <p:nvPr/>
        </p:nvSpPr>
        <p:spPr>
          <a:xfrm>
            <a:off x="7670800" y="685800"/>
            <a:ext cx="4521200" cy="61722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N33">
            <a:extLst>
              <a:ext uri="{FF2B5EF4-FFF2-40B4-BE49-F238E27FC236}">
                <a16:creationId xmlns:a16="http://schemas.microsoft.com/office/drawing/2014/main" id="{DCE6E703-F7BC-7456-67DA-CC0AEBC87D0A}"/>
              </a:ext>
            </a:extLst>
          </p:cNvPr>
          <p:cNvSpPr/>
          <p:nvPr/>
        </p:nvSpPr>
        <p:spPr>
          <a:xfrm>
            <a:off x="7797800" y="838200"/>
            <a:ext cx="4241800" cy="1645920"/>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So: the increases pass only the rats’ flips, the test that matches tab 8’s light; neither FP nor the shuffles confirm it. Figure 2 is a lead, not a finding.</a:t>
            </a:r>
          </a:p>
        </p:txBody>
      </p:sp>
      <p:sp>
        <p:nvSpPr>
          <p:cNvPr id="12" name="!!N30">
            <a:extLst>
              <a:ext uri="{FF2B5EF4-FFF2-40B4-BE49-F238E27FC236}">
                <a16:creationId xmlns:a16="http://schemas.microsoft.com/office/drawing/2014/main" id="{6BAE7ED7-A2A5-16EA-F6BF-CE5E12DB1C8F}"/>
              </a:ext>
            </a:extLst>
          </p:cNvPr>
          <p:cNvSpPr/>
          <p:nvPr/>
        </p:nvSpPr>
        <p:spPr>
          <a:xfrm>
            <a:off x="12573000" y="838200"/>
            <a:ext cx="4241800" cy="984504"/>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Test 3, the rats’ flips (T): if the cues’ effect were the same on both days, each rat’s change could as well point the other way. Flip the signs every way (256 for 8 rats): only 3 sums reach the real one, P = 0.012.</a:t>
            </a:r>
          </a:p>
        </p:txBody>
      </p:sp>
      <p:sp>
        <p:nvSpPr>
          <p:cNvPr id="13" name="!!N31">
            <a:extLst>
              <a:ext uri="{FF2B5EF4-FFF2-40B4-BE49-F238E27FC236}">
                <a16:creationId xmlns:a16="http://schemas.microsoft.com/office/drawing/2014/main" id="{CCF509B2-CEEB-F614-33B1-E77D7BEAB36A}"/>
              </a:ext>
            </a:extLst>
          </p:cNvPr>
          <p:cNvSpPr/>
          <p:nvPr/>
        </p:nvSpPr>
        <p:spPr>
          <a:xfrm>
            <a:off x="12573000" y="1937004"/>
            <a:ext cx="4241800" cy="60655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Ups and downs together: FP P = 0.199, shuffles P = 0.187, rats’ flips P = 0.023.</a:t>
            </a:r>
          </a:p>
        </p:txBody>
      </p:sp>
      <p:sp>
        <p:nvSpPr>
          <p:cNvPr id="14" name="!!N32">
            <a:extLst>
              <a:ext uri="{FF2B5EF4-FFF2-40B4-BE49-F238E27FC236}">
                <a16:creationId xmlns:a16="http://schemas.microsoft.com/office/drawing/2014/main" id="{C2047470-9313-8EC8-C903-0986123181EE}"/>
              </a:ext>
            </a:extLst>
          </p:cNvPr>
          <p:cNvSpPr/>
          <p:nvPr/>
        </p:nvSpPr>
        <p:spPr>
          <a:xfrm>
            <a:off x="12573000" y="2657856"/>
            <a:ext cx="4241800" cy="1362456"/>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Neither day’s cue effect passes a test on its own (Precon1 P = 0.055 at best, Precon4 P = 0.359): it is the change between them.</a:t>
            </a:r>
          </a:p>
        </p:txBody>
      </p:sp>
      <p:sp>
        <p:nvSpPr>
          <p:cNvPr id="15" name="!!T-BG">
            <a:extLst>
              <a:ext uri="{FF2B5EF4-FFF2-40B4-BE49-F238E27FC236}">
                <a16:creationId xmlns:a16="http://schemas.microsoft.com/office/drawing/2014/main" id="{EF8A94CA-A40B-2CB2-5C30-680D63443C05}"/>
              </a:ext>
            </a:extLst>
          </p:cNvPr>
          <p:cNvSpPr/>
          <p:nvPr/>
        </p:nvSpPr>
        <p:spPr>
          <a:xfrm>
            <a:off x="-381000" y="0"/>
            <a:ext cx="12954000" cy="685800"/>
          </a:xfrm>
          <a:prstGeom prst="snip2DiagRect">
            <a:avLst>
              <a:gd name="adj1" fmla="val 0"/>
              <a:gd name="adj2" fmla="val 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
            <a:extLst>
              <a:ext uri="{FF2B5EF4-FFF2-40B4-BE49-F238E27FC236}">
                <a16:creationId xmlns:a16="http://schemas.microsoft.com/office/drawing/2014/main" id="{D9550D40-A567-649A-F22A-EE8D52E2A480}"/>
              </a:ext>
            </a:extLst>
          </p:cNvPr>
          <p:cNvSpPr txBox="1"/>
          <p:nvPr/>
        </p:nvSpPr>
        <p:spPr>
          <a:xfrm>
            <a:off x="127000" y="0"/>
            <a:ext cx="11811000" cy="685800"/>
          </a:xfrm>
          <a:prstGeom prst="rect">
            <a:avLst/>
          </a:prstGeom>
          <a:noFill/>
        </p:spPr>
        <p:txBody>
          <a:bodyPr vert="horz" wrap="square" lIns="76200" tIns="25400" rIns="76200" bIns="25400" rtlCol="0" anchor="ctr">
            <a:noAutofit/>
          </a:bodyPr>
          <a:lstStyle/>
          <a:p>
            <a:pPr>
              <a:lnSpc>
                <a:spcPct val="95000"/>
              </a:lnSpc>
            </a:pPr>
            <a:r>
              <a:rPr lang="en-US" sz="2400" b="1" u="sng">
                <a:solidFill>
                  <a:srgbClr val="FFFFFF"/>
                </a:solidFill>
                <a:latin typeface="Aptos Display" panose="020B0004020202020204" pitchFamily="34" charset="0"/>
              </a:rPr>
              <a:t>Figure 2 · baseline → both cues · gamma</a:t>
            </a:r>
          </a:p>
        </p:txBody>
      </p:sp>
    </p:spTree>
    <p:extLst>
      <p:ext uri="{BB962C8B-B14F-4D97-AF65-F5344CB8AC3E}">
        <p14:creationId xmlns:p14="http://schemas.microsoft.com/office/powerpoint/2010/main" val="146629979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tage">
            <a:extLst>
              <a:ext uri="{FF2B5EF4-FFF2-40B4-BE49-F238E27FC236}">
                <a16:creationId xmlns:a16="http://schemas.microsoft.com/office/drawing/2014/main" id="{498AC07B-32AA-8918-A5E8-00E4695DCDF8}"/>
              </a:ext>
            </a:extLst>
          </p:cNvPr>
          <p:cNvSpPr/>
          <p:nvPr/>
        </p:nvSpPr>
        <p:spPr>
          <a:xfrm>
            <a:off x="0" y="685800"/>
            <a:ext cx="7670800" cy="6172200"/>
          </a:xfrm>
          <a:prstGeom prst="rect">
            <a:avLst/>
          </a:prstGeom>
          <a:solidFill>
            <a:srgbClr val="ECEC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F4_fp">
            <a:extLst>
              <a:ext uri="{FF2B5EF4-FFF2-40B4-BE49-F238E27FC236}">
                <a16:creationId xmlns:a16="http://schemas.microsoft.com/office/drawing/2014/main" id="{FE1E61FB-7314-4EBA-FFD2-21E8EB2B0CF4}"/>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1287723" y="901954"/>
            <a:ext cx="5120754" cy="5765292"/>
          </a:xfrm>
          <a:prstGeom prst="rect">
            <a:avLst/>
          </a:prstGeom>
          <a:ln w="9525">
            <a:solidFill>
              <a:srgbClr val="B0B0B0"/>
            </a:solidFill>
          </a:ln>
        </p:spPr>
      </p:pic>
      <p:sp>
        <p:nvSpPr>
          <p:cNvPr id="5" name="!!D1">
            <a:extLst>
              <a:ext uri="{FF2B5EF4-FFF2-40B4-BE49-F238E27FC236}">
                <a16:creationId xmlns:a16="http://schemas.microsoft.com/office/drawing/2014/main" id="{5B7E6302-8654-46A5-48E0-42EA2F085707}"/>
              </a:ext>
            </a:extLst>
          </p:cNvPr>
          <p:cNvSpPr/>
          <p:nvPr/>
        </p:nvSpPr>
        <p:spPr>
          <a:xfrm>
            <a:off x="0" y="685800"/>
            <a:ext cx="7670800" cy="635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2">
            <a:extLst>
              <a:ext uri="{FF2B5EF4-FFF2-40B4-BE49-F238E27FC236}">
                <a16:creationId xmlns:a16="http://schemas.microsoft.com/office/drawing/2014/main" id="{04BD40ED-10B1-E68F-FB9F-B3E5C9F91530}"/>
              </a:ext>
            </a:extLst>
          </p:cNvPr>
          <p:cNvSpPr/>
          <p:nvPr/>
        </p:nvSpPr>
        <p:spPr>
          <a:xfrm>
            <a:off x="0" y="6858000"/>
            <a:ext cx="7670800" cy="635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3">
            <a:extLst>
              <a:ext uri="{FF2B5EF4-FFF2-40B4-BE49-F238E27FC236}">
                <a16:creationId xmlns:a16="http://schemas.microsoft.com/office/drawing/2014/main" id="{984EECF0-9411-EAF0-79AC-B2BFCB794D05}"/>
              </a:ext>
            </a:extLst>
          </p:cNvPr>
          <p:cNvSpPr/>
          <p:nvPr/>
        </p:nvSpPr>
        <p:spPr>
          <a:xfrm>
            <a:off x="0" y="685800"/>
            <a:ext cx="6350" cy="617220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4">
            <a:extLst>
              <a:ext uri="{FF2B5EF4-FFF2-40B4-BE49-F238E27FC236}">
                <a16:creationId xmlns:a16="http://schemas.microsoft.com/office/drawing/2014/main" id="{5265A2C5-A93C-5DBF-C62C-B9B5C50FF926}"/>
              </a:ext>
            </a:extLst>
          </p:cNvPr>
          <p:cNvSpPr/>
          <p:nvPr/>
        </p:nvSpPr>
        <p:spPr>
          <a:xfrm>
            <a:off x="7670800" y="685800"/>
            <a:ext cx="6350" cy="617220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ail">
            <a:extLst>
              <a:ext uri="{FF2B5EF4-FFF2-40B4-BE49-F238E27FC236}">
                <a16:creationId xmlns:a16="http://schemas.microsoft.com/office/drawing/2014/main" id="{F83D05BC-9D3F-EC9A-84CF-002A3DE491F4}"/>
              </a:ext>
            </a:extLst>
          </p:cNvPr>
          <p:cNvSpPr/>
          <p:nvPr/>
        </p:nvSpPr>
        <p:spPr>
          <a:xfrm>
            <a:off x="7670800" y="685800"/>
            <a:ext cx="4521200" cy="61722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N34">
            <a:extLst>
              <a:ext uri="{FF2B5EF4-FFF2-40B4-BE49-F238E27FC236}">
                <a16:creationId xmlns:a16="http://schemas.microsoft.com/office/drawing/2014/main" id="{F095D532-C626-0078-8E4A-61A2CEB60ECA}"/>
              </a:ext>
            </a:extLst>
          </p:cNvPr>
          <p:cNvSpPr/>
          <p:nvPr/>
        </p:nvSpPr>
        <p:spPr>
          <a:xfrm>
            <a:off x="12573000" y="838200"/>
            <a:ext cx="4241800" cy="795528"/>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Same layout, comparison 2: the 10 s baseline against cue 1.</a:t>
            </a:r>
          </a:p>
        </p:txBody>
      </p:sp>
      <p:sp>
        <p:nvSpPr>
          <p:cNvPr id="11" name="!!N33">
            <a:extLst>
              <a:ext uri="{FF2B5EF4-FFF2-40B4-BE49-F238E27FC236}">
                <a16:creationId xmlns:a16="http://schemas.microsoft.com/office/drawing/2014/main" id="{FC4ED21F-5C1E-2026-A803-86330A2802F0}"/>
              </a:ext>
            </a:extLst>
          </p:cNvPr>
          <p:cNvSpPr/>
          <p:nvPr/>
        </p:nvSpPr>
        <p:spPr>
          <a:xfrm>
            <a:off x="12573000" y="838200"/>
            <a:ext cx="4241800" cy="1645920"/>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So: the increases pass only the rats’ flips, the test that matches tab 8’s light; neither FP nor the shuffles confirm it. Figure 2 is a lead, not a finding.</a:t>
            </a:r>
          </a:p>
        </p:txBody>
      </p:sp>
      <p:sp>
        <p:nvSpPr>
          <p:cNvPr id="12" name="!!T-BG">
            <a:extLst>
              <a:ext uri="{FF2B5EF4-FFF2-40B4-BE49-F238E27FC236}">
                <a16:creationId xmlns:a16="http://schemas.microsoft.com/office/drawing/2014/main" id="{BB1B8888-F394-1E42-EE7C-845FD63D09D8}"/>
              </a:ext>
            </a:extLst>
          </p:cNvPr>
          <p:cNvSpPr/>
          <p:nvPr/>
        </p:nvSpPr>
        <p:spPr>
          <a:xfrm>
            <a:off x="1905000" y="1905000"/>
            <a:ext cx="8382000" cy="3048000"/>
          </a:xfrm>
          <a:prstGeom prst="snip2DiagRect">
            <a:avLst>
              <a:gd name="adj1" fmla="val 0"/>
              <a:gd name="adj2" fmla="val 16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
            <a:extLst>
              <a:ext uri="{FF2B5EF4-FFF2-40B4-BE49-F238E27FC236}">
                <a16:creationId xmlns:a16="http://schemas.microsoft.com/office/drawing/2014/main" id="{B6EE5E59-D6A4-2593-4CBC-31FB54F98B84}"/>
              </a:ext>
            </a:extLst>
          </p:cNvPr>
          <p:cNvSpPr txBox="1"/>
          <p:nvPr/>
        </p:nvSpPr>
        <p:spPr>
          <a:xfrm>
            <a:off x="2286000" y="2032000"/>
            <a:ext cx="7620000" cy="2794000"/>
          </a:xfrm>
          <a:prstGeom prst="rect">
            <a:avLst/>
          </a:prstGeom>
          <a:noFill/>
        </p:spPr>
        <p:txBody>
          <a:bodyPr vert="horz" wrap="square" lIns="76200" tIns="50800" rIns="76200" bIns="50800" rtlCol="0" anchor="ctr">
            <a:noAutofit/>
          </a:bodyPr>
          <a:lstStyle/>
          <a:p>
            <a:pPr algn="ctr">
              <a:lnSpc>
                <a:spcPct val="95000"/>
              </a:lnSpc>
            </a:pPr>
            <a:r>
              <a:rPr lang="en-US" sz="4000" b="1">
                <a:solidFill>
                  <a:srgbClr val="FF0000"/>
                </a:solidFill>
                <a:latin typeface="Aptos Display" panose="020B0004020202020204" pitchFamily="34" charset="0"/>
              </a:rPr>
              <a:t>Figure 4</a:t>
            </a:r>
          </a:p>
          <a:p>
            <a:pPr algn="ctr">
              <a:lnSpc>
                <a:spcPct val="95000"/>
              </a:lnSpc>
            </a:pPr>
            <a:r>
              <a:rPr lang="en-US" sz="2000">
                <a:solidFill>
                  <a:srgbClr val="FFFFFF"/>
                </a:solidFill>
                <a:latin typeface="Aptos Display" panose="020B0004020202020204" pitchFamily="34" charset="0"/>
              </a:rPr>
              <a:t>Comparison 2, baseline → cue 1, gamma: the whole network</a:t>
            </a:r>
          </a:p>
        </p:txBody>
      </p:sp>
    </p:spTree>
    <p:extLst>
      <p:ext uri="{BB962C8B-B14F-4D97-AF65-F5344CB8AC3E}">
        <p14:creationId xmlns:p14="http://schemas.microsoft.com/office/powerpoint/2010/main" val="175084931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tage">
            <a:extLst>
              <a:ext uri="{FF2B5EF4-FFF2-40B4-BE49-F238E27FC236}">
                <a16:creationId xmlns:a16="http://schemas.microsoft.com/office/drawing/2014/main" id="{149B8D15-58B9-3B3D-E632-60A9D64D0269}"/>
              </a:ext>
            </a:extLst>
          </p:cNvPr>
          <p:cNvSpPr/>
          <p:nvPr/>
        </p:nvSpPr>
        <p:spPr>
          <a:xfrm>
            <a:off x="0" y="685800"/>
            <a:ext cx="7670800" cy="6172200"/>
          </a:xfrm>
          <a:prstGeom prst="rect">
            <a:avLst/>
          </a:prstGeom>
          <a:solidFill>
            <a:srgbClr val="ECEC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F4_fp">
            <a:extLst>
              <a:ext uri="{FF2B5EF4-FFF2-40B4-BE49-F238E27FC236}">
                <a16:creationId xmlns:a16="http://schemas.microsoft.com/office/drawing/2014/main" id="{AC545756-45AD-E681-15AF-C5C605D248BE}"/>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287723" y="901954"/>
            <a:ext cx="5120754" cy="5765292"/>
          </a:xfrm>
          <a:prstGeom prst="rect">
            <a:avLst/>
          </a:prstGeom>
          <a:ln w="9525">
            <a:solidFill>
              <a:srgbClr val="B0B0B0"/>
            </a:solidFill>
          </a:ln>
        </p:spPr>
      </p:pic>
      <p:sp>
        <p:nvSpPr>
          <p:cNvPr id="5" name="!!D1">
            <a:extLst>
              <a:ext uri="{FF2B5EF4-FFF2-40B4-BE49-F238E27FC236}">
                <a16:creationId xmlns:a16="http://schemas.microsoft.com/office/drawing/2014/main" id="{2BD2BCBA-8321-88AF-AEB7-CE4D8D8F8BB1}"/>
              </a:ext>
            </a:extLst>
          </p:cNvPr>
          <p:cNvSpPr/>
          <p:nvPr/>
        </p:nvSpPr>
        <p:spPr>
          <a:xfrm>
            <a:off x="0" y="685800"/>
            <a:ext cx="7670800" cy="635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2">
            <a:extLst>
              <a:ext uri="{FF2B5EF4-FFF2-40B4-BE49-F238E27FC236}">
                <a16:creationId xmlns:a16="http://schemas.microsoft.com/office/drawing/2014/main" id="{4E179142-76B6-E60E-1B6B-254E8E2BC82A}"/>
              </a:ext>
            </a:extLst>
          </p:cNvPr>
          <p:cNvSpPr/>
          <p:nvPr/>
        </p:nvSpPr>
        <p:spPr>
          <a:xfrm>
            <a:off x="0" y="6858000"/>
            <a:ext cx="7670800" cy="635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3">
            <a:extLst>
              <a:ext uri="{FF2B5EF4-FFF2-40B4-BE49-F238E27FC236}">
                <a16:creationId xmlns:a16="http://schemas.microsoft.com/office/drawing/2014/main" id="{37E45FB8-EBD0-7BCA-2244-34C259EE70F1}"/>
              </a:ext>
            </a:extLst>
          </p:cNvPr>
          <p:cNvSpPr/>
          <p:nvPr/>
        </p:nvSpPr>
        <p:spPr>
          <a:xfrm>
            <a:off x="0" y="685800"/>
            <a:ext cx="6350" cy="617220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4">
            <a:extLst>
              <a:ext uri="{FF2B5EF4-FFF2-40B4-BE49-F238E27FC236}">
                <a16:creationId xmlns:a16="http://schemas.microsoft.com/office/drawing/2014/main" id="{9896785F-C878-4596-CF24-70611744B25D}"/>
              </a:ext>
            </a:extLst>
          </p:cNvPr>
          <p:cNvSpPr/>
          <p:nvPr/>
        </p:nvSpPr>
        <p:spPr>
          <a:xfrm>
            <a:off x="7670800" y="685800"/>
            <a:ext cx="6350" cy="617220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ocus">
            <a:extLst>
              <a:ext uri="{FF2B5EF4-FFF2-40B4-BE49-F238E27FC236}">
                <a16:creationId xmlns:a16="http://schemas.microsoft.com/office/drawing/2014/main" id="{0B308F17-CE1C-7E74-F905-5D56A200FEE6}"/>
              </a:ext>
            </a:extLst>
          </p:cNvPr>
          <p:cNvSpPr/>
          <p:nvPr/>
        </p:nvSpPr>
        <p:spPr>
          <a:xfrm>
            <a:off x="1315710" y="4512363"/>
            <a:ext cx="5093756" cy="1819199"/>
          </a:xfrm>
          <a:prstGeom prst="rect">
            <a:avLst/>
          </a:prstGeom>
          <a:solidFill>
            <a:srgbClr val="83CBEB">
              <a:alpha val="37000"/>
            </a:srgbClr>
          </a:solidFill>
          <a:ln w="38100">
            <a:solidFill>
              <a:srgbClr val="46B1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ail">
            <a:extLst>
              <a:ext uri="{FF2B5EF4-FFF2-40B4-BE49-F238E27FC236}">
                <a16:creationId xmlns:a16="http://schemas.microsoft.com/office/drawing/2014/main" id="{016C7C9F-C24F-E2D8-4CCC-B2F376A18A82}"/>
              </a:ext>
            </a:extLst>
          </p:cNvPr>
          <p:cNvSpPr/>
          <p:nvPr/>
        </p:nvSpPr>
        <p:spPr>
          <a:xfrm>
            <a:off x="7670800" y="685800"/>
            <a:ext cx="4521200" cy="61722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N34">
            <a:extLst>
              <a:ext uri="{FF2B5EF4-FFF2-40B4-BE49-F238E27FC236}">
                <a16:creationId xmlns:a16="http://schemas.microsoft.com/office/drawing/2014/main" id="{08E7F776-BB6C-B11A-5A01-F976B6AC8D34}"/>
              </a:ext>
            </a:extLst>
          </p:cNvPr>
          <p:cNvSpPr/>
          <p:nvPr/>
        </p:nvSpPr>
        <p:spPr>
          <a:xfrm>
            <a:off x="7797800" y="838200"/>
            <a:ext cx="4241800" cy="795528"/>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Same layout, comparison 2: the 10 s baseline against cue 1.</a:t>
            </a:r>
          </a:p>
        </p:txBody>
      </p:sp>
      <p:sp>
        <p:nvSpPr>
          <p:cNvPr id="12" name="!!N35">
            <a:extLst>
              <a:ext uri="{FF2B5EF4-FFF2-40B4-BE49-F238E27FC236}">
                <a16:creationId xmlns:a16="http://schemas.microsoft.com/office/drawing/2014/main" id="{2FFBF42F-D925-8451-6F25-866E90F0D168}"/>
              </a:ext>
            </a:extLst>
          </p:cNvPr>
          <p:cNvSpPr/>
          <p:nvPr/>
        </p:nvSpPr>
        <p:spPr>
          <a:xfrm>
            <a:off x="12573000" y="1559052"/>
            <a:ext cx="4241800" cy="1362456"/>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The change’s increases: FP P = 0.037, shuffles P = 0.030, rats’ flips P = 0.027. The one network result that passes every test.</a:t>
            </a:r>
          </a:p>
        </p:txBody>
      </p:sp>
      <p:sp>
        <p:nvSpPr>
          <p:cNvPr id="13" name="!!T-BG">
            <a:extLst>
              <a:ext uri="{FF2B5EF4-FFF2-40B4-BE49-F238E27FC236}">
                <a16:creationId xmlns:a16="http://schemas.microsoft.com/office/drawing/2014/main" id="{45F8F919-576A-AD8E-9AAB-F538B4734A77}"/>
              </a:ext>
            </a:extLst>
          </p:cNvPr>
          <p:cNvSpPr/>
          <p:nvPr/>
        </p:nvSpPr>
        <p:spPr>
          <a:xfrm>
            <a:off x="-381000" y="0"/>
            <a:ext cx="12954000" cy="685800"/>
          </a:xfrm>
          <a:prstGeom prst="snip2DiagRect">
            <a:avLst>
              <a:gd name="adj1" fmla="val 0"/>
              <a:gd name="adj2" fmla="val 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
            <a:extLst>
              <a:ext uri="{FF2B5EF4-FFF2-40B4-BE49-F238E27FC236}">
                <a16:creationId xmlns:a16="http://schemas.microsoft.com/office/drawing/2014/main" id="{867C1D21-7DFF-8A63-5DC8-E90BCC140911}"/>
              </a:ext>
            </a:extLst>
          </p:cNvPr>
          <p:cNvSpPr txBox="1"/>
          <p:nvPr/>
        </p:nvSpPr>
        <p:spPr>
          <a:xfrm>
            <a:off x="127000" y="0"/>
            <a:ext cx="11811000" cy="685800"/>
          </a:xfrm>
          <a:prstGeom prst="rect">
            <a:avLst/>
          </a:prstGeom>
          <a:noFill/>
        </p:spPr>
        <p:txBody>
          <a:bodyPr vert="horz" wrap="square" lIns="76200" tIns="25400" rIns="76200" bIns="25400" rtlCol="0" anchor="ctr">
            <a:noAutofit/>
          </a:bodyPr>
          <a:lstStyle/>
          <a:p>
            <a:pPr>
              <a:lnSpc>
                <a:spcPct val="95000"/>
              </a:lnSpc>
            </a:pPr>
            <a:r>
              <a:rPr lang="it-IT" sz="2400" b="1" u="sng">
                <a:solidFill>
                  <a:srgbClr val="FFFFFF"/>
                </a:solidFill>
                <a:latin typeface="Aptos Display" panose="020B0004020202020204" pitchFamily="34" charset="0"/>
              </a:rPr>
              <a:t>Figure 4 · baseline → cue 1 · gamma</a:t>
            </a:r>
            <a:endParaRPr lang="en-US" sz="2400" b="1" u="sng">
              <a:solidFill>
                <a:srgbClr val="FFFFFF"/>
              </a:solidFill>
              <a:latin typeface="Aptos Display" panose="020B0004020202020204" pitchFamily="34" charset="0"/>
            </a:endParaRPr>
          </a:p>
        </p:txBody>
      </p:sp>
    </p:spTree>
    <p:extLst>
      <p:ext uri="{BB962C8B-B14F-4D97-AF65-F5344CB8AC3E}">
        <p14:creationId xmlns:p14="http://schemas.microsoft.com/office/powerpoint/2010/main" val="368907441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tage">
            <a:extLst>
              <a:ext uri="{FF2B5EF4-FFF2-40B4-BE49-F238E27FC236}">
                <a16:creationId xmlns:a16="http://schemas.microsoft.com/office/drawing/2014/main" id="{924EB8FE-5FA2-0CC6-CEC2-395A5B96122E}"/>
              </a:ext>
            </a:extLst>
          </p:cNvPr>
          <p:cNvSpPr/>
          <p:nvPr/>
        </p:nvSpPr>
        <p:spPr>
          <a:xfrm>
            <a:off x="0" y="685800"/>
            <a:ext cx="7670800" cy="6172200"/>
          </a:xfrm>
          <a:prstGeom prst="rect">
            <a:avLst/>
          </a:prstGeom>
          <a:solidFill>
            <a:srgbClr val="ECEC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F4_fp">
            <a:extLst>
              <a:ext uri="{FF2B5EF4-FFF2-40B4-BE49-F238E27FC236}">
                <a16:creationId xmlns:a16="http://schemas.microsoft.com/office/drawing/2014/main" id="{5A1731B8-8C5C-D64A-A4CD-B9E248A6D915}"/>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143256" y="-12353290"/>
            <a:ext cx="18031533" cy="20301121"/>
          </a:xfrm>
          <a:prstGeom prst="rect">
            <a:avLst/>
          </a:prstGeom>
          <a:ln w="9525">
            <a:solidFill>
              <a:srgbClr val="B0B0B0"/>
            </a:solidFill>
          </a:ln>
        </p:spPr>
      </p:pic>
      <p:sp>
        <p:nvSpPr>
          <p:cNvPr id="5" name="!!D1">
            <a:extLst>
              <a:ext uri="{FF2B5EF4-FFF2-40B4-BE49-F238E27FC236}">
                <a16:creationId xmlns:a16="http://schemas.microsoft.com/office/drawing/2014/main" id="{3D3189F0-81E0-F5E0-08DC-255AA0279C8F}"/>
              </a:ext>
            </a:extLst>
          </p:cNvPr>
          <p:cNvSpPr/>
          <p:nvPr/>
        </p:nvSpPr>
        <p:spPr>
          <a:xfrm>
            <a:off x="0" y="685800"/>
            <a:ext cx="7670800" cy="190754"/>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2">
            <a:extLst>
              <a:ext uri="{FF2B5EF4-FFF2-40B4-BE49-F238E27FC236}">
                <a16:creationId xmlns:a16="http://schemas.microsoft.com/office/drawing/2014/main" id="{6A604C04-A488-6F04-C926-61231FD2D5DD}"/>
              </a:ext>
            </a:extLst>
          </p:cNvPr>
          <p:cNvSpPr/>
          <p:nvPr/>
        </p:nvSpPr>
        <p:spPr>
          <a:xfrm>
            <a:off x="0" y="6692646"/>
            <a:ext cx="7670800" cy="165354"/>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3">
            <a:extLst>
              <a:ext uri="{FF2B5EF4-FFF2-40B4-BE49-F238E27FC236}">
                <a16:creationId xmlns:a16="http://schemas.microsoft.com/office/drawing/2014/main" id="{CFC73366-3964-83C8-797F-94D232BD90B0}"/>
              </a:ext>
            </a:extLst>
          </p:cNvPr>
          <p:cNvSpPr/>
          <p:nvPr/>
        </p:nvSpPr>
        <p:spPr>
          <a:xfrm>
            <a:off x="0" y="876554"/>
            <a:ext cx="915416" cy="5816092"/>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4">
            <a:extLst>
              <a:ext uri="{FF2B5EF4-FFF2-40B4-BE49-F238E27FC236}">
                <a16:creationId xmlns:a16="http://schemas.microsoft.com/office/drawing/2014/main" id="{D79D0593-108C-CC92-3A14-AA3720A83B92}"/>
              </a:ext>
            </a:extLst>
          </p:cNvPr>
          <p:cNvSpPr/>
          <p:nvPr/>
        </p:nvSpPr>
        <p:spPr>
          <a:xfrm>
            <a:off x="6780784" y="876554"/>
            <a:ext cx="890016" cy="5816092"/>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ocus">
            <a:extLst>
              <a:ext uri="{FF2B5EF4-FFF2-40B4-BE49-F238E27FC236}">
                <a16:creationId xmlns:a16="http://schemas.microsoft.com/office/drawing/2014/main" id="{A9049CD1-496E-A0A3-17C1-CDF9013BB97C}"/>
              </a:ext>
            </a:extLst>
          </p:cNvPr>
          <p:cNvSpPr/>
          <p:nvPr/>
        </p:nvSpPr>
        <p:spPr>
          <a:xfrm>
            <a:off x="1827784" y="4942586"/>
            <a:ext cx="4336288" cy="1626108"/>
          </a:xfrm>
          <a:prstGeom prst="rect">
            <a:avLst/>
          </a:prstGeom>
          <a:solidFill>
            <a:srgbClr val="83CBEB">
              <a:alpha val="37000"/>
            </a:srgbClr>
          </a:solidFill>
          <a:ln w="38100">
            <a:solidFill>
              <a:srgbClr val="46B1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ail">
            <a:extLst>
              <a:ext uri="{FF2B5EF4-FFF2-40B4-BE49-F238E27FC236}">
                <a16:creationId xmlns:a16="http://schemas.microsoft.com/office/drawing/2014/main" id="{7230E00F-7EF6-2432-324A-06413C47B31F}"/>
              </a:ext>
            </a:extLst>
          </p:cNvPr>
          <p:cNvSpPr/>
          <p:nvPr/>
        </p:nvSpPr>
        <p:spPr>
          <a:xfrm>
            <a:off x="7670800" y="685800"/>
            <a:ext cx="4521200" cy="61722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N34">
            <a:extLst>
              <a:ext uri="{FF2B5EF4-FFF2-40B4-BE49-F238E27FC236}">
                <a16:creationId xmlns:a16="http://schemas.microsoft.com/office/drawing/2014/main" id="{A10430F1-ADD2-FBFE-5BDD-CCEAE78DC825}"/>
              </a:ext>
            </a:extLst>
          </p:cNvPr>
          <p:cNvSpPr/>
          <p:nvPr/>
        </p:nvSpPr>
        <p:spPr>
          <a:xfrm>
            <a:off x="7797800" y="838200"/>
            <a:ext cx="4241800" cy="60655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Same layout, comparison 2: the 10 s baseline against cue 1.</a:t>
            </a:r>
          </a:p>
        </p:txBody>
      </p:sp>
      <p:sp>
        <p:nvSpPr>
          <p:cNvPr id="12" name="!!N35">
            <a:extLst>
              <a:ext uri="{FF2B5EF4-FFF2-40B4-BE49-F238E27FC236}">
                <a16:creationId xmlns:a16="http://schemas.microsoft.com/office/drawing/2014/main" id="{B4C63D6F-0294-83B3-2F47-A3A5DD30D80B}"/>
              </a:ext>
            </a:extLst>
          </p:cNvPr>
          <p:cNvSpPr/>
          <p:nvPr/>
        </p:nvSpPr>
        <p:spPr>
          <a:xfrm>
            <a:off x="7797800" y="1559052"/>
            <a:ext cx="4241800" cy="1362456"/>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The change’s increases: FP P = 0.037, shuffles P = 0.030, rats’ flips P = 0.027. The one network result that passes every test.</a:t>
            </a:r>
          </a:p>
        </p:txBody>
      </p:sp>
      <p:sp>
        <p:nvSpPr>
          <p:cNvPr id="13" name="!!N36">
            <a:extLst>
              <a:ext uri="{FF2B5EF4-FFF2-40B4-BE49-F238E27FC236}">
                <a16:creationId xmlns:a16="http://schemas.microsoft.com/office/drawing/2014/main" id="{23C8E17F-45E3-0B9C-4848-A3459111B36F}"/>
              </a:ext>
            </a:extLst>
          </p:cNvPr>
          <p:cNvSpPr/>
          <p:nvPr/>
        </p:nvSpPr>
        <p:spPr>
          <a:xfrm>
            <a:off x="12573000" y="2468880"/>
            <a:ext cx="4241800" cy="107899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Ups and downs together: FP P = 0.074, shuffles P = 0.058, rats’ flips P = 0.062.</a:t>
            </a:r>
          </a:p>
        </p:txBody>
      </p:sp>
      <p:sp>
        <p:nvSpPr>
          <p:cNvPr id="14" name="!!T-BG">
            <a:extLst>
              <a:ext uri="{FF2B5EF4-FFF2-40B4-BE49-F238E27FC236}">
                <a16:creationId xmlns:a16="http://schemas.microsoft.com/office/drawing/2014/main" id="{09D42001-446E-85F4-A2DD-7C4B1E04E9E0}"/>
              </a:ext>
            </a:extLst>
          </p:cNvPr>
          <p:cNvSpPr/>
          <p:nvPr/>
        </p:nvSpPr>
        <p:spPr>
          <a:xfrm>
            <a:off x="-381000" y="0"/>
            <a:ext cx="12954000" cy="685800"/>
          </a:xfrm>
          <a:prstGeom prst="snip2DiagRect">
            <a:avLst>
              <a:gd name="adj1" fmla="val 0"/>
              <a:gd name="adj2" fmla="val 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
            <a:extLst>
              <a:ext uri="{FF2B5EF4-FFF2-40B4-BE49-F238E27FC236}">
                <a16:creationId xmlns:a16="http://schemas.microsoft.com/office/drawing/2014/main" id="{C32A7AD2-AB58-434D-6878-CC5396027342}"/>
              </a:ext>
            </a:extLst>
          </p:cNvPr>
          <p:cNvSpPr txBox="1"/>
          <p:nvPr/>
        </p:nvSpPr>
        <p:spPr>
          <a:xfrm>
            <a:off x="127000" y="0"/>
            <a:ext cx="11811000" cy="685800"/>
          </a:xfrm>
          <a:prstGeom prst="rect">
            <a:avLst/>
          </a:prstGeom>
          <a:noFill/>
        </p:spPr>
        <p:txBody>
          <a:bodyPr vert="horz" wrap="square" lIns="76200" tIns="25400" rIns="76200" bIns="25400" rtlCol="0" anchor="ctr">
            <a:noAutofit/>
          </a:bodyPr>
          <a:lstStyle/>
          <a:p>
            <a:pPr>
              <a:lnSpc>
                <a:spcPct val="95000"/>
              </a:lnSpc>
            </a:pPr>
            <a:r>
              <a:rPr lang="it-IT" sz="2400" b="1" u="sng">
                <a:solidFill>
                  <a:srgbClr val="FFFFFF"/>
                </a:solidFill>
                <a:latin typeface="Aptos Display" panose="020B0004020202020204" pitchFamily="34" charset="0"/>
              </a:rPr>
              <a:t>Figure 4 · baseline → cue 1 · gamma</a:t>
            </a:r>
            <a:endParaRPr lang="en-US" sz="2400" b="1" u="sng">
              <a:solidFill>
                <a:srgbClr val="FFFFFF"/>
              </a:solidFill>
              <a:latin typeface="Aptos Display" panose="020B0004020202020204" pitchFamily="34" charset="0"/>
            </a:endParaRPr>
          </a:p>
        </p:txBody>
      </p:sp>
    </p:spTree>
    <p:extLst>
      <p:ext uri="{BB962C8B-B14F-4D97-AF65-F5344CB8AC3E}">
        <p14:creationId xmlns:p14="http://schemas.microsoft.com/office/powerpoint/2010/main" val="302919776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tage">
            <a:extLst>
              <a:ext uri="{FF2B5EF4-FFF2-40B4-BE49-F238E27FC236}">
                <a16:creationId xmlns:a16="http://schemas.microsoft.com/office/drawing/2014/main" id="{1F9286F7-1572-E6BE-B6C9-225B128807CD}"/>
              </a:ext>
            </a:extLst>
          </p:cNvPr>
          <p:cNvSpPr/>
          <p:nvPr/>
        </p:nvSpPr>
        <p:spPr>
          <a:xfrm>
            <a:off x="0" y="685800"/>
            <a:ext cx="7670800" cy="6172200"/>
          </a:xfrm>
          <a:prstGeom prst="rect">
            <a:avLst/>
          </a:prstGeom>
          <a:solidFill>
            <a:srgbClr val="ECEC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F4_fp">
            <a:extLst>
              <a:ext uri="{FF2B5EF4-FFF2-40B4-BE49-F238E27FC236}">
                <a16:creationId xmlns:a16="http://schemas.microsoft.com/office/drawing/2014/main" id="{5C237561-9228-D980-8EC7-19D8D2E933C5}"/>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11181080" y="-12353290"/>
            <a:ext cx="18031533" cy="20301121"/>
          </a:xfrm>
          <a:prstGeom prst="rect">
            <a:avLst/>
          </a:prstGeom>
          <a:ln w="9525">
            <a:solidFill>
              <a:srgbClr val="B0B0B0"/>
            </a:solidFill>
          </a:ln>
        </p:spPr>
      </p:pic>
      <p:sp>
        <p:nvSpPr>
          <p:cNvPr id="5" name="!!D1">
            <a:extLst>
              <a:ext uri="{FF2B5EF4-FFF2-40B4-BE49-F238E27FC236}">
                <a16:creationId xmlns:a16="http://schemas.microsoft.com/office/drawing/2014/main" id="{DD6469A3-84B5-EB5A-8D74-A8AF5BC7A55C}"/>
              </a:ext>
            </a:extLst>
          </p:cNvPr>
          <p:cNvSpPr/>
          <p:nvPr/>
        </p:nvSpPr>
        <p:spPr>
          <a:xfrm>
            <a:off x="0" y="685800"/>
            <a:ext cx="7670800" cy="190754"/>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2">
            <a:extLst>
              <a:ext uri="{FF2B5EF4-FFF2-40B4-BE49-F238E27FC236}">
                <a16:creationId xmlns:a16="http://schemas.microsoft.com/office/drawing/2014/main" id="{0F93EBFE-AC51-814B-FA45-DA8B899D9D6A}"/>
              </a:ext>
            </a:extLst>
          </p:cNvPr>
          <p:cNvSpPr/>
          <p:nvPr/>
        </p:nvSpPr>
        <p:spPr>
          <a:xfrm>
            <a:off x="0" y="6692646"/>
            <a:ext cx="7670800" cy="165354"/>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3">
            <a:extLst>
              <a:ext uri="{FF2B5EF4-FFF2-40B4-BE49-F238E27FC236}">
                <a16:creationId xmlns:a16="http://schemas.microsoft.com/office/drawing/2014/main" id="{E8DFEFB6-3E83-1A68-9803-C1558B71D63E}"/>
              </a:ext>
            </a:extLst>
          </p:cNvPr>
          <p:cNvSpPr/>
          <p:nvPr/>
        </p:nvSpPr>
        <p:spPr>
          <a:xfrm>
            <a:off x="0" y="876554"/>
            <a:ext cx="915416" cy="5816092"/>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4">
            <a:extLst>
              <a:ext uri="{FF2B5EF4-FFF2-40B4-BE49-F238E27FC236}">
                <a16:creationId xmlns:a16="http://schemas.microsoft.com/office/drawing/2014/main" id="{A2C1CA6A-8FAD-F544-38A3-D4290D7D0E41}"/>
              </a:ext>
            </a:extLst>
          </p:cNvPr>
          <p:cNvSpPr/>
          <p:nvPr/>
        </p:nvSpPr>
        <p:spPr>
          <a:xfrm>
            <a:off x="6780784" y="876554"/>
            <a:ext cx="890016" cy="5816092"/>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ocus">
            <a:extLst>
              <a:ext uri="{FF2B5EF4-FFF2-40B4-BE49-F238E27FC236}">
                <a16:creationId xmlns:a16="http://schemas.microsoft.com/office/drawing/2014/main" id="{4B6846F1-6AE9-51A4-0367-98F6D608165C}"/>
              </a:ext>
            </a:extLst>
          </p:cNvPr>
          <p:cNvSpPr/>
          <p:nvPr/>
        </p:nvSpPr>
        <p:spPr>
          <a:xfrm>
            <a:off x="1827784" y="4942586"/>
            <a:ext cx="4336288" cy="1626108"/>
          </a:xfrm>
          <a:prstGeom prst="rect">
            <a:avLst/>
          </a:prstGeom>
          <a:solidFill>
            <a:srgbClr val="83CBEB">
              <a:alpha val="37000"/>
            </a:srgbClr>
          </a:solidFill>
          <a:ln w="38100">
            <a:solidFill>
              <a:srgbClr val="46B1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ail">
            <a:extLst>
              <a:ext uri="{FF2B5EF4-FFF2-40B4-BE49-F238E27FC236}">
                <a16:creationId xmlns:a16="http://schemas.microsoft.com/office/drawing/2014/main" id="{FB7028F2-9B39-F7A8-649A-6A914109A446}"/>
              </a:ext>
            </a:extLst>
          </p:cNvPr>
          <p:cNvSpPr/>
          <p:nvPr/>
        </p:nvSpPr>
        <p:spPr>
          <a:xfrm>
            <a:off x="7670800" y="685800"/>
            <a:ext cx="4521200" cy="61722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N34">
            <a:extLst>
              <a:ext uri="{FF2B5EF4-FFF2-40B4-BE49-F238E27FC236}">
                <a16:creationId xmlns:a16="http://schemas.microsoft.com/office/drawing/2014/main" id="{3079158E-C6B9-D756-0B3A-579AE13EB3A9}"/>
              </a:ext>
            </a:extLst>
          </p:cNvPr>
          <p:cNvSpPr/>
          <p:nvPr/>
        </p:nvSpPr>
        <p:spPr>
          <a:xfrm>
            <a:off x="7797800" y="838200"/>
            <a:ext cx="4241800" cy="60655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Same layout, comparison 2: the 10 s baseline against cue 1.</a:t>
            </a:r>
          </a:p>
        </p:txBody>
      </p:sp>
      <p:sp>
        <p:nvSpPr>
          <p:cNvPr id="12" name="!!N35">
            <a:extLst>
              <a:ext uri="{FF2B5EF4-FFF2-40B4-BE49-F238E27FC236}">
                <a16:creationId xmlns:a16="http://schemas.microsoft.com/office/drawing/2014/main" id="{88221FCE-32BA-2122-E59A-B8E27B925029}"/>
              </a:ext>
            </a:extLst>
          </p:cNvPr>
          <p:cNvSpPr/>
          <p:nvPr/>
        </p:nvSpPr>
        <p:spPr>
          <a:xfrm>
            <a:off x="7797800" y="1559052"/>
            <a:ext cx="4241800" cy="795528"/>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The change’s increases: FP P = 0.037, shuffles P = 0.030, rats’ flips P = 0.027. The one network result that passes every test.</a:t>
            </a:r>
          </a:p>
        </p:txBody>
      </p:sp>
      <p:sp>
        <p:nvSpPr>
          <p:cNvPr id="13" name="!!N36">
            <a:extLst>
              <a:ext uri="{FF2B5EF4-FFF2-40B4-BE49-F238E27FC236}">
                <a16:creationId xmlns:a16="http://schemas.microsoft.com/office/drawing/2014/main" id="{0810DA5F-3F93-2085-AB50-E00A84B293B6}"/>
              </a:ext>
            </a:extLst>
          </p:cNvPr>
          <p:cNvSpPr/>
          <p:nvPr/>
        </p:nvSpPr>
        <p:spPr>
          <a:xfrm>
            <a:off x="7797800" y="2468880"/>
            <a:ext cx="4241800" cy="107899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Ups and downs together: FP P = 0.074, shuffles P = 0.058, rats’ flips P = 0.062.</a:t>
            </a:r>
          </a:p>
        </p:txBody>
      </p:sp>
      <p:sp>
        <p:nvSpPr>
          <p:cNvPr id="14" name="!!N37">
            <a:extLst>
              <a:ext uri="{FF2B5EF4-FFF2-40B4-BE49-F238E27FC236}">
                <a16:creationId xmlns:a16="http://schemas.microsoft.com/office/drawing/2014/main" id="{A9375159-AE36-737F-8DB5-8E40B1CB80AF}"/>
              </a:ext>
            </a:extLst>
          </p:cNvPr>
          <p:cNvSpPr/>
          <p:nvPr/>
        </p:nvSpPr>
        <p:spPr>
          <a:xfrm>
            <a:off x="12573000" y="838200"/>
            <a:ext cx="4241800" cy="1929384"/>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One ring splits the tests: on Precon1 alone, the decreases (FP P = 0.030, shuffles P = 0.039, rats’ flips P = 0.090). It is one day’s cue effect, not the change, so it does not answer the question.</a:t>
            </a:r>
          </a:p>
        </p:txBody>
      </p:sp>
      <p:sp>
        <p:nvSpPr>
          <p:cNvPr id="15" name="!!T-BG">
            <a:extLst>
              <a:ext uri="{FF2B5EF4-FFF2-40B4-BE49-F238E27FC236}">
                <a16:creationId xmlns:a16="http://schemas.microsoft.com/office/drawing/2014/main" id="{A8FD6B6E-5E49-A59D-2C49-3AAC97915604}"/>
              </a:ext>
            </a:extLst>
          </p:cNvPr>
          <p:cNvSpPr/>
          <p:nvPr/>
        </p:nvSpPr>
        <p:spPr>
          <a:xfrm>
            <a:off x="-381000" y="0"/>
            <a:ext cx="12954000" cy="685800"/>
          </a:xfrm>
          <a:prstGeom prst="snip2DiagRect">
            <a:avLst>
              <a:gd name="adj1" fmla="val 0"/>
              <a:gd name="adj2" fmla="val 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
            <a:extLst>
              <a:ext uri="{FF2B5EF4-FFF2-40B4-BE49-F238E27FC236}">
                <a16:creationId xmlns:a16="http://schemas.microsoft.com/office/drawing/2014/main" id="{41142977-6F7E-5540-0F95-B66EC5C143AC}"/>
              </a:ext>
            </a:extLst>
          </p:cNvPr>
          <p:cNvSpPr txBox="1"/>
          <p:nvPr/>
        </p:nvSpPr>
        <p:spPr>
          <a:xfrm>
            <a:off x="127000" y="0"/>
            <a:ext cx="11811000" cy="685800"/>
          </a:xfrm>
          <a:prstGeom prst="rect">
            <a:avLst/>
          </a:prstGeom>
          <a:noFill/>
        </p:spPr>
        <p:txBody>
          <a:bodyPr vert="horz" wrap="square" lIns="76200" tIns="25400" rIns="76200" bIns="25400" rtlCol="0" anchor="ctr">
            <a:noAutofit/>
          </a:bodyPr>
          <a:lstStyle/>
          <a:p>
            <a:pPr>
              <a:lnSpc>
                <a:spcPct val="95000"/>
              </a:lnSpc>
            </a:pPr>
            <a:r>
              <a:rPr lang="it-IT" sz="2400" b="1" u="sng">
                <a:solidFill>
                  <a:srgbClr val="FFFFFF"/>
                </a:solidFill>
                <a:latin typeface="Aptos Display" panose="020B0004020202020204" pitchFamily="34" charset="0"/>
              </a:rPr>
              <a:t>Figure 4 · baseline → cue 1 · gamma</a:t>
            </a:r>
            <a:endParaRPr lang="en-US" sz="2400" b="1" u="sng">
              <a:solidFill>
                <a:srgbClr val="FFFFFF"/>
              </a:solidFill>
              <a:latin typeface="Aptos Display" panose="020B0004020202020204" pitchFamily="34" charset="0"/>
            </a:endParaRPr>
          </a:p>
        </p:txBody>
      </p:sp>
    </p:spTree>
    <p:extLst>
      <p:ext uri="{BB962C8B-B14F-4D97-AF65-F5344CB8AC3E}">
        <p14:creationId xmlns:p14="http://schemas.microsoft.com/office/powerpoint/2010/main" val="210680029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tage">
            <a:extLst>
              <a:ext uri="{FF2B5EF4-FFF2-40B4-BE49-F238E27FC236}">
                <a16:creationId xmlns:a16="http://schemas.microsoft.com/office/drawing/2014/main" id="{7C875C3F-F275-8BDE-CDC7-7540A7C12875}"/>
              </a:ext>
            </a:extLst>
          </p:cNvPr>
          <p:cNvSpPr/>
          <p:nvPr/>
        </p:nvSpPr>
        <p:spPr>
          <a:xfrm>
            <a:off x="0" y="685800"/>
            <a:ext cx="7670800" cy="6172200"/>
          </a:xfrm>
          <a:prstGeom prst="rect">
            <a:avLst/>
          </a:prstGeom>
          <a:solidFill>
            <a:srgbClr val="ECEC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F4_fp">
            <a:extLst>
              <a:ext uri="{FF2B5EF4-FFF2-40B4-BE49-F238E27FC236}">
                <a16:creationId xmlns:a16="http://schemas.microsoft.com/office/drawing/2014/main" id="{778D5C9B-2946-ECFB-1406-5E1479CB3182}"/>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5662168" y="-132842"/>
            <a:ext cx="18031533" cy="20301121"/>
          </a:xfrm>
          <a:prstGeom prst="rect">
            <a:avLst/>
          </a:prstGeom>
          <a:ln w="9525">
            <a:solidFill>
              <a:srgbClr val="B0B0B0"/>
            </a:solidFill>
          </a:ln>
        </p:spPr>
      </p:pic>
      <p:sp>
        <p:nvSpPr>
          <p:cNvPr id="5" name="!!D1">
            <a:extLst>
              <a:ext uri="{FF2B5EF4-FFF2-40B4-BE49-F238E27FC236}">
                <a16:creationId xmlns:a16="http://schemas.microsoft.com/office/drawing/2014/main" id="{E954F53E-F099-210E-7A16-BA4372942311}"/>
              </a:ext>
            </a:extLst>
          </p:cNvPr>
          <p:cNvSpPr/>
          <p:nvPr/>
        </p:nvSpPr>
        <p:spPr>
          <a:xfrm>
            <a:off x="0" y="685800"/>
            <a:ext cx="7670800" cy="190754"/>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2">
            <a:extLst>
              <a:ext uri="{FF2B5EF4-FFF2-40B4-BE49-F238E27FC236}">
                <a16:creationId xmlns:a16="http://schemas.microsoft.com/office/drawing/2014/main" id="{5C9AB6BF-9346-F310-56F8-532ADB7BB4FD}"/>
              </a:ext>
            </a:extLst>
          </p:cNvPr>
          <p:cNvSpPr/>
          <p:nvPr/>
        </p:nvSpPr>
        <p:spPr>
          <a:xfrm>
            <a:off x="0" y="6692646"/>
            <a:ext cx="7670800" cy="165354"/>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3">
            <a:extLst>
              <a:ext uri="{FF2B5EF4-FFF2-40B4-BE49-F238E27FC236}">
                <a16:creationId xmlns:a16="http://schemas.microsoft.com/office/drawing/2014/main" id="{10861AC3-2129-C757-EE19-A01064FF2664}"/>
              </a:ext>
            </a:extLst>
          </p:cNvPr>
          <p:cNvSpPr/>
          <p:nvPr/>
        </p:nvSpPr>
        <p:spPr>
          <a:xfrm>
            <a:off x="0" y="876554"/>
            <a:ext cx="915416" cy="5816092"/>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4">
            <a:extLst>
              <a:ext uri="{FF2B5EF4-FFF2-40B4-BE49-F238E27FC236}">
                <a16:creationId xmlns:a16="http://schemas.microsoft.com/office/drawing/2014/main" id="{FD923D2C-2A75-DB02-B5A4-B423F4BFC6F4}"/>
              </a:ext>
            </a:extLst>
          </p:cNvPr>
          <p:cNvSpPr/>
          <p:nvPr/>
        </p:nvSpPr>
        <p:spPr>
          <a:xfrm>
            <a:off x="6780784" y="876554"/>
            <a:ext cx="890016" cy="5816092"/>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ocus">
            <a:extLst>
              <a:ext uri="{FF2B5EF4-FFF2-40B4-BE49-F238E27FC236}">
                <a16:creationId xmlns:a16="http://schemas.microsoft.com/office/drawing/2014/main" id="{C58362A6-2733-E56C-906D-EBF5DF63B551}"/>
              </a:ext>
            </a:extLst>
          </p:cNvPr>
          <p:cNvSpPr/>
          <p:nvPr/>
        </p:nvSpPr>
        <p:spPr>
          <a:xfrm>
            <a:off x="1827784" y="4942586"/>
            <a:ext cx="4336288" cy="1626108"/>
          </a:xfrm>
          <a:prstGeom prst="rect">
            <a:avLst/>
          </a:prstGeom>
          <a:solidFill>
            <a:srgbClr val="83CBEB">
              <a:alpha val="37000"/>
            </a:srgbClr>
          </a:solidFill>
          <a:ln w="38100">
            <a:solidFill>
              <a:srgbClr val="46B1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ail">
            <a:extLst>
              <a:ext uri="{FF2B5EF4-FFF2-40B4-BE49-F238E27FC236}">
                <a16:creationId xmlns:a16="http://schemas.microsoft.com/office/drawing/2014/main" id="{E77BE716-FB6F-1298-0140-DEA8676FE655}"/>
              </a:ext>
            </a:extLst>
          </p:cNvPr>
          <p:cNvSpPr/>
          <p:nvPr/>
        </p:nvSpPr>
        <p:spPr>
          <a:xfrm>
            <a:off x="7670800" y="685800"/>
            <a:ext cx="4521200" cy="61722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N37">
            <a:extLst>
              <a:ext uri="{FF2B5EF4-FFF2-40B4-BE49-F238E27FC236}">
                <a16:creationId xmlns:a16="http://schemas.microsoft.com/office/drawing/2014/main" id="{5A874D90-E225-3802-036C-8B6B046D87C0}"/>
              </a:ext>
            </a:extLst>
          </p:cNvPr>
          <p:cNvSpPr/>
          <p:nvPr/>
        </p:nvSpPr>
        <p:spPr>
          <a:xfrm>
            <a:off x="7797800" y="838200"/>
            <a:ext cx="4241800" cy="1929384"/>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One ring splits the tests: on Precon1 alone, the decreases (FP P = 0.030, shuffles P = 0.039, rats’ flips P = 0.090). It is one day’s cue effect, not the change, so it does not answer the question.</a:t>
            </a:r>
          </a:p>
        </p:txBody>
      </p:sp>
      <p:sp>
        <p:nvSpPr>
          <p:cNvPr id="12" name="!!N34">
            <a:extLst>
              <a:ext uri="{FF2B5EF4-FFF2-40B4-BE49-F238E27FC236}">
                <a16:creationId xmlns:a16="http://schemas.microsoft.com/office/drawing/2014/main" id="{6CF015B1-E6AD-A866-634B-FADB4A02E3CE}"/>
              </a:ext>
            </a:extLst>
          </p:cNvPr>
          <p:cNvSpPr/>
          <p:nvPr/>
        </p:nvSpPr>
        <p:spPr>
          <a:xfrm>
            <a:off x="12573000" y="838200"/>
            <a:ext cx="4241800" cy="60655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Same layout, comparison 2: the 10 s baseline against cue 1.</a:t>
            </a:r>
          </a:p>
        </p:txBody>
      </p:sp>
      <p:sp>
        <p:nvSpPr>
          <p:cNvPr id="13" name="!!N35">
            <a:extLst>
              <a:ext uri="{FF2B5EF4-FFF2-40B4-BE49-F238E27FC236}">
                <a16:creationId xmlns:a16="http://schemas.microsoft.com/office/drawing/2014/main" id="{D31D93AA-8159-CDBA-F8C1-3FFEB24E3033}"/>
              </a:ext>
            </a:extLst>
          </p:cNvPr>
          <p:cNvSpPr/>
          <p:nvPr/>
        </p:nvSpPr>
        <p:spPr>
          <a:xfrm>
            <a:off x="12573000" y="1559052"/>
            <a:ext cx="4241800" cy="795528"/>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The change’s increases: FP P = 0.037, shuffles P = 0.030, rats’ flips P = 0.027. The one network result that passes every test.</a:t>
            </a:r>
          </a:p>
        </p:txBody>
      </p:sp>
      <p:sp>
        <p:nvSpPr>
          <p:cNvPr id="14" name="!!N36">
            <a:extLst>
              <a:ext uri="{FF2B5EF4-FFF2-40B4-BE49-F238E27FC236}">
                <a16:creationId xmlns:a16="http://schemas.microsoft.com/office/drawing/2014/main" id="{0D999841-5E93-CCC5-95B6-7BD5C8D769FA}"/>
              </a:ext>
            </a:extLst>
          </p:cNvPr>
          <p:cNvSpPr/>
          <p:nvPr/>
        </p:nvSpPr>
        <p:spPr>
          <a:xfrm>
            <a:off x="12573000" y="2468880"/>
            <a:ext cx="4241800" cy="107899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Ups and downs together: FP P = 0.074, shuffles P = 0.058, rats’ flips P = 0.062.</a:t>
            </a:r>
          </a:p>
        </p:txBody>
      </p:sp>
      <p:sp>
        <p:nvSpPr>
          <p:cNvPr id="15" name="!!T-BG">
            <a:extLst>
              <a:ext uri="{FF2B5EF4-FFF2-40B4-BE49-F238E27FC236}">
                <a16:creationId xmlns:a16="http://schemas.microsoft.com/office/drawing/2014/main" id="{ED0E2FC1-615A-4ECB-CDF1-7DF247299FDA}"/>
              </a:ext>
            </a:extLst>
          </p:cNvPr>
          <p:cNvSpPr/>
          <p:nvPr/>
        </p:nvSpPr>
        <p:spPr>
          <a:xfrm>
            <a:off x="-381000" y="0"/>
            <a:ext cx="12954000" cy="685800"/>
          </a:xfrm>
          <a:prstGeom prst="snip2DiagRect">
            <a:avLst>
              <a:gd name="adj1" fmla="val 0"/>
              <a:gd name="adj2" fmla="val 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
            <a:extLst>
              <a:ext uri="{FF2B5EF4-FFF2-40B4-BE49-F238E27FC236}">
                <a16:creationId xmlns:a16="http://schemas.microsoft.com/office/drawing/2014/main" id="{780F3EDF-41E6-5055-84C4-D0ED4C5B8803}"/>
              </a:ext>
            </a:extLst>
          </p:cNvPr>
          <p:cNvSpPr txBox="1"/>
          <p:nvPr/>
        </p:nvSpPr>
        <p:spPr>
          <a:xfrm>
            <a:off x="127000" y="0"/>
            <a:ext cx="11811000" cy="685800"/>
          </a:xfrm>
          <a:prstGeom prst="rect">
            <a:avLst/>
          </a:prstGeom>
          <a:noFill/>
        </p:spPr>
        <p:txBody>
          <a:bodyPr vert="horz" wrap="square" lIns="76200" tIns="25400" rIns="76200" bIns="25400" rtlCol="0" anchor="ctr">
            <a:noAutofit/>
          </a:bodyPr>
          <a:lstStyle/>
          <a:p>
            <a:pPr>
              <a:lnSpc>
                <a:spcPct val="95000"/>
              </a:lnSpc>
            </a:pPr>
            <a:r>
              <a:rPr lang="it-IT" sz="2400" b="1" u="sng">
                <a:solidFill>
                  <a:srgbClr val="FFFFFF"/>
                </a:solidFill>
                <a:latin typeface="Aptos Display" panose="020B0004020202020204" pitchFamily="34" charset="0"/>
              </a:rPr>
              <a:t>Figure 4 · baseline → cue 1 · gamma</a:t>
            </a:r>
            <a:endParaRPr lang="en-US" sz="2400" b="1" u="sng">
              <a:solidFill>
                <a:srgbClr val="FFFFFF"/>
              </a:solidFill>
              <a:latin typeface="Aptos Display" panose="020B0004020202020204" pitchFamily="34" charset="0"/>
            </a:endParaRPr>
          </a:p>
        </p:txBody>
      </p:sp>
    </p:spTree>
    <p:extLst>
      <p:ext uri="{BB962C8B-B14F-4D97-AF65-F5344CB8AC3E}">
        <p14:creationId xmlns:p14="http://schemas.microsoft.com/office/powerpoint/2010/main" val="88552290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tage">
            <a:extLst>
              <a:ext uri="{FF2B5EF4-FFF2-40B4-BE49-F238E27FC236}">
                <a16:creationId xmlns:a16="http://schemas.microsoft.com/office/drawing/2014/main" id="{4BA4669B-903A-E23F-9106-9F3E9FF28B38}"/>
              </a:ext>
            </a:extLst>
          </p:cNvPr>
          <p:cNvSpPr/>
          <p:nvPr/>
        </p:nvSpPr>
        <p:spPr>
          <a:xfrm>
            <a:off x="0" y="685800"/>
            <a:ext cx="7670800" cy="6172200"/>
          </a:xfrm>
          <a:prstGeom prst="rect">
            <a:avLst/>
          </a:prstGeom>
          <a:solidFill>
            <a:srgbClr val="ECEC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F1_fp">
            <a:extLst>
              <a:ext uri="{FF2B5EF4-FFF2-40B4-BE49-F238E27FC236}">
                <a16:creationId xmlns:a16="http://schemas.microsoft.com/office/drawing/2014/main" id="{B23BCE9A-ABB3-ED3A-6C7A-C8D88C63DF08}"/>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1287723" y="901954"/>
            <a:ext cx="5120754" cy="5765292"/>
          </a:xfrm>
          <a:prstGeom prst="rect">
            <a:avLst/>
          </a:prstGeom>
          <a:ln w="9525">
            <a:solidFill>
              <a:srgbClr val="B0B0B0"/>
            </a:solidFill>
          </a:ln>
        </p:spPr>
      </p:pic>
      <p:sp>
        <p:nvSpPr>
          <p:cNvPr id="5" name="!!D1">
            <a:extLst>
              <a:ext uri="{FF2B5EF4-FFF2-40B4-BE49-F238E27FC236}">
                <a16:creationId xmlns:a16="http://schemas.microsoft.com/office/drawing/2014/main" id="{F0250A11-8E4F-62F2-74FA-D1F1A8795DDD}"/>
              </a:ext>
            </a:extLst>
          </p:cNvPr>
          <p:cNvSpPr/>
          <p:nvPr/>
        </p:nvSpPr>
        <p:spPr>
          <a:xfrm>
            <a:off x="0" y="685800"/>
            <a:ext cx="7670800" cy="635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2">
            <a:extLst>
              <a:ext uri="{FF2B5EF4-FFF2-40B4-BE49-F238E27FC236}">
                <a16:creationId xmlns:a16="http://schemas.microsoft.com/office/drawing/2014/main" id="{9FE354CC-3A93-29E5-288E-E7F2C9046E09}"/>
              </a:ext>
            </a:extLst>
          </p:cNvPr>
          <p:cNvSpPr/>
          <p:nvPr/>
        </p:nvSpPr>
        <p:spPr>
          <a:xfrm>
            <a:off x="0" y="6858000"/>
            <a:ext cx="7670800" cy="635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3">
            <a:extLst>
              <a:ext uri="{FF2B5EF4-FFF2-40B4-BE49-F238E27FC236}">
                <a16:creationId xmlns:a16="http://schemas.microsoft.com/office/drawing/2014/main" id="{E4E4B716-024B-FABE-25B8-6FDD13C8C10F}"/>
              </a:ext>
            </a:extLst>
          </p:cNvPr>
          <p:cNvSpPr/>
          <p:nvPr/>
        </p:nvSpPr>
        <p:spPr>
          <a:xfrm>
            <a:off x="0" y="685800"/>
            <a:ext cx="6350" cy="617220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4">
            <a:extLst>
              <a:ext uri="{FF2B5EF4-FFF2-40B4-BE49-F238E27FC236}">
                <a16:creationId xmlns:a16="http://schemas.microsoft.com/office/drawing/2014/main" id="{36E18FDF-AAAE-D3D5-5D12-FAD4BDA27798}"/>
              </a:ext>
            </a:extLst>
          </p:cNvPr>
          <p:cNvSpPr/>
          <p:nvPr/>
        </p:nvSpPr>
        <p:spPr>
          <a:xfrm>
            <a:off x="7670800" y="685800"/>
            <a:ext cx="6350" cy="617220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ail">
            <a:extLst>
              <a:ext uri="{FF2B5EF4-FFF2-40B4-BE49-F238E27FC236}">
                <a16:creationId xmlns:a16="http://schemas.microsoft.com/office/drawing/2014/main" id="{DD46BAA1-11BE-4538-0F38-B7036699D557}"/>
              </a:ext>
            </a:extLst>
          </p:cNvPr>
          <p:cNvSpPr/>
          <p:nvPr/>
        </p:nvSpPr>
        <p:spPr>
          <a:xfrm>
            <a:off x="7670800" y="685800"/>
            <a:ext cx="4521200" cy="61722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N38">
            <a:extLst>
              <a:ext uri="{FF2B5EF4-FFF2-40B4-BE49-F238E27FC236}">
                <a16:creationId xmlns:a16="http://schemas.microsoft.com/office/drawing/2014/main" id="{38D51772-C32F-7A6D-BCB9-7B9B790A9DF6}"/>
              </a:ext>
            </a:extLst>
          </p:cNvPr>
          <p:cNvSpPr/>
          <p:nvPr/>
        </p:nvSpPr>
        <p:spPr>
          <a:xfrm>
            <a:off x="12573000" y="838200"/>
            <a:ext cx="4241800" cy="1362456"/>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The change in cue effect passes none of its 9 tests (smallest P = 0.14): no change from Precon1 to Precon4 here.</a:t>
            </a:r>
          </a:p>
        </p:txBody>
      </p:sp>
      <p:sp>
        <p:nvSpPr>
          <p:cNvPr id="11" name="!!N37">
            <a:extLst>
              <a:ext uri="{FF2B5EF4-FFF2-40B4-BE49-F238E27FC236}">
                <a16:creationId xmlns:a16="http://schemas.microsoft.com/office/drawing/2014/main" id="{BD05AA36-58C0-C78B-DD02-522F197D0126}"/>
              </a:ext>
            </a:extLst>
          </p:cNvPr>
          <p:cNvSpPr/>
          <p:nvPr/>
        </p:nvSpPr>
        <p:spPr>
          <a:xfrm>
            <a:off x="12573000" y="838200"/>
            <a:ext cx="4241800" cy="1929384"/>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One ring splits the tests: on Precon1 alone, the decreases (FP P = 0.030, shuffles P = 0.039, rats’ flips P = 0.090). It is one day’s cue effect, not the change, so it does not answer the question.</a:t>
            </a:r>
          </a:p>
        </p:txBody>
      </p:sp>
      <p:sp>
        <p:nvSpPr>
          <p:cNvPr id="12" name="!!T-BG">
            <a:extLst>
              <a:ext uri="{FF2B5EF4-FFF2-40B4-BE49-F238E27FC236}">
                <a16:creationId xmlns:a16="http://schemas.microsoft.com/office/drawing/2014/main" id="{2AAD385D-1B38-9079-DB62-D68D08D03D9C}"/>
              </a:ext>
            </a:extLst>
          </p:cNvPr>
          <p:cNvSpPr/>
          <p:nvPr/>
        </p:nvSpPr>
        <p:spPr>
          <a:xfrm>
            <a:off x="1905000" y="1905000"/>
            <a:ext cx="8382000" cy="3048000"/>
          </a:xfrm>
          <a:prstGeom prst="snip2DiagRect">
            <a:avLst>
              <a:gd name="adj1" fmla="val 0"/>
              <a:gd name="adj2" fmla="val 16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
            <a:extLst>
              <a:ext uri="{FF2B5EF4-FFF2-40B4-BE49-F238E27FC236}">
                <a16:creationId xmlns:a16="http://schemas.microsoft.com/office/drawing/2014/main" id="{E20E7534-728D-C604-39A2-0C83A61D093C}"/>
              </a:ext>
            </a:extLst>
          </p:cNvPr>
          <p:cNvSpPr txBox="1"/>
          <p:nvPr/>
        </p:nvSpPr>
        <p:spPr>
          <a:xfrm>
            <a:off x="2286000" y="2032000"/>
            <a:ext cx="7620000" cy="2794000"/>
          </a:xfrm>
          <a:prstGeom prst="rect">
            <a:avLst/>
          </a:prstGeom>
          <a:noFill/>
        </p:spPr>
        <p:txBody>
          <a:bodyPr vert="horz" wrap="square" lIns="76200" tIns="50800" rIns="76200" bIns="50800" rtlCol="0" anchor="ctr">
            <a:noAutofit/>
          </a:bodyPr>
          <a:lstStyle/>
          <a:p>
            <a:pPr algn="ctr">
              <a:lnSpc>
                <a:spcPct val="95000"/>
              </a:lnSpc>
            </a:pPr>
            <a:r>
              <a:rPr lang="en-US" sz="4000" b="1">
                <a:solidFill>
                  <a:srgbClr val="FF0000"/>
                </a:solidFill>
                <a:latin typeface="Aptos Display" panose="020B0004020202020204" pitchFamily="34" charset="0"/>
              </a:rPr>
              <a:t>Figure 1</a:t>
            </a:r>
          </a:p>
          <a:p>
            <a:pPr algn="ctr">
              <a:lnSpc>
                <a:spcPct val="95000"/>
              </a:lnSpc>
            </a:pPr>
            <a:r>
              <a:rPr lang="en-US" sz="2000">
                <a:solidFill>
                  <a:srgbClr val="FFFFFF"/>
                </a:solidFill>
                <a:latin typeface="Aptos Display" panose="020B0004020202020204" pitchFamily="34" charset="0"/>
              </a:rPr>
              <a:t>Comparison 1, baseline → both cues, theta: the whole network</a:t>
            </a:r>
          </a:p>
        </p:txBody>
      </p:sp>
    </p:spTree>
    <p:extLst>
      <p:ext uri="{BB962C8B-B14F-4D97-AF65-F5344CB8AC3E}">
        <p14:creationId xmlns:p14="http://schemas.microsoft.com/office/powerpoint/2010/main" val="34096297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tage">
            <a:extLst>
              <a:ext uri="{FF2B5EF4-FFF2-40B4-BE49-F238E27FC236}">
                <a16:creationId xmlns:a16="http://schemas.microsoft.com/office/drawing/2014/main" id="{3F9FFB8D-9409-F06E-486A-09EEB14DE7EE}"/>
              </a:ext>
            </a:extLst>
          </p:cNvPr>
          <p:cNvSpPr/>
          <p:nvPr/>
        </p:nvSpPr>
        <p:spPr>
          <a:xfrm>
            <a:off x="0" y="685800"/>
            <a:ext cx="7670800" cy="6172200"/>
          </a:xfrm>
          <a:prstGeom prst="rect">
            <a:avLst/>
          </a:prstGeom>
          <a:solidFill>
            <a:srgbClr val="ECEC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F1_fp">
            <a:extLst>
              <a:ext uri="{FF2B5EF4-FFF2-40B4-BE49-F238E27FC236}">
                <a16:creationId xmlns:a16="http://schemas.microsoft.com/office/drawing/2014/main" id="{01928357-DE1C-7B22-45FB-1004CB6DF85C}"/>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287723" y="901954"/>
            <a:ext cx="5120754" cy="5765292"/>
          </a:xfrm>
          <a:prstGeom prst="rect">
            <a:avLst/>
          </a:prstGeom>
          <a:ln w="9525">
            <a:solidFill>
              <a:srgbClr val="B0B0B0"/>
            </a:solidFill>
          </a:ln>
        </p:spPr>
      </p:pic>
      <p:sp>
        <p:nvSpPr>
          <p:cNvPr id="5" name="!!D1">
            <a:extLst>
              <a:ext uri="{FF2B5EF4-FFF2-40B4-BE49-F238E27FC236}">
                <a16:creationId xmlns:a16="http://schemas.microsoft.com/office/drawing/2014/main" id="{3F932B39-5D4E-BFD8-3FB1-E58683237DF2}"/>
              </a:ext>
            </a:extLst>
          </p:cNvPr>
          <p:cNvSpPr/>
          <p:nvPr/>
        </p:nvSpPr>
        <p:spPr>
          <a:xfrm>
            <a:off x="0" y="685800"/>
            <a:ext cx="7670800" cy="635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2">
            <a:extLst>
              <a:ext uri="{FF2B5EF4-FFF2-40B4-BE49-F238E27FC236}">
                <a16:creationId xmlns:a16="http://schemas.microsoft.com/office/drawing/2014/main" id="{E4A8AE74-57C5-5C6B-339B-2CAA4B05A2A6}"/>
              </a:ext>
            </a:extLst>
          </p:cNvPr>
          <p:cNvSpPr/>
          <p:nvPr/>
        </p:nvSpPr>
        <p:spPr>
          <a:xfrm>
            <a:off x="0" y="6858000"/>
            <a:ext cx="7670800" cy="635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3">
            <a:extLst>
              <a:ext uri="{FF2B5EF4-FFF2-40B4-BE49-F238E27FC236}">
                <a16:creationId xmlns:a16="http://schemas.microsoft.com/office/drawing/2014/main" id="{C1D5573E-0978-D289-63DC-24946113D57C}"/>
              </a:ext>
            </a:extLst>
          </p:cNvPr>
          <p:cNvSpPr/>
          <p:nvPr/>
        </p:nvSpPr>
        <p:spPr>
          <a:xfrm>
            <a:off x="0" y="685800"/>
            <a:ext cx="6350" cy="617220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4">
            <a:extLst>
              <a:ext uri="{FF2B5EF4-FFF2-40B4-BE49-F238E27FC236}">
                <a16:creationId xmlns:a16="http://schemas.microsoft.com/office/drawing/2014/main" id="{A3B4B779-896A-F34C-D7C6-07442E3AF46F}"/>
              </a:ext>
            </a:extLst>
          </p:cNvPr>
          <p:cNvSpPr/>
          <p:nvPr/>
        </p:nvSpPr>
        <p:spPr>
          <a:xfrm>
            <a:off x="7670800" y="685800"/>
            <a:ext cx="6350" cy="617220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ocus">
            <a:extLst>
              <a:ext uri="{FF2B5EF4-FFF2-40B4-BE49-F238E27FC236}">
                <a16:creationId xmlns:a16="http://schemas.microsoft.com/office/drawing/2014/main" id="{7731380A-EF55-7411-8420-022B6A7BB928}"/>
              </a:ext>
            </a:extLst>
          </p:cNvPr>
          <p:cNvSpPr/>
          <p:nvPr/>
        </p:nvSpPr>
        <p:spPr>
          <a:xfrm>
            <a:off x="1315710" y="4512363"/>
            <a:ext cx="5093756" cy="1819199"/>
          </a:xfrm>
          <a:prstGeom prst="rect">
            <a:avLst/>
          </a:prstGeom>
          <a:solidFill>
            <a:srgbClr val="83CBEB">
              <a:alpha val="37000"/>
            </a:srgbClr>
          </a:solidFill>
          <a:ln w="38100">
            <a:solidFill>
              <a:srgbClr val="46B1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ail">
            <a:extLst>
              <a:ext uri="{FF2B5EF4-FFF2-40B4-BE49-F238E27FC236}">
                <a16:creationId xmlns:a16="http://schemas.microsoft.com/office/drawing/2014/main" id="{47439A98-5F92-BD5A-1137-ED11D1BEFFF9}"/>
              </a:ext>
            </a:extLst>
          </p:cNvPr>
          <p:cNvSpPr/>
          <p:nvPr/>
        </p:nvSpPr>
        <p:spPr>
          <a:xfrm>
            <a:off x="7670800" y="685800"/>
            <a:ext cx="4521200" cy="61722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N38">
            <a:extLst>
              <a:ext uri="{FF2B5EF4-FFF2-40B4-BE49-F238E27FC236}">
                <a16:creationId xmlns:a16="http://schemas.microsoft.com/office/drawing/2014/main" id="{4D0F50D0-40AC-999B-9A68-5F3BDC3F2329}"/>
              </a:ext>
            </a:extLst>
          </p:cNvPr>
          <p:cNvSpPr/>
          <p:nvPr/>
        </p:nvSpPr>
        <p:spPr>
          <a:xfrm>
            <a:off x="7797800" y="838200"/>
            <a:ext cx="4241800" cy="1362456"/>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The change in cue effect passes none of its 9 tests (smallest P = 0.14): no change from Precon1 to Precon4 here.</a:t>
            </a:r>
          </a:p>
        </p:txBody>
      </p:sp>
      <p:sp>
        <p:nvSpPr>
          <p:cNvPr id="12" name="!!N39">
            <a:extLst>
              <a:ext uri="{FF2B5EF4-FFF2-40B4-BE49-F238E27FC236}">
                <a16:creationId xmlns:a16="http://schemas.microsoft.com/office/drawing/2014/main" id="{A9C25843-674A-8946-8957-97E550802B2A}"/>
              </a:ext>
            </a:extLst>
          </p:cNvPr>
          <p:cNvSpPr/>
          <p:nvPr/>
        </p:nvSpPr>
        <p:spPr>
          <a:xfrm>
            <a:off x="12573000" y="1748028"/>
            <a:ext cx="4241800" cy="795528"/>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On Precon1 alone, the cue effect’s increases pass FP (P = 0.029).</a:t>
            </a:r>
          </a:p>
        </p:txBody>
      </p:sp>
      <p:sp>
        <p:nvSpPr>
          <p:cNvPr id="13" name="!!T-BG">
            <a:extLst>
              <a:ext uri="{FF2B5EF4-FFF2-40B4-BE49-F238E27FC236}">
                <a16:creationId xmlns:a16="http://schemas.microsoft.com/office/drawing/2014/main" id="{4B94DA19-B187-9F07-F5D9-610F5F3A5C5F}"/>
              </a:ext>
            </a:extLst>
          </p:cNvPr>
          <p:cNvSpPr/>
          <p:nvPr/>
        </p:nvSpPr>
        <p:spPr>
          <a:xfrm>
            <a:off x="-381000" y="0"/>
            <a:ext cx="12954000" cy="685800"/>
          </a:xfrm>
          <a:prstGeom prst="snip2DiagRect">
            <a:avLst>
              <a:gd name="adj1" fmla="val 0"/>
              <a:gd name="adj2" fmla="val 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
            <a:extLst>
              <a:ext uri="{FF2B5EF4-FFF2-40B4-BE49-F238E27FC236}">
                <a16:creationId xmlns:a16="http://schemas.microsoft.com/office/drawing/2014/main" id="{8E357574-444D-C009-5DBA-00EEE2D50918}"/>
              </a:ext>
            </a:extLst>
          </p:cNvPr>
          <p:cNvSpPr txBox="1"/>
          <p:nvPr/>
        </p:nvSpPr>
        <p:spPr>
          <a:xfrm>
            <a:off x="127000" y="0"/>
            <a:ext cx="11811000" cy="685800"/>
          </a:xfrm>
          <a:prstGeom prst="rect">
            <a:avLst/>
          </a:prstGeom>
          <a:noFill/>
        </p:spPr>
        <p:txBody>
          <a:bodyPr vert="horz" wrap="square" lIns="76200" tIns="25400" rIns="76200" bIns="25400" rtlCol="0" anchor="ctr">
            <a:noAutofit/>
          </a:bodyPr>
          <a:lstStyle/>
          <a:p>
            <a:pPr>
              <a:lnSpc>
                <a:spcPct val="95000"/>
              </a:lnSpc>
            </a:pPr>
            <a:r>
              <a:rPr lang="en-US" sz="2400" b="1" u="sng">
                <a:solidFill>
                  <a:srgbClr val="FFFFFF"/>
                </a:solidFill>
                <a:latin typeface="Aptos Display" panose="020B0004020202020204" pitchFamily="34" charset="0"/>
              </a:rPr>
              <a:t>Figure 1 · baseline → both cues · theta</a:t>
            </a:r>
          </a:p>
        </p:txBody>
      </p:sp>
    </p:spTree>
    <p:extLst>
      <p:ext uri="{BB962C8B-B14F-4D97-AF65-F5344CB8AC3E}">
        <p14:creationId xmlns:p14="http://schemas.microsoft.com/office/powerpoint/2010/main" val="332482710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tage">
            <a:extLst>
              <a:ext uri="{FF2B5EF4-FFF2-40B4-BE49-F238E27FC236}">
                <a16:creationId xmlns:a16="http://schemas.microsoft.com/office/drawing/2014/main" id="{1F06163D-3D21-EDF5-CA2A-9FB653E06C88}"/>
              </a:ext>
            </a:extLst>
          </p:cNvPr>
          <p:cNvSpPr/>
          <p:nvPr/>
        </p:nvSpPr>
        <p:spPr>
          <a:xfrm>
            <a:off x="0" y="685800"/>
            <a:ext cx="7670800" cy="6172200"/>
          </a:xfrm>
          <a:prstGeom prst="rect">
            <a:avLst/>
          </a:prstGeom>
          <a:solidFill>
            <a:srgbClr val="ECEC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F1_fp">
            <a:extLst>
              <a:ext uri="{FF2B5EF4-FFF2-40B4-BE49-F238E27FC236}">
                <a16:creationId xmlns:a16="http://schemas.microsoft.com/office/drawing/2014/main" id="{1B6C09E1-24A1-2F75-3C8B-F6014AB0CF1B}"/>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287723" y="901954"/>
            <a:ext cx="5120754" cy="5765292"/>
          </a:xfrm>
          <a:prstGeom prst="rect">
            <a:avLst/>
          </a:prstGeom>
          <a:ln w="9525">
            <a:solidFill>
              <a:srgbClr val="B0B0B0"/>
            </a:solidFill>
          </a:ln>
        </p:spPr>
      </p:pic>
      <p:sp>
        <p:nvSpPr>
          <p:cNvPr id="5" name="!!D1">
            <a:extLst>
              <a:ext uri="{FF2B5EF4-FFF2-40B4-BE49-F238E27FC236}">
                <a16:creationId xmlns:a16="http://schemas.microsoft.com/office/drawing/2014/main" id="{8CDF503B-ECE7-18C9-F470-E3B00250A03D}"/>
              </a:ext>
            </a:extLst>
          </p:cNvPr>
          <p:cNvSpPr/>
          <p:nvPr/>
        </p:nvSpPr>
        <p:spPr>
          <a:xfrm>
            <a:off x="0" y="685800"/>
            <a:ext cx="7670800" cy="635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2">
            <a:extLst>
              <a:ext uri="{FF2B5EF4-FFF2-40B4-BE49-F238E27FC236}">
                <a16:creationId xmlns:a16="http://schemas.microsoft.com/office/drawing/2014/main" id="{2E670DA7-5460-5A0B-E802-5088B6059010}"/>
              </a:ext>
            </a:extLst>
          </p:cNvPr>
          <p:cNvSpPr/>
          <p:nvPr/>
        </p:nvSpPr>
        <p:spPr>
          <a:xfrm>
            <a:off x="0" y="6858000"/>
            <a:ext cx="7670800" cy="635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3">
            <a:extLst>
              <a:ext uri="{FF2B5EF4-FFF2-40B4-BE49-F238E27FC236}">
                <a16:creationId xmlns:a16="http://schemas.microsoft.com/office/drawing/2014/main" id="{84CFC403-96F0-CC84-97B5-D562A3D17C6D}"/>
              </a:ext>
            </a:extLst>
          </p:cNvPr>
          <p:cNvSpPr/>
          <p:nvPr/>
        </p:nvSpPr>
        <p:spPr>
          <a:xfrm>
            <a:off x="0" y="685800"/>
            <a:ext cx="6350" cy="617220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4">
            <a:extLst>
              <a:ext uri="{FF2B5EF4-FFF2-40B4-BE49-F238E27FC236}">
                <a16:creationId xmlns:a16="http://schemas.microsoft.com/office/drawing/2014/main" id="{55AB2AE0-7557-0DE1-E5FF-970DB35702FC}"/>
              </a:ext>
            </a:extLst>
          </p:cNvPr>
          <p:cNvSpPr/>
          <p:nvPr/>
        </p:nvSpPr>
        <p:spPr>
          <a:xfrm>
            <a:off x="7670800" y="685800"/>
            <a:ext cx="6350" cy="617220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ocus">
            <a:extLst>
              <a:ext uri="{FF2B5EF4-FFF2-40B4-BE49-F238E27FC236}">
                <a16:creationId xmlns:a16="http://schemas.microsoft.com/office/drawing/2014/main" id="{20F7331E-1948-84C5-8059-EB81DB7DB764}"/>
              </a:ext>
            </a:extLst>
          </p:cNvPr>
          <p:cNvSpPr/>
          <p:nvPr/>
        </p:nvSpPr>
        <p:spPr>
          <a:xfrm>
            <a:off x="1315710" y="1041892"/>
            <a:ext cx="5093756" cy="1819199"/>
          </a:xfrm>
          <a:prstGeom prst="rect">
            <a:avLst/>
          </a:prstGeom>
          <a:solidFill>
            <a:srgbClr val="83CBEB">
              <a:alpha val="37000"/>
            </a:srgbClr>
          </a:solidFill>
          <a:ln w="38100">
            <a:solidFill>
              <a:srgbClr val="46B1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ail">
            <a:extLst>
              <a:ext uri="{FF2B5EF4-FFF2-40B4-BE49-F238E27FC236}">
                <a16:creationId xmlns:a16="http://schemas.microsoft.com/office/drawing/2014/main" id="{0862B7E6-A2FA-C298-C91F-BADEE0C306B2}"/>
              </a:ext>
            </a:extLst>
          </p:cNvPr>
          <p:cNvSpPr/>
          <p:nvPr/>
        </p:nvSpPr>
        <p:spPr>
          <a:xfrm>
            <a:off x="7670800" y="685800"/>
            <a:ext cx="4521200" cy="61722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N38">
            <a:extLst>
              <a:ext uri="{FF2B5EF4-FFF2-40B4-BE49-F238E27FC236}">
                <a16:creationId xmlns:a16="http://schemas.microsoft.com/office/drawing/2014/main" id="{781C2DF2-98F6-5490-8EFF-2E0D61691CB5}"/>
              </a:ext>
            </a:extLst>
          </p:cNvPr>
          <p:cNvSpPr/>
          <p:nvPr/>
        </p:nvSpPr>
        <p:spPr>
          <a:xfrm>
            <a:off x="7797800" y="838200"/>
            <a:ext cx="4241800" cy="795528"/>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The change in cue effect passes none of its 9 tests (smallest P = 0.14): no change from Precon1 to Precon4 here.</a:t>
            </a:r>
          </a:p>
        </p:txBody>
      </p:sp>
      <p:sp>
        <p:nvSpPr>
          <p:cNvPr id="12" name="!!N39">
            <a:extLst>
              <a:ext uri="{FF2B5EF4-FFF2-40B4-BE49-F238E27FC236}">
                <a16:creationId xmlns:a16="http://schemas.microsoft.com/office/drawing/2014/main" id="{D6022438-641F-B9F0-6CEE-C0DB50555C45}"/>
              </a:ext>
            </a:extLst>
          </p:cNvPr>
          <p:cNvSpPr/>
          <p:nvPr/>
        </p:nvSpPr>
        <p:spPr>
          <a:xfrm>
            <a:off x="7797800" y="1748028"/>
            <a:ext cx="4241800" cy="795528"/>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On Precon1 alone, the cue effect’s increases pass FP (P = 0.029).</a:t>
            </a:r>
          </a:p>
        </p:txBody>
      </p:sp>
      <p:sp>
        <p:nvSpPr>
          <p:cNvPr id="13" name="!!T-BG">
            <a:extLst>
              <a:ext uri="{FF2B5EF4-FFF2-40B4-BE49-F238E27FC236}">
                <a16:creationId xmlns:a16="http://schemas.microsoft.com/office/drawing/2014/main" id="{9FC11C6C-3C75-E890-100B-29F4D4C646C4}"/>
              </a:ext>
            </a:extLst>
          </p:cNvPr>
          <p:cNvSpPr/>
          <p:nvPr/>
        </p:nvSpPr>
        <p:spPr>
          <a:xfrm>
            <a:off x="-381000" y="0"/>
            <a:ext cx="12954000" cy="685800"/>
          </a:xfrm>
          <a:prstGeom prst="snip2DiagRect">
            <a:avLst>
              <a:gd name="adj1" fmla="val 0"/>
              <a:gd name="adj2" fmla="val 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
            <a:extLst>
              <a:ext uri="{FF2B5EF4-FFF2-40B4-BE49-F238E27FC236}">
                <a16:creationId xmlns:a16="http://schemas.microsoft.com/office/drawing/2014/main" id="{308075A6-E81C-8C3A-4E12-9758C425EEA8}"/>
              </a:ext>
            </a:extLst>
          </p:cNvPr>
          <p:cNvSpPr txBox="1"/>
          <p:nvPr/>
        </p:nvSpPr>
        <p:spPr>
          <a:xfrm>
            <a:off x="127000" y="0"/>
            <a:ext cx="11811000" cy="685800"/>
          </a:xfrm>
          <a:prstGeom prst="rect">
            <a:avLst/>
          </a:prstGeom>
          <a:noFill/>
        </p:spPr>
        <p:txBody>
          <a:bodyPr vert="horz" wrap="square" lIns="76200" tIns="25400" rIns="76200" bIns="25400" rtlCol="0" anchor="ctr">
            <a:noAutofit/>
          </a:bodyPr>
          <a:lstStyle/>
          <a:p>
            <a:pPr>
              <a:lnSpc>
                <a:spcPct val="95000"/>
              </a:lnSpc>
            </a:pPr>
            <a:r>
              <a:rPr lang="en-US" sz="2400" b="1" u="sng">
                <a:solidFill>
                  <a:srgbClr val="FFFFFF"/>
                </a:solidFill>
                <a:latin typeface="Aptos Display" panose="020B0004020202020204" pitchFamily="34" charset="0"/>
              </a:rPr>
              <a:t>Figure 1 · baseline → both cues · theta</a:t>
            </a:r>
          </a:p>
        </p:txBody>
      </p:sp>
    </p:spTree>
    <p:extLst>
      <p:ext uri="{BB962C8B-B14F-4D97-AF65-F5344CB8AC3E}">
        <p14:creationId xmlns:p14="http://schemas.microsoft.com/office/powerpoint/2010/main" val="122580218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tage">
            <a:extLst>
              <a:ext uri="{FF2B5EF4-FFF2-40B4-BE49-F238E27FC236}">
                <a16:creationId xmlns:a16="http://schemas.microsoft.com/office/drawing/2014/main" id="{58CC0F9C-3ED3-FEF0-8ED8-C1C2D6DABB9A}"/>
              </a:ext>
            </a:extLst>
          </p:cNvPr>
          <p:cNvSpPr/>
          <p:nvPr/>
        </p:nvSpPr>
        <p:spPr>
          <a:xfrm>
            <a:off x="0" y="685800"/>
            <a:ext cx="7670800" cy="6172200"/>
          </a:xfrm>
          <a:prstGeom prst="rect">
            <a:avLst/>
          </a:prstGeom>
          <a:solidFill>
            <a:srgbClr val="ECEC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F3_fp">
            <a:extLst>
              <a:ext uri="{FF2B5EF4-FFF2-40B4-BE49-F238E27FC236}">
                <a16:creationId xmlns:a16="http://schemas.microsoft.com/office/drawing/2014/main" id="{AB915784-1893-DD6E-EB67-F1951F536BA8}"/>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1287723" y="901954"/>
            <a:ext cx="5120754" cy="5765292"/>
          </a:xfrm>
          <a:prstGeom prst="rect">
            <a:avLst/>
          </a:prstGeom>
          <a:ln w="9525">
            <a:solidFill>
              <a:srgbClr val="B0B0B0"/>
            </a:solidFill>
          </a:ln>
        </p:spPr>
      </p:pic>
      <p:sp>
        <p:nvSpPr>
          <p:cNvPr id="5" name="!!D1">
            <a:extLst>
              <a:ext uri="{FF2B5EF4-FFF2-40B4-BE49-F238E27FC236}">
                <a16:creationId xmlns:a16="http://schemas.microsoft.com/office/drawing/2014/main" id="{EBD3F33E-3B35-AFBB-13F0-6118ADBB2B73}"/>
              </a:ext>
            </a:extLst>
          </p:cNvPr>
          <p:cNvSpPr/>
          <p:nvPr/>
        </p:nvSpPr>
        <p:spPr>
          <a:xfrm>
            <a:off x="0" y="685800"/>
            <a:ext cx="7670800" cy="635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2">
            <a:extLst>
              <a:ext uri="{FF2B5EF4-FFF2-40B4-BE49-F238E27FC236}">
                <a16:creationId xmlns:a16="http://schemas.microsoft.com/office/drawing/2014/main" id="{A1C372AB-9457-9873-AB73-1F90722A5EE2}"/>
              </a:ext>
            </a:extLst>
          </p:cNvPr>
          <p:cNvSpPr/>
          <p:nvPr/>
        </p:nvSpPr>
        <p:spPr>
          <a:xfrm>
            <a:off x="0" y="6858000"/>
            <a:ext cx="7670800" cy="635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3">
            <a:extLst>
              <a:ext uri="{FF2B5EF4-FFF2-40B4-BE49-F238E27FC236}">
                <a16:creationId xmlns:a16="http://schemas.microsoft.com/office/drawing/2014/main" id="{49C2D1C8-399A-FD59-3E55-6CD31E659C6A}"/>
              </a:ext>
            </a:extLst>
          </p:cNvPr>
          <p:cNvSpPr/>
          <p:nvPr/>
        </p:nvSpPr>
        <p:spPr>
          <a:xfrm>
            <a:off x="0" y="685800"/>
            <a:ext cx="6350" cy="617220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4">
            <a:extLst>
              <a:ext uri="{FF2B5EF4-FFF2-40B4-BE49-F238E27FC236}">
                <a16:creationId xmlns:a16="http://schemas.microsoft.com/office/drawing/2014/main" id="{301A8E73-5826-3124-EF59-53D6A81DF510}"/>
              </a:ext>
            </a:extLst>
          </p:cNvPr>
          <p:cNvSpPr/>
          <p:nvPr/>
        </p:nvSpPr>
        <p:spPr>
          <a:xfrm>
            <a:off x="7670800" y="685800"/>
            <a:ext cx="6350" cy="617220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ail">
            <a:extLst>
              <a:ext uri="{FF2B5EF4-FFF2-40B4-BE49-F238E27FC236}">
                <a16:creationId xmlns:a16="http://schemas.microsoft.com/office/drawing/2014/main" id="{AD7199B5-332F-5A3B-5629-D203EAD659C1}"/>
              </a:ext>
            </a:extLst>
          </p:cNvPr>
          <p:cNvSpPr/>
          <p:nvPr/>
        </p:nvSpPr>
        <p:spPr>
          <a:xfrm>
            <a:off x="7670800" y="685800"/>
            <a:ext cx="4521200" cy="61722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N40">
            <a:extLst>
              <a:ext uri="{FF2B5EF4-FFF2-40B4-BE49-F238E27FC236}">
                <a16:creationId xmlns:a16="http://schemas.microsoft.com/office/drawing/2014/main" id="{95411A27-8827-DDF5-8D98-B94E21297E85}"/>
              </a:ext>
            </a:extLst>
          </p:cNvPr>
          <p:cNvSpPr/>
          <p:nvPr/>
        </p:nvSpPr>
        <p:spPr>
          <a:xfrm>
            <a:off x="12573000" y="838200"/>
            <a:ext cx="4241800" cy="1362456"/>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The change in cue effect passes none of its 9 tests (smallest P = 0.16): no change from Precon1 to Precon4 here.</a:t>
            </a:r>
          </a:p>
        </p:txBody>
      </p:sp>
      <p:sp>
        <p:nvSpPr>
          <p:cNvPr id="11" name="!!N38">
            <a:extLst>
              <a:ext uri="{FF2B5EF4-FFF2-40B4-BE49-F238E27FC236}">
                <a16:creationId xmlns:a16="http://schemas.microsoft.com/office/drawing/2014/main" id="{74F7CE9E-8EAB-49A3-9D16-0546F027081E}"/>
              </a:ext>
            </a:extLst>
          </p:cNvPr>
          <p:cNvSpPr/>
          <p:nvPr/>
        </p:nvSpPr>
        <p:spPr>
          <a:xfrm>
            <a:off x="12573000" y="838200"/>
            <a:ext cx="4241800" cy="795528"/>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The change in cue effect passes none of its 9 tests (smallest P = 0.14): no change from Precon1 to Precon4 here.</a:t>
            </a:r>
          </a:p>
        </p:txBody>
      </p:sp>
      <p:sp>
        <p:nvSpPr>
          <p:cNvPr id="12" name="!!N39">
            <a:extLst>
              <a:ext uri="{FF2B5EF4-FFF2-40B4-BE49-F238E27FC236}">
                <a16:creationId xmlns:a16="http://schemas.microsoft.com/office/drawing/2014/main" id="{D21EF8B0-E773-3BE0-DB28-419905D791D9}"/>
              </a:ext>
            </a:extLst>
          </p:cNvPr>
          <p:cNvSpPr/>
          <p:nvPr/>
        </p:nvSpPr>
        <p:spPr>
          <a:xfrm>
            <a:off x="12573000" y="1748028"/>
            <a:ext cx="4241800" cy="795528"/>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On Precon1 alone, the cue effect’s increases pass FP (P = 0.029).</a:t>
            </a:r>
          </a:p>
        </p:txBody>
      </p:sp>
      <p:sp>
        <p:nvSpPr>
          <p:cNvPr id="13" name="!!T-BG">
            <a:extLst>
              <a:ext uri="{FF2B5EF4-FFF2-40B4-BE49-F238E27FC236}">
                <a16:creationId xmlns:a16="http://schemas.microsoft.com/office/drawing/2014/main" id="{C3C56F00-8614-795C-13EA-BFBD2535B9DA}"/>
              </a:ext>
            </a:extLst>
          </p:cNvPr>
          <p:cNvSpPr/>
          <p:nvPr/>
        </p:nvSpPr>
        <p:spPr>
          <a:xfrm>
            <a:off x="1905000" y="1905000"/>
            <a:ext cx="8382000" cy="3048000"/>
          </a:xfrm>
          <a:prstGeom prst="snip2DiagRect">
            <a:avLst>
              <a:gd name="adj1" fmla="val 0"/>
              <a:gd name="adj2" fmla="val 16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
            <a:extLst>
              <a:ext uri="{FF2B5EF4-FFF2-40B4-BE49-F238E27FC236}">
                <a16:creationId xmlns:a16="http://schemas.microsoft.com/office/drawing/2014/main" id="{95C772D1-9D55-A169-0860-F5FD77D4F4FD}"/>
              </a:ext>
            </a:extLst>
          </p:cNvPr>
          <p:cNvSpPr txBox="1"/>
          <p:nvPr/>
        </p:nvSpPr>
        <p:spPr>
          <a:xfrm>
            <a:off x="2286000" y="2032000"/>
            <a:ext cx="7620000" cy="2794000"/>
          </a:xfrm>
          <a:prstGeom prst="rect">
            <a:avLst/>
          </a:prstGeom>
          <a:noFill/>
        </p:spPr>
        <p:txBody>
          <a:bodyPr vert="horz" wrap="square" lIns="76200" tIns="50800" rIns="76200" bIns="50800" rtlCol="0" anchor="ctr">
            <a:noAutofit/>
          </a:bodyPr>
          <a:lstStyle/>
          <a:p>
            <a:pPr algn="ctr">
              <a:lnSpc>
                <a:spcPct val="95000"/>
              </a:lnSpc>
            </a:pPr>
            <a:r>
              <a:rPr lang="en-US" sz="4000" b="1">
                <a:solidFill>
                  <a:srgbClr val="FF0000"/>
                </a:solidFill>
                <a:latin typeface="Aptos Display" panose="020B0004020202020204" pitchFamily="34" charset="0"/>
              </a:rPr>
              <a:t>Figure 3</a:t>
            </a:r>
          </a:p>
          <a:p>
            <a:pPr algn="ctr">
              <a:lnSpc>
                <a:spcPct val="95000"/>
              </a:lnSpc>
            </a:pPr>
            <a:r>
              <a:rPr lang="en-US" sz="2000">
                <a:solidFill>
                  <a:srgbClr val="FFFFFF"/>
                </a:solidFill>
                <a:latin typeface="Aptos Display" panose="020B0004020202020204" pitchFamily="34" charset="0"/>
              </a:rPr>
              <a:t>Comparison 2, baseline → cue 1, theta: the whole network</a:t>
            </a:r>
          </a:p>
        </p:txBody>
      </p:sp>
    </p:spTree>
    <p:extLst>
      <p:ext uri="{BB962C8B-B14F-4D97-AF65-F5344CB8AC3E}">
        <p14:creationId xmlns:p14="http://schemas.microsoft.com/office/powerpoint/2010/main" val="255975981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tage">
            <a:extLst>
              <a:ext uri="{FF2B5EF4-FFF2-40B4-BE49-F238E27FC236}">
                <a16:creationId xmlns:a16="http://schemas.microsoft.com/office/drawing/2014/main" id="{C455BADC-C812-0E13-5411-32CEEDE0F810}"/>
              </a:ext>
            </a:extLst>
          </p:cNvPr>
          <p:cNvSpPr/>
          <p:nvPr/>
        </p:nvSpPr>
        <p:spPr>
          <a:xfrm>
            <a:off x="0" y="685800"/>
            <a:ext cx="7670800" cy="6172200"/>
          </a:xfrm>
          <a:prstGeom prst="rect">
            <a:avLst/>
          </a:prstGeom>
          <a:solidFill>
            <a:srgbClr val="ECEC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F3_fp">
            <a:extLst>
              <a:ext uri="{FF2B5EF4-FFF2-40B4-BE49-F238E27FC236}">
                <a16:creationId xmlns:a16="http://schemas.microsoft.com/office/drawing/2014/main" id="{63BB41D3-FAD6-48E7-BB02-9A5B45FD2B88}"/>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287723" y="901954"/>
            <a:ext cx="5120754" cy="5765292"/>
          </a:xfrm>
          <a:prstGeom prst="rect">
            <a:avLst/>
          </a:prstGeom>
          <a:ln w="9525">
            <a:solidFill>
              <a:srgbClr val="B0B0B0"/>
            </a:solidFill>
          </a:ln>
        </p:spPr>
      </p:pic>
      <p:sp>
        <p:nvSpPr>
          <p:cNvPr id="5" name="!!D1">
            <a:extLst>
              <a:ext uri="{FF2B5EF4-FFF2-40B4-BE49-F238E27FC236}">
                <a16:creationId xmlns:a16="http://schemas.microsoft.com/office/drawing/2014/main" id="{D1A546FA-DB97-039F-D378-4F5C794C2091}"/>
              </a:ext>
            </a:extLst>
          </p:cNvPr>
          <p:cNvSpPr/>
          <p:nvPr/>
        </p:nvSpPr>
        <p:spPr>
          <a:xfrm>
            <a:off x="0" y="685800"/>
            <a:ext cx="7670800" cy="635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2">
            <a:extLst>
              <a:ext uri="{FF2B5EF4-FFF2-40B4-BE49-F238E27FC236}">
                <a16:creationId xmlns:a16="http://schemas.microsoft.com/office/drawing/2014/main" id="{7BB9640C-39C4-1C56-5646-2D6B468EFE47}"/>
              </a:ext>
            </a:extLst>
          </p:cNvPr>
          <p:cNvSpPr/>
          <p:nvPr/>
        </p:nvSpPr>
        <p:spPr>
          <a:xfrm>
            <a:off x="0" y="6858000"/>
            <a:ext cx="7670800" cy="635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3">
            <a:extLst>
              <a:ext uri="{FF2B5EF4-FFF2-40B4-BE49-F238E27FC236}">
                <a16:creationId xmlns:a16="http://schemas.microsoft.com/office/drawing/2014/main" id="{60D48373-75A6-B6F7-48AA-852CDB3F8D1B}"/>
              </a:ext>
            </a:extLst>
          </p:cNvPr>
          <p:cNvSpPr/>
          <p:nvPr/>
        </p:nvSpPr>
        <p:spPr>
          <a:xfrm>
            <a:off x="0" y="685800"/>
            <a:ext cx="6350" cy="617220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4">
            <a:extLst>
              <a:ext uri="{FF2B5EF4-FFF2-40B4-BE49-F238E27FC236}">
                <a16:creationId xmlns:a16="http://schemas.microsoft.com/office/drawing/2014/main" id="{C16A04AB-2C6C-CD8B-4D95-8441B2D50753}"/>
              </a:ext>
            </a:extLst>
          </p:cNvPr>
          <p:cNvSpPr/>
          <p:nvPr/>
        </p:nvSpPr>
        <p:spPr>
          <a:xfrm>
            <a:off x="7670800" y="685800"/>
            <a:ext cx="6350" cy="617220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ocus">
            <a:extLst>
              <a:ext uri="{FF2B5EF4-FFF2-40B4-BE49-F238E27FC236}">
                <a16:creationId xmlns:a16="http://schemas.microsoft.com/office/drawing/2014/main" id="{B77812A5-1DC0-E21C-DA21-CDDB67E29067}"/>
              </a:ext>
            </a:extLst>
          </p:cNvPr>
          <p:cNvSpPr/>
          <p:nvPr/>
        </p:nvSpPr>
        <p:spPr>
          <a:xfrm>
            <a:off x="1315710" y="4512363"/>
            <a:ext cx="5093756" cy="1819199"/>
          </a:xfrm>
          <a:prstGeom prst="rect">
            <a:avLst/>
          </a:prstGeom>
          <a:solidFill>
            <a:srgbClr val="83CBEB">
              <a:alpha val="37000"/>
            </a:srgbClr>
          </a:solidFill>
          <a:ln w="38100">
            <a:solidFill>
              <a:srgbClr val="46B1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ail">
            <a:extLst>
              <a:ext uri="{FF2B5EF4-FFF2-40B4-BE49-F238E27FC236}">
                <a16:creationId xmlns:a16="http://schemas.microsoft.com/office/drawing/2014/main" id="{7D659F6C-2CFC-B567-9CF3-A9B61496E5B6}"/>
              </a:ext>
            </a:extLst>
          </p:cNvPr>
          <p:cNvSpPr/>
          <p:nvPr/>
        </p:nvSpPr>
        <p:spPr>
          <a:xfrm>
            <a:off x="7670800" y="685800"/>
            <a:ext cx="4521200" cy="61722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N40">
            <a:extLst>
              <a:ext uri="{FF2B5EF4-FFF2-40B4-BE49-F238E27FC236}">
                <a16:creationId xmlns:a16="http://schemas.microsoft.com/office/drawing/2014/main" id="{76E3FA72-9141-C177-D058-2B3DE0654D93}"/>
              </a:ext>
            </a:extLst>
          </p:cNvPr>
          <p:cNvSpPr/>
          <p:nvPr/>
        </p:nvSpPr>
        <p:spPr>
          <a:xfrm>
            <a:off x="7797800" y="838200"/>
            <a:ext cx="4241800" cy="1362456"/>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The change in cue effect passes none of its 9 tests (smallest P = 0.16): no change from Precon1 to Precon4 here.</a:t>
            </a:r>
          </a:p>
        </p:txBody>
      </p:sp>
      <p:sp>
        <p:nvSpPr>
          <p:cNvPr id="12" name="!!N41">
            <a:extLst>
              <a:ext uri="{FF2B5EF4-FFF2-40B4-BE49-F238E27FC236}">
                <a16:creationId xmlns:a16="http://schemas.microsoft.com/office/drawing/2014/main" id="{2892D233-0539-FD03-AFD9-D87D3C485190}"/>
              </a:ext>
            </a:extLst>
          </p:cNvPr>
          <p:cNvSpPr/>
          <p:nvPr/>
        </p:nvSpPr>
        <p:spPr>
          <a:xfrm>
            <a:off x="12573000" y="1748028"/>
            <a:ext cx="4241800" cy="1362456"/>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On Precon1 alone, the cue-1 effect’s increases pass FP (P = 0.007); the cue-1 effect’s ups and downs together pass FP (P = 0.018).</a:t>
            </a:r>
          </a:p>
        </p:txBody>
      </p:sp>
      <p:sp>
        <p:nvSpPr>
          <p:cNvPr id="13" name="!!T-BG">
            <a:extLst>
              <a:ext uri="{FF2B5EF4-FFF2-40B4-BE49-F238E27FC236}">
                <a16:creationId xmlns:a16="http://schemas.microsoft.com/office/drawing/2014/main" id="{75C3297B-3FA0-6948-C63A-394E30061596}"/>
              </a:ext>
            </a:extLst>
          </p:cNvPr>
          <p:cNvSpPr/>
          <p:nvPr/>
        </p:nvSpPr>
        <p:spPr>
          <a:xfrm>
            <a:off x="-381000" y="0"/>
            <a:ext cx="12954000" cy="685800"/>
          </a:xfrm>
          <a:prstGeom prst="snip2DiagRect">
            <a:avLst>
              <a:gd name="adj1" fmla="val 0"/>
              <a:gd name="adj2" fmla="val 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
            <a:extLst>
              <a:ext uri="{FF2B5EF4-FFF2-40B4-BE49-F238E27FC236}">
                <a16:creationId xmlns:a16="http://schemas.microsoft.com/office/drawing/2014/main" id="{4AB4B21B-DCBD-6F24-4F98-F76F3346635C}"/>
              </a:ext>
            </a:extLst>
          </p:cNvPr>
          <p:cNvSpPr txBox="1"/>
          <p:nvPr/>
        </p:nvSpPr>
        <p:spPr>
          <a:xfrm>
            <a:off x="127000" y="0"/>
            <a:ext cx="11811000" cy="685800"/>
          </a:xfrm>
          <a:prstGeom prst="rect">
            <a:avLst/>
          </a:prstGeom>
          <a:noFill/>
        </p:spPr>
        <p:txBody>
          <a:bodyPr vert="horz" wrap="square" lIns="76200" tIns="25400" rIns="76200" bIns="25400" rtlCol="0" anchor="ctr">
            <a:noAutofit/>
          </a:bodyPr>
          <a:lstStyle/>
          <a:p>
            <a:pPr>
              <a:lnSpc>
                <a:spcPct val="95000"/>
              </a:lnSpc>
            </a:pPr>
            <a:r>
              <a:rPr lang="en-US" sz="2400" b="1" u="sng">
                <a:solidFill>
                  <a:srgbClr val="FFFFFF"/>
                </a:solidFill>
                <a:latin typeface="Aptos Display" panose="020B0004020202020204" pitchFamily="34" charset="0"/>
              </a:rPr>
              <a:t>Figure 3 · baseline → cue 1 · theta</a:t>
            </a:r>
          </a:p>
        </p:txBody>
      </p:sp>
    </p:spTree>
    <p:extLst>
      <p:ext uri="{BB962C8B-B14F-4D97-AF65-F5344CB8AC3E}">
        <p14:creationId xmlns:p14="http://schemas.microsoft.com/office/powerpoint/2010/main" val="284050781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tage">
            <a:extLst>
              <a:ext uri="{FF2B5EF4-FFF2-40B4-BE49-F238E27FC236}">
                <a16:creationId xmlns:a16="http://schemas.microsoft.com/office/drawing/2014/main" id="{A3892F52-CF5D-DB1B-3383-B34F2E11FD4E}"/>
              </a:ext>
            </a:extLst>
          </p:cNvPr>
          <p:cNvSpPr/>
          <p:nvPr/>
        </p:nvSpPr>
        <p:spPr>
          <a:xfrm>
            <a:off x="0" y="685800"/>
            <a:ext cx="7670800" cy="6172200"/>
          </a:xfrm>
          <a:prstGeom prst="rect">
            <a:avLst/>
          </a:prstGeom>
          <a:solidFill>
            <a:srgbClr val="ECEC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F3_fp">
            <a:extLst>
              <a:ext uri="{FF2B5EF4-FFF2-40B4-BE49-F238E27FC236}">
                <a16:creationId xmlns:a16="http://schemas.microsoft.com/office/drawing/2014/main" id="{A8CF8B63-157C-9E37-76F4-3C351F21CDAC}"/>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287723" y="901954"/>
            <a:ext cx="5120754" cy="5765292"/>
          </a:xfrm>
          <a:prstGeom prst="rect">
            <a:avLst/>
          </a:prstGeom>
          <a:ln w="9525">
            <a:solidFill>
              <a:srgbClr val="B0B0B0"/>
            </a:solidFill>
          </a:ln>
        </p:spPr>
      </p:pic>
      <p:sp>
        <p:nvSpPr>
          <p:cNvPr id="5" name="!!D1">
            <a:extLst>
              <a:ext uri="{FF2B5EF4-FFF2-40B4-BE49-F238E27FC236}">
                <a16:creationId xmlns:a16="http://schemas.microsoft.com/office/drawing/2014/main" id="{D9ADD6D2-3731-FD4B-7B6B-D56E0B17539A}"/>
              </a:ext>
            </a:extLst>
          </p:cNvPr>
          <p:cNvSpPr/>
          <p:nvPr/>
        </p:nvSpPr>
        <p:spPr>
          <a:xfrm>
            <a:off x="0" y="685800"/>
            <a:ext cx="7670800" cy="635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2">
            <a:extLst>
              <a:ext uri="{FF2B5EF4-FFF2-40B4-BE49-F238E27FC236}">
                <a16:creationId xmlns:a16="http://schemas.microsoft.com/office/drawing/2014/main" id="{80BF4B82-6A86-749C-DEF0-BDBE2A336E7A}"/>
              </a:ext>
            </a:extLst>
          </p:cNvPr>
          <p:cNvSpPr/>
          <p:nvPr/>
        </p:nvSpPr>
        <p:spPr>
          <a:xfrm>
            <a:off x="0" y="6858000"/>
            <a:ext cx="7670800" cy="635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3">
            <a:extLst>
              <a:ext uri="{FF2B5EF4-FFF2-40B4-BE49-F238E27FC236}">
                <a16:creationId xmlns:a16="http://schemas.microsoft.com/office/drawing/2014/main" id="{C0A2D5C9-EA6B-4E71-9F90-39A76F82EBF9}"/>
              </a:ext>
            </a:extLst>
          </p:cNvPr>
          <p:cNvSpPr/>
          <p:nvPr/>
        </p:nvSpPr>
        <p:spPr>
          <a:xfrm>
            <a:off x="0" y="685800"/>
            <a:ext cx="6350" cy="617220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4">
            <a:extLst>
              <a:ext uri="{FF2B5EF4-FFF2-40B4-BE49-F238E27FC236}">
                <a16:creationId xmlns:a16="http://schemas.microsoft.com/office/drawing/2014/main" id="{DBD50C0B-CBA9-84BD-CBA0-4D0369BEB194}"/>
              </a:ext>
            </a:extLst>
          </p:cNvPr>
          <p:cNvSpPr/>
          <p:nvPr/>
        </p:nvSpPr>
        <p:spPr>
          <a:xfrm>
            <a:off x="7670800" y="685800"/>
            <a:ext cx="6350" cy="617220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ocus">
            <a:extLst>
              <a:ext uri="{FF2B5EF4-FFF2-40B4-BE49-F238E27FC236}">
                <a16:creationId xmlns:a16="http://schemas.microsoft.com/office/drawing/2014/main" id="{EE819CFA-C61B-EDE9-3528-6288604FEBB7}"/>
              </a:ext>
            </a:extLst>
          </p:cNvPr>
          <p:cNvSpPr/>
          <p:nvPr/>
        </p:nvSpPr>
        <p:spPr>
          <a:xfrm>
            <a:off x="1315710" y="1041892"/>
            <a:ext cx="5093756" cy="1819199"/>
          </a:xfrm>
          <a:prstGeom prst="rect">
            <a:avLst/>
          </a:prstGeom>
          <a:solidFill>
            <a:srgbClr val="83CBEB">
              <a:alpha val="37000"/>
            </a:srgbClr>
          </a:solidFill>
          <a:ln w="38100">
            <a:solidFill>
              <a:srgbClr val="46B1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ail">
            <a:extLst>
              <a:ext uri="{FF2B5EF4-FFF2-40B4-BE49-F238E27FC236}">
                <a16:creationId xmlns:a16="http://schemas.microsoft.com/office/drawing/2014/main" id="{01D92EF3-DAA3-EEBF-13C0-F2ACBE2CF8CD}"/>
              </a:ext>
            </a:extLst>
          </p:cNvPr>
          <p:cNvSpPr/>
          <p:nvPr/>
        </p:nvSpPr>
        <p:spPr>
          <a:xfrm>
            <a:off x="7670800" y="685800"/>
            <a:ext cx="4521200" cy="61722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N40">
            <a:extLst>
              <a:ext uri="{FF2B5EF4-FFF2-40B4-BE49-F238E27FC236}">
                <a16:creationId xmlns:a16="http://schemas.microsoft.com/office/drawing/2014/main" id="{4E60101A-52D3-EF06-BD83-20518343DDEE}"/>
              </a:ext>
            </a:extLst>
          </p:cNvPr>
          <p:cNvSpPr/>
          <p:nvPr/>
        </p:nvSpPr>
        <p:spPr>
          <a:xfrm>
            <a:off x="7797800" y="838200"/>
            <a:ext cx="4241800" cy="795528"/>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The change in cue effect passes none of its 9 tests (smallest P = 0.16): no change from Precon1 to Precon4 here.</a:t>
            </a:r>
          </a:p>
        </p:txBody>
      </p:sp>
      <p:sp>
        <p:nvSpPr>
          <p:cNvPr id="12" name="!!N41">
            <a:extLst>
              <a:ext uri="{FF2B5EF4-FFF2-40B4-BE49-F238E27FC236}">
                <a16:creationId xmlns:a16="http://schemas.microsoft.com/office/drawing/2014/main" id="{1AB51590-A254-D2FA-7276-C49D57CED571}"/>
              </a:ext>
            </a:extLst>
          </p:cNvPr>
          <p:cNvSpPr/>
          <p:nvPr/>
        </p:nvSpPr>
        <p:spPr>
          <a:xfrm>
            <a:off x="7797800" y="1748028"/>
            <a:ext cx="4241800" cy="1362456"/>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On Precon1 alone, the cue-1 effect’s increases pass FP (P = 0.007); the cue-1 effect’s ups and downs together pass FP (P = 0.018).</a:t>
            </a:r>
          </a:p>
        </p:txBody>
      </p:sp>
      <p:sp>
        <p:nvSpPr>
          <p:cNvPr id="13" name="!!N42">
            <a:extLst>
              <a:ext uri="{FF2B5EF4-FFF2-40B4-BE49-F238E27FC236}">
                <a16:creationId xmlns:a16="http://schemas.microsoft.com/office/drawing/2014/main" id="{B22D4BC9-8ABA-EAB4-6E40-24A98D7A5A62}"/>
              </a:ext>
            </a:extLst>
          </p:cNvPr>
          <p:cNvSpPr/>
          <p:nvPr/>
        </p:nvSpPr>
        <p:spPr>
          <a:xfrm>
            <a:off x="12573000" y="2657856"/>
            <a:ext cx="4241800" cy="1929384"/>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On Precon4 alone, the cue-1 effect’s increases pass FP (P &lt; 0.001) and shuffles (P = 0.007); the cue-1 effect’s ups and downs together pass FP (P &lt; 0.001) and shuffles (P = 0.013).</a:t>
            </a:r>
          </a:p>
        </p:txBody>
      </p:sp>
      <p:sp>
        <p:nvSpPr>
          <p:cNvPr id="14" name="!!T-BG">
            <a:extLst>
              <a:ext uri="{FF2B5EF4-FFF2-40B4-BE49-F238E27FC236}">
                <a16:creationId xmlns:a16="http://schemas.microsoft.com/office/drawing/2014/main" id="{94C61CEC-D46D-6BD9-5AF0-EDF48C0CD735}"/>
              </a:ext>
            </a:extLst>
          </p:cNvPr>
          <p:cNvSpPr/>
          <p:nvPr/>
        </p:nvSpPr>
        <p:spPr>
          <a:xfrm>
            <a:off x="-381000" y="0"/>
            <a:ext cx="12954000" cy="685800"/>
          </a:xfrm>
          <a:prstGeom prst="snip2DiagRect">
            <a:avLst>
              <a:gd name="adj1" fmla="val 0"/>
              <a:gd name="adj2" fmla="val 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
            <a:extLst>
              <a:ext uri="{FF2B5EF4-FFF2-40B4-BE49-F238E27FC236}">
                <a16:creationId xmlns:a16="http://schemas.microsoft.com/office/drawing/2014/main" id="{496AF5A2-1C73-B0FF-281F-34BDC7EB0265}"/>
              </a:ext>
            </a:extLst>
          </p:cNvPr>
          <p:cNvSpPr txBox="1"/>
          <p:nvPr/>
        </p:nvSpPr>
        <p:spPr>
          <a:xfrm>
            <a:off x="127000" y="0"/>
            <a:ext cx="11811000" cy="685800"/>
          </a:xfrm>
          <a:prstGeom prst="rect">
            <a:avLst/>
          </a:prstGeom>
          <a:noFill/>
        </p:spPr>
        <p:txBody>
          <a:bodyPr vert="horz" wrap="square" lIns="76200" tIns="25400" rIns="76200" bIns="25400" rtlCol="0" anchor="ctr">
            <a:noAutofit/>
          </a:bodyPr>
          <a:lstStyle/>
          <a:p>
            <a:pPr>
              <a:lnSpc>
                <a:spcPct val="95000"/>
              </a:lnSpc>
            </a:pPr>
            <a:r>
              <a:rPr lang="en-US" sz="2400" b="1" u="sng">
                <a:solidFill>
                  <a:srgbClr val="FFFFFF"/>
                </a:solidFill>
                <a:latin typeface="Aptos Display" panose="020B0004020202020204" pitchFamily="34" charset="0"/>
              </a:rPr>
              <a:t>Figure 3 · baseline → cue 1 · theta</a:t>
            </a:r>
          </a:p>
        </p:txBody>
      </p:sp>
    </p:spTree>
    <p:extLst>
      <p:ext uri="{BB962C8B-B14F-4D97-AF65-F5344CB8AC3E}">
        <p14:creationId xmlns:p14="http://schemas.microsoft.com/office/powerpoint/2010/main" val="393888173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tage">
            <a:extLst>
              <a:ext uri="{FF2B5EF4-FFF2-40B4-BE49-F238E27FC236}">
                <a16:creationId xmlns:a16="http://schemas.microsoft.com/office/drawing/2014/main" id="{1FC75B20-DE27-4318-5DC3-AEE67979050C}"/>
              </a:ext>
            </a:extLst>
          </p:cNvPr>
          <p:cNvSpPr/>
          <p:nvPr/>
        </p:nvSpPr>
        <p:spPr>
          <a:xfrm>
            <a:off x="0" y="685800"/>
            <a:ext cx="7670800" cy="6172200"/>
          </a:xfrm>
          <a:prstGeom prst="rect">
            <a:avLst/>
          </a:prstGeom>
          <a:solidFill>
            <a:srgbClr val="ECEC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F3_fp">
            <a:extLst>
              <a:ext uri="{FF2B5EF4-FFF2-40B4-BE49-F238E27FC236}">
                <a16:creationId xmlns:a16="http://schemas.microsoft.com/office/drawing/2014/main" id="{A515C0CE-DD0E-AC2A-3155-90A9CFD3C9A6}"/>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287723" y="901954"/>
            <a:ext cx="5120754" cy="5765292"/>
          </a:xfrm>
          <a:prstGeom prst="rect">
            <a:avLst/>
          </a:prstGeom>
          <a:ln w="9525">
            <a:solidFill>
              <a:srgbClr val="B0B0B0"/>
            </a:solidFill>
          </a:ln>
        </p:spPr>
      </p:pic>
      <p:sp>
        <p:nvSpPr>
          <p:cNvPr id="5" name="!!D1">
            <a:extLst>
              <a:ext uri="{FF2B5EF4-FFF2-40B4-BE49-F238E27FC236}">
                <a16:creationId xmlns:a16="http://schemas.microsoft.com/office/drawing/2014/main" id="{996069A4-9B33-090C-AE66-0FDC56D32B0C}"/>
              </a:ext>
            </a:extLst>
          </p:cNvPr>
          <p:cNvSpPr/>
          <p:nvPr/>
        </p:nvSpPr>
        <p:spPr>
          <a:xfrm>
            <a:off x="0" y="685800"/>
            <a:ext cx="7670800" cy="635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2">
            <a:extLst>
              <a:ext uri="{FF2B5EF4-FFF2-40B4-BE49-F238E27FC236}">
                <a16:creationId xmlns:a16="http://schemas.microsoft.com/office/drawing/2014/main" id="{08FEC261-C6B2-40FA-D97E-99D41BCB40DC}"/>
              </a:ext>
            </a:extLst>
          </p:cNvPr>
          <p:cNvSpPr/>
          <p:nvPr/>
        </p:nvSpPr>
        <p:spPr>
          <a:xfrm>
            <a:off x="0" y="6858000"/>
            <a:ext cx="7670800" cy="635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3">
            <a:extLst>
              <a:ext uri="{FF2B5EF4-FFF2-40B4-BE49-F238E27FC236}">
                <a16:creationId xmlns:a16="http://schemas.microsoft.com/office/drawing/2014/main" id="{AD6FA5F4-D3CE-6F61-D8E2-8A2AC584FC42}"/>
              </a:ext>
            </a:extLst>
          </p:cNvPr>
          <p:cNvSpPr/>
          <p:nvPr/>
        </p:nvSpPr>
        <p:spPr>
          <a:xfrm>
            <a:off x="0" y="685800"/>
            <a:ext cx="6350" cy="617220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4">
            <a:extLst>
              <a:ext uri="{FF2B5EF4-FFF2-40B4-BE49-F238E27FC236}">
                <a16:creationId xmlns:a16="http://schemas.microsoft.com/office/drawing/2014/main" id="{F8413544-9183-670E-118E-B44884973233}"/>
              </a:ext>
            </a:extLst>
          </p:cNvPr>
          <p:cNvSpPr/>
          <p:nvPr/>
        </p:nvSpPr>
        <p:spPr>
          <a:xfrm>
            <a:off x="7670800" y="685800"/>
            <a:ext cx="6350" cy="617220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ocus">
            <a:extLst>
              <a:ext uri="{FF2B5EF4-FFF2-40B4-BE49-F238E27FC236}">
                <a16:creationId xmlns:a16="http://schemas.microsoft.com/office/drawing/2014/main" id="{BA6539FC-312A-97C0-3138-CD67FE130868}"/>
              </a:ext>
            </a:extLst>
          </p:cNvPr>
          <p:cNvSpPr/>
          <p:nvPr/>
        </p:nvSpPr>
        <p:spPr>
          <a:xfrm>
            <a:off x="1315710" y="2777128"/>
            <a:ext cx="5093756" cy="1819198"/>
          </a:xfrm>
          <a:prstGeom prst="rect">
            <a:avLst/>
          </a:prstGeom>
          <a:solidFill>
            <a:srgbClr val="83CBEB">
              <a:alpha val="37000"/>
            </a:srgbClr>
          </a:solidFill>
          <a:ln w="38100">
            <a:solidFill>
              <a:srgbClr val="46B1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ail">
            <a:extLst>
              <a:ext uri="{FF2B5EF4-FFF2-40B4-BE49-F238E27FC236}">
                <a16:creationId xmlns:a16="http://schemas.microsoft.com/office/drawing/2014/main" id="{5D807FBE-E2F5-0160-260D-02D3466D50FC}"/>
              </a:ext>
            </a:extLst>
          </p:cNvPr>
          <p:cNvSpPr/>
          <p:nvPr/>
        </p:nvSpPr>
        <p:spPr>
          <a:xfrm>
            <a:off x="7670800" y="685800"/>
            <a:ext cx="4521200" cy="61722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N40">
            <a:extLst>
              <a:ext uri="{FF2B5EF4-FFF2-40B4-BE49-F238E27FC236}">
                <a16:creationId xmlns:a16="http://schemas.microsoft.com/office/drawing/2014/main" id="{81F13D7B-90FA-2A2C-8F98-DF36C9AA74C5}"/>
              </a:ext>
            </a:extLst>
          </p:cNvPr>
          <p:cNvSpPr/>
          <p:nvPr/>
        </p:nvSpPr>
        <p:spPr>
          <a:xfrm>
            <a:off x="7797800" y="838200"/>
            <a:ext cx="4241800" cy="795528"/>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The change in cue effect passes none of its 9 tests (smallest P = 0.16): no change from Precon1 to Precon4 here.</a:t>
            </a:r>
          </a:p>
        </p:txBody>
      </p:sp>
      <p:sp>
        <p:nvSpPr>
          <p:cNvPr id="12" name="!!N41">
            <a:extLst>
              <a:ext uri="{FF2B5EF4-FFF2-40B4-BE49-F238E27FC236}">
                <a16:creationId xmlns:a16="http://schemas.microsoft.com/office/drawing/2014/main" id="{1F5AC129-4030-C952-9E0B-D12AF10B7F32}"/>
              </a:ext>
            </a:extLst>
          </p:cNvPr>
          <p:cNvSpPr/>
          <p:nvPr/>
        </p:nvSpPr>
        <p:spPr>
          <a:xfrm>
            <a:off x="7797800" y="1748028"/>
            <a:ext cx="4241800" cy="795528"/>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On Precon1 alone, the cue-1 effect’s increases pass FP (P = 0.007); the cue-1 effect’s ups and downs together pass FP (P = 0.018).</a:t>
            </a:r>
          </a:p>
        </p:txBody>
      </p:sp>
      <p:sp>
        <p:nvSpPr>
          <p:cNvPr id="13" name="!!N42">
            <a:extLst>
              <a:ext uri="{FF2B5EF4-FFF2-40B4-BE49-F238E27FC236}">
                <a16:creationId xmlns:a16="http://schemas.microsoft.com/office/drawing/2014/main" id="{8BDED110-1CA2-966D-65ED-C25D204A0B81}"/>
              </a:ext>
            </a:extLst>
          </p:cNvPr>
          <p:cNvSpPr/>
          <p:nvPr/>
        </p:nvSpPr>
        <p:spPr>
          <a:xfrm>
            <a:off x="7797800" y="2657856"/>
            <a:ext cx="4241800" cy="1929384"/>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On Precon4 alone, the cue-1 effect’s increases pass FP (P &lt; 0.001) and shuffles (P = 0.007); the cue-1 effect’s ups and downs together pass FP (P &lt; 0.001) and shuffles (P = 0.013).</a:t>
            </a:r>
          </a:p>
        </p:txBody>
      </p:sp>
      <p:sp>
        <p:nvSpPr>
          <p:cNvPr id="14" name="!!T-BG">
            <a:extLst>
              <a:ext uri="{FF2B5EF4-FFF2-40B4-BE49-F238E27FC236}">
                <a16:creationId xmlns:a16="http://schemas.microsoft.com/office/drawing/2014/main" id="{5CEA7FAC-7A88-A1BC-14BB-0C4F038DCC55}"/>
              </a:ext>
            </a:extLst>
          </p:cNvPr>
          <p:cNvSpPr/>
          <p:nvPr/>
        </p:nvSpPr>
        <p:spPr>
          <a:xfrm>
            <a:off x="-381000" y="0"/>
            <a:ext cx="12954000" cy="685800"/>
          </a:xfrm>
          <a:prstGeom prst="snip2DiagRect">
            <a:avLst>
              <a:gd name="adj1" fmla="val 0"/>
              <a:gd name="adj2" fmla="val 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
            <a:extLst>
              <a:ext uri="{FF2B5EF4-FFF2-40B4-BE49-F238E27FC236}">
                <a16:creationId xmlns:a16="http://schemas.microsoft.com/office/drawing/2014/main" id="{B736981F-31D5-E8F5-BB42-453D5DA0A6A1}"/>
              </a:ext>
            </a:extLst>
          </p:cNvPr>
          <p:cNvSpPr txBox="1"/>
          <p:nvPr/>
        </p:nvSpPr>
        <p:spPr>
          <a:xfrm>
            <a:off x="127000" y="0"/>
            <a:ext cx="11811000" cy="685800"/>
          </a:xfrm>
          <a:prstGeom prst="rect">
            <a:avLst/>
          </a:prstGeom>
          <a:noFill/>
        </p:spPr>
        <p:txBody>
          <a:bodyPr vert="horz" wrap="square" lIns="76200" tIns="25400" rIns="76200" bIns="25400" rtlCol="0" anchor="ctr">
            <a:noAutofit/>
          </a:bodyPr>
          <a:lstStyle/>
          <a:p>
            <a:pPr>
              <a:lnSpc>
                <a:spcPct val="95000"/>
              </a:lnSpc>
            </a:pPr>
            <a:r>
              <a:rPr lang="en-US" sz="2400" b="1" u="sng">
                <a:solidFill>
                  <a:srgbClr val="FFFFFF"/>
                </a:solidFill>
                <a:latin typeface="Aptos Display" panose="020B0004020202020204" pitchFamily="34" charset="0"/>
              </a:rPr>
              <a:t>Figure 3 · baseline → cue 1 · theta</a:t>
            </a:r>
          </a:p>
        </p:txBody>
      </p:sp>
    </p:spTree>
    <p:extLst>
      <p:ext uri="{BB962C8B-B14F-4D97-AF65-F5344CB8AC3E}">
        <p14:creationId xmlns:p14="http://schemas.microsoft.com/office/powerpoint/2010/main" val="99518480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tage">
            <a:extLst>
              <a:ext uri="{FF2B5EF4-FFF2-40B4-BE49-F238E27FC236}">
                <a16:creationId xmlns:a16="http://schemas.microsoft.com/office/drawing/2014/main" id="{31900B4B-AABE-85F0-34E6-7458209DAE96}"/>
              </a:ext>
            </a:extLst>
          </p:cNvPr>
          <p:cNvSpPr/>
          <p:nvPr/>
        </p:nvSpPr>
        <p:spPr>
          <a:xfrm>
            <a:off x="0" y="685800"/>
            <a:ext cx="7670800" cy="6172200"/>
          </a:xfrm>
          <a:prstGeom prst="rect">
            <a:avLst/>
          </a:prstGeom>
          <a:solidFill>
            <a:srgbClr val="ECEC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F6_fp">
            <a:extLst>
              <a:ext uri="{FF2B5EF4-FFF2-40B4-BE49-F238E27FC236}">
                <a16:creationId xmlns:a16="http://schemas.microsoft.com/office/drawing/2014/main" id="{1271476A-1687-3B62-755B-B4C474D13C21}"/>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1287723" y="901954"/>
            <a:ext cx="5120754" cy="5765292"/>
          </a:xfrm>
          <a:prstGeom prst="rect">
            <a:avLst/>
          </a:prstGeom>
          <a:ln w="9525">
            <a:solidFill>
              <a:srgbClr val="B0B0B0"/>
            </a:solidFill>
          </a:ln>
        </p:spPr>
      </p:pic>
      <p:sp>
        <p:nvSpPr>
          <p:cNvPr id="5" name="!!D1">
            <a:extLst>
              <a:ext uri="{FF2B5EF4-FFF2-40B4-BE49-F238E27FC236}">
                <a16:creationId xmlns:a16="http://schemas.microsoft.com/office/drawing/2014/main" id="{C97BA0C1-F953-1DC7-C3FC-7123F8BE5BAD}"/>
              </a:ext>
            </a:extLst>
          </p:cNvPr>
          <p:cNvSpPr/>
          <p:nvPr/>
        </p:nvSpPr>
        <p:spPr>
          <a:xfrm>
            <a:off x="0" y="685800"/>
            <a:ext cx="7670800" cy="635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2">
            <a:extLst>
              <a:ext uri="{FF2B5EF4-FFF2-40B4-BE49-F238E27FC236}">
                <a16:creationId xmlns:a16="http://schemas.microsoft.com/office/drawing/2014/main" id="{BF3095B5-3949-2E4B-7FAB-FA2349C664D7}"/>
              </a:ext>
            </a:extLst>
          </p:cNvPr>
          <p:cNvSpPr/>
          <p:nvPr/>
        </p:nvSpPr>
        <p:spPr>
          <a:xfrm>
            <a:off x="0" y="6858000"/>
            <a:ext cx="7670800" cy="635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3">
            <a:extLst>
              <a:ext uri="{FF2B5EF4-FFF2-40B4-BE49-F238E27FC236}">
                <a16:creationId xmlns:a16="http://schemas.microsoft.com/office/drawing/2014/main" id="{F86BB948-4986-3FE6-1325-6E8C2AE5C0F7}"/>
              </a:ext>
            </a:extLst>
          </p:cNvPr>
          <p:cNvSpPr/>
          <p:nvPr/>
        </p:nvSpPr>
        <p:spPr>
          <a:xfrm>
            <a:off x="0" y="685800"/>
            <a:ext cx="6350" cy="617220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4">
            <a:extLst>
              <a:ext uri="{FF2B5EF4-FFF2-40B4-BE49-F238E27FC236}">
                <a16:creationId xmlns:a16="http://schemas.microsoft.com/office/drawing/2014/main" id="{A67E9980-28B2-5C01-6C49-3DC205CC5D1B}"/>
              </a:ext>
            </a:extLst>
          </p:cNvPr>
          <p:cNvSpPr/>
          <p:nvPr/>
        </p:nvSpPr>
        <p:spPr>
          <a:xfrm>
            <a:off x="7670800" y="685800"/>
            <a:ext cx="6350" cy="617220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ail">
            <a:extLst>
              <a:ext uri="{FF2B5EF4-FFF2-40B4-BE49-F238E27FC236}">
                <a16:creationId xmlns:a16="http://schemas.microsoft.com/office/drawing/2014/main" id="{60675D46-82C2-90DD-685D-4D437766ABBF}"/>
              </a:ext>
            </a:extLst>
          </p:cNvPr>
          <p:cNvSpPr/>
          <p:nvPr/>
        </p:nvSpPr>
        <p:spPr>
          <a:xfrm>
            <a:off x="7670800" y="685800"/>
            <a:ext cx="4521200" cy="61722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N43">
            <a:extLst>
              <a:ext uri="{FF2B5EF4-FFF2-40B4-BE49-F238E27FC236}">
                <a16:creationId xmlns:a16="http://schemas.microsoft.com/office/drawing/2014/main" id="{4908CABB-706F-8C6A-FAAF-0CD59FBC6889}"/>
              </a:ext>
            </a:extLst>
          </p:cNvPr>
          <p:cNvSpPr/>
          <p:nvPr/>
        </p:nvSpPr>
        <p:spPr>
          <a:xfrm>
            <a:off x="12573000" y="838200"/>
            <a:ext cx="4241800" cy="1362456"/>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Here a row is the cue 1→2 effect: cue 2 − cue 1 on each day, every trial whatever its sounds; the bottom row its change.</a:t>
            </a:r>
          </a:p>
        </p:txBody>
      </p:sp>
      <p:sp>
        <p:nvSpPr>
          <p:cNvPr id="11" name="!!N40">
            <a:extLst>
              <a:ext uri="{FF2B5EF4-FFF2-40B4-BE49-F238E27FC236}">
                <a16:creationId xmlns:a16="http://schemas.microsoft.com/office/drawing/2014/main" id="{7C672B82-9C0C-ECE9-111B-181ECF52FD7B}"/>
              </a:ext>
            </a:extLst>
          </p:cNvPr>
          <p:cNvSpPr/>
          <p:nvPr/>
        </p:nvSpPr>
        <p:spPr>
          <a:xfrm>
            <a:off x="12573000" y="838200"/>
            <a:ext cx="4241800" cy="795528"/>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The change in cue effect passes none of its 9 tests (smallest P = 0.16): no change from Precon1 to Precon4 here.</a:t>
            </a:r>
          </a:p>
        </p:txBody>
      </p:sp>
      <p:sp>
        <p:nvSpPr>
          <p:cNvPr id="12" name="!!N41">
            <a:extLst>
              <a:ext uri="{FF2B5EF4-FFF2-40B4-BE49-F238E27FC236}">
                <a16:creationId xmlns:a16="http://schemas.microsoft.com/office/drawing/2014/main" id="{33194FE6-1A6D-C71D-F1F7-A2E66C829724}"/>
              </a:ext>
            </a:extLst>
          </p:cNvPr>
          <p:cNvSpPr/>
          <p:nvPr/>
        </p:nvSpPr>
        <p:spPr>
          <a:xfrm>
            <a:off x="12573000" y="1748028"/>
            <a:ext cx="4241800" cy="795528"/>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On Precon1 alone, the cue-1 effect’s increases pass FP (P = 0.007); the cue-1 effect’s ups and downs together pass FP (P = 0.018).</a:t>
            </a:r>
          </a:p>
        </p:txBody>
      </p:sp>
      <p:sp>
        <p:nvSpPr>
          <p:cNvPr id="13" name="!!N42">
            <a:extLst>
              <a:ext uri="{FF2B5EF4-FFF2-40B4-BE49-F238E27FC236}">
                <a16:creationId xmlns:a16="http://schemas.microsoft.com/office/drawing/2014/main" id="{F2E7DF63-0128-13D2-AC91-BE4D8DBBD194}"/>
              </a:ext>
            </a:extLst>
          </p:cNvPr>
          <p:cNvSpPr/>
          <p:nvPr/>
        </p:nvSpPr>
        <p:spPr>
          <a:xfrm>
            <a:off x="12573000" y="2657856"/>
            <a:ext cx="4241800" cy="1929384"/>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On Precon4 alone, the cue-1 effect’s increases pass FP (P &lt; 0.001) and shuffles (P = 0.007); the cue-1 effect’s ups and downs together pass FP (P &lt; 0.001) and shuffles (P = 0.013).</a:t>
            </a:r>
          </a:p>
        </p:txBody>
      </p:sp>
      <p:sp>
        <p:nvSpPr>
          <p:cNvPr id="14" name="!!T-BG">
            <a:extLst>
              <a:ext uri="{FF2B5EF4-FFF2-40B4-BE49-F238E27FC236}">
                <a16:creationId xmlns:a16="http://schemas.microsoft.com/office/drawing/2014/main" id="{079E4381-7B55-ABF4-863F-1439DF56819F}"/>
              </a:ext>
            </a:extLst>
          </p:cNvPr>
          <p:cNvSpPr/>
          <p:nvPr/>
        </p:nvSpPr>
        <p:spPr>
          <a:xfrm>
            <a:off x="1905000" y="1905000"/>
            <a:ext cx="8382000" cy="3048000"/>
          </a:xfrm>
          <a:prstGeom prst="snip2DiagRect">
            <a:avLst>
              <a:gd name="adj1" fmla="val 0"/>
              <a:gd name="adj2" fmla="val 16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
            <a:extLst>
              <a:ext uri="{FF2B5EF4-FFF2-40B4-BE49-F238E27FC236}">
                <a16:creationId xmlns:a16="http://schemas.microsoft.com/office/drawing/2014/main" id="{8655D4D4-389C-FF5D-2F13-2B8891387845}"/>
              </a:ext>
            </a:extLst>
          </p:cNvPr>
          <p:cNvSpPr txBox="1"/>
          <p:nvPr/>
        </p:nvSpPr>
        <p:spPr>
          <a:xfrm>
            <a:off x="2286000" y="2032000"/>
            <a:ext cx="7620000" cy="2794000"/>
          </a:xfrm>
          <a:prstGeom prst="rect">
            <a:avLst/>
          </a:prstGeom>
          <a:noFill/>
        </p:spPr>
        <p:txBody>
          <a:bodyPr vert="horz" wrap="square" lIns="76200" tIns="50800" rIns="76200" bIns="50800" rtlCol="0" anchor="ctr">
            <a:noAutofit/>
          </a:bodyPr>
          <a:lstStyle/>
          <a:p>
            <a:pPr algn="ctr">
              <a:lnSpc>
                <a:spcPct val="95000"/>
              </a:lnSpc>
            </a:pPr>
            <a:r>
              <a:rPr lang="en-US" sz="4000" b="1">
                <a:solidFill>
                  <a:srgbClr val="FF0000"/>
                </a:solidFill>
                <a:latin typeface="Aptos Display" panose="020B0004020202020204" pitchFamily="34" charset="0"/>
              </a:rPr>
              <a:t>Figure 6</a:t>
            </a:r>
          </a:p>
          <a:p>
            <a:pPr algn="ctr">
              <a:lnSpc>
                <a:spcPct val="95000"/>
              </a:lnSpc>
            </a:pPr>
            <a:r>
              <a:rPr lang="en-US" sz="2000">
                <a:solidFill>
                  <a:srgbClr val="FFFFFF"/>
                </a:solidFill>
                <a:latin typeface="Aptos Display" panose="020B0004020202020204" pitchFamily="34" charset="0"/>
              </a:rPr>
              <a:t>Comparison 5, cue 1 → cue 2, gamma: the whole network</a:t>
            </a:r>
          </a:p>
        </p:txBody>
      </p:sp>
    </p:spTree>
    <p:extLst>
      <p:ext uri="{BB962C8B-B14F-4D97-AF65-F5344CB8AC3E}">
        <p14:creationId xmlns:p14="http://schemas.microsoft.com/office/powerpoint/2010/main" val="185345003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tage">
            <a:extLst>
              <a:ext uri="{FF2B5EF4-FFF2-40B4-BE49-F238E27FC236}">
                <a16:creationId xmlns:a16="http://schemas.microsoft.com/office/drawing/2014/main" id="{8E13E601-553B-8637-31F0-77049D96EAEE}"/>
              </a:ext>
            </a:extLst>
          </p:cNvPr>
          <p:cNvSpPr/>
          <p:nvPr/>
        </p:nvSpPr>
        <p:spPr>
          <a:xfrm>
            <a:off x="0" y="685800"/>
            <a:ext cx="7670800" cy="6172200"/>
          </a:xfrm>
          <a:prstGeom prst="rect">
            <a:avLst/>
          </a:prstGeom>
          <a:solidFill>
            <a:srgbClr val="ECEC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F6_fp">
            <a:extLst>
              <a:ext uri="{FF2B5EF4-FFF2-40B4-BE49-F238E27FC236}">
                <a16:creationId xmlns:a16="http://schemas.microsoft.com/office/drawing/2014/main" id="{F19DA5CE-EEA6-BD8A-2AE0-E468EC589AEE}"/>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287723" y="901954"/>
            <a:ext cx="5120754" cy="5765292"/>
          </a:xfrm>
          <a:prstGeom prst="rect">
            <a:avLst/>
          </a:prstGeom>
          <a:ln w="9525">
            <a:solidFill>
              <a:srgbClr val="B0B0B0"/>
            </a:solidFill>
          </a:ln>
        </p:spPr>
      </p:pic>
      <p:sp>
        <p:nvSpPr>
          <p:cNvPr id="5" name="!!D1">
            <a:extLst>
              <a:ext uri="{FF2B5EF4-FFF2-40B4-BE49-F238E27FC236}">
                <a16:creationId xmlns:a16="http://schemas.microsoft.com/office/drawing/2014/main" id="{2F559083-65B9-A1ED-1433-929B3337278C}"/>
              </a:ext>
            </a:extLst>
          </p:cNvPr>
          <p:cNvSpPr/>
          <p:nvPr/>
        </p:nvSpPr>
        <p:spPr>
          <a:xfrm>
            <a:off x="0" y="685800"/>
            <a:ext cx="7670800" cy="635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2">
            <a:extLst>
              <a:ext uri="{FF2B5EF4-FFF2-40B4-BE49-F238E27FC236}">
                <a16:creationId xmlns:a16="http://schemas.microsoft.com/office/drawing/2014/main" id="{0F7AACEC-4DD3-1597-8D8C-37BB45E39B22}"/>
              </a:ext>
            </a:extLst>
          </p:cNvPr>
          <p:cNvSpPr/>
          <p:nvPr/>
        </p:nvSpPr>
        <p:spPr>
          <a:xfrm>
            <a:off x="0" y="6858000"/>
            <a:ext cx="7670800" cy="635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3">
            <a:extLst>
              <a:ext uri="{FF2B5EF4-FFF2-40B4-BE49-F238E27FC236}">
                <a16:creationId xmlns:a16="http://schemas.microsoft.com/office/drawing/2014/main" id="{9D6408D2-6C83-A69D-6FBD-9BE654A973CC}"/>
              </a:ext>
            </a:extLst>
          </p:cNvPr>
          <p:cNvSpPr/>
          <p:nvPr/>
        </p:nvSpPr>
        <p:spPr>
          <a:xfrm>
            <a:off x="0" y="685800"/>
            <a:ext cx="6350" cy="617220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4">
            <a:extLst>
              <a:ext uri="{FF2B5EF4-FFF2-40B4-BE49-F238E27FC236}">
                <a16:creationId xmlns:a16="http://schemas.microsoft.com/office/drawing/2014/main" id="{710E0369-0EED-FB94-C98A-9816B7396FA7}"/>
              </a:ext>
            </a:extLst>
          </p:cNvPr>
          <p:cNvSpPr/>
          <p:nvPr/>
        </p:nvSpPr>
        <p:spPr>
          <a:xfrm>
            <a:off x="7670800" y="685800"/>
            <a:ext cx="6350" cy="617220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ocus">
            <a:extLst>
              <a:ext uri="{FF2B5EF4-FFF2-40B4-BE49-F238E27FC236}">
                <a16:creationId xmlns:a16="http://schemas.microsoft.com/office/drawing/2014/main" id="{F4E7D0BE-5A7A-5DE4-DD09-255CFD881218}"/>
              </a:ext>
            </a:extLst>
          </p:cNvPr>
          <p:cNvSpPr/>
          <p:nvPr/>
        </p:nvSpPr>
        <p:spPr>
          <a:xfrm>
            <a:off x="1315710" y="1041892"/>
            <a:ext cx="5093756" cy="1819199"/>
          </a:xfrm>
          <a:prstGeom prst="rect">
            <a:avLst/>
          </a:prstGeom>
          <a:solidFill>
            <a:srgbClr val="83CBEB">
              <a:alpha val="37000"/>
            </a:srgbClr>
          </a:solidFill>
          <a:ln w="38100">
            <a:solidFill>
              <a:srgbClr val="46B1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ail">
            <a:extLst>
              <a:ext uri="{FF2B5EF4-FFF2-40B4-BE49-F238E27FC236}">
                <a16:creationId xmlns:a16="http://schemas.microsoft.com/office/drawing/2014/main" id="{059681F6-40BA-4409-6CEF-C6035B6B0E3B}"/>
              </a:ext>
            </a:extLst>
          </p:cNvPr>
          <p:cNvSpPr/>
          <p:nvPr/>
        </p:nvSpPr>
        <p:spPr>
          <a:xfrm>
            <a:off x="7670800" y="685800"/>
            <a:ext cx="4521200" cy="61722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N43">
            <a:extLst>
              <a:ext uri="{FF2B5EF4-FFF2-40B4-BE49-F238E27FC236}">
                <a16:creationId xmlns:a16="http://schemas.microsoft.com/office/drawing/2014/main" id="{57C53C85-4554-64C8-7246-2D89AA578C6A}"/>
              </a:ext>
            </a:extLst>
          </p:cNvPr>
          <p:cNvSpPr/>
          <p:nvPr/>
        </p:nvSpPr>
        <p:spPr>
          <a:xfrm>
            <a:off x="7797800" y="838200"/>
            <a:ext cx="4241800" cy="1362456"/>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Here a row is the cue 1→2 effect: cue 2 − cue 1 on each day, every trial whatever its sounds; the bottom row its change.</a:t>
            </a:r>
          </a:p>
        </p:txBody>
      </p:sp>
      <p:sp>
        <p:nvSpPr>
          <p:cNvPr id="12" name="!!N44">
            <a:extLst>
              <a:ext uri="{FF2B5EF4-FFF2-40B4-BE49-F238E27FC236}">
                <a16:creationId xmlns:a16="http://schemas.microsoft.com/office/drawing/2014/main" id="{24A7B52E-A295-2FD8-5131-1EF00CA0E82D}"/>
              </a:ext>
            </a:extLst>
          </p:cNvPr>
          <p:cNvSpPr/>
          <p:nvPr/>
        </p:nvSpPr>
        <p:spPr>
          <a:xfrm>
            <a:off x="12573000" y="1748028"/>
            <a:ext cx="4241800" cy="1362456"/>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The change in cue effect passes none of its 9 tests (smallest P = 0.19): no change from Precon1 to Precon4 here.</a:t>
            </a:r>
          </a:p>
        </p:txBody>
      </p:sp>
      <p:sp>
        <p:nvSpPr>
          <p:cNvPr id="13" name="!!T-BG">
            <a:extLst>
              <a:ext uri="{FF2B5EF4-FFF2-40B4-BE49-F238E27FC236}">
                <a16:creationId xmlns:a16="http://schemas.microsoft.com/office/drawing/2014/main" id="{A25DF2C8-D037-82A9-81A8-1B2059928865}"/>
              </a:ext>
            </a:extLst>
          </p:cNvPr>
          <p:cNvSpPr/>
          <p:nvPr/>
        </p:nvSpPr>
        <p:spPr>
          <a:xfrm>
            <a:off x="-381000" y="0"/>
            <a:ext cx="12954000" cy="685800"/>
          </a:xfrm>
          <a:prstGeom prst="snip2DiagRect">
            <a:avLst>
              <a:gd name="adj1" fmla="val 0"/>
              <a:gd name="adj2" fmla="val 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
            <a:extLst>
              <a:ext uri="{FF2B5EF4-FFF2-40B4-BE49-F238E27FC236}">
                <a16:creationId xmlns:a16="http://schemas.microsoft.com/office/drawing/2014/main" id="{FEFADB13-4EB8-2233-0593-17B6C041A435}"/>
              </a:ext>
            </a:extLst>
          </p:cNvPr>
          <p:cNvSpPr txBox="1"/>
          <p:nvPr/>
        </p:nvSpPr>
        <p:spPr>
          <a:xfrm>
            <a:off x="127000" y="0"/>
            <a:ext cx="11811000" cy="685800"/>
          </a:xfrm>
          <a:prstGeom prst="rect">
            <a:avLst/>
          </a:prstGeom>
          <a:noFill/>
        </p:spPr>
        <p:txBody>
          <a:bodyPr vert="horz" wrap="square" lIns="76200" tIns="25400" rIns="76200" bIns="25400" rtlCol="0" anchor="ctr">
            <a:noAutofit/>
          </a:bodyPr>
          <a:lstStyle/>
          <a:p>
            <a:pPr>
              <a:lnSpc>
                <a:spcPct val="95000"/>
              </a:lnSpc>
            </a:pPr>
            <a:r>
              <a:rPr lang="en-US" sz="2400" b="1" u="sng">
                <a:solidFill>
                  <a:srgbClr val="FFFFFF"/>
                </a:solidFill>
                <a:latin typeface="Aptos Display" panose="020B0004020202020204" pitchFamily="34" charset="0"/>
              </a:rPr>
              <a:t>Figure 6 · cue 1 → cue 2 · gamma</a:t>
            </a:r>
          </a:p>
        </p:txBody>
      </p:sp>
    </p:spTree>
    <p:extLst>
      <p:ext uri="{BB962C8B-B14F-4D97-AF65-F5344CB8AC3E}">
        <p14:creationId xmlns:p14="http://schemas.microsoft.com/office/powerpoint/2010/main" val="170984904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tage">
            <a:extLst>
              <a:ext uri="{FF2B5EF4-FFF2-40B4-BE49-F238E27FC236}">
                <a16:creationId xmlns:a16="http://schemas.microsoft.com/office/drawing/2014/main" id="{37D099B7-A0F9-29D8-A9AC-EB4335CD2274}"/>
              </a:ext>
            </a:extLst>
          </p:cNvPr>
          <p:cNvSpPr/>
          <p:nvPr/>
        </p:nvSpPr>
        <p:spPr>
          <a:xfrm>
            <a:off x="0" y="685800"/>
            <a:ext cx="7670800" cy="6172200"/>
          </a:xfrm>
          <a:prstGeom prst="rect">
            <a:avLst/>
          </a:prstGeom>
          <a:solidFill>
            <a:srgbClr val="ECEC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F6_fp">
            <a:extLst>
              <a:ext uri="{FF2B5EF4-FFF2-40B4-BE49-F238E27FC236}">
                <a16:creationId xmlns:a16="http://schemas.microsoft.com/office/drawing/2014/main" id="{FB0D94B3-479C-20D0-ED57-C9B2D383A674}"/>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287723" y="901954"/>
            <a:ext cx="5120754" cy="5765292"/>
          </a:xfrm>
          <a:prstGeom prst="rect">
            <a:avLst/>
          </a:prstGeom>
          <a:ln w="9525">
            <a:solidFill>
              <a:srgbClr val="B0B0B0"/>
            </a:solidFill>
          </a:ln>
        </p:spPr>
      </p:pic>
      <p:sp>
        <p:nvSpPr>
          <p:cNvPr id="5" name="!!D1">
            <a:extLst>
              <a:ext uri="{FF2B5EF4-FFF2-40B4-BE49-F238E27FC236}">
                <a16:creationId xmlns:a16="http://schemas.microsoft.com/office/drawing/2014/main" id="{C1F83209-5873-5BA6-C2D1-CCE91FCA8F40}"/>
              </a:ext>
            </a:extLst>
          </p:cNvPr>
          <p:cNvSpPr/>
          <p:nvPr/>
        </p:nvSpPr>
        <p:spPr>
          <a:xfrm>
            <a:off x="0" y="685800"/>
            <a:ext cx="7670800" cy="635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2">
            <a:extLst>
              <a:ext uri="{FF2B5EF4-FFF2-40B4-BE49-F238E27FC236}">
                <a16:creationId xmlns:a16="http://schemas.microsoft.com/office/drawing/2014/main" id="{D11D33AB-1DEB-F63B-E7CB-104CF9AF3FF6}"/>
              </a:ext>
            </a:extLst>
          </p:cNvPr>
          <p:cNvSpPr/>
          <p:nvPr/>
        </p:nvSpPr>
        <p:spPr>
          <a:xfrm>
            <a:off x="0" y="6858000"/>
            <a:ext cx="7670800" cy="635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3">
            <a:extLst>
              <a:ext uri="{FF2B5EF4-FFF2-40B4-BE49-F238E27FC236}">
                <a16:creationId xmlns:a16="http://schemas.microsoft.com/office/drawing/2014/main" id="{B283FC6B-694B-5526-A011-AC1068394D45}"/>
              </a:ext>
            </a:extLst>
          </p:cNvPr>
          <p:cNvSpPr/>
          <p:nvPr/>
        </p:nvSpPr>
        <p:spPr>
          <a:xfrm>
            <a:off x="0" y="685800"/>
            <a:ext cx="6350" cy="617220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4">
            <a:extLst>
              <a:ext uri="{FF2B5EF4-FFF2-40B4-BE49-F238E27FC236}">
                <a16:creationId xmlns:a16="http://schemas.microsoft.com/office/drawing/2014/main" id="{1B435BAE-7ECE-08B6-0316-7189942203B7}"/>
              </a:ext>
            </a:extLst>
          </p:cNvPr>
          <p:cNvSpPr/>
          <p:nvPr/>
        </p:nvSpPr>
        <p:spPr>
          <a:xfrm>
            <a:off x="7670800" y="685800"/>
            <a:ext cx="6350" cy="617220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ocus">
            <a:extLst>
              <a:ext uri="{FF2B5EF4-FFF2-40B4-BE49-F238E27FC236}">
                <a16:creationId xmlns:a16="http://schemas.microsoft.com/office/drawing/2014/main" id="{678B6EDF-1995-5E93-B608-2B67B25D635B}"/>
              </a:ext>
            </a:extLst>
          </p:cNvPr>
          <p:cNvSpPr/>
          <p:nvPr/>
        </p:nvSpPr>
        <p:spPr>
          <a:xfrm>
            <a:off x="1315710" y="4512363"/>
            <a:ext cx="5093756" cy="1819199"/>
          </a:xfrm>
          <a:prstGeom prst="rect">
            <a:avLst/>
          </a:prstGeom>
          <a:solidFill>
            <a:srgbClr val="83CBEB">
              <a:alpha val="37000"/>
            </a:srgbClr>
          </a:solidFill>
          <a:ln w="38100">
            <a:solidFill>
              <a:srgbClr val="46B1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ail">
            <a:extLst>
              <a:ext uri="{FF2B5EF4-FFF2-40B4-BE49-F238E27FC236}">
                <a16:creationId xmlns:a16="http://schemas.microsoft.com/office/drawing/2014/main" id="{8205CBB1-5179-411A-499F-10C295C2F73D}"/>
              </a:ext>
            </a:extLst>
          </p:cNvPr>
          <p:cNvSpPr/>
          <p:nvPr/>
        </p:nvSpPr>
        <p:spPr>
          <a:xfrm>
            <a:off x="7670800" y="685800"/>
            <a:ext cx="4521200" cy="61722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N43">
            <a:extLst>
              <a:ext uri="{FF2B5EF4-FFF2-40B4-BE49-F238E27FC236}">
                <a16:creationId xmlns:a16="http://schemas.microsoft.com/office/drawing/2014/main" id="{44D16856-05E7-9082-1A14-88DC1C15EC8C}"/>
              </a:ext>
            </a:extLst>
          </p:cNvPr>
          <p:cNvSpPr/>
          <p:nvPr/>
        </p:nvSpPr>
        <p:spPr>
          <a:xfrm>
            <a:off x="7797800" y="838200"/>
            <a:ext cx="4241800" cy="795528"/>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Here a row is the cue 1→2 effect: cue 2 − cue 1 on each day, every trial whatever its sounds; the bottom row its change.</a:t>
            </a:r>
          </a:p>
        </p:txBody>
      </p:sp>
      <p:sp>
        <p:nvSpPr>
          <p:cNvPr id="12" name="!!N44">
            <a:extLst>
              <a:ext uri="{FF2B5EF4-FFF2-40B4-BE49-F238E27FC236}">
                <a16:creationId xmlns:a16="http://schemas.microsoft.com/office/drawing/2014/main" id="{47EC9569-9CF7-E28E-858E-097AC4C7DA08}"/>
              </a:ext>
            </a:extLst>
          </p:cNvPr>
          <p:cNvSpPr/>
          <p:nvPr/>
        </p:nvSpPr>
        <p:spPr>
          <a:xfrm>
            <a:off x="7797800" y="1748028"/>
            <a:ext cx="4241800" cy="1362456"/>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The change in cue effect passes none of its 9 tests (smallest P = 0.19): no change from Precon1 to Precon4 here.</a:t>
            </a:r>
          </a:p>
        </p:txBody>
      </p:sp>
      <p:sp>
        <p:nvSpPr>
          <p:cNvPr id="13" name="!!T-BG">
            <a:extLst>
              <a:ext uri="{FF2B5EF4-FFF2-40B4-BE49-F238E27FC236}">
                <a16:creationId xmlns:a16="http://schemas.microsoft.com/office/drawing/2014/main" id="{64F7EC5F-5786-F088-AAE6-B48E00F22680}"/>
              </a:ext>
            </a:extLst>
          </p:cNvPr>
          <p:cNvSpPr/>
          <p:nvPr/>
        </p:nvSpPr>
        <p:spPr>
          <a:xfrm>
            <a:off x="-381000" y="0"/>
            <a:ext cx="12954000" cy="685800"/>
          </a:xfrm>
          <a:prstGeom prst="snip2DiagRect">
            <a:avLst>
              <a:gd name="adj1" fmla="val 0"/>
              <a:gd name="adj2" fmla="val 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
            <a:extLst>
              <a:ext uri="{FF2B5EF4-FFF2-40B4-BE49-F238E27FC236}">
                <a16:creationId xmlns:a16="http://schemas.microsoft.com/office/drawing/2014/main" id="{084E1DD5-7A89-6716-ACE3-81945042BEDE}"/>
              </a:ext>
            </a:extLst>
          </p:cNvPr>
          <p:cNvSpPr txBox="1"/>
          <p:nvPr/>
        </p:nvSpPr>
        <p:spPr>
          <a:xfrm>
            <a:off x="127000" y="0"/>
            <a:ext cx="11811000" cy="685800"/>
          </a:xfrm>
          <a:prstGeom prst="rect">
            <a:avLst/>
          </a:prstGeom>
          <a:noFill/>
        </p:spPr>
        <p:txBody>
          <a:bodyPr vert="horz" wrap="square" lIns="76200" tIns="25400" rIns="76200" bIns="25400" rtlCol="0" anchor="ctr">
            <a:noAutofit/>
          </a:bodyPr>
          <a:lstStyle/>
          <a:p>
            <a:pPr>
              <a:lnSpc>
                <a:spcPct val="95000"/>
              </a:lnSpc>
            </a:pPr>
            <a:r>
              <a:rPr lang="en-US" sz="2400" b="1" u="sng">
                <a:solidFill>
                  <a:srgbClr val="FFFFFF"/>
                </a:solidFill>
                <a:latin typeface="Aptos Display" panose="020B0004020202020204" pitchFamily="34" charset="0"/>
              </a:rPr>
              <a:t>Figure 6 · cue 1 → cue 2 · gamma</a:t>
            </a:r>
          </a:p>
        </p:txBody>
      </p:sp>
    </p:spTree>
    <p:extLst>
      <p:ext uri="{BB962C8B-B14F-4D97-AF65-F5344CB8AC3E}">
        <p14:creationId xmlns:p14="http://schemas.microsoft.com/office/powerpoint/2010/main" val="300750403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tage">
            <a:extLst>
              <a:ext uri="{FF2B5EF4-FFF2-40B4-BE49-F238E27FC236}">
                <a16:creationId xmlns:a16="http://schemas.microsoft.com/office/drawing/2014/main" id="{47BBD36C-6A4A-1444-C5DB-C21E59F6000C}"/>
              </a:ext>
            </a:extLst>
          </p:cNvPr>
          <p:cNvSpPr/>
          <p:nvPr/>
        </p:nvSpPr>
        <p:spPr>
          <a:xfrm>
            <a:off x="0" y="685800"/>
            <a:ext cx="7670800" cy="6172200"/>
          </a:xfrm>
          <a:prstGeom prst="rect">
            <a:avLst/>
          </a:prstGeom>
          <a:solidFill>
            <a:srgbClr val="ECEC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F5_fp">
            <a:extLst>
              <a:ext uri="{FF2B5EF4-FFF2-40B4-BE49-F238E27FC236}">
                <a16:creationId xmlns:a16="http://schemas.microsoft.com/office/drawing/2014/main" id="{CDCE228D-212A-DEFE-5A7E-8E0CC93B23F5}"/>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1287723" y="901954"/>
            <a:ext cx="5120754" cy="5765292"/>
          </a:xfrm>
          <a:prstGeom prst="rect">
            <a:avLst/>
          </a:prstGeom>
          <a:ln w="9525">
            <a:solidFill>
              <a:srgbClr val="B0B0B0"/>
            </a:solidFill>
          </a:ln>
        </p:spPr>
      </p:pic>
      <p:sp>
        <p:nvSpPr>
          <p:cNvPr id="5" name="!!D1">
            <a:extLst>
              <a:ext uri="{FF2B5EF4-FFF2-40B4-BE49-F238E27FC236}">
                <a16:creationId xmlns:a16="http://schemas.microsoft.com/office/drawing/2014/main" id="{E205ABBC-1F4F-276F-8FCE-9E7590CFC9D0}"/>
              </a:ext>
            </a:extLst>
          </p:cNvPr>
          <p:cNvSpPr/>
          <p:nvPr/>
        </p:nvSpPr>
        <p:spPr>
          <a:xfrm>
            <a:off x="0" y="685800"/>
            <a:ext cx="7670800" cy="635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2">
            <a:extLst>
              <a:ext uri="{FF2B5EF4-FFF2-40B4-BE49-F238E27FC236}">
                <a16:creationId xmlns:a16="http://schemas.microsoft.com/office/drawing/2014/main" id="{9F644534-F64F-55B2-E058-E6F717F1F37B}"/>
              </a:ext>
            </a:extLst>
          </p:cNvPr>
          <p:cNvSpPr/>
          <p:nvPr/>
        </p:nvSpPr>
        <p:spPr>
          <a:xfrm>
            <a:off x="0" y="6858000"/>
            <a:ext cx="7670800" cy="635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3">
            <a:extLst>
              <a:ext uri="{FF2B5EF4-FFF2-40B4-BE49-F238E27FC236}">
                <a16:creationId xmlns:a16="http://schemas.microsoft.com/office/drawing/2014/main" id="{90264E66-B0AD-E093-F851-73138F583D55}"/>
              </a:ext>
            </a:extLst>
          </p:cNvPr>
          <p:cNvSpPr/>
          <p:nvPr/>
        </p:nvSpPr>
        <p:spPr>
          <a:xfrm>
            <a:off x="0" y="685800"/>
            <a:ext cx="6350" cy="617220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4">
            <a:extLst>
              <a:ext uri="{FF2B5EF4-FFF2-40B4-BE49-F238E27FC236}">
                <a16:creationId xmlns:a16="http://schemas.microsoft.com/office/drawing/2014/main" id="{ED81FA13-8FBB-6D0F-088C-2BF0AB2F9489}"/>
              </a:ext>
            </a:extLst>
          </p:cNvPr>
          <p:cNvSpPr/>
          <p:nvPr/>
        </p:nvSpPr>
        <p:spPr>
          <a:xfrm>
            <a:off x="7670800" y="685800"/>
            <a:ext cx="6350" cy="617220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ail">
            <a:extLst>
              <a:ext uri="{FF2B5EF4-FFF2-40B4-BE49-F238E27FC236}">
                <a16:creationId xmlns:a16="http://schemas.microsoft.com/office/drawing/2014/main" id="{2E5DB453-D856-AE19-C674-9CE3827688CF}"/>
              </a:ext>
            </a:extLst>
          </p:cNvPr>
          <p:cNvSpPr/>
          <p:nvPr/>
        </p:nvSpPr>
        <p:spPr>
          <a:xfrm>
            <a:off x="7670800" y="685800"/>
            <a:ext cx="4521200" cy="61722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N45">
            <a:extLst>
              <a:ext uri="{FF2B5EF4-FFF2-40B4-BE49-F238E27FC236}">
                <a16:creationId xmlns:a16="http://schemas.microsoft.com/office/drawing/2014/main" id="{90E20968-7652-BB51-C0C5-2E8777FEC499}"/>
              </a:ext>
            </a:extLst>
          </p:cNvPr>
          <p:cNvSpPr/>
          <p:nvPr/>
        </p:nvSpPr>
        <p:spPr>
          <a:xfrm>
            <a:off x="12573000" y="838200"/>
            <a:ext cx="4241800" cy="1362456"/>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Here a row is the cue 1→2 effect: cue 2 − cue 1 on each day, every trial whatever its sounds; the bottom row its change.</a:t>
            </a:r>
          </a:p>
        </p:txBody>
      </p:sp>
      <p:sp>
        <p:nvSpPr>
          <p:cNvPr id="11" name="!!N43">
            <a:extLst>
              <a:ext uri="{FF2B5EF4-FFF2-40B4-BE49-F238E27FC236}">
                <a16:creationId xmlns:a16="http://schemas.microsoft.com/office/drawing/2014/main" id="{D5D57E98-1C27-BAAD-B181-74795CDD7445}"/>
              </a:ext>
            </a:extLst>
          </p:cNvPr>
          <p:cNvSpPr/>
          <p:nvPr/>
        </p:nvSpPr>
        <p:spPr>
          <a:xfrm>
            <a:off x="12573000" y="838200"/>
            <a:ext cx="4241800" cy="795528"/>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Here a row is the cue 1→2 effect: cue 2 − cue 1 on each day, every trial whatever its sounds; the bottom row its change.</a:t>
            </a:r>
          </a:p>
        </p:txBody>
      </p:sp>
      <p:sp>
        <p:nvSpPr>
          <p:cNvPr id="12" name="!!N44">
            <a:extLst>
              <a:ext uri="{FF2B5EF4-FFF2-40B4-BE49-F238E27FC236}">
                <a16:creationId xmlns:a16="http://schemas.microsoft.com/office/drawing/2014/main" id="{7764120C-4478-E315-EC7A-5F0029511997}"/>
              </a:ext>
            </a:extLst>
          </p:cNvPr>
          <p:cNvSpPr/>
          <p:nvPr/>
        </p:nvSpPr>
        <p:spPr>
          <a:xfrm>
            <a:off x="12573000" y="1748028"/>
            <a:ext cx="4241800" cy="1362456"/>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The change in cue effect passes none of its 9 tests (smallest P = 0.19): no change from Precon1 to Precon4 here.</a:t>
            </a:r>
          </a:p>
        </p:txBody>
      </p:sp>
      <p:sp>
        <p:nvSpPr>
          <p:cNvPr id="13" name="!!T-BG">
            <a:extLst>
              <a:ext uri="{FF2B5EF4-FFF2-40B4-BE49-F238E27FC236}">
                <a16:creationId xmlns:a16="http://schemas.microsoft.com/office/drawing/2014/main" id="{49D0B615-460E-3B78-FCA3-4C469E52AD83}"/>
              </a:ext>
            </a:extLst>
          </p:cNvPr>
          <p:cNvSpPr/>
          <p:nvPr/>
        </p:nvSpPr>
        <p:spPr>
          <a:xfrm>
            <a:off x="1905000" y="1905000"/>
            <a:ext cx="8382000" cy="3048000"/>
          </a:xfrm>
          <a:prstGeom prst="snip2DiagRect">
            <a:avLst>
              <a:gd name="adj1" fmla="val 0"/>
              <a:gd name="adj2" fmla="val 16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
            <a:extLst>
              <a:ext uri="{FF2B5EF4-FFF2-40B4-BE49-F238E27FC236}">
                <a16:creationId xmlns:a16="http://schemas.microsoft.com/office/drawing/2014/main" id="{0954A59C-9FFB-C2CC-E556-CF39BDEAE323}"/>
              </a:ext>
            </a:extLst>
          </p:cNvPr>
          <p:cNvSpPr txBox="1"/>
          <p:nvPr/>
        </p:nvSpPr>
        <p:spPr>
          <a:xfrm>
            <a:off x="2286000" y="2032000"/>
            <a:ext cx="7620000" cy="2794000"/>
          </a:xfrm>
          <a:prstGeom prst="rect">
            <a:avLst/>
          </a:prstGeom>
          <a:noFill/>
        </p:spPr>
        <p:txBody>
          <a:bodyPr vert="horz" wrap="square" lIns="76200" tIns="50800" rIns="76200" bIns="50800" rtlCol="0" anchor="ctr">
            <a:noAutofit/>
          </a:bodyPr>
          <a:lstStyle/>
          <a:p>
            <a:pPr algn="ctr">
              <a:lnSpc>
                <a:spcPct val="95000"/>
              </a:lnSpc>
            </a:pPr>
            <a:r>
              <a:rPr lang="en-US" sz="4000" b="1">
                <a:solidFill>
                  <a:srgbClr val="FF0000"/>
                </a:solidFill>
                <a:latin typeface="Aptos Display" panose="020B0004020202020204" pitchFamily="34" charset="0"/>
              </a:rPr>
              <a:t>Figure 5</a:t>
            </a:r>
          </a:p>
          <a:p>
            <a:pPr algn="ctr">
              <a:lnSpc>
                <a:spcPct val="95000"/>
              </a:lnSpc>
            </a:pPr>
            <a:r>
              <a:rPr lang="en-US" sz="2000">
                <a:solidFill>
                  <a:srgbClr val="FFFFFF"/>
                </a:solidFill>
                <a:latin typeface="Aptos Display" panose="020B0004020202020204" pitchFamily="34" charset="0"/>
              </a:rPr>
              <a:t>Comparison 5, cue 1 → cue 2, theta: the whole network</a:t>
            </a:r>
          </a:p>
        </p:txBody>
      </p:sp>
    </p:spTree>
    <p:extLst>
      <p:ext uri="{BB962C8B-B14F-4D97-AF65-F5344CB8AC3E}">
        <p14:creationId xmlns:p14="http://schemas.microsoft.com/office/powerpoint/2010/main" val="320234332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tage">
            <a:extLst>
              <a:ext uri="{FF2B5EF4-FFF2-40B4-BE49-F238E27FC236}">
                <a16:creationId xmlns:a16="http://schemas.microsoft.com/office/drawing/2014/main" id="{0CFC7B43-ED09-03EA-1678-4F5242226242}"/>
              </a:ext>
            </a:extLst>
          </p:cNvPr>
          <p:cNvSpPr/>
          <p:nvPr/>
        </p:nvSpPr>
        <p:spPr>
          <a:xfrm>
            <a:off x="0" y="685800"/>
            <a:ext cx="7670800" cy="6172200"/>
          </a:xfrm>
          <a:prstGeom prst="rect">
            <a:avLst/>
          </a:prstGeom>
          <a:solidFill>
            <a:srgbClr val="ECEC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F5_fp">
            <a:extLst>
              <a:ext uri="{FF2B5EF4-FFF2-40B4-BE49-F238E27FC236}">
                <a16:creationId xmlns:a16="http://schemas.microsoft.com/office/drawing/2014/main" id="{61355B02-B45E-603A-C17B-A8D08C31A89C}"/>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287723" y="901954"/>
            <a:ext cx="5120754" cy="5765292"/>
          </a:xfrm>
          <a:prstGeom prst="rect">
            <a:avLst/>
          </a:prstGeom>
          <a:ln w="9525">
            <a:solidFill>
              <a:srgbClr val="B0B0B0"/>
            </a:solidFill>
          </a:ln>
        </p:spPr>
      </p:pic>
      <p:sp>
        <p:nvSpPr>
          <p:cNvPr id="5" name="!!D1">
            <a:extLst>
              <a:ext uri="{FF2B5EF4-FFF2-40B4-BE49-F238E27FC236}">
                <a16:creationId xmlns:a16="http://schemas.microsoft.com/office/drawing/2014/main" id="{9D9FF35E-10F5-6300-960D-6EEF0537E8D5}"/>
              </a:ext>
            </a:extLst>
          </p:cNvPr>
          <p:cNvSpPr/>
          <p:nvPr/>
        </p:nvSpPr>
        <p:spPr>
          <a:xfrm>
            <a:off x="0" y="685800"/>
            <a:ext cx="7670800" cy="635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2">
            <a:extLst>
              <a:ext uri="{FF2B5EF4-FFF2-40B4-BE49-F238E27FC236}">
                <a16:creationId xmlns:a16="http://schemas.microsoft.com/office/drawing/2014/main" id="{9F0946D2-C2CB-389B-F87E-A39A50F70FA1}"/>
              </a:ext>
            </a:extLst>
          </p:cNvPr>
          <p:cNvSpPr/>
          <p:nvPr/>
        </p:nvSpPr>
        <p:spPr>
          <a:xfrm>
            <a:off x="0" y="6858000"/>
            <a:ext cx="7670800" cy="635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3">
            <a:extLst>
              <a:ext uri="{FF2B5EF4-FFF2-40B4-BE49-F238E27FC236}">
                <a16:creationId xmlns:a16="http://schemas.microsoft.com/office/drawing/2014/main" id="{2A214C42-6EFD-ED34-340A-E87EC97E0501}"/>
              </a:ext>
            </a:extLst>
          </p:cNvPr>
          <p:cNvSpPr/>
          <p:nvPr/>
        </p:nvSpPr>
        <p:spPr>
          <a:xfrm>
            <a:off x="0" y="685800"/>
            <a:ext cx="6350" cy="617220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4">
            <a:extLst>
              <a:ext uri="{FF2B5EF4-FFF2-40B4-BE49-F238E27FC236}">
                <a16:creationId xmlns:a16="http://schemas.microsoft.com/office/drawing/2014/main" id="{4C78D3E6-BC10-2FD5-B2DD-6B1DCFF3B44D}"/>
              </a:ext>
            </a:extLst>
          </p:cNvPr>
          <p:cNvSpPr/>
          <p:nvPr/>
        </p:nvSpPr>
        <p:spPr>
          <a:xfrm>
            <a:off x="7670800" y="685800"/>
            <a:ext cx="6350" cy="617220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ocus">
            <a:extLst>
              <a:ext uri="{FF2B5EF4-FFF2-40B4-BE49-F238E27FC236}">
                <a16:creationId xmlns:a16="http://schemas.microsoft.com/office/drawing/2014/main" id="{7E8E9BEA-4412-1482-6302-56BF621343D8}"/>
              </a:ext>
            </a:extLst>
          </p:cNvPr>
          <p:cNvSpPr/>
          <p:nvPr/>
        </p:nvSpPr>
        <p:spPr>
          <a:xfrm>
            <a:off x="1315710" y="1041892"/>
            <a:ext cx="5093756" cy="1819199"/>
          </a:xfrm>
          <a:prstGeom prst="rect">
            <a:avLst/>
          </a:prstGeom>
          <a:solidFill>
            <a:srgbClr val="83CBEB">
              <a:alpha val="37000"/>
            </a:srgbClr>
          </a:solidFill>
          <a:ln w="38100">
            <a:solidFill>
              <a:srgbClr val="46B1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ail">
            <a:extLst>
              <a:ext uri="{FF2B5EF4-FFF2-40B4-BE49-F238E27FC236}">
                <a16:creationId xmlns:a16="http://schemas.microsoft.com/office/drawing/2014/main" id="{0B1535D8-2121-6C7F-6848-61FDCB47CB76}"/>
              </a:ext>
            </a:extLst>
          </p:cNvPr>
          <p:cNvSpPr/>
          <p:nvPr/>
        </p:nvSpPr>
        <p:spPr>
          <a:xfrm>
            <a:off x="7670800" y="685800"/>
            <a:ext cx="4521200" cy="61722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N45">
            <a:extLst>
              <a:ext uri="{FF2B5EF4-FFF2-40B4-BE49-F238E27FC236}">
                <a16:creationId xmlns:a16="http://schemas.microsoft.com/office/drawing/2014/main" id="{39697484-FAA0-452B-352D-5869BF973FDC}"/>
              </a:ext>
            </a:extLst>
          </p:cNvPr>
          <p:cNvSpPr/>
          <p:nvPr/>
        </p:nvSpPr>
        <p:spPr>
          <a:xfrm>
            <a:off x="7797800" y="838200"/>
            <a:ext cx="4241800" cy="1362456"/>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Here a row is the cue 1→2 effect: cue 2 − cue 1 on each day, every trial whatever its sounds; the bottom row its change.</a:t>
            </a:r>
          </a:p>
        </p:txBody>
      </p:sp>
      <p:sp>
        <p:nvSpPr>
          <p:cNvPr id="12" name="!!N46">
            <a:extLst>
              <a:ext uri="{FF2B5EF4-FFF2-40B4-BE49-F238E27FC236}">
                <a16:creationId xmlns:a16="http://schemas.microsoft.com/office/drawing/2014/main" id="{18763B9E-1980-E2D1-6958-D525DCE2474A}"/>
              </a:ext>
            </a:extLst>
          </p:cNvPr>
          <p:cNvSpPr/>
          <p:nvPr/>
        </p:nvSpPr>
        <p:spPr>
          <a:xfrm>
            <a:off x="12573000" y="1748028"/>
            <a:ext cx="4241800" cy="1362456"/>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The change in cue effect passes none of its 9 tests (smallest P = 0.24): no change from Precon1 to Precon4 here.</a:t>
            </a:r>
          </a:p>
        </p:txBody>
      </p:sp>
      <p:sp>
        <p:nvSpPr>
          <p:cNvPr id="13" name="!!T-BG">
            <a:extLst>
              <a:ext uri="{FF2B5EF4-FFF2-40B4-BE49-F238E27FC236}">
                <a16:creationId xmlns:a16="http://schemas.microsoft.com/office/drawing/2014/main" id="{F7D36C5E-A03D-A122-154D-5A1856824073}"/>
              </a:ext>
            </a:extLst>
          </p:cNvPr>
          <p:cNvSpPr/>
          <p:nvPr/>
        </p:nvSpPr>
        <p:spPr>
          <a:xfrm>
            <a:off x="-381000" y="0"/>
            <a:ext cx="12954000" cy="685800"/>
          </a:xfrm>
          <a:prstGeom prst="snip2DiagRect">
            <a:avLst>
              <a:gd name="adj1" fmla="val 0"/>
              <a:gd name="adj2" fmla="val 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
            <a:extLst>
              <a:ext uri="{FF2B5EF4-FFF2-40B4-BE49-F238E27FC236}">
                <a16:creationId xmlns:a16="http://schemas.microsoft.com/office/drawing/2014/main" id="{6A732E83-62C7-E103-C73C-51DC30D8D7A1}"/>
              </a:ext>
            </a:extLst>
          </p:cNvPr>
          <p:cNvSpPr txBox="1"/>
          <p:nvPr/>
        </p:nvSpPr>
        <p:spPr>
          <a:xfrm>
            <a:off x="127000" y="0"/>
            <a:ext cx="11811000" cy="685800"/>
          </a:xfrm>
          <a:prstGeom prst="rect">
            <a:avLst/>
          </a:prstGeom>
          <a:noFill/>
        </p:spPr>
        <p:txBody>
          <a:bodyPr vert="horz" wrap="square" lIns="76200" tIns="25400" rIns="76200" bIns="25400" rtlCol="0" anchor="ctr">
            <a:noAutofit/>
          </a:bodyPr>
          <a:lstStyle/>
          <a:p>
            <a:pPr>
              <a:lnSpc>
                <a:spcPct val="95000"/>
              </a:lnSpc>
            </a:pPr>
            <a:r>
              <a:rPr lang="en-US" sz="2400" b="1" u="sng">
                <a:solidFill>
                  <a:srgbClr val="FFFFFF"/>
                </a:solidFill>
                <a:latin typeface="Aptos Display" panose="020B0004020202020204" pitchFamily="34" charset="0"/>
              </a:rPr>
              <a:t>Figure 5 · cue 1 → cue 2 · theta</a:t>
            </a:r>
          </a:p>
        </p:txBody>
      </p:sp>
    </p:spTree>
    <p:extLst>
      <p:ext uri="{BB962C8B-B14F-4D97-AF65-F5344CB8AC3E}">
        <p14:creationId xmlns:p14="http://schemas.microsoft.com/office/powerpoint/2010/main" val="315108518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tage">
            <a:extLst>
              <a:ext uri="{FF2B5EF4-FFF2-40B4-BE49-F238E27FC236}">
                <a16:creationId xmlns:a16="http://schemas.microsoft.com/office/drawing/2014/main" id="{5FD21030-7447-4D7A-1995-475E6F5B887A}"/>
              </a:ext>
            </a:extLst>
          </p:cNvPr>
          <p:cNvSpPr/>
          <p:nvPr/>
        </p:nvSpPr>
        <p:spPr>
          <a:xfrm>
            <a:off x="0" y="685800"/>
            <a:ext cx="7670800" cy="6172200"/>
          </a:xfrm>
          <a:prstGeom prst="rect">
            <a:avLst/>
          </a:prstGeom>
          <a:solidFill>
            <a:srgbClr val="ECEC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F5_fp">
            <a:extLst>
              <a:ext uri="{FF2B5EF4-FFF2-40B4-BE49-F238E27FC236}">
                <a16:creationId xmlns:a16="http://schemas.microsoft.com/office/drawing/2014/main" id="{2331EBEB-9644-24D4-8B45-31E48B6D7890}"/>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287723" y="901954"/>
            <a:ext cx="5120754" cy="5765292"/>
          </a:xfrm>
          <a:prstGeom prst="rect">
            <a:avLst/>
          </a:prstGeom>
          <a:ln w="9525">
            <a:solidFill>
              <a:srgbClr val="B0B0B0"/>
            </a:solidFill>
          </a:ln>
        </p:spPr>
      </p:pic>
      <p:sp>
        <p:nvSpPr>
          <p:cNvPr id="5" name="!!D1">
            <a:extLst>
              <a:ext uri="{FF2B5EF4-FFF2-40B4-BE49-F238E27FC236}">
                <a16:creationId xmlns:a16="http://schemas.microsoft.com/office/drawing/2014/main" id="{4318698D-3EFA-F776-2FF8-B66922EF515B}"/>
              </a:ext>
            </a:extLst>
          </p:cNvPr>
          <p:cNvSpPr/>
          <p:nvPr/>
        </p:nvSpPr>
        <p:spPr>
          <a:xfrm>
            <a:off x="0" y="685800"/>
            <a:ext cx="7670800" cy="635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2">
            <a:extLst>
              <a:ext uri="{FF2B5EF4-FFF2-40B4-BE49-F238E27FC236}">
                <a16:creationId xmlns:a16="http://schemas.microsoft.com/office/drawing/2014/main" id="{A19BD93D-DB4E-B8FF-5249-4BD53D90E809}"/>
              </a:ext>
            </a:extLst>
          </p:cNvPr>
          <p:cNvSpPr/>
          <p:nvPr/>
        </p:nvSpPr>
        <p:spPr>
          <a:xfrm>
            <a:off x="0" y="6858000"/>
            <a:ext cx="7670800" cy="635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3">
            <a:extLst>
              <a:ext uri="{FF2B5EF4-FFF2-40B4-BE49-F238E27FC236}">
                <a16:creationId xmlns:a16="http://schemas.microsoft.com/office/drawing/2014/main" id="{967C8D7E-2E6C-6449-0458-45AFECA04D00}"/>
              </a:ext>
            </a:extLst>
          </p:cNvPr>
          <p:cNvSpPr/>
          <p:nvPr/>
        </p:nvSpPr>
        <p:spPr>
          <a:xfrm>
            <a:off x="0" y="685800"/>
            <a:ext cx="6350" cy="617220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4">
            <a:extLst>
              <a:ext uri="{FF2B5EF4-FFF2-40B4-BE49-F238E27FC236}">
                <a16:creationId xmlns:a16="http://schemas.microsoft.com/office/drawing/2014/main" id="{3BE029A5-78DB-AC9D-BD0C-7A80E6AC2577}"/>
              </a:ext>
            </a:extLst>
          </p:cNvPr>
          <p:cNvSpPr/>
          <p:nvPr/>
        </p:nvSpPr>
        <p:spPr>
          <a:xfrm>
            <a:off x="7670800" y="685800"/>
            <a:ext cx="6350" cy="617220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ocus">
            <a:extLst>
              <a:ext uri="{FF2B5EF4-FFF2-40B4-BE49-F238E27FC236}">
                <a16:creationId xmlns:a16="http://schemas.microsoft.com/office/drawing/2014/main" id="{9FE538AD-C06A-BFC1-9D00-1135F1829DB0}"/>
              </a:ext>
            </a:extLst>
          </p:cNvPr>
          <p:cNvSpPr/>
          <p:nvPr/>
        </p:nvSpPr>
        <p:spPr>
          <a:xfrm>
            <a:off x="1315710" y="4512363"/>
            <a:ext cx="5093756" cy="1819199"/>
          </a:xfrm>
          <a:prstGeom prst="rect">
            <a:avLst/>
          </a:prstGeom>
          <a:solidFill>
            <a:srgbClr val="83CBEB">
              <a:alpha val="37000"/>
            </a:srgbClr>
          </a:solidFill>
          <a:ln w="38100">
            <a:solidFill>
              <a:srgbClr val="46B1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ail">
            <a:extLst>
              <a:ext uri="{FF2B5EF4-FFF2-40B4-BE49-F238E27FC236}">
                <a16:creationId xmlns:a16="http://schemas.microsoft.com/office/drawing/2014/main" id="{CD446AF5-2BAF-C93B-E201-507246E519F4}"/>
              </a:ext>
            </a:extLst>
          </p:cNvPr>
          <p:cNvSpPr/>
          <p:nvPr/>
        </p:nvSpPr>
        <p:spPr>
          <a:xfrm>
            <a:off x="7670800" y="685800"/>
            <a:ext cx="4521200" cy="61722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N45">
            <a:extLst>
              <a:ext uri="{FF2B5EF4-FFF2-40B4-BE49-F238E27FC236}">
                <a16:creationId xmlns:a16="http://schemas.microsoft.com/office/drawing/2014/main" id="{C43F4FCF-88FB-65F6-7BCA-1E00753CF702}"/>
              </a:ext>
            </a:extLst>
          </p:cNvPr>
          <p:cNvSpPr/>
          <p:nvPr/>
        </p:nvSpPr>
        <p:spPr>
          <a:xfrm>
            <a:off x="7797800" y="838200"/>
            <a:ext cx="4241800" cy="795528"/>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Here a row is the cue 1→2 effect: cue 2 − cue 1 on each day, every trial whatever its sounds; the bottom row its change.</a:t>
            </a:r>
          </a:p>
        </p:txBody>
      </p:sp>
      <p:sp>
        <p:nvSpPr>
          <p:cNvPr id="12" name="!!N46">
            <a:extLst>
              <a:ext uri="{FF2B5EF4-FFF2-40B4-BE49-F238E27FC236}">
                <a16:creationId xmlns:a16="http://schemas.microsoft.com/office/drawing/2014/main" id="{33C33B80-1F69-8E2E-89F3-C4682B6CD41A}"/>
              </a:ext>
            </a:extLst>
          </p:cNvPr>
          <p:cNvSpPr/>
          <p:nvPr/>
        </p:nvSpPr>
        <p:spPr>
          <a:xfrm>
            <a:off x="7797800" y="1748028"/>
            <a:ext cx="4241800" cy="1362456"/>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The change in cue effect passes none of its 9 tests (smallest P = 0.24): no change from Precon1 to Precon4 here.</a:t>
            </a:r>
          </a:p>
        </p:txBody>
      </p:sp>
      <p:sp>
        <p:nvSpPr>
          <p:cNvPr id="13" name="!!N47">
            <a:extLst>
              <a:ext uri="{FF2B5EF4-FFF2-40B4-BE49-F238E27FC236}">
                <a16:creationId xmlns:a16="http://schemas.microsoft.com/office/drawing/2014/main" id="{1041ACC2-9FEC-DBC9-4470-92024964C1E6}"/>
              </a:ext>
            </a:extLst>
          </p:cNvPr>
          <p:cNvSpPr/>
          <p:nvPr/>
        </p:nvSpPr>
        <p:spPr>
          <a:xfrm>
            <a:off x="12573000" y="2657856"/>
            <a:ext cx="4241800" cy="1362456"/>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On Precon4 alone, the cue 1→2 effect’s decreases pass FP (P = 0.009); the cue 1→2 effect’s ups and downs together pass FP (P = 0.021).</a:t>
            </a:r>
          </a:p>
        </p:txBody>
      </p:sp>
      <p:sp>
        <p:nvSpPr>
          <p:cNvPr id="14" name="!!T-BG">
            <a:extLst>
              <a:ext uri="{FF2B5EF4-FFF2-40B4-BE49-F238E27FC236}">
                <a16:creationId xmlns:a16="http://schemas.microsoft.com/office/drawing/2014/main" id="{7EDEC046-B20B-07D0-C80B-CC48AD632706}"/>
              </a:ext>
            </a:extLst>
          </p:cNvPr>
          <p:cNvSpPr/>
          <p:nvPr/>
        </p:nvSpPr>
        <p:spPr>
          <a:xfrm>
            <a:off x="-381000" y="0"/>
            <a:ext cx="12954000" cy="685800"/>
          </a:xfrm>
          <a:prstGeom prst="snip2DiagRect">
            <a:avLst>
              <a:gd name="adj1" fmla="val 0"/>
              <a:gd name="adj2" fmla="val 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
            <a:extLst>
              <a:ext uri="{FF2B5EF4-FFF2-40B4-BE49-F238E27FC236}">
                <a16:creationId xmlns:a16="http://schemas.microsoft.com/office/drawing/2014/main" id="{93533E51-53D0-2254-CB10-0D6CCED5619A}"/>
              </a:ext>
            </a:extLst>
          </p:cNvPr>
          <p:cNvSpPr txBox="1"/>
          <p:nvPr/>
        </p:nvSpPr>
        <p:spPr>
          <a:xfrm>
            <a:off x="127000" y="0"/>
            <a:ext cx="11811000" cy="685800"/>
          </a:xfrm>
          <a:prstGeom prst="rect">
            <a:avLst/>
          </a:prstGeom>
          <a:noFill/>
        </p:spPr>
        <p:txBody>
          <a:bodyPr vert="horz" wrap="square" lIns="76200" tIns="25400" rIns="76200" bIns="25400" rtlCol="0" anchor="ctr">
            <a:noAutofit/>
          </a:bodyPr>
          <a:lstStyle/>
          <a:p>
            <a:pPr>
              <a:lnSpc>
                <a:spcPct val="95000"/>
              </a:lnSpc>
            </a:pPr>
            <a:r>
              <a:rPr lang="en-US" sz="2400" b="1" u="sng">
                <a:solidFill>
                  <a:srgbClr val="FFFFFF"/>
                </a:solidFill>
                <a:latin typeface="Aptos Display" panose="020B0004020202020204" pitchFamily="34" charset="0"/>
              </a:rPr>
              <a:t>Figure 5 · cue 1 → cue 2 · theta</a:t>
            </a:r>
          </a:p>
        </p:txBody>
      </p:sp>
    </p:spTree>
    <p:extLst>
      <p:ext uri="{BB962C8B-B14F-4D97-AF65-F5344CB8AC3E}">
        <p14:creationId xmlns:p14="http://schemas.microsoft.com/office/powerpoint/2010/main" val="324732993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tage">
            <a:extLst>
              <a:ext uri="{FF2B5EF4-FFF2-40B4-BE49-F238E27FC236}">
                <a16:creationId xmlns:a16="http://schemas.microsoft.com/office/drawing/2014/main" id="{9CF3A2D7-B828-1D37-17D1-41B7D5B3598B}"/>
              </a:ext>
            </a:extLst>
          </p:cNvPr>
          <p:cNvSpPr/>
          <p:nvPr/>
        </p:nvSpPr>
        <p:spPr>
          <a:xfrm>
            <a:off x="0" y="685800"/>
            <a:ext cx="7670800" cy="6172200"/>
          </a:xfrm>
          <a:prstGeom prst="rect">
            <a:avLst/>
          </a:prstGeom>
          <a:solidFill>
            <a:srgbClr val="ECEC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F5_fp">
            <a:extLst>
              <a:ext uri="{FF2B5EF4-FFF2-40B4-BE49-F238E27FC236}">
                <a16:creationId xmlns:a16="http://schemas.microsoft.com/office/drawing/2014/main" id="{679587B8-2CB3-EEA0-0C11-D05EE3D8AB5A}"/>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287723" y="901954"/>
            <a:ext cx="5120754" cy="5765292"/>
          </a:xfrm>
          <a:prstGeom prst="rect">
            <a:avLst/>
          </a:prstGeom>
          <a:ln w="9525">
            <a:solidFill>
              <a:srgbClr val="B0B0B0"/>
            </a:solidFill>
          </a:ln>
        </p:spPr>
      </p:pic>
      <p:sp>
        <p:nvSpPr>
          <p:cNvPr id="5" name="!!D1">
            <a:extLst>
              <a:ext uri="{FF2B5EF4-FFF2-40B4-BE49-F238E27FC236}">
                <a16:creationId xmlns:a16="http://schemas.microsoft.com/office/drawing/2014/main" id="{DAC30930-124E-22F3-B90C-310359224370}"/>
              </a:ext>
            </a:extLst>
          </p:cNvPr>
          <p:cNvSpPr/>
          <p:nvPr/>
        </p:nvSpPr>
        <p:spPr>
          <a:xfrm>
            <a:off x="0" y="685800"/>
            <a:ext cx="7670800" cy="635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2">
            <a:extLst>
              <a:ext uri="{FF2B5EF4-FFF2-40B4-BE49-F238E27FC236}">
                <a16:creationId xmlns:a16="http://schemas.microsoft.com/office/drawing/2014/main" id="{8FE47B18-73AB-8E33-3C51-0FC76554B2C7}"/>
              </a:ext>
            </a:extLst>
          </p:cNvPr>
          <p:cNvSpPr/>
          <p:nvPr/>
        </p:nvSpPr>
        <p:spPr>
          <a:xfrm>
            <a:off x="0" y="6858000"/>
            <a:ext cx="7670800" cy="635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3">
            <a:extLst>
              <a:ext uri="{FF2B5EF4-FFF2-40B4-BE49-F238E27FC236}">
                <a16:creationId xmlns:a16="http://schemas.microsoft.com/office/drawing/2014/main" id="{1EB8F337-CBFB-D30C-6B52-58D7C8F4455D}"/>
              </a:ext>
            </a:extLst>
          </p:cNvPr>
          <p:cNvSpPr/>
          <p:nvPr/>
        </p:nvSpPr>
        <p:spPr>
          <a:xfrm>
            <a:off x="0" y="685800"/>
            <a:ext cx="6350" cy="617220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4">
            <a:extLst>
              <a:ext uri="{FF2B5EF4-FFF2-40B4-BE49-F238E27FC236}">
                <a16:creationId xmlns:a16="http://schemas.microsoft.com/office/drawing/2014/main" id="{9A3EFFE5-BD3B-863E-3D74-8C9F184F0291}"/>
              </a:ext>
            </a:extLst>
          </p:cNvPr>
          <p:cNvSpPr/>
          <p:nvPr/>
        </p:nvSpPr>
        <p:spPr>
          <a:xfrm>
            <a:off x="7670800" y="685800"/>
            <a:ext cx="6350" cy="617220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ocus">
            <a:extLst>
              <a:ext uri="{FF2B5EF4-FFF2-40B4-BE49-F238E27FC236}">
                <a16:creationId xmlns:a16="http://schemas.microsoft.com/office/drawing/2014/main" id="{8FADA824-42C9-D73E-AEB8-66EB056D1FDD}"/>
              </a:ext>
            </a:extLst>
          </p:cNvPr>
          <p:cNvSpPr/>
          <p:nvPr/>
        </p:nvSpPr>
        <p:spPr>
          <a:xfrm>
            <a:off x="1315710" y="2777128"/>
            <a:ext cx="5093756" cy="1819198"/>
          </a:xfrm>
          <a:prstGeom prst="rect">
            <a:avLst/>
          </a:prstGeom>
          <a:solidFill>
            <a:srgbClr val="83CBEB">
              <a:alpha val="37000"/>
            </a:srgbClr>
          </a:solidFill>
          <a:ln w="38100">
            <a:solidFill>
              <a:srgbClr val="46B1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ail">
            <a:extLst>
              <a:ext uri="{FF2B5EF4-FFF2-40B4-BE49-F238E27FC236}">
                <a16:creationId xmlns:a16="http://schemas.microsoft.com/office/drawing/2014/main" id="{D85B7395-25D6-D3AA-4D8C-52AD8246A701}"/>
              </a:ext>
            </a:extLst>
          </p:cNvPr>
          <p:cNvSpPr/>
          <p:nvPr/>
        </p:nvSpPr>
        <p:spPr>
          <a:xfrm>
            <a:off x="7670800" y="685800"/>
            <a:ext cx="4521200" cy="61722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N45">
            <a:extLst>
              <a:ext uri="{FF2B5EF4-FFF2-40B4-BE49-F238E27FC236}">
                <a16:creationId xmlns:a16="http://schemas.microsoft.com/office/drawing/2014/main" id="{07B9AC1E-E959-D705-EC34-9D34101D8897}"/>
              </a:ext>
            </a:extLst>
          </p:cNvPr>
          <p:cNvSpPr/>
          <p:nvPr/>
        </p:nvSpPr>
        <p:spPr>
          <a:xfrm>
            <a:off x="7797800" y="838200"/>
            <a:ext cx="4241800" cy="795528"/>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Here a row is the cue 1→2 effect: cue 2 − cue 1 on each day, every trial whatever its sounds; the bottom row its change.</a:t>
            </a:r>
          </a:p>
        </p:txBody>
      </p:sp>
      <p:sp>
        <p:nvSpPr>
          <p:cNvPr id="12" name="!!N46">
            <a:extLst>
              <a:ext uri="{FF2B5EF4-FFF2-40B4-BE49-F238E27FC236}">
                <a16:creationId xmlns:a16="http://schemas.microsoft.com/office/drawing/2014/main" id="{567E4777-DFFB-0596-2EA6-FB91C227D688}"/>
              </a:ext>
            </a:extLst>
          </p:cNvPr>
          <p:cNvSpPr/>
          <p:nvPr/>
        </p:nvSpPr>
        <p:spPr>
          <a:xfrm>
            <a:off x="7797800" y="1748028"/>
            <a:ext cx="4241800" cy="795528"/>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The change in cue effect passes none of its 9 tests (smallest P = 0.24): no change from Precon1 to Precon4 here.</a:t>
            </a:r>
          </a:p>
        </p:txBody>
      </p:sp>
      <p:sp>
        <p:nvSpPr>
          <p:cNvPr id="13" name="!!N47">
            <a:extLst>
              <a:ext uri="{FF2B5EF4-FFF2-40B4-BE49-F238E27FC236}">
                <a16:creationId xmlns:a16="http://schemas.microsoft.com/office/drawing/2014/main" id="{9E4CBBF0-F75F-78D8-093E-36327E10490F}"/>
              </a:ext>
            </a:extLst>
          </p:cNvPr>
          <p:cNvSpPr/>
          <p:nvPr/>
        </p:nvSpPr>
        <p:spPr>
          <a:xfrm>
            <a:off x="7797800" y="2657856"/>
            <a:ext cx="4241800" cy="1362456"/>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On Precon4 alone, the cue 1→2 effect’s decreases pass FP (P = 0.009); the cue 1→2 effect’s ups and downs together pass FP (P = 0.021).</a:t>
            </a:r>
          </a:p>
        </p:txBody>
      </p:sp>
      <p:sp>
        <p:nvSpPr>
          <p:cNvPr id="14" name="!!N48">
            <a:extLst>
              <a:ext uri="{FF2B5EF4-FFF2-40B4-BE49-F238E27FC236}">
                <a16:creationId xmlns:a16="http://schemas.microsoft.com/office/drawing/2014/main" id="{1422E691-672F-E365-4613-28645862EF01}"/>
              </a:ext>
            </a:extLst>
          </p:cNvPr>
          <p:cNvSpPr/>
          <p:nvPr/>
        </p:nvSpPr>
        <p:spPr>
          <a:xfrm>
            <a:off x="12573000" y="838200"/>
            <a:ext cx="4241800" cy="1362456"/>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Where a light lit (comparisons 1 and 2, gamma), tab 8 looked closer at single pairs, with four kinds of extra test.</a:t>
            </a:r>
          </a:p>
        </p:txBody>
      </p:sp>
      <p:sp>
        <p:nvSpPr>
          <p:cNvPr id="15" name="!!T-BG">
            <a:extLst>
              <a:ext uri="{FF2B5EF4-FFF2-40B4-BE49-F238E27FC236}">
                <a16:creationId xmlns:a16="http://schemas.microsoft.com/office/drawing/2014/main" id="{9F651C80-1BAE-15EC-ADB7-221EC26B6BDB}"/>
              </a:ext>
            </a:extLst>
          </p:cNvPr>
          <p:cNvSpPr/>
          <p:nvPr/>
        </p:nvSpPr>
        <p:spPr>
          <a:xfrm>
            <a:off x="-381000" y="0"/>
            <a:ext cx="12954000" cy="685800"/>
          </a:xfrm>
          <a:prstGeom prst="snip2DiagRect">
            <a:avLst>
              <a:gd name="adj1" fmla="val 0"/>
              <a:gd name="adj2" fmla="val 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
            <a:extLst>
              <a:ext uri="{FF2B5EF4-FFF2-40B4-BE49-F238E27FC236}">
                <a16:creationId xmlns:a16="http://schemas.microsoft.com/office/drawing/2014/main" id="{CBA55AE6-7936-25B9-7426-4072C2E6C30C}"/>
              </a:ext>
            </a:extLst>
          </p:cNvPr>
          <p:cNvSpPr txBox="1"/>
          <p:nvPr/>
        </p:nvSpPr>
        <p:spPr>
          <a:xfrm>
            <a:off x="127000" y="0"/>
            <a:ext cx="11811000" cy="685800"/>
          </a:xfrm>
          <a:prstGeom prst="rect">
            <a:avLst/>
          </a:prstGeom>
          <a:noFill/>
        </p:spPr>
        <p:txBody>
          <a:bodyPr vert="horz" wrap="square" lIns="76200" tIns="25400" rIns="76200" bIns="25400" rtlCol="0" anchor="ctr">
            <a:noAutofit/>
          </a:bodyPr>
          <a:lstStyle/>
          <a:p>
            <a:pPr>
              <a:lnSpc>
                <a:spcPct val="95000"/>
              </a:lnSpc>
            </a:pPr>
            <a:r>
              <a:rPr lang="en-US" sz="2400" b="1" u="sng">
                <a:solidFill>
                  <a:srgbClr val="FFFFFF"/>
                </a:solidFill>
                <a:latin typeface="Aptos Display" panose="020B0004020202020204" pitchFamily="34" charset="0"/>
              </a:rPr>
              <a:t>Figure 5 · cue 1 → cue 2 · theta</a:t>
            </a:r>
          </a:p>
        </p:txBody>
      </p:sp>
    </p:spTree>
    <p:extLst>
      <p:ext uri="{BB962C8B-B14F-4D97-AF65-F5344CB8AC3E}">
        <p14:creationId xmlns:p14="http://schemas.microsoft.com/office/powerpoint/2010/main" val="206949525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tage">
            <a:extLst>
              <a:ext uri="{FF2B5EF4-FFF2-40B4-BE49-F238E27FC236}">
                <a16:creationId xmlns:a16="http://schemas.microsoft.com/office/drawing/2014/main" id="{B5E65BF4-2A03-4182-3797-CC13E6C13E7A}"/>
              </a:ext>
            </a:extLst>
          </p:cNvPr>
          <p:cNvSpPr/>
          <p:nvPr/>
        </p:nvSpPr>
        <p:spPr>
          <a:xfrm>
            <a:off x="0" y="685800"/>
            <a:ext cx="7670800" cy="6172200"/>
          </a:xfrm>
          <a:prstGeom prst="rect">
            <a:avLst/>
          </a:prstGeom>
          <a:solidFill>
            <a:srgbClr val="ECEC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I_families">
            <a:extLst>
              <a:ext uri="{FF2B5EF4-FFF2-40B4-BE49-F238E27FC236}">
                <a16:creationId xmlns:a16="http://schemas.microsoft.com/office/drawing/2014/main" id="{665409E9-ECBE-5266-30F4-A56E40B982EE}"/>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287909" y="1506078"/>
            <a:ext cx="7120382" cy="4557044"/>
          </a:xfrm>
          <a:prstGeom prst="rect">
            <a:avLst/>
          </a:prstGeom>
          <a:ln w="9525">
            <a:solidFill>
              <a:srgbClr val="B0B0B0"/>
            </a:solidFill>
          </a:ln>
        </p:spPr>
      </p:pic>
      <p:sp>
        <p:nvSpPr>
          <p:cNvPr id="5" name="!!D1">
            <a:extLst>
              <a:ext uri="{FF2B5EF4-FFF2-40B4-BE49-F238E27FC236}">
                <a16:creationId xmlns:a16="http://schemas.microsoft.com/office/drawing/2014/main" id="{13C17AA4-2A1D-AF75-FDAC-E45124A88B59}"/>
              </a:ext>
            </a:extLst>
          </p:cNvPr>
          <p:cNvSpPr/>
          <p:nvPr/>
        </p:nvSpPr>
        <p:spPr>
          <a:xfrm>
            <a:off x="0" y="685800"/>
            <a:ext cx="7670800" cy="635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2">
            <a:extLst>
              <a:ext uri="{FF2B5EF4-FFF2-40B4-BE49-F238E27FC236}">
                <a16:creationId xmlns:a16="http://schemas.microsoft.com/office/drawing/2014/main" id="{26562F1D-E9C7-E494-A3BC-334E69E90602}"/>
              </a:ext>
            </a:extLst>
          </p:cNvPr>
          <p:cNvSpPr/>
          <p:nvPr/>
        </p:nvSpPr>
        <p:spPr>
          <a:xfrm>
            <a:off x="0" y="6858000"/>
            <a:ext cx="7670800" cy="635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3">
            <a:extLst>
              <a:ext uri="{FF2B5EF4-FFF2-40B4-BE49-F238E27FC236}">
                <a16:creationId xmlns:a16="http://schemas.microsoft.com/office/drawing/2014/main" id="{7C9F71A7-0832-7C62-AB05-92BFE5898B18}"/>
              </a:ext>
            </a:extLst>
          </p:cNvPr>
          <p:cNvSpPr/>
          <p:nvPr/>
        </p:nvSpPr>
        <p:spPr>
          <a:xfrm>
            <a:off x="0" y="685800"/>
            <a:ext cx="6350" cy="617220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4">
            <a:extLst>
              <a:ext uri="{FF2B5EF4-FFF2-40B4-BE49-F238E27FC236}">
                <a16:creationId xmlns:a16="http://schemas.microsoft.com/office/drawing/2014/main" id="{4D2BFA70-CD40-FFAC-1956-59524D561BB0}"/>
              </a:ext>
            </a:extLst>
          </p:cNvPr>
          <p:cNvSpPr/>
          <p:nvPr/>
        </p:nvSpPr>
        <p:spPr>
          <a:xfrm>
            <a:off x="7670800" y="685800"/>
            <a:ext cx="6350" cy="617220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ail">
            <a:extLst>
              <a:ext uri="{FF2B5EF4-FFF2-40B4-BE49-F238E27FC236}">
                <a16:creationId xmlns:a16="http://schemas.microsoft.com/office/drawing/2014/main" id="{09842333-2879-2A4A-C178-60396626C37C}"/>
              </a:ext>
            </a:extLst>
          </p:cNvPr>
          <p:cNvSpPr/>
          <p:nvPr/>
        </p:nvSpPr>
        <p:spPr>
          <a:xfrm>
            <a:off x="7670800" y="685800"/>
            <a:ext cx="4521200" cy="61722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N48">
            <a:extLst>
              <a:ext uri="{FF2B5EF4-FFF2-40B4-BE49-F238E27FC236}">
                <a16:creationId xmlns:a16="http://schemas.microsoft.com/office/drawing/2014/main" id="{63A67A82-C4D8-D66D-9B38-82291509F552}"/>
              </a:ext>
            </a:extLst>
          </p:cNvPr>
          <p:cNvSpPr/>
          <p:nvPr/>
        </p:nvSpPr>
        <p:spPr>
          <a:xfrm>
            <a:off x="7797800" y="838200"/>
            <a:ext cx="4241800" cy="1362456"/>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Where a light lit (comparisons 1 and 2, gamma), tab 8 looked closer at single pairs, with four kinds of extra test.</a:t>
            </a:r>
          </a:p>
        </p:txBody>
      </p:sp>
      <p:sp>
        <p:nvSpPr>
          <p:cNvPr id="11" name="!!N49">
            <a:extLst>
              <a:ext uri="{FF2B5EF4-FFF2-40B4-BE49-F238E27FC236}">
                <a16:creationId xmlns:a16="http://schemas.microsoft.com/office/drawing/2014/main" id="{76AC650A-5CB5-858F-6D45-19BFC9CD036C}"/>
              </a:ext>
            </a:extLst>
          </p:cNvPr>
          <p:cNvSpPr/>
          <p:nvPr/>
        </p:nvSpPr>
        <p:spPr>
          <a:xfrm>
            <a:off x="12573000" y="1559052"/>
            <a:ext cx="4241800" cy="249631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Not just a shared signal: two wires can look coherent because they pick up the same source. PLI and imaginary coherence count only coupling with a delay: PLI asks how steadily one rhythm runs ahead, imaginary coherence also weighs how strongly.</a:t>
            </a:r>
          </a:p>
        </p:txBody>
      </p:sp>
      <p:sp>
        <p:nvSpPr>
          <p:cNvPr id="12" name="!!N45">
            <a:extLst>
              <a:ext uri="{FF2B5EF4-FFF2-40B4-BE49-F238E27FC236}">
                <a16:creationId xmlns:a16="http://schemas.microsoft.com/office/drawing/2014/main" id="{0B6D2BEA-B7FF-3A12-9A22-E8001171A1BE}"/>
              </a:ext>
            </a:extLst>
          </p:cNvPr>
          <p:cNvSpPr/>
          <p:nvPr/>
        </p:nvSpPr>
        <p:spPr>
          <a:xfrm>
            <a:off x="12573000" y="838200"/>
            <a:ext cx="4241800" cy="795528"/>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Here a row is the cue 1→2 effect: cue 2 − cue 1 on each day, every trial whatever its sounds; the bottom row its change.</a:t>
            </a:r>
          </a:p>
        </p:txBody>
      </p:sp>
      <p:sp>
        <p:nvSpPr>
          <p:cNvPr id="13" name="!!N46">
            <a:extLst>
              <a:ext uri="{FF2B5EF4-FFF2-40B4-BE49-F238E27FC236}">
                <a16:creationId xmlns:a16="http://schemas.microsoft.com/office/drawing/2014/main" id="{B055208F-53FA-AB74-7E75-E234A5814605}"/>
              </a:ext>
            </a:extLst>
          </p:cNvPr>
          <p:cNvSpPr/>
          <p:nvPr/>
        </p:nvSpPr>
        <p:spPr>
          <a:xfrm>
            <a:off x="12573000" y="1748028"/>
            <a:ext cx="4241800" cy="795528"/>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The change in cue effect passes none of its 9 tests (smallest P = 0.24): no change from Precon1 to Precon4 here.</a:t>
            </a:r>
          </a:p>
        </p:txBody>
      </p:sp>
      <p:sp>
        <p:nvSpPr>
          <p:cNvPr id="14" name="!!N47">
            <a:extLst>
              <a:ext uri="{FF2B5EF4-FFF2-40B4-BE49-F238E27FC236}">
                <a16:creationId xmlns:a16="http://schemas.microsoft.com/office/drawing/2014/main" id="{34942D50-0E78-267F-9C75-E729E134986A}"/>
              </a:ext>
            </a:extLst>
          </p:cNvPr>
          <p:cNvSpPr/>
          <p:nvPr/>
        </p:nvSpPr>
        <p:spPr>
          <a:xfrm>
            <a:off x="12573000" y="2657856"/>
            <a:ext cx="4241800" cy="1362456"/>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On Precon4 alone, the cue 1→2 effect’s decreases pass FP (P = 0.009); the cue 1→2 effect’s ups and downs together pass FP (P = 0.021).</a:t>
            </a:r>
          </a:p>
        </p:txBody>
      </p:sp>
      <p:sp>
        <p:nvSpPr>
          <p:cNvPr id="15" name="!!T-BG">
            <a:extLst>
              <a:ext uri="{FF2B5EF4-FFF2-40B4-BE49-F238E27FC236}">
                <a16:creationId xmlns:a16="http://schemas.microsoft.com/office/drawing/2014/main" id="{2694FA39-B218-8531-F9F2-3A5BEA349E5D}"/>
              </a:ext>
            </a:extLst>
          </p:cNvPr>
          <p:cNvSpPr/>
          <p:nvPr/>
        </p:nvSpPr>
        <p:spPr>
          <a:xfrm>
            <a:off x="-381000" y="0"/>
            <a:ext cx="12954000" cy="685800"/>
          </a:xfrm>
          <a:prstGeom prst="snip2DiagRect">
            <a:avLst>
              <a:gd name="adj1" fmla="val 0"/>
              <a:gd name="adj2" fmla="val 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
            <a:extLst>
              <a:ext uri="{FF2B5EF4-FFF2-40B4-BE49-F238E27FC236}">
                <a16:creationId xmlns:a16="http://schemas.microsoft.com/office/drawing/2014/main" id="{33A0D568-8964-D071-EEAA-80E209BDEB41}"/>
              </a:ext>
            </a:extLst>
          </p:cNvPr>
          <p:cNvSpPr txBox="1"/>
          <p:nvPr/>
        </p:nvSpPr>
        <p:spPr>
          <a:xfrm>
            <a:off x="127000" y="0"/>
            <a:ext cx="11811000" cy="685800"/>
          </a:xfrm>
          <a:prstGeom prst="rect">
            <a:avLst/>
          </a:prstGeom>
          <a:noFill/>
        </p:spPr>
        <p:txBody>
          <a:bodyPr vert="horz" wrap="square" lIns="76200" tIns="25400" rIns="76200" bIns="25400" rtlCol="0" anchor="ctr">
            <a:noAutofit/>
          </a:bodyPr>
          <a:lstStyle/>
          <a:p>
            <a:pPr>
              <a:lnSpc>
                <a:spcPct val="95000"/>
              </a:lnSpc>
            </a:pPr>
            <a:r>
              <a:rPr lang="en-US" sz="2400" b="1" u="sng">
                <a:solidFill>
                  <a:srgbClr val="FFFFFF"/>
                </a:solidFill>
                <a:latin typeface="Aptos Display" panose="020B0004020202020204" pitchFamily="34" charset="0"/>
              </a:rPr>
              <a:t>The follow-ups</a:t>
            </a:r>
          </a:p>
        </p:txBody>
      </p:sp>
    </p:spTree>
    <p:extLst>
      <p:ext uri="{BB962C8B-B14F-4D97-AF65-F5344CB8AC3E}">
        <p14:creationId xmlns:p14="http://schemas.microsoft.com/office/powerpoint/2010/main" val="281085529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tage">
            <a:extLst>
              <a:ext uri="{FF2B5EF4-FFF2-40B4-BE49-F238E27FC236}">
                <a16:creationId xmlns:a16="http://schemas.microsoft.com/office/drawing/2014/main" id="{B62DAA70-E64C-03B2-7F0F-FEDF40718E9F}"/>
              </a:ext>
            </a:extLst>
          </p:cNvPr>
          <p:cNvSpPr/>
          <p:nvPr/>
        </p:nvSpPr>
        <p:spPr>
          <a:xfrm>
            <a:off x="0" y="685800"/>
            <a:ext cx="7670800" cy="6172200"/>
          </a:xfrm>
          <a:prstGeom prst="rect">
            <a:avLst/>
          </a:prstGeom>
          <a:solidFill>
            <a:srgbClr val="ECEC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I_families">
            <a:extLst>
              <a:ext uri="{FF2B5EF4-FFF2-40B4-BE49-F238E27FC236}">
                <a16:creationId xmlns:a16="http://schemas.microsoft.com/office/drawing/2014/main" id="{98001F3C-3AAF-7B6C-F918-1F75B3E7388F}"/>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287909" y="1506078"/>
            <a:ext cx="7120382" cy="4557044"/>
          </a:xfrm>
          <a:prstGeom prst="rect">
            <a:avLst/>
          </a:prstGeom>
          <a:ln w="9525">
            <a:solidFill>
              <a:srgbClr val="B0B0B0"/>
            </a:solidFill>
          </a:ln>
        </p:spPr>
      </p:pic>
      <p:sp>
        <p:nvSpPr>
          <p:cNvPr id="5" name="!!D1">
            <a:extLst>
              <a:ext uri="{FF2B5EF4-FFF2-40B4-BE49-F238E27FC236}">
                <a16:creationId xmlns:a16="http://schemas.microsoft.com/office/drawing/2014/main" id="{34085AF1-35DA-08EE-5DF6-C953A544E24F}"/>
              </a:ext>
            </a:extLst>
          </p:cNvPr>
          <p:cNvSpPr/>
          <p:nvPr/>
        </p:nvSpPr>
        <p:spPr>
          <a:xfrm>
            <a:off x="0" y="685800"/>
            <a:ext cx="7670800" cy="635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2">
            <a:extLst>
              <a:ext uri="{FF2B5EF4-FFF2-40B4-BE49-F238E27FC236}">
                <a16:creationId xmlns:a16="http://schemas.microsoft.com/office/drawing/2014/main" id="{0367758F-274D-5306-94DD-1616BCC1F768}"/>
              </a:ext>
            </a:extLst>
          </p:cNvPr>
          <p:cNvSpPr/>
          <p:nvPr/>
        </p:nvSpPr>
        <p:spPr>
          <a:xfrm>
            <a:off x="0" y="6858000"/>
            <a:ext cx="7670800" cy="635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3">
            <a:extLst>
              <a:ext uri="{FF2B5EF4-FFF2-40B4-BE49-F238E27FC236}">
                <a16:creationId xmlns:a16="http://schemas.microsoft.com/office/drawing/2014/main" id="{CD536C9F-127C-0622-DECC-0EB24EC4FC13}"/>
              </a:ext>
            </a:extLst>
          </p:cNvPr>
          <p:cNvSpPr/>
          <p:nvPr/>
        </p:nvSpPr>
        <p:spPr>
          <a:xfrm>
            <a:off x="0" y="685800"/>
            <a:ext cx="6350" cy="617220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4">
            <a:extLst>
              <a:ext uri="{FF2B5EF4-FFF2-40B4-BE49-F238E27FC236}">
                <a16:creationId xmlns:a16="http://schemas.microsoft.com/office/drawing/2014/main" id="{0A231FB7-E08B-8FCF-BF3A-81A53AE7F6FB}"/>
              </a:ext>
            </a:extLst>
          </p:cNvPr>
          <p:cNvSpPr/>
          <p:nvPr/>
        </p:nvSpPr>
        <p:spPr>
          <a:xfrm>
            <a:off x="7670800" y="685800"/>
            <a:ext cx="6350" cy="617220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ocus">
            <a:extLst>
              <a:ext uri="{FF2B5EF4-FFF2-40B4-BE49-F238E27FC236}">
                <a16:creationId xmlns:a16="http://schemas.microsoft.com/office/drawing/2014/main" id="{19E5B090-25B7-E1FE-33D2-47ABB9AF08EC}"/>
              </a:ext>
            </a:extLst>
          </p:cNvPr>
          <p:cNvSpPr/>
          <p:nvPr/>
        </p:nvSpPr>
        <p:spPr>
          <a:xfrm>
            <a:off x="430317" y="1648485"/>
            <a:ext cx="3370314" cy="2088646"/>
          </a:xfrm>
          <a:prstGeom prst="rect">
            <a:avLst/>
          </a:prstGeom>
          <a:solidFill>
            <a:srgbClr val="83CBEB">
              <a:alpha val="37000"/>
            </a:srgbClr>
          </a:solidFill>
          <a:ln w="38100">
            <a:solidFill>
              <a:srgbClr val="46B1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ail">
            <a:extLst>
              <a:ext uri="{FF2B5EF4-FFF2-40B4-BE49-F238E27FC236}">
                <a16:creationId xmlns:a16="http://schemas.microsoft.com/office/drawing/2014/main" id="{B9816F5F-311F-95CE-3612-5A9E79129DE9}"/>
              </a:ext>
            </a:extLst>
          </p:cNvPr>
          <p:cNvSpPr/>
          <p:nvPr/>
        </p:nvSpPr>
        <p:spPr>
          <a:xfrm>
            <a:off x="7670800" y="685800"/>
            <a:ext cx="4521200" cy="61722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N48">
            <a:extLst>
              <a:ext uri="{FF2B5EF4-FFF2-40B4-BE49-F238E27FC236}">
                <a16:creationId xmlns:a16="http://schemas.microsoft.com/office/drawing/2014/main" id="{7A32E0F5-BE5C-5B5B-9376-4B6FCAE7C548}"/>
              </a:ext>
            </a:extLst>
          </p:cNvPr>
          <p:cNvSpPr/>
          <p:nvPr/>
        </p:nvSpPr>
        <p:spPr>
          <a:xfrm>
            <a:off x="7797800" y="838200"/>
            <a:ext cx="4241800" cy="60655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Where a light lit (comparisons 1 and 2, gamma), tab 8 looked closer at single pairs, with four kinds of extra test.</a:t>
            </a:r>
          </a:p>
        </p:txBody>
      </p:sp>
      <p:sp>
        <p:nvSpPr>
          <p:cNvPr id="12" name="!!N49">
            <a:extLst>
              <a:ext uri="{FF2B5EF4-FFF2-40B4-BE49-F238E27FC236}">
                <a16:creationId xmlns:a16="http://schemas.microsoft.com/office/drawing/2014/main" id="{08AF3953-C382-2D3A-0EDB-54007A0F9A28}"/>
              </a:ext>
            </a:extLst>
          </p:cNvPr>
          <p:cNvSpPr/>
          <p:nvPr/>
        </p:nvSpPr>
        <p:spPr>
          <a:xfrm>
            <a:off x="7797800" y="1559052"/>
            <a:ext cx="4241800" cy="249631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Not just a shared signal: two wires can look coherent because they pick up the same source. PLI and imaginary coherence count only coupling with a delay: PLI asks how steadily one rhythm runs ahead, imaginary coherence also weighs how strongly.</a:t>
            </a:r>
          </a:p>
        </p:txBody>
      </p:sp>
      <p:sp>
        <p:nvSpPr>
          <p:cNvPr id="13" name="!!N50">
            <a:extLst>
              <a:ext uri="{FF2B5EF4-FFF2-40B4-BE49-F238E27FC236}">
                <a16:creationId xmlns:a16="http://schemas.microsoft.com/office/drawing/2014/main" id="{D2E1B56A-3321-D01C-A9BA-3F6D3B666553}"/>
              </a:ext>
            </a:extLst>
          </p:cNvPr>
          <p:cNvSpPr/>
          <p:nvPr/>
        </p:nvSpPr>
        <p:spPr>
          <a:xfrm>
            <a:off x="12573000" y="838200"/>
            <a:ext cx="4241800" cy="1362456"/>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Which leads: Granger asks if one region’s past predicts the other’s future; the lag asks whose gamma bursts come first.</a:t>
            </a:r>
          </a:p>
        </p:txBody>
      </p:sp>
      <p:sp>
        <p:nvSpPr>
          <p:cNvPr id="14" name="!!T-BG">
            <a:extLst>
              <a:ext uri="{FF2B5EF4-FFF2-40B4-BE49-F238E27FC236}">
                <a16:creationId xmlns:a16="http://schemas.microsoft.com/office/drawing/2014/main" id="{B78BEF09-2B75-0BB6-CA6D-5CEFC759B5DF}"/>
              </a:ext>
            </a:extLst>
          </p:cNvPr>
          <p:cNvSpPr/>
          <p:nvPr/>
        </p:nvSpPr>
        <p:spPr>
          <a:xfrm>
            <a:off x="-381000" y="0"/>
            <a:ext cx="12954000" cy="685800"/>
          </a:xfrm>
          <a:prstGeom prst="snip2DiagRect">
            <a:avLst>
              <a:gd name="adj1" fmla="val 0"/>
              <a:gd name="adj2" fmla="val 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
            <a:extLst>
              <a:ext uri="{FF2B5EF4-FFF2-40B4-BE49-F238E27FC236}">
                <a16:creationId xmlns:a16="http://schemas.microsoft.com/office/drawing/2014/main" id="{0F67135D-AC26-4007-D97A-C7E539A1B229}"/>
              </a:ext>
            </a:extLst>
          </p:cNvPr>
          <p:cNvSpPr txBox="1"/>
          <p:nvPr/>
        </p:nvSpPr>
        <p:spPr>
          <a:xfrm>
            <a:off x="127000" y="0"/>
            <a:ext cx="11811000" cy="685800"/>
          </a:xfrm>
          <a:prstGeom prst="rect">
            <a:avLst/>
          </a:prstGeom>
          <a:noFill/>
        </p:spPr>
        <p:txBody>
          <a:bodyPr vert="horz" wrap="square" lIns="76200" tIns="25400" rIns="76200" bIns="25400" rtlCol="0" anchor="ctr">
            <a:noAutofit/>
          </a:bodyPr>
          <a:lstStyle/>
          <a:p>
            <a:pPr>
              <a:lnSpc>
                <a:spcPct val="95000"/>
              </a:lnSpc>
            </a:pPr>
            <a:r>
              <a:rPr lang="en-US" sz="2400" b="1" u="sng">
                <a:solidFill>
                  <a:srgbClr val="FFFFFF"/>
                </a:solidFill>
                <a:latin typeface="Aptos Display" panose="020B0004020202020204" pitchFamily="34" charset="0"/>
              </a:rPr>
              <a:t>The follow-ups</a:t>
            </a:r>
          </a:p>
        </p:txBody>
      </p:sp>
    </p:spTree>
    <p:extLst>
      <p:ext uri="{BB962C8B-B14F-4D97-AF65-F5344CB8AC3E}">
        <p14:creationId xmlns:p14="http://schemas.microsoft.com/office/powerpoint/2010/main" val="132259875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tage">
            <a:extLst>
              <a:ext uri="{FF2B5EF4-FFF2-40B4-BE49-F238E27FC236}">
                <a16:creationId xmlns:a16="http://schemas.microsoft.com/office/drawing/2014/main" id="{B03E9075-6082-E62A-07FC-D221ECF10221}"/>
              </a:ext>
            </a:extLst>
          </p:cNvPr>
          <p:cNvSpPr/>
          <p:nvPr/>
        </p:nvSpPr>
        <p:spPr>
          <a:xfrm>
            <a:off x="0" y="685800"/>
            <a:ext cx="7670800" cy="6172200"/>
          </a:xfrm>
          <a:prstGeom prst="rect">
            <a:avLst/>
          </a:prstGeom>
          <a:solidFill>
            <a:srgbClr val="ECEC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I_families">
            <a:extLst>
              <a:ext uri="{FF2B5EF4-FFF2-40B4-BE49-F238E27FC236}">
                <a16:creationId xmlns:a16="http://schemas.microsoft.com/office/drawing/2014/main" id="{0A14E67A-03D9-CA0F-4642-921C49B34FC0}"/>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287909" y="1506078"/>
            <a:ext cx="7120382" cy="4557044"/>
          </a:xfrm>
          <a:prstGeom prst="rect">
            <a:avLst/>
          </a:prstGeom>
          <a:ln w="9525">
            <a:solidFill>
              <a:srgbClr val="B0B0B0"/>
            </a:solidFill>
          </a:ln>
        </p:spPr>
      </p:pic>
      <p:sp>
        <p:nvSpPr>
          <p:cNvPr id="5" name="!!D1">
            <a:extLst>
              <a:ext uri="{FF2B5EF4-FFF2-40B4-BE49-F238E27FC236}">
                <a16:creationId xmlns:a16="http://schemas.microsoft.com/office/drawing/2014/main" id="{C1A25AC3-EB04-717A-8DC9-EFB3C0A7B6D2}"/>
              </a:ext>
            </a:extLst>
          </p:cNvPr>
          <p:cNvSpPr/>
          <p:nvPr/>
        </p:nvSpPr>
        <p:spPr>
          <a:xfrm>
            <a:off x="0" y="685800"/>
            <a:ext cx="7670800" cy="635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2">
            <a:extLst>
              <a:ext uri="{FF2B5EF4-FFF2-40B4-BE49-F238E27FC236}">
                <a16:creationId xmlns:a16="http://schemas.microsoft.com/office/drawing/2014/main" id="{2B2B1B2A-B10F-0667-F895-2D7BF7B39A49}"/>
              </a:ext>
            </a:extLst>
          </p:cNvPr>
          <p:cNvSpPr/>
          <p:nvPr/>
        </p:nvSpPr>
        <p:spPr>
          <a:xfrm>
            <a:off x="0" y="6858000"/>
            <a:ext cx="7670800" cy="635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3">
            <a:extLst>
              <a:ext uri="{FF2B5EF4-FFF2-40B4-BE49-F238E27FC236}">
                <a16:creationId xmlns:a16="http://schemas.microsoft.com/office/drawing/2014/main" id="{BA920845-40B5-E0A4-C68F-134C9D5A46DF}"/>
              </a:ext>
            </a:extLst>
          </p:cNvPr>
          <p:cNvSpPr/>
          <p:nvPr/>
        </p:nvSpPr>
        <p:spPr>
          <a:xfrm>
            <a:off x="0" y="685800"/>
            <a:ext cx="6350" cy="617220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4">
            <a:extLst>
              <a:ext uri="{FF2B5EF4-FFF2-40B4-BE49-F238E27FC236}">
                <a16:creationId xmlns:a16="http://schemas.microsoft.com/office/drawing/2014/main" id="{5BDE3902-68B4-88F4-10F8-F860435A9E4F}"/>
              </a:ext>
            </a:extLst>
          </p:cNvPr>
          <p:cNvSpPr/>
          <p:nvPr/>
        </p:nvSpPr>
        <p:spPr>
          <a:xfrm>
            <a:off x="7670800" y="685800"/>
            <a:ext cx="6350" cy="617220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ocus">
            <a:extLst>
              <a:ext uri="{FF2B5EF4-FFF2-40B4-BE49-F238E27FC236}">
                <a16:creationId xmlns:a16="http://schemas.microsoft.com/office/drawing/2014/main" id="{4FF273DF-829B-D3BA-8F79-4D73C0433FCA}"/>
              </a:ext>
            </a:extLst>
          </p:cNvPr>
          <p:cNvSpPr/>
          <p:nvPr/>
        </p:nvSpPr>
        <p:spPr>
          <a:xfrm>
            <a:off x="3895569" y="1648485"/>
            <a:ext cx="3370315" cy="2088646"/>
          </a:xfrm>
          <a:prstGeom prst="rect">
            <a:avLst/>
          </a:prstGeom>
          <a:solidFill>
            <a:srgbClr val="83CBEB">
              <a:alpha val="37000"/>
            </a:srgbClr>
          </a:solidFill>
          <a:ln w="38100">
            <a:solidFill>
              <a:srgbClr val="46B1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ail">
            <a:extLst>
              <a:ext uri="{FF2B5EF4-FFF2-40B4-BE49-F238E27FC236}">
                <a16:creationId xmlns:a16="http://schemas.microsoft.com/office/drawing/2014/main" id="{5C706E56-C59E-67E2-9D78-13E427A49F56}"/>
              </a:ext>
            </a:extLst>
          </p:cNvPr>
          <p:cNvSpPr/>
          <p:nvPr/>
        </p:nvSpPr>
        <p:spPr>
          <a:xfrm>
            <a:off x="7670800" y="685800"/>
            <a:ext cx="4521200" cy="61722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N50">
            <a:extLst>
              <a:ext uri="{FF2B5EF4-FFF2-40B4-BE49-F238E27FC236}">
                <a16:creationId xmlns:a16="http://schemas.microsoft.com/office/drawing/2014/main" id="{045C7990-8F5D-47D7-2BBF-90A4AB743DDE}"/>
              </a:ext>
            </a:extLst>
          </p:cNvPr>
          <p:cNvSpPr/>
          <p:nvPr/>
        </p:nvSpPr>
        <p:spPr>
          <a:xfrm>
            <a:off x="7797800" y="838200"/>
            <a:ext cx="4241800" cy="1362456"/>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Which leads: Granger asks if one region’s past predicts the other’s future; the lag asks whose gamma bursts come first.</a:t>
            </a:r>
          </a:p>
        </p:txBody>
      </p:sp>
      <p:sp>
        <p:nvSpPr>
          <p:cNvPr id="12" name="!!N51">
            <a:extLst>
              <a:ext uri="{FF2B5EF4-FFF2-40B4-BE49-F238E27FC236}">
                <a16:creationId xmlns:a16="http://schemas.microsoft.com/office/drawing/2014/main" id="{6AFCAC8A-FC89-DBB0-376D-221D3BF2B8EC}"/>
              </a:ext>
            </a:extLst>
          </p:cNvPr>
          <p:cNvSpPr/>
          <p:nvPr/>
        </p:nvSpPr>
        <p:spPr>
          <a:xfrm>
            <a:off x="12573000" y="1748028"/>
            <a:ext cx="4241800" cy="107899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Bursts rise together: do the two regions’ gamma get loud at the same moments?</a:t>
            </a:r>
          </a:p>
        </p:txBody>
      </p:sp>
      <p:sp>
        <p:nvSpPr>
          <p:cNvPr id="13" name="!!N48">
            <a:extLst>
              <a:ext uri="{FF2B5EF4-FFF2-40B4-BE49-F238E27FC236}">
                <a16:creationId xmlns:a16="http://schemas.microsoft.com/office/drawing/2014/main" id="{C125D66B-B453-8603-60E8-1B08B4715180}"/>
              </a:ext>
            </a:extLst>
          </p:cNvPr>
          <p:cNvSpPr/>
          <p:nvPr/>
        </p:nvSpPr>
        <p:spPr>
          <a:xfrm>
            <a:off x="12573000" y="838200"/>
            <a:ext cx="4241800" cy="60655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Where a light lit (comparisons 1 and 2, gamma), tab 8 looked closer at single pairs, with four kinds of extra test.</a:t>
            </a:r>
          </a:p>
        </p:txBody>
      </p:sp>
      <p:sp>
        <p:nvSpPr>
          <p:cNvPr id="14" name="!!N49">
            <a:extLst>
              <a:ext uri="{FF2B5EF4-FFF2-40B4-BE49-F238E27FC236}">
                <a16:creationId xmlns:a16="http://schemas.microsoft.com/office/drawing/2014/main" id="{1B3CADBE-BB0F-FC97-BB1D-37179E36716A}"/>
              </a:ext>
            </a:extLst>
          </p:cNvPr>
          <p:cNvSpPr/>
          <p:nvPr/>
        </p:nvSpPr>
        <p:spPr>
          <a:xfrm>
            <a:off x="12573000" y="1559052"/>
            <a:ext cx="4241800" cy="249631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Not just a shared signal: two wires can look coherent because they pick up the same source. PLI and imaginary coherence count only coupling with a delay: PLI asks how steadily one rhythm runs ahead, imaginary coherence also weighs how strongly.</a:t>
            </a:r>
          </a:p>
        </p:txBody>
      </p:sp>
      <p:sp>
        <p:nvSpPr>
          <p:cNvPr id="15" name="!!T-BG">
            <a:extLst>
              <a:ext uri="{FF2B5EF4-FFF2-40B4-BE49-F238E27FC236}">
                <a16:creationId xmlns:a16="http://schemas.microsoft.com/office/drawing/2014/main" id="{B3699B05-67D3-3611-C2A0-64812734AB3D}"/>
              </a:ext>
            </a:extLst>
          </p:cNvPr>
          <p:cNvSpPr/>
          <p:nvPr/>
        </p:nvSpPr>
        <p:spPr>
          <a:xfrm>
            <a:off x="-381000" y="0"/>
            <a:ext cx="12954000" cy="685800"/>
          </a:xfrm>
          <a:prstGeom prst="snip2DiagRect">
            <a:avLst>
              <a:gd name="adj1" fmla="val 0"/>
              <a:gd name="adj2" fmla="val 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
            <a:extLst>
              <a:ext uri="{FF2B5EF4-FFF2-40B4-BE49-F238E27FC236}">
                <a16:creationId xmlns:a16="http://schemas.microsoft.com/office/drawing/2014/main" id="{88C1E4E1-CF5A-098C-ACC2-32DF061AD57A}"/>
              </a:ext>
            </a:extLst>
          </p:cNvPr>
          <p:cNvSpPr txBox="1"/>
          <p:nvPr/>
        </p:nvSpPr>
        <p:spPr>
          <a:xfrm>
            <a:off x="127000" y="0"/>
            <a:ext cx="11811000" cy="685800"/>
          </a:xfrm>
          <a:prstGeom prst="rect">
            <a:avLst/>
          </a:prstGeom>
          <a:noFill/>
        </p:spPr>
        <p:txBody>
          <a:bodyPr vert="horz" wrap="square" lIns="76200" tIns="25400" rIns="76200" bIns="25400" rtlCol="0" anchor="ctr">
            <a:noAutofit/>
          </a:bodyPr>
          <a:lstStyle/>
          <a:p>
            <a:pPr>
              <a:lnSpc>
                <a:spcPct val="95000"/>
              </a:lnSpc>
            </a:pPr>
            <a:r>
              <a:rPr lang="en-US" sz="2400" b="1" u="sng">
                <a:solidFill>
                  <a:srgbClr val="FFFFFF"/>
                </a:solidFill>
                <a:latin typeface="Aptos Display" panose="020B0004020202020204" pitchFamily="34" charset="0"/>
              </a:rPr>
              <a:t>The follow-ups</a:t>
            </a:r>
          </a:p>
        </p:txBody>
      </p:sp>
    </p:spTree>
    <p:extLst>
      <p:ext uri="{BB962C8B-B14F-4D97-AF65-F5344CB8AC3E}">
        <p14:creationId xmlns:p14="http://schemas.microsoft.com/office/powerpoint/2010/main" val="45231057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tage">
            <a:extLst>
              <a:ext uri="{FF2B5EF4-FFF2-40B4-BE49-F238E27FC236}">
                <a16:creationId xmlns:a16="http://schemas.microsoft.com/office/drawing/2014/main" id="{3E292F7A-E3F7-BA3D-D6F1-BEC57A94376F}"/>
              </a:ext>
            </a:extLst>
          </p:cNvPr>
          <p:cNvSpPr/>
          <p:nvPr/>
        </p:nvSpPr>
        <p:spPr>
          <a:xfrm>
            <a:off x="0" y="685800"/>
            <a:ext cx="7670800" cy="6172200"/>
          </a:xfrm>
          <a:prstGeom prst="rect">
            <a:avLst/>
          </a:prstGeom>
          <a:solidFill>
            <a:srgbClr val="ECEC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I_families">
            <a:extLst>
              <a:ext uri="{FF2B5EF4-FFF2-40B4-BE49-F238E27FC236}">
                <a16:creationId xmlns:a16="http://schemas.microsoft.com/office/drawing/2014/main" id="{D10A9132-A611-E18F-F2A2-58D6180AE065}"/>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287909" y="1506078"/>
            <a:ext cx="7120382" cy="4557044"/>
          </a:xfrm>
          <a:prstGeom prst="rect">
            <a:avLst/>
          </a:prstGeom>
          <a:ln w="9525">
            <a:solidFill>
              <a:srgbClr val="B0B0B0"/>
            </a:solidFill>
          </a:ln>
        </p:spPr>
      </p:pic>
      <p:sp>
        <p:nvSpPr>
          <p:cNvPr id="5" name="!!D1">
            <a:extLst>
              <a:ext uri="{FF2B5EF4-FFF2-40B4-BE49-F238E27FC236}">
                <a16:creationId xmlns:a16="http://schemas.microsoft.com/office/drawing/2014/main" id="{A90A11DB-A34C-4AE1-00E8-A77071CACA96}"/>
              </a:ext>
            </a:extLst>
          </p:cNvPr>
          <p:cNvSpPr/>
          <p:nvPr/>
        </p:nvSpPr>
        <p:spPr>
          <a:xfrm>
            <a:off x="0" y="685800"/>
            <a:ext cx="7670800" cy="635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2">
            <a:extLst>
              <a:ext uri="{FF2B5EF4-FFF2-40B4-BE49-F238E27FC236}">
                <a16:creationId xmlns:a16="http://schemas.microsoft.com/office/drawing/2014/main" id="{2A324386-EAF7-EDC8-050C-6733887C7100}"/>
              </a:ext>
            </a:extLst>
          </p:cNvPr>
          <p:cNvSpPr/>
          <p:nvPr/>
        </p:nvSpPr>
        <p:spPr>
          <a:xfrm>
            <a:off x="0" y="6858000"/>
            <a:ext cx="7670800" cy="635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3">
            <a:extLst>
              <a:ext uri="{FF2B5EF4-FFF2-40B4-BE49-F238E27FC236}">
                <a16:creationId xmlns:a16="http://schemas.microsoft.com/office/drawing/2014/main" id="{1455884A-FDCE-C3AE-AE37-AE5048B78CDD}"/>
              </a:ext>
            </a:extLst>
          </p:cNvPr>
          <p:cNvSpPr/>
          <p:nvPr/>
        </p:nvSpPr>
        <p:spPr>
          <a:xfrm>
            <a:off x="0" y="685800"/>
            <a:ext cx="6350" cy="617220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4">
            <a:extLst>
              <a:ext uri="{FF2B5EF4-FFF2-40B4-BE49-F238E27FC236}">
                <a16:creationId xmlns:a16="http://schemas.microsoft.com/office/drawing/2014/main" id="{2C411A4F-3E2C-A2A3-BD82-6FCD41263638}"/>
              </a:ext>
            </a:extLst>
          </p:cNvPr>
          <p:cNvSpPr/>
          <p:nvPr/>
        </p:nvSpPr>
        <p:spPr>
          <a:xfrm>
            <a:off x="7670800" y="685800"/>
            <a:ext cx="6350" cy="617220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ocus">
            <a:extLst>
              <a:ext uri="{FF2B5EF4-FFF2-40B4-BE49-F238E27FC236}">
                <a16:creationId xmlns:a16="http://schemas.microsoft.com/office/drawing/2014/main" id="{2D401B19-47A2-8C35-37D1-E2C834343A66}"/>
              </a:ext>
            </a:extLst>
          </p:cNvPr>
          <p:cNvSpPr/>
          <p:nvPr/>
        </p:nvSpPr>
        <p:spPr>
          <a:xfrm>
            <a:off x="430317" y="3832069"/>
            <a:ext cx="3370314" cy="2088646"/>
          </a:xfrm>
          <a:prstGeom prst="rect">
            <a:avLst/>
          </a:prstGeom>
          <a:solidFill>
            <a:srgbClr val="83CBEB">
              <a:alpha val="37000"/>
            </a:srgbClr>
          </a:solidFill>
          <a:ln w="38100">
            <a:solidFill>
              <a:srgbClr val="46B1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ail">
            <a:extLst>
              <a:ext uri="{FF2B5EF4-FFF2-40B4-BE49-F238E27FC236}">
                <a16:creationId xmlns:a16="http://schemas.microsoft.com/office/drawing/2014/main" id="{DC89A8A2-0EE4-7E9F-66FA-4BAD591DD13C}"/>
              </a:ext>
            </a:extLst>
          </p:cNvPr>
          <p:cNvSpPr/>
          <p:nvPr/>
        </p:nvSpPr>
        <p:spPr>
          <a:xfrm>
            <a:off x="7670800" y="685800"/>
            <a:ext cx="4521200" cy="61722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N50">
            <a:extLst>
              <a:ext uri="{FF2B5EF4-FFF2-40B4-BE49-F238E27FC236}">
                <a16:creationId xmlns:a16="http://schemas.microsoft.com/office/drawing/2014/main" id="{378695C2-DCC7-7905-1A40-8B4FC8342099}"/>
              </a:ext>
            </a:extLst>
          </p:cNvPr>
          <p:cNvSpPr/>
          <p:nvPr/>
        </p:nvSpPr>
        <p:spPr>
          <a:xfrm>
            <a:off x="7797800" y="838200"/>
            <a:ext cx="4241800" cy="795528"/>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Which leads: Granger asks if one region’s past predicts the other’s future; the lag asks whose gamma bursts come first.</a:t>
            </a:r>
          </a:p>
        </p:txBody>
      </p:sp>
      <p:sp>
        <p:nvSpPr>
          <p:cNvPr id="12" name="!!N51">
            <a:extLst>
              <a:ext uri="{FF2B5EF4-FFF2-40B4-BE49-F238E27FC236}">
                <a16:creationId xmlns:a16="http://schemas.microsoft.com/office/drawing/2014/main" id="{29EC8DCD-D4ED-211E-7EE4-2F6457AC285E}"/>
              </a:ext>
            </a:extLst>
          </p:cNvPr>
          <p:cNvSpPr/>
          <p:nvPr/>
        </p:nvSpPr>
        <p:spPr>
          <a:xfrm>
            <a:off x="7797800" y="1748028"/>
            <a:ext cx="4241800" cy="107899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Bursts rise together: do the two regions’ gamma get loud at the same moments?</a:t>
            </a:r>
          </a:p>
        </p:txBody>
      </p:sp>
      <p:sp>
        <p:nvSpPr>
          <p:cNvPr id="13" name="!!N52">
            <a:extLst>
              <a:ext uri="{FF2B5EF4-FFF2-40B4-BE49-F238E27FC236}">
                <a16:creationId xmlns:a16="http://schemas.microsoft.com/office/drawing/2014/main" id="{DF40A3D4-742B-F549-A2DE-9423CA7FE569}"/>
              </a:ext>
            </a:extLst>
          </p:cNvPr>
          <p:cNvSpPr/>
          <p:nvPr/>
        </p:nvSpPr>
        <p:spPr>
          <a:xfrm>
            <a:off x="12573000" y="838200"/>
            <a:ext cx="4241800" cy="1929384"/>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Theta paces gamma: do gamma bursts in one region ride the theta cycle of another (or its own)? Measured as a modulation index over each trial’s whole window, then the mean of the trials.</a:t>
            </a:r>
          </a:p>
        </p:txBody>
      </p:sp>
      <p:sp>
        <p:nvSpPr>
          <p:cNvPr id="14" name="!!T-BG">
            <a:extLst>
              <a:ext uri="{FF2B5EF4-FFF2-40B4-BE49-F238E27FC236}">
                <a16:creationId xmlns:a16="http://schemas.microsoft.com/office/drawing/2014/main" id="{33AF479A-BFFD-2641-2EBF-D958A9ABB0F1}"/>
              </a:ext>
            </a:extLst>
          </p:cNvPr>
          <p:cNvSpPr/>
          <p:nvPr/>
        </p:nvSpPr>
        <p:spPr>
          <a:xfrm>
            <a:off x="-381000" y="0"/>
            <a:ext cx="12954000" cy="685800"/>
          </a:xfrm>
          <a:prstGeom prst="snip2DiagRect">
            <a:avLst>
              <a:gd name="adj1" fmla="val 0"/>
              <a:gd name="adj2" fmla="val 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
            <a:extLst>
              <a:ext uri="{FF2B5EF4-FFF2-40B4-BE49-F238E27FC236}">
                <a16:creationId xmlns:a16="http://schemas.microsoft.com/office/drawing/2014/main" id="{1F9D32F9-9B60-1097-9AFF-E6614928DCE3}"/>
              </a:ext>
            </a:extLst>
          </p:cNvPr>
          <p:cNvSpPr txBox="1"/>
          <p:nvPr/>
        </p:nvSpPr>
        <p:spPr>
          <a:xfrm>
            <a:off x="127000" y="0"/>
            <a:ext cx="11811000" cy="685800"/>
          </a:xfrm>
          <a:prstGeom prst="rect">
            <a:avLst/>
          </a:prstGeom>
          <a:noFill/>
        </p:spPr>
        <p:txBody>
          <a:bodyPr vert="horz" wrap="square" lIns="76200" tIns="25400" rIns="76200" bIns="25400" rtlCol="0" anchor="ctr">
            <a:noAutofit/>
          </a:bodyPr>
          <a:lstStyle/>
          <a:p>
            <a:pPr>
              <a:lnSpc>
                <a:spcPct val="95000"/>
              </a:lnSpc>
            </a:pPr>
            <a:r>
              <a:rPr lang="en-US" sz="2400" b="1" u="sng">
                <a:solidFill>
                  <a:srgbClr val="FFFFFF"/>
                </a:solidFill>
                <a:latin typeface="Aptos Display" panose="020B0004020202020204" pitchFamily="34" charset="0"/>
              </a:rPr>
              <a:t>The follow-ups</a:t>
            </a:r>
          </a:p>
        </p:txBody>
      </p:sp>
    </p:spTree>
    <p:extLst>
      <p:ext uri="{BB962C8B-B14F-4D97-AF65-F5344CB8AC3E}">
        <p14:creationId xmlns:p14="http://schemas.microsoft.com/office/powerpoint/2010/main" val="416436582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tage">
            <a:extLst>
              <a:ext uri="{FF2B5EF4-FFF2-40B4-BE49-F238E27FC236}">
                <a16:creationId xmlns:a16="http://schemas.microsoft.com/office/drawing/2014/main" id="{EF2DA618-45F7-38F5-0A9A-CB2810D7D058}"/>
              </a:ext>
            </a:extLst>
          </p:cNvPr>
          <p:cNvSpPr/>
          <p:nvPr/>
        </p:nvSpPr>
        <p:spPr>
          <a:xfrm>
            <a:off x="0" y="685800"/>
            <a:ext cx="7670800" cy="6172200"/>
          </a:xfrm>
          <a:prstGeom prst="rect">
            <a:avLst/>
          </a:prstGeom>
          <a:solidFill>
            <a:srgbClr val="ECEC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I_families">
            <a:extLst>
              <a:ext uri="{FF2B5EF4-FFF2-40B4-BE49-F238E27FC236}">
                <a16:creationId xmlns:a16="http://schemas.microsoft.com/office/drawing/2014/main" id="{5F56BECF-B2B6-7A7F-2C01-FAACAC94F472}"/>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287909" y="1506078"/>
            <a:ext cx="7120382" cy="4557044"/>
          </a:xfrm>
          <a:prstGeom prst="rect">
            <a:avLst/>
          </a:prstGeom>
          <a:ln w="9525">
            <a:solidFill>
              <a:srgbClr val="B0B0B0"/>
            </a:solidFill>
          </a:ln>
        </p:spPr>
      </p:pic>
      <p:sp>
        <p:nvSpPr>
          <p:cNvPr id="5" name="!!D1">
            <a:extLst>
              <a:ext uri="{FF2B5EF4-FFF2-40B4-BE49-F238E27FC236}">
                <a16:creationId xmlns:a16="http://schemas.microsoft.com/office/drawing/2014/main" id="{6A442071-05E0-1208-54ED-5368D40EF700}"/>
              </a:ext>
            </a:extLst>
          </p:cNvPr>
          <p:cNvSpPr/>
          <p:nvPr/>
        </p:nvSpPr>
        <p:spPr>
          <a:xfrm>
            <a:off x="0" y="685800"/>
            <a:ext cx="7670800" cy="635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2">
            <a:extLst>
              <a:ext uri="{FF2B5EF4-FFF2-40B4-BE49-F238E27FC236}">
                <a16:creationId xmlns:a16="http://schemas.microsoft.com/office/drawing/2014/main" id="{F753FFFF-515F-9F9A-4F69-F9CC68004D2C}"/>
              </a:ext>
            </a:extLst>
          </p:cNvPr>
          <p:cNvSpPr/>
          <p:nvPr/>
        </p:nvSpPr>
        <p:spPr>
          <a:xfrm>
            <a:off x="0" y="6858000"/>
            <a:ext cx="7670800" cy="635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3">
            <a:extLst>
              <a:ext uri="{FF2B5EF4-FFF2-40B4-BE49-F238E27FC236}">
                <a16:creationId xmlns:a16="http://schemas.microsoft.com/office/drawing/2014/main" id="{05E7DF42-2C78-EAF7-6D7D-919019351C98}"/>
              </a:ext>
            </a:extLst>
          </p:cNvPr>
          <p:cNvSpPr/>
          <p:nvPr/>
        </p:nvSpPr>
        <p:spPr>
          <a:xfrm>
            <a:off x="0" y="685800"/>
            <a:ext cx="6350" cy="617220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4">
            <a:extLst>
              <a:ext uri="{FF2B5EF4-FFF2-40B4-BE49-F238E27FC236}">
                <a16:creationId xmlns:a16="http://schemas.microsoft.com/office/drawing/2014/main" id="{CDEE11F5-7514-39D5-C8AA-85EE136DCAE6}"/>
              </a:ext>
            </a:extLst>
          </p:cNvPr>
          <p:cNvSpPr/>
          <p:nvPr/>
        </p:nvSpPr>
        <p:spPr>
          <a:xfrm>
            <a:off x="7670800" y="685800"/>
            <a:ext cx="6350" cy="617220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ocus">
            <a:extLst>
              <a:ext uri="{FF2B5EF4-FFF2-40B4-BE49-F238E27FC236}">
                <a16:creationId xmlns:a16="http://schemas.microsoft.com/office/drawing/2014/main" id="{1DB63EE3-EE2A-AC4C-F6DC-DB85F7E7A2F1}"/>
              </a:ext>
            </a:extLst>
          </p:cNvPr>
          <p:cNvSpPr/>
          <p:nvPr/>
        </p:nvSpPr>
        <p:spPr>
          <a:xfrm>
            <a:off x="3895569" y="3832069"/>
            <a:ext cx="3370315" cy="2088646"/>
          </a:xfrm>
          <a:prstGeom prst="rect">
            <a:avLst/>
          </a:prstGeom>
          <a:solidFill>
            <a:srgbClr val="83CBEB">
              <a:alpha val="37000"/>
            </a:srgbClr>
          </a:solidFill>
          <a:ln w="38100">
            <a:solidFill>
              <a:srgbClr val="46B1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ail">
            <a:extLst>
              <a:ext uri="{FF2B5EF4-FFF2-40B4-BE49-F238E27FC236}">
                <a16:creationId xmlns:a16="http://schemas.microsoft.com/office/drawing/2014/main" id="{24F9BA64-FBF7-5C67-F9EF-DFCF3C782E3C}"/>
              </a:ext>
            </a:extLst>
          </p:cNvPr>
          <p:cNvSpPr/>
          <p:nvPr/>
        </p:nvSpPr>
        <p:spPr>
          <a:xfrm>
            <a:off x="7670800" y="685800"/>
            <a:ext cx="4521200" cy="61722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N52">
            <a:extLst>
              <a:ext uri="{FF2B5EF4-FFF2-40B4-BE49-F238E27FC236}">
                <a16:creationId xmlns:a16="http://schemas.microsoft.com/office/drawing/2014/main" id="{5B14FE07-E2B5-DA75-3500-FE96D3EDA7E6}"/>
              </a:ext>
            </a:extLst>
          </p:cNvPr>
          <p:cNvSpPr/>
          <p:nvPr/>
        </p:nvSpPr>
        <p:spPr>
          <a:xfrm>
            <a:off x="7797800" y="838200"/>
            <a:ext cx="4241800" cy="1929384"/>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Theta paces gamma: do gamma bursts in one region ride the theta cycle of another (or its own)? Measured as a modulation index over each trial’s whole window, then the mean of the trials.</a:t>
            </a:r>
          </a:p>
        </p:txBody>
      </p:sp>
      <p:sp>
        <p:nvSpPr>
          <p:cNvPr id="12" name="!!N53">
            <a:extLst>
              <a:ext uri="{FF2B5EF4-FFF2-40B4-BE49-F238E27FC236}">
                <a16:creationId xmlns:a16="http://schemas.microsoft.com/office/drawing/2014/main" id="{B7443FDE-4E3B-A022-899C-4DECAC6F0DC4}"/>
              </a:ext>
            </a:extLst>
          </p:cNvPr>
          <p:cNvSpPr/>
          <p:nvPr/>
        </p:nvSpPr>
        <p:spPr>
          <a:xfrm>
            <a:off x="12573000" y="838200"/>
            <a:ext cx="4241800" cy="107899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How to read a follow-up figure. a: the pair, on the same ring (an arrow when a direction was measured).</a:t>
            </a:r>
          </a:p>
        </p:txBody>
      </p:sp>
      <p:sp>
        <p:nvSpPr>
          <p:cNvPr id="13" name="!!N50">
            <a:extLst>
              <a:ext uri="{FF2B5EF4-FFF2-40B4-BE49-F238E27FC236}">
                <a16:creationId xmlns:a16="http://schemas.microsoft.com/office/drawing/2014/main" id="{A75BBD93-E0BB-DAB7-A498-D6917C29BC94}"/>
              </a:ext>
            </a:extLst>
          </p:cNvPr>
          <p:cNvSpPr/>
          <p:nvPr/>
        </p:nvSpPr>
        <p:spPr>
          <a:xfrm>
            <a:off x="12573000" y="838200"/>
            <a:ext cx="4241800" cy="795528"/>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Which leads: Granger asks if one region’s past predicts the other’s future; the lag asks whose gamma bursts come first.</a:t>
            </a:r>
          </a:p>
        </p:txBody>
      </p:sp>
      <p:sp>
        <p:nvSpPr>
          <p:cNvPr id="14" name="!!N51">
            <a:extLst>
              <a:ext uri="{FF2B5EF4-FFF2-40B4-BE49-F238E27FC236}">
                <a16:creationId xmlns:a16="http://schemas.microsoft.com/office/drawing/2014/main" id="{7FDA109A-7FB4-29E3-1141-0C0759671C09}"/>
              </a:ext>
            </a:extLst>
          </p:cNvPr>
          <p:cNvSpPr/>
          <p:nvPr/>
        </p:nvSpPr>
        <p:spPr>
          <a:xfrm>
            <a:off x="12573000" y="1748028"/>
            <a:ext cx="4241800" cy="107899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Bursts rise together: do the two regions’ gamma get loud at the same moments?</a:t>
            </a:r>
          </a:p>
        </p:txBody>
      </p:sp>
      <p:sp>
        <p:nvSpPr>
          <p:cNvPr id="15" name="!!T-BG">
            <a:extLst>
              <a:ext uri="{FF2B5EF4-FFF2-40B4-BE49-F238E27FC236}">
                <a16:creationId xmlns:a16="http://schemas.microsoft.com/office/drawing/2014/main" id="{72371C57-BF7B-271E-6174-E064B97BD69A}"/>
              </a:ext>
            </a:extLst>
          </p:cNvPr>
          <p:cNvSpPr/>
          <p:nvPr/>
        </p:nvSpPr>
        <p:spPr>
          <a:xfrm>
            <a:off x="-381000" y="0"/>
            <a:ext cx="12954000" cy="685800"/>
          </a:xfrm>
          <a:prstGeom prst="snip2DiagRect">
            <a:avLst>
              <a:gd name="adj1" fmla="val 0"/>
              <a:gd name="adj2" fmla="val 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
            <a:extLst>
              <a:ext uri="{FF2B5EF4-FFF2-40B4-BE49-F238E27FC236}">
                <a16:creationId xmlns:a16="http://schemas.microsoft.com/office/drawing/2014/main" id="{8DC6A6D6-8A2E-1216-8956-DB28E48514E5}"/>
              </a:ext>
            </a:extLst>
          </p:cNvPr>
          <p:cNvSpPr txBox="1"/>
          <p:nvPr/>
        </p:nvSpPr>
        <p:spPr>
          <a:xfrm>
            <a:off x="127000" y="0"/>
            <a:ext cx="11811000" cy="685800"/>
          </a:xfrm>
          <a:prstGeom prst="rect">
            <a:avLst/>
          </a:prstGeom>
          <a:noFill/>
        </p:spPr>
        <p:txBody>
          <a:bodyPr vert="horz" wrap="square" lIns="76200" tIns="25400" rIns="76200" bIns="25400" rtlCol="0" anchor="ctr">
            <a:noAutofit/>
          </a:bodyPr>
          <a:lstStyle/>
          <a:p>
            <a:pPr>
              <a:lnSpc>
                <a:spcPct val="95000"/>
              </a:lnSpc>
            </a:pPr>
            <a:r>
              <a:rPr lang="en-US" sz="2400" b="1" u="sng">
                <a:solidFill>
                  <a:srgbClr val="FFFFFF"/>
                </a:solidFill>
                <a:latin typeface="Aptos Display" panose="020B0004020202020204" pitchFamily="34" charset="0"/>
              </a:rPr>
              <a:t>The follow-ups</a:t>
            </a:r>
          </a:p>
        </p:txBody>
      </p:sp>
    </p:spTree>
    <p:extLst>
      <p:ext uri="{BB962C8B-B14F-4D97-AF65-F5344CB8AC3E}">
        <p14:creationId xmlns:p14="http://schemas.microsoft.com/office/powerpoint/2010/main" val="237403171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tage">
            <a:extLst>
              <a:ext uri="{FF2B5EF4-FFF2-40B4-BE49-F238E27FC236}">
                <a16:creationId xmlns:a16="http://schemas.microsoft.com/office/drawing/2014/main" id="{D4E093FA-2BE7-9E66-326D-6D81603F6C97}"/>
              </a:ext>
            </a:extLst>
          </p:cNvPr>
          <p:cNvSpPr/>
          <p:nvPr/>
        </p:nvSpPr>
        <p:spPr>
          <a:xfrm>
            <a:off x="0" y="685800"/>
            <a:ext cx="7670800" cy="6172200"/>
          </a:xfrm>
          <a:prstGeom prst="rect">
            <a:avLst/>
          </a:prstGeom>
          <a:solidFill>
            <a:srgbClr val="ECEC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F2_1">
            <a:extLst>
              <a:ext uri="{FF2B5EF4-FFF2-40B4-BE49-F238E27FC236}">
                <a16:creationId xmlns:a16="http://schemas.microsoft.com/office/drawing/2014/main" id="{8D3892FC-96B2-3F5F-DBC4-3E9D388CE6E2}"/>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837336" y="901954"/>
            <a:ext cx="23440994" cy="6405325"/>
          </a:xfrm>
          <a:prstGeom prst="rect">
            <a:avLst/>
          </a:prstGeom>
          <a:ln w="9525">
            <a:solidFill>
              <a:srgbClr val="B0B0B0"/>
            </a:solidFill>
          </a:ln>
        </p:spPr>
      </p:pic>
      <p:sp>
        <p:nvSpPr>
          <p:cNvPr id="5" name="!!D1">
            <a:extLst>
              <a:ext uri="{FF2B5EF4-FFF2-40B4-BE49-F238E27FC236}">
                <a16:creationId xmlns:a16="http://schemas.microsoft.com/office/drawing/2014/main" id="{DE0B3C24-0ED7-0B70-3800-7946454B8DF9}"/>
              </a:ext>
            </a:extLst>
          </p:cNvPr>
          <p:cNvSpPr/>
          <p:nvPr/>
        </p:nvSpPr>
        <p:spPr>
          <a:xfrm>
            <a:off x="0" y="685800"/>
            <a:ext cx="7670800" cy="190754"/>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2">
            <a:extLst>
              <a:ext uri="{FF2B5EF4-FFF2-40B4-BE49-F238E27FC236}">
                <a16:creationId xmlns:a16="http://schemas.microsoft.com/office/drawing/2014/main" id="{424CD44E-4EC6-0E4F-D957-C5DFAE88304B}"/>
              </a:ext>
            </a:extLst>
          </p:cNvPr>
          <p:cNvSpPr/>
          <p:nvPr/>
        </p:nvSpPr>
        <p:spPr>
          <a:xfrm>
            <a:off x="0" y="6692646"/>
            <a:ext cx="7670800" cy="165354"/>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3">
            <a:extLst>
              <a:ext uri="{FF2B5EF4-FFF2-40B4-BE49-F238E27FC236}">
                <a16:creationId xmlns:a16="http://schemas.microsoft.com/office/drawing/2014/main" id="{FD77BC4D-926B-F1E3-243F-84AC04D6E348}"/>
              </a:ext>
            </a:extLst>
          </p:cNvPr>
          <p:cNvSpPr/>
          <p:nvPr/>
        </p:nvSpPr>
        <p:spPr>
          <a:xfrm>
            <a:off x="0" y="876554"/>
            <a:ext cx="811936" cy="5816092"/>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4">
            <a:extLst>
              <a:ext uri="{FF2B5EF4-FFF2-40B4-BE49-F238E27FC236}">
                <a16:creationId xmlns:a16="http://schemas.microsoft.com/office/drawing/2014/main" id="{ABF066A0-97AA-6D14-A958-2E8FCB9331D7}"/>
              </a:ext>
            </a:extLst>
          </p:cNvPr>
          <p:cNvSpPr/>
          <p:nvPr/>
        </p:nvSpPr>
        <p:spPr>
          <a:xfrm>
            <a:off x="6884264" y="876554"/>
            <a:ext cx="786536" cy="5816092"/>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ocus">
            <a:extLst>
              <a:ext uri="{FF2B5EF4-FFF2-40B4-BE49-F238E27FC236}">
                <a16:creationId xmlns:a16="http://schemas.microsoft.com/office/drawing/2014/main" id="{2175AEB4-3BFC-2DE5-623B-CCA6084144A5}"/>
              </a:ext>
            </a:extLst>
          </p:cNvPr>
          <p:cNvSpPr/>
          <p:nvPr/>
        </p:nvSpPr>
        <p:spPr>
          <a:xfrm>
            <a:off x="837336" y="901954"/>
            <a:ext cx="6021528" cy="5765292"/>
          </a:xfrm>
          <a:prstGeom prst="rect">
            <a:avLst/>
          </a:prstGeom>
          <a:solidFill>
            <a:srgbClr val="83CBEB">
              <a:alpha val="37000"/>
            </a:srgbClr>
          </a:solidFill>
          <a:ln w="38100">
            <a:solidFill>
              <a:srgbClr val="46B1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ail">
            <a:extLst>
              <a:ext uri="{FF2B5EF4-FFF2-40B4-BE49-F238E27FC236}">
                <a16:creationId xmlns:a16="http://schemas.microsoft.com/office/drawing/2014/main" id="{28453186-2E58-A76E-0075-F29F215EB6BF}"/>
              </a:ext>
            </a:extLst>
          </p:cNvPr>
          <p:cNvSpPr/>
          <p:nvPr/>
        </p:nvSpPr>
        <p:spPr>
          <a:xfrm>
            <a:off x="7670800" y="685800"/>
            <a:ext cx="4521200" cy="61722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N53">
            <a:extLst>
              <a:ext uri="{FF2B5EF4-FFF2-40B4-BE49-F238E27FC236}">
                <a16:creationId xmlns:a16="http://schemas.microsoft.com/office/drawing/2014/main" id="{5A2F8547-CEE8-838C-D194-936B0C865FF6}"/>
              </a:ext>
            </a:extLst>
          </p:cNvPr>
          <p:cNvSpPr/>
          <p:nvPr/>
        </p:nvSpPr>
        <p:spPr>
          <a:xfrm>
            <a:off x="7797800" y="838200"/>
            <a:ext cx="4241800" cy="107899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How to read a follow-up figure. a: the pair, on the same ring (an arrow when a direction was measured).</a:t>
            </a:r>
          </a:p>
        </p:txBody>
      </p:sp>
      <p:sp>
        <p:nvSpPr>
          <p:cNvPr id="12" name="!!N54">
            <a:extLst>
              <a:ext uri="{FF2B5EF4-FFF2-40B4-BE49-F238E27FC236}">
                <a16:creationId xmlns:a16="http://schemas.microsoft.com/office/drawing/2014/main" id="{B1601E96-9A63-E1D2-2964-5FCBC91B9463}"/>
              </a:ext>
            </a:extLst>
          </p:cNvPr>
          <p:cNvSpPr/>
          <p:nvPr/>
        </p:nvSpPr>
        <p:spPr>
          <a:xfrm>
            <a:off x="12573000" y="1559052"/>
            <a:ext cx="4241800" cy="107899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b: each rat’s baseline and cue, Precon1 in grey and Precon4 in black.</a:t>
            </a:r>
          </a:p>
        </p:txBody>
      </p:sp>
      <p:sp>
        <p:nvSpPr>
          <p:cNvPr id="13" name="!!N52">
            <a:extLst>
              <a:ext uri="{FF2B5EF4-FFF2-40B4-BE49-F238E27FC236}">
                <a16:creationId xmlns:a16="http://schemas.microsoft.com/office/drawing/2014/main" id="{EE20D090-0998-3F07-B4A8-F468A6657DEE}"/>
              </a:ext>
            </a:extLst>
          </p:cNvPr>
          <p:cNvSpPr/>
          <p:nvPr/>
        </p:nvSpPr>
        <p:spPr>
          <a:xfrm>
            <a:off x="12573000" y="838200"/>
            <a:ext cx="4241800" cy="1929384"/>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Theta paces gamma: do gamma bursts in one region ride the theta cycle of another (or its own)? Measured as a modulation index over each trial’s whole window, then the mean of the trials.</a:t>
            </a:r>
          </a:p>
        </p:txBody>
      </p:sp>
      <p:sp>
        <p:nvSpPr>
          <p:cNvPr id="14" name="!!T-BG">
            <a:extLst>
              <a:ext uri="{FF2B5EF4-FFF2-40B4-BE49-F238E27FC236}">
                <a16:creationId xmlns:a16="http://schemas.microsoft.com/office/drawing/2014/main" id="{11EC01A6-8FDD-2891-F87C-BADD159C4FE4}"/>
              </a:ext>
            </a:extLst>
          </p:cNvPr>
          <p:cNvSpPr/>
          <p:nvPr/>
        </p:nvSpPr>
        <p:spPr>
          <a:xfrm>
            <a:off x="-381000" y="0"/>
            <a:ext cx="12954000" cy="685800"/>
          </a:xfrm>
          <a:prstGeom prst="snip2DiagRect">
            <a:avLst>
              <a:gd name="adj1" fmla="val 0"/>
              <a:gd name="adj2" fmla="val 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
            <a:extLst>
              <a:ext uri="{FF2B5EF4-FFF2-40B4-BE49-F238E27FC236}">
                <a16:creationId xmlns:a16="http://schemas.microsoft.com/office/drawing/2014/main" id="{01F7F55E-A2EE-BF8B-FCA5-B0F23ACCCF20}"/>
              </a:ext>
            </a:extLst>
          </p:cNvPr>
          <p:cNvSpPr txBox="1"/>
          <p:nvPr/>
        </p:nvSpPr>
        <p:spPr>
          <a:xfrm>
            <a:off x="127000" y="0"/>
            <a:ext cx="11811000" cy="685800"/>
          </a:xfrm>
          <a:prstGeom prst="rect">
            <a:avLst/>
          </a:prstGeom>
          <a:noFill/>
        </p:spPr>
        <p:txBody>
          <a:bodyPr vert="horz" wrap="square" lIns="76200" tIns="25400" rIns="76200" bIns="25400" rtlCol="0" anchor="ctr">
            <a:noAutofit/>
          </a:bodyPr>
          <a:lstStyle/>
          <a:p>
            <a:pPr>
              <a:lnSpc>
                <a:spcPct val="95000"/>
              </a:lnSpc>
            </a:pPr>
            <a:r>
              <a:rPr lang="en-US" sz="2400" b="1" u="sng">
                <a:solidFill>
                  <a:srgbClr val="FFFFFF"/>
                </a:solidFill>
                <a:latin typeface="Aptos Display" panose="020B0004020202020204" pitchFamily="34" charset="0"/>
              </a:rPr>
              <a:t>2.1 · R ACC – R RSC · Which leads</a:t>
            </a:r>
          </a:p>
        </p:txBody>
      </p:sp>
    </p:spTree>
    <p:extLst>
      <p:ext uri="{BB962C8B-B14F-4D97-AF65-F5344CB8AC3E}">
        <p14:creationId xmlns:p14="http://schemas.microsoft.com/office/powerpoint/2010/main" val="51850210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tage">
            <a:extLst>
              <a:ext uri="{FF2B5EF4-FFF2-40B4-BE49-F238E27FC236}">
                <a16:creationId xmlns:a16="http://schemas.microsoft.com/office/drawing/2014/main" id="{16407EA9-F54A-E428-D125-874BCF74DCFB}"/>
              </a:ext>
            </a:extLst>
          </p:cNvPr>
          <p:cNvSpPr/>
          <p:nvPr/>
        </p:nvSpPr>
        <p:spPr>
          <a:xfrm>
            <a:off x="0" y="685800"/>
            <a:ext cx="7670800" cy="6172200"/>
          </a:xfrm>
          <a:prstGeom prst="rect">
            <a:avLst/>
          </a:prstGeom>
          <a:solidFill>
            <a:srgbClr val="ECEC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F2_1">
            <a:extLst>
              <a:ext uri="{FF2B5EF4-FFF2-40B4-BE49-F238E27FC236}">
                <a16:creationId xmlns:a16="http://schemas.microsoft.com/office/drawing/2014/main" id="{97D7F70A-D916-4180-5C2E-CC018DA47E82}"/>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4970219" y="1429397"/>
            <a:ext cx="20042744" cy="5476742"/>
          </a:xfrm>
          <a:prstGeom prst="rect">
            <a:avLst/>
          </a:prstGeom>
          <a:ln w="9525">
            <a:solidFill>
              <a:srgbClr val="B0B0B0"/>
            </a:solidFill>
          </a:ln>
        </p:spPr>
      </p:pic>
      <p:sp>
        <p:nvSpPr>
          <p:cNvPr id="5" name="!!D1">
            <a:extLst>
              <a:ext uri="{FF2B5EF4-FFF2-40B4-BE49-F238E27FC236}">
                <a16:creationId xmlns:a16="http://schemas.microsoft.com/office/drawing/2014/main" id="{D4001AA3-9E28-3047-191B-B3979EB5CC72}"/>
              </a:ext>
            </a:extLst>
          </p:cNvPr>
          <p:cNvSpPr/>
          <p:nvPr/>
        </p:nvSpPr>
        <p:spPr>
          <a:xfrm>
            <a:off x="0" y="685800"/>
            <a:ext cx="7670800" cy="937285"/>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2">
            <a:extLst>
              <a:ext uri="{FF2B5EF4-FFF2-40B4-BE49-F238E27FC236}">
                <a16:creationId xmlns:a16="http://schemas.microsoft.com/office/drawing/2014/main" id="{1BEA0F93-D8F8-3C64-7731-53E4CE80B8A2}"/>
              </a:ext>
            </a:extLst>
          </p:cNvPr>
          <p:cNvSpPr/>
          <p:nvPr/>
        </p:nvSpPr>
        <p:spPr>
          <a:xfrm>
            <a:off x="0" y="5946115"/>
            <a:ext cx="7670800" cy="911885"/>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3">
            <a:extLst>
              <a:ext uri="{FF2B5EF4-FFF2-40B4-BE49-F238E27FC236}">
                <a16:creationId xmlns:a16="http://schemas.microsoft.com/office/drawing/2014/main" id="{11BB35C5-9B8B-8ECB-2F34-B3DAF57271E5}"/>
              </a:ext>
            </a:extLst>
          </p:cNvPr>
          <p:cNvSpPr/>
          <p:nvPr/>
        </p:nvSpPr>
        <p:spPr>
          <a:xfrm>
            <a:off x="0" y="1623085"/>
            <a:ext cx="262509" cy="432303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4">
            <a:extLst>
              <a:ext uri="{FF2B5EF4-FFF2-40B4-BE49-F238E27FC236}">
                <a16:creationId xmlns:a16="http://schemas.microsoft.com/office/drawing/2014/main" id="{F759B538-A25B-D1EB-91B8-B893E69F880E}"/>
              </a:ext>
            </a:extLst>
          </p:cNvPr>
          <p:cNvSpPr/>
          <p:nvPr/>
        </p:nvSpPr>
        <p:spPr>
          <a:xfrm>
            <a:off x="7433691" y="1623085"/>
            <a:ext cx="237109" cy="432303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ocus">
            <a:extLst>
              <a:ext uri="{FF2B5EF4-FFF2-40B4-BE49-F238E27FC236}">
                <a16:creationId xmlns:a16="http://schemas.microsoft.com/office/drawing/2014/main" id="{EE9F9C4B-FF70-05EE-D215-654C55B44845}"/>
              </a:ext>
            </a:extLst>
          </p:cNvPr>
          <p:cNvSpPr/>
          <p:nvPr/>
        </p:nvSpPr>
        <p:spPr>
          <a:xfrm>
            <a:off x="287909" y="1648485"/>
            <a:ext cx="7120381" cy="4272230"/>
          </a:xfrm>
          <a:prstGeom prst="rect">
            <a:avLst/>
          </a:prstGeom>
          <a:solidFill>
            <a:srgbClr val="83CBEB">
              <a:alpha val="37000"/>
            </a:srgbClr>
          </a:solidFill>
          <a:ln w="38100">
            <a:solidFill>
              <a:srgbClr val="46B1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ail">
            <a:extLst>
              <a:ext uri="{FF2B5EF4-FFF2-40B4-BE49-F238E27FC236}">
                <a16:creationId xmlns:a16="http://schemas.microsoft.com/office/drawing/2014/main" id="{A80DA8F1-9D23-B997-AB41-230063399C2F}"/>
              </a:ext>
            </a:extLst>
          </p:cNvPr>
          <p:cNvSpPr/>
          <p:nvPr/>
        </p:nvSpPr>
        <p:spPr>
          <a:xfrm>
            <a:off x="7670800" y="685800"/>
            <a:ext cx="4521200" cy="61722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N53">
            <a:extLst>
              <a:ext uri="{FF2B5EF4-FFF2-40B4-BE49-F238E27FC236}">
                <a16:creationId xmlns:a16="http://schemas.microsoft.com/office/drawing/2014/main" id="{D9DF8E33-3B1F-2E09-238A-CAF12C0FE9EF}"/>
              </a:ext>
            </a:extLst>
          </p:cNvPr>
          <p:cNvSpPr/>
          <p:nvPr/>
        </p:nvSpPr>
        <p:spPr>
          <a:xfrm>
            <a:off x="7797800" y="838200"/>
            <a:ext cx="4241800" cy="60655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How to read a follow-up figure. a: the pair, on the same ring (an arrow when a direction was measured).</a:t>
            </a:r>
          </a:p>
        </p:txBody>
      </p:sp>
      <p:sp>
        <p:nvSpPr>
          <p:cNvPr id="12" name="!!N54">
            <a:extLst>
              <a:ext uri="{FF2B5EF4-FFF2-40B4-BE49-F238E27FC236}">
                <a16:creationId xmlns:a16="http://schemas.microsoft.com/office/drawing/2014/main" id="{FD0F817D-A75C-108F-755C-9F2E8F910D97}"/>
              </a:ext>
            </a:extLst>
          </p:cNvPr>
          <p:cNvSpPr/>
          <p:nvPr/>
        </p:nvSpPr>
        <p:spPr>
          <a:xfrm>
            <a:off x="7797800" y="1559052"/>
            <a:ext cx="4241800" cy="107899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b: each rat’s baseline and cue, Precon1 in grey and Precon4 in black.</a:t>
            </a:r>
          </a:p>
        </p:txBody>
      </p:sp>
      <p:sp>
        <p:nvSpPr>
          <p:cNvPr id="13" name="!!N55">
            <a:extLst>
              <a:ext uri="{FF2B5EF4-FFF2-40B4-BE49-F238E27FC236}">
                <a16:creationId xmlns:a16="http://schemas.microsoft.com/office/drawing/2014/main" id="{F050E1FC-036F-56FB-0859-A3C0E828733D}"/>
              </a:ext>
            </a:extLst>
          </p:cNvPr>
          <p:cNvSpPr/>
          <p:nvPr/>
        </p:nvSpPr>
        <p:spPr>
          <a:xfrm>
            <a:off x="12573000" y="2279904"/>
            <a:ext cx="4241800" cy="1362456"/>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c: each rat’s change in cue effect, Precon4’s − Precon1’s, with the mean and its 95% range. The t-test asks if the mean is away from 0.</a:t>
            </a:r>
          </a:p>
        </p:txBody>
      </p:sp>
      <p:sp>
        <p:nvSpPr>
          <p:cNvPr id="14" name="!!T-BG">
            <a:extLst>
              <a:ext uri="{FF2B5EF4-FFF2-40B4-BE49-F238E27FC236}">
                <a16:creationId xmlns:a16="http://schemas.microsoft.com/office/drawing/2014/main" id="{150E5C88-0EB0-BF0A-17DE-1C0E82F58846}"/>
              </a:ext>
            </a:extLst>
          </p:cNvPr>
          <p:cNvSpPr/>
          <p:nvPr/>
        </p:nvSpPr>
        <p:spPr>
          <a:xfrm>
            <a:off x="-381000" y="0"/>
            <a:ext cx="12954000" cy="685800"/>
          </a:xfrm>
          <a:prstGeom prst="snip2DiagRect">
            <a:avLst>
              <a:gd name="adj1" fmla="val 0"/>
              <a:gd name="adj2" fmla="val 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
            <a:extLst>
              <a:ext uri="{FF2B5EF4-FFF2-40B4-BE49-F238E27FC236}">
                <a16:creationId xmlns:a16="http://schemas.microsoft.com/office/drawing/2014/main" id="{56BBA084-3A52-FA24-352A-B00422A0972F}"/>
              </a:ext>
            </a:extLst>
          </p:cNvPr>
          <p:cNvSpPr txBox="1"/>
          <p:nvPr/>
        </p:nvSpPr>
        <p:spPr>
          <a:xfrm>
            <a:off x="127000" y="0"/>
            <a:ext cx="11811000" cy="685800"/>
          </a:xfrm>
          <a:prstGeom prst="rect">
            <a:avLst/>
          </a:prstGeom>
          <a:noFill/>
        </p:spPr>
        <p:txBody>
          <a:bodyPr vert="horz" wrap="square" lIns="76200" tIns="25400" rIns="76200" bIns="25400" rtlCol="0" anchor="ctr">
            <a:noAutofit/>
          </a:bodyPr>
          <a:lstStyle/>
          <a:p>
            <a:pPr>
              <a:lnSpc>
                <a:spcPct val="95000"/>
              </a:lnSpc>
            </a:pPr>
            <a:r>
              <a:rPr lang="en-US" sz="2400" b="1" u="sng">
                <a:solidFill>
                  <a:srgbClr val="FFFFFF"/>
                </a:solidFill>
                <a:latin typeface="Aptos Display" panose="020B0004020202020204" pitchFamily="34" charset="0"/>
              </a:rPr>
              <a:t>2.1 · R ACC – R RSC · Which leads</a:t>
            </a:r>
          </a:p>
        </p:txBody>
      </p:sp>
    </p:spTree>
    <p:extLst>
      <p:ext uri="{BB962C8B-B14F-4D97-AF65-F5344CB8AC3E}">
        <p14:creationId xmlns:p14="http://schemas.microsoft.com/office/powerpoint/2010/main" val="349451465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tage">
            <a:extLst>
              <a:ext uri="{FF2B5EF4-FFF2-40B4-BE49-F238E27FC236}">
                <a16:creationId xmlns:a16="http://schemas.microsoft.com/office/drawing/2014/main" id="{E0DF56DC-2026-B2EB-8D58-7ECD7700F7D2}"/>
              </a:ext>
            </a:extLst>
          </p:cNvPr>
          <p:cNvSpPr/>
          <p:nvPr/>
        </p:nvSpPr>
        <p:spPr>
          <a:xfrm>
            <a:off x="0" y="685800"/>
            <a:ext cx="7670800" cy="6172200"/>
          </a:xfrm>
          <a:prstGeom prst="rect">
            <a:avLst/>
          </a:prstGeom>
          <a:solidFill>
            <a:srgbClr val="ECEC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F2_1">
            <a:extLst>
              <a:ext uri="{FF2B5EF4-FFF2-40B4-BE49-F238E27FC236}">
                <a16:creationId xmlns:a16="http://schemas.microsoft.com/office/drawing/2014/main" id="{E87C3F06-5047-03E4-473D-B39A7D73D600}"/>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10689347" y="1658375"/>
            <a:ext cx="18094144" cy="4944281"/>
          </a:xfrm>
          <a:prstGeom prst="rect">
            <a:avLst/>
          </a:prstGeom>
          <a:ln w="9525">
            <a:solidFill>
              <a:srgbClr val="B0B0B0"/>
            </a:solidFill>
          </a:ln>
        </p:spPr>
      </p:pic>
      <p:sp>
        <p:nvSpPr>
          <p:cNvPr id="5" name="!!D1">
            <a:extLst>
              <a:ext uri="{FF2B5EF4-FFF2-40B4-BE49-F238E27FC236}">
                <a16:creationId xmlns:a16="http://schemas.microsoft.com/office/drawing/2014/main" id="{69831FA7-0896-D106-E60E-3862EA5DF837}"/>
              </a:ext>
            </a:extLst>
          </p:cNvPr>
          <p:cNvSpPr/>
          <p:nvPr/>
        </p:nvSpPr>
        <p:spPr>
          <a:xfrm>
            <a:off x="0" y="685800"/>
            <a:ext cx="7670800" cy="1046069"/>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2">
            <a:extLst>
              <a:ext uri="{FF2B5EF4-FFF2-40B4-BE49-F238E27FC236}">
                <a16:creationId xmlns:a16="http://schemas.microsoft.com/office/drawing/2014/main" id="{634F7444-47A3-32DA-8044-E43E81C2B55B}"/>
              </a:ext>
            </a:extLst>
          </p:cNvPr>
          <p:cNvSpPr/>
          <p:nvPr/>
        </p:nvSpPr>
        <p:spPr>
          <a:xfrm>
            <a:off x="0" y="5837331"/>
            <a:ext cx="7670800" cy="1020669"/>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3">
            <a:extLst>
              <a:ext uri="{FF2B5EF4-FFF2-40B4-BE49-F238E27FC236}">
                <a16:creationId xmlns:a16="http://schemas.microsoft.com/office/drawing/2014/main" id="{525BC316-39DF-93D4-713E-C6DC8F0D61DD}"/>
              </a:ext>
            </a:extLst>
          </p:cNvPr>
          <p:cNvSpPr/>
          <p:nvPr/>
        </p:nvSpPr>
        <p:spPr>
          <a:xfrm>
            <a:off x="0" y="1731869"/>
            <a:ext cx="262509" cy="4105462"/>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4">
            <a:extLst>
              <a:ext uri="{FF2B5EF4-FFF2-40B4-BE49-F238E27FC236}">
                <a16:creationId xmlns:a16="http://schemas.microsoft.com/office/drawing/2014/main" id="{A05293FD-45EC-8C81-5DAC-A73A4C523EF2}"/>
              </a:ext>
            </a:extLst>
          </p:cNvPr>
          <p:cNvSpPr/>
          <p:nvPr/>
        </p:nvSpPr>
        <p:spPr>
          <a:xfrm>
            <a:off x="7433691" y="1731869"/>
            <a:ext cx="237109" cy="4105462"/>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ocus">
            <a:extLst>
              <a:ext uri="{FF2B5EF4-FFF2-40B4-BE49-F238E27FC236}">
                <a16:creationId xmlns:a16="http://schemas.microsoft.com/office/drawing/2014/main" id="{C35EA567-BE4F-A086-E0A3-170B0665FAA7}"/>
              </a:ext>
            </a:extLst>
          </p:cNvPr>
          <p:cNvSpPr/>
          <p:nvPr/>
        </p:nvSpPr>
        <p:spPr>
          <a:xfrm>
            <a:off x="485697" y="1856163"/>
            <a:ext cx="3619528" cy="3856874"/>
          </a:xfrm>
          <a:prstGeom prst="rect">
            <a:avLst/>
          </a:prstGeom>
          <a:solidFill>
            <a:srgbClr val="83CBEB">
              <a:alpha val="37000"/>
            </a:srgbClr>
          </a:solidFill>
          <a:ln w="38100">
            <a:solidFill>
              <a:srgbClr val="46B1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ail">
            <a:extLst>
              <a:ext uri="{FF2B5EF4-FFF2-40B4-BE49-F238E27FC236}">
                <a16:creationId xmlns:a16="http://schemas.microsoft.com/office/drawing/2014/main" id="{811F253D-D7DF-D115-4990-97AFAC0606D6}"/>
              </a:ext>
            </a:extLst>
          </p:cNvPr>
          <p:cNvSpPr/>
          <p:nvPr/>
        </p:nvSpPr>
        <p:spPr>
          <a:xfrm>
            <a:off x="7670800" y="685800"/>
            <a:ext cx="4521200" cy="61722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N53">
            <a:extLst>
              <a:ext uri="{FF2B5EF4-FFF2-40B4-BE49-F238E27FC236}">
                <a16:creationId xmlns:a16="http://schemas.microsoft.com/office/drawing/2014/main" id="{41C5010E-F53A-6A64-690B-C75D9E70E947}"/>
              </a:ext>
            </a:extLst>
          </p:cNvPr>
          <p:cNvSpPr/>
          <p:nvPr/>
        </p:nvSpPr>
        <p:spPr>
          <a:xfrm>
            <a:off x="7797800" y="838200"/>
            <a:ext cx="4241800" cy="60655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How to read a follow-up figure. a: the pair, on the same ring (an arrow when a direction was measured).</a:t>
            </a:r>
          </a:p>
        </p:txBody>
      </p:sp>
      <p:sp>
        <p:nvSpPr>
          <p:cNvPr id="12" name="!!N54">
            <a:extLst>
              <a:ext uri="{FF2B5EF4-FFF2-40B4-BE49-F238E27FC236}">
                <a16:creationId xmlns:a16="http://schemas.microsoft.com/office/drawing/2014/main" id="{06D4AE91-076C-C27C-4787-78EA8250CC64}"/>
              </a:ext>
            </a:extLst>
          </p:cNvPr>
          <p:cNvSpPr/>
          <p:nvPr/>
        </p:nvSpPr>
        <p:spPr>
          <a:xfrm>
            <a:off x="7797800" y="1559052"/>
            <a:ext cx="4241800" cy="60655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b: each rat’s baseline and cue, Precon1 in grey and Precon4 in black.</a:t>
            </a:r>
          </a:p>
        </p:txBody>
      </p:sp>
      <p:sp>
        <p:nvSpPr>
          <p:cNvPr id="13" name="!!N55">
            <a:extLst>
              <a:ext uri="{FF2B5EF4-FFF2-40B4-BE49-F238E27FC236}">
                <a16:creationId xmlns:a16="http://schemas.microsoft.com/office/drawing/2014/main" id="{57560907-DD10-BC86-9C16-82F5CCE82674}"/>
              </a:ext>
            </a:extLst>
          </p:cNvPr>
          <p:cNvSpPr/>
          <p:nvPr/>
        </p:nvSpPr>
        <p:spPr>
          <a:xfrm>
            <a:off x="7797800" y="2279904"/>
            <a:ext cx="4241800" cy="1362456"/>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c: each rat’s change in cue effect, Precon4’s − Precon1’s, with the mean and its 95% range. The t-test asks if the mean is away from 0.</a:t>
            </a:r>
          </a:p>
        </p:txBody>
      </p:sp>
      <p:sp>
        <p:nvSpPr>
          <p:cNvPr id="14" name="!!N56">
            <a:extLst>
              <a:ext uri="{FF2B5EF4-FFF2-40B4-BE49-F238E27FC236}">
                <a16:creationId xmlns:a16="http://schemas.microsoft.com/office/drawing/2014/main" id="{22DF5FE5-3374-8F66-7D71-A2C8D135C0AD}"/>
              </a:ext>
            </a:extLst>
          </p:cNvPr>
          <p:cNvSpPr/>
          <p:nvPr/>
        </p:nvSpPr>
        <p:spPr>
          <a:xfrm>
            <a:off x="12573000" y="3189732"/>
            <a:ext cx="4241800" cy="1362456"/>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d: the same change against FP (blue, 10,000 sets of fake trials) and the shuffles (grey, 10,000 within-session swaps).</a:t>
            </a:r>
          </a:p>
        </p:txBody>
      </p:sp>
      <p:sp>
        <p:nvSpPr>
          <p:cNvPr id="15" name="!!T-BG">
            <a:extLst>
              <a:ext uri="{FF2B5EF4-FFF2-40B4-BE49-F238E27FC236}">
                <a16:creationId xmlns:a16="http://schemas.microsoft.com/office/drawing/2014/main" id="{3FB69179-0E50-06D5-F1CB-3AC59ED61B7C}"/>
              </a:ext>
            </a:extLst>
          </p:cNvPr>
          <p:cNvSpPr/>
          <p:nvPr/>
        </p:nvSpPr>
        <p:spPr>
          <a:xfrm>
            <a:off x="-381000" y="0"/>
            <a:ext cx="12954000" cy="685800"/>
          </a:xfrm>
          <a:prstGeom prst="snip2DiagRect">
            <a:avLst>
              <a:gd name="adj1" fmla="val 0"/>
              <a:gd name="adj2" fmla="val 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
            <a:extLst>
              <a:ext uri="{FF2B5EF4-FFF2-40B4-BE49-F238E27FC236}">
                <a16:creationId xmlns:a16="http://schemas.microsoft.com/office/drawing/2014/main" id="{E758B1BE-7F6C-CCE5-E325-21889C3D7518}"/>
              </a:ext>
            </a:extLst>
          </p:cNvPr>
          <p:cNvSpPr txBox="1"/>
          <p:nvPr/>
        </p:nvSpPr>
        <p:spPr>
          <a:xfrm>
            <a:off x="127000" y="0"/>
            <a:ext cx="11811000" cy="685800"/>
          </a:xfrm>
          <a:prstGeom prst="rect">
            <a:avLst/>
          </a:prstGeom>
          <a:noFill/>
        </p:spPr>
        <p:txBody>
          <a:bodyPr vert="horz" wrap="square" lIns="76200" tIns="25400" rIns="76200" bIns="25400" rtlCol="0" anchor="ctr">
            <a:noAutofit/>
          </a:bodyPr>
          <a:lstStyle/>
          <a:p>
            <a:pPr>
              <a:lnSpc>
                <a:spcPct val="95000"/>
              </a:lnSpc>
            </a:pPr>
            <a:r>
              <a:rPr lang="en-US" sz="2400" b="1" u="sng">
                <a:solidFill>
                  <a:srgbClr val="FFFFFF"/>
                </a:solidFill>
                <a:latin typeface="Aptos Display" panose="020B0004020202020204" pitchFamily="34" charset="0"/>
              </a:rPr>
              <a:t>2.1 · R ACC – R RSC · Which leads</a:t>
            </a:r>
          </a:p>
        </p:txBody>
      </p:sp>
    </p:spTree>
    <p:extLst>
      <p:ext uri="{BB962C8B-B14F-4D97-AF65-F5344CB8AC3E}">
        <p14:creationId xmlns:p14="http://schemas.microsoft.com/office/powerpoint/2010/main" val="258727066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tage">
            <a:extLst>
              <a:ext uri="{FF2B5EF4-FFF2-40B4-BE49-F238E27FC236}">
                <a16:creationId xmlns:a16="http://schemas.microsoft.com/office/drawing/2014/main" id="{650C6851-2D57-FC1D-A939-7DA10A2D550D}"/>
              </a:ext>
            </a:extLst>
          </p:cNvPr>
          <p:cNvSpPr/>
          <p:nvPr/>
        </p:nvSpPr>
        <p:spPr>
          <a:xfrm>
            <a:off x="0" y="685800"/>
            <a:ext cx="7670800" cy="6172200"/>
          </a:xfrm>
          <a:prstGeom prst="rect">
            <a:avLst/>
          </a:prstGeom>
          <a:solidFill>
            <a:srgbClr val="ECEC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F2_1">
            <a:extLst>
              <a:ext uri="{FF2B5EF4-FFF2-40B4-BE49-F238E27FC236}">
                <a16:creationId xmlns:a16="http://schemas.microsoft.com/office/drawing/2014/main" id="{CABA9B46-0E84-0019-17ED-7A2956D91191}"/>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10689347" y="1658375"/>
            <a:ext cx="18094144" cy="4944281"/>
          </a:xfrm>
          <a:prstGeom prst="rect">
            <a:avLst/>
          </a:prstGeom>
          <a:ln w="9525">
            <a:solidFill>
              <a:srgbClr val="B0B0B0"/>
            </a:solidFill>
          </a:ln>
        </p:spPr>
      </p:pic>
      <p:sp>
        <p:nvSpPr>
          <p:cNvPr id="5" name="!!D1">
            <a:extLst>
              <a:ext uri="{FF2B5EF4-FFF2-40B4-BE49-F238E27FC236}">
                <a16:creationId xmlns:a16="http://schemas.microsoft.com/office/drawing/2014/main" id="{C13DC322-90B9-41E7-D901-EF05ED38D6AD}"/>
              </a:ext>
            </a:extLst>
          </p:cNvPr>
          <p:cNvSpPr/>
          <p:nvPr/>
        </p:nvSpPr>
        <p:spPr>
          <a:xfrm>
            <a:off x="0" y="685800"/>
            <a:ext cx="7670800" cy="1046069"/>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2">
            <a:extLst>
              <a:ext uri="{FF2B5EF4-FFF2-40B4-BE49-F238E27FC236}">
                <a16:creationId xmlns:a16="http://schemas.microsoft.com/office/drawing/2014/main" id="{3A51FAC7-C5A2-1388-C133-55DBFE4DBD67}"/>
              </a:ext>
            </a:extLst>
          </p:cNvPr>
          <p:cNvSpPr/>
          <p:nvPr/>
        </p:nvSpPr>
        <p:spPr>
          <a:xfrm>
            <a:off x="0" y="5837331"/>
            <a:ext cx="7670800" cy="1020669"/>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3">
            <a:extLst>
              <a:ext uri="{FF2B5EF4-FFF2-40B4-BE49-F238E27FC236}">
                <a16:creationId xmlns:a16="http://schemas.microsoft.com/office/drawing/2014/main" id="{2E87B10E-1825-EF25-A626-B620DDB3E3C0}"/>
              </a:ext>
            </a:extLst>
          </p:cNvPr>
          <p:cNvSpPr/>
          <p:nvPr/>
        </p:nvSpPr>
        <p:spPr>
          <a:xfrm>
            <a:off x="0" y="1731869"/>
            <a:ext cx="262509" cy="4105462"/>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4">
            <a:extLst>
              <a:ext uri="{FF2B5EF4-FFF2-40B4-BE49-F238E27FC236}">
                <a16:creationId xmlns:a16="http://schemas.microsoft.com/office/drawing/2014/main" id="{5CE31CC4-100B-3352-955B-91EE3DE09536}"/>
              </a:ext>
            </a:extLst>
          </p:cNvPr>
          <p:cNvSpPr/>
          <p:nvPr/>
        </p:nvSpPr>
        <p:spPr>
          <a:xfrm>
            <a:off x="7433691" y="1731869"/>
            <a:ext cx="237109" cy="4105462"/>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ocus">
            <a:extLst>
              <a:ext uri="{FF2B5EF4-FFF2-40B4-BE49-F238E27FC236}">
                <a16:creationId xmlns:a16="http://schemas.microsoft.com/office/drawing/2014/main" id="{30E95758-83DA-1F4A-FE45-8BB2C22F91C2}"/>
              </a:ext>
            </a:extLst>
          </p:cNvPr>
          <p:cNvSpPr/>
          <p:nvPr/>
        </p:nvSpPr>
        <p:spPr>
          <a:xfrm>
            <a:off x="4184340" y="1856163"/>
            <a:ext cx="3223951" cy="3856874"/>
          </a:xfrm>
          <a:prstGeom prst="rect">
            <a:avLst/>
          </a:prstGeom>
          <a:solidFill>
            <a:srgbClr val="83CBEB">
              <a:alpha val="37000"/>
            </a:srgbClr>
          </a:solidFill>
          <a:ln w="38100">
            <a:solidFill>
              <a:srgbClr val="46B1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ail">
            <a:extLst>
              <a:ext uri="{FF2B5EF4-FFF2-40B4-BE49-F238E27FC236}">
                <a16:creationId xmlns:a16="http://schemas.microsoft.com/office/drawing/2014/main" id="{31FB3BA7-AB32-35F3-5931-59A0389BEE51}"/>
              </a:ext>
            </a:extLst>
          </p:cNvPr>
          <p:cNvSpPr/>
          <p:nvPr/>
        </p:nvSpPr>
        <p:spPr>
          <a:xfrm>
            <a:off x="7670800" y="685800"/>
            <a:ext cx="4521200" cy="61722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N53">
            <a:extLst>
              <a:ext uri="{FF2B5EF4-FFF2-40B4-BE49-F238E27FC236}">
                <a16:creationId xmlns:a16="http://schemas.microsoft.com/office/drawing/2014/main" id="{3D0678D6-3637-BBEC-8304-7C35C3E20637}"/>
              </a:ext>
            </a:extLst>
          </p:cNvPr>
          <p:cNvSpPr/>
          <p:nvPr/>
        </p:nvSpPr>
        <p:spPr>
          <a:xfrm>
            <a:off x="7797800" y="838200"/>
            <a:ext cx="4241800" cy="60655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How to read a follow-up figure. a: the pair, on the same ring (an arrow when a direction was measured).</a:t>
            </a:r>
          </a:p>
        </p:txBody>
      </p:sp>
      <p:sp>
        <p:nvSpPr>
          <p:cNvPr id="12" name="!!N54">
            <a:extLst>
              <a:ext uri="{FF2B5EF4-FFF2-40B4-BE49-F238E27FC236}">
                <a16:creationId xmlns:a16="http://schemas.microsoft.com/office/drawing/2014/main" id="{DABE2EFC-A3B2-553E-FF18-ADA03D65F02F}"/>
              </a:ext>
            </a:extLst>
          </p:cNvPr>
          <p:cNvSpPr/>
          <p:nvPr/>
        </p:nvSpPr>
        <p:spPr>
          <a:xfrm>
            <a:off x="7797800" y="1559052"/>
            <a:ext cx="4241800" cy="60655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b: each rat’s baseline and cue, Precon1 in grey and Precon4 in black.</a:t>
            </a:r>
          </a:p>
        </p:txBody>
      </p:sp>
      <p:sp>
        <p:nvSpPr>
          <p:cNvPr id="13" name="!!N55">
            <a:extLst>
              <a:ext uri="{FF2B5EF4-FFF2-40B4-BE49-F238E27FC236}">
                <a16:creationId xmlns:a16="http://schemas.microsoft.com/office/drawing/2014/main" id="{2C6F0455-4967-7162-37E8-DA47964CFC35}"/>
              </a:ext>
            </a:extLst>
          </p:cNvPr>
          <p:cNvSpPr/>
          <p:nvPr/>
        </p:nvSpPr>
        <p:spPr>
          <a:xfrm>
            <a:off x="7797800" y="2279904"/>
            <a:ext cx="4241800" cy="795528"/>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c: each rat’s change in cue effect, Precon4’s − Precon1’s, with the mean and its 95% range. The t-test asks if the mean is away from 0.</a:t>
            </a:r>
          </a:p>
        </p:txBody>
      </p:sp>
      <p:sp>
        <p:nvSpPr>
          <p:cNvPr id="14" name="!!N56">
            <a:extLst>
              <a:ext uri="{FF2B5EF4-FFF2-40B4-BE49-F238E27FC236}">
                <a16:creationId xmlns:a16="http://schemas.microsoft.com/office/drawing/2014/main" id="{01219D87-979A-19A8-8AC4-3FC37D6A1383}"/>
              </a:ext>
            </a:extLst>
          </p:cNvPr>
          <p:cNvSpPr/>
          <p:nvPr/>
        </p:nvSpPr>
        <p:spPr>
          <a:xfrm>
            <a:off x="7797800" y="3189732"/>
            <a:ext cx="4241800" cy="1362456"/>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d: the same change against FP (blue, 10,000 sets of fake trials) and the shuffles (grey, 10,000 within-session swaps).</a:t>
            </a:r>
          </a:p>
        </p:txBody>
      </p:sp>
      <p:sp>
        <p:nvSpPr>
          <p:cNvPr id="15" name="!!N57">
            <a:extLst>
              <a:ext uri="{FF2B5EF4-FFF2-40B4-BE49-F238E27FC236}">
                <a16:creationId xmlns:a16="http://schemas.microsoft.com/office/drawing/2014/main" id="{D0AA67F6-06BC-DAF1-DEAC-BA891CBFE544}"/>
              </a:ext>
            </a:extLst>
          </p:cNvPr>
          <p:cNvSpPr/>
          <p:nvPr/>
        </p:nvSpPr>
        <p:spPr>
          <a:xfrm>
            <a:off x="12573000" y="838200"/>
            <a:ext cx="4241800" cy="1929384"/>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Tab 8 ran 190 of these t-tests (19 pairs × 10 measures); 21 passed, where about 10 would by chance. Those 21 are the measures in these 20 figures, sorted by how many of FP, shuffles and t-test they pass.</a:t>
            </a:r>
          </a:p>
        </p:txBody>
      </p:sp>
      <p:sp>
        <p:nvSpPr>
          <p:cNvPr id="16" name="!!T-BG">
            <a:extLst>
              <a:ext uri="{FF2B5EF4-FFF2-40B4-BE49-F238E27FC236}">
                <a16:creationId xmlns:a16="http://schemas.microsoft.com/office/drawing/2014/main" id="{CA06A53D-4E85-85A9-29F8-3F0A0C6AD0BA}"/>
              </a:ext>
            </a:extLst>
          </p:cNvPr>
          <p:cNvSpPr/>
          <p:nvPr/>
        </p:nvSpPr>
        <p:spPr>
          <a:xfrm>
            <a:off x="-381000" y="0"/>
            <a:ext cx="12954000" cy="685800"/>
          </a:xfrm>
          <a:prstGeom prst="snip2DiagRect">
            <a:avLst>
              <a:gd name="adj1" fmla="val 0"/>
              <a:gd name="adj2" fmla="val 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
            <a:extLst>
              <a:ext uri="{FF2B5EF4-FFF2-40B4-BE49-F238E27FC236}">
                <a16:creationId xmlns:a16="http://schemas.microsoft.com/office/drawing/2014/main" id="{BF494E89-D2DC-8EEC-95CB-FA7CFE82517E}"/>
              </a:ext>
            </a:extLst>
          </p:cNvPr>
          <p:cNvSpPr txBox="1"/>
          <p:nvPr/>
        </p:nvSpPr>
        <p:spPr>
          <a:xfrm>
            <a:off x="127000" y="0"/>
            <a:ext cx="11811000" cy="685800"/>
          </a:xfrm>
          <a:prstGeom prst="rect">
            <a:avLst/>
          </a:prstGeom>
          <a:noFill/>
        </p:spPr>
        <p:txBody>
          <a:bodyPr vert="horz" wrap="square" lIns="76200" tIns="25400" rIns="76200" bIns="25400" rtlCol="0" anchor="ctr">
            <a:noAutofit/>
          </a:bodyPr>
          <a:lstStyle/>
          <a:p>
            <a:pPr>
              <a:lnSpc>
                <a:spcPct val="95000"/>
              </a:lnSpc>
            </a:pPr>
            <a:r>
              <a:rPr lang="en-US" sz="2400" b="1" u="sng">
                <a:solidFill>
                  <a:srgbClr val="FFFFFF"/>
                </a:solidFill>
                <a:latin typeface="Aptos Display" panose="020B0004020202020204" pitchFamily="34" charset="0"/>
              </a:rPr>
              <a:t>2.1 · R ACC – R RSC · Which leads</a:t>
            </a:r>
          </a:p>
        </p:txBody>
      </p:sp>
    </p:spTree>
    <p:extLst>
      <p:ext uri="{BB962C8B-B14F-4D97-AF65-F5344CB8AC3E}">
        <p14:creationId xmlns:p14="http://schemas.microsoft.com/office/powerpoint/2010/main" val="69607142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tage">
            <a:extLst>
              <a:ext uri="{FF2B5EF4-FFF2-40B4-BE49-F238E27FC236}">
                <a16:creationId xmlns:a16="http://schemas.microsoft.com/office/drawing/2014/main" id="{9A5C07C7-428F-2EC9-6EAB-FE65DD6082A8}"/>
              </a:ext>
            </a:extLst>
          </p:cNvPr>
          <p:cNvSpPr/>
          <p:nvPr/>
        </p:nvSpPr>
        <p:spPr>
          <a:xfrm>
            <a:off x="0" y="685800"/>
            <a:ext cx="7670800" cy="6172200"/>
          </a:xfrm>
          <a:prstGeom prst="rect">
            <a:avLst/>
          </a:prstGeom>
          <a:solidFill>
            <a:srgbClr val="ECEC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F2_1">
            <a:extLst>
              <a:ext uri="{FF2B5EF4-FFF2-40B4-BE49-F238E27FC236}">
                <a16:creationId xmlns:a16="http://schemas.microsoft.com/office/drawing/2014/main" id="{0419E298-F75C-1E2A-8F59-EA7A5DBFC331}"/>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287909" y="2811767"/>
            <a:ext cx="7120382" cy="1945667"/>
          </a:xfrm>
          <a:prstGeom prst="rect">
            <a:avLst/>
          </a:prstGeom>
          <a:ln w="9525">
            <a:solidFill>
              <a:srgbClr val="B0B0B0"/>
            </a:solidFill>
          </a:ln>
        </p:spPr>
      </p:pic>
      <p:sp>
        <p:nvSpPr>
          <p:cNvPr id="5" name="!!D1">
            <a:extLst>
              <a:ext uri="{FF2B5EF4-FFF2-40B4-BE49-F238E27FC236}">
                <a16:creationId xmlns:a16="http://schemas.microsoft.com/office/drawing/2014/main" id="{0C37486A-9F9A-F067-714E-6F64BB3F7277}"/>
              </a:ext>
            </a:extLst>
          </p:cNvPr>
          <p:cNvSpPr/>
          <p:nvPr/>
        </p:nvSpPr>
        <p:spPr>
          <a:xfrm>
            <a:off x="0" y="685800"/>
            <a:ext cx="7670800" cy="635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2">
            <a:extLst>
              <a:ext uri="{FF2B5EF4-FFF2-40B4-BE49-F238E27FC236}">
                <a16:creationId xmlns:a16="http://schemas.microsoft.com/office/drawing/2014/main" id="{804E907A-2EA2-5C5D-6921-BBEAD022C6CD}"/>
              </a:ext>
            </a:extLst>
          </p:cNvPr>
          <p:cNvSpPr/>
          <p:nvPr/>
        </p:nvSpPr>
        <p:spPr>
          <a:xfrm>
            <a:off x="0" y="6858000"/>
            <a:ext cx="7670800" cy="635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3">
            <a:extLst>
              <a:ext uri="{FF2B5EF4-FFF2-40B4-BE49-F238E27FC236}">
                <a16:creationId xmlns:a16="http://schemas.microsoft.com/office/drawing/2014/main" id="{D3E0E23B-DADB-37A8-F8C7-FA27DB17ECC1}"/>
              </a:ext>
            </a:extLst>
          </p:cNvPr>
          <p:cNvSpPr/>
          <p:nvPr/>
        </p:nvSpPr>
        <p:spPr>
          <a:xfrm>
            <a:off x="0" y="685800"/>
            <a:ext cx="6350" cy="617220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4">
            <a:extLst>
              <a:ext uri="{FF2B5EF4-FFF2-40B4-BE49-F238E27FC236}">
                <a16:creationId xmlns:a16="http://schemas.microsoft.com/office/drawing/2014/main" id="{327E70D2-9735-E0A7-F318-22C26516DD28}"/>
              </a:ext>
            </a:extLst>
          </p:cNvPr>
          <p:cNvSpPr/>
          <p:nvPr/>
        </p:nvSpPr>
        <p:spPr>
          <a:xfrm>
            <a:off x="7670800" y="685800"/>
            <a:ext cx="6350" cy="617220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ail">
            <a:extLst>
              <a:ext uri="{FF2B5EF4-FFF2-40B4-BE49-F238E27FC236}">
                <a16:creationId xmlns:a16="http://schemas.microsoft.com/office/drawing/2014/main" id="{EDCFEEAB-B07F-FC8E-32EF-42DB40B942A9}"/>
              </a:ext>
            </a:extLst>
          </p:cNvPr>
          <p:cNvSpPr/>
          <p:nvPr/>
        </p:nvSpPr>
        <p:spPr>
          <a:xfrm>
            <a:off x="7670800" y="685800"/>
            <a:ext cx="4521200" cy="61722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N57">
            <a:extLst>
              <a:ext uri="{FF2B5EF4-FFF2-40B4-BE49-F238E27FC236}">
                <a16:creationId xmlns:a16="http://schemas.microsoft.com/office/drawing/2014/main" id="{707055C4-3501-80AB-9C38-8BABD95DCA93}"/>
              </a:ext>
            </a:extLst>
          </p:cNvPr>
          <p:cNvSpPr/>
          <p:nvPr/>
        </p:nvSpPr>
        <p:spPr>
          <a:xfrm>
            <a:off x="7797800" y="838200"/>
            <a:ext cx="4241800" cy="1929384"/>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Tab 8 ran 190 of these t-tests (19 pairs × 10 measures); 21 passed, where about 10 would by chance. Those 21 are the measures in these 20 figures, sorted by how many of FP, shuffles and t-test they pass.</a:t>
            </a:r>
          </a:p>
        </p:txBody>
      </p:sp>
      <p:sp>
        <p:nvSpPr>
          <p:cNvPr id="11" name="!!N58">
            <a:extLst>
              <a:ext uri="{FF2B5EF4-FFF2-40B4-BE49-F238E27FC236}">
                <a16:creationId xmlns:a16="http://schemas.microsoft.com/office/drawing/2014/main" id="{D895DB04-666D-A1B9-9995-B0AA6EC3884B}"/>
              </a:ext>
            </a:extLst>
          </p:cNvPr>
          <p:cNvSpPr/>
          <p:nvPr/>
        </p:nvSpPr>
        <p:spPr>
          <a:xfrm>
            <a:off x="12573000" y="838200"/>
            <a:ext cx="4241800" cy="107899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R RSC predicting R ACC (Granger R RSC → R ACC): cue − baseline was higher on Precon4 than on Precon1.</a:t>
            </a:r>
          </a:p>
        </p:txBody>
      </p:sp>
      <p:sp>
        <p:nvSpPr>
          <p:cNvPr id="12" name="!!N53">
            <a:extLst>
              <a:ext uri="{FF2B5EF4-FFF2-40B4-BE49-F238E27FC236}">
                <a16:creationId xmlns:a16="http://schemas.microsoft.com/office/drawing/2014/main" id="{DA02B9FD-31C7-49E4-6052-230EE7BE199B}"/>
              </a:ext>
            </a:extLst>
          </p:cNvPr>
          <p:cNvSpPr/>
          <p:nvPr/>
        </p:nvSpPr>
        <p:spPr>
          <a:xfrm>
            <a:off x="12573000" y="838200"/>
            <a:ext cx="4241800" cy="60655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How to read a follow-up figure. a: the pair, on the same ring (an arrow when a direction was measured).</a:t>
            </a:r>
          </a:p>
        </p:txBody>
      </p:sp>
      <p:sp>
        <p:nvSpPr>
          <p:cNvPr id="13" name="!!N54">
            <a:extLst>
              <a:ext uri="{FF2B5EF4-FFF2-40B4-BE49-F238E27FC236}">
                <a16:creationId xmlns:a16="http://schemas.microsoft.com/office/drawing/2014/main" id="{83D967DF-DBA9-4565-4A1E-521BE3A371C6}"/>
              </a:ext>
            </a:extLst>
          </p:cNvPr>
          <p:cNvSpPr/>
          <p:nvPr/>
        </p:nvSpPr>
        <p:spPr>
          <a:xfrm>
            <a:off x="12573000" y="1559052"/>
            <a:ext cx="4241800" cy="60655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b: each rat’s baseline and cue, Precon1 in grey and Precon4 in black.</a:t>
            </a:r>
          </a:p>
        </p:txBody>
      </p:sp>
      <p:sp>
        <p:nvSpPr>
          <p:cNvPr id="14" name="!!N55">
            <a:extLst>
              <a:ext uri="{FF2B5EF4-FFF2-40B4-BE49-F238E27FC236}">
                <a16:creationId xmlns:a16="http://schemas.microsoft.com/office/drawing/2014/main" id="{BB639421-60AB-25DD-8B6F-F05F25245C1E}"/>
              </a:ext>
            </a:extLst>
          </p:cNvPr>
          <p:cNvSpPr/>
          <p:nvPr/>
        </p:nvSpPr>
        <p:spPr>
          <a:xfrm>
            <a:off x="12573000" y="2279904"/>
            <a:ext cx="4241800" cy="795528"/>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c: each rat’s change in cue effect, Precon4’s − Precon1’s, with the mean and its 95% range. The t-test asks if the mean is away from 0.</a:t>
            </a:r>
          </a:p>
        </p:txBody>
      </p:sp>
      <p:sp>
        <p:nvSpPr>
          <p:cNvPr id="15" name="!!N56">
            <a:extLst>
              <a:ext uri="{FF2B5EF4-FFF2-40B4-BE49-F238E27FC236}">
                <a16:creationId xmlns:a16="http://schemas.microsoft.com/office/drawing/2014/main" id="{67512D37-CC29-B859-36BA-57B51C2B3F3A}"/>
              </a:ext>
            </a:extLst>
          </p:cNvPr>
          <p:cNvSpPr/>
          <p:nvPr/>
        </p:nvSpPr>
        <p:spPr>
          <a:xfrm>
            <a:off x="12573000" y="3189732"/>
            <a:ext cx="4241800" cy="1362456"/>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d: the same change against FP (blue, 10,000 sets of fake trials) and the shuffles (grey, 10,000 within-session swaps).</a:t>
            </a:r>
          </a:p>
        </p:txBody>
      </p:sp>
      <p:sp>
        <p:nvSpPr>
          <p:cNvPr id="16" name="!!T-BG">
            <a:extLst>
              <a:ext uri="{FF2B5EF4-FFF2-40B4-BE49-F238E27FC236}">
                <a16:creationId xmlns:a16="http://schemas.microsoft.com/office/drawing/2014/main" id="{6DBD55BD-C23E-EC5C-83E9-CA1C33440E6A}"/>
              </a:ext>
            </a:extLst>
          </p:cNvPr>
          <p:cNvSpPr/>
          <p:nvPr/>
        </p:nvSpPr>
        <p:spPr>
          <a:xfrm>
            <a:off x="-381000" y="0"/>
            <a:ext cx="12954000" cy="685800"/>
          </a:xfrm>
          <a:prstGeom prst="snip2DiagRect">
            <a:avLst>
              <a:gd name="adj1" fmla="val 0"/>
              <a:gd name="adj2" fmla="val 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
            <a:extLst>
              <a:ext uri="{FF2B5EF4-FFF2-40B4-BE49-F238E27FC236}">
                <a16:creationId xmlns:a16="http://schemas.microsoft.com/office/drawing/2014/main" id="{5E909118-E75F-0E84-A178-94B2C9D201D6}"/>
              </a:ext>
            </a:extLst>
          </p:cNvPr>
          <p:cNvSpPr txBox="1"/>
          <p:nvPr/>
        </p:nvSpPr>
        <p:spPr>
          <a:xfrm>
            <a:off x="127000" y="0"/>
            <a:ext cx="11811000" cy="685800"/>
          </a:xfrm>
          <a:prstGeom prst="rect">
            <a:avLst/>
          </a:prstGeom>
          <a:noFill/>
        </p:spPr>
        <p:txBody>
          <a:bodyPr vert="horz" wrap="square" lIns="76200" tIns="25400" rIns="76200" bIns="25400" rtlCol="0" anchor="ctr">
            <a:noAutofit/>
          </a:bodyPr>
          <a:lstStyle/>
          <a:p>
            <a:pPr>
              <a:lnSpc>
                <a:spcPct val="95000"/>
              </a:lnSpc>
            </a:pPr>
            <a:r>
              <a:rPr lang="en-US" sz="2400" b="1" u="sng">
                <a:solidFill>
                  <a:srgbClr val="FFFFFF"/>
                </a:solidFill>
                <a:latin typeface="Aptos Display" panose="020B0004020202020204" pitchFamily="34" charset="0"/>
              </a:rPr>
              <a:t>2.1 · R ACC – R RSC · Which leads</a:t>
            </a:r>
          </a:p>
        </p:txBody>
      </p:sp>
    </p:spTree>
    <p:extLst>
      <p:ext uri="{BB962C8B-B14F-4D97-AF65-F5344CB8AC3E}">
        <p14:creationId xmlns:p14="http://schemas.microsoft.com/office/powerpoint/2010/main" val="18390652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tage">
            <a:extLst>
              <a:ext uri="{FF2B5EF4-FFF2-40B4-BE49-F238E27FC236}">
                <a16:creationId xmlns:a16="http://schemas.microsoft.com/office/drawing/2014/main" id="{73ECCAF7-F959-F71C-2A45-1F424EF1D828}"/>
              </a:ext>
            </a:extLst>
          </p:cNvPr>
          <p:cNvSpPr/>
          <p:nvPr/>
        </p:nvSpPr>
        <p:spPr>
          <a:xfrm>
            <a:off x="0" y="685800"/>
            <a:ext cx="7670800" cy="6172200"/>
          </a:xfrm>
          <a:prstGeom prst="rect">
            <a:avLst/>
          </a:prstGeom>
          <a:solidFill>
            <a:srgbClr val="ECEC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F2_1">
            <a:extLst>
              <a:ext uri="{FF2B5EF4-FFF2-40B4-BE49-F238E27FC236}">
                <a16:creationId xmlns:a16="http://schemas.microsoft.com/office/drawing/2014/main" id="{ED1A65B3-DCF4-E1BA-0F36-A7CF28B05628}"/>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287909" y="2811767"/>
            <a:ext cx="7120382" cy="1945667"/>
          </a:xfrm>
          <a:prstGeom prst="rect">
            <a:avLst/>
          </a:prstGeom>
          <a:ln w="9525">
            <a:solidFill>
              <a:srgbClr val="B0B0B0"/>
            </a:solidFill>
          </a:ln>
        </p:spPr>
      </p:pic>
      <p:sp>
        <p:nvSpPr>
          <p:cNvPr id="5" name="!!D1">
            <a:extLst>
              <a:ext uri="{FF2B5EF4-FFF2-40B4-BE49-F238E27FC236}">
                <a16:creationId xmlns:a16="http://schemas.microsoft.com/office/drawing/2014/main" id="{F9086E85-16B3-C625-9C7C-C7131EF4D9C0}"/>
              </a:ext>
            </a:extLst>
          </p:cNvPr>
          <p:cNvSpPr/>
          <p:nvPr/>
        </p:nvSpPr>
        <p:spPr>
          <a:xfrm>
            <a:off x="0" y="685800"/>
            <a:ext cx="7670800" cy="635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2">
            <a:extLst>
              <a:ext uri="{FF2B5EF4-FFF2-40B4-BE49-F238E27FC236}">
                <a16:creationId xmlns:a16="http://schemas.microsoft.com/office/drawing/2014/main" id="{AE5BB9A1-F287-B778-A680-9776DF6FF088}"/>
              </a:ext>
            </a:extLst>
          </p:cNvPr>
          <p:cNvSpPr/>
          <p:nvPr/>
        </p:nvSpPr>
        <p:spPr>
          <a:xfrm>
            <a:off x="0" y="6858000"/>
            <a:ext cx="7670800" cy="635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3">
            <a:extLst>
              <a:ext uri="{FF2B5EF4-FFF2-40B4-BE49-F238E27FC236}">
                <a16:creationId xmlns:a16="http://schemas.microsoft.com/office/drawing/2014/main" id="{E6E0320B-A3AE-82AC-EFBC-97DDCECDA41F}"/>
              </a:ext>
            </a:extLst>
          </p:cNvPr>
          <p:cNvSpPr/>
          <p:nvPr/>
        </p:nvSpPr>
        <p:spPr>
          <a:xfrm>
            <a:off x="0" y="685800"/>
            <a:ext cx="6350" cy="617220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4">
            <a:extLst>
              <a:ext uri="{FF2B5EF4-FFF2-40B4-BE49-F238E27FC236}">
                <a16:creationId xmlns:a16="http://schemas.microsoft.com/office/drawing/2014/main" id="{43B5FECA-D270-1795-3281-3EFDF84DF36C}"/>
              </a:ext>
            </a:extLst>
          </p:cNvPr>
          <p:cNvSpPr/>
          <p:nvPr/>
        </p:nvSpPr>
        <p:spPr>
          <a:xfrm>
            <a:off x="7670800" y="685800"/>
            <a:ext cx="6350" cy="617220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ocus">
            <a:extLst>
              <a:ext uri="{FF2B5EF4-FFF2-40B4-BE49-F238E27FC236}">
                <a16:creationId xmlns:a16="http://schemas.microsoft.com/office/drawing/2014/main" id="{275978AF-F51E-9930-A007-C7D17BCCA842}"/>
              </a:ext>
            </a:extLst>
          </p:cNvPr>
          <p:cNvSpPr/>
          <p:nvPr/>
        </p:nvSpPr>
        <p:spPr>
          <a:xfrm>
            <a:off x="4685497" y="2889600"/>
            <a:ext cx="1424351" cy="1517752"/>
          </a:xfrm>
          <a:prstGeom prst="rect">
            <a:avLst/>
          </a:prstGeom>
          <a:solidFill>
            <a:srgbClr val="83CBEB">
              <a:alpha val="37000"/>
            </a:srgbClr>
          </a:solidFill>
          <a:ln w="38100">
            <a:solidFill>
              <a:srgbClr val="46B1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ail">
            <a:extLst>
              <a:ext uri="{FF2B5EF4-FFF2-40B4-BE49-F238E27FC236}">
                <a16:creationId xmlns:a16="http://schemas.microsoft.com/office/drawing/2014/main" id="{F24F8D65-0BCD-9B1D-DB6E-DEB4DFF1B709}"/>
              </a:ext>
            </a:extLst>
          </p:cNvPr>
          <p:cNvSpPr/>
          <p:nvPr/>
        </p:nvSpPr>
        <p:spPr>
          <a:xfrm>
            <a:off x="7670800" y="685800"/>
            <a:ext cx="4521200" cy="61722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N58">
            <a:extLst>
              <a:ext uri="{FF2B5EF4-FFF2-40B4-BE49-F238E27FC236}">
                <a16:creationId xmlns:a16="http://schemas.microsoft.com/office/drawing/2014/main" id="{F1D3728A-E1BB-0CAF-6F89-252B8BEB8D35}"/>
              </a:ext>
            </a:extLst>
          </p:cNvPr>
          <p:cNvSpPr/>
          <p:nvPr/>
        </p:nvSpPr>
        <p:spPr>
          <a:xfrm>
            <a:off x="7797800" y="838200"/>
            <a:ext cx="4241800" cy="107899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R RSC predicting R ACC (Granger R RSC → R ACC): cue − baseline was higher on Precon4 than on Precon1.</a:t>
            </a:r>
          </a:p>
        </p:txBody>
      </p:sp>
      <p:sp>
        <p:nvSpPr>
          <p:cNvPr id="12" name="!!N59">
            <a:extLst>
              <a:ext uri="{FF2B5EF4-FFF2-40B4-BE49-F238E27FC236}">
                <a16:creationId xmlns:a16="http://schemas.microsoft.com/office/drawing/2014/main" id="{40A35CBD-9E8E-4F8E-640D-2A103BF4CC3A}"/>
              </a:ext>
            </a:extLst>
          </p:cNvPr>
          <p:cNvSpPr/>
          <p:nvPr/>
        </p:nvSpPr>
        <p:spPr>
          <a:xfrm>
            <a:off x="12573000" y="1559052"/>
            <a:ext cx="4241800" cy="107899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FP P &lt; 0.001. Shuffles P = 0.002. t-test P = 0.044 (6 rats). All three tests agree: the strongest lead.</a:t>
            </a:r>
          </a:p>
        </p:txBody>
      </p:sp>
      <p:sp>
        <p:nvSpPr>
          <p:cNvPr id="13" name="!!N57">
            <a:extLst>
              <a:ext uri="{FF2B5EF4-FFF2-40B4-BE49-F238E27FC236}">
                <a16:creationId xmlns:a16="http://schemas.microsoft.com/office/drawing/2014/main" id="{D92F985D-CC22-A2A4-0797-2992EBA41076}"/>
              </a:ext>
            </a:extLst>
          </p:cNvPr>
          <p:cNvSpPr/>
          <p:nvPr/>
        </p:nvSpPr>
        <p:spPr>
          <a:xfrm>
            <a:off x="12573000" y="838200"/>
            <a:ext cx="4241800" cy="1929384"/>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Tab 8 ran 190 of these t-tests (19 pairs × 10 measures); 21 passed, where about 10 would by chance. Those 21 are the measures in these 20 figures, sorted by how many of FP, shuffles and t-test they pass.</a:t>
            </a:r>
          </a:p>
        </p:txBody>
      </p:sp>
      <p:sp>
        <p:nvSpPr>
          <p:cNvPr id="14" name="!!T-BG">
            <a:extLst>
              <a:ext uri="{FF2B5EF4-FFF2-40B4-BE49-F238E27FC236}">
                <a16:creationId xmlns:a16="http://schemas.microsoft.com/office/drawing/2014/main" id="{0E496C07-4786-EA53-0DFB-B3AFD1EFCC21}"/>
              </a:ext>
            </a:extLst>
          </p:cNvPr>
          <p:cNvSpPr/>
          <p:nvPr/>
        </p:nvSpPr>
        <p:spPr>
          <a:xfrm>
            <a:off x="-381000" y="0"/>
            <a:ext cx="12954000" cy="685800"/>
          </a:xfrm>
          <a:prstGeom prst="snip2DiagRect">
            <a:avLst>
              <a:gd name="adj1" fmla="val 0"/>
              <a:gd name="adj2" fmla="val 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
            <a:extLst>
              <a:ext uri="{FF2B5EF4-FFF2-40B4-BE49-F238E27FC236}">
                <a16:creationId xmlns:a16="http://schemas.microsoft.com/office/drawing/2014/main" id="{08821D61-E684-F873-EA79-231C46B9D22E}"/>
              </a:ext>
            </a:extLst>
          </p:cNvPr>
          <p:cNvSpPr txBox="1"/>
          <p:nvPr/>
        </p:nvSpPr>
        <p:spPr>
          <a:xfrm>
            <a:off x="127000" y="0"/>
            <a:ext cx="11811000" cy="685800"/>
          </a:xfrm>
          <a:prstGeom prst="rect">
            <a:avLst/>
          </a:prstGeom>
          <a:noFill/>
        </p:spPr>
        <p:txBody>
          <a:bodyPr vert="horz" wrap="square" lIns="76200" tIns="25400" rIns="76200" bIns="25400" rtlCol="0" anchor="ctr">
            <a:noAutofit/>
          </a:bodyPr>
          <a:lstStyle/>
          <a:p>
            <a:pPr>
              <a:lnSpc>
                <a:spcPct val="95000"/>
              </a:lnSpc>
            </a:pPr>
            <a:r>
              <a:rPr lang="en-US" sz="2400" b="1" u="sng">
                <a:solidFill>
                  <a:srgbClr val="FFFFFF"/>
                </a:solidFill>
                <a:latin typeface="Aptos Display" panose="020B0004020202020204" pitchFamily="34" charset="0"/>
              </a:rPr>
              <a:t>2.1 · R ACC – R RSC · Which leads</a:t>
            </a:r>
          </a:p>
        </p:txBody>
      </p:sp>
    </p:spTree>
    <p:extLst>
      <p:ext uri="{BB962C8B-B14F-4D97-AF65-F5344CB8AC3E}">
        <p14:creationId xmlns:p14="http://schemas.microsoft.com/office/powerpoint/2010/main" val="402555543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tage">
            <a:extLst>
              <a:ext uri="{FF2B5EF4-FFF2-40B4-BE49-F238E27FC236}">
                <a16:creationId xmlns:a16="http://schemas.microsoft.com/office/drawing/2014/main" id="{67840AA7-24E5-86A3-8A73-5DCAC0152CA0}"/>
              </a:ext>
            </a:extLst>
          </p:cNvPr>
          <p:cNvSpPr/>
          <p:nvPr/>
        </p:nvSpPr>
        <p:spPr>
          <a:xfrm>
            <a:off x="0" y="685800"/>
            <a:ext cx="7670800" cy="6172200"/>
          </a:xfrm>
          <a:prstGeom prst="rect">
            <a:avLst/>
          </a:prstGeom>
          <a:solidFill>
            <a:srgbClr val="ECEC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F2_1">
            <a:extLst>
              <a:ext uri="{FF2B5EF4-FFF2-40B4-BE49-F238E27FC236}">
                <a16:creationId xmlns:a16="http://schemas.microsoft.com/office/drawing/2014/main" id="{824BA024-A2DC-1510-7F0E-A6F756418AB9}"/>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0689347" y="1658375"/>
            <a:ext cx="18094144" cy="4944281"/>
          </a:xfrm>
          <a:prstGeom prst="rect">
            <a:avLst/>
          </a:prstGeom>
          <a:ln w="9525">
            <a:solidFill>
              <a:srgbClr val="B0B0B0"/>
            </a:solidFill>
          </a:ln>
        </p:spPr>
      </p:pic>
      <p:sp>
        <p:nvSpPr>
          <p:cNvPr id="5" name="!!D1">
            <a:extLst>
              <a:ext uri="{FF2B5EF4-FFF2-40B4-BE49-F238E27FC236}">
                <a16:creationId xmlns:a16="http://schemas.microsoft.com/office/drawing/2014/main" id="{384769DF-0CDF-6643-1428-12FCEDA55055}"/>
              </a:ext>
            </a:extLst>
          </p:cNvPr>
          <p:cNvSpPr/>
          <p:nvPr/>
        </p:nvSpPr>
        <p:spPr>
          <a:xfrm>
            <a:off x="0" y="685800"/>
            <a:ext cx="7670800" cy="1046069"/>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2">
            <a:extLst>
              <a:ext uri="{FF2B5EF4-FFF2-40B4-BE49-F238E27FC236}">
                <a16:creationId xmlns:a16="http://schemas.microsoft.com/office/drawing/2014/main" id="{5FA9CB80-65C2-1F4F-8EA3-1F9520101664}"/>
              </a:ext>
            </a:extLst>
          </p:cNvPr>
          <p:cNvSpPr/>
          <p:nvPr/>
        </p:nvSpPr>
        <p:spPr>
          <a:xfrm>
            <a:off x="0" y="5837331"/>
            <a:ext cx="7670800" cy="1020669"/>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3">
            <a:extLst>
              <a:ext uri="{FF2B5EF4-FFF2-40B4-BE49-F238E27FC236}">
                <a16:creationId xmlns:a16="http://schemas.microsoft.com/office/drawing/2014/main" id="{8867B46C-9732-5D32-D324-B40ADA60B8CF}"/>
              </a:ext>
            </a:extLst>
          </p:cNvPr>
          <p:cNvSpPr/>
          <p:nvPr/>
        </p:nvSpPr>
        <p:spPr>
          <a:xfrm>
            <a:off x="0" y="1731869"/>
            <a:ext cx="262509" cy="4105462"/>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4">
            <a:extLst>
              <a:ext uri="{FF2B5EF4-FFF2-40B4-BE49-F238E27FC236}">
                <a16:creationId xmlns:a16="http://schemas.microsoft.com/office/drawing/2014/main" id="{3C3562AF-301C-84F4-4CE9-351A8DCF1427}"/>
              </a:ext>
            </a:extLst>
          </p:cNvPr>
          <p:cNvSpPr/>
          <p:nvPr/>
        </p:nvSpPr>
        <p:spPr>
          <a:xfrm>
            <a:off x="7433691" y="1731869"/>
            <a:ext cx="237109" cy="4105462"/>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ocus">
            <a:extLst>
              <a:ext uri="{FF2B5EF4-FFF2-40B4-BE49-F238E27FC236}">
                <a16:creationId xmlns:a16="http://schemas.microsoft.com/office/drawing/2014/main" id="{F5703436-51A5-F15B-48BC-38693CB6C8A3}"/>
              </a:ext>
            </a:extLst>
          </p:cNvPr>
          <p:cNvSpPr/>
          <p:nvPr/>
        </p:nvSpPr>
        <p:spPr>
          <a:xfrm>
            <a:off x="485697" y="1856163"/>
            <a:ext cx="3619528" cy="3856874"/>
          </a:xfrm>
          <a:prstGeom prst="rect">
            <a:avLst/>
          </a:prstGeom>
          <a:solidFill>
            <a:srgbClr val="83CBEB">
              <a:alpha val="37000"/>
            </a:srgbClr>
          </a:solidFill>
          <a:ln w="38100">
            <a:solidFill>
              <a:srgbClr val="46B1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ocus2">
            <a:extLst>
              <a:ext uri="{FF2B5EF4-FFF2-40B4-BE49-F238E27FC236}">
                <a16:creationId xmlns:a16="http://schemas.microsoft.com/office/drawing/2014/main" id="{A0C84B31-03D1-E51E-9250-4290DF7D741B}"/>
              </a:ext>
            </a:extLst>
          </p:cNvPr>
          <p:cNvSpPr/>
          <p:nvPr/>
        </p:nvSpPr>
        <p:spPr>
          <a:xfrm>
            <a:off x="4184340" y="1856163"/>
            <a:ext cx="3223951" cy="3856874"/>
          </a:xfrm>
          <a:prstGeom prst="rect">
            <a:avLst/>
          </a:prstGeom>
          <a:solidFill>
            <a:srgbClr val="83CBEB">
              <a:alpha val="37000"/>
            </a:srgbClr>
          </a:solidFill>
          <a:ln w="38100">
            <a:solidFill>
              <a:srgbClr val="46B1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ail">
            <a:extLst>
              <a:ext uri="{FF2B5EF4-FFF2-40B4-BE49-F238E27FC236}">
                <a16:creationId xmlns:a16="http://schemas.microsoft.com/office/drawing/2014/main" id="{8A1B4A59-EE80-33C5-FD53-6B6DB764876F}"/>
              </a:ext>
            </a:extLst>
          </p:cNvPr>
          <p:cNvSpPr/>
          <p:nvPr/>
        </p:nvSpPr>
        <p:spPr>
          <a:xfrm>
            <a:off x="7670800" y="685800"/>
            <a:ext cx="4521200" cy="61722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N58">
            <a:extLst>
              <a:ext uri="{FF2B5EF4-FFF2-40B4-BE49-F238E27FC236}">
                <a16:creationId xmlns:a16="http://schemas.microsoft.com/office/drawing/2014/main" id="{5B5520F3-900A-5FBB-1823-1E5691A97F23}"/>
              </a:ext>
            </a:extLst>
          </p:cNvPr>
          <p:cNvSpPr/>
          <p:nvPr/>
        </p:nvSpPr>
        <p:spPr>
          <a:xfrm>
            <a:off x="7797800" y="838200"/>
            <a:ext cx="4241800" cy="60655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R RSC predicting R ACC (Granger R RSC → R ACC): cue − baseline was higher on Precon4 than on Precon1.</a:t>
            </a:r>
          </a:p>
        </p:txBody>
      </p:sp>
      <p:sp>
        <p:nvSpPr>
          <p:cNvPr id="13" name="!!N59">
            <a:extLst>
              <a:ext uri="{FF2B5EF4-FFF2-40B4-BE49-F238E27FC236}">
                <a16:creationId xmlns:a16="http://schemas.microsoft.com/office/drawing/2014/main" id="{769BC6A5-894A-9393-762D-020309338D83}"/>
              </a:ext>
            </a:extLst>
          </p:cNvPr>
          <p:cNvSpPr/>
          <p:nvPr/>
        </p:nvSpPr>
        <p:spPr>
          <a:xfrm>
            <a:off x="7797800" y="1559052"/>
            <a:ext cx="4241800" cy="107899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FP P &lt; 0.001. Shuffles P = 0.002. t-test P = 0.044 (6 rats). All three tests agree: the strongest lead.</a:t>
            </a:r>
          </a:p>
        </p:txBody>
      </p:sp>
      <p:sp>
        <p:nvSpPr>
          <p:cNvPr id="14" name="!!N60">
            <a:extLst>
              <a:ext uri="{FF2B5EF4-FFF2-40B4-BE49-F238E27FC236}">
                <a16:creationId xmlns:a16="http://schemas.microsoft.com/office/drawing/2014/main" id="{7BD712E4-3DBD-6D99-01C8-C4F371888964}"/>
              </a:ext>
            </a:extLst>
          </p:cNvPr>
          <p:cNvSpPr/>
          <p:nvPr/>
        </p:nvSpPr>
        <p:spPr>
          <a:xfrm>
            <a:off x="12573000" y="838200"/>
            <a:ext cx="4241800" cy="107899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Theta in R RSC pacing gamma in R ACC (PAC): cue − baseline was lower on Precon4 than on Precon1.</a:t>
            </a:r>
          </a:p>
        </p:txBody>
      </p:sp>
      <p:sp>
        <p:nvSpPr>
          <p:cNvPr id="15" name="!!T-BG">
            <a:extLst>
              <a:ext uri="{FF2B5EF4-FFF2-40B4-BE49-F238E27FC236}">
                <a16:creationId xmlns:a16="http://schemas.microsoft.com/office/drawing/2014/main" id="{3EC59946-EB7A-6F0B-A71E-5B9B706C698E}"/>
              </a:ext>
            </a:extLst>
          </p:cNvPr>
          <p:cNvSpPr/>
          <p:nvPr/>
        </p:nvSpPr>
        <p:spPr>
          <a:xfrm>
            <a:off x="-381000" y="0"/>
            <a:ext cx="12954000" cy="685800"/>
          </a:xfrm>
          <a:prstGeom prst="snip2DiagRect">
            <a:avLst>
              <a:gd name="adj1" fmla="val 0"/>
              <a:gd name="adj2" fmla="val 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
            <a:extLst>
              <a:ext uri="{FF2B5EF4-FFF2-40B4-BE49-F238E27FC236}">
                <a16:creationId xmlns:a16="http://schemas.microsoft.com/office/drawing/2014/main" id="{1E4338E5-2EF2-23BC-110F-3F63AEA279E3}"/>
              </a:ext>
            </a:extLst>
          </p:cNvPr>
          <p:cNvSpPr txBox="1"/>
          <p:nvPr/>
        </p:nvSpPr>
        <p:spPr>
          <a:xfrm>
            <a:off x="127000" y="0"/>
            <a:ext cx="11811000" cy="685800"/>
          </a:xfrm>
          <a:prstGeom prst="rect">
            <a:avLst/>
          </a:prstGeom>
          <a:noFill/>
        </p:spPr>
        <p:txBody>
          <a:bodyPr vert="horz" wrap="square" lIns="76200" tIns="25400" rIns="76200" bIns="25400" rtlCol="0" anchor="ctr">
            <a:noAutofit/>
          </a:bodyPr>
          <a:lstStyle/>
          <a:p>
            <a:pPr>
              <a:lnSpc>
                <a:spcPct val="95000"/>
              </a:lnSpc>
            </a:pPr>
            <a:r>
              <a:rPr lang="en-US" sz="2400" b="1" u="sng">
                <a:solidFill>
                  <a:srgbClr val="FFFFFF"/>
                </a:solidFill>
                <a:latin typeface="Aptos Display" panose="020B0004020202020204" pitchFamily="34" charset="0"/>
              </a:rPr>
              <a:t>2.1 · R ACC – R RSC · Which leads</a:t>
            </a:r>
          </a:p>
        </p:txBody>
      </p:sp>
    </p:spTree>
    <p:extLst>
      <p:ext uri="{BB962C8B-B14F-4D97-AF65-F5344CB8AC3E}">
        <p14:creationId xmlns:p14="http://schemas.microsoft.com/office/powerpoint/2010/main" val="380245002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tage">
            <a:extLst>
              <a:ext uri="{FF2B5EF4-FFF2-40B4-BE49-F238E27FC236}">
                <a16:creationId xmlns:a16="http://schemas.microsoft.com/office/drawing/2014/main" id="{8C054492-D778-5B3D-3CEE-D937E92C6901}"/>
              </a:ext>
            </a:extLst>
          </p:cNvPr>
          <p:cNvSpPr/>
          <p:nvPr/>
        </p:nvSpPr>
        <p:spPr>
          <a:xfrm>
            <a:off x="0" y="685800"/>
            <a:ext cx="7670800" cy="6172200"/>
          </a:xfrm>
          <a:prstGeom prst="rect">
            <a:avLst/>
          </a:prstGeom>
          <a:solidFill>
            <a:srgbClr val="ECEC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F2_2">
            <a:extLst>
              <a:ext uri="{FF2B5EF4-FFF2-40B4-BE49-F238E27FC236}">
                <a16:creationId xmlns:a16="http://schemas.microsoft.com/office/drawing/2014/main" id="{0D82139F-AC5F-47ED-6F5C-1F5EED8B2A08}"/>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287909" y="2034159"/>
            <a:ext cx="7120382" cy="3500882"/>
          </a:xfrm>
          <a:prstGeom prst="rect">
            <a:avLst/>
          </a:prstGeom>
          <a:ln w="9525">
            <a:solidFill>
              <a:srgbClr val="B0B0B0"/>
            </a:solidFill>
          </a:ln>
        </p:spPr>
      </p:pic>
      <p:sp>
        <p:nvSpPr>
          <p:cNvPr id="5" name="!!D1">
            <a:extLst>
              <a:ext uri="{FF2B5EF4-FFF2-40B4-BE49-F238E27FC236}">
                <a16:creationId xmlns:a16="http://schemas.microsoft.com/office/drawing/2014/main" id="{660D72E1-B45D-6C49-28B1-B67D25C32AB7}"/>
              </a:ext>
            </a:extLst>
          </p:cNvPr>
          <p:cNvSpPr/>
          <p:nvPr/>
        </p:nvSpPr>
        <p:spPr>
          <a:xfrm>
            <a:off x="0" y="685800"/>
            <a:ext cx="7670800" cy="635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2">
            <a:extLst>
              <a:ext uri="{FF2B5EF4-FFF2-40B4-BE49-F238E27FC236}">
                <a16:creationId xmlns:a16="http://schemas.microsoft.com/office/drawing/2014/main" id="{30E398F0-8F78-BAFA-2334-052CB0DA0715}"/>
              </a:ext>
            </a:extLst>
          </p:cNvPr>
          <p:cNvSpPr/>
          <p:nvPr/>
        </p:nvSpPr>
        <p:spPr>
          <a:xfrm>
            <a:off x="0" y="6858000"/>
            <a:ext cx="7670800" cy="635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3">
            <a:extLst>
              <a:ext uri="{FF2B5EF4-FFF2-40B4-BE49-F238E27FC236}">
                <a16:creationId xmlns:a16="http://schemas.microsoft.com/office/drawing/2014/main" id="{F025EECC-D589-ADDA-BD4D-4D0CB0B35B8E}"/>
              </a:ext>
            </a:extLst>
          </p:cNvPr>
          <p:cNvSpPr/>
          <p:nvPr/>
        </p:nvSpPr>
        <p:spPr>
          <a:xfrm>
            <a:off x="0" y="685800"/>
            <a:ext cx="6350" cy="617220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4">
            <a:extLst>
              <a:ext uri="{FF2B5EF4-FFF2-40B4-BE49-F238E27FC236}">
                <a16:creationId xmlns:a16="http://schemas.microsoft.com/office/drawing/2014/main" id="{60B234E1-1163-8D40-3346-52BF59352D95}"/>
              </a:ext>
            </a:extLst>
          </p:cNvPr>
          <p:cNvSpPr/>
          <p:nvPr/>
        </p:nvSpPr>
        <p:spPr>
          <a:xfrm>
            <a:off x="7670800" y="685800"/>
            <a:ext cx="6350" cy="617220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ocus">
            <a:extLst>
              <a:ext uri="{FF2B5EF4-FFF2-40B4-BE49-F238E27FC236}">
                <a16:creationId xmlns:a16="http://schemas.microsoft.com/office/drawing/2014/main" id="{589EF166-6B01-8E35-DFD6-F5432D53DD4F}"/>
              </a:ext>
            </a:extLst>
          </p:cNvPr>
          <p:cNvSpPr/>
          <p:nvPr/>
        </p:nvSpPr>
        <p:spPr>
          <a:xfrm>
            <a:off x="4685497" y="2111992"/>
            <a:ext cx="1424351" cy="1517752"/>
          </a:xfrm>
          <a:prstGeom prst="rect">
            <a:avLst/>
          </a:prstGeom>
          <a:solidFill>
            <a:srgbClr val="83CBEB">
              <a:alpha val="37000"/>
            </a:srgbClr>
          </a:solidFill>
          <a:ln w="38100">
            <a:solidFill>
              <a:srgbClr val="46B1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ail">
            <a:extLst>
              <a:ext uri="{FF2B5EF4-FFF2-40B4-BE49-F238E27FC236}">
                <a16:creationId xmlns:a16="http://schemas.microsoft.com/office/drawing/2014/main" id="{BCB22AEE-7FE3-7C76-38F6-5933356F8517}"/>
              </a:ext>
            </a:extLst>
          </p:cNvPr>
          <p:cNvSpPr/>
          <p:nvPr/>
        </p:nvSpPr>
        <p:spPr>
          <a:xfrm>
            <a:off x="7670800" y="685800"/>
            <a:ext cx="4521200" cy="61722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N60">
            <a:extLst>
              <a:ext uri="{FF2B5EF4-FFF2-40B4-BE49-F238E27FC236}">
                <a16:creationId xmlns:a16="http://schemas.microsoft.com/office/drawing/2014/main" id="{7D2FDE97-2B14-F81F-CF73-AE7A3D93E98D}"/>
              </a:ext>
            </a:extLst>
          </p:cNvPr>
          <p:cNvSpPr/>
          <p:nvPr/>
        </p:nvSpPr>
        <p:spPr>
          <a:xfrm>
            <a:off x="7797800" y="838200"/>
            <a:ext cx="4241800" cy="107899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Theta in R RSC pacing gamma in R ACC (PAC): cue − baseline was lower on Precon4 than on Precon1.</a:t>
            </a:r>
          </a:p>
        </p:txBody>
      </p:sp>
      <p:sp>
        <p:nvSpPr>
          <p:cNvPr id="12" name="!!N61">
            <a:extLst>
              <a:ext uri="{FF2B5EF4-FFF2-40B4-BE49-F238E27FC236}">
                <a16:creationId xmlns:a16="http://schemas.microsoft.com/office/drawing/2014/main" id="{07F06C22-F018-A8C0-6A28-4688E72E2C38}"/>
              </a:ext>
            </a:extLst>
          </p:cNvPr>
          <p:cNvSpPr/>
          <p:nvPr/>
        </p:nvSpPr>
        <p:spPr>
          <a:xfrm>
            <a:off x="12573000" y="1559052"/>
            <a:ext cx="4241800" cy="107899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FP P = 0.006. Shuffles P = 0.025. t-test P = 0.013 (6 rats). All three tests agree: the strongest lead.</a:t>
            </a:r>
          </a:p>
        </p:txBody>
      </p:sp>
      <p:sp>
        <p:nvSpPr>
          <p:cNvPr id="13" name="!!N58">
            <a:extLst>
              <a:ext uri="{FF2B5EF4-FFF2-40B4-BE49-F238E27FC236}">
                <a16:creationId xmlns:a16="http://schemas.microsoft.com/office/drawing/2014/main" id="{30EE143C-44D2-C1C3-74DF-3B5BBB12C6F9}"/>
              </a:ext>
            </a:extLst>
          </p:cNvPr>
          <p:cNvSpPr/>
          <p:nvPr/>
        </p:nvSpPr>
        <p:spPr>
          <a:xfrm>
            <a:off x="12573000" y="838200"/>
            <a:ext cx="4241800" cy="60655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R RSC predicting R ACC (Granger R RSC → R ACC): cue − baseline was higher on Precon4 than on Precon1.</a:t>
            </a:r>
          </a:p>
        </p:txBody>
      </p:sp>
      <p:sp>
        <p:nvSpPr>
          <p:cNvPr id="14" name="!!N59">
            <a:extLst>
              <a:ext uri="{FF2B5EF4-FFF2-40B4-BE49-F238E27FC236}">
                <a16:creationId xmlns:a16="http://schemas.microsoft.com/office/drawing/2014/main" id="{484C73C6-85ED-066B-F2B5-BA114D24F2D3}"/>
              </a:ext>
            </a:extLst>
          </p:cNvPr>
          <p:cNvSpPr/>
          <p:nvPr/>
        </p:nvSpPr>
        <p:spPr>
          <a:xfrm>
            <a:off x="12573000" y="1559052"/>
            <a:ext cx="4241800" cy="107899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FP P &lt; 0.001. Shuffles P = 0.002. t-test P = 0.044 (6 rats). All three tests agree: the strongest lead.</a:t>
            </a:r>
          </a:p>
        </p:txBody>
      </p:sp>
      <p:sp>
        <p:nvSpPr>
          <p:cNvPr id="15" name="!!T-BG">
            <a:extLst>
              <a:ext uri="{FF2B5EF4-FFF2-40B4-BE49-F238E27FC236}">
                <a16:creationId xmlns:a16="http://schemas.microsoft.com/office/drawing/2014/main" id="{ED4965C8-D278-F2C0-3D84-18814FDB2723}"/>
              </a:ext>
            </a:extLst>
          </p:cNvPr>
          <p:cNvSpPr/>
          <p:nvPr/>
        </p:nvSpPr>
        <p:spPr>
          <a:xfrm>
            <a:off x="-381000" y="0"/>
            <a:ext cx="12954000" cy="685800"/>
          </a:xfrm>
          <a:prstGeom prst="snip2DiagRect">
            <a:avLst>
              <a:gd name="adj1" fmla="val 0"/>
              <a:gd name="adj2" fmla="val 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
            <a:extLst>
              <a:ext uri="{FF2B5EF4-FFF2-40B4-BE49-F238E27FC236}">
                <a16:creationId xmlns:a16="http://schemas.microsoft.com/office/drawing/2014/main" id="{04CE76A1-5910-2A9B-D6CC-79EB063A8A72}"/>
              </a:ext>
            </a:extLst>
          </p:cNvPr>
          <p:cNvSpPr txBox="1"/>
          <p:nvPr/>
        </p:nvSpPr>
        <p:spPr>
          <a:xfrm>
            <a:off x="127000" y="0"/>
            <a:ext cx="11811000" cy="685800"/>
          </a:xfrm>
          <a:prstGeom prst="rect">
            <a:avLst/>
          </a:prstGeom>
          <a:noFill/>
        </p:spPr>
        <p:txBody>
          <a:bodyPr vert="horz" wrap="square" lIns="76200" tIns="25400" rIns="76200" bIns="25400" rtlCol="0" anchor="ctr">
            <a:noAutofit/>
          </a:bodyPr>
          <a:lstStyle/>
          <a:p>
            <a:pPr>
              <a:lnSpc>
                <a:spcPct val="95000"/>
              </a:lnSpc>
            </a:pPr>
            <a:r>
              <a:rPr lang="pt-BR" sz="2400" b="1" u="sng">
                <a:solidFill>
                  <a:srgbClr val="FFFFFF"/>
                </a:solidFill>
                <a:latin typeface="Aptos Display" panose="020B0004020202020204" pitchFamily="34" charset="0"/>
              </a:rPr>
              <a:t>2.2 · R ACC – R RSC · Theta paces gamma</a:t>
            </a:r>
            <a:endParaRPr lang="en-US" sz="2400" b="1" u="sng">
              <a:solidFill>
                <a:srgbClr val="FFFFFF"/>
              </a:solidFill>
              <a:latin typeface="Aptos Display" panose="020B0004020202020204" pitchFamily="34" charset="0"/>
            </a:endParaRPr>
          </a:p>
        </p:txBody>
      </p:sp>
    </p:spTree>
    <p:extLst>
      <p:ext uri="{BB962C8B-B14F-4D97-AF65-F5344CB8AC3E}">
        <p14:creationId xmlns:p14="http://schemas.microsoft.com/office/powerpoint/2010/main" val="237440525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tage">
            <a:extLst>
              <a:ext uri="{FF2B5EF4-FFF2-40B4-BE49-F238E27FC236}">
                <a16:creationId xmlns:a16="http://schemas.microsoft.com/office/drawing/2014/main" id="{0D8AE955-46B4-172E-7212-72974CD2B5B2}"/>
              </a:ext>
            </a:extLst>
          </p:cNvPr>
          <p:cNvSpPr/>
          <p:nvPr/>
        </p:nvSpPr>
        <p:spPr>
          <a:xfrm>
            <a:off x="0" y="685800"/>
            <a:ext cx="7670800" cy="6172200"/>
          </a:xfrm>
          <a:prstGeom prst="rect">
            <a:avLst/>
          </a:prstGeom>
          <a:solidFill>
            <a:srgbClr val="ECEC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F2_2">
            <a:extLst>
              <a:ext uri="{FF2B5EF4-FFF2-40B4-BE49-F238E27FC236}">
                <a16:creationId xmlns:a16="http://schemas.microsoft.com/office/drawing/2014/main" id="{D7691636-F9DD-0249-107F-74ECB0A214A2}"/>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0689347" y="1658375"/>
            <a:ext cx="18094144" cy="8896357"/>
          </a:xfrm>
          <a:prstGeom prst="rect">
            <a:avLst/>
          </a:prstGeom>
          <a:ln w="9525">
            <a:solidFill>
              <a:srgbClr val="B0B0B0"/>
            </a:solidFill>
          </a:ln>
        </p:spPr>
      </p:pic>
      <p:sp>
        <p:nvSpPr>
          <p:cNvPr id="5" name="!!D1">
            <a:extLst>
              <a:ext uri="{FF2B5EF4-FFF2-40B4-BE49-F238E27FC236}">
                <a16:creationId xmlns:a16="http://schemas.microsoft.com/office/drawing/2014/main" id="{DBEE6A37-4C52-B7A4-7190-D3206C98E5A7}"/>
              </a:ext>
            </a:extLst>
          </p:cNvPr>
          <p:cNvSpPr/>
          <p:nvPr/>
        </p:nvSpPr>
        <p:spPr>
          <a:xfrm>
            <a:off x="0" y="685800"/>
            <a:ext cx="7670800" cy="1046069"/>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2">
            <a:extLst>
              <a:ext uri="{FF2B5EF4-FFF2-40B4-BE49-F238E27FC236}">
                <a16:creationId xmlns:a16="http://schemas.microsoft.com/office/drawing/2014/main" id="{516B136D-CBED-FFC5-E22D-BC6B362098D0}"/>
              </a:ext>
            </a:extLst>
          </p:cNvPr>
          <p:cNvSpPr/>
          <p:nvPr/>
        </p:nvSpPr>
        <p:spPr>
          <a:xfrm>
            <a:off x="0" y="5837331"/>
            <a:ext cx="7670800" cy="1020669"/>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3">
            <a:extLst>
              <a:ext uri="{FF2B5EF4-FFF2-40B4-BE49-F238E27FC236}">
                <a16:creationId xmlns:a16="http://schemas.microsoft.com/office/drawing/2014/main" id="{BF281BEA-3625-C82E-0E7E-B328031431B7}"/>
              </a:ext>
            </a:extLst>
          </p:cNvPr>
          <p:cNvSpPr/>
          <p:nvPr/>
        </p:nvSpPr>
        <p:spPr>
          <a:xfrm>
            <a:off x="0" y="1731869"/>
            <a:ext cx="262509" cy="4105462"/>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4">
            <a:extLst>
              <a:ext uri="{FF2B5EF4-FFF2-40B4-BE49-F238E27FC236}">
                <a16:creationId xmlns:a16="http://schemas.microsoft.com/office/drawing/2014/main" id="{DA6F2C3F-91EE-032D-C9C8-77E5E7B8AE34}"/>
              </a:ext>
            </a:extLst>
          </p:cNvPr>
          <p:cNvSpPr/>
          <p:nvPr/>
        </p:nvSpPr>
        <p:spPr>
          <a:xfrm>
            <a:off x="7433691" y="1731869"/>
            <a:ext cx="237109" cy="4105462"/>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ocus">
            <a:extLst>
              <a:ext uri="{FF2B5EF4-FFF2-40B4-BE49-F238E27FC236}">
                <a16:creationId xmlns:a16="http://schemas.microsoft.com/office/drawing/2014/main" id="{951FFEDE-80CB-9C9B-9514-D11C5F4255AB}"/>
              </a:ext>
            </a:extLst>
          </p:cNvPr>
          <p:cNvSpPr/>
          <p:nvPr/>
        </p:nvSpPr>
        <p:spPr>
          <a:xfrm>
            <a:off x="485697" y="1856163"/>
            <a:ext cx="3619528" cy="3856874"/>
          </a:xfrm>
          <a:prstGeom prst="rect">
            <a:avLst/>
          </a:prstGeom>
          <a:solidFill>
            <a:srgbClr val="83CBEB">
              <a:alpha val="37000"/>
            </a:srgbClr>
          </a:solidFill>
          <a:ln w="38100">
            <a:solidFill>
              <a:srgbClr val="46B1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ocus2">
            <a:extLst>
              <a:ext uri="{FF2B5EF4-FFF2-40B4-BE49-F238E27FC236}">
                <a16:creationId xmlns:a16="http://schemas.microsoft.com/office/drawing/2014/main" id="{0A018BC9-D7E2-AF2F-2D85-844347034FDB}"/>
              </a:ext>
            </a:extLst>
          </p:cNvPr>
          <p:cNvSpPr/>
          <p:nvPr/>
        </p:nvSpPr>
        <p:spPr>
          <a:xfrm>
            <a:off x="4184340" y="1856163"/>
            <a:ext cx="3223951" cy="3856874"/>
          </a:xfrm>
          <a:prstGeom prst="rect">
            <a:avLst/>
          </a:prstGeom>
          <a:solidFill>
            <a:srgbClr val="83CBEB">
              <a:alpha val="37000"/>
            </a:srgbClr>
          </a:solidFill>
          <a:ln w="38100">
            <a:solidFill>
              <a:srgbClr val="46B1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ail">
            <a:extLst>
              <a:ext uri="{FF2B5EF4-FFF2-40B4-BE49-F238E27FC236}">
                <a16:creationId xmlns:a16="http://schemas.microsoft.com/office/drawing/2014/main" id="{E54F8F9A-AD34-D9C4-F543-2F05BDCF7544}"/>
              </a:ext>
            </a:extLst>
          </p:cNvPr>
          <p:cNvSpPr/>
          <p:nvPr/>
        </p:nvSpPr>
        <p:spPr>
          <a:xfrm>
            <a:off x="7670800" y="685800"/>
            <a:ext cx="4521200" cy="61722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N60">
            <a:extLst>
              <a:ext uri="{FF2B5EF4-FFF2-40B4-BE49-F238E27FC236}">
                <a16:creationId xmlns:a16="http://schemas.microsoft.com/office/drawing/2014/main" id="{CA739E75-DF6A-5A2F-12AB-C514D44E1467}"/>
              </a:ext>
            </a:extLst>
          </p:cNvPr>
          <p:cNvSpPr/>
          <p:nvPr/>
        </p:nvSpPr>
        <p:spPr>
          <a:xfrm>
            <a:off x="7797800" y="838200"/>
            <a:ext cx="4241800" cy="60655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Theta in R RSC pacing gamma in R ACC (PAC): cue − baseline was lower on Precon4 than on Precon1.</a:t>
            </a:r>
          </a:p>
        </p:txBody>
      </p:sp>
      <p:sp>
        <p:nvSpPr>
          <p:cNvPr id="13" name="!!N61">
            <a:extLst>
              <a:ext uri="{FF2B5EF4-FFF2-40B4-BE49-F238E27FC236}">
                <a16:creationId xmlns:a16="http://schemas.microsoft.com/office/drawing/2014/main" id="{0B525337-9ABE-7DE2-BB3C-C9DBABC1A6A1}"/>
              </a:ext>
            </a:extLst>
          </p:cNvPr>
          <p:cNvSpPr/>
          <p:nvPr/>
        </p:nvSpPr>
        <p:spPr>
          <a:xfrm>
            <a:off x="7797800" y="1559052"/>
            <a:ext cx="4241800" cy="107899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FP P = 0.006. Shuffles P = 0.025. t-test P = 0.013 (6 rats). All three tests agree: the strongest lead.</a:t>
            </a:r>
          </a:p>
        </p:txBody>
      </p:sp>
      <p:sp>
        <p:nvSpPr>
          <p:cNvPr id="14" name="!!N62">
            <a:extLst>
              <a:ext uri="{FF2B5EF4-FFF2-40B4-BE49-F238E27FC236}">
                <a16:creationId xmlns:a16="http://schemas.microsoft.com/office/drawing/2014/main" id="{129C0B0C-1477-0D9E-D21B-CCA963407127}"/>
              </a:ext>
            </a:extLst>
          </p:cNvPr>
          <p:cNvSpPr/>
          <p:nvPr/>
        </p:nvSpPr>
        <p:spPr>
          <a:xfrm>
            <a:off x="12573000" y="838200"/>
            <a:ext cx="4241800" cy="1929384"/>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The roses: R ACC gamma around the R RSC theta cycle, over each trial’s whole window, averaged over trials and then rats. Orange: louder at that phase than its average over the cycle; purple: quieter.</a:t>
            </a:r>
          </a:p>
        </p:txBody>
      </p:sp>
      <p:sp>
        <p:nvSpPr>
          <p:cNvPr id="15" name="!!T-BG">
            <a:extLst>
              <a:ext uri="{FF2B5EF4-FFF2-40B4-BE49-F238E27FC236}">
                <a16:creationId xmlns:a16="http://schemas.microsoft.com/office/drawing/2014/main" id="{5250D40E-67DB-2D15-CA02-5AF70704424D}"/>
              </a:ext>
            </a:extLst>
          </p:cNvPr>
          <p:cNvSpPr/>
          <p:nvPr/>
        </p:nvSpPr>
        <p:spPr>
          <a:xfrm>
            <a:off x="-381000" y="0"/>
            <a:ext cx="12954000" cy="685800"/>
          </a:xfrm>
          <a:prstGeom prst="snip2DiagRect">
            <a:avLst>
              <a:gd name="adj1" fmla="val 0"/>
              <a:gd name="adj2" fmla="val 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
            <a:extLst>
              <a:ext uri="{FF2B5EF4-FFF2-40B4-BE49-F238E27FC236}">
                <a16:creationId xmlns:a16="http://schemas.microsoft.com/office/drawing/2014/main" id="{0B52CF54-3864-046D-BDB7-20A409AA74EE}"/>
              </a:ext>
            </a:extLst>
          </p:cNvPr>
          <p:cNvSpPr txBox="1"/>
          <p:nvPr/>
        </p:nvSpPr>
        <p:spPr>
          <a:xfrm>
            <a:off x="127000" y="0"/>
            <a:ext cx="11811000" cy="685800"/>
          </a:xfrm>
          <a:prstGeom prst="rect">
            <a:avLst/>
          </a:prstGeom>
          <a:noFill/>
        </p:spPr>
        <p:txBody>
          <a:bodyPr vert="horz" wrap="square" lIns="76200" tIns="25400" rIns="76200" bIns="25400" rtlCol="0" anchor="ctr">
            <a:noAutofit/>
          </a:bodyPr>
          <a:lstStyle/>
          <a:p>
            <a:pPr>
              <a:lnSpc>
                <a:spcPct val="95000"/>
              </a:lnSpc>
            </a:pPr>
            <a:r>
              <a:rPr lang="pt-BR" sz="2400" b="1" u="sng">
                <a:solidFill>
                  <a:srgbClr val="FFFFFF"/>
                </a:solidFill>
                <a:latin typeface="Aptos Display" panose="020B0004020202020204" pitchFamily="34" charset="0"/>
              </a:rPr>
              <a:t>2.2 · R ACC – R RSC · Theta paces gamma</a:t>
            </a:r>
            <a:endParaRPr lang="en-US" sz="2400" b="1" u="sng">
              <a:solidFill>
                <a:srgbClr val="FFFFFF"/>
              </a:solidFill>
              <a:latin typeface="Aptos Display" panose="020B0004020202020204" pitchFamily="34" charset="0"/>
            </a:endParaRPr>
          </a:p>
        </p:txBody>
      </p:sp>
    </p:spTree>
    <p:extLst>
      <p:ext uri="{BB962C8B-B14F-4D97-AF65-F5344CB8AC3E}">
        <p14:creationId xmlns:p14="http://schemas.microsoft.com/office/powerpoint/2010/main" val="365577137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tage">
            <a:extLst>
              <a:ext uri="{FF2B5EF4-FFF2-40B4-BE49-F238E27FC236}">
                <a16:creationId xmlns:a16="http://schemas.microsoft.com/office/drawing/2014/main" id="{069BB4A3-8E45-0E43-B26B-3F72E9C33B68}"/>
              </a:ext>
            </a:extLst>
          </p:cNvPr>
          <p:cNvSpPr/>
          <p:nvPr/>
        </p:nvSpPr>
        <p:spPr>
          <a:xfrm>
            <a:off x="0" y="685800"/>
            <a:ext cx="7670800" cy="6172200"/>
          </a:xfrm>
          <a:prstGeom prst="rect">
            <a:avLst/>
          </a:prstGeom>
          <a:solidFill>
            <a:srgbClr val="ECEC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F2_2">
            <a:extLst>
              <a:ext uri="{FF2B5EF4-FFF2-40B4-BE49-F238E27FC236}">
                <a16:creationId xmlns:a16="http://schemas.microsoft.com/office/drawing/2014/main" id="{9E5693F7-D84A-06B5-9D2F-1B57FABFC6C6}"/>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287909" y="114015"/>
            <a:ext cx="10099056" cy="4965409"/>
          </a:xfrm>
          <a:prstGeom prst="rect">
            <a:avLst/>
          </a:prstGeom>
          <a:ln w="9525">
            <a:solidFill>
              <a:srgbClr val="B0B0B0"/>
            </a:solidFill>
          </a:ln>
        </p:spPr>
      </p:pic>
      <p:sp>
        <p:nvSpPr>
          <p:cNvPr id="5" name="!!D1">
            <a:extLst>
              <a:ext uri="{FF2B5EF4-FFF2-40B4-BE49-F238E27FC236}">
                <a16:creationId xmlns:a16="http://schemas.microsoft.com/office/drawing/2014/main" id="{B9568877-D563-C230-5595-94785A712D13}"/>
              </a:ext>
            </a:extLst>
          </p:cNvPr>
          <p:cNvSpPr/>
          <p:nvPr/>
        </p:nvSpPr>
        <p:spPr>
          <a:xfrm>
            <a:off x="0" y="685800"/>
            <a:ext cx="7670800" cy="1941866"/>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2">
            <a:extLst>
              <a:ext uri="{FF2B5EF4-FFF2-40B4-BE49-F238E27FC236}">
                <a16:creationId xmlns:a16="http://schemas.microsoft.com/office/drawing/2014/main" id="{287B4F7B-4896-B3B4-114C-FAD13DDBD39B}"/>
              </a:ext>
            </a:extLst>
          </p:cNvPr>
          <p:cNvSpPr/>
          <p:nvPr/>
        </p:nvSpPr>
        <p:spPr>
          <a:xfrm>
            <a:off x="0" y="4941534"/>
            <a:ext cx="7670800" cy="1916466"/>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3">
            <a:extLst>
              <a:ext uri="{FF2B5EF4-FFF2-40B4-BE49-F238E27FC236}">
                <a16:creationId xmlns:a16="http://schemas.microsoft.com/office/drawing/2014/main" id="{2E2DFC90-30FA-FB6C-3503-4EB334789868}"/>
              </a:ext>
            </a:extLst>
          </p:cNvPr>
          <p:cNvSpPr/>
          <p:nvPr/>
        </p:nvSpPr>
        <p:spPr>
          <a:xfrm>
            <a:off x="0" y="2627666"/>
            <a:ext cx="262509" cy="2313867"/>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4">
            <a:extLst>
              <a:ext uri="{FF2B5EF4-FFF2-40B4-BE49-F238E27FC236}">
                <a16:creationId xmlns:a16="http://schemas.microsoft.com/office/drawing/2014/main" id="{3DC830DB-EA6C-D479-4B46-810B1FD24A5B}"/>
              </a:ext>
            </a:extLst>
          </p:cNvPr>
          <p:cNvSpPr/>
          <p:nvPr/>
        </p:nvSpPr>
        <p:spPr>
          <a:xfrm>
            <a:off x="7433691" y="2627666"/>
            <a:ext cx="237109" cy="2313867"/>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ocus">
            <a:extLst>
              <a:ext uri="{FF2B5EF4-FFF2-40B4-BE49-F238E27FC236}">
                <a16:creationId xmlns:a16="http://schemas.microsoft.com/office/drawing/2014/main" id="{8F939D61-6F53-C989-6649-387CDCBA746D}"/>
              </a:ext>
            </a:extLst>
          </p:cNvPr>
          <p:cNvSpPr/>
          <p:nvPr/>
        </p:nvSpPr>
        <p:spPr>
          <a:xfrm>
            <a:off x="287909" y="2653066"/>
            <a:ext cx="7120381" cy="2263067"/>
          </a:xfrm>
          <a:prstGeom prst="rect">
            <a:avLst/>
          </a:prstGeom>
          <a:solidFill>
            <a:srgbClr val="83CBEB">
              <a:alpha val="37000"/>
            </a:srgbClr>
          </a:solidFill>
          <a:ln w="38100">
            <a:solidFill>
              <a:srgbClr val="46B1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ail">
            <a:extLst>
              <a:ext uri="{FF2B5EF4-FFF2-40B4-BE49-F238E27FC236}">
                <a16:creationId xmlns:a16="http://schemas.microsoft.com/office/drawing/2014/main" id="{8F25828E-9ED3-C7AD-C556-7610A5D6502D}"/>
              </a:ext>
            </a:extLst>
          </p:cNvPr>
          <p:cNvSpPr/>
          <p:nvPr/>
        </p:nvSpPr>
        <p:spPr>
          <a:xfrm>
            <a:off x="7670800" y="685800"/>
            <a:ext cx="4521200" cy="61722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N62">
            <a:extLst>
              <a:ext uri="{FF2B5EF4-FFF2-40B4-BE49-F238E27FC236}">
                <a16:creationId xmlns:a16="http://schemas.microsoft.com/office/drawing/2014/main" id="{7B0BF214-7D5B-4D5C-064F-7C938437642B}"/>
              </a:ext>
            </a:extLst>
          </p:cNvPr>
          <p:cNvSpPr/>
          <p:nvPr/>
        </p:nvSpPr>
        <p:spPr>
          <a:xfrm>
            <a:off x="7797800" y="838200"/>
            <a:ext cx="4241800" cy="1929384"/>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The roses: R ACC gamma around the R RSC theta cycle, over each trial’s whole window, averaged over trials and then rats. Orange: louder at that phase than its average over the cycle; purple: quieter.</a:t>
            </a:r>
          </a:p>
        </p:txBody>
      </p:sp>
      <p:sp>
        <p:nvSpPr>
          <p:cNvPr id="12" name="!!N63">
            <a:extLst>
              <a:ext uri="{FF2B5EF4-FFF2-40B4-BE49-F238E27FC236}">
                <a16:creationId xmlns:a16="http://schemas.microsoft.com/office/drawing/2014/main" id="{BF591DED-B60E-AAB8-A391-9045AA761828}"/>
              </a:ext>
            </a:extLst>
          </p:cNvPr>
          <p:cNvSpPr/>
          <p:nvPr/>
        </p:nvSpPr>
        <p:spPr>
          <a:xfrm>
            <a:off x="12573000" y="1937004"/>
            <a:ext cx="4241800" cy="1929384"/>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Precon1 on the left, Precon4 on the right; baseline, then the cue. Rats that prefer different phases cancel, so a rose shows where in the cycle, not how much: b and c are what was tested.</a:t>
            </a:r>
          </a:p>
        </p:txBody>
      </p:sp>
      <p:sp>
        <p:nvSpPr>
          <p:cNvPr id="13" name="!!N60">
            <a:extLst>
              <a:ext uri="{FF2B5EF4-FFF2-40B4-BE49-F238E27FC236}">
                <a16:creationId xmlns:a16="http://schemas.microsoft.com/office/drawing/2014/main" id="{D00BFCB4-1FA9-67EA-8055-AE5366AB6FFA}"/>
              </a:ext>
            </a:extLst>
          </p:cNvPr>
          <p:cNvSpPr/>
          <p:nvPr/>
        </p:nvSpPr>
        <p:spPr>
          <a:xfrm>
            <a:off x="12573000" y="838200"/>
            <a:ext cx="4241800" cy="60655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Theta in R RSC pacing gamma in R ACC (PAC): cue − baseline was lower on Precon4 than on Precon1.</a:t>
            </a:r>
          </a:p>
        </p:txBody>
      </p:sp>
      <p:sp>
        <p:nvSpPr>
          <p:cNvPr id="14" name="!!N61">
            <a:extLst>
              <a:ext uri="{FF2B5EF4-FFF2-40B4-BE49-F238E27FC236}">
                <a16:creationId xmlns:a16="http://schemas.microsoft.com/office/drawing/2014/main" id="{080DE094-AE48-985E-5274-8AC5F9D8DCAD}"/>
              </a:ext>
            </a:extLst>
          </p:cNvPr>
          <p:cNvSpPr/>
          <p:nvPr/>
        </p:nvSpPr>
        <p:spPr>
          <a:xfrm>
            <a:off x="12573000" y="1559052"/>
            <a:ext cx="4241800" cy="107899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FP P = 0.006. Shuffles P = 0.025. t-test P = 0.013 (6 rats). All three tests agree: the strongest lead.</a:t>
            </a:r>
          </a:p>
        </p:txBody>
      </p:sp>
      <p:sp>
        <p:nvSpPr>
          <p:cNvPr id="15" name="!!T-BG">
            <a:extLst>
              <a:ext uri="{FF2B5EF4-FFF2-40B4-BE49-F238E27FC236}">
                <a16:creationId xmlns:a16="http://schemas.microsoft.com/office/drawing/2014/main" id="{9DAF0626-83A5-978E-89C2-26D7626AFEBC}"/>
              </a:ext>
            </a:extLst>
          </p:cNvPr>
          <p:cNvSpPr/>
          <p:nvPr/>
        </p:nvSpPr>
        <p:spPr>
          <a:xfrm>
            <a:off x="-381000" y="0"/>
            <a:ext cx="12954000" cy="685800"/>
          </a:xfrm>
          <a:prstGeom prst="snip2DiagRect">
            <a:avLst>
              <a:gd name="adj1" fmla="val 0"/>
              <a:gd name="adj2" fmla="val 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
            <a:extLst>
              <a:ext uri="{FF2B5EF4-FFF2-40B4-BE49-F238E27FC236}">
                <a16:creationId xmlns:a16="http://schemas.microsoft.com/office/drawing/2014/main" id="{AE7DE6C8-9692-6152-552D-969EB37F7254}"/>
              </a:ext>
            </a:extLst>
          </p:cNvPr>
          <p:cNvSpPr txBox="1"/>
          <p:nvPr/>
        </p:nvSpPr>
        <p:spPr>
          <a:xfrm>
            <a:off x="127000" y="0"/>
            <a:ext cx="11811000" cy="685800"/>
          </a:xfrm>
          <a:prstGeom prst="rect">
            <a:avLst/>
          </a:prstGeom>
          <a:noFill/>
        </p:spPr>
        <p:txBody>
          <a:bodyPr vert="horz" wrap="square" lIns="76200" tIns="25400" rIns="76200" bIns="25400" rtlCol="0" anchor="ctr">
            <a:noAutofit/>
          </a:bodyPr>
          <a:lstStyle/>
          <a:p>
            <a:pPr>
              <a:lnSpc>
                <a:spcPct val="95000"/>
              </a:lnSpc>
            </a:pPr>
            <a:r>
              <a:rPr lang="pt-BR" sz="2400" b="1" u="sng">
                <a:solidFill>
                  <a:srgbClr val="FFFFFF"/>
                </a:solidFill>
                <a:latin typeface="Aptos Display" panose="020B0004020202020204" pitchFamily="34" charset="0"/>
              </a:rPr>
              <a:t>2.2 · R ACC – R RSC · Theta paces gamma</a:t>
            </a:r>
            <a:endParaRPr lang="en-US" sz="2400" b="1" u="sng">
              <a:solidFill>
                <a:srgbClr val="FFFFFF"/>
              </a:solidFill>
              <a:latin typeface="Aptos Display" panose="020B0004020202020204" pitchFamily="34" charset="0"/>
            </a:endParaRPr>
          </a:p>
        </p:txBody>
      </p:sp>
    </p:spTree>
    <p:extLst>
      <p:ext uri="{BB962C8B-B14F-4D97-AF65-F5344CB8AC3E}">
        <p14:creationId xmlns:p14="http://schemas.microsoft.com/office/powerpoint/2010/main" val="418746381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tage">
            <a:extLst>
              <a:ext uri="{FF2B5EF4-FFF2-40B4-BE49-F238E27FC236}">
                <a16:creationId xmlns:a16="http://schemas.microsoft.com/office/drawing/2014/main" id="{5532B96E-3AF8-A4FD-F986-34702EF429FF}"/>
              </a:ext>
            </a:extLst>
          </p:cNvPr>
          <p:cNvSpPr/>
          <p:nvPr/>
        </p:nvSpPr>
        <p:spPr>
          <a:xfrm>
            <a:off x="0" y="685800"/>
            <a:ext cx="7670800" cy="6172200"/>
          </a:xfrm>
          <a:prstGeom prst="rect">
            <a:avLst/>
          </a:prstGeom>
          <a:solidFill>
            <a:srgbClr val="ECEC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F2_2">
            <a:extLst>
              <a:ext uri="{FF2B5EF4-FFF2-40B4-BE49-F238E27FC236}">
                <a16:creationId xmlns:a16="http://schemas.microsoft.com/office/drawing/2014/main" id="{D95D4614-A6D8-5B45-B728-9DC9E5BFF7F7}"/>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287909" y="114015"/>
            <a:ext cx="10099056" cy="4965409"/>
          </a:xfrm>
          <a:prstGeom prst="rect">
            <a:avLst/>
          </a:prstGeom>
          <a:ln w="9525">
            <a:solidFill>
              <a:srgbClr val="B0B0B0"/>
            </a:solidFill>
          </a:ln>
        </p:spPr>
      </p:pic>
      <p:sp>
        <p:nvSpPr>
          <p:cNvPr id="5" name="!!D1">
            <a:extLst>
              <a:ext uri="{FF2B5EF4-FFF2-40B4-BE49-F238E27FC236}">
                <a16:creationId xmlns:a16="http://schemas.microsoft.com/office/drawing/2014/main" id="{BD1B95C4-BD20-02E3-7DDD-4A6BC2B3A0AE}"/>
              </a:ext>
            </a:extLst>
          </p:cNvPr>
          <p:cNvSpPr/>
          <p:nvPr/>
        </p:nvSpPr>
        <p:spPr>
          <a:xfrm>
            <a:off x="0" y="685800"/>
            <a:ext cx="7670800" cy="1941866"/>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2">
            <a:extLst>
              <a:ext uri="{FF2B5EF4-FFF2-40B4-BE49-F238E27FC236}">
                <a16:creationId xmlns:a16="http://schemas.microsoft.com/office/drawing/2014/main" id="{927FEAC1-593A-73D6-79A9-E26663AD3516}"/>
              </a:ext>
            </a:extLst>
          </p:cNvPr>
          <p:cNvSpPr/>
          <p:nvPr/>
        </p:nvSpPr>
        <p:spPr>
          <a:xfrm>
            <a:off x="0" y="4941534"/>
            <a:ext cx="7670800" cy="1916466"/>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3">
            <a:extLst>
              <a:ext uri="{FF2B5EF4-FFF2-40B4-BE49-F238E27FC236}">
                <a16:creationId xmlns:a16="http://schemas.microsoft.com/office/drawing/2014/main" id="{B6B39BF0-B962-5293-11B1-D49DAFD9636B}"/>
              </a:ext>
            </a:extLst>
          </p:cNvPr>
          <p:cNvSpPr/>
          <p:nvPr/>
        </p:nvSpPr>
        <p:spPr>
          <a:xfrm>
            <a:off x="0" y="2627666"/>
            <a:ext cx="262509" cy="2313867"/>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4">
            <a:extLst>
              <a:ext uri="{FF2B5EF4-FFF2-40B4-BE49-F238E27FC236}">
                <a16:creationId xmlns:a16="http://schemas.microsoft.com/office/drawing/2014/main" id="{3CF4E633-0506-4D51-D569-0B3FDF5E07DC}"/>
              </a:ext>
            </a:extLst>
          </p:cNvPr>
          <p:cNvSpPr/>
          <p:nvPr/>
        </p:nvSpPr>
        <p:spPr>
          <a:xfrm>
            <a:off x="7433691" y="2627666"/>
            <a:ext cx="237109" cy="2313867"/>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ocus">
            <a:extLst>
              <a:ext uri="{FF2B5EF4-FFF2-40B4-BE49-F238E27FC236}">
                <a16:creationId xmlns:a16="http://schemas.microsoft.com/office/drawing/2014/main" id="{A5584D5B-03F5-D83E-1D05-7E9B0A70F03F}"/>
              </a:ext>
            </a:extLst>
          </p:cNvPr>
          <p:cNvSpPr/>
          <p:nvPr/>
        </p:nvSpPr>
        <p:spPr>
          <a:xfrm>
            <a:off x="287909" y="2653066"/>
            <a:ext cx="7120381" cy="2263067"/>
          </a:xfrm>
          <a:prstGeom prst="rect">
            <a:avLst/>
          </a:prstGeom>
          <a:solidFill>
            <a:srgbClr val="83CBEB">
              <a:alpha val="37000"/>
            </a:srgbClr>
          </a:solidFill>
          <a:ln w="38100">
            <a:solidFill>
              <a:srgbClr val="46B1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ail">
            <a:extLst>
              <a:ext uri="{FF2B5EF4-FFF2-40B4-BE49-F238E27FC236}">
                <a16:creationId xmlns:a16="http://schemas.microsoft.com/office/drawing/2014/main" id="{3172505A-75C6-2C55-2211-61C8A5B17B0C}"/>
              </a:ext>
            </a:extLst>
          </p:cNvPr>
          <p:cNvSpPr/>
          <p:nvPr/>
        </p:nvSpPr>
        <p:spPr>
          <a:xfrm>
            <a:off x="7670800" y="685800"/>
            <a:ext cx="4521200" cy="61722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N62">
            <a:extLst>
              <a:ext uri="{FF2B5EF4-FFF2-40B4-BE49-F238E27FC236}">
                <a16:creationId xmlns:a16="http://schemas.microsoft.com/office/drawing/2014/main" id="{2B993A31-18BC-DF54-5611-A62C91CD645B}"/>
              </a:ext>
            </a:extLst>
          </p:cNvPr>
          <p:cNvSpPr/>
          <p:nvPr/>
        </p:nvSpPr>
        <p:spPr>
          <a:xfrm>
            <a:off x="7797800" y="838200"/>
            <a:ext cx="4241800" cy="984504"/>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The roses: R ACC gamma around the R RSC theta cycle, over each trial’s whole window, averaged over trials and then rats. Orange: louder at that phase than its average over the cycle; purple: quieter.</a:t>
            </a:r>
          </a:p>
        </p:txBody>
      </p:sp>
      <p:sp>
        <p:nvSpPr>
          <p:cNvPr id="12" name="!!N63">
            <a:extLst>
              <a:ext uri="{FF2B5EF4-FFF2-40B4-BE49-F238E27FC236}">
                <a16:creationId xmlns:a16="http://schemas.microsoft.com/office/drawing/2014/main" id="{62A3DBCE-1999-EDE8-A28A-053D6F93B132}"/>
              </a:ext>
            </a:extLst>
          </p:cNvPr>
          <p:cNvSpPr/>
          <p:nvPr/>
        </p:nvSpPr>
        <p:spPr>
          <a:xfrm>
            <a:off x="7797800" y="1937004"/>
            <a:ext cx="4241800" cy="1929384"/>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Precon1 on the left, Precon4 on the right; baseline, then the cue. Rats that prefer different phases cancel, so a rose shows where in the cycle, not how much: b and c are what was tested.</a:t>
            </a:r>
          </a:p>
        </p:txBody>
      </p:sp>
      <p:sp>
        <p:nvSpPr>
          <p:cNvPr id="13" name="!!N64">
            <a:extLst>
              <a:ext uri="{FF2B5EF4-FFF2-40B4-BE49-F238E27FC236}">
                <a16:creationId xmlns:a16="http://schemas.microsoft.com/office/drawing/2014/main" id="{76C0AD7A-B210-E9A7-923C-13117900A099}"/>
              </a:ext>
            </a:extLst>
          </p:cNvPr>
          <p:cNvSpPr/>
          <p:nvPr/>
        </p:nvSpPr>
        <p:spPr>
          <a:xfrm>
            <a:off x="12573000" y="3035808"/>
            <a:ext cx="4241800" cy="2212848"/>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The comodulogram: the same change in cue effect split into narrow theta bands (across) and gamma bands (up). Orange: the cue raised coupling more on Precon4; purple: less. A map, not the test: c is the result.</a:t>
            </a:r>
          </a:p>
        </p:txBody>
      </p:sp>
      <p:sp>
        <p:nvSpPr>
          <p:cNvPr id="14" name="!!T-BG">
            <a:extLst>
              <a:ext uri="{FF2B5EF4-FFF2-40B4-BE49-F238E27FC236}">
                <a16:creationId xmlns:a16="http://schemas.microsoft.com/office/drawing/2014/main" id="{29EDFA9A-6C8F-525D-CBDD-05CDCF965769}"/>
              </a:ext>
            </a:extLst>
          </p:cNvPr>
          <p:cNvSpPr/>
          <p:nvPr/>
        </p:nvSpPr>
        <p:spPr>
          <a:xfrm>
            <a:off x="-381000" y="0"/>
            <a:ext cx="12954000" cy="685800"/>
          </a:xfrm>
          <a:prstGeom prst="snip2DiagRect">
            <a:avLst>
              <a:gd name="adj1" fmla="val 0"/>
              <a:gd name="adj2" fmla="val 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
            <a:extLst>
              <a:ext uri="{FF2B5EF4-FFF2-40B4-BE49-F238E27FC236}">
                <a16:creationId xmlns:a16="http://schemas.microsoft.com/office/drawing/2014/main" id="{BEECD29E-BB14-DFA5-AD3F-74E8DCD9C231}"/>
              </a:ext>
            </a:extLst>
          </p:cNvPr>
          <p:cNvSpPr txBox="1"/>
          <p:nvPr/>
        </p:nvSpPr>
        <p:spPr>
          <a:xfrm>
            <a:off x="127000" y="0"/>
            <a:ext cx="11811000" cy="685800"/>
          </a:xfrm>
          <a:prstGeom prst="rect">
            <a:avLst/>
          </a:prstGeom>
          <a:noFill/>
        </p:spPr>
        <p:txBody>
          <a:bodyPr vert="horz" wrap="square" lIns="76200" tIns="25400" rIns="76200" bIns="25400" rtlCol="0" anchor="ctr">
            <a:noAutofit/>
          </a:bodyPr>
          <a:lstStyle/>
          <a:p>
            <a:pPr>
              <a:lnSpc>
                <a:spcPct val="95000"/>
              </a:lnSpc>
            </a:pPr>
            <a:r>
              <a:rPr lang="pt-BR" sz="2400" b="1" u="sng">
                <a:solidFill>
                  <a:srgbClr val="FFFFFF"/>
                </a:solidFill>
                <a:latin typeface="Aptos Display" panose="020B0004020202020204" pitchFamily="34" charset="0"/>
              </a:rPr>
              <a:t>2.2 · R ACC – R RSC · Theta paces gamma</a:t>
            </a:r>
            <a:endParaRPr lang="en-US" sz="2400" b="1" u="sng">
              <a:solidFill>
                <a:srgbClr val="FFFFFF"/>
              </a:solidFill>
              <a:latin typeface="Aptos Display" panose="020B0004020202020204" pitchFamily="34" charset="0"/>
            </a:endParaRPr>
          </a:p>
        </p:txBody>
      </p:sp>
    </p:spTree>
    <p:extLst>
      <p:ext uri="{BB962C8B-B14F-4D97-AF65-F5344CB8AC3E}">
        <p14:creationId xmlns:p14="http://schemas.microsoft.com/office/powerpoint/2010/main" val="308463740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tage">
            <a:extLst>
              <a:ext uri="{FF2B5EF4-FFF2-40B4-BE49-F238E27FC236}">
                <a16:creationId xmlns:a16="http://schemas.microsoft.com/office/drawing/2014/main" id="{1B9142D6-C7F7-1CF7-7DFC-0662BD54A686}"/>
              </a:ext>
            </a:extLst>
          </p:cNvPr>
          <p:cNvSpPr/>
          <p:nvPr/>
        </p:nvSpPr>
        <p:spPr>
          <a:xfrm>
            <a:off x="0" y="685800"/>
            <a:ext cx="7670800" cy="6172200"/>
          </a:xfrm>
          <a:prstGeom prst="rect">
            <a:avLst/>
          </a:prstGeom>
          <a:solidFill>
            <a:srgbClr val="ECEC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F2_2">
            <a:extLst>
              <a:ext uri="{FF2B5EF4-FFF2-40B4-BE49-F238E27FC236}">
                <a16:creationId xmlns:a16="http://schemas.microsoft.com/office/drawing/2014/main" id="{2E4ECC2C-6402-0D48-33A1-861EF6D07769}"/>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16721892" y="-4984019"/>
            <a:ext cx="24125524" cy="11861809"/>
          </a:xfrm>
          <a:prstGeom prst="rect">
            <a:avLst/>
          </a:prstGeom>
          <a:ln w="9525">
            <a:solidFill>
              <a:srgbClr val="B0B0B0"/>
            </a:solidFill>
          </a:ln>
        </p:spPr>
      </p:pic>
      <p:sp>
        <p:nvSpPr>
          <p:cNvPr id="5" name="!!D1">
            <a:extLst>
              <a:ext uri="{FF2B5EF4-FFF2-40B4-BE49-F238E27FC236}">
                <a16:creationId xmlns:a16="http://schemas.microsoft.com/office/drawing/2014/main" id="{964DBB5D-7064-5636-A52F-862A1879DD83}"/>
              </a:ext>
            </a:extLst>
          </p:cNvPr>
          <p:cNvSpPr/>
          <p:nvPr/>
        </p:nvSpPr>
        <p:spPr>
          <a:xfrm>
            <a:off x="0" y="685800"/>
            <a:ext cx="7670800" cy="370292"/>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2">
            <a:extLst>
              <a:ext uri="{FF2B5EF4-FFF2-40B4-BE49-F238E27FC236}">
                <a16:creationId xmlns:a16="http://schemas.microsoft.com/office/drawing/2014/main" id="{D5F6ECD5-B781-138F-42E9-1164599E36FC}"/>
              </a:ext>
            </a:extLst>
          </p:cNvPr>
          <p:cNvSpPr/>
          <p:nvPr/>
        </p:nvSpPr>
        <p:spPr>
          <a:xfrm>
            <a:off x="0" y="6513108"/>
            <a:ext cx="7670800" cy="344892"/>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3">
            <a:extLst>
              <a:ext uri="{FF2B5EF4-FFF2-40B4-BE49-F238E27FC236}">
                <a16:creationId xmlns:a16="http://schemas.microsoft.com/office/drawing/2014/main" id="{0100BB5C-2EEA-99A4-6226-266350DA3E82}"/>
              </a:ext>
            </a:extLst>
          </p:cNvPr>
          <p:cNvSpPr/>
          <p:nvPr/>
        </p:nvSpPr>
        <p:spPr>
          <a:xfrm>
            <a:off x="0" y="1056092"/>
            <a:ext cx="262509" cy="5457016"/>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4">
            <a:extLst>
              <a:ext uri="{FF2B5EF4-FFF2-40B4-BE49-F238E27FC236}">
                <a16:creationId xmlns:a16="http://schemas.microsoft.com/office/drawing/2014/main" id="{1A7DFC65-EDC5-1493-E1EC-F1AE04A94272}"/>
              </a:ext>
            </a:extLst>
          </p:cNvPr>
          <p:cNvSpPr/>
          <p:nvPr/>
        </p:nvSpPr>
        <p:spPr>
          <a:xfrm>
            <a:off x="7433691" y="1056092"/>
            <a:ext cx="237109" cy="5457016"/>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ocus">
            <a:extLst>
              <a:ext uri="{FF2B5EF4-FFF2-40B4-BE49-F238E27FC236}">
                <a16:creationId xmlns:a16="http://schemas.microsoft.com/office/drawing/2014/main" id="{188C256F-B074-7EF9-BFE6-3C4AA8527C42}"/>
              </a:ext>
            </a:extLst>
          </p:cNvPr>
          <p:cNvSpPr/>
          <p:nvPr/>
        </p:nvSpPr>
        <p:spPr>
          <a:xfrm>
            <a:off x="287909" y="1081492"/>
            <a:ext cx="7120381" cy="5406216"/>
          </a:xfrm>
          <a:prstGeom prst="rect">
            <a:avLst/>
          </a:prstGeom>
          <a:solidFill>
            <a:srgbClr val="83CBEB">
              <a:alpha val="37000"/>
            </a:srgbClr>
          </a:solidFill>
          <a:ln w="38100">
            <a:solidFill>
              <a:srgbClr val="46B1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ail">
            <a:extLst>
              <a:ext uri="{FF2B5EF4-FFF2-40B4-BE49-F238E27FC236}">
                <a16:creationId xmlns:a16="http://schemas.microsoft.com/office/drawing/2014/main" id="{6DC4C9DB-E167-A1B0-2508-05FB93448C13}"/>
              </a:ext>
            </a:extLst>
          </p:cNvPr>
          <p:cNvSpPr/>
          <p:nvPr/>
        </p:nvSpPr>
        <p:spPr>
          <a:xfrm>
            <a:off x="7670800" y="685800"/>
            <a:ext cx="4521200" cy="61722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N62">
            <a:extLst>
              <a:ext uri="{FF2B5EF4-FFF2-40B4-BE49-F238E27FC236}">
                <a16:creationId xmlns:a16="http://schemas.microsoft.com/office/drawing/2014/main" id="{93B73294-C012-9109-B320-40D1D820F9A4}"/>
              </a:ext>
            </a:extLst>
          </p:cNvPr>
          <p:cNvSpPr/>
          <p:nvPr/>
        </p:nvSpPr>
        <p:spPr>
          <a:xfrm>
            <a:off x="7797800" y="838200"/>
            <a:ext cx="4241800" cy="984504"/>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The roses: R ACC gamma around the R RSC theta cycle, over each trial’s whole window, averaged over trials and then rats. Orange: louder at that phase than its average over the cycle; purple: quieter.</a:t>
            </a:r>
          </a:p>
        </p:txBody>
      </p:sp>
      <p:sp>
        <p:nvSpPr>
          <p:cNvPr id="12" name="!!N63">
            <a:extLst>
              <a:ext uri="{FF2B5EF4-FFF2-40B4-BE49-F238E27FC236}">
                <a16:creationId xmlns:a16="http://schemas.microsoft.com/office/drawing/2014/main" id="{CC84D05F-C9F0-946F-A355-2905F1522EC0}"/>
              </a:ext>
            </a:extLst>
          </p:cNvPr>
          <p:cNvSpPr/>
          <p:nvPr/>
        </p:nvSpPr>
        <p:spPr>
          <a:xfrm>
            <a:off x="7797800" y="1937004"/>
            <a:ext cx="4241800" cy="984504"/>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Precon1 on the left, Precon4 on the right; baseline, then the cue. Rats that prefer different phases cancel, so a rose shows where in the cycle, not how much: b and c are what was tested.</a:t>
            </a:r>
          </a:p>
        </p:txBody>
      </p:sp>
      <p:sp>
        <p:nvSpPr>
          <p:cNvPr id="13" name="!!N64">
            <a:extLst>
              <a:ext uri="{FF2B5EF4-FFF2-40B4-BE49-F238E27FC236}">
                <a16:creationId xmlns:a16="http://schemas.microsoft.com/office/drawing/2014/main" id="{1777804A-FB61-A466-6D61-0DFCD79DB014}"/>
              </a:ext>
            </a:extLst>
          </p:cNvPr>
          <p:cNvSpPr/>
          <p:nvPr/>
        </p:nvSpPr>
        <p:spPr>
          <a:xfrm>
            <a:off x="7797800" y="3035808"/>
            <a:ext cx="4241800" cy="2212848"/>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The comodulogram: the same change in cue effect split into narrow theta bands (across) and gamma bands (up). Orange: the cue raised coupling more on Precon4; purple: less. A map, not the test: c is the result.</a:t>
            </a:r>
          </a:p>
        </p:txBody>
      </p:sp>
      <p:sp>
        <p:nvSpPr>
          <p:cNvPr id="14" name="!!N65">
            <a:extLst>
              <a:ext uri="{FF2B5EF4-FFF2-40B4-BE49-F238E27FC236}">
                <a16:creationId xmlns:a16="http://schemas.microsoft.com/office/drawing/2014/main" id="{1FD49AF5-F71A-4815-382C-10E9192AA5AC}"/>
              </a:ext>
            </a:extLst>
          </p:cNvPr>
          <p:cNvSpPr/>
          <p:nvPr/>
        </p:nvSpPr>
        <p:spPr>
          <a:xfrm>
            <a:off x="12573000" y="838200"/>
            <a:ext cx="4241800" cy="1362456"/>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R DHC and L RSC gamma bursts rising together (amplitude correlation): cue − baseline was higher on Precon4 than on Precon1.</a:t>
            </a:r>
          </a:p>
        </p:txBody>
      </p:sp>
      <p:sp>
        <p:nvSpPr>
          <p:cNvPr id="15" name="!!T-BG">
            <a:extLst>
              <a:ext uri="{FF2B5EF4-FFF2-40B4-BE49-F238E27FC236}">
                <a16:creationId xmlns:a16="http://schemas.microsoft.com/office/drawing/2014/main" id="{FDDB7E2F-2DC7-4B6B-E445-66FA96CCFFD3}"/>
              </a:ext>
            </a:extLst>
          </p:cNvPr>
          <p:cNvSpPr/>
          <p:nvPr/>
        </p:nvSpPr>
        <p:spPr>
          <a:xfrm>
            <a:off x="-381000" y="0"/>
            <a:ext cx="12954000" cy="685800"/>
          </a:xfrm>
          <a:prstGeom prst="snip2DiagRect">
            <a:avLst>
              <a:gd name="adj1" fmla="val 0"/>
              <a:gd name="adj2" fmla="val 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
            <a:extLst>
              <a:ext uri="{FF2B5EF4-FFF2-40B4-BE49-F238E27FC236}">
                <a16:creationId xmlns:a16="http://schemas.microsoft.com/office/drawing/2014/main" id="{E4749F17-E6F7-1EF0-8519-B08BA1BE813E}"/>
              </a:ext>
            </a:extLst>
          </p:cNvPr>
          <p:cNvSpPr txBox="1"/>
          <p:nvPr/>
        </p:nvSpPr>
        <p:spPr>
          <a:xfrm>
            <a:off x="127000" y="0"/>
            <a:ext cx="11811000" cy="685800"/>
          </a:xfrm>
          <a:prstGeom prst="rect">
            <a:avLst/>
          </a:prstGeom>
          <a:noFill/>
        </p:spPr>
        <p:txBody>
          <a:bodyPr vert="horz" wrap="square" lIns="76200" tIns="25400" rIns="76200" bIns="25400" rtlCol="0" anchor="ctr">
            <a:noAutofit/>
          </a:bodyPr>
          <a:lstStyle/>
          <a:p>
            <a:pPr>
              <a:lnSpc>
                <a:spcPct val="95000"/>
              </a:lnSpc>
            </a:pPr>
            <a:r>
              <a:rPr lang="pt-BR" sz="2400" b="1" u="sng">
                <a:solidFill>
                  <a:srgbClr val="FFFFFF"/>
                </a:solidFill>
                <a:latin typeface="Aptos Display" panose="020B0004020202020204" pitchFamily="34" charset="0"/>
              </a:rPr>
              <a:t>2.2 · R ACC – R RSC · Theta paces gamma</a:t>
            </a:r>
            <a:endParaRPr lang="en-US" sz="2400" b="1" u="sng">
              <a:solidFill>
                <a:srgbClr val="FFFFFF"/>
              </a:solidFill>
              <a:latin typeface="Aptos Display" panose="020B0004020202020204" pitchFamily="34" charset="0"/>
            </a:endParaRPr>
          </a:p>
        </p:txBody>
      </p:sp>
    </p:spTree>
    <p:extLst>
      <p:ext uri="{BB962C8B-B14F-4D97-AF65-F5344CB8AC3E}">
        <p14:creationId xmlns:p14="http://schemas.microsoft.com/office/powerpoint/2010/main" val="142086585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tage">
            <a:extLst>
              <a:ext uri="{FF2B5EF4-FFF2-40B4-BE49-F238E27FC236}">
                <a16:creationId xmlns:a16="http://schemas.microsoft.com/office/drawing/2014/main" id="{5CB8130B-D298-B5B8-5644-4E488A5FE29B}"/>
              </a:ext>
            </a:extLst>
          </p:cNvPr>
          <p:cNvSpPr/>
          <p:nvPr/>
        </p:nvSpPr>
        <p:spPr>
          <a:xfrm>
            <a:off x="0" y="685800"/>
            <a:ext cx="7670800" cy="6172200"/>
          </a:xfrm>
          <a:prstGeom prst="rect">
            <a:avLst/>
          </a:prstGeom>
          <a:solidFill>
            <a:srgbClr val="ECEC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F2_3">
            <a:extLst>
              <a:ext uri="{FF2B5EF4-FFF2-40B4-BE49-F238E27FC236}">
                <a16:creationId xmlns:a16="http://schemas.microsoft.com/office/drawing/2014/main" id="{0B438F02-D6A7-75F3-A252-1D1DC9447BA3}"/>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287909" y="2811767"/>
            <a:ext cx="7120382" cy="1945667"/>
          </a:xfrm>
          <a:prstGeom prst="rect">
            <a:avLst/>
          </a:prstGeom>
          <a:ln w="9525">
            <a:solidFill>
              <a:srgbClr val="B0B0B0"/>
            </a:solidFill>
          </a:ln>
        </p:spPr>
      </p:pic>
      <p:sp>
        <p:nvSpPr>
          <p:cNvPr id="5" name="!!D1">
            <a:extLst>
              <a:ext uri="{FF2B5EF4-FFF2-40B4-BE49-F238E27FC236}">
                <a16:creationId xmlns:a16="http://schemas.microsoft.com/office/drawing/2014/main" id="{7DF05416-ABDF-3EED-8D6B-7994D646D4EF}"/>
              </a:ext>
            </a:extLst>
          </p:cNvPr>
          <p:cNvSpPr/>
          <p:nvPr/>
        </p:nvSpPr>
        <p:spPr>
          <a:xfrm>
            <a:off x="0" y="685800"/>
            <a:ext cx="7670800" cy="635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2">
            <a:extLst>
              <a:ext uri="{FF2B5EF4-FFF2-40B4-BE49-F238E27FC236}">
                <a16:creationId xmlns:a16="http://schemas.microsoft.com/office/drawing/2014/main" id="{BF1BCE02-CD07-42EC-73C9-1121EA9B996B}"/>
              </a:ext>
            </a:extLst>
          </p:cNvPr>
          <p:cNvSpPr/>
          <p:nvPr/>
        </p:nvSpPr>
        <p:spPr>
          <a:xfrm>
            <a:off x="0" y="6858000"/>
            <a:ext cx="7670800" cy="635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3">
            <a:extLst>
              <a:ext uri="{FF2B5EF4-FFF2-40B4-BE49-F238E27FC236}">
                <a16:creationId xmlns:a16="http://schemas.microsoft.com/office/drawing/2014/main" id="{B75A0A3B-0665-EB44-0375-A27F5BA1436F}"/>
              </a:ext>
            </a:extLst>
          </p:cNvPr>
          <p:cNvSpPr/>
          <p:nvPr/>
        </p:nvSpPr>
        <p:spPr>
          <a:xfrm>
            <a:off x="0" y="685800"/>
            <a:ext cx="6350" cy="617220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4">
            <a:extLst>
              <a:ext uri="{FF2B5EF4-FFF2-40B4-BE49-F238E27FC236}">
                <a16:creationId xmlns:a16="http://schemas.microsoft.com/office/drawing/2014/main" id="{C2FB74CA-F6C8-54EB-FBD6-9D17B0476B53}"/>
              </a:ext>
            </a:extLst>
          </p:cNvPr>
          <p:cNvSpPr/>
          <p:nvPr/>
        </p:nvSpPr>
        <p:spPr>
          <a:xfrm>
            <a:off x="7670800" y="685800"/>
            <a:ext cx="6350" cy="617220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ocus">
            <a:extLst>
              <a:ext uri="{FF2B5EF4-FFF2-40B4-BE49-F238E27FC236}">
                <a16:creationId xmlns:a16="http://schemas.microsoft.com/office/drawing/2014/main" id="{77524071-00CB-3743-BC52-5F0D35D7FD4F}"/>
              </a:ext>
            </a:extLst>
          </p:cNvPr>
          <p:cNvSpPr/>
          <p:nvPr/>
        </p:nvSpPr>
        <p:spPr>
          <a:xfrm>
            <a:off x="4685497" y="2889600"/>
            <a:ext cx="1424351" cy="1517752"/>
          </a:xfrm>
          <a:prstGeom prst="rect">
            <a:avLst/>
          </a:prstGeom>
          <a:solidFill>
            <a:srgbClr val="83CBEB">
              <a:alpha val="37000"/>
            </a:srgbClr>
          </a:solidFill>
          <a:ln w="38100">
            <a:solidFill>
              <a:srgbClr val="46B1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ail">
            <a:extLst>
              <a:ext uri="{FF2B5EF4-FFF2-40B4-BE49-F238E27FC236}">
                <a16:creationId xmlns:a16="http://schemas.microsoft.com/office/drawing/2014/main" id="{29F2B295-F164-35A4-DD56-B558E37CB25B}"/>
              </a:ext>
            </a:extLst>
          </p:cNvPr>
          <p:cNvSpPr/>
          <p:nvPr/>
        </p:nvSpPr>
        <p:spPr>
          <a:xfrm>
            <a:off x="7670800" y="685800"/>
            <a:ext cx="4521200" cy="61722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N65">
            <a:extLst>
              <a:ext uri="{FF2B5EF4-FFF2-40B4-BE49-F238E27FC236}">
                <a16:creationId xmlns:a16="http://schemas.microsoft.com/office/drawing/2014/main" id="{C9A53E3A-DA34-565B-C607-9FD6358734C3}"/>
              </a:ext>
            </a:extLst>
          </p:cNvPr>
          <p:cNvSpPr/>
          <p:nvPr/>
        </p:nvSpPr>
        <p:spPr>
          <a:xfrm>
            <a:off x="7797800" y="838200"/>
            <a:ext cx="4241800" cy="1362456"/>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R DHC and L RSC gamma bursts rising together (amplitude correlation): cue − baseline was higher on Precon4 than on Precon1.</a:t>
            </a:r>
          </a:p>
        </p:txBody>
      </p:sp>
      <p:sp>
        <p:nvSpPr>
          <p:cNvPr id="12" name="!!N66">
            <a:extLst>
              <a:ext uri="{FF2B5EF4-FFF2-40B4-BE49-F238E27FC236}">
                <a16:creationId xmlns:a16="http://schemas.microsoft.com/office/drawing/2014/main" id="{FF3E95B9-210D-C066-FED0-89D0E6680C30}"/>
              </a:ext>
            </a:extLst>
          </p:cNvPr>
          <p:cNvSpPr/>
          <p:nvPr/>
        </p:nvSpPr>
        <p:spPr>
          <a:xfrm>
            <a:off x="12573000" y="1748028"/>
            <a:ext cx="4241800" cy="107899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FP P = 0.047. Shuffles P = 0.014. t-test P = 0.044 (7 rats). All three tests agree: the strongest lead.</a:t>
            </a:r>
          </a:p>
        </p:txBody>
      </p:sp>
      <p:sp>
        <p:nvSpPr>
          <p:cNvPr id="13" name="!!N62">
            <a:extLst>
              <a:ext uri="{FF2B5EF4-FFF2-40B4-BE49-F238E27FC236}">
                <a16:creationId xmlns:a16="http://schemas.microsoft.com/office/drawing/2014/main" id="{F1178A31-E762-A2D2-DB26-425BABF185C2}"/>
              </a:ext>
            </a:extLst>
          </p:cNvPr>
          <p:cNvSpPr/>
          <p:nvPr/>
        </p:nvSpPr>
        <p:spPr>
          <a:xfrm>
            <a:off x="12573000" y="838200"/>
            <a:ext cx="4241800" cy="984504"/>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The roses: R ACC gamma around the R RSC theta cycle, over each trial’s whole window, averaged over trials and then rats. Orange: louder at that phase than its average over the cycle; purple: quieter.</a:t>
            </a:r>
          </a:p>
        </p:txBody>
      </p:sp>
      <p:sp>
        <p:nvSpPr>
          <p:cNvPr id="14" name="!!N63">
            <a:extLst>
              <a:ext uri="{FF2B5EF4-FFF2-40B4-BE49-F238E27FC236}">
                <a16:creationId xmlns:a16="http://schemas.microsoft.com/office/drawing/2014/main" id="{426482A9-EB38-DFA3-2E37-A8D7105F9E16}"/>
              </a:ext>
            </a:extLst>
          </p:cNvPr>
          <p:cNvSpPr/>
          <p:nvPr/>
        </p:nvSpPr>
        <p:spPr>
          <a:xfrm>
            <a:off x="12573000" y="1937004"/>
            <a:ext cx="4241800" cy="984504"/>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Precon1 on the left, Precon4 on the right; baseline, then the cue. Rats that prefer different phases cancel, so a rose shows where in the cycle, not how much: b and c are what was tested.</a:t>
            </a:r>
          </a:p>
        </p:txBody>
      </p:sp>
      <p:sp>
        <p:nvSpPr>
          <p:cNvPr id="15" name="!!N64">
            <a:extLst>
              <a:ext uri="{FF2B5EF4-FFF2-40B4-BE49-F238E27FC236}">
                <a16:creationId xmlns:a16="http://schemas.microsoft.com/office/drawing/2014/main" id="{8153972F-9285-0DE6-F0D7-13AE098DBEE6}"/>
              </a:ext>
            </a:extLst>
          </p:cNvPr>
          <p:cNvSpPr/>
          <p:nvPr/>
        </p:nvSpPr>
        <p:spPr>
          <a:xfrm>
            <a:off x="12573000" y="3035808"/>
            <a:ext cx="4241800" cy="2212848"/>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The comodulogram: the same change in cue effect split into narrow theta bands (across) and gamma bands (up). Orange: the cue raised coupling more on Precon4; purple: less. A map, not the test: c is the result.</a:t>
            </a:r>
          </a:p>
        </p:txBody>
      </p:sp>
      <p:sp>
        <p:nvSpPr>
          <p:cNvPr id="16" name="!!T-BG">
            <a:extLst>
              <a:ext uri="{FF2B5EF4-FFF2-40B4-BE49-F238E27FC236}">
                <a16:creationId xmlns:a16="http://schemas.microsoft.com/office/drawing/2014/main" id="{89B31AC5-B565-5390-E332-79FF4B1798FE}"/>
              </a:ext>
            </a:extLst>
          </p:cNvPr>
          <p:cNvSpPr/>
          <p:nvPr/>
        </p:nvSpPr>
        <p:spPr>
          <a:xfrm>
            <a:off x="-381000" y="0"/>
            <a:ext cx="12954000" cy="685800"/>
          </a:xfrm>
          <a:prstGeom prst="snip2DiagRect">
            <a:avLst>
              <a:gd name="adj1" fmla="val 0"/>
              <a:gd name="adj2" fmla="val 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
            <a:extLst>
              <a:ext uri="{FF2B5EF4-FFF2-40B4-BE49-F238E27FC236}">
                <a16:creationId xmlns:a16="http://schemas.microsoft.com/office/drawing/2014/main" id="{84CB25C1-2019-D077-40DD-59C57DB24BEB}"/>
              </a:ext>
            </a:extLst>
          </p:cNvPr>
          <p:cNvSpPr txBox="1"/>
          <p:nvPr/>
        </p:nvSpPr>
        <p:spPr>
          <a:xfrm>
            <a:off x="127000" y="0"/>
            <a:ext cx="11811000" cy="685800"/>
          </a:xfrm>
          <a:prstGeom prst="rect">
            <a:avLst/>
          </a:prstGeom>
          <a:noFill/>
        </p:spPr>
        <p:txBody>
          <a:bodyPr vert="horz" wrap="square" lIns="76200" tIns="25400" rIns="76200" bIns="25400" rtlCol="0" anchor="ctr">
            <a:noAutofit/>
          </a:bodyPr>
          <a:lstStyle/>
          <a:p>
            <a:pPr>
              <a:lnSpc>
                <a:spcPct val="95000"/>
              </a:lnSpc>
            </a:pPr>
            <a:r>
              <a:rPr lang="en-US" sz="2400" b="1" u="sng">
                <a:solidFill>
                  <a:srgbClr val="FFFFFF"/>
                </a:solidFill>
                <a:latin typeface="Aptos Display" panose="020B0004020202020204" pitchFamily="34" charset="0"/>
              </a:rPr>
              <a:t>2.3 · R DHC – L RSC · Bursts rise together</a:t>
            </a:r>
          </a:p>
        </p:txBody>
      </p:sp>
    </p:spTree>
    <p:extLst>
      <p:ext uri="{BB962C8B-B14F-4D97-AF65-F5344CB8AC3E}">
        <p14:creationId xmlns:p14="http://schemas.microsoft.com/office/powerpoint/2010/main" val="130931141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tage">
            <a:extLst>
              <a:ext uri="{FF2B5EF4-FFF2-40B4-BE49-F238E27FC236}">
                <a16:creationId xmlns:a16="http://schemas.microsoft.com/office/drawing/2014/main" id="{24570648-39AC-D611-DA89-F82DBCE80794}"/>
              </a:ext>
            </a:extLst>
          </p:cNvPr>
          <p:cNvSpPr/>
          <p:nvPr/>
        </p:nvSpPr>
        <p:spPr>
          <a:xfrm>
            <a:off x="0" y="685800"/>
            <a:ext cx="7670800" cy="6172200"/>
          </a:xfrm>
          <a:prstGeom prst="rect">
            <a:avLst/>
          </a:prstGeom>
          <a:solidFill>
            <a:srgbClr val="ECEC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F2_3">
            <a:extLst>
              <a:ext uri="{FF2B5EF4-FFF2-40B4-BE49-F238E27FC236}">
                <a16:creationId xmlns:a16="http://schemas.microsoft.com/office/drawing/2014/main" id="{E9A05CBC-A6C7-C034-D0D3-429DFEDCDFA2}"/>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0689347" y="1658375"/>
            <a:ext cx="18094144" cy="4944281"/>
          </a:xfrm>
          <a:prstGeom prst="rect">
            <a:avLst/>
          </a:prstGeom>
          <a:ln w="9525">
            <a:solidFill>
              <a:srgbClr val="B0B0B0"/>
            </a:solidFill>
          </a:ln>
        </p:spPr>
      </p:pic>
      <p:sp>
        <p:nvSpPr>
          <p:cNvPr id="5" name="!!D1">
            <a:extLst>
              <a:ext uri="{FF2B5EF4-FFF2-40B4-BE49-F238E27FC236}">
                <a16:creationId xmlns:a16="http://schemas.microsoft.com/office/drawing/2014/main" id="{A43551D0-0556-53E6-7596-C488C319B036}"/>
              </a:ext>
            </a:extLst>
          </p:cNvPr>
          <p:cNvSpPr/>
          <p:nvPr/>
        </p:nvSpPr>
        <p:spPr>
          <a:xfrm>
            <a:off x="0" y="685800"/>
            <a:ext cx="7670800" cy="1046069"/>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2">
            <a:extLst>
              <a:ext uri="{FF2B5EF4-FFF2-40B4-BE49-F238E27FC236}">
                <a16:creationId xmlns:a16="http://schemas.microsoft.com/office/drawing/2014/main" id="{9DDF5848-56A9-327E-E711-726FCEA8F259}"/>
              </a:ext>
            </a:extLst>
          </p:cNvPr>
          <p:cNvSpPr/>
          <p:nvPr/>
        </p:nvSpPr>
        <p:spPr>
          <a:xfrm>
            <a:off x="0" y="5837331"/>
            <a:ext cx="7670800" cy="1020669"/>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3">
            <a:extLst>
              <a:ext uri="{FF2B5EF4-FFF2-40B4-BE49-F238E27FC236}">
                <a16:creationId xmlns:a16="http://schemas.microsoft.com/office/drawing/2014/main" id="{C063637A-7EC4-D5DB-30DC-C1CA68EC5D8A}"/>
              </a:ext>
            </a:extLst>
          </p:cNvPr>
          <p:cNvSpPr/>
          <p:nvPr/>
        </p:nvSpPr>
        <p:spPr>
          <a:xfrm>
            <a:off x="0" y="1731869"/>
            <a:ext cx="262509" cy="4105462"/>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4">
            <a:extLst>
              <a:ext uri="{FF2B5EF4-FFF2-40B4-BE49-F238E27FC236}">
                <a16:creationId xmlns:a16="http://schemas.microsoft.com/office/drawing/2014/main" id="{330653F1-4DDF-6205-9F48-3E751EB3B18D}"/>
              </a:ext>
            </a:extLst>
          </p:cNvPr>
          <p:cNvSpPr/>
          <p:nvPr/>
        </p:nvSpPr>
        <p:spPr>
          <a:xfrm>
            <a:off x="7433691" y="1731869"/>
            <a:ext cx="237109" cy="4105462"/>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ocus">
            <a:extLst>
              <a:ext uri="{FF2B5EF4-FFF2-40B4-BE49-F238E27FC236}">
                <a16:creationId xmlns:a16="http://schemas.microsoft.com/office/drawing/2014/main" id="{6F30E8B0-67D7-5C24-9C10-66AAA22AE5C0}"/>
              </a:ext>
            </a:extLst>
          </p:cNvPr>
          <p:cNvSpPr/>
          <p:nvPr/>
        </p:nvSpPr>
        <p:spPr>
          <a:xfrm>
            <a:off x="485697" y="1856163"/>
            <a:ext cx="3619528" cy="3856874"/>
          </a:xfrm>
          <a:prstGeom prst="rect">
            <a:avLst/>
          </a:prstGeom>
          <a:solidFill>
            <a:srgbClr val="83CBEB">
              <a:alpha val="37000"/>
            </a:srgbClr>
          </a:solidFill>
          <a:ln w="38100">
            <a:solidFill>
              <a:srgbClr val="46B1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ocus2">
            <a:extLst>
              <a:ext uri="{FF2B5EF4-FFF2-40B4-BE49-F238E27FC236}">
                <a16:creationId xmlns:a16="http://schemas.microsoft.com/office/drawing/2014/main" id="{4687A21A-B260-6BD5-0E82-E91CF4C7306F}"/>
              </a:ext>
            </a:extLst>
          </p:cNvPr>
          <p:cNvSpPr/>
          <p:nvPr/>
        </p:nvSpPr>
        <p:spPr>
          <a:xfrm>
            <a:off x="4184340" y="1856163"/>
            <a:ext cx="3223951" cy="3856874"/>
          </a:xfrm>
          <a:prstGeom prst="rect">
            <a:avLst/>
          </a:prstGeom>
          <a:solidFill>
            <a:srgbClr val="83CBEB">
              <a:alpha val="37000"/>
            </a:srgbClr>
          </a:solidFill>
          <a:ln w="38100">
            <a:solidFill>
              <a:srgbClr val="46B1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ail">
            <a:extLst>
              <a:ext uri="{FF2B5EF4-FFF2-40B4-BE49-F238E27FC236}">
                <a16:creationId xmlns:a16="http://schemas.microsoft.com/office/drawing/2014/main" id="{7C490B9B-A651-636F-E78C-C7A04C4B7596}"/>
              </a:ext>
            </a:extLst>
          </p:cNvPr>
          <p:cNvSpPr/>
          <p:nvPr/>
        </p:nvSpPr>
        <p:spPr>
          <a:xfrm>
            <a:off x="7670800" y="685800"/>
            <a:ext cx="4521200" cy="61722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N65">
            <a:extLst>
              <a:ext uri="{FF2B5EF4-FFF2-40B4-BE49-F238E27FC236}">
                <a16:creationId xmlns:a16="http://schemas.microsoft.com/office/drawing/2014/main" id="{0CA9201F-1E6E-DD69-7945-54F42EF6F0D7}"/>
              </a:ext>
            </a:extLst>
          </p:cNvPr>
          <p:cNvSpPr/>
          <p:nvPr/>
        </p:nvSpPr>
        <p:spPr>
          <a:xfrm>
            <a:off x="7797800" y="838200"/>
            <a:ext cx="4241800" cy="795528"/>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R DHC and L RSC gamma bursts rising together (amplitude correlation): cue − baseline was higher on Precon4 than on Precon1.</a:t>
            </a:r>
          </a:p>
        </p:txBody>
      </p:sp>
      <p:sp>
        <p:nvSpPr>
          <p:cNvPr id="13" name="!!N66">
            <a:extLst>
              <a:ext uri="{FF2B5EF4-FFF2-40B4-BE49-F238E27FC236}">
                <a16:creationId xmlns:a16="http://schemas.microsoft.com/office/drawing/2014/main" id="{00790FB4-0E0B-D76A-E82B-7B0C78820E27}"/>
              </a:ext>
            </a:extLst>
          </p:cNvPr>
          <p:cNvSpPr/>
          <p:nvPr/>
        </p:nvSpPr>
        <p:spPr>
          <a:xfrm>
            <a:off x="7797800" y="1748028"/>
            <a:ext cx="4241800" cy="107899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FP P = 0.047. Shuffles P = 0.014. t-test P = 0.044 (7 rats). All three tests agree: the strongest lead.</a:t>
            </a:r>
          </a:p>
        </p:txBody>
      </p:sp>
      <p:sp>
        <p:nvSpPr>
          <p:cNvPr id="14" name="!!N67">
            <a:extLst>
              <a:ext uri="{FF2B5EF4-FFF2-40B4-BE49-F238E27FC236}">
                <a16:creationId xmlns:a16="http://schemas.microsoft.com/office/drawing/2014/main" id="{52451030-F4F7-20E6-D070-92C8F6AA538D}"/>
              </a:ext>
            </a:extLst>
          </p:cNvPr>
          <p:cNvSpPr/>
          <p:nvPr/>
        </p:nvSpPr>
        <p:spPr>
          <a:xfrm>
            <a:off x="12573000" y="838200"/>
            <a:ext cx="4241800" cy="1362456"/>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R RSC predicting L POR-SUB (Granger R RSC → L POR-SUB): cue − baseline was higher on Precon4 than on Precon1.</a:t>
            </a:r>
          </a:p>
        </p:txBody>
      </p:sp>
      <p:sp>
        <p:nvSpPr>
          <p:cNvPr id="15" name="!!T-BG">
            <a:extLst>
              <a:ext uri="{FF2B5EF4-FFF2-40B4-BE49-F238E27FC236}">
                <a16:creationId xmlns:a16="http://schemas.microsoft.com/office/drawing/2014/main" id="{24EC3DB4-885F-F975-263C-5D0C5BE5D75E}"/>
              </a:ext>
            </a:extLst>
          </p:cNvPr>
          <p:cNvSpPr/>
          <p:nvPr/>
        </p:nvSpPr>
        <p:spPr>
          <a:xfrm>
            <a:off x="-381000" y="0"/>
            <a:ext cx="12954000" cy="685800"/>
          </a:xfrm>
          <a:prstGeom prst="snip2DiagRect">
            <a:avLst>
              <a:gd name="adj1" fmla="val 0"/>
              <a:gd name="adj2" fmla="val 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
            <a:extLst>
              <a:ext uri="{FF2B5EF4-FFF2-40B4-BE49-F238E27FC236}">
                <a16:creationId xmlns:a16="http://schemas.microsoft.com/office/drawing/2014/main" id="{25C6760C-E198-D651-9AEE-8827FE0C33E9}"/>
              </a:ext>
            </a:extLst>
          </p:cNvPr>
          <p:cNvSpPr txBox="1"/>
          <p:nvPr/>
        </p:nvSpPr>
        <p:spPr>
          <a:xfrm>
            <a:off x="127000" y="0"/>
            <a:ext cx="11811000" cy="685800"/>
          </a:xfrm>
          <a:prstGeom prst="rect">
            <a:avLst/>
          </a:prstGeom>
          <a:noFill/>
        </p:spPr>
        <p:txBody>
          <a:bodyPr vert="horz" wrap="square" lIns="76200" tIns="25400" rIns="76200" bIns="25400" rtlCol="0" anchor="ctr">
            <a:noAutofit/>
          </a:bodyPr>
          <a:lstStyle/>
          <a:p>
            <a:pPr>
              <a:lnSpc>
                <a:spcPct val="95000"/>
              </a:lnSpc>
            </a:pPr>
            <a:r>
              <a:rPr lang="en-US" sz="2400" b="1" u="sng">
                <a:solidFill>
                  <a:srgbClr val="FFFFFF"/>
                </a:solidFill>
                <a:latin typeface="Aptos Display" panose="020B0004020202020204" pitchFamily="34" charset="0"/>
              </a:rPr>
              <a:t>2.3 · R DHC – L RSC · Bursts rise together</a:t>
            </a:r>
          </a:p>
        </p:txBody>
      </p:sp>
    </p:spTree>
    <p:extLst>
      <p:ext uri="{BB962C8B-B14F-4D97-AF65-F5344CB8AC3E}">
        <p14:creationId xmlns:p14="http://schemas.microsoft.com/office/powerpoint/2010/main" val="64387034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tage">
            <a:extLst>
              <a:ext uri="{FF2B5EF4-FFF2-40B4-BE49-F238E27FC236}">
                <a16:creationId xmlns:a16="http://schemas.microsoft.com/office/drawing/2014/main" id="{62027AED-6EFB-7CC3-5A26-F2413D73ED0A}"/>
              </a:ext>
            </a:extLst>
          </p:cNvPr>
          <p:cNvSpPr/>
          <p:nvPr/>
        </p:nvSpPr>
        <p:spPr>
          <a:xfrm>
            <a:off x="0" y="685800"/>
            <a:ext cx="7670800" cy="6172200"/>
          </a:xfrm>
          <a:prstGeom prst="rect">
            <a:avLst/>
          </a:prstGeom>
          <a:solidFill>
            <a:srgbClr val="ECEC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F2_4">
            <a:extLst>
              <a:ext uri="{FF2B5EF4-FFF2-40B4-BE49-F238E27FC236}">
                <a16:creationId xmlns:a16="http://schemas.microsoft.com/office/drawing/2014/main" id="{D4A3529B-6C5B-134D-29FF-A0F89574DC57}"/>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287909" y="2811767"/>
            <a:ext cx="7120382" cy="1945667"/>
          </a:xfrm>
          <a:prstGeom prst="rect">
            <a:avLst/>
          </a:prstGeom>
          <a:ln w="9525">
            <a:solidFill>
              <a:srgbClr val="B0B0B0"/>
            </a:solidFill>
          </a:ln>
        </p:spPr>
      </p:pic>
      <p:sp>
        <p:nvSpPr>
          <p:cNvPr id="5" name="!!D1">
            <a:extLst>
              <a:ext uri="{FF2B5EF4-FFF2-40B4-BE49-F238E27FC236}">
                <a16:creationId xmlns:a16="http://schemas.microsoft.com/office/drawing/2014/main" id="{15DDBD7D-E267-D526-7443-26CED1FB5CF3}"/>
              </a:ext>
            </a:extLst>
          </p:cNvPr>
          <p:cNvSpPr/>
          <p:nvPr/>
        </p:nvSpPr>
        <p:spPr>
          <a:xfrm>
            <a:off x="0" y="685800"/>
            <a:ext cx="7670800" cy="635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2">
            <a:extLst>
              <a:ext uri="{FF2B5EF4-FFF2-40B4-BE49-F238E27FC236}">
                <a16:creationId xmlns:a16="http://schemas.microsoft.com/office/drawing/2014/main" id="{D78709FD-6276-D27D-5257-CBFE366AA348}"/>
              </a:ext>
            </a:extLst>
          </p:cNvPr>
          <p:cNvSpPr/>
          <p:nvPr/>
        </p:nvSpPr>
        <p:spPr>
          <a:xfrm>
            <a:off x="0" y="6858000"/>
            <a:ext cx="7670800" cy="635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3">
            <a:extLst>
              <a:ext uri="{FF2B5EF4-FFF2-40B4-BE49-F238E27FC236}">
                <a16:creationId xmlns:a16="http://schemas.microsoft.com/office/drawing/2014/main" id="{7F4A37C1-D9DF-19C4-0E41-BA14D12E951D}"/>
              </a:ext>
            </a:extLst>
          </p:cNvPr>
          <p:cNvSpPr/>
          <p:nvPr/>
        </p:nvSpPr>
        <p:spPr>
          <a:xfrm>
            <a:off x="0" y="685800"/>
            <a:ext cx="6350" cy="617220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4">
            <a:extLst>
              <a:ext uri="{FF2B5EF4-FFF2-40B4-BE49-F238E27FC236}">
                <a16:creationId xmlns:a16="http://schemas.microsoft.com/office/drawing/2014/main" id="{54C7E6E0-E992-B528-E880-535194B0A4D9}"/>
              </a:ext>
            </a:extLst>
          </p:cNvPr>
          <p:cNvSpPr/>
          <p:nvPr/>
        </p:nvSpPr>
        <p:spPr>
          <a:xfrm>
            <a:off x="7670800" y="685800"/>
            <a:ext cx="6350" cy="617220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ocus">
            <a:extLst>
              <a:ext uri="{FF2B5EF4-FFF2-40B4-BE49-F238E27FC236}">
                <a16:creationId xmlns:a16="http://schemas.microsoft.com/office/drawing/2014/main" id="{2E68C9A4-B326-F350-F9BC-58981F663713}"/>
              </a:ext>
            </a:extLst>
          </p:cNvPr>
          <p:cNvSpPr/>
          <p:nvPr/>
        </p:nvSpPr>
        <p:spPr>
          <a:xfrm>
            <a:off x="4685497" y="2889600"/>
            <a:ext cx="1424351" cy="1517752"/>
          </a:xfrm>
          <a:prstGeom prst="rect">
            <a:avLst/>
          </a:prstGeom>
          <a:solidFill>
            <a:srgbClr val="83CBEB">
              <a:alpha val="37000"/>
            </a:srgbClr>
          </a:solidFill>
          <a:ln w="38100">
            <a:solidFill>
              <a:srgbClr val="46B1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ail">
            <a:extLst>
              <a:ext uri="{FF2B5EF4-FFF2-40B4-BE49-F238E27FC236}">
                <a16:creationId xmlns:a16="http://schemas.microsoft.com/office/drawing/2014/main" id="{32698460-BEFD-FD28-ED76-93C91487BD49}"/>
              </a:ext>
            </a:extLst>
          </p:cNvPr>
          <p:cNvSpPr/>
          <p:nvPr/>
        </p:nvSpPr>
        <p:spPr>
          <a:xfrm>
            <a:off x="7670800" y="685800"/>
            <a:ext cx="4521200" cy="61722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N67">
            <a:extLst>
              <a:ext uri="{FF2B5EF4-FFF2-40B4-BE49-F238E27FC236}">
                <a16:creationId xmlns:a16="http://schemas.microsoft.com/office/drawing/2014/main" id="{FC34BDDC-EB38-3CD8-72CB-545092C82E38}"/>
              </a:ext>
            </a:extLst>
          </p:cNvPr>
          <p:cNvSpPr/>
          <p:nvPr/>
        </p:nvSpPr>
        <p:spPr>
          <a:xfrm>
            <a:off x="7797800" y="838200"/>
            <a:ext cx="4241800" cy="1362456"/>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R RSC predicting L POR-SUB (Granger R RSC → L POR-SUB): cue − baseline was higher on Precon4 than on Precon1.</a:t>
            </a:r>
          </a:p>
        </p:txBody>
      </p:sp>
      <p:sp>
        <p:nvSpPr>
          <p:cNvPr id="12" name="!!N68">
            <a:extLst>
              <a:ext uri="{FF2B5EF4-FFF2-40B4-BE49-F238E27FC236}">
                <a16:creationId xmlns:a16="http://schemas.microsoft.com/office/drawing/2014/main" id="{0CF58661-7674-0234-A7B1-DA7D0EC3A05C}"/>
              </a:ext>
            </a:extLst>
          </p:cNvPr>
          <p:cNvSpPr/>
          <p:nvPr/>
        </p:nvSpPr>
        <p:spPr>
          <a:xfrm>
            <a:off x="12573000" y="1748028"/>
            <a:ext cx="4241800" cy="107899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FP P = 0.096. Shuffles P = 0.028. t-test P = 0.042 (4 rats). Two of the three agree: a middling lead.</a:t>
            </a:r>
          </a:p>
        </p:txBody>
      </p:sp>
      <p:sp>
        <p:nvSpPr>
          <p:cNvPr id="13" name="!!N65">
            <a:extLst>
              <a:ext uri="{FF2B5EF4-FFF2-40B4-BE49-F238E27FC236}">
                <a16:creationId xmlns:a16="http://schemas.microsoft.com/office/drawing/2014/main" id="{8D2430D2-2592-A95F-73C7-0E1CAFB27B47}"/>
              </a:ext>
            </a:extLst>
          </p:cNvPr>
          <p:cNvSpPr/>
          <p:nvPr/>
        </p:nvSpPr>
        <p:spPr>
          <a:xfrm>
            <a:off x="12573000" y="838200"/>
            <a:ext cx="4241800" cy="795528"/>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R DHC and L RSC gamma bursts rising together (amplitude correlation): cue − baseline was higher on Precon4 than on Precon1.</a:t>
            </a:r>
          </a:p>
        </p:txBody>
      </p:sp>
      <p:sp>
        <p:nvSpPr>
          <p:cNvPr id="14" name="!!N66">
            <a:extLst>
              <a:ext uri="{FF2B5EF4-FFF2-40B4-BE49-F238E27FC236}">
                <a16:creationId xmlns:a16="http://schemas.microsoft.com/office/drawing/2014/main" id="{3212A967-2406-E3A8-B883-2F0D4AAD1E09}"/>
              </a:ext>
            </a:extLst>
          </p:cNvPr>
          <p:cNvSpPr/>
          <p:nvPr/>
        </p:nvSpPr>
        <p:spPr>
          <a:xfrm>
            <a:off x="12573000" y="1748028"/>
            <a:ext cx="4241800" cy="107899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FP P = 0.047. Shuffles P = 0.014. t-test P = 0.044 (7 rats). All three tests agree: the strongest lead.</a:t>
            </a:r>
          </a:p>
        </p:txBody>
      </p:sp>
      <p:sp>
        <p:nvSpPr>
          <p:cNvPr id="15" name="!!T-BG">
            <a:extLst>
              <a:ext uri="{FF2B5EF4-FFF2-40B4-BE49-F238E27FC236}">
                <a16:creationId xmlns:a16="http://schemas.microsoft.com/office/drawing/2014/main" id="{FAA8F08E-5598-16DB-F9C4-BD7E8252CAAB}"/>
              </a:ext>
            </a:extLst>
          </p:cNvPr>
          <p:cNvSpPr/>
          <p:nvPr/>
        </p:nvSpPr>
        <p:spPr>
          <a:xfrm>
            <a:off x="-381000" y="0"/>
            <a:ext cx="12954000" cy="685800"/>
          </a:xfrm>
          <a:prstGeom prst="snip2DiagRect">
            <a:avLst>
              <a:gd name="adj1" fmla="val 0"/>
              <a:gd name="adj2" fmla="val 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
            <a:extLst>
              <a:ext uri="{FF2B5EF4-FFF2-40B4-BE49-F238E27FC236}">
                <a16:creationId xmlns:a16="http://schemas.microsoft.com/office/drawing/2014/main" id="{F69F5F35-B75E-2096-9F70-C9A1E3C58A41}"/>
              </a:ext>
            </a:extLst>
          </p:cNvPr>
          <p:cNvSpPr txBox="1"/>
          <p:nvPr/>
        </p:nvSpPr>
        <p:spPr>
          <a:xfrm>
            <a:off x="127000" y="0"/>
            <a:ext cx="11811000" cy="685800"/>
          </a:xfrm>
          <a:prstGeom prst="rect">
            <a:avLst/>
          </a:prstGeom>
          <a:noFill/>
        </p:spPr>
        <p:txBody>
          <a:bodyPr vert="horz" wrap="square" lIns="76200" tIns="25400" rIns="76200" bIns="25400" rtlCol="0" anchor="ctr">
            <a:noAutofit/>
          </a:bodyPr>
          <a:lstStyle/>
          <a:p>
            <a:pPr>
              <a:lnSpc>
                <a:spcPct val="95000"/>
              </a:lnSpc>
            </a:pPr>
            <a:r>
              <a:rPr lang="en-US" sz="2400" b="1" u="sng">
                <a:solidFill>
                  <a:srgbClr val="FFFFFF"/>
                </a:solidFill>
                <a:latin typeface="Aptos Display" panose="020B0004020202020204" pitchFamily="34" charset="0"/>
              </a:rPr>
              <a:t>2.4 · R RSC – L POR-SUB · Which leads</a:t>
            </a:r>
          </a:p>
        </p:txBody>
      </p:sp>
    </p:spTree>
    <p:extLst>
      <p:ext uri="{BB962C8B-B14F-4D97-AF65-F5344CB8AC3E}">
        <p14:creationId xmlns:p14="http://schemas.microsoft.com/office/powerpoint/2010/main" val="8651472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tage">
            <a:extLst>
              <a:ext uri="{FF2B5EF4-FFF2-40B4-BE49-F238E27FC236}">
                <a16:creationId xmlns:a16="http://schemas.microsoft.com/office/drawing/2014/main" id="{F101D579-EE61-F638-2F05-A941C93DE690}"/>
              </a:ext>
            </a:extLst>
          </p:cNvPr>
          <p:cNvSpPr/>
          <p:nvPr/>
        </p:nvSpPr>
        <p:spPr>
          <a:xfrm>
            <a:off x="0" y="685800"/>
            <a:ext cx="7670800" cy="6172200"/>
          </a:xfrm>
          <a:prstGeom prst="rect">
            <a:avLst/>
          </a:prstGeom>
          <a:solidFill>
            <a:srgbClr val="ECEC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F2_4">
            <a:extLst>
              <a:ext uri="{FF2B5EF4-FFF2-40B4-BE49-F238E27FC236}">
                <a16:creationId xmlns:a16="http://schemas.microsoft.com/office/drawing/2014/main" id="{D816D075-4899-AF55-4C79-D44348C05B36}"/>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0689347" y="1658375"/>
            <a:ext cx="18094144" cy="4944281"/>
          </a:xfrm>
          <a:prstGeom prst="rect">
            <a:avLst/>
          </a:prstGeom>
          <a:ln w="9525">
            <a:solidFill>
              <a:srgbClr val="B0B0B0"/>
            </a:solidFill>
          </a:ln>
        </p:spPr>
      </p:pic>
      <p:sp>
        <p:nvSpPr>
          <p:cNvPr id="5" name="!!D1">
            <a:extLst>
              <a:ext uri="{FF2B5EF4-FFF2-40B4-BE49-F238E27FC236}">
                <a16:creationId xmlns:a16="http://schemas.microsoft.com/office/drawing/2014/main" id="{9E8584AC-7C71-9CFF-3433-3A0597BA3451}"/>
              </a:ext>
            </a:extLst>
          </p:cNvPr>
          <p:cNvSpPr/>
          <p:nvPr/>
        </p:nvSpPr>
        <p:spPr>
          <a:xfrm>
            <a:off x="0" y="685800"/>
            <a:ext cx="7670800" cy="1046069"/>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2">
            <a:extLst>
              <a:ext uri="{FF2B5EF4-FFF2-40B4-BE49-F238E27FC236}">
                <a16:creationId xmlns:a16="http://schemas.microsoft.com/office/drawing/2014/main" id="{25D4EAC9-C393-4F3E-BBD8-FB91F03DDC4E}"/>
              </a:ext>
            </a:extLst>
          </p:cNvPr>
          <p:cNvSpPr/>
          <p:nvPr/>
        </p:nvSpPr>
        <p:spPr>
          <a:xfrm>
            <a:off x="0" y="5837331"/>
            <a:ext cx="7670800" cy="1020669"/>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3">
            <a:extLst>
              <a:ext uri="{FF2B5EF4-FFF2-40B4-BE49-F238E27FC236}">
                <a16:creationId xmlns:a16="http://schemas.microsoft.com/office/drawing/2014/main" id="{B7FD4460-F62A-F29A-6491-D34D8BDD0BD8}"/>
              </a:ext>
            </a:extLst>
          </p:cNvPr>
          <p:cNvSpPr/>
          <p:nvPr/>
        </p:nvSpPr>
        <p:spPr>
          <a:xfrm>
            <a:off x="0" y="1731869"/>
            <a:ext cx="262509" cy="4105462"/>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4">
            <a:extLst>
              <a:ext uri="{FF2B5EF4-FFF2-40B4-BE49-F238E27FC236}">
                <a16:creationId xmlns:a16="http://schemas.microsoft.com/office/drawing/2014/main" id="{799123E9-5E22-45A5-5262-C617F39FA7BB}"/>
              </a:ext>
            </a:extLst>
          </p:cNvPr>
          <p:cNvSpPr/>
          <p:nvPr/>
        </p:nvSpPr>
        <p:spPr>
          <a:xfrm>
            <a:off x="7433691" y="1731869"/>
            <a:ext cx="237109" cy="4105462"/>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ocus">
            <a:extLst>
              <a:ext uri="{FF2B5EF4-FFF2-40B4-BE49-F238E27FC236}">
                <a16:creationId xmlns:a16="http://schemas.microsoft.com/office/drawing/2014/main" id="{78911BC9-C2B6-45EB-CA42-AD9CD4E6DBB6}"/>
              </a:ext>
            </a:extLst>
          </p:cNvPr>
          <p:cNvSpPr/>
          <p:nvPr/>
        </p:nvSpPr>
        <p:spPr>
          <a:xfrm>
            <a:off x="485697" y="1856163"/>
            <a:ext cx="3619528" cy="3856874"/>
          </a:xfrm>
          <a:prstGeom prst="rect">
            <a:avLst/>
          </a:prstGeom>
          <a:solidFill>
            <a:srgbClr val="83CBEB">
              <a:alpha val="37000"/>
            </a:srgbClr>
          </a:solidFill>
          <a:ln w="38100">
            <a:solidFill>
              <a:srgbClr val="46B1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ocus2">
            <a:extLst>
              <a:ext uri="{FF2B5EF4-FFF2-40B4-BE49-F238E27FC236}">
                <a16:creationId xmlns:a16="http://schemas.microsoft.com/office/drawing/2014/main" id="{40CB8AA0-9C09-E2C5-DB5C-79271DDC54D0}"/>
              </a:ext>
            </a:extLst>
          </p:cNvPr>
          <p:cNvSpPr/>
          <p:nvPr/>
        </p:nvSpPr>
        <p:spPr>
          <a:xfrm>
            <a:off x="4184340" y="1856163"/>
            <a:ext cx="3223951" cy="3856874"/>
          </a:xfrm>
          <a:prstGeom prst="rect">
            <a:avLst/>
          </a:prstGeom>
          <a:solidFill>
            <a:srgbClr val="83CBEB">
              <a:alpha val="37000"/>
            </a:srgbClr>
          </a:solidFill>
          <a:ln w="38100">
            <a:solidFill>
              <a:srgbClr val="46B1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ail">
            <a:extLst>
              <a:ext uri="{FF2B5EF4-FFF2-40B4-BE49-F238E27FC236}">
                <a16:creationId xmlns:a16="http://schemas.microsoft.com/office/drawing/2014/main" id="{5012DE4D-26BD-8C7C-6698-8026476A9189}"/>
              </a:ext>
            </a:extLst>
          </p:cNvPr>
          <p:cNvSpPr/>
          <p:nvPr/>
        </p:nvSpPr>
        <p:spPr>
          <a:xfrm>
            <a:off x="7670800" y="685800"/>
            <a:ext cx="4521200" cy="61722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N67">
            <a:extLst>
              <a:ext uri="{FF2B5EF4-FFF2-40B4-BE49-F238E27FC236}">
                <a16:creationId xmlns:a16="http://schemas.microsoft.com/office/drawing/2014/main" id="{88FFF61D-A5D0-D248-A9A2-B0C681420C7C}"/>
              </a:ext>
            </a:extLst>
          </p:cNvPr>
          <p:cNvSpPr/>
          <p:nvPr/>
        </p:nvSpPr>
        <p:spPr>
          <a:xfrm>
            <a:off x="7797800" y="838200"/>
            <a:ext cx="4241800" cy="795528"/>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R RSC predicting L POR-SUB (Granger R RSC → L POR-SUB): cue − baseline was higher on Precon4 than on Precon1.</a:t>
            </a:r>
          </a:p>
        </p:txBody>
      </p:sp>
      <p:sp>
        <p:nvSpPr>
          <p:cNvPr id="13" name="!!N68">
            <a:extLst>
              <a:ext uri="{FF2B5EF4-FFF2-40B4-BE49-F238E27FC236}">
                <a16:creationId xmlns:a16="http://schemas.microsoft.com/office/drawing/2014/main" id="{E3498AC3-26FF-A180-532A-91EB0FB3CADD}"/>
              </a:ext>
            </a:extLst>
          </p:cNvPr>
          <p:cNvSpPr/>
          <p:nvPr/>
        </p:nvSpPr>
        <p:spPr>
          <a:xfrm>
            <a:off x="7797800" y="1748028"/>
            <a:ext cx="4241800" cy="107899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FP P = 0.096. Shuffles P = 0.028. t-test P = 0.042 (4 rats). Two of the three agree: a middling lead.</a:t>
            </a:r>
          </a:p>
        </p:txBody>
      </p:sp>
      <p:sp>
        <p:nvSpPr>
          <p:cNvPr id="14" name="!!N69">
            <a:extLst>
              <a:ext uri="{FF2B5EF4-FFF2-40B4-BE49-F238E27FC236}">
                <a16:creationId xmlns:a16="http://schemas.microsoft.com/office/drawing/2014/main" id="{473DB72E-9866-CD2A-F485-677FFF79FE36}"/>
              </a:ext>
            </a:extLst>
          </p:cNvPr>
          <p:cNvSpPr/>
          <p:nvPr/>
        </p:nvSpPr>
        <p:spPr>
          <a:xfrm>
            <a:off x="12573000" y="838200"/>
            <a:ext cx="4241800" cy="1362456"/>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Coupling with a real delay, R ACC with R RSC (imaginary coherence): cue − baseline was higher on Precon4 than on Precon1.</a:t>
            </a:r>
          </a:p>
        </p:txBody>
      </p:sp>
      <p:sp>
        <p:nvSpPr>
          <p:cNvPr id="15" name="!!T-BG">
            <a:extLst>
              <a:ext uri="{FF2B5EF4-FFF2-40B4-BE49-F238E27FC236}">
                <a16:creationId xmlns:a16="http://schemas.microsoft.com/office/drawing/2014/main" id="{02D1D78B-3348-4B8B-5E13-CB47BAD85E52}"/>
              </a:ext>
            </a:extLst>
          </p:cNvPr>
          <p:cNvSpPr/>
          <p:nvPr/>
        </p:nvSpPr>
        <p:spPr>
          <a:xfrm>
            <a:off x="-381000" y="0"/>
            <a:ext cx="12954000" cy="685800"/>
          </a:xfrm>
          <a:prstGeom prst="snip2DiagRect">
            <a:avLst>
              <a:gd name="adj1" fmla="val 0"/>
              <a:gd name="adj2" fmla="val 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
            <a:extLst>
              <a:ext uri="{FF2B5EF4-FFF2-40B4-BE49-F238E27FC236}">
                <a16:creationId xmlns:a16="http://schemas.microsoft.com/office/drawing/2014/main" id="{BBD84B2D-0708-23ED-F3CC-C8AB60E819CD}"/>
              </a:ext>
            </a:extLst>
          </p:cNvPr>
          <p:cNvSpPr txBox="1"/>
          <p:nvPr/>
        </p:nvSpPr>
        <p:spPr>
          <a:xfrm>
            <a:off x="127000" y="0"/>
            <a:ext cx="11811000" cy="685800"/>
          </a:xfrm>
          <a:prstGeom prst="rect">
            <a:avLst/>
          </a:prstGeom>
          <a:noFill/>
        </p:spPr>
        <p:txBody>
          <a:bodyPr vert="horz" wrap="square" lIns="76200" tIns="25400" rIns="76200" bIns="25400" rtlCol="0" anchor="ctr">
            <a:noAutofit/>
          </a:bodyPr>
          <a:lstStyle/>
          <a:p>
            <a:pPr>
              <a:lnSpc>
                <a:spcPct val="95000"/>
              </a:lnSpc>
            </a:pPr>
            <a:r>
              <a:rPr lang="en-US" sz="2400" b="1" u="sng">
                <a:solidFill>
                  <a:srgbClr val="FFFFFF"/>
                </a:solidFill>
                <a:latin typeface="Aptos Display" panose="020B0004020202020204" pitchFamily="34" charset="0"/>
              </a:rPr>
              <a:t>2.4 · R RSC – L POR-SUB · Which leads</a:t>
            </a:r>
          </a:p>
        </p:txBody>
      </p:sp>
    </p:spTree>
    <p:extLst>
      <p:ext uri="{BB962C8B-B14F-4D97-AF65-F5344CB8AC3E}">
        <p14:creationId xmlns:p14="http://schemas.microsoft.com/office/powerpoint/2010/main" val="327572258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tage">
            <a:extLst>
              <a:ext uri="{FF2B5EF4-FFF2-40B4-BE49-F238E27FC236}">
                <a16:creationId xmlns:a16="http://schemas.microsoft.com/office/drawing/2014/main" id="{7C067BE0-6905-8AC0-5304-181834F948CC}"/>
              </a:ext>
            </a:extLst>
          </p:cNvPr>
          <p:cNvSpPr/>
          <p:nvPr/>
        </p:nvSpPr>
        <p:spPr>
          <a:xfrm>
            <a:off x="0" y="685800"/>
            <a:ext cx="7670800" cy="6172200"/>
          </a:xfrm>
          <a:prstGeom prst="rect">
            <a:avLst/>
          </a:prstGeom>
          <a:solidFill>
            <a:srgbClr val="ECEC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F2_5">
            <a:extLst>
              <a:ext uri="{FF2B5EF4-FFF2-40B4-BE49-F238E27FC236}">
                <a16:creationId xmlns:a16="http://schemas.microsoft.com/office/drawing/2014/main" id="{507E4CF9-7871-7690-BD0F-78DD6C890ADB}"/>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287909" y="2811767"/>
            <a:ext cx="7120382" cy="1945667"/>
          </a:xfrm>
          <a:prstGeom prst="rect">
            <a:avLst/>
          </a:prstGeom>
          <a:ln w="9525">
            <a:solidFill>
              <a:srgbClr val="B0B0B0"/>
            </a:solidFill>
          </a:ln>
        </p:spPr>
      </p:pic>
      <p:sp>
        <p:nvSpPr>
          <p:cNvPr id="5" name="!!D1">
            <a:extLst>
              <a:ext uri="{FF2B5EF4-FFF2-40B4-BE49-F238E27FC236}">
                <a16:creationId xmlns:a16="http://schemas.microsoft.com/office/drawing/2014/main" id="{C1E2DFF1-420E-3194-527A-D0B1695E65B1}"/>
              </a:ext>
            </a:extLst>
          </p:cNvPr>
          <p:cNvSpPr/>
          <p:nvPr/>
        </p:nvSpPr>
        <p:spPr>
          <a:xfrm>
            <a:off x="0" y="685800"/>
            <a:ext cx="7670800" cy="635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2">
            <a:extLst>
              <a:ext uri="{FF2B5EF4-FFF2-40B4-BE49-F238E27FC236}">
                <a16:creationId xmlns:a16="http://schemas.microsoft.com/office/drawing/2014/main" id="{84FDEFF3-B50E-8546-E5EB-44393FA1E23F}"/>
              </a:ext>
            </a:extLst>
          </p:cNvPr>
          <p:cNvSpPr/>
          <p:nvPr/>
        </p:nvSpPr>
        <p:spPr>
          <a:xfrm>
            <a:off x="0" y="6858000"/>
            <a:ext cx="7670800" cy="635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3">
            <a:extLst>
              <a:ext uri="{FF2B5EF4-FFF2-40B4-BE49-F238E27FC236}">
                <a16:creationId xmlns:a16="http://schemas.microsoft.com/office/drawing/2014/main" id="{BE04EE9F-B99E-10C9-56DD-E7B8B8C7A60D}"/>
              </a:ext>
            </a:extLst>
          </p:cNvPr>
          <p:cNvSpPr/>
          <p:nvPr/>
        </p:nvSpPr>
        <p:spPr>
          <a:xfrm>
            <a:off x="0" y="685800"/>
            <a:ext cx="6350" cy="617220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4">
            <a:extLst>
              <a:ext uri="{FF2B5EF4-FFF2-40B4-BE49-F238E27FC236}">
                <a16:creationId xmlns:a16="http://schemas.microsoft.com/office/drawing/2014/main" id="{41047D7C-C780-BC0F-F5E2-5263C219A280}"/>
              </a:ext>
            </a:extLst>
          </p:cNvPr>
          <p:cNvSpPr/>
          <p:nvPr/>
        </p:nvSpPr>
        <p:spPr>
          <a:xfrm>
            <a:off x="7670800" y="685800"/>
            <a:ext cx="6350" cy="617220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ocus">
            <a:extLst>
              <a:ext uri="{FF2B5EF4-FFF2-40B4-BE49-F238E27FC236}">
                <a16:creationId xmlns:a16="http://schemas.microsoft.com/office/drawing/2014/main" id="{8AE63AEE-1E7F-F6E0-4908-E77C0B3FCC8B}"/>
              </a:ext>
            </a:extLst>
          </p:cNvPr>
          <p:cNvSpPr/>
          <p:nvPr/>
        </p:nvSpPr>
        <p:spPr>
          <a:xfrm>
            <a:off x="4685497" y="2889600"/>
            <a:ext cx="1424351" cy="1517752"/>
          </a:xfrm>
          <a:prstGeom prst="rect">
            <a:avLst/>
          </a:prstGeom>
          <a:solidFill>
            <a:srgbClr val="83CBEB">
              <a:alpha val="37000"/>
            </a:srgbClr>
          </a:solidFill>
          <a:ln w="38100">
            <a:solidFill>
              <a:srgbClr val="46B1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ail">
            <a:extLst>
              <a:ext uri="{FF2B5EF4-FFF2-40B4-BE49-F238E27FC236}">
                <a16:creationId xmlns:a16="http://schemas.microsoft.com/office/drawing/2014/main" id="{9A547C6F-16E6-5708-A402-A9C72464718E}"/>
              </a:ext>
            </a:extLst>
          </p:cNvPr>
          <p:cNvSpPr/>
          <p:nvPr/>
        </p:nvSpPr>
        <p:spPr>
          <a:xfrm>
            <a:off x="7670800" y="685800"/>
            <a:ext cx="4521200" cy="61722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N69">
            <a:extLst>
              <a:ext uri="{FF2B5EF4-FFF2-40B4-BE49-F238E27FC236}">
                <a16:creationId xmlns:a16="http://schemas.microsoft.com/office/drawing/2014/main" id="{A14D3492-A387-8533-9DA6-A4DB40BC7E99}"/>
              </a:ext>
            </a:extLst>
          </p:cNvPr>
          <p:cNvSpPr/>
          <p:nvPr/>
        </p:nvSpPr>
        <p:spPr>
          <a:xfrm>
            <a:off x="7797800" y="838200"/>
            <a:ext cx="4241800" cy="1362456"/>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Coupling with a real delay, R ACC with R RSC (imaginary coherence): cue − baseline was higher on Precon4 than on Precon1.</a:t>
            </a:r>
          </a:p>
        </p:txBody>
      </p:sp>
      <p:sp>
        <p:nvSpPr>
          <p:cNvPr id="12" name="!!N70">
            <a:extLst>
              <a:ext uri="{FF2B5EF4-FFF2-40B4-BE49-F238E27FC236}">
                <a16:creationId xmlns:a16="http://schemas.microsoft.com/office/drawing/2014/main" id="{47FE340B-6417-068C-F513-3F43209E3D7B}"/>
              </a:ext>
            </a:extLst>
          </p:cNvPr>
          <p:cNvSpPr/>
          <p:nvPr/>
        </p:nvSpPr>
        <p:spPr>
          <a:xfrm>
            <a:off x="12573000" y="1748028"/>
            <a:ext cx="4241800" cy="107899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FP P = 0.080. Shuffles P = 0.091. t-test P = 0.017 (6 rats). One test only: a weaker lead.</a:t>
            </a:r>
          </a:p>
        </p:txBody>
      </p:sp>
      <p:sp>
        <p:nvSpPr>
          <p:cNvPr id="13" name="!!N67">
            <a:extLst>
              <a:ext uri="{FF2B5EF4-FFF2-40B4-BE49-F238E27FC236}">
                <a16:creationId xmlns:a16="http://schemas.microsoft.com/office/drawing/2014/main" id="{878B1C21-67C0-D4C4-56CF-B996E930853A}"/>
              </a:ext>
            </a:extLst>
          </p:cNvPr>
          <p:cNvSpPr/>
          <p:nvPr/>
        </p:nvSpPr>
        <p:spPr>
          <a:xfrm>
            <a:off x="12573000" y="838200"/>
            <a:ext cx="4241800" cy="795528"/>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R RSC predicting L POR-SUB (Granger R RSC → L POR-SUB): cue − baseline was higher on Precon4 than on Precon1.</a:t>
            </a:r>
          </a:p>
        </p:txBody>
      </p:sp>
      <p:sp>
        <p:nvSpPr>
          <p:cNvPr id="14" name="!!N68">
            <a:extLst>
              <a:ext uri="{FF2B5EF4-FFF2-40B4-BE49-F238E27FC236}">
                <a16:creationId xmlns:a16="http://schemas.microsoft.com/office/drawing/2014/main" id="{99225677-FBC4-E0E7-44A2-36B8E42CCF58}"/>
              </a:ext>
            </a:extLst>
          </p:cNvPr>
          <p:cNvSpPr/>
          <p:nvPr/>
        </p:nvSpPr>
        <p:spPr>
          <a:xfrm>
            <a:off x="12573000" y="1748028"/>
            <a:ext cx="4241800" cy="107899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FP P = 0.096. Shuffles P = 0.028. t-test P = 0.042 (4 rats). Two of the three agree: a middling lead.</a:t>
            </a:r>
          </a:p>
        </p:txBody>
      </p:sp>
      <p:sp>
        <p:nvSpPr>
          <p:cNvPr id="15" name="!!T-BG">
            <a:extLst>
              <a:ext uri="{FF2B5EF4-FFF2-40B4-BE49-F238E27FC236}">
                <a16:creationId xmlns:a16="http://schemas.microsoft.com/office/drawing/2014/main" id="{CE74A3FD-F66D-9226-5785-EAD920900BD8}"/>
              </a:ext>
            </a:extLst>
          </p:cNvPr>
          <p:cNvSpPr/>
          <p:nvPr/>
        </p:nvSpPr>
        <p:spPr>
          <a:xfrm>
            <a:off x="-381000" y="0"/>
            <a:ext cx="12954000" cy="685800"/>
          </a:xfrm>
          <a:prstGeom prst="snip2DiagRect">
            <a:avLst>
              <a:gd name="adj1" fmla="val 0"/>
              <a:gd name="adj2" fmla="val 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
            <a:extLst>
              <a:ext uri="{FF2B5EF4-FFF2-40B4-BE49-F238E27FC236}">
                <a16:creationId xmlns:a16="http://schemas.microsoft.com/office/drawing/2014/main" id="{ADB45F5F-FCC7-CDD7-1C6A-DC0D506BBC39}"/>
              </a:ext>
            </a:extLst>
          </p:cNvPr>
          <p:cNvSpPr txBox="1"/>
          <p:nvPr/>
        </p:nvSpPr>
        <p:spPr>
          <a:xfrm>
            <a:off x="127000" y="0"/>
            <a:ext cx="11811000" cy="685800"/>
          </a:xfrm>
          <a:prstGeom prst="rect">
            <a:avLst/>
          </a:prstGeom>
          <a:noFill/>
        </p:spPr>
        <p:txBody>
          <a:bodyPr vert="horz" wrap="square" lIns="76200" tIns="25400" rIns="76200" bIns="25400" rtlCol="0" anchor="ctr">
            <a:noAutofit/>
          </a:bodyPr>
          <a:lstStyle/>
          <a:p>
            <a:pPr>
              <a:lnSpc>
                <a:spcPct val="95000"/>
              </a:lnSpc>
            </a:pPr>
            <a:r>
              <a:rPr lang="en-US" sz="2400" b="1" u="sng">
                <a:solidFill>
                  <a:srgbClr val="FFFFFF"/>
                </a:solidFill>
                <a:latin typeface="Aptos Display" panose="020B0004020202020204" pitchFamily="34" charset="0"/>
              </a:rPr>
              <a:t>2.5 · R ACC – R RSC · Not just a shared signal</a:t>
            </a:r>
          </a:p>
        </p:txBody>
      </p:sp>
    </p:spTree>
    <p:extLst>
      <p:ext uri="{BB962C8B-B14F-4D97-AF65-F5344CB8AC3E}">
        <p14:creationId xmlns:p14="http://schemas.microsoft.com/office/powerpoint/2010/main" val="289708965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tage">
            <a:extLst>
              <a:ext uri="{FF2B5EF4-FFF2-40B4-BE49-F238E27FC236}">
                <a16:creationId xmlns:a16="http://schemas.microsoft.com/office/drawing/2014/main" id="{68D7CD9B-8C53-5146-402F-596C8C75CDDF}"/>
              </a:ext>
            </a:extLst>
          </p:cNvPr>
          <p:cNvSpPr/>
          <p:nvPr/>
        </p:nvSpPr>
        <p:spPr>
          <a:xfrm>
            <a:off x="0" y="685800"/>
            <a:ext cx="7670800" cy="6172200"/>
          </a:xfrm>
          <a:prstGeom prst="rect">
            <a:avLst/>
          </a:prstGeom>
          <a:solidFill>
            <a:srgbClr val="ECEC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F2_5">
            <a:extLst>
              <a:ext uri="{FF2B5EF4-FFF2-40B4-BE49-F238E27FC236}">
                <a16:creationId xmlns:a16="http://schemas.microsoft.com/office/drawing/2014/main" id="{ED878603-EB2A-0FDC-80F4-2FD58F69B820}"/>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0689347" y="1658375"/>
            <a:ext cx="18094144" cy="4944281"/>
          </a:xfrm>
          <a:prstGeom prst="rect">
            <a:avLst/>
          </a:prstGeom>
          <a:ln w="9525">
            <a:solidFill>
              <a:srgbClr val="B0B0B0"/>
            </a:solidFill>
          </a:ln>
        </p:spPr>
      </p:pic>
      <p:sp>
        <p:nvSpPr>
          <p:cNvPr id="5" name="!!D1">
            <a:extLst>
              <a:ext uri="{FF2B5EF4-FFF2-40B4-BE49-F238E27FC236}">
                <a16:creationId xmlns:a16="http://schemas.microsoft.com/office/drawing/2014/main" id="{FAAE5FA3-E798-7B72-DF29-DCA71191DBC3}"/>
              </a:ext>
            </a:extLst>
          </p:cNvPr>
          <p:cNvSpPr/>
          <p:nvPr/>
        </p:nvSpPr>
        <p:spPr>
          <a:xfrm>
            <a:off x="0" y="685800"/>
            <a:ext cx="7670800" cy="1046069"/>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2">
            <a:extLst>
              <a:ext uri="{FF2B5EF4-FFF2-40B4-BE49-F238E27FC236}">
                <a16:creationId xmlns:a16="http://schemas.microsoft.com/office/drawing/2014/main" id="{77722B07-C194-00D1-672F-F33CF6332BB7}"/>
              </a:ext>
            </a:extLst>
          </p:cNvPr>
          <p:cNvSpPr/>
          <p:nvPr/>
        </p:nvSpPr>
        <p:spPr>
          <a:xfrm>
            <a:off x="0" y="5837331"/>
            <a:ext cx="7670800" cy="1020669"/>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3">
            <a:extLst>
              <a:ext uri="{FF2B5EF4-FFF2-40B4-BE49-F238E27FC236}">
                <a16:creationId xmlns:a16="http://schemas.microsoft.com/office/drawing/2014/main" id="{B2F6DE29-F031-9364-12EC-3B6489ABC71F}"/>
              </a:ext>
            </a:extLst>
          </p:cNvPr>
          <p:cNvSpPr/>
          <p:nvPr/>
        </p:nvSpPr>
        <p:spPr>
          <a:xfrm>
            <a:off x="0" y="1731869"/>
            <a:ext cx="262509" cy="4105462"/>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4">
            <a:extLst>
              <a:ext uri="{FF2B5EF4-FFF2-40B4-BE49-F238E27FC236}">
                <a16:creationId xmlns:a16="http://schemas.microsoft.com/office/drawing/2014/main" id="{1E6AC959-8646-2DDB-492F-F12508802DB8}"/>
              </a:ext>
            </a:extLst>
          </p:cNvPr>
          <p:cNvSpPr/>
          <p:nvPr/>
        </p:nvSpPr>
        <p:spPr>
          <a:xfrm>
            <a:off x="7433691" y="1731869"/>
            <a:ext cx="237109" cy="4105462"/>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ocus">
            <a:extLst>
              <a:ext uri="{FF2B5EF4-FFF2-40B4-BE49-F238E27FC236}">
                <a16:creationId xmlns:a16="http://schemas.microsoft.com/office/drawing/2014/main" id="{6958F98F-2B96-1ABB-D9D0-C5579242E978}"/>
              </a:ext>
            </a:extLst>
          </p:cNvPr>
          <p:cNvSpPr/>
          <p:nvPr/>
        </p:nvSpPr>
        <p:spPr>
          <a:xfrm>
            <a:off x="485697" y="1856163"/>
            <a:ext cx="3619528" cy="3856874"/>
          </a:xfrm>
          <a:prstGeom prst="rect">
            <a:avLst/>
          </a:prstGeom>
          <a:solidFill>
            <a:srgbClr val="83CBEB">
              <a:alpha val="37000"/>
            </a:srgbClr>
          </a:solidFill>
          <a:ln w="38100">
            <a:solidFill>
              <a:srgbClr val="46B1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ocus2">
            <a:extLst>
              <a:ext uri="{FF2B5EF4-FFF2-40B4-BE49-F238E27FC236}">
                <a16:creationId xmlns:a16="http://schemas.microsoft.com/office/drawing/2014/main" id="{6E440AF8-42C2-76FA-5193-3BD03BBB738B}"/>
              </a:ext>
            </a:extLst>
          </p:cNvPr>
          <p:cNvSpPr/>
          <p:nvPr/>
        </p:nvSpPr>
        <p:spPr>
          <a:xfrm>
            <a:off x="4184340" y="1856163"/>
            <a:ext cx="3223951" cy="3856874"/>
          </a:xfrm>
          <a:prstGeom prst="rect">
            <a:avLst/>
          </a:prstGeom>
          <a:solidFill>
            <a:srgbClr val="83CBEB">
              <a:alpha val="37000"/>
            </a:srgbClr>
          </a:solidFill>
          <a:ln w="38100">
            <a:solidFill>
              <a:srgbClr val="46B1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ail">
            <a:extLst>
              <a:ext uri="{FF2B5EF4-FFF2-40B4-BE49-F238E27FC236}">
                <a16:creationId xmlns:a16="http://schemas.microsoft.com/office/drawing/2014/main" id="{7F86337D-28ED-CF1A-FFFA-8BA83541A0E8}"/>
              </a:ext>
            </a:extLst>
          </p:cNvPr>
          <p:cNvSpPr/>
          <p:nvPr/>
        </p:nvSpPr>
        <p:spPr>
          <a:xfrm>
            <a:off x="7670800" y="685800"/>
            <a:ext cx="4521200" cy="61722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N69">
            <a:extLst>
              <a:ext uri="{FF2B5EF4-FFF2-40B4-BE49-F238E27FC236}">
                <a16:creationId xmlns:a16="http://schemas.microsoft.com/office/drawing/2014/main" id="{AB368F43-DED0-8A43-2481-6F6CF5C51E2A}"/>
              </a:ext>
            </a:extLst>
          </p:cNvPr>
          <p:cNvSpPr/>
          <p:nvPr/>
        </p:nvSpPr>
        <p:spPr>
          <a:xfrm>
            <a:off x="7797800" y="838200"/>
            <a:ext cx="4241800" cy="795528"/>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Coupling with a real delay, R ACC with R RSC (imaginary coherence): cue − baseline was higher on Precon4 than on Precon1.</a:t>
            </a:r>
          </a:p>
        </p:txBody>
      </p:sp>
      <p:sp>
        <p:nvSpPr>
          <p:cNvPr id="13" name="!!N70">
            <a:extLst>
              <a:ext uri="{FF2B5EF4-FFF2-40B4-BE49-F238E27FC236}">
                <a16:creationId xmlns:a16="http://schemas.microsoft.com/office/drawing/2014/main" id="{E5939E02-4CF6-A24B-41E7-E38B0BC4A4F0}"/>
              </a:ext>
            </a:extLst>
          </p:cNvPr>
          <p:cNvSpPr/>
          <p:nvPr/>
        </p:nvSpPr>
        <p:spPr>
          <a:xfrm>
            <a:off x="7797800" y="1748028"/>
            <a:ext cx="4241800" cy="107899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FP P = 0.080. Shuffles P = 0.091. t-test P = 0.017 (6 rats). One test only: a weaker lead.</a:t>
            </a:r>
          </a:p>
        </p:txBody>
      </p:sp>
      <p:sp>
        <p:nvSpPr>
          <p:cNvPr id="14" name="!!N71">
            <a:extLst>
              <a:ext uri="{FF2B5EF4-FFF2-40B4-BE49-F238E27FC236}">
                <a16:creationId xmlns:a16="http://schemas.microsoft.com/office/drawing/2014/main" id="{2AEF1077-FF70-8554-022F-08DDE55E654E}"/>
              </a:ext>
            </a:extLst>
          </p:cNvPr>
          <p:cNvSpPr/>
          <p:nvPr/>
        </p:nvSpPr>
        <p:spPr>
          <a:xfrm>
            <a:off x="12573000" y="838200"/>
            <a:ext cx="4241800" cy="1362456"/>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R PER and L DHC gamma bursts rising together (amplitude correlation): cue − baseline was lower on Precon4 than on Precon1.</a:t>
            </a:r>
          </a:p>
        </p:txBody>
      </p:sp>
      <p:sp>
        <p:nvSpPr>
          <p:cNvPr id="15" name="!!T-BG">
            <a:extLst>
              <a:ext uri="{FF2B5EF4-FFF2-40B4-BE49-F238E27FC236}">
                <a16:creationId xmlns:a16="http://schemas.microsoft.com/office/drawing/2014/main" id="{4C6C0F7F-E7C0-0923-6401-857742EAE880}"/>
              </a:ext>
            </a:extLst>
          </p:cNvPr>
          <p:cNvSpPr/>
          <p:nvPr/>
        </p:nvSpPr>
        <p:spPr>
          <a:xfrm>
            <a:off x="-381000" y="0"/>
            <a:ext cx="12954000" cy="685800"/>
          </a:xfrm>
          <a:prstGeom prst="snip2DiagRect">
            <a:avLst>
              <a:gd name="adj1" fmla="val 0"/>
              <a:gd name="adj2" fmla="val 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
            <a:extLst>
              <a:ext uri="{FF2B5EF4-FFF2-40B4-BE49-F238E27FC236}">
                <a16:creationId xmlns:a16="http://schemas.microsoft.com/office/drawing/2014/main" id="{25A70FC1-2E55-6198-024F-52E318620454}"/>
              </a:ext>
            </a:extLst>
          </p:cNvPr>
          <p:cNvSpPr txBox="1"/>
          <p:nvPr/>
        </p:nvSpPr>
        <p:spPr>
          <a:xfrm>
            <a:off x="127000" y="0"/>
            <a:ext cx="11811000" cy="685800"/>
          </a:xfrm>
          <a:prstGeom prst="rect">
            <a:avLst/>
          </a:prstGeom>
          <a:noFill/>
        </p:spPr>
        <p:txBody>
          <a:bodyPr vert="horz" wrap="square" lIns="76200" tIns="25400" rIns="76200" bIns="25400" rtlCol="0" anchor="ctr">
            <a:noAutofit/>
          </a:bodyPr>
          <a:lstStyle/>
          <a:p>
            <a:pPr>
              <a:lnSpc>
                <a:spcPct val="95000"/>
              </a:lnSpc>
            </a:pPr>
            <a:r>
              <a:rPr lang="en-US" sz="2400" b="1" u="sng">
                <a:solidFill>
                  <a:srgbClr val="FFFFFF"/>
                </a:solidFill>
                <a:latin typeface="Aptos Display" panose="020B0004020202020204" pitchFamily="34" charset="0"/>
              </a:rPr>
              <a:t>2.5 · R ACC – R RSC · Not just a shared signal</a:t>
            </a:r>
          </a:p>
        </p:txBody>
      </p:sp>
    </p:spTree>
    <p:extLst>
      <p:ext uri="{BB962C8B-B14F-4D97-AF65-F5344CB8AC3E}">
        <p14:creationId xmlns:p14="http://schemas.microsoft.com/office/powerpoint/2010/main" val="88348904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tage">
            <a:extLst>
              <a:ext uri="{FF2B5EF4-FFF2-40B4-BE49-F238E27FC236}">
                <a16:creationId xmlns:a16="http://schemas.microsoft.com/office/drawing/2014/main" id="{C7627E7F-F81D-E9F9-A80D-03CB27E421D4}"/>
              </a:ext>
            </a:extLst>
          </p:cNvPr>
          <p:cNvSpPr/>
          <p:nvPr/>
        </p:nvSpPr>
        <p:spPr>
          <a:xfrm>
            <a:off x="0" y="685800"/>
            <a:ext cx="7670800" cy="6172200"/>
          </a:xfrm>
          <a:prstGeom prst="rect">
            <a:avLst/>
          </a:prstGeom>
          <a:solidFill>
            <a:srgbClr val="ECEC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F2_6">
            <a:extLst>
              <a:ext uri="{FF2B5EF4-FFF2-40B4-BE49-F238E27FC236}">
                <a16:creationId xmlns:a16="http://schemas.microsoft.com/office/drawing/2014/main" id="{1532D74B-7D97-D93B-8AB7-FD0DE1016AF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287909" y="2811767"/>
            <a:ext cx="7120382" cy="1945667"/>
          </a:xfrm>
          <a:prstGeom prst="rect">
            <a:avLst/>
          </a:prstGeom>
          <a:ln w="9525">
            <a:solidFill>
              <a:srgbClr val="B0B0B0"/>
            </a:solidFill>
          </a:ln>
        </p:spPr>
      </p:pic>
      <p:sp>
        <p:nvSpPr>
          <p:cNvPr id="5" name="!!D1">
            <a:extLst>
              <a:ext uri="{FF2B5EF4-FFF2-40B4-BE49-F238E27FC236}">
                <a16:creationId xmlns:a16="http://schemas.microsoft.com/office/drawing/2014/main" id="{B0D7C643-2837-9654-F98F-B44BD874407B}"/>
              </a:ext>
            </a:extLst>
          </p:cNvPr>
          <p:cNvSpPr/>
          <p:nvPr/>
        </p:nvSpPr>
        <p:spPr>
          <a:xfrm>
            <a:off x="0" y="685800"/>
            <a:ext cx="7670800" cy="635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2">
            <a:extLst>
              <a:ext uri="{FF2B5EF4-FFF2-40B4-BE49-F238E27FC236}">
                <a16:creationId xmlns:a16="http://schemas.microsoft.com/office/drawing/2014/main" id="{3DD48409-2157-4295-24E1-E33925750477}"/>
              </a:ext>
            </a:extLst>
          </p:cNvPr>
          <p:cNvSpPr/>
          <p:nvPr/>
        </p:nvSpPr>
        <p:spPr>
          <a:xfrm>
            <a:off x="0" y="6858000"/>
            <a:ext cx="7670800" cy="635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3">
            <a:extLst>
              <a:ext uri="{FF2B5EF4-FFF2-40B4-BE49-F238E27FC236}">
                <a16:creationId xmlns:a16="http://schemas.microsoft.com/office/drawing/2014/main" id="{30259CC9-5B4B-3489-3C2D-B712BA57C9C5}"/>
              </a:ext>
            </a:extLst>
          </p:cNvPr>
          <p:cNvSpPr/>
          <p:nvPr/>
        </p:nvSpPr>
        <p:spPr>
          <a:xfrm>
            <a:off x="0" y="685800"/>
            <a:ext cx="6350" cy="617220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4">
            <a:extLst>
              <a:ext uri="{FF2B5EF4-FFF2-40B4-BE49-F238E27FC236}">
                <a16:creationId xmlns:a16="http://schemas.microsoft.com/office/drawing/2014/main" id="{24351AB9-CCCD-3948-CA06-CA1F1E7967B7}"/>
              </a:ext>
            </a:extLst>
          </p:cNvPr>
          <p:cNvSpPr/>
          <p:nvPr/>
        </p:nvSpPr>
        <p:spPr>
          <a:xfrm>
            <a:off x="7670800" y="685800"/>
            <a:ext cx="6350" cy="617220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ocus">
            <a:extLst>
              <a:ext uri="{FF2B5EF4-FFF2-40B4-BE49-F238E27FC236}">
                <a16:creationId xmlns:a16="http://schemas.microsoft.com/office/drawing/2014/main" id="{E8B8DDC0-E66F-0460-3276-C1F6CB4B29CD}"/>
              </a:ext>
            </a:extLst>
          </p:cNvPr>
          <p:cNvSpPr/>
          <p:nvPr/>
        </p:nvSpPr>
        <p:spPr>
          <a:xfrm>
            <a:off x="4685497" y="2889600"/>
            <a:ext cx="1424351" cy="1517752"/>
          </a:xfrm>
          <a:prstGeom prst="rect">
            <a:avLst/>
          </a:prstGeom>
          <a:solidFill>
            <a:srgbClr val="83CBEB">
              <a:alpha val="37000"/>
            </a:srgbClr>
          </a:solidFill>
          <a:ln w="38100">
            <a:solidFill>
              <a:srgbClr val="46B1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ail">
            <a:extLst>
              <a:ext uri="{FF2B5EF4-FFF2-40B4-BE49-F238E27FC236}">
                <a16:creationId xmlns:a16="http://schemas.microsoft.com/office/drawing/2014/main" id="{8CC6FBEA-8529-5CD4-D799-38446269EAE8}"/>
              </a:ext>
            </a:extLst>
          </p:cNvPr>
          <p:cNvSpPr/>
          <p:nvPr/>
        </p:nvSpPr>
        <p:spPr>
          <a:xfrm>
            <a:off x="7670800" y="685800"/>
            <a:ext cx="4521200" cy="61722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N71">
            <a:extLst>
              <a:ext uri="{FF2B5EF4-FFF2-40B4-BE49-F238E27FC236}">
                <a16:creationId xmlns:a16="http://schemas.microsoft.com/office/drawing/2014/main" id="{DD763A3D-2672-7C9B-AB5C-7C1BBA0452B9}"/>
              </a:ext>
            </a:extLst>
          </p:cNvPr>
          <p:cNvSpPr/>
          <p:nvPr/>
        </p:nvSpPr>
        <p:spPr>
          <a:xfrm>
            <a:off x="7797800" y="838200"/>
            <a:ext cx="4241800" cy="1362456"/>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R PER and L DHC gamma bursts rising together (amplitude correlation): cue − baseline was lower on Precon4 than on Precon1.</a:t>
            </a:r>
          </a:p>
        </p:txBody>
      </p:sp>
      <p:sp>
        <p:nvSpPr>
          <p:cNvPr id="12" name="!!N72">
            <a:extLst>
              <a:ext uri="{FF2B5EF4-FFF2-40B4-BE49-F238E27FC236}">
                <a16:creationId xmlns:a16="http://schemas.microsoft.com/office/drawing/2014/main" id="{B0310346-8668-FE9C-17B4-04DF94ED03EE}"/>
              </a:ext>
            </a:extLst>
          </p:cNvPr>
          <p:cNvSpPr/>
          <p:nvPr/>
        </p:nvSpPr>
        <p:spPr>
          <a:xfrm>
            <a:off x="12573000" y="1748028"/>
            <a:ext cx="4241800" cy="107899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FP P = 0.364. Shuffles P = 0.259. t-test P = 0.003 (4 rats). One test only: a weaker lead.</a:t>
            </a:r>
          </a:p>
        </p:txBody>
      </p:sp>
      <p:sp>
        <p:nvSpPr>
          <p:cNvPr id="13" name="!!N69">
            <a:extLst>
              <a:ext uri="{FF2B5EF4-FFF2-40B4-BE49-F238E27FC236}">
                <a16:creationId xmlns:a16="http://schemas.microsoft.com/office/drawing/2014/main" id="{410F1B7F-0D30-6E80-1587-FE70D57A1F57}"/>
              </a:ext>
            </a:extLst>
          </p:cNvPr>
          <p:cNvSpPr/>
          <p:nvPr/>
        </p:nvSpPr>
        <p:spPr>
          <a:xfrm>
            <a:off x="12573000" y="838200"/>
            <a:ext cx="4241800" cy="795528"/>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Coupling with a real delay, R ACC with R RSC (imaginary coherence): cue − baseline was higher on Precon4 than on Precon1.</a:t>
            </a:r>
          </a:p>
        </p:txBody>
      </p:sp>
      <p:sp>
        <p:nvSpPr>
          <p:cNvPr id="14" name="!!N70">
            <a:extLst>
              <a:ext uri="{FF2B5EF4-FFF2-40B4-BE49-F238E27FC236}">
                <a16:creationId xmlns:a16="http://schemas.microsoft.com/office/drawing/2014/main" id="{2E64D8A1-2727-CB9A-F6BE-AB6F494A98F0}"/>
              </a:ext>
            </a:extLst>
          </p:cNvPr>
          <p:cNvSpPr/>
          <p:nvPr/>
        </p:nvSpPr>
        <p:spPr>
          <a:xfrm>
            <a:off x="12573000" y="1748028"/>
            <a:ext cx="4241800" cy="107899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FP P = 0.080. Shuffles P = 0.091. t-test P = 0.017 (6 rats). One test only: a weaker lead.</a:t>
            </a:r>
          </a:p>
        </p:txBody>
      </p:sp>
      <p:sp>
        <p:nvSpPr>
          <p:cNvPr id="15" name="!!T-BG">
            <a:extLst>
              <a:ext uri="{FF2B5EF4-FFF2-40B4-BE49-F238E27FC236}">
                <a16:creationId xmlns:a16="http://schemas.microsoft.com/office/drawing/2014/main" id="{3FF7822D-938B-6D9F-53C2-B13805B3E3EA}"/>
              </a:ext>
            </a:extLst>
          </p:cNvPr>
          <p:cNvSpPr/>
          <p:nvPr/>
        </p:nvSpPr>
        <p:spPr>
          <a:xfrm>
            <a:off x="-381000" y="0"/>
            <a:ext cx="12954000" cy="685800"/>
          </a:xfrm>
          <a:prstGeom prst="snip2DiagRect">
            <a:avLst>
              <a:gd name="adj1" fmla="val 0"/>
              <a:gd name="adj2" fmla="val 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
            <a:extLst>
              <a:ext uri="{FF2B5EF4-FFF2-40B4-BE49-F238E27FC236}">
                <a16:creationId xmlns:a16="http://schemas.microsoft.com/office/drawing/2014/main" id="{F4C74A4E-77A9-6805-9339-9484382E2F02}"/>
              </a:ext>
            </a:extLst>
          </p:cNvPr>
          <p:cNvSpPr txBox="1"/>
          <p:nvPr/>
        </p:nvSpPr>
        <p:spPr>
          <a:xfrm>
            <a:off x="127000" y="0"/>
            <a:ext cx="11811000" cy="685800"/>
          </a:xfrm>
          <a:prstGeom prst="rect">
            <a:avLst/>
          </a:prstGeom>
          <a:noFill/>
        </p:spPr>
        <p:txBody>
          <a:bodyPr vert="horz" wrap="square" lIns="76200" tIns="25400" rIns="76200" bIns="25400" rtlCol="0" anchor="ctr">
            <a:noAutofit/>
          </a:bodyPr>
          <a:lstStyle/>
          <a:p>
            <a:pPr>
              <a:lnSpc>
                <a:spcPct val="95000"/>
              </a:lnSpc>
            </a:pPr>
            <a:r>
              <a:rPr lang="en-US" sz="2400" b="1" u="sng">
                <a:solidFill>
                  <a:srgbClr val="FFFFFF"/>
                </a:solidFill>
                <a:latin typeface="Aptos Display" panose="020B0004020202020204" pitchFamily="34" charset="0"/>
              </a:rPr>
              <a:t>2.6 · R PER – L DHC · Bursts rise together</a:t>
            </a:r>
          </a:p>
        </p:txBody>
      </p:sp>
    </p:spTree>
    <p:extLst>
      <p:ext uri="{BB962C8B-B14F-4D97-AF65-F5344CB8AC3E}">
        <p14:creationId xmlns:p14="http://schemas.microsoft.com/office/powerpoint/2010/main" val="109082686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tage">
            <a:extLst>
              <a:ext uri="{FF2B5EF4-FFF2-40B4-BE49-F238E27FC236}">
                <a16:creationId xmlns:a16="http://schemas.microsoft.com/office/drawing/2014/main" id="{29AE814D-9E43-3161-30D0-CB56E34DB624}"/>
              </a:ext>
            </a:extLst>
          </p:cNvPr>
          <p:cNvSpPr/>
          <p:nvPr/>
        </p:nvSpPr>
        <p:spPr>
          <a:xfrm>
            <a:off x="0" y="685800"/>
            <a:ext cx="7670800" cy="6172200"/>
          </a:xfrm>
          <a:prstGeom prst="rect">
            <a:avLst/>
          </a:prstGeom>
          <a:solidFill>
            <a:srgbClr val="ECEC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F2_6">
            <a:extLst>
              <a:ext uri="{FF2B5EF4-FFF2-40B4-BE49-F238E27FC236}">
                <a16:creationId xmlns:a16="http://schemas.microsoft.com/office/drawing/2014/main" id="{804AD3AA-7BBF-1C0B-094F-952ADC21E910}"/>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0689347" y="1658375"/>
            <a:ext cx="18094144" cy="4944281"/>
          </a:xfrm>
          <a:prstGeom prst="rect">
            <a:avLst/>
          </a:prstGeom>
          <a:ln w="9525">
            <a:solidFill>
              <a:srgbClr val="B0B0B0"/>
            </a:solidFill>
          </a:ln>
        </p:spPr>
      </p:pic>
      <p:sp>
        <p:nvSpPr>
          <p:cNvPr id="5" name="!!D1">
            <a:extLst>
              <a:ext uri="{FF2B5EF4-FFF2-40B4-BE49-F238E27FC236}">
                <a16:creationId xmlns:a16="http://schemas.microsoft.com/office/drawing/2014/main" id="{86A53081-E700-9721-607B-8B10E5ADB892}"/>
              </a:ext>
            </a:extLst>
          </p:cNvPr>
          <p:cNvSpPr/>
          <p:nvPr/>
        </p:nvSpPr>
        <p:spPr>
          <a:xfrm>
            <a:off x="0" y="685800"/>
            <a:ext cx="7670800" cy="1046069"/>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2">
            <a:extLst>
              <a:ext uri="{FF2B5EF4-FFF2-40B4-BE49-F238E27FC236}">
                <a16:creationId xmlns:a16="http://schemas.microsoft.com/office/drawing/2014/main" id="{1163E10F-582C-258B-E2EC-6C2DA8A9A463}"/>
              </a:ext>
            </a:extLst>
          </p:cNvPr>
          <p:cNvSpPr/>
          <p:nvPr/>
        </p:nvSpPr>
        <p:spPr>
          <a:xfrm>
            <a:off x="0" y="5837331"/>
            <a:ext cx="7670800" cy="1020669"/>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3">
            <a:extLst>
              <a:ext uri="{FF2B5EF4-FFF2-40B4-BE49-F238E27FC236}">
                <a16:creationId xmlns:a16="http://schemas.microsoft.com/office/drawing/2014/main" id="{4B8B3B92-ACD2-3DF8-A254-04A55401C892}"/>
              </a:ext>
            </a:extLst>
          </p:cNvPr>
          <p:cNvSpPr/>
          <p:nvPr/>
        </p:nvSpPr>
        <p:spPr>
          <a:xfrm>
            <a:off x="0" y="1731869"/>
            <a:ext cx="262509" cy="4105462"/>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4">
            <a:extLst>
              <a:ext uri="{FF2B5EF4-FFF2-40B4-BE49-F238E27FC236}">
                <a16:creationId xmlns:a16="http://schemas.microsoft.com/office/drawing/2014/main" id="{C01B6E76-6E47-2C6A-35A5-9789E4B9D9BA}"/>
              </a:ext>
            </a:extLst>
          </p:cNvPr>
          <p:cNvSpPr/>
          <p:nvPr/>
        </p:nvSpPr>
        <p:spPr>
          <a:xfrm>
            <a:off x="7433691" y="1731869"/>
            <a:ext cx="237109" cy="4105462"/>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ocus">
            <a:extLst>
              <a:ext uri="{FF2B5EF4-FFF2-40B4-BE49-F238E27FC236}">
                <a16:creationId xmlns:a16="http://schemas.microsoft.com/office/drawing/2014/main" id="{32A44913-BCBC-9C0E-2A41-A61902DAE343}"/>
              </a:ext>
            </a:extLst>
          </p:cNvPr>
          <p:cNvSpPr/>
          <p:nvPr/>
        </p:nvSpPr>
        <p:spPr>
          <a:xfrm>
            <a:off x="485697" y="1856163"/>
            <a:ext cx="3619528" cy="3856874"/>
          </a:xfrm>
          <a:prstGeom prst="rect">
            <a:avLst/>
          </a:prstGeom>
          <a:solidFill>
            <a:srgbClr val="83CBEB">
              <a:alpha val="37000"/>
            </a:srgbClr>
          </a:solidFill>
          <a:ln w="38100">
            <a:solidFill>
              <a:srgbClr val="46B1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ocus2">
            <a:extLst>
              <a:ext uri="{FF2B5EF4-FFF2-40B4-BE49-F238E27FC236}">
                <a16:creationId xmlns:a16="http://schemas.microsoft.com/office/drawing/2014/main" id="{D81B49FD-6F7A-258C-A7D4-5A82BEB34D5E}"/>
              </a:ext>
            </a:extLst>
          </p:cNvPr>
          <p:cNvSpPr/>
          <p:nvPr/>
        </p:nvSpPr>
        <p:spPr>
          <a:xfrm>
            <a:off x="4184340" y="1856163"/>
            <a:ext cx="3223951" cy="3856874"/>
          </a:xfrm>
          <a:prstGeom prst="rect">
            <a:avLst/>
          </a:prstGeom>
          <a:solidFill>
            <a:srgbClr val="83CBEB">
              <a:alpha val="37000"/>
            </a:srgbClr>
          </a:solidFill>
          <a:ln w="38100">
            <a:solidFill>
              <a:srgbClr val="46B1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ail">
            <a:extLst>
              <a:ext uri="{FF2B5EF4-FFF2-40B4-BE49-F238E27FC236}">
                <a16:creationId xmlns:a16="http://schemas.microsoft.com/office/drawing/2014/main" id="{E5ABC926-32E2-D821-384B-523887206A70}"/>
              </a:ext>
            </a:extLst>
          </p:cNvPr>
          <p:cNvSpPr/>
          <p:nvPr/>
        </p:nvSpPr>
        <p:spPr>
          <a:xfrm>
            <a:off x="7670800" y="685800"/>
            <a:ext cx="4521200" cy="61722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N71">
            <a:extLst>
              <a:ext uri="{FF2B5EF4-FFF2-40B4-BE49-F238E27FC236}">
                <a16:creationId xmlns:a16="http://schemas.microsoft.com/office/drawing/2014/main" id="{080747BE-3B9C-928F-AA6A-03DDD6896C18}"/>
              </a:ext>
            </a:extLst>
          </p:cNvPr>
          <p:cNvSpPr/>
          <p:nvPr/>
        </p:nvSpPr>
        <p:spPr>
          <a:xfrm>
            <a:off x="7797800" y="838200"/>
            <a:ext cx="4241800" cy="795528"/>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R PER and L DHC gamma bursts rising together (amplitude correlation): cue − baseline was lower on Precon4 than on Precon1.</a:t>
            </a:r>
          </a:p>
        </p:txBody>
      </p:sp>
      <p:sp>
        <p:nvSpPr>
          <p:cNvPr id="13" name="!!N72">
            <a:extLst>
              <a:ext uri="{FF2B5EF4-FFF2-40B4-BE49-F238E27FC236}">
                <a16:creationId xmlns:a16="http://schemas.microsoft.com/office/drawing/2014/main" id="{855CEBD0-78C6-04E4-EF65-CBE2CC86934F}"/>
              </a:ext>
            </a:extLst>
          </p:cNvPr>
          <p:cNvSpPr/>
          <p:nvPr/>
        </p:nvSpPr>
        <p:spPr>
          <a:xfrm>
            <a:off x="7797800" y="1748028"/>
            <a:ext cx="4241800" cy="107899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FP P = 0.364. Shuffles P = 0.259. t-test P = 0.003 (4 rats). One test only: a weaker lead.</a:t>
            </a:r>
          </a:p>
        </p:txBody>
      </p:sp>
      <p:sp>
        <p:nvSpPr>
          <p:cNvPr id="14" name="!!N73">
            <a:extLst>
              <a:ext uri="{FF2B5EF4-FFF2-40B4-BE49-F238E27FC236}">
                <a16:creationId xmlns:a16="http://schemas.microsoft.com/office/drawing/2014/main" id="{60D1A361-00A5-1FE9-D1D5-DEE740F92DA8}"/>
              </a:ext>
            </a:extLst>
          </p:cNvPr>
          <p:cNvSpPr/>
          <p:nvPr/>
        </p:nvSpPr>
        <p:spPr>
          <a:xfrm>
            <a:off x="12573000" y="838200"/>
            <a:ext cx="4241800" cy="107899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Theta pacing gamma within R PER (PAC): cue − baseline was higher on Precon4 than on Precon1.</a:t>
            </a:r>
          </a:p>
        </p:txBody>
      </p:sp>
      <p:sp>
        <p:nvSpPr>
          <p:cNvPr id="15" name="!!T-BG">
            <a:extLst>
              <a:ext uri="{FF2B5EF4-FFF2-40B4-BE49-F238E27FC236}">
                <a16:creationId xmlns:a16="http://schemas.microsoft.com/office/drawing/2014/main" id="{22A28D63-160C-8DB3-18E5-11F858664731}"/>
              </a:ext>
            </a:extLst>
          </p:cNvPr>
          <p:cNvSpPr/>
          <p:nvPr/>
        </p:nvSpPr>
        <p:spPr>
          <a:xfrm>
            <a:off x="-381000" y="0"/>
            <a:ext cx="12954000" cy="685800"/>
          </a:xfrm>
          <a:prstGeom prst="snip2DiagRect">
            <a:avLst>
              <a:gd name="adj1" fmla="val 0"/>
              <a:gd name="adj2" fmla="val 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
            <a:extLst>
              <a:ext uri="{FF2B5EF4-FFF2-40B4-BE49-F238E27FC236}">
                <a16:creationId xmlns:a16="http://schemas.microsoft.com/office/drawing/2014/main" id="{7C37DAF3-BFE6-C2BF-D5BB-93D315266576}"/>
              </a:ext>
            </a:extLst>
          </p:cNvPr>
          <p:cNvSpPr txBox="1"/>
          <p:nvPr/>
        </p:nvSpPr>
        <p:spPr>
          <a:xfrm>
            <a:off x="127000" y="0"/>
            <a:ext cx="11811000" cy="685800"/>
          </a:xfrm>
          <a:prstGeom prst="rect">
            <a:avLst/>
          </a:prstGeom>
          <a:noFill/>
        </p:spPr>
        <p:txBody>
          <a:bodyPr vert="horz" wrap="square" lIns="76200" tIns="25400" rIns="76200" bIns="25400" rtlCol="0" anchor="ctr">
            <a:noAutofit/>
          </a:bodyPr>
          <a:lstStyle/>
          <a:p>
            <a:pPr>
              <a:lnSpc>
                <a:spcPct val="95000"/>
              </a:lnSpc>
            </a:pPr>
            <a:r>
              <a:rPr lang="en-US" sz="2400" b="1" u="sng">
                <a:solidFill>
                  <a:srgbClr val="FFFFFF"/>
                </a:solidFill>
                <a:latin typeface="Aptos Display" panose="020B0004020202020204" pitchFamily="34" charset="0"/>
              </a:rPr>
              <a:t>2.6 · R PER – L DHC · Bursts rise together</a:t>
            </a:r>
          </a:p>
        </p:txBody>
      </p:sp>
    </p:spTree>
    <p:extLst>
      <p:ext uri="{BB962C8B-B14F-4D97-AF65-F5344CB8AC3E}">
        <p14:creationId xmlns:p14="http://schemas.microsoft.com/office/powerpoint/2010/main" val="362013820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tage">
            <a:extLst>
              <a:ext uri="{FF2B5EF4-FFF2-40B4-BE49-F238E27FC236}">
                <a16:creationId xmlns:a16="http://schemas.microsoft.com/office/drawing/2014/main" id="{068199D9-77DB-3C06-CBB2-AF0F68194375}"/>
              </a:ext>
            </a:extLst>
          </p:cNvPr>
          <p:cNvSpPr/>
          <p:nvPr/>
        </p:nvSpPr>
        <p:spPr>
          <a:xfrm>
            <a:off x="0" y="685800"/>
            <a:ext cx="7670800" cy="6172200"/>
          </a:xfrm>
          <a:prstGeom prst="rect">
            <a:avLst/>
          </a:prstGeom>
          <a:solidFill>
            <a:srgbClr val="ECEC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F2_7">
            <a:extLst>
              <a:ext uri="{FF2B5EF4-FFF2-40B4-BE49-F238E27FC236}">
                <a16:creationId xmlns:a16="http://schemas.microsoft.com/office/drawing/2014/main" id="{D65F1DDF-5B25-82A5-AB98-3972B30634A4}"/>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287909" y="2034159"/>
            <a:ext cx="7120382" cy="3500882"/>
          </a:xfrm>
          <a:prstGeom prst="rect">
            <a:avLst/>
          </a:prstGeom>
          <a:ln w="9525">
            <a:solidFill>
              <a:srgbClr val="B0B0B0"/>
            </a:solidFill>
          </a:ln>
        </p:spPr>
      </p:pic>
      <p:sp>
        <p:nvSpPr>
          <p:cNvPr id="5" name="!!D1">
            <a:extLst>
              <a:ext uri="{FF2B5EF4-FFF2-40B4-BE49-F238E27FC236}">
                <a16:creationId xmlns:a16="http://schemas.microsoft.com/office/drawing/2014/main" id="{FFFD6660-CDCD-2511-6BDF-66713E575AD2}"/>
              </a:ext>
            </a:extLst>
          </p:cNvPr>
          <p:cNvSpPr/>
          <p:nvPr/>
        </p:nvSpPr>
        <p:spPr>
          <a:xfrm>
            <a:off x="0" y="685800"/>
            <a:ext cx="7670800" cy="635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2">
            <a:extLst>
              <a:ext uri="{FF2B5EF4-FFF2-40B4-BE49-F238E27FC236}">
                <a16:creationId xmlns:a16="http://schemas.microsoft.com/office/drawing/2014/main" id="{BF6B6377-3641-87E4-2186-2B5A096D215C}"/>
              </a:ext>
            </a:extLst>
          </p:cNvPr>
          <p:cNvSpPr/>
          <p:nvPr/>
        </p:nvSpPr>
        <p:spPr>
          <a:xfrm>
            <a:off x="0" y="6858000"/>
            <a:ext cx="7670800" cy="635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3">
            <a:extLst>
              <a:ext uri="{FF2B5EF4-FFF2-40B4-BE49-F238E27FC236}">
                <a16:creationId xmlns:a16="http://schemas.microsoft.com/office/drawing/2014/main" id="{024D15AC-71CC-15E8-4B1D-D43BAC0BE214}"/>
              </a:ext>
            </a:extLst>
          </p:cNvPr>
          <p:cNvSpPr/>
          <p:nvPr/>
        </p:nvSpPr>
        <p:spPr>
          <a:xfrm>
            <a:off x="0" y="685800"/>
            <a:ext cx="6350" cy="617220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4">
            <a:extLst>
              <a:ext uri="{FF2B5EF4-FFF2-40B4-BE49-F238E27FC236}">
                <a16:creationId xmlns:a16="http://schemas.microsoft.com/office/drawing/2014/main" id="{26637962-16B3-8C78-2167-A7A1BC8038E1}"/>
              </a:ext>
            </a:extLst>
          </p:cNvPr>
          <p:cNvSpPr/>
          <p:nvPr/>
        </p:nvSpPr>
        <p:spPr>
          <a:xfrm>
            <a:off x="7670800" y="685800"/>
            <a:ext cx="6350" cy="617220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ocus">
            <a:extLst>
              <a:ext uri="{FF2B5EF4-FFF2-40B4-BE49-F238E27FC236}">
                <a16:creationId xmlns:a16="http://schemas.microsoft.com/office/drawing/2014/main" id="{AEBF38B6-9ABE-D447-4D48-2184404A1030}"/>
              </a:ext>
            </a:extLst>
          </p:cNvPr>
          <p:cNvSpPr/>
          <p:nvPr/>
        </p:nvSpPr>
        <p:spPr>
          <a:xfrm>
            <a:off x="4685497" y="2111992"/>
            <a:ext cx="1424351" cy="1517752"/>
          </a:xfrm>
          <a:prstGeom prst="rect">
            <a:avLst/>
          </a:prstGeom>
          <a:solidFill>
            <a:srgbClr val="83CBEB">
              <a:alpha val="37000"/>
            </a:srgbClr>
          </a:solidFill>
          <a:ln w="38100">
            <a:solidFill>
              <a:srgbClr val="46B1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ail">
            <a:extLst>
              <a:ext uri="{FF2B5EF4-FFF2-40B4-BE49-F238E27FC236}">
                <a16:creationId xmlns:a16="http://schemas.microsoft.com/office/drawing/2014/main" id="{DD34016F-98F9-74BA-8693-C34D5927B2A8}"/>
              </a:ext>
            </a:extLst>
          </p:cNvPr>
          <p:cNvSpPr/>
          <p:nvPr/>
        </p:nvSpPr>
        <p:spPr>
          <a:xfrm>
            <a:off x="7670800" y="685800"/>
            <a:ext cx="4521200" cy="61722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N73">
            <a:extLst>
              <a:ext uri="{FF2B5EF4-FFF2-40B4-BE49-F238E27FC236}">
                <a16:creationId xmlns:a16="http://schemas.microsoft.com/office/drawing/2014/main" id="{CAE8ADFB-E6FE-44D3-3D7F-95657D5F2876}"/>
              </a:ext>
            </a:extLst>
          </p:cNvPr>
          <p:cNvSpPr/>
          <p:nvPr/>
        </p:nvSpPr>
        <p:spPr>
          <a:xfrm>
            <a:off x="7797800" y="838200"/>
            <a:ext cx="4241800" cy="107899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Theta pacing gamma within R PER (PAC): cue − baseline was higher on Precon4 than on Precon1.</a:t>
            </a:r>
          </a:p>
        </p:txBody>
      </p:sp>
      <p:sp>
        <p:nvSpPr>
          <p:cNvPr id="12" name="!!N74">
            <a:extLst>
              <a:ext uri="{FF2B5EF4-FFF2-40B4-BE49-F238E27FC236}">
                <a16:creationId xmlns:a16="http://schemas.microsoft.com/office/drawing/2014/main" id="{C89A0315-7FB8-898E-2112-4C3D529F050B}"/>
              </a:ext>
            </a:extLst>
          </p:cNvPr>
          <p:cNvSpPr/>
          <p:nvPr/>
        </p:nvSpPr>
        <p:spPr>
          <a:xfrm>
            <a:off x="12573000" y="1559052"/>
            <a:ext cx="4241800" cy="107899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FP P = 0.389. Shuffles P = 0.546. t-test P = 0.018 (5 rats). One test only: a weaker lead.</a:t>
            </a:r>
          </a:p>
        </p:txBody>
      </p:sp>
      <p:sp>
        <p:nvSpPr>
          <p:cNvPr id="13" name="!!N71">
            <a:extLst>
              <a:ext uri="{FF2B5EF4-FFF2-40B4-BE49-F238E27FC236}">
                <a16:creationId xmlns:a16="http://schemas.microsoft.com/office/drawing/2014/main" id="{FCCACAC5-682D-8CF5-3557-9A3390D09F15}"/>
              </a:ext>
            </a:extLst>
          </p:cNvPr>
          <p:cNvSpPr/>
          <p:nvPr/>
        </p:nvSpPr>
        <p:spPr>
          <a:xfrm>
            <a:off x="12573000" y="838200"/>
            <a:ext cx="4241800" cy="795528"/>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R PER and L DHC gamma bursts rising together (amplitude correlation): cue − baseline was lower on Precon4 than on Precon1.</a:t>
            </a:r>
          </a:p>
        </p:txBody>
      </p:sp>
      <p:sp>
        <p:nvSpPr>
          <p:cNvPr id="14" name="!!N72">
            <a:extLst>
              <a:ext uri="{FF2B5EF4-FFF2-40B4-BE49-F238E27FC236}">
                <a16:creationId xmlns:a16="http://schemas.microsoft.com/office/drawing/2014/main" id="{1C51BD48-C226-FA95-34DA-EEA88FE3AF12}"/>
              </a:ext>
            </a:extLst>
          </p:cNvPr>
          <p:cNvSpPr/>
          <p:nvPr/>
        </p:nvSpPr>
        <p:spPr>
          <a:xfrm>
            <a:off x="12573000" y="1748028"/>
            <a:ext cx="4241800" cy="107899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FP P = 0.364. Shuffles P = 0.259. t-test P = 0.003 (4 rats). One test only: a weaker lead.</a:t>
            </a:r>
          </a:p>
        </p:txBody>
      </p:sp>
      <p:sp>
        <p:nvSpPr>
          <p:cNvPr id="15" name="!!T-BG">
            <a:extLst>
              <a:ext uri="{FF2B5EF4-FFF2-40B4-BE49-F238E27FC236}">
                <a16:creationId xmlns:a16="http://schemas.microsoft.com/office/drawing/2014/main" id="{8A3F6803-017D-9E12-CBF9-60065532B1C5}"/>
              </a:ext>
            </a:extLst>
          </p:cNvPr>
          <p:cNvSpPr/>
          <p:nvPr/>
        </p:nvSpPr>
        <p:spPr>
          <a:xfrm>
            <a:off x="-381000" y="0"/>
            <a:ext cx="12954000" cy="685800"/>
          </a:xfrm>
          <a:prstGeom prst="snip2DiagRect">
            <a:avLst>
              <a:gd name="adj1" fmla="val 0"/>
              <a:gd name="adj2" fmla="val 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
            <a:extLst>
              <a:ext uri="{FF2B5EF4-FFF2-40B4-BE49-F238E27FC236}">
                <a16:creationId xmlns:a16="http://schemas.microsoft.com/office/drawing/2014/main" id="{ABAB2429-EDC9-5637-23C0-0F1DB3D0CA16}"/>
              </a:ext>
            </a:extLst>
          </p:cNvPr>
          <p:cNvSpPr txBox="1"/>
          <p:nvPr/>
        </p:nvSpPr>
        <p:spPr>
          <a:xfrm>
            <a:off x="127000" y="0"/>
            <a:ext cx="11811000" cy="685800"/>
          </a:xfrm>
          <a:prstGeom prst="rect">
            <a:avLst/>
          </a:prstGeom>
          <a:noFill/>
        </p:spPr>
        <p:txBody>
          <a:bodyPr vert="horz" wrap="square" lIns="76200" tIns="25400" rIns="76200" bIns="25400" rtlCol="0" anchor="ctr">
            <a:noAutofit/>
          </a:bodyPr>
          <a:lstStyle/>
          <a:p>
            <a:pPr>
              <a:lnSpc>
                <a:spcPct val="95000"/>
              </a:lnSpc>
            </a:pPr>
            <a:r>
              <a:rPr lang="en-US" sz="2400" b="1" u="sng">
                <a:solidFill>
                  <a:srgbClr val="FFFFFF"/>
                </a:solidFill>
                <a:latin typeface="Aptos Display" panose="020B0004020202020204" pitchFamily="34" charset="0"/>
              </a:rPr>
              <a:t>2.7 · R PER – L DHC · Theta paces gamma</a:t>
            </a:r>
          </a:p>
        </p:txBody>
      </p:sp>
    </p:spTree>
    <p:extLst>
      <p:ext uri="{BB962C8B-B14F-4D97-AF65-F5344CB8AC3E}">
        <p14:creationId xmlns:p14="http://schemas.microsoft.com/office/powerpoint/2010/main" val="411486329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tage">
            <a:extLst>
              <a:ext uri="{FF2B5EF4-FFF2-40B4-BE49-F238E27FC236}">
                <a16:creationId xmlns:a16="http://schemas.microsoft.com/office/drawing/2014/main" id="{28575D3C-67B8-8222-43DC-FE7C7DE8DE75}"/>
              </a:ext>
            </a:extLst>
          </p:cNvPr>
          <p:cNvSpPr/>
          <p:nvPr/>
        </p:nvSpPr>
        <p:spPr>
          <a:xfrm>
            <a:off x="0" y="685800"/>
            <a:ext cx="7670800" cy="6172200"/>
          </a:xfrm>
          <a:prstGeom prst="rect">
            <a:avLst/>
          </a:prstGeom>
          <a:solidFill>
            <a:srgbClr val="ECEC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F2_7">
            <a:extLst>
              <a:ext uri="{FF2B5EF4-FFF2-40B4-BE49-F238E27FC236}">
                <a16:creationId xmlns:a16="http://schemas.microsoft.com/office/drawing/2014/main" id="{99D24695-E893-CAB9-89DA-176F23513AB8}"/>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0689347" y="1658375"/>
            <a:ext cx="18094144" cy="8896357"/>
          </a:xfrm>
          <a:prstGeom prst="rect">
            <a:avLst/>
          </a:prstGeom>
          <a:ln w="9525">
            <a:solidFill>
              <a:srgbClr val="B0B0B0"/>
            </a:solidFill>
          </a:ln>
        </p:spPr>
      </p:pic>
      <p:sp>
        <p:nvSpPr>
          <p:cNvPr id="5" name="!!D1">
            <a:extLst>
              <a:ext uri="{FF2B5EF4-FFF2-40B4-BE49-F238E27FC236}">
                <a16:creationId xmlns:a16="http://schemas.microsoft.com/office/drawing/2014/main" id="{E8C9B9B1-7DFD-D529-18D6-C2CC33370F43}"/>
              </a:ext>
            </a:extLst>
          </p:cNvPr>
          <p:cNvSpPr/>
          <p:nvPr/>
        </p:nvSpPr>
        <p:spPr>
          <a:xfrm>
            <a:off x="0" y="685800"/>
            <a:ext cx="7670800" cy="1046069"/>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2">
            <a:extLst>
              <a:ext uri="{FF2B5EF4-FFF2-40B4-BE49-F238E27FC236}">
                <a16:creationId xmlns:a16="http://schemas.microsoft.com/office/drawing/2014/main" id="{73E0AEE8-520E-617E-F895-56CE794347E2}"/>
              </a:ext>
            </a:extLst>
          </p:cNvPr>
          <p:cNvSpPr/>
          <p:nvPr/>
        </p:nvSpPr>
        <p:spPr>
          <a:xfrm>
            <a:off x="0" y="5837331"/>
            <a:ext cx="7670800" cy="1020669"/>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3">
            <a:extLst>
              <a:ext uri="{FF2B5EF4-FFF2-40B4-BE49-F238E27FC236}">
                <a16:creationId xmlns:a16="http://schemas.microsoft.com/office/drawing/2014/main" id="{1F7570AD-EDA1-225E-BFD8-753F89CC6253}"/>
              </a:ext>
            </a:extLst>
          </p:cNvPr>
          <p:cNvSpPr/>
          <p:nvPr/>
        </p:nvSpPr>
        <p:spPr>
          <a:xfrm>
            <a:off x="0" y="1731869"/>
            <a:ext cx="262509" cy="4105462"/>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4">
            <a:extLst>
              <a:ext uri="{FF2B5EF4-FFF2-40B4-BE49-F238E27FC236}">
                <a16:creationId xmlns:a16="http://schemas.microsoft.com/office/drawing/2014/main" id="{57CF28BB-F8AA-56C1-CFCB-49FD8959E2A9}"/>
              </a:ext>
            </a:extLst>
          </p:cNvPr>
          <p:cNvSpPr/>
          <p:nvPr/>
        </p:nvSpPr>
        <p:spPr>
          <a:xfrm>
            <a:off x="7433691" y="1731869"/>
            <a:ext cx="237109" cy="4105462"/>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ocus">
            <a:extLst>
              <a:ext uri="{FF2B5EF4-FFF2-40B4-BE49-F238E27FC236}">
                <a16:creationId xmlns:a16="http://schemas.microsoft.com/office/drawing/2014/main" id="{4CACC9E3-ADC3-9E26-4F07-1043BF62F406}"/>
              </a:ext>
            </a:extLst>
          </p:cNvPr>
          <p:cNvSpPr/>
          <p:nvPr/>
        </p:nvSpPr>
        <p:spPr>
          <a:xfrm>
            <a:off x="485697" y="1856163"/>
            <a:ext cx="3619528" cy="3856874"/>
          </a:xfrm>
          <a:prstGeom prst="rect">
            <a:avLst/>
          </a:prstGeom>
          <a:solidFill>
            <a:srgbClr val="83CBEB">
              <a:alpha val="37000"/>
            </a:srgbClr>
          </a:solidFill>
          <a:ln w="38100">
            <a:solidFill>
              <a:srgbClr val="46B1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ocus2">
            <a:extLst>
              <a:ext uri="{FF2B5EF4-FFF2-40B4-BE49-F238E27FC236}">
                <a16:creationId xmlns:a16="http://schemas.microsoft.com/office/drawing/2014/main" id="{CBE48348-9135-4971-E634-0C4916B0316B}"/>
              </a:ext>
            </a:extLst>
          </p:cNvPr>
          <p:cNvSpPr/>
          <p:nvPr/>
        </p:nvSpPr>
        <p:spPr>
          <a:xfrm>
            <a:off x="4184340" y="1856163"/>
            <a:ext cx="3223951" cy="3856874"/>
          </a:xfrm>
          <a:prstGeom prst="rect">
            <a:avLst/>
          </a:prstGeom>
          <a:solidFill>
            <a:srgbClr val="83CBEB">
              <a:alpha val="37000"/>
            </a:srgbClr>
          </a:solidFill>
          <a:ln w="38100">
            <a:solidFill>
              <a:srgbClr val="46B1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ail">
            <a:extLst>
              <a:ext uri="{FF2B5EF4-FFF2-40B4-BE49-F238E27FC236}">
                <a16:creationId xmlns:a16="http://schemas.microsoft.com/office/drawing/2014/main" id="{A54B4789-2C14-20D8-C1D5-D289045BC875}"/>
              </a:ext>
            </a:extLst>
          </p:cNvPr>
          <p:cNvSpPr/>
          <p:nvPr/>
        </p:nvSpPr>
        <p:spPr>
          <a:xfrm>
            <a:off x="7670800" y="685800"/>
            <a:ext cx="4521200" cy="61722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N73">
            <a:extLst>
              <a:ext uri="{FF2B5EF4-FFF2-40B4-BE49-F238E27FC236}">
                <a16:creationId xmlns:a16="http://schemas.microsoft.com/office/drawing/2014/main" id="{47C9DD88-000C-F1E0-3083-ED78AEA52A3E}"/>
              </a:ext>
            </a:extLst>
          </p:cNvPr>
          <p:cNvSpPr/>
          <p:nvPr/>
        </p:nvSpPr>
        <p:spPr>
          <a:xfrm>
            <a:off x="7797800" y="838200"/>
            <a:ext cx="4241800" cy="60655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Theta pacing gamma within R PER (PAC): cue − baseline was higher on Precon4 than on Precon1.</a:t>
            </a:r>
          </a:p>
        </p:txBody>
      </p:sp>
      <p:sp>
        <p:nvSpPr>
          <p:cNvPr id="13" name="!!N74">
            <a:extLst>
              <a:ext uri="{FF2B5EF4-FFF2-40B4-BE49-F238E27FC236}">
                <a16:creationId xmlns:a16="http://schemas.microsoft.com/office/drawing/2014/main" id="{2EAC06A1-E45E-F08F-D2B3-E5DF73701F25}"/>
              </a:ext>
            </a:extLst>
          </p:cNvPr>
          <p:cNvSpPr/>
          <p:nvPr/>
        </p:nvSpPr>
        <p:spPr>
          <a:xfrm>
            <a:off x="7797800" y="1559052"/>
            <a:ext cx="4241800" cy="107899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FP P = 0.389. Shuffles P = 0.546. t-test P = 0.018 (5 rats). One test only: a weaker lead.</a:t>
            </a:r>
          </a:p>
        </p:txBody>
      </p:sp>
      <p:sp>
        <p:nvSpPr>
          <p:cNvPr id="14" name="!!N75">
            <a:extLst>
              <a:ext uri="{FF2B5EF4-FFF2-40B4-BE49-F238E27FC236}">
                <a16:creationId xmlns:a16="http://schemas.microsoft.com/office/drawing/2014/main" id="{43661EC0-BF08-2F6C-6273-5298F5D538ED}"/>
              </a:ext>
            </a:extLst>
          </p:cNvPr>
          <p:cNvSpPr/>
          <p:nvPr/>
        </p:nvSpPr>
        <p:spPr>
          <a:xfrm>
            <a:off x="12573000" y="838200"/>
            <a:ext cx="4241800" cy="1645920"/>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Its roses: R PER gamma around the R PER theta cycle, averaged over trials and rats, Precon1 then Precon4. Where in the cycle, not how much: c is the result.</a:t>
            </a:r>
          </a:p>
        </p:txBody>
      </p:sp>
      <p:sp>
        <p:nvSpPr>
          <p:cNvPr id="15" name="!!T-BG">
            <a:extLst>
              <a:ext uri="{FF2B5EF4-FFF2-40B4-BE49-F238E27FC236}">
                <a16:creationId xmlns:a16="http://schemas.microsoft.com/office/drawing/2014/main" id="{E3FA86D2-F10A-5595-B161-421C8AD800F9}"/>
              </a:ext>
            </a:extLst>
          </p:cNvPr>
          <p:cNvSpPr/>
          <p:nvPr/>
        </p:nvSpPr>
        <p:spPr>
          <a:xfrm>
            <a:off x="-381000" y="0"/>
            <a:ext cx="12954000" cy="685800"/>
          </a:xfrm>
          <a:prstGeom prst="snip2DiagRect">
            <a:avLst>
              <a:gd name="adj1" fmla="val 0"/>
              <a:gd name="adj2" fmla="val 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
            <a:extLst>
              <a:ext uri="{FF2B5EF4-FFF2-40B4-BE49-F238E27FC236}">
                <a16:creationId xmlns:a16="http://schemas.microsoft.com/office/drawing/2014/main" id="{08D01616-9275-EE21-0175-78EE310459A6}"/>
              </a:ext>
            </a:extLst>
          </p:cNvPr>
          <p:cNvSpPr txBox="1"/>
          <p:nvPr/>
        </p:nvSpPr>
        <p:spPr>
          <a:xfrm>
            <a:off x="127000" y="0"/>
            <a:ext cx="11811000" cy="685800"/>
          </a:xfrm>
          <a:prstGeom prst="rect">
            <a:avLst/>
          </a:prstGeom>
          <a:noFill/>
        </p:spPr>
        <p:txBody>
          <a:bodyPr vert="horz" wrap="square" lIns="76200" tIns="25400" rIns="76200" bIns="25400" rtlCol="0" anchor="ctr">
            <a:noAutofit/>
          </a:bodyPr>
          <a:lstStyle/>
          <a:p>
            <a:pPr>
              <a:lnSpc>
                <a:spcPct val="95000"/>
              </a:lnSpc>
            </a:pPr>
            <a:r>
              <a:rPr lang="en-US" sz="2400" b="1" u="sng">
                <a:solidFill>
                  <a:srgbClr val="FFFFFF"/>
                </a:solidFill>
                <a:latin typeface="Aptos Display" panose="020B0004020202020204" pitchFamily="34" charset="0"/>
              </a:rPr>
              <a:t>2.7 · R PER – L DHC · Theta paces gamma</a:t>
            </a:r>
          </a:p>
        </p:txBody>
      </p:sp>
    </p:spTree>
    <p:extLst>
      <p:ext uri="{BB962C8B-B14F-4D97-AF65-F5344CB8AC3E}">
        <p14:creationId xmlns:p14="http://schemas.microsoft.com/office/powerpoint/2010/main" val="127419670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tage">
            <a:extLst>
              <a:ext uri="{FF2B5EF4-FFF2-40B4-BE49-F238E27FC236}">
                <a16:creationId xmlns:a16="http://schemas.microsoft.com/office/drawing/2014/main" id="{104B84E3-EB17-437B-20A6-E4D9EAF4F3EF}"/>
              </a:ext>
            </a:extLst>
          </p:cNvPr>
          <p:cNvSpPr/>
          <p:nvPr/>
        </p:nvSpPr>
        <p:spPr>
          <a:xfrm>
            <a:off x="0" y="685800"/>
            <a:ext cx="7670800" cy="6172200"/>
          </a:xfrm>
          <a:prstGeom prst="rect">
            <a:avLst/>
          </a:prstGeom>
          <a:solidFill>
            <a:srgbClr val="ECEC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F2_7">
            <a:extLst>
              <a:ext uri="{FF2B5EF4-FFF2-40B4-BE49-F238E27FC236}">
                <a16:creationId xmlns:a16="http://schemas.microsoft.com/office/drawing/2014/main" id="{664C88AD-99BA-BDB7-7967-73B7B62DD670}"/>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287909" y="1197139"/>
            <a:ext cx="7119007" cy="3500206"/>
          </a:xfrm>
          <a:prstGeom prst="rect">
            <a:avLst/>
          </a:prstGeom>
          <a:ln w="9525">
            <a:solidFill>
              <a:srgbClr val="B0B0B0"/>
            </a:solidFill>
          </a:ln>
        </p:spPr>
      </p:pic>
      <p:sp>
        <p:nvSpPr>
          <p:cNvPr id="5" name="!!D1">
            <a:extLst>
              <a:ext uri="{FF2B5EF4-FFF2-40B4-BE49-F238E27FC236}">
                <a16:creationId xmlns:a16="http://schemas.microsoft.com/office/drawing/2014/main" id="{D12B6ED2-8A23-6F46-C335-60CDF31AFEDD}"/>
              </a:ext>
            </a:extLst>
          </p:cNvPr>
          <p:cNvSpPr/>
          <p:nvPr/>
        </p:nvSpPr>
        <p:spPr>
          <a:xfrm>
            <a:off x="0" y="685800"/>
            <a:ext cx="7670800" cy="2236852"/>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2">
            <a:extLst>
              <a:ext uri="{FF2B5EF4-FFF2-40B4-BE49-F238E27FC236}">
                <a16:creationId xmlns:a16="http://schemas.microsoft.com/office/drawing/2014/main" id="{823DED86-4F3E-B8C6-E979-8665C8739743}"/>
              </a:ext>
            </a:extLst>
          </p:cNvPr>
          <p:cNvSpPr/>
          <p:nvPr/>
        </p:nvSpPr>
        <p:spPr>
          <a:xfrm>
            <a:off x="0" y="4646548"/>
            <a:ext cx="7670800" cy="2211452"/>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3">
            <a:extLst>
              <a:ext uri="{FF2B5EF4-FFF2-40B4-BE49-F238E27FC236}">
                <a16:creationId xmlns:a16="http://schemas.microsoft.com/office/drawing/2014/main" id="{EA6F6758-A1D7-DAC0-7103-24CF335BA0DE}"/>
              </a:ext>
            </a:extLst>
          </p:cNvPr>
          <p:cNvSpPr/>
          <p:nvPr/>
        </p:nvSpPr>
        <p:spPr>
          <a:xfrm>
            <a:off x="0" y="2922652"/>
            <a:ext cx="262509" cy="1723895"/>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4">
            <a:extLst>
              <a:ext uri="{FF2B5EF4-FFF2-40B4-BE49-F238E27FC236}">
                <a16:creationId xmlns:a16="http://schemas.microsoft.com/office/drawing/2014/main" id="{A342C0C7-1CF8-63D3-8D46-1F5137D66C42}"/>
              </a:ext>
            </a:extLst>
          </p:cNvPr>
          <p:cNvSpPr/>
          <p:nvPr/>
        </p:nvSpPr>
        <p:spPr>
          <a:xfrm>
            <a:off x="7433691" y="2922652"/>
            <a:ext cx="237109" cy="1723895"/>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ocus">
            <a:extLst>
              <a:ext uri="{FF2B5EF4-FFF2-40B4-BE49-F238E27FC236}">
                <a16:creationId xmlns:a16="http://schemas.microsoft.com/office/drawing/2014/main" id="{5116C983-B771-E96E-BE5A-C0F9C3DC0E5E}"/>
              </a:ext>
            </a:extLst>
          </p:cNvPr>
          <p:cNvSpPr/>
          <p:nvPr/>
        </p:nvSpPr>
        <p:spPr>
          <a:xfrm>
            <a:off x="287909" y="2986962"/>
            <a:ext cx="5019286" cy="1595277"/>
          </a:xfrm>
          <a:prstGeom prst="rect">
            <a:avLst/>
          </a:prstGeom>
          <a:solidFill>
            <a:srgbClr val="83CBEB">
              <a:alpha val="37000"/>
            </a:srgbClr>
          </a:solidFill>
          <a:ln w="38100">
            <a:solidFill>
              <a:srgbClr val="46B1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ail">
            <a:extLst>
              <a:ext uri="{FF2B5EF4-FFF2-40B4-BE49-F238E27FC236}">
                <a16:creationId xmlns:a16="http://schemas.microsoft.com/office/drawing/2014/main" id="{54E67666-C441-0627-4A82-074F3B66935A}"/>
              </a:ext>
            </a:extLst>
          </p:cNvPr>
          <p:cNvSpPr/>
          <p:nvPr/>
        </p:nvSpPr>
        <p:spPr>
          <a:xfrm>
            <a:off x="7670800" y="685800"/>
            <a:ext cx="4521200" cy="61722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N75">
            <a:extLst>
              <a:ext uri="{FF2B5EF4-FFF2-40B4-BE49-F238E27FC236}">
                <a16:creationId xmlns:a16="http://schemas.microsoft.com/office/drawing/2014/main" id="{DB9BF1D3-E247-19AF-369D-4C08F45AA184}"/>
              </a:ext>
            </a:extLst>
          </p:cNvPr>
          <p:cNvSpPr/>
          <p:nvPr/>
        </p:nvSpPr>
        <p:spPr>
          <a:xfrm>
            <a:off x="7797800" y="838200"/>
            <a:ext cx="4241800" cy="1645920"/>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Its roses: R PER gamma around the R PER theta cycle, averaged over trials and rats, Precon1 then Precon4. Where in the cycle, not how much: c is the result.</a:t>
            </a:r>
          </a:p>
        </p:txBody>
      </p:sp>
      <p:sp>
        <p:nvSpPr>
          <p:cNvPr id="12" name="!!N76">
            <a:extLst>
              <a:ext uri="{FF2B5EF4-FFF2-40B4-BE49-F238E27FC236}">
                <a16:creationId xmlns:a16="http://schemas.microsoft.com/office/drawing/2014/main" id="{DCFF287D-A605-EBAC-384C-1A21CE17701C}"/>
              </a:ext>
            </a:extLst>
          </p:cNvPr>
          <p:cNvSpPr/>
          <p:nvPr/>
        </p:nvSpPr>
        <p:spPr>
          <a:xfrm>
            <a:off x="12573000" y="838200"/>
            <a:ext cx="4241800" cy="107899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Steady-delay coupling, R ACC with L OFC (PLI): cue − baseline was higher on Precon4 than on Precon1.</a:t>
            </a:r>
          </a:p>
        </p:txBody>
      </p:sp>
      <p:sp>
        <p:nvSpPr>
          <p:cNvPr id="13" name="!!N73">
            <a:extLst>
              <a:ext uri="{FF2B5EF4-FFF2-40B4-BE49-F238E27FC236}">
                <a16:creationId xmlns:a16="http://schemas.microsoft.com/office/drawing/2014/main" id="{85B21446-F02D-3224-17DE-715D82C26265}"/>
              </a:ext>
            </a:extLst>
          </p:cNvPr>
          <p:cNvSpPr/>
          <p:nvPr/>
        </p:nvSpPr>
        <p:spPr>
          <a:xfrm>
            <a:off x="12573000" y="838200"/>
            <a:ext cx="4241800" cy="60655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Theta pacing gamma within R PER (PAC): cue − baseline was higher on Precon4 than on Precon1.</a:t>
            </a:r>
          </a:p>
        </p:txBody>
      </p:sp>
      <p:sp>
        <p:nvSpPr>
          <p:cNvPr id="14" name="!!N74">
            <a:extLst>
              <a:ext uri="{FF2B5EF4-FFF2-40B4-BE49-F238E27FC236}">
                <a16:creationId xmlns:a16="http://schemas.microsoft.com/office/drawing/2014/main" id="{1866B22F-9C37-AE70-66DF-3B3815DA006B}"/>
              </a:ext>
            </a:extLst>
          </p:cNvPr>
          <p:cNvSpPr/>
          <p:nvPr/>
        </p:nvSpPr>
        <p:spPr>
          <a:xfrm>
            <a:off x="12573000" y="1559052"/>
            <a:ext cx="4241800" cy="107899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FP P = 0.389. Shuffles P = 0.546. t-test P = 0.018 (5 rats). One test only: a weaker lead.</a:t>
            </a:r>
          </a:p>
        </p:txBody>
      </p:sp>
      <p:sp>
        <p:nvSpPr>
          <p:cNvPr id="15" name="!!T-BG">
            <a:extLst>
              <a:ext uri="{FF2B5EF4-FFF2-40B4-BE49-F238E27FC236}">
                <a16:creationId xmlns:a16="http://schemas.microsoft.com/office/drawing/2014/main" id="{32F88158-C59E-166D-7E11-9BDA24B70F68}"/>
              </a:ext>
            </a:extLst>
          </p:cNvPr>
          <p:cNvSpPr/>
          <p:nvPr/>
        </p:nvSpPr>
        <p:spPr>
          <a:xfrm>
            <a:off x="-381000" y="0"/>
            <a:ext cx="12954000" cy="685800"/>
          </a:xfrm>
          <a:prstGeom prst="snip2DiagRect">
            <a:avLst>
              <a:gd name="adj1" fmla="val 0"/>
              <a:gd name="adj2" fmla="val 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
            <a:extLst>
              <a:ext uri="{FF2B5EF4-FFF2-40B4-BE49-F238E27FC236}">
                <a16:creationId xmlns:a16="http://schemas.microsoft.com/office/drawing/2014/main" id="{A9586080-6DEB-1748-5547-FC03A51E015D}"/>
              </a:ext>
            </a:extLst>
          </p:cNvPr>
          <p:cNvSpPr txBox="1"/>
          <p:nvPr/>
        </p:nvSpPr>
        <p:spPr>
          <a:xfrm>
            <a:off x="127000" y="0"/>
            <a:ext cx="11811000" cy="685800"/>
          </a:xfrm>
          <a:prstGeom prst="rect">
            <a:avLst/>
          </a:prstGeom>
          <a:noFill/>
        </p:spPr>
        <p:txBody>
          <a:bodyPr vert="horz" wrap="square" lIns="76200" tIns="25400" rIns="76200" bIns="25400" rtlCol="0" anchor="ctr">
            <a:noAutofit/>
          </a:bodyPr>
          <a:lstStyle/>
          <a:p>
            <a:pPr>
              <a:lnSpc>
                <a:spcPct val="95000"/>
              </a:lnSpc>
            </a:pPr>
            <a:r>
              <a:rPr lang="en-US" sz="2400" b="1" u="sng">
                <a:solidFill>
                  <a:srgbClr val="FFFFFF"/>
                </a:solidFill>
                <a:latin typeface="Aptos Display" panose="020B0004020202020204" pitchFamily="34" charset="0"/>
              </a:rPr>
              <a:t>2.7 · R PER – L DHC · Theta paces gamma</a:t>
            </a:r>
          </a:p>
        </p:txBody>
      </p:sp>
    </p:spTree>
    <p:extLst>
      <p:ext uri="{BB962C8B-B14F-4D97-AF65-F5344CB8AC3E}">
        <p14:creationId xmlns:p14="http://schemas.microsoft.com/office/powerpoint/2010/main" val="373664893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tage">
            <a:extLst>
              <a:ext uri="{FF2B5EF4-FFF2-40B4-BE49-F238E27FC236}">
                <a16:creationId xmlns:a16="http://schemas.microsoft.com/office/drawing/2014/main" id="{7885A000-FF1B-D294-4121-167E4EE97BDD}"/>
              </a:ext>
            </a:extLst>
          </p:cNvPr>
          <p:cNvSpPr/>
          <p:nvPr/>
        </p:nvSpPr>
        <p:spPr>
          <a:xfrm>
            <a:off x="0" y="685800"/>
            <a:ext cx="7670800" cy="6172200"/>
          </a:xfrm>
          <a:prstGeom prst="rect">
            <a:avLst/>
          </a:prstGeom>
          <a:solidFill>
            <a:srgbClr val="ECEC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F4_1">
            <a:extLst>
              <a:ext uri="{FF2B5EF4-FFF2-40B4-BE49-F238E27FC236}">
                <a16:creationId xmlns:a16="http://schemas.microsoft.com/office/drawing/2014/main" id="{F4B2917B-FEE1-580C-D57A-9FABC87B1117}"/>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287909" y="1955904"/>
            <a:ext cx="7120382" cy="3657392"/>
          </a:xfrm>
          <a:prstGeom prst="rect">
            <a:avLst/>
          </a:prstGeom>
          <a:ln w="9525">
            <a:solidFill>
              <a:srgbClr val="B0B0B0"/>
            </a:solidFill>
          </a:ln>
        </p:spPr>
      </p:pic>
      <p:sp>
        <p:nvSpPr>
          <p:cNvPr id="5" name="!!D1">
            <a:extLst>
              <a:ext uri="{FF2B5EF4-FFF2-40B4-BE49-F238E27FC236}">
                <a16:creationId xmlns:a16="http://schemas.microsoft.com/office/drawing/2014/main" id="{F06FF814-4687-9393-EEF3-D38D1B0FC89E}"/>
              </a:ext>
            </a:extLst>
          </p:cNvPr>
          <p:cNvSpPr/>
          <p:nvPr/>
        </p:nvSpPr>
        <p:spPr>
          <a:xfrm>
            <a:off x="0" y="685800"/>
            <a:ext cx="7670800" cy="635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2">
            <a:extLst>
              <a:ext uri="{FF2B5EF4-FFF2-40B4-BE49-F238E27FC236}">
                <a16:creationId xmlns:a16="http://schemas.microsoft.com/office/drawing/2014/main" id="{C5DCB392-B09D-0DEB-E862-AD5AC47C8BCD}"/>
              </a:ext>
            </a:extLst>
          </p:cNvPr>
          <p:cNvSpPr/>
          <p:nvPr/>
        </p:nvSpPr>
        <p:spPr>
          <a:xfrm>
            <a:off x="0" y="6858000"/>
            <a:ext cx="7670800" cy="635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3">
            <a:extLst>
              <a:ext uri="{FF2B5EF4-FFF2-40B4-BE49-F238E27FC236}">
                <a16:creationId xmlns:a16="http://schemas.microsoft.com/office/drawing/2014/main" id="{928D60F4-7CF1-5021-5E9E-7DDE3664DDE6}"/>
              </a:ext>
            </a:extLst>
          </p:cNvPr>
          <p:cNvSpPr/>
          <p:nvPr/>
        </p:nvSpPr>
        <p:spPr>
          <a:xfrm>
            <a:off x="0" y="685800"/>
            <a:ext cx="6350" cy="617220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4">
            <a:extLst>
              <a:ext uri="{FF2B5EF4-FFF2-40B4-BE49-F238E27FC236}">
                <a16:creationId xmlns:a16="http://schemas.microsoft.com/office/drawing/2014/main" id="{51108F78-3DAD-C908-2D92-B71C4044DCA4}"/>
              </a:ext>
            </a:extLst>
          </p:cNvPr>
          <p:cNvSpPr/>
          <p:nvPr/>
        </p:nvSpPr>
        <p:spPr>
          <a:xfrm>
            <a:off x="7670800" y="685800"/>
            <a:ext cx="6350" cy="617220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ocus">
            <a:extLst>
              <a:ext uri="{FF2B5EF4-FFF2-40B4-BE49-F238E27FC236}">
                <a16:creationId xmlns:a16="http://schemas.microsoft.com/office/drawing/2014/main" id="{4AF581E5-20A2-A31D-A9DE-3D006B0A7C41}"/>
              </a:ext>
            </a:extLst>
          </p:cNvPr>
          <p:cNvSpPr/>
          <p:nvPr/>
        </p:nvSpPr>
        <p:spPr>
          <a:xfrm>
            <a:off x="4685497" y="2033737"/>
            <a:ext cx="1424351" cy="1517752"/>
          </a:xfrm>
          <a:prstGeom prst="rect">
            <a:avLst/>
          </a:prstGeom>
          <a:solidFill>
            <a:srgbClr val="83CBEB">
              <a:alpha val="37000"/>
            </a:srgbClr>
          </a:solidFill>
          <a:ln w="38100">
            <a:solidFill>
              <a:srgbClr val="46B1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ail">
            <a:extLst>
              <a:ext uri="{FF2B5EF4-FFF2-40B4-BE49-F238E27FC236}">
                <a16:creationId xmlns:a16="http://schemas.microsoft.com/office/drawing/2014/main" id="{1FA65D81-A57F-3FB9-22F5-92DC72D42392}"/>
              </a:ext>
            </a:extLst>
          </p:cNvPr>
          <p:cNvSpPr/>
          <p:nvPr/>
        </p:nvSpPr>
        <p:spPr>
          <a:xfrm>
            <a:off x="7670800" y="685800"/>
            <a:ext cx="4521200" cy="61722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N76">
            <a:extLst>
              <a:ext uri="{FF2B5EF4-FFF2-40B4-BE49-F238E27FC236}">
                <a16:creationId xmlns:a16="http://schemas.microsoft.com/office/drawing/2014/main" id="{9049192A-174E-0D49-8702-C6B84ED4980E}"/>
              </a:ext>
            </a:extLst>
          </p:cNvPr>
          <p:cNvSpPr/>
          <p:nvPr/>
        </p:nvSpPr>
        <p:spPr>
          <a:xfrm>
            <a:off x="7797800" y="838200"/>
            <a:ext cx="4241800" cy="107899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Steady-delay coupling, R ACC with L OFC (PLI): cue − baseline was higher on Precon4 than on Precon1.</a:t>
            </a:r>
          </a:p>
        </p:txBody>
      </p:sp>
      <p:sp>
        <p:nvSpPr>
          <p:cNvPr id="12" name="!!N77">
            <a:extLst>
              <a:ext uri="{FF2B5EF4-FFF2-40B4-BE49-F238E27FC236}">
                <a16:creationId xmlns:a16="http://schemas.microsoft.com/office/drawing/2014/main" id="{E2F4F7BA-8556-B686-75CB-5BE8E027C633}"/>
              </a:ext>
            </a:extLst>
          </p:cNvPr>
          <p:cNvSpPr/>
          <p:nvPr/>
        </p:nvSpPr>
        <p:spPr>
          <a:xfrm>
            <a:off x="12573000" y="1559052"/>
            <a:ext cx="4241800" cy="107899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FP P = 0.023. Shuffles P = 0.027. t-test P = 0.033 (8 rats). All three tests agree: the strongest lead.</a:t>
            </a:r>
          </a:p>
        </p:txBody>
      </p:sp>
      <p:sp>
        <p:nvSpPr>
          <p:cNvPr id="13" name="!!N75">
            <a:extLst>
              <a:ext uri="{FF2B5EF4-FFF2-40B4-BE49-F238E27FC236}">
                <a16:creationId xmlns:a16="http://schemas.microsoft.com/office/drawing/2014/main" id="{85540F04-DB73-FD39-60BE-071610F159DB}"/>
              </a:ext>
            </a:extLst>
          </p:cNvPr>
          <p:cNvSpPr/>
          <p:nvPr/>
        </p:nvSpPr>
        <p:spPr>
          <a:xfrm>
            <a:off x="12573000" y="838200"/>
            <a:ext cx="4241800" cy="1645920"/>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Its roses: R PER gamma around the R PER theta cycle, averaged over trials and rats, Precon1 then Precon4. Where in the cycle, not how much: c is the result.</a:t>
            </a:r>
          </a:p>
        </p:txBody>
      </p:sp>
      <p:sp>
        <p:nvSpPr>
          <p:cNvPr id="14" name="!!T-BG">
            <a:extLst>
              <a:ext uri="{FF2B5EF4-FFF2-40B4-BE49-F238E27FC236}">
                <a16:creationId xmlns:a16="http://schemas.microsoft.com/office/drawing/2014/main" id="{8EF83AF1-746B-FD63-CDAE-609A2A9A7B33}"/>
              </a:ext>
            </a:extLst>
          </p:cNvPr>
          <p:cNvSpPr/>
          <p:nvPr/>
        </p:nvSpPr>
        <p:spPr>
          <a:xfrm>
            <a:off x="-381000" y="0"/>
            <a:ext cx="12954000" cy="685800"/>
          </a:xfrm>
          <a:prstGeom prst="snip2DiagRect">
            <a:avLst>
              <a:gd name="adj1" fmla="val 0"/>
              <a:gd name="adj2" fmla="val 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
            <a:extLst>
              <a:ext uri="{FF2B5EF4-FFF2-40B4-BE49-F238E27FC236}">
                <a16:creationId xmlns:a16="http://schemas.microsoft.com/office/drawing/2014/main" id="{5AA90A3B-2709-E2F9-69A8-7881BD9993E6}"/>
              </a:ext>
            </a:extLst>
          </p:cNvPr>
          <p:cNvSpPr txBox="1"/>
          <p:nvPr/>
        </p:nvSpPr>
        <p:spPr>
          <a:xfrm>
            <a:off x="127000" y="0"/>
            <a:ext cx="11811000" cy="685800"/>
          </a:xfrm>
          <a:prstGeom prst="rect">
            <a:avLst/>
          </a:prstGeom>
          <a:noFill/>
        </p:spPr>
        <p:txBody>
          <a:bodyPr vert="horz" wrap="square" lIns="76200" tIns="25400" rIns="76200" bIns="25400" rtlCol="0" anchor="ctr">
            <a:noAutofit/>
          </a:bodyPr>
          <a:lstStyle/>
          <a:p>
            <a:pPr>
              <a:lnSpc>
                <a:spcPct val="95000"/>
              </a:lnSpc>
            </a:pPr>
            <a:r>
              <a:rPr lang="en-US" sz="2400" b="1" u="sng">
                <a:solidFill>
                  <a:srgbClr val="FFFFFF"/>
                </a:solidFill>
                <a:latin typeface="Aptos Display" panose="020B0004020202020204" pitchFamily="34" charset="0"/>
              </a:rPr>
              <a:t>4.1 · R ACC – L OFC · Not just a shared signal</a:t>
            </a:r>
          </a:p>
        </p:txBody>
      </p:sp>
    </p:spTree>
    <p:extLst>
      <p:ext uri="{BB962C8B-B14F-4D97-AF65-F5344CB8AC3E}">
        <p14:creationId xmlns:p14="http://schemas.microsoft.com/office/powerpoint/2010/main" val="336270992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tage">
            <a:extLst>
              <a:ext uri="{FF2B5EF4-FFF2-40B4-BE49-F238E27FC236}">
                <a16:creationId xmlns:a16="http://schemas.microsoft.com/office/drawing/2014/main" id="{25B628BA-0416-9814-13F5-542065538441}"/>
              </a:ext>
            </a:extLst>
          </p:cNvPr>
          <p:cNvSpPr/>
          <p:nvPr/>
        </p:nvSpPr>
        <p:spPr>
          <a:xfrm>
            <a:off x="0" y="685800"/>
            <a:ext cx="7670800" cy="6172200"/>
          </a:xfrm>
          <a:prstGeom prst="rect">
            <a:avLst/>
          </a:prstGeom>
          <a:solidFill>
            <a:srgbClr val="ECEC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F4_1">
            <a:extLst>
              <a:ext uri="{FF2B5EF4-FFF2-40B4-BE49-F238E27FC236}">
                <a16:creationId xmlns:a16="http://schemas.microsoft.com/office/drawing/2014/main" id="{2A73AB6B-7765-95FA-CC4E-5C57D608E975}"/>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0689347" y="1658375"/>
            <a:ext cx="18094144" cy="9294076"/>
          </a:xfrm>
          <a:prstGeom prst="rect">
            <a:avLst/>
          </a:prstGeom>
          <a:ln w="9525">
            <a:solidFill>
              <a:srgbClr val="B0B0B0"/>
            </a:solidFill>
          </a:ln>
        </p:spPr>
      </p:pic>
      <p:sp>
        <p:nvSpPr>
          <p:cNvPr id="5" name="!!D1">
            <a:extLst>
              <a:ext uri="{FF2B5EF4-FFF2-40B4-BE49-F238E27FC236}">
                <a16:creationId xmlns:a16="http://schemas.microsoft.com/office/drawing/2014/main" id="{48FBE2FD-711D-52BD-8546-0EEB683C844B}"/>
              </a:ext>
            </a:extLst>
          </p:cNvPr>
          <p:cNvSpPr/>
          <p:nvPr/>
        </p:nvSpPr>
        <p:spPr>
          <a:xfrm>
            <a:off x="0" y="685800"/>
            <a:ext cx="7670800" cy="1046069"/>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2">
            <a:extLst>
              <a:ext uri="{FF2B5EF4-FFF2-40B4-BE49-F238E27FC236}">
                <a16:creationId xmlns:a16="http://schemas.microsoft.com/office/drawing/2014/main" id="{1F3540C9-65A5-2337-55F6-00A9009093BD}"/>
              </a:ext>
            </a:extLst>
          </p:cNvPr>
          <p:cNvSpPr/>
          <p:nvPr/>
        </p:nvSpPr>
        <p:spPr>
          <a:xfrm>
            <a:off x="0" y="5837331"/>
            <a:ext cx="7670800" cy="1020669"/>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3">
            <a:extLst>
              <a:ext uri="{FF2B5EF4-FFF2-40B4-BE49-F238E27FC236}">
                <a16:creationId xmlns:a16="http://schemas.microsoft.com/office/drawing/2014/main" id="{0E242EDF-FE38-F9F8-1DD2-718F65678D46}"/>
              </a:ext>
            </a:extLst>
          </p:cNvPr>
          <p:cNvSpPr/>
          <p:nvPr/>
        </p:nvSpPr>
        <p:spPr>
          <a:xfrm>
            <a:off x="0" y="1731869"/>
            <a:ext cx="262509" cy="4105462"/>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4">
            <a:extLst>
              <a:ext uri="{FF2B5EF4-FFF2-40B4-BE49-F238E27FC236}">
                <a16:creationId xmlns:a16="http://schemas.microsoft.com/office/drawing/2014/main" id="{EDD96F6C-FD8D-0BA5-B143-46F0612BDC27}"/>
              </a:ext>
            </a:extLst>
          </p:cNvPr>
          <p:cNvSpPr/>
          <p:nvPr/>
        </p:nvSpPr>
        <p:spPr>
          <a:xfrm>
            <a:off x="7433691" y="1731869"/>
            <a:ext cx="237109" cy="4105462"/>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ocus">
            <a:extLst>
              <a:ext uri="{FF2B5EF4-FFF2-40B4-BE49-F238E27FC236}">
                <a16:creationId xmlns:a16="http://schemas.microsoft.com/office/drawing/2014/main" id="{C051F528-716A-D798-EDBE-1E472A115DCB}"/>
              </a:ext>
            </a:extLst>
          </p:cNvPr>
          <p:cNvSpPr/>
          <p:nvPr/>
        </p:nvSpPr>
        <p:spPr>
          <a:xfrm>
            <a:off x="485697" y="1856163"/>
            <a:ext cx="3619528" cy="3856874"/>
          </a:xfrm>
          <a:prstGeom prst="rect">
            <a:avLst/>
          </a:prstGeom>
          <a:solidFill>
            <a:srgbClr val="83CBEB">
              <a:alpha val="37000"/>
            </a:srgbClr>
          </a:solidFill>
          <a:ln w="38100">
            <a:solidFill>
              <a:srgbClr val="46B1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ocus2">
            <a:extLst>
              <a:ext uri="{FF2B5EF4-FFF2-40B4-BE49-F238E27FC236}">
                <a16:creationId xmlns:a16="http://schemas.microsoft.com/office/drawing/2014/main" id="{E18B64FF-9F69-9E9D-CE0C-A379D1376A27}"/>
              </a:ext>
            </a:extLst>
          </p:cNvPr>
          <p:cNvSpPr/>
          <p:nvPr/>
        </p:nvSpPr>
        <p:spPr>
          <a:xfrm>
            <a:off x="4184340" y="1856163"/>
            <a:ext cx="3223951" cy="3856874"/>
          </a:xfrm>
          <a:prstGeom prst="rect">
            <a:avLst/>
          </a:prstGeom>
          <a:solidFill>
            <a:srgbClr val="83CBEB">
              <a:alpha val="37000"/>
            </a:srgbClr>
          </a:solidFill>
          <a:ln w="38100">
            <a:solidFill>
              <a:srgbClr val="46B1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ail">
            <a:extLst>
              <a:ext uri="{FF2B5EF4-FFF2-40B4-BE49-F238E27FC236}">
                <a16:creationId xmlns:a16="http://schemas.microsoft.com/office/drawing/2014/main" id="{B0876D43-5359-8668-4138-A8032ABD8B71}"/>
              </a:ext>
            </a:extLst>
          </p:cNvPr>
          <p:cNvSpPr/>
          <p:nvPr/>
        </p:nvSpPr>
        <p:spPr>
          <a:xfrm>
            <a:off x="7670800" y="685800"/>
            <a:ext cx="4521200" cy="61722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N76">
            <a:extLst>
              <a:ext uri="{FF2B5EF4-FFF2-40B4-BE49-F238E27FC236}">
                <a16:creationId xmlns:a16="http://schemas.microsoft.com/office/drawing/2014/main" id="{F8DE129A-D58C-496F-A5D1-6DEC0FE01FB9}"/>
              </a:ext>
            </a:extLst>
          </p:cNvPr>
          <p:cNvSpPr/>
          <p:nvPr/>
        </p:nvSpPr>
        <p:spPr>
          <a:xfrm>
            <a:off x="7797800" y="838200"/>
            <a:ext cx="4241800" cy="60655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Steady-delay coupling, R ACC with L OFC (PLI): cue − baseline was higher on Precon4 than on Precon1.</a:t>
            </a:r>
          </a:p>
        </p:txBody>
      </p:sp>
      <p:sp>
        <p:nvSpPr>
          <p:cNvPr id="13" name="!!N77">
            <a:extLst>
              <a:ext uri="{FF2B5EF4-FFF2-40B4-BE49-F238E27FC236}">
                <a16:creationId xmlns:a16="http://schemas.microsoft.com/office/drawing/2014/main" id="{C78DD7FD-3EC0-3553-9633-F3A73681BCEE}"/>
              </a:ext>
            </a:extLst>
          </p:cNvPr>
          <p:cNvSpPr/>
          <p:nvPr/>
        </p:nvSpPr>
        <p:spPr>
          <a:xfrm>
            <a:off x="7797800" y="1559052"/>
            <a:ext cx="4241800" cy="107899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FP P = 0.023. Shuffles P = 0.027. t-test P = 0.033 (8 rats). All three tests agree: the strongest lead.</a:t>
            </a:r>
          </a:p>
        </p:txBody>
      </p:sp>
      <p:sp>
        <p:nvSpPr>
          <p:cNvPr id="14" name="!!N78">
            <a:extLst>
              <a:ext uri="{FF2B5EF4-FFF2-40B4-BE49-F238E27FC236}">
                <a16:creationId xmlns:a16="http://schemas.microsoft.com/office/drawing/2014/main" id="{DFACA28A-7740-3BA1-5E07-011F1113F2E2}"/>
              </a:ext>
            </a:extLst>
          </p:cNvPr>
          <p:cNvSpPr/>
          <p:nvPr/>
        </p:nvSpPr>
        <p:spPr>
          <a:xfrm>
            <a:off x="12573000" y="2279904"/>
            <a:ext cx="4241800" cy="1362456"/>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Coupling with a real delay, R ACC with L OFC (imaginary coherence): cue − baseline was higher on Precon4 than on Precon1.</a:t>
            </a:r>
          </a:p>
        </p:txBody>
      </p:sp>
      <p:sp>
        <p:nvSpPr>
          <p:cNvPr id="15" name="!!T-BG">
            <a:extLst>
              <a:ext uri="{FF2B5EF4-FFF2-40B4-BE49-F238E27FC236}">
                <a16:creationId xmlns:a16="http://schemas.microsoft.com/office/drawing/2014/main" id="{001A7FB7-A55F-6DB8-7A33-36185A8998B8}"/>
              </a:ext>
            </a:extLst>
          </p:cNvPr>
          <p:cNvSpPr/>
          <p:nvPr/>
        </p:nvSpPr>
        <p:spPr>
          <a:xfrm>
            <a:off x="-381000" y="0"/>
            <a:ext cx="12954000" cy="685800"/>
          </a:xfrm>
          <a:prstGeom prst="snip2DiagRect">
            <a:avLst>
              <a:gd name="adj1" fmla="val 0"/>
              <a:gd name="adj2" fmla="val 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
            <a:extLst>
              <a:ext uri="{FF2B5EF4-FFF2-40B4-BE49-F238E27FC236}">
                <a16:creationId xmlns:a16="http://schemas.microsoft.com/office/drawing/2014/main" id="{1E9831F3-8A46-563B-A94E-D7FDD6E604DC}"/>
              </a:ext>
            </a:extLst>
          </p:cNvPr>
          <p:cNvSpPr txBox="1"/>
          <p:nvPr/>
        </p:nvSpPr>
        <p:spPr>
          <a:xfrm>
            <a:off x="127000" y="0"/>
            <a:ext cx="11811000" cy="685800"/>
          </a:xfrm>
          <a:prstGeom prst="rect">
            <a:avLst/>
          </a:prstGeom>
          <a:noFill/>
        </p:spPr>
        <p:txBody>
          <a:bodyPr vert="horz" wrap="square" lIns="76200" tIns="25400" rIns="76200" bIns="25400" rtlCol="0" anchor="ctr">
            <a:noAutofit/>
          </a:bodyPr>
          <a:lstStyle/>
          <a:p>
            <a:pPr>
              <a:lnSpc>
                <a:spcPct val="95000"/>
              </a:lnSpc>
            </a:pPr>
            <a:r>
              <a:rPr lang="en-US" sz="2400" b="1" u="sng">
                <a:solidFill>
                  <a:srgbClr val="FFFFFF"/>
                </a:solidFill>
                <a:latin typeface="Aptos Display" panose="020B0004020202020204" pitchFamily="34" charset="0"/>
              </a:rPr>
              <a:t>4.1 · R ACC – L OFC · Not just a shared signal</a:t>
            </a:r>
          </a:p>
        </p:txBody>
      </p:sp>
    </p:spTree>
    <p:extLst>
      <p:ext uri="{BB962C8B-B14F-4D97-AF65-F5344CB8AC3E}">
        <p14:creationId xmlns:p14="http://schemas.microsoft.com/office/powerpoint/2010/main" val="51113564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tage">
            <a:extLst>
              <a:ext uri="{FF2B5EF4-FFF2-40B4-BE49-F238E27FC236}">
                <a16:creationId xmlns:a16="http://schemas.microsoft.com/office/drawing/2014/main" id="{D5B867BA-C81C-4A0F-969F-FF76973775E3}"/>
              </a:ext>
            </a:extLst>
          </p:cNvPr>
          <p:cNvSpPr/>
          <p:nvPr/>
        </p:nvSpPr>
        <p:spPr>
          <a:xfrm>
            <a:off x="0" y="685800"/>
            <a:ext cx="7670800" cy="6172200"/>
          </a:xfrm>
          <a:prstGeom prst="rect">
            <a:avLst/>
          </a:prstGeom>
          <a:solidFill>
            <a:srgbClr val="ECEC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F4_1">
            <a:extLst>
              <a:ext uri="{FF2B5EF4-FFF2-40B4-BE49-F238E27FC236}">
                <a16:creationId xmlns:a16="http://schemas.microsoft.com/office/drawing/2014/main" id="{18964B93-DB10-AEC9-16D2-4CC1C32D1940}"/>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287909" y="1955904"/>
            <a:ext cx="7120382" cy="3657392"/>
          </a:xfrm>
          <a:prstGeom prst="rect">
            <a:avLst/>
          </a:prstGeom>
          <a:ln w="9525">
            <a:solidFill>
              <a:srgbClr val="B0B0B0"/>
            </a:solidFill>
          </a:ln>
        </p:spPr>
      </p:pic>
      <p:sp>
        <p:nvSpPr>
          <p:cNvPr id="5" name="!!D1">
            <a:extLst>
              <a:ext uri="{FF2B5EF4-FFF2-40B4-BE49-F238E27FC236}">
                <a16:creationId xmlns:a16="http://schemas.microsoft.com/office/drawing/2014/main" id="{A220DDEE-AE66-544B-2019-50464470662F}"/>
              </a:ext>
            </a:extLst>
          </p:cNvPr>
          <p:cNvSpPr/>
          <p:nvPr/>
        </p:nvSpPr>
        <p:spPr>
          <a:xfrm>
            <a:off x="0" y="685800"/>
            <a:ext cx="7670800" cy="635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2">
            <a:extLst>
              <a:ext uri="{FF2B5EF4-FFF2-40B4-BE49-F238E27FC236}">
                <a16:creationId xmlns:a16="http://schemas.microsoft.com/office/drawing/2014/main" id="{5907E7EC-5AB0-45C3-DB63-A4CD31CB9106}"/>
              </a:ext>
            </a:extLst>
          </p:cNvPr>
          <p:cNvSpPr/>
          <p:nvPr/>
        </p:nvSpPr>
        <p:spPr>
          <a:xfrm>
            <a:off x="0" y="6858000"/>
            <a:ext cx="7670800" cy="635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3">
            <a:extLst>
              <a:ext uri="{FF2B5EF4-FFF2-40B4-BE49-F238E27FC236}">
                <a16:creationId xmlns:a16="http://schemas.microsoft.com/office/drawing/2014/main" id="{C32F4389-3624-D9E0-1A48-A147591EC266}"/>
              </a:ext>
            </a:extLst>
          </p:cNvPr>
          <p:cNvSpPr/>
          <p:nvPr/>
        </p:nvSpPr>
        <p:spPr>
          <a:xfrm>
            <a:off x="0" y="685800"/>
            <a:ext cx="6350" cy="617220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4">
            <a:extLst>
              <a:ext uri="{FF2B5EF4-FFF2-40B4-BE49-F238E27FC236}">
                <a16:creationId xmlns:a16="http://schemas.microsoft.com/office/drawing/2014/main" id="{D83D5E43-FDBD-8A61-6637-CFAFB059DBBA}"/>
              </a:ext>
            </a:extLst>
          </p:cNvPr>
          <p:cNvSpPr/>
          <p:nvPr/>
        </p:nvSpPr>
        <p:spPr>
          <a:xfrm>
            <a:off x="7670800" y="685800"/>
            <a:ext cx="6350" cy="617220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ocus">
            <a:extLst>
              <a:ext uri="{FF2B5EF4-FFF2-40B4-BE49-F238E27FC236}">
                <a16:creationId xmlns:a16="http://schemas.microsoft.com/office/drawing/2014/main" id="{805590CA-9E96-9B8B-940F-B883922A8CD4}"/>
              </a:ext>
            </a:extLst>
          </p:cNvPr>
          <p:cNvSpPr/>
          <p:nvPr/>
        </p:nvSpPr>
        <p:spPr>
          <a:xfrm>
            <a:off x="4685497" y="3746073"/>
            <a:ext cx="1424351" cy="1517751"/>
          </a:xfrm>
          <a:prstGeom prst="rect">
            <a:avLst/>
          </a:prstGeom>
          <a:solidFill>
            <a:srgbClr val="83CBEB">
              <a:alpha val="37000"/>
            </a:srgbClr>
          </a:solidFill>
          <a:ln w="38100">
            <a:solidFill>
              <a:srgbClr val="46B1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ail">
            <a:extLst>
              <a:ext uri="{FF2B5EF4-FFF2-40B4-BE49-F238E27FC236}">
                <a16:creationId xmlns:a16="http://schemas.microsoft.com/office/drawing/2014/main" id="{A090A870-CF19-62EB-8C3C-7DC8BCDA2534}"/>
              </a:ext>
            </a:extLst>
          </p:cNvPr>
          <p:cNvSpPr/>
          <p:nvPr/>
        </p:nvSpPr>
        <p:spPr>
          <a:xfrm>
            <a:off x="7670800" y="685800"/>
            <a:ext cx="4521200" cy="61722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N76">
            <a:extLst>
              <a:ext uri="{FF2B5EF4-FFF2-40B4-BE49-F238E27FC236}">
                <a16:creationId xmlns:a16="http://schemas.microsoft.com/office/drawing/2014/main" id="{85C1F6ED-AE16-EB0C-D21E-13E0FAB0860D}"/>
              </a:ext>
            </a:extLst>
          </p:cNvPr>
          <p:cNvSpPr/>
          <p:nvPr/>
        </p:nvSpPr>
        <p:spPr>
          <a:xfrm>
            <a:off x="7797800" y="838200"/>
            <a:ext cx="4241800" cy="60655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Steady-delay coupling, R ACC with L OFC (PLI): cue − baseline was higher on Precon4 than on Precon1.</a:t>
            </a:r>
          </a:p>
        </p:txBody>
      </p:sp>
      <p:sp>
        <p:nvSpPr>
          <p:cNvPr id="12" name="!!N77">
            <a:extLst>
              <a:ext uri="{FF2B5EF4-FFF2-40B4-BE49-F238E27FC236}">
                <a16:creationId xmlns:a16="http://schemas.microsoft.com/office/drawing/2014/main" id="{33BB657A-5067-F484-38C9-38E0CF88078D}"/>
              </a:ext>
            </a:extLst>
          </p:cNvPr>
          <p:cNvSpPr/>
          <p:nvPr/>
        </p:nvSpPr>
        <p:spPr>
          <a:xfrm>
            <a:off x="7797800" y="1559052"/>
            <a:ext cx="4241800" cy="60655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FP P = 0.023. Shuffles P = 0.027. t-test P = 0.033 (8 rats). </a:t>
            </a:r>
            <a:r>
              <a:rPr lang="en-US" sz="1200" b="1">
                <a:solidFill>
                  <a:srgbClr val="FFFFFF"/>
                </a:solidFill>
                <a:latin typeface="Aptos" panose="020B0004020202020204" pitchFamily="34" charset="0"/>
              </a:rPr>
              <a:t>All three tests agree: the strongest lead.</a:t>
            </a:r>
          </a:p>
        </p:txBody>
      </p:sp>
      <p:sp>
        <p:nvSpPr>
          <p:cNvPr id="13" name="!!N78">
            <a:extLst>
              <a:ext uri="{FF2B5EF4-FFF2-40B4-BE49-F238E27FC236}">
                <a16:creationId xmlns:a16="http://schemas.microsoft.com/office/drawing/2014/main" id="{5F217FF1-63FB-27A0-9469-AC10C51700C3}"/>
              </a:ext>
            </a:extLst>
          </p:cNvPr>
          <p:cNvSpPr/>
          <p:nvPr/>
        </p:nvSpPr>
        <p:spPr>
          <a:xfrm>
            <a:off x="7797800" y="2279904"/>
            <a:ext cx="4241800" cy="1362456"/>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Coupling with a real delay, R ACC with L OFC (imaginary coherence): cue − baseline was higher on Precon4 than on Precon1.</a:t>
            </a:r>
          </a:p>
        </p:txBody>
      </p:sp>
      <p:sp>
        <p:nvSpPr>
          <p:cNvPr id="14" name="!!N79">
            <a:extLst>
              <a:ext uri="{FF2B5EF4-FFF2-40B4-BE49-F238E27FC236}">
                <a16:creationId xmlns:a16="http://schemas.microsoft.com/office/drawing/2014/main" id="{D39AB3DC-B475-A871-26EA-EBA27A46D34A}"/>
              </a:ext>
            </a:extLst>
          </p:cNvPr>
          <p:cNvSpPr/>
          <p:nvPr/>
        </p:nvSpPr>
        <p:spPr>
          <a:xfrm>
            <a:off x="12573000" y="3189732"/>
            <a:ext cx="4241800" cy="107899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FP P = 0.008. Shuffles P = 0.012. t-test P = 0.016 (8 rats). All three tests agree: the strongest lead.</a:t>
            </a:r>
          </a:p>
        </p:txBody>
      </p:sp>
      <p:sp>
        <p:nvSpPr>
          <p:cNvPr id="15" name="!!T-BG">
            <a:extLst>
              <a:ext uri="{FF2B5EF4-FFF2-40B4-BE49-F238E27FC236}">
                <a16:creationId xmlns:a16="http://schemas.microsoft.com/office/drawing/2014/main" id="{9794498D-0064-2CBC-FC8E-F27A7D1EAB42}"/>
              </a:ext>
            </a:extLst>
          </p:cNvPr>
          <p:cNvSpPr/>
          <p:nvPr/>
        </p:nvSpPr>
        <p:spPr>
          <a:xfrm>
            <a:off x="-381000" y="0"/>
            <a:ext cx="12954000" cy="685800"/>
          </a:xfrm>
          <a:prstGeom prst="snip2DiagRect">
            <a:avLst>
              <a:gd name="adj1" fmla="val 0"/>
              <a:gd name="adj2" fmla="val 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
            <a:extLst>
              <a:ext uri="{FF2B5EF4-FFF2-40B4-BE49-F238E27FC236}">
                <a16:creationId xmlns:a16="http://schemas.microsoft.com/office/drawing/2014/main" id="{D13B90EC-BB52-50A9-4DBE-4A03231982B8}"/>
              </a:ext>
            </a:extLst>
          </p:cNvPr>
          <p:cNvSpPr txBox="1"/>
          <p:nvPr/>
        </p:nvSpPr>
        <p:spPr>
          <a:xfrm>
            <a:off x="127000" y="0"/>
            <a:ext cx="11811000" cy="685800"/>
          </a:xfrm>
          <a:prstGeom prst="rect">
            <a:avLst/>
          </a:prstGeom>
          <a:noFill/>
        </p:spPr>
        <p:txBody>
          <a:bodyPr vert="horz" wrap="square" lIns="76200" tIns="25400" rIns="76200" bIns="25400" rtlCol="0" anchor="ctr">
            <a:noAutofit/>
          </a:bodyPr>
          <a:lstStyle/>
          <a:p>
            <a:pPr>
              <a:lnSpc>
                <a:spcPct val="95000"/>
              </a:lnSpc>
            </a:pPr>
            <a:r>
              <a:rPr lang="en-US" sz="2400" b="1" u="sng">
                <a:solidFill>
                  <a:srgbClr val="FFFFFF"/>
                </a:solidFill>
                <a:latin typeface="Aptos Display" panose="020B0004020202020204" pitchFamily="34" charset="0"/>
              </a:rPr>
              <a:t>4.1 · R ACC – L OFC · Not just a shared signal</a:t>
            </a:r>
          </a:p>
        </p:txBody>
      </p:sp>
    </p:spTree>
    <p:extLst>
      <p:ext uri="{BB962C8B-B14F-4D97-AF65-F5344CB8AC3E}">
        <p14:creationId xmlns:p14="http://schemas.microsoft.com/office/powerpoint/2010/main" val="320036518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tage">
            <a:extLst>
              <a:ext uri="{FF2B5EF4-FFF2-40B4-BE49-F238E27FC236}">
                <a16:creationId xmlns:a16="http://schemas.microsoft.com/office/drawing/2014/main" id="{49C39E21-820E-69D9-630C-A09A8E9CED2C}"/>
              </a:ext>
            </a:extLst>
          </p:cNvPr>
          <p:cNvSpPr/>
          <p:nvPr/>
        </p:nvSpPr>
        <p:spPr>
          <a:xfrm>
            <a:off x="0" y="685800"/>
            <a:ext cx="7670800" cy="6172200"/>
          </a:xfrm>
          <a:prstGeom prst="rect">
            <a:avLst/>
          </a:prstGeom>
          <a:solidFill>
            <a:srgbClr val="ECEC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F4_1">
            <a:extLst>
              <a:ext uri="{FF2B5EF4-FFF2-40B4-BE49-F238E27FC236}">
                <a16:creationId xmlns:a16="http://schemas.microsoft.com/office/drawing/2014/main" id="{3CCAAD87-DA85-D025-8D88-704EBF96B70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0689347" y="-2692970"/>
            <a:ext cx="18094144" cy="9294076"/>
          </a:xfrm>
          <a:prstGeom prst="rect">
            <a:avLst/>
          </a:prstGeom>
          <a:ln w="9525">
            <a:solidFill>
              <a:srgbClr val="B0B0B0"/>
            </a:solidFill>
          </a:ln>
        </p:spPr>
      </p:pic>
      <p:sp>
        <p:nvSpPr>
          <p:cNvPr id="5" name="!!D1">
            <a:extLst>
              <a:ext uri="{FF2B5EF4-FFF2-40B4-BE49-F238E27FC236}">
                <a16:creationId xmlns:a16="http://schemas.microsoft.com/office/drawing/2014/main" id="{A38BD633-1240-5DDC-5DBC-38B678F7ED43}"/>
              </a:ext>
            </a:extLst>
          </p:cNvPr>
          <p:cNvSpPr/>
          <p:nvPr/>
        </p:nvSpPr>
        <p:spPr>
          <a:xfrm>
            <a:off x="0" y="685800"/>
            <a:ext cx="7670800" cy="1046069"/>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2">
            <a:extLst>
              <a:ext uri="{FF2B5EF4-FFF2-40B4-BE49-F238E27FC236}">
                <a16:creationId xmlns:a16="http://schemas.microsoft.com/office/drawing/2014/main" id="{4BCF0439-ED93-0F31-7DE3-C25E3F7590D8}"/>
              </a:ext>
            </a:extLst>
          </p:cNvPr>
          <p:cNvSpPr/>
          <p:nvPr/>
        </p:nvSpPr>
        <p:spPr>
          <a:xfrm>
            <a:off x="0" y="5837331"/>
            <a:ext cx="7670800" cy="1020669"/>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3">
            <a:extLst>
              <a:ext uri="{FF2B5EF4-FFF2-40B4-BE49-F238E27FC236}">
                <a16:creationId xmlns:a16="http://schemas.microsoft.com/office/drawing/2014/main" id="{14233E64-A4FD-18D4-E3A2-93899635C54B}"/>
              </a:ext>
            </a:extLst>
          </p:cNvPr>
          <p:cNvSpPr/>
          <p:nvPr/>
        </p:nvSpPr>
        <p:spPr>
          <a:xfrm>
            <a:off x="0" y="1731869"/>
            <a:ext cx="262509" cy="4105462"/>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4">
            <a:extLst>
              <a:ext uri="{FF2B5EF4-FFF2-40B4-BE49-F238E27FC236}">
                <a16:creationId xmlns:a16="http://schemas.microsoft.com/office/drawing/2014/main" id="{AC54CC5F-3AF0-DC27-5F4D-5EA1AAD8F240}"/>
              </a:ext>
            </a:extLst>
          </p:cNvPr>
          <p:cNvSpPr/>
          <p:nvPr/>
        </p:nvSpPr>
        <p:spPr>
          <a:xfrm>
            <a:off x="7433691" y="1731869"/>
            <a:ext cx="237109" cy="4105462"/>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ocus">
            <a:extLst>
              <a:ext uri="{FF2B5EF4-FFF2-40B4-BE49-F238E27FC236}">
                <a16:creationId xmlns:a16="http://schemas.microsoft.com/office/drawing/2014/main" id="{06BF7D75-21C3-C9E7-F00A-2BC92B24C120}"/>
              </a:ext>
            </a:extLst>
          </p:cNvPr>
          <p:cNvSpPr/>
          <p:nvPr/>
        </p:nvSpPr>
        <p:spPr>
          <a:xfrm>
            <a:off x="485697" y="1856163"/>
            <a:ext cx="3619528" cy="3856874"/>
          </a:xfrm>
          <a:prstGeom prst="rect">
            <a:avLst/>
          </a:prstGeom>
          <a:solidFill>
            <a:srgbClr val="83CBEB">
              <a:alpha val="37000"/>
            </a:srgbClr>
          </a:solidFill>
          <a:ln w="38100">
            <a:solidFill>
              <a:srgbClr val="46B1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ocus2">
            <a:extLst>
              <a:ext uri="{FF2B5EF4-FFF2-40B4-BE49-F238E27FC236}">
                <a16:creationId xmlns:a16="http://schemas.microsoft.com/office/drawing/2014/main" id="{5CDE3730-A879-E992-0EC7-E91D90054BEB}"/>
              </a:ext>
            </a:extLst>
          </p:cNvPr>
          <p:cNvSpPr/>
          <p:nvPr/>
        </p:nvSpPr>
        <p:spPr>
          <a:xfrm>
            <a:off x="4184340" y="1856163"/>
            <a:ext cx="3223951" cy="3856874"/>
          </a:xfrm>
          <a:prstGeom prst="rect">
            <a:avLst/>
          </a:prstGeom>
          <a:solidFill>
            <a:srgbClr val="83CBEB">
              <a:alpha val="37000"/>
            </a:srgbClr>
          </a:solidFill>
          <a:ln w="38100">
            <a:solidFill>
              <a:srgbClr val="46B1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ail">
            <a:extLst>
              <a:ext uri="{FF2B5EF4-FFF2-40B4-BE49-F238E27FC236}">
                <a16:creationId xmlns:a16="http://schemas.microsoft.com/office/drawing/2014/main" id="{968A6F1B-931E-6A4E-8814-84B68E1F0209}"/>
              </a:ext>
            </a:extLst>
          </p:cNvPr>
          <p:cNvSpPr/>
          <p:nvPr/>
        </p:nvSpPr>
        <p:spPr>
          <a:xfrm>
            <a:off x="7670800" y="685800"/>
            <a:ext cx="4521200" cy="61722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N76">
            <a:extLst>
              <a:ext uri="{FF2B5EF4-FFF2-40B4-BE49-F238E27FC236}">
                <a16:creationId xmlns:a16="http://schemas.microsoft.com/office/drawing/2014/main" id="{DFF9C9C4-F4FD-C7A8-D049-89BC46EB50E1}"/>
              </a:ext>
            </a:extLst>
          </p:cNvPr>
          <p:cNvSpPr/>
          <p:nvPr/>
        </p:nvSpPr>
        <p:spPr>
          <a:xfrm>
            <a:off x="7797800" y="838200"/>
            <a:ext cx="4241800" cy="60655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Steady-delay coupling, R ACC with L OFC (PLI): cue − baseline was higher on Precon4 than on Precon1.</a:t>
            </a:r>
          </a:p>
        </p:txBody>
      </p:sp>
      <p:sp>
        <p:nvSpPr>
          <p:cNvPr id="13" name="!!N77">
            <a:extLst>
              <a:ext uri="{FF2B5EF4-FFF2-40B4-BE49-F238E27FC236}">
                <a16:creationId xmlns:a16="http://schemas.microsoft.com/office/drawing/2014/main" id="{19EB5236-9E22-D7D7-875E-600373C943D8}"/>
              </a:ext>
            </a:extLst>
          </p:cNvPr>
          <p:cNvSpPr/>
          <p:nvPr/>
        </p:nvSpPr>
        <p:spPr>
          <a:xfrm>
            <a:off x="7797800" y="1559052"/>
            <a:ext cx="4241800" cy="60655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FP P = 0.023. Shuffles P = 0.027. t-test P = 0.033 (8 rats). </a:t>
            </a:r>
            <a:r>
              <a:rPr lang="en-US" sz="1200" b="1">
                <a:solidFill>
                  <a:srgbClr val="FFFFFF"/>
                </a:solidFill>
                <a:latin typeface="Aptos" panose="020B0004020202020204" pitchFamily="34" charset="0"/>
              </a:rPr>
              <a:t>All three tests agree: the strongest lead.</a:t>
            </a:r>
          </a:p>
        </p:txBody>
      </p:sp>
      <p:sp>
        <p:nvSpPr>
          <p:cNvPr id="14" name="!!N78">
            <a:extLst>
              <a:ext uri="{FF2B5EF4-FFF2-40B4-BE49-F238E27FC236}">
                <a16:creationId xmlns:a16="http://schemas.microsoft.com/office/drawing/2014/main" id="{7A622523-6B63-B97F-9D49-BFCB307A6BF3}"/>
              </a:ext>
            </a:extLst>
          </p:cNvPr>
          <p:cNvSpPr/>
          <p:nvPr/>
        </p:nvSpPr>
        <p:spPr>
          <a:xfrm>
            <a:off x="7797800" y="2279904"/>
            <a:ext cx="4241800" cy="795528"/>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Coupling with a real delay, R ACC with L OFC (imaginary coherence): cue − baseline was higher on Precon4 than on Precon1.</a:t>
            </a:r>
          </a:p>
        </p:txBody>
      </p:sp>
      <p:sp>
        <p:nvSpPr>
          <p:cNvPr id="15" name="!!N79">
            <a:extLst>
              <a:ext uri="{FF2B5EF4-FFF2-40B4-BE49-F238E27FC236}">
                <a16:creationId xmlns:a16="http://schemas.microsoft.com/office/drawing/2014/main" id="{962AD213-6BAD-2124-D7FC-5A51C2FAE5D7}"/>
              </a:ext>
            </a:extLst>
          </p:cNvPr>
          <p:cNvSpPr/>
          <p:nvPr/>
        </p:nvSpPr>
        <p:spPr>
          <a:xfrm>
            <a:off x="7797800" y="3189732"/>
            <a:ext cx="4241800" cy="107899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FP P = 0.008. Shuffles P = 0.012. t-test P = 0.016 (8 rats). All three tests agree: the strongest lead.</a:t>
            </a:r>
          </a:p>
        </p:txBody>
      </p:sp>
      <p:sp>
        <p:nvSpPr>
          <p:cNvPr id="16" name="!!N80">
            <a:extLst>
              <a:ext uri="{FF2B5EF4-FFF2-40B4-BE49-F238E27FC236}">
                <a16:creationId xmlns:a16="http://schemas.microsoft.com/office/drawing/2014/main" id="{ABE3B5E8-5293-00D7-995C-7C3ACAC92F8D}"/>
              </a:ext>
            </a:extLst>
          </p:cNvPr>
          <p:cNvSpPr/>
          <p:nvPr/>
        </p:nvSpPr>
        <p:spPr>
          <a:xfrm>
            <a:off x="12573000" y="838200"/>
            <a:ext cx="4241800" cy="1645920"/>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Gamma-burst lag, R DHC with L RSC: how the cue shifted it differs between the days by 27 ms, toward R DHC leading on Precon4 compared with Precon1.</a:t>
            </a:r>
          </a:p>
        </p:txBody>
      </p:sp>
      <p:sp>
        <p:nvSpPr>
          <p:cNvPr id="17" name="!!T-BG">
            <a:extLst>
              <a:ext uri="{FF2B5EF4-FFF2-40B4-BE49-F238E27FC236}">
                <a16:creationId xmlns:a16="http://schemas.microsoft.com/office/drawing/2014/main" id="{2C313046-00D0-ADE0-8E1B-C48E8C7F71A0}"/>
              </a:ext>
            </a:extLst>
          </p:cNvPr>
          <p:cNvSpPr/>
          <p:nvPr/>
        </p:nvSpPr>
        <p:spPr>
          <a:xfrm>
            <a:off x="-381000" y="0"/>
            <a:ext cx="12954000" cy="685800"/>
          </a:xfrm>
          <a:prstGeom prst="snip2DiagRect">
            <a:avLst>
              <a:gd name="adj1" fmla="val 0"/>
              <a:gd name="adj2" fmla="val 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
            <a:extLst>
              <a:ext uri="{FF2B5EF4-FFF2-40B4-BE49-F238E27FC236}">
                <a16:creationId xmlns:a16="http://schemas.microsoft.com/office/drawing/2014/main" id="{96FBF54E-0EA7-140F-3515-916F1C84C13C}"/>
              </a:ext>
            </a:extLst>
          </p:cNvPr>
          <p:cNvSpPr txBox="1"/>
          <p:nvPr/>
        </p:nvSpPr>
        <p:spPr>
          <a:xfrm>
            <a:off x="127000" y="0"/>
            <a:ext cx="11811000" cy="685800"/>
          </a:xfrm>
          <a:prstGeom prst="rect">
            <a:avLst/>
          </a:prstGeom>
          <a:noFill/>
        </p:spPr>
        <p:txBody>
          <a:bodyPr vert="horz" wrap="square" lIns="76200" tIns="25400" rIns="76200" bIns="25400" rtlCol="0" anchor="ctr">
            <a:noAutofit/>
          </a:bodyPr>
          <a:lstStyle/>
          <a:p>
            <a:pPr>
              <a:lnSpc>
                <a:spcPct val="95000"/>
              </a:lnSpc>
            </a:pPr>
            <a:r>
              <a:rPr lang="en-US" sz="2400" b="1" u="sng">
                <a:solidFill>
                  <a:srgbClr val="FFFFFF"/>
                </a:solidFill>
                <a:latin typeface="Aptos Display" panose="020B0004020202020204" pitchFamily="34" charset="0"/>
              </a:rPr>
              <a:t>4.1 · R ACC – L OFC · Not just a shared signal</a:t>
            </a:r>
          </a:p>
        </p:txBody>
      </p:sp>
    </p:spTree>
    <p:extLst>
      <p:ext uri="{BB962C8B-B14F-4D97-AF65-F5344CB8AC3E}">
        <p14:creationId xmlns:p14="http://schemas.microsoft.com/office/powerpoint/2010/main" val="307051560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tage">
            <a:extLst>
              <a:ext uri="{FF2B5EF4-FFF2-40B4-BE49-F238E27FC236}">
                <a16:creationId xmlns:a16="http://schemas.microsoft.com/office/drawing/2014/main" id="{294660B7-4B08-35D1-9002-5D348AD60672}"/>
              </a:ext>
            </a:extLst>
          </p:cNvPr>
          <p:cNvSpPr/>
          <p:nvPr/>
        </p:nvSpPr>
        <p:spPr>
          <a:xfrm>
            <a:off x="0" y="685800"/>
            <a:ext cx="7670800" cy="6172200"/>
          </a:xfrm>
          <a:prstGeom prst="rect">
            <a:avLst/>
          </a:prstGeom>
          <a:solidFill>
            <a:srgbClr val="ECEC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F4_2">
            <a:extLst>
              <a:ext uri="{FF2B5EF4-FFF2-40B4-BE49-F238E27FC236}">
                <a16:creationId xmlns:a16="http://schemas.microsoft.com/office/drawing/2014/main" id="{452044EB-293F-DF53-E992-9364CD153800}"/>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287909" y="2811767"/>
            <a:ext cx="7120382" cy="1945667"/>
          </a:xfrm>
          <a:prstGeom prst="rect">
            <a:avLst/>
          </a:prstGeom>
          <a:ln w="9525">
            <a:solidFill>
              <a:srgbClr val="B0B0B0"/>
            </a:solidFill>
          </a:ln>
        </p:spPr>
      </p:pic>
      <p:sp>
        <p:nvSpPr>
          <p:cNvPr id="5" name="!!D1">
            <a:extLst>
              <a:ext uri="{FF2B5EF4-FFF2-40B4-BE49-F238E27FC236}">
                <a16:creationId xmlns:a16="http://schemas.microsoft.com/office/drawing/2014/main" id="{05D02376-26DA-AD63-8748-EA5A8C4815F2}"/>
              </a:ext>
            </a:extLst>
          </p:cNvPr>
          <p:cNvSpPr/>
          <p:nvPr/>
        </p:nvSpPr>
        <p:spPr>
          <a:xfrm>
            <a:off x="0" y="685800"/>
            <a:ext cx="7670800" cy="635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2">
            <a:extLst>
              <a:ext uri="{FF2B5EF4-FFF2-40B4-BE49-F238E27FC236}">
                <a16:creationId xmlns:a16="http://schemas.microsoft.com/office/drawing/2014/main" id="{8C348747-8030-6F9B-76DD-2149FB94E4E7}"/>
              </a:ext>
            </a:extLst>
          </p:cNvPr>
          <p:cNvSpPr/>
          <p:nvPr/>
        </p:nvSpPr>
        <p:spPr>
          <a:xfrm>
            <a:off x="0" y="6858000"/>
            <a:ext cx="7670800" cy="635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3">
            <a:extLst>
              <a:ext uri="{FF2B5EF4-FFF2-40B4-BE49-F238E27FC236}">
                <a16:creationId xmlns:a16="http://schemas.microsoft.com/office/drawing/2014/main" id="{63DA56A9-A0E6-82B7-542E-853FA78DA3A5}"/>
              </a:ext>
            </a:extLst>
          </p:cNvPr>
          <p:cNvSpPr/>
          <p:nvPr/>
        </p:nvSpPr>
        <p:spPr>
          <a:xfrm>
            <a:off x="0" y="685800"/>
            <a:ext cx="6350" cy="617220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4">
            <a:extLst>
              <a:ext uri="{FF2B5EF4-FFF2-40B4-BE49-F238E27FC236}">
                <a16:creationId xmlns:a16="http://schemas.microsoft.com/office/drawing/2014/main" id="{30D1C2D6-78D4-A701-2937-20F84E3E5946}"/>
              </a:ext>
            </a:extLst>
          </p:cNvPr>
          <p:cNvSpPr/>
          <p:nvPr/>
        </p:nvSpPr>
        <p:spPr>
          <a:xfrm>
            <a:off x="7670800" y="685800"/>
            <a:ext cx="6350" cy="617220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ocus">
            <a:extLst>
              <a:ext uri="{FF2B5EF4-FFF2-40B4-BE49-F238E27FC236}">
                <a16:creationId xmlns:a16="http://schemas.microsoft.com/office/drawing/2014/main" id="{83BE7FF3-6E72-8DEE-0A3A-E47DCE70C70C}"/>
              </a:ext>
            </a:extLst>
          </p:cNvPr>
          <p:cNvSpPr/>
          <p:nvPr/>
        </p:nvSpPr>
        <p:spPr>
          <a:xfrm>
            <a:off x="4685497" y="2889600"/>
            <a:ext cx="1424351" cy="1517752"/>
          </a:xfrm>
          <a:prstGeom prst="rect">
            <a:avLst/>
          </a:prstGeom>
          <a:solidFill>
            <a:srgbClr val="83CBEB">
              <a:alpha val="37000"/>
            </a:srgbClr>
          </a:solidFill>
          <a:ln w="38100">
            <a:solidFill>
              <a:srgbClr val="46B1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ail">
            <a:extLst>
              <a:ext uri="{FF2B5EF4-FFF2-40B4-BE49-F238E27FC236}">
                <a16:creationId xmlns:a16="http://schemas.microsoft.com/office/drawing/2014/main" id="{829FFDF1-40BE-D53A-2B92-8A86F8F5F937}"/>
              </a:ext>
            </a:extLst>
          </p:cNvPr>
          <p:cNvSpPr/>
          <p:nvPr/>
        </p:nvSpPr>
        <p:spPr>
          <a:xfrm>
            <a:off x="7670800" y="685800"/>
            <a:ext cx="4521200" cy="61722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N80">
            <a:extLst>
              <a:ext uri="{FF2B5EF4-FFF2-40B4-BE49-F238E27FC236}">
                <a16:creationId xmlns:a16="http://schemas.microsoft.com/office/drawing/2014/main" id="{C291E0B5-8FA8-38B5-687E-FACA1508311F}"/>
              </a:ext>
            </a:extLst>
          </p:cNvPr>
          <p:cNvSpPr/>
          <p:nvPr/>
        </p:nvSpPr>
        <p:spPr>
          <a:xfrm>
            <a:off x="7797800" y="838200"/>
            <a:ext cx="4241800" cy="1645920"/>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Gamma-burst lag, R DHC with L RSC: how the cue shifted it differs between the days by 27 ms, toward R DHC leading on Precon4 compared with Precon1.</a:t>
            </a:r>
          </a:p>
        </p:txBody>
      </p:sp>
      <p:sp>
        <p:nvSpPr>
          <p:cNvPr id="12" name="!!N81">
            <a:extLst>
              <a:ext uri="{FF2B5EF4-FFF2-40B4-BE49-F238E27FC236}">
                <a16:creationId xmlns:a16="http://schemas.microsoft.com/office/drawing/2014/main" id="{553FBEB8-7BD5-4819-D230-427237610D9C}"/>
              </a:ext>
            </a:extLst>
          </p:cNvPr>
          <p:cNvSpPr/>
          <p:nvPr/>
        </p:nvSpPr>
        <p:spPr>
          <a:xfrm>
            <a:off x="12573000" y="1748028"/>
            <a:ext cx="4241800" cy="107899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FP P = 0.014. Shuffles P = 0.020. t-test P = 0.013 (7 rats). All three tests agree: the strongest lead.</a:t>
            </a:r>
          </a:p>
        </p:txBody>
      </p:sp>
      <p:sp>
        <p:nvSpPr>
          <p:cNvPr id="13" name="!!N76">
            <a:extLst>
              <a:ext uri="{FF2B5EF4-FFF2-40B4-BE49-F238E27FC236}">
                <a16:creationId xmlns:a16="http://schemas.microsoft.com/office/drawing/2014/main" id="{AB4F9C79-94D1-B015-B497-879F0024EA05}"/>
              </a:ext>
            </a:extLst>
          </p:cNvPr>
          <p:cNvSpPr/>
          <p:nvPr/>
        </p:nvSpPr>
        <p:spPr>
          <a:xfrm>
            <a:off x="12573000" y="838200"/>
            <a:ext cx="4241800" cy="60655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Steady-delay coupling, R ACC with L OFC (PLI): cue − baseline was higher on Precon4 than on Precon1.</a:t>
            </a:r>
          </a:p>
        </p:txBody>
      </p:sp>
      <p:sp>
        <p:nvSpPr>
          <p:cNvPr id="14" name="!!N77">
            <a:extLst>
              <a:ext uri="{FF2B5EF4-FFF2-40B4-BE49-F238E27FC236}">
                <a16:creationId xmlns:a16="http://schemas.microsoft.com/office/drawing/2014/main" id="{C06BAAD9-CDAA-600A-35C6-E77E16A88320}"/>
              </a:ext>
            </a:extLst>
          </p:cNvPr>
          <p:cNvSpPr/>
          <p:nvPr/>
        </p:nvSpPr>
        <p:spPr>
          <a:xfrm>
            <a:off x="12573000" y="1559052"/>
            <a:ext cx="4241800" cy="60655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FP P = 0.023. Shuffles P = 0.027. t-test P = 0.033 (8 rats). </a:t>
            </a:r>
            <a:r>
              <a:rPr lang="en-US" sz="1200" b="1">
                <a:solidFill>
                  <a:srgbClr val="FFFFFF"/>
                </a:solidFill>
                <a:latin typeface="Aptos" panose="020B0004020202020204" pitchFamily="34" charset="0"/>
              </a:rPr>
              <a:t>All three tests agree: the strongest lead.</a:t>
            </a:r>
          </a:p>
        </p:txBody>
      </p:sp>
      <p:sp>
        <p:nvSpPr>
          <p:cNvPr id="15" name="!!N78">
            <a:extLst>
              <a:ext uri="{FF2B5EF4-FFF2-40B4-BE49-F238E27FC236}">
                <a16:creationId xmlns:a16="http://schemas.microsoft.com/office/drawing/2014/main" id="{50C2D77E-2310-15C4-465B-74EB8559EEDF}"/>
              </a:ext>
            </a:extLst>
          </p:cNvPr>
          <p:cNvSpPr/>
          <p:nvPr/>
        </p:nvSpPr>
        <p:spPr>
          <a:xfrm>
            <a:off x="12573000" y="2279904"/>
            <a:ext cx="4241800" cy="795528"/>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Coupling with a real delay, R ACC with L OFC (imaginary coherence): cue − baseline was higher on Precon4 than on Precon1.</a:t>
            </a:r>
          </a:p>
        </p:txBody>
      </p:sp>
      <p:sp>
        <p:nvSpPr>
          <p:cNvPr id="16" name="!!N79">
            <a:extLst>
              <a:ext uri="{FF2B5EF4-FFF2-40B4-BE49-F238E27FC236}">
                <a16:creationId xmlns:a16="http://schemas.microsoft.com/office/drawing/2014/main" id="{9EA52F19-B3F8-44AC-0BCB-22B15938A3AA}"/>
              </a:ext>
            </a:extLst>
          </p:cNvPr>
          <p:cNvSpPr/>
          <p:nvPr/>
        </p:nvSpPr>
        <p:spPr>
          <a:xfrm>
            <a:off x="12573000" y="3189732"/>
            <a:ext cx="4241800" cy="107899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FP P = 0.008. Shuffles P = 0.012. t-test P = 0.016 (8 rats). All three tests agree: the strongest lead.</a:t>
            </a:r>
          </a:p>
        </p:txBody>
      </p:sp>
      <p:sp>
        <p:nvSpPr>
          <p:cNvPr id="17" name="!!T-BG">
            <a:extLst>
              <a:ext uri="{FF2B5EF4-FFF2-40B4-BE49-F238E27FC236}">
                <a16:creationId xmlns:a16="http://schemas.microsoft.com/office/drawing/2014/main" id="{6960AE13-4694-C015-9BC1-2BCA4CCF6E70}"/>
              </a:ext>
            </a:extLst>
          </p:cNvPr>
          <p:cNvSpPr/>
          <p:nvPr/>
        </p:nvSpPr>
        <p:spPr>
          <a:xfrm>
            <a:off x="-381000" y="0"/>
            <a:ext cx="12954000" cy="685800"/>
          </a:xfrm>
          <a:prstGeom prst="snip2DiagRect">
            <a:avLst>
              <a:gd name="adj1" fmla="val 0"/>
              <a:gd name="adj2" fmla="val 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
            <a:extLst>
              <a:ext uri="{FF2B5EF4-FFF2-40B4-BE49-F238E27FC236}">
                <a16:creationId xmlns:a16="http://schemas.microsoft.com/office/drawing/2014/main" id="{DEC532A6-AF9E-D279-0081-F609E6D604EA}"/>
              </a:ext>
            </a:extLst>
          </p:cNvPr>
          <p:cNvSpPr txBox="1"/>
          <p:nvPr/>
        </p:nvSpPr>
        <p:spPr>
          <a:xfrm>
            <a:off x="127000" y="0"/>
            <a:ext cx="11811000" cy="685800"/>
          </a:xfrm>
          <a:prstGeom prst="rect">
            <a:avLst/>
          </a:prstGeom>
          <a:noFill/>
        </p:spPr>
        <p:txBody>
          <a:bodyPr vert="horz" wrap="square" lIns="76200" tIns="25400" rIns="76200" bIns="25400" rtlCol="0" anchor="ctr">
            <a:noAutofit/>
          </a:bodyPr>
          <a:lstStyle/>
          <a:p>
            <a:pPr>
              <a:lnSpc>
                <a:spcPct val="95000"/>
              </a:lnSpc>
            </a:pPr>
            <a:r>
              <a:rPr lang="en-US" sz="2400" b="1" u="sng">
                <a:solidFill>
                  <a:srgbClr val="FFFFFF"/>
                </a:solidFill>
                <a:latin typeface="Aptos Display" panose="020B0004020202020204" pitchFamily="34" charset="0"/>
              </a:rPr>
              <a:t>4.2 · R DHC – L RSC · Which leads</a:t>
            </a:r>
          </a:p>
        </p:txBody>
      </p:sp>
    </p:spTree>
    <p:extLst>
      <p:ext uri="{BB962C8B-B14F-4D97-AF65-F5344CB8AC3E}">
        <p14:creationId xmlns:p14="http://schemas.microsoft.com/office/powerpoint/2010/main" val="14878856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tage">
            <a:extLst>
              <a:ext uri="{FF2B5EF4-FFF2-40B4-BE49-F238E27FC236}">
                <a16:creationId xmlns:a16="http://schemas.microsoft.com/office/drawing/2014/main" id="{2BDCCBC7-E3CB-D858-39DC-5E82E0CD1E5A}"/>
              </a:ext>
            </a:extLst>
          </p:cNvPr>
          <p:cNvSpPr/>
          <p:nvPr/>
        </p:nvSpPr>
        <p:spPr>
          <a:xfrm>
            <a:off x="0" y="685800"/>
            <a:ext cx="7670800" cy="6172200"/>
          </a:xfrm>
          <a:prstGeom prst="rect">
            <a:avLst/>
          </a:prstGeom>
          <a:solidFill>
            <a:srgbClr val="ECEC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F4_2">
            <a:extLst>
              <a:ext uri="{FF2B5EF4-FFF2-40B4-BE49-F238E27FC236}">
                <a16:creationId xmlns:a16="http://schemas.microsoft.com/office/drawing/2014/main" id="{99083AD3-E8A9-EA69-BA3A-72ABB49D576D}"/>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0689347" y="1658375"/>
            <a:ext cx="18094144" cy="4944281"/>
          </a:xfrm>
          <a:prstGeom prst="rect">
            <a:avLst/>
          </a:prstGeom>
          <a:ln w="9525">
            <a:solidFill>
              <a:srgbClr val="B0B0B0"/>
            </a:solidFill>
          </a:ln>
        </p:spPr>
      </p:pic>
      <p:sp>
        <p:nvSpPr>
          <p:cNvPr id="5" name="!!D1">
            <a:extLst>
              <a:ext uri="{FF2B5EF4-FFF2-40B4-BE49-F238E27FC236}">
                <a16:creationId xmlns:a16="http://schemas.microsoft.com/office/drawing/2014/main" id="{7DFC36ED-A540-1B77-5E40-85EFFD563EA2}"/>
              </a:ext>
            </a:extLst>
          </p:cNvPr>
          <p:cNvSpPr/>
          <p:nvPr/>
        </p:nvSpPr>
        <p:spPr>
          <a:xfrm>
            <a:off x="0" y="685800"/>
            <a:ext cx="7670800" cy="1046069"/>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2">
            <a:extLst>
              <a:ext uri="{FF2B5EF4-FFF2-40B4-BE49-F238E27FC236}">
                <a16:creationId xmlns:a16="http://schemas.microsoft.com/office/drawing/2014/main" id="{D62D1000-0ADE-F726-CAEF-DA0A06E524EC}"/>
              </a:ext>
            </a:extLst>
          </p:cNvPr>
          <p:cNvSpPr/>
          <p:nvPr/>
        </p:nvSpPr>
        <p:spPr>
          <a:xfrm>
            <a:off x="0" y="5837331"/>
            <a:ext cx="7670800" cy="1020669"/>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3">
            <a:extLst>
              <a:ext uri="{FF2B5EF4-FFF2-40B4-BE49-F238E27FC236}">
                <a16:creationId xmlns:a16="http://schemas.microsoft.com/office/drawing/2014/main" id="{FA798E77-6294-A13D-20BD-E98613EC4B0E}"/>
              </a:ext>
            </a:extLst>
          </p:cNvPr>
          <p:cNvSpPr/>
          <p:nvPr/>
        </p:nvSpPr>
        <p:spPr>
          <a:xfrm>
            <a:off x="0" y="1731869"/>
            <a:ext cx="262509" cy="4105462"/>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4">
            <a:extLst>
              <a:ext uri="{FF2B5EF4-FFF2-40B4-BE49-F238E27FC236}">
                <a16:creationId xmlns:a16="http://schemas.microsoft.com/office/drawing/2014/main" id="{3D26FC6E-33AF-D151-1304-6148BC232191}"/>
              </a:ext>
            </a:extLst>
          </p:cNvPr>
          <p:cNvSpPr/>
          <p:nvPr/>
        </p:nvSpPr>
        <p:spPr>
          <a:xfrm>
            <a:off x="7433691" y="1731869"/>
            <a:ext cx="237109" cy="4105462"/>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ocus">
            <a:extLst>
              <a:ext uri="{FF2B5EF4-FFF2-40B4-BE49-F238E27FC236}">
                <a16:creationId xmlns:a16="http://schemas.microsoft.com/office/drawing/2014/main" id="{CDAC10CE-F5C6-3015-A180-12B3B65B6E4A}"/>
              </a:ext>
            </a:extLst>
          </p:cNvPr>
          <p:cNvSpPr/>
          <p:nvPr/>
        </p:nvSpPr>
        <p:spPr>
          <a:xfrm>
            <a:off x="485697" y="1856163"/>
            <a:ext cx="3619528" cy="3856874"/>
          </a:xfrm>
          <a:prstGeom prst="rect">
            <a:avLst/>
          </a:prstGeom>
          <a:solidFill>
            <a:srgbClr val="83CBEB">
              <a:alpha val="37000"/>
            </a:srgbClr>
          </a:solidFill>
          <a:ln w="38100">
            <a:solidFill>
              <a:srgbClr val="46B1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ocus2">
            <a:extLst>
              <a:ext uri="{FF2B5EF4-FFF2-40B4-BE49-F238E27FC236}">
                <a16:creationId xmlns:a16="http://schemas.microsoft.com/office/drawing/2014/main" id="{5CE6093A-AA17-F534-9BD7-92762661E0BA}"/>
              </a:ext>
            </a:extLst>
          </p:cNvPr>
          <p:cNvSpPr/>
          <p:nvPr/>
        </p:nvSpPr>
        <p:spPr>
          <a:xfrm>
            <a:off x="4184340" y="1856163"/>
            <a:ext cx="3223951" cy="3856874"/>
          </a:xfrm>
          <a:prstGeom prst="rect">
            <a:avLst/>
          </a:prstGeom>
          <a:solidFill>
            <a:srgbClr val="83CBEB">
              <a:alpha val="37000"/>
            </a:srgbClr>
          </a:solidFill>
          <a:ln w="38100">
            <a:solidFill>
              <a:srgbClr val="46B1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ail">
            <a:extLst>
              <a:ext uri="{FF2B5EF4-FFF2-40B4-BE49-F238E27FC236}">
                <a16:creationId xmlns:a16="http://schemas.microsoft.com/office/drawing/2014/main" id="{A600D404-D923-D19E-97B7-32999E7BB0F1}"/>
              </a:ext>
            </a:extLst>
          </p:cNvPr>
          <p:cNvSpPr/>
          <p:nvPr/>
        </p:nvSpPr>
        <p:spPr>
          <a:xfrm>
            <a:off x="7670800" y="685800"/>
            <a:ext cx="4521200" cy="61722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N80">
            <a:extLst>
              <a:ext uri="{FF2B5EF4-FFF2-40B4-BE49-F238E27FC236}">
                <a16:creationId xmlns:a16="http://schemas.microsoft.com/office/drawing/2014/main" id="{ADDCD860-6341-239D-AF9B-E05746DB92F8}"/>
              </a:ext>
            </a:extLst>
          </p:cNvPr>
          <p:cNvSpPr/>
          <p:nvPr/>
        </p:nvSpPr>
        <p:spPr>
          <a:xfrm>
            <a:off x="7797800" y="838200"/>
            <a:ext cx="4241800" cy="795528"/>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Gamma-burst lag, R DHC with L RSC: how the cue shifted it differs between the days by 27 ms, toward R DHC leading on Precon4 compared with Precon1.</a:t>
            </a:r>
          </a:p>
        </p:txBody>
      </p:sp>
      <p:sp>
        <p:nvSpPr>
          <p:cNvPr id="13" name="!!N81">
            <a:extLst>
              <a:ext uri="{FF2B5EF4-FFF2-40B4-BE49-F238E27FC236}">
                <a16:creationId xmlns:a16="http://schemas.microsoft.com/office/drawing/2014/main" id="{6AF67531-558B-136B-0F02-1F34A41E952E}"/>
              </a:ext>
            </a:extLst>
          </p:cNvPr>
          <p:cNvSpPr/>
          <p:nvPr/>
        </p:nvSpPr>
        <p:spPr>
          <a:xfrm>
            <a:off x="7797800" y="1748028"/>
            <a:ext cx="4241800" cy="107899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FP P = 0.014. Shuffles P = 0.020. t-test P = 0.013 (7 rats). All three tests agree: the strongest lead.</a:t>
            </a:r>
          </a:p>
        </p:txBody>
      </p:sp>
      <p:sp>
        <p:nvSpPr>
          <p:cNvPr id="14" name="!!N82">
            <a:extLst>
              <a:ext uri="{FF2B5EF4-FFF2-40B4-BE49-F238E27FC236}">
                <a16:creationId xmlns:a16="http://schemas.microsoft.com/office/drawing/2014/main" id="{38BA42DF-0BD2-5BD9-AE35-63EA6D53BF34}"/>
              </a:ext>
            </a:extLst>
          </p:cNvPr>
          <p:cNvSpPr/>
          <p:nvPr/>
        </p:nvSpPr>
        <p:spPr>
          <a:xfrm>
            <a:off x="12573000" y="838200"/>
            <a:ext cx="4241800" cy="1362456"/>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L OFC and L ACC gamma bursts rising together (amplitude correlation): cue − baseline was higher on Precon4 than on Precon1.</a:t>
            </a:r>
          </a:p>
        </p:txBody>
      </p:sp>
      <p:sp>
        <p:nvSpPr>
          <p:cNvPr id="15" name="!!T-BG">
            <a:extLst>
              <a:ext uri="{FF2B5EF4-FFF2-40B4-BE49-F238E27FC236}">
                <a16:creationId xmlns:a16="http://schemas.microsoft.com/office/drawing/2014/main" id="{33D07FD9-60F7-0160-D08F-AFD611D034AF}"/>
              </a:ext>
            </a:extLst>
          </p:cNvPr>
          <p:cNvSpPr/>
          <p:nvPr/>
        </p:nvSpPr>
        <p:spPr>
          <a:xfrm>
            <a:off x="-381000" y="0"/>
            <a:ext cx="12954000" cy="685800"/>
          </a:xfrm>
          <a:prstGeom prst="snip2DiagRect">
            <a:avLst>
              <a:gd name="adj1" fmla="val 0"/>
              <a:gd name="adj2" fmla="val 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
            <a:extLst>
              <a:ext uri="{FF2B5EF4-FFF2-40B4-BE49-F238E27FC236}">
                <a16:creationId xmlns:a16="http://schemas.microsoft.com/office/drawing/2014/main" id="{5813DF47-1CB4-7B68-4B08-295E6BF042DF}"/>
              </a:ext>
            </a:extLst>
          </p:cNvPr>
          <p:cNvSpPr txBox="1"/>
          <p:nvPr/>
        </p:nvSpPr>
        <p:spPr>
          <a:xfrm>
            <a:off x="127000" y="0"/>
            <a:ext cx="11811000" cy="685800"/>
          </a:xfrm>
          <a:prstGeom prst="rect">
            <a:avLst/>
          </a:prstGeom>
          <a:noFill/>
        </p:spPr>
        <p:txBody>
          <a:bodyPr vert="horz" wrap="square" lIns="76200" tIns="25400" rIns="76200" bIns="25400" rtlCol="0" anchor="ctr">
            <a:noAutofit/>
          </a:bodyPr>
          <a:lstStyle/>
          <a:p>
            <a:pPr>
              <a:lnSpc>
                <a:spcPct val="95000"/>
              </a:lnSpc>
            </a:pPr>
            <a:r>
              <a:rPr lang="en-US" sz="2400" b="1" u="sng">
                <a:solidFill>
                  <a:srgbClr val="FFFFFF"/>
                </a:solidFill>
                <a:latin typeface="Aptos Display" panose="020B0004020202020204" pitchFamily="34" charset="0"/>
              </a:rPr>
              <a:t>4.2 · R DHC – L RSC · Which leads</a:t>
            </a:r>
          </a:p>
        </p:txBody>
      </p:sp>
    </p:spTree>
    <p:extLst>
      <p:ext uri="{BB962C8B-B14F-4D97-AF65-F5344CB8AC3E}">
        <p14:creationId xmlns:p14="http://schemas.microsoft.com/office/powerpoint/2010/main" val="421274502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tage">
            <a:extLst>
              <a:ext uri="{FF2B5EF4-FFF2-40B4-BE49-F238E27FC236}">
                <a16:creationId xmlns:a16="http://schemas.microsoft.com/office/drawing/2014/main" id="{2111F0C5-4539-191B-7309-D77F94CDB232}"/>
              </a:ext>
            </a:extLst>
          </p:cNvPr>
          <p:cNvSpPr/>
          <p:nvPr/>
        </p:nvSpPr>
        <p:spPr>
          <a:xfrm>
            <a:off x="0" y="685800"/>
            <a:ext cx="7670800" cy="6172200"/>
          </a:xfrm>
          <a:prstGeom prst="rect">
            <a:avLst/>
          </a:prstGeom>
          <a:solidFill>
            <a:srgbClr val="ECEC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F4_3">
            <a:extLst>
              <a:ext uri="{FF2B5EF4-FFF2-40B4-BE49-F238E27FC236}">
                <a16:creationId xmlns:a16="http://schemas.microsoft.com/office/drawing/2014/main" id="{29052FD9-B814-9A66-37E8-7D69A6C21B5D}"/>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287909" y="2811767"/>
            <a:ext cx="7120382" cy="1945667"/>
          </a:xfrm>
          <a:prstGeom prst="rect">
            <a:avLst/>
          </a:prstGeom>
          <a:ln w="9525">
            <a:solidFill>
              <a:srgbClr val="B0B0B0"/>
            </a:solidFill>
          </a:ln>
        </p:spPr>
      </p:pic>
      <p:sp>
        <p:nvSpPr>
          <p:cNvPr id="5" name="!!D1">
            <a:extLst>
              <a:ext uri="{FF2B5EF4-FFF2-40B4-BE49-F238E27FC236}">
                <a16:creationId xmlns:a16="http://schemas.microsoft.com/office/drawing/2014/main" id="{3849E4AE-661A-332D-EF8B-8109B78C5C03}"/>
              </a:ext>
            </a:extLst>
          </p:cNvPr>
          <p:cNvSpPr/>
          <p:nvPr/>
        </p:nvSpPr>
        <p:spPr>
          <a:xfrm>
            <a:off x="0" y="685800"/>
            <a:ext cx="7670800" cy="635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2">
            <a:extLst>
              <a:ext uri="{FF2B5EF4-FFF2-40B4-BE49-F238E27FC236}">
                <a16:creationId xmlns:a16="http://schemas.microsoft.com/office/drawing/2014/main" id="{CDA5E9EA-34A5-2F43-5762-153C551A910D}"/>
              </a:ext>
            </a:extLst>
          </p:cNvPr>
          <p:cNvSpPr/>
          <p:nvPr/>
        </p:nvSpPr>
        <p:spPr>
          <a:xfrm>
            <a:off x="0" y="6858000"/>
            <a:ext cx="7670800" cy="635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3">
            <a:extLst>
              <a:ext uri="{FF2B5EF4-FFF2-40B4-BE49-F238E27FC236}">
                <a16:creationId xmlns:a16="http://schemas.microsoft.com/office/drawing/2014/main" id="{A42CBDE9-0559-2367-A213-F2793A2FE59F}"/>
              </a:ext>
            </a:extLst>
          </p:cNvPr>
          <p:cNvSpPr/>
          <p:nvPr/>
        </p:nvSpPr>
        <p:spPr>
          <a:xfrm>
            <a:off x="0" y="685800"/>
            <a:ext cx="6350" cy="617220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4">
            <a:extLst>
              <a:ext uri="{FF2B5EF4-FFF2-40B4-BE49-F238E27FC236}">
                <a16:creationId xmlns:a16="http://schemas.microsoft.com/office/drawing/2014/main" id="{2A9258F7-0838-DEAA-06C3-722E8B34380F}"/>
              </a:ext>
            </a:extLst>
          </p:cNvPr>
          <p:cNvSpPr/>
          <p:nvPr/>
        </p:nvSpPr>
        <p:spPr>
          <a:xfrm>
            <a:off x="7670800" y="685800"/>
            <a:ext cx="6350" cy="617220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ocus">
            <a:extLst>
              <a:ext uri="{FF2B5EF4-FFF2-40B4-BE49-F238E27FC236}">
                <a16:creationId xmlns:a16="http://schemas.microsoft.com/office/drawing/2014/main" id="{4790B5C6-9C81-6B86-A7A1-52DB67917AFF}"/>
              </a:ext>
            </a:extLst>
          </p:cNvPr>
          <p:cNvSpPr/>
          <p:nvPr/>
        </p:nvSpPr>
        <p:spPr>
          <a:xfrm>
            <a:off x="4685497" y="2889600"/>
            <a:ext cx="1424351" cy="1517752"/>
          </a:xfrm>
          <a:prstGeom prst="rect">
            <a:avLst/>
          </a:prstGeom>
          <a:solidFill>
            <a:srgbClr val="83CBEB">
              <a:alpha val="37000"/>
            </a:srgbClr>
          </a:solidFill>
          <a:ln w="38100">
            <a:solidFill>
              <a:srgbClr val="46B1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ail">
            <a:extLst>
              <a:ext uri="{FF2B5EF4-FFF2-40B4-BE49-F238E27FC236}">
                <a16:creationId xmlns:a16="http://schemas.microsoft.com/office/drawing/2014/main" id="{AF520A99-9D99-9E66-037E-34380F96A152}"/>
              </a:ext>
            </a:extLst>
          </p:cNvPr>
          <p:cNvSpPr/>
          <p:nvPr/>
        </p:nvSpPr>
        <p:spPr>
          <a:xfrm>
            <a:off x="7670800" y="685800"/>
            <a:ext cx="4521200" cy="61722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N82">
            <a:extLst>
              <a:ext uri="{FF2B5EF4-FFF2-40B4-BE49-F238E27FC236}">
                <a16:creationId xmlns:a16="http://schemas.microsoft.com/office/drawing/2014/main" id="{85984B64-B828-6B97-ADB7-A4AAE286980A}"/>
              </a:ext>
            </a:extLst>
          </p:cNvPr>
          <p:cNvSpPr/>
          <p:nvPr/>
        </p:nvSpPr>
        <p:spPr>
          <a:xfrm>
            <a:off x="7797800" y="838200"/>
            <a:ext cx="4241800" cy="1362456"/>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L OFC and L ACC gamma bursts rising together (amplitude correlation): cue − baseline was higher on Precon4 than on Precon1.</a:t>
            </a:r>
          </a:p>
        </p:txBody>
      </p:sp>
      <p:sp>
        <p:nvSpPr>
          <p:cNvPr id="12" name="!!N83">
            <a:extLst>
              <a:ext uri="{FF2B5EF4-FFF2-40B4-BE49-F238E27FC236}">
                <a16:creationId xmlns:a16="http://schemas.microsoft.com/office/drawing/2014/main" id="{FDCB1B20-0EB0-D962-479B-BBF954CAFBCD}"/>
              </a:ext>
            </a:extLst>
          </p:cNvPr>
          <p:cNvSpPr/>
          <p:nvPr/>
        </p:nvSpPr>
        <p:spPr>
          <a:xfrm>
            <a:off x="12573000" y="1748028"/>
            <a:ext cx="4241800" cy="107899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FP P = 0.016. Shuffles P = 0.020. t-test P = 0.001 (8 rats). All three tests agree: the strongest lead.</a:t>
            </a:r>
          </a:p>
        </p:txBody>
      </p:sp>
      <p:sp>
        <p:nvSpPr>
          <p:cNvPr id="13" name="!!N80">
            <a:extLst>
              <a:ext uri="{FF2B5EF4-FFF2-40B4-BE49-F238E27FC236}">
                <a16:creationId xmlns:a16="http://schemas.microsoft.com/office/drawing/2014/main" id="{A601ED49-DC66-7A51-FED7-B588B2E9B77D}"/>
              </a:ext>
            </a:extLst>
          </p:cNvPr>
          <p:cNvSpPr/>
          <p:nvPr/>
        </p:nvSpPr>
        <p:spPr>
          <a:xfrm>
            <a:off x="12573000" y="838200"/>
            <a:ext cx="4241800" cy="795528"/>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Gamma-burst lag, R DHC with L RSC: how the cue shifted it differs between the days by 27 ms, toward R DHC leading on Precon4 compared with Precon1.</a:t>
            </a:r>
          </a:p>
        </p:txBody>
      </p:sp>
      <p:sp>
        <p:nvSpPr>
          <p:cNvPr id="14" name="!!N81">
            <a:extLst>
              <a:ext uri="{FF2B5EF4-FFF2-40B4-BE49-F238E27FC236}">
                <a16:creationId xmlns:a16="http://schemas.microsoft.com/office/drawing/2014/main" id="{602AB1F8-1E7A-4D44-072B-F7271BE6737F}"/>
              </a:ext>
            </a:extLst>
          </p:cNvPr>
          <p:cNvSpPr/>
          <p:nvPr/>
        </p:nvSpPr>
        <p:spPr>
          <a:xfrm>
            <a:off x="12573000" y="1748028"/>
            <a:ext cx="4241800" cy="107899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FP P = 0.014. Shuffles P = 0.020. t-test P = 0.013 (7 rats). All three tests agree: the strongest lead.</a:t>
            </a:r>
          </a:p>
        </p:txBody>
      </p:sp>
      <p:sp>
        <p:nvSpPr>
          <p:cNvPr id="15" name="!!T-BG">
            <a:extLst>
              <a:ext uri="{FF2B5EF4-FFF2-40B4-BE49-F238E27FC236}">
                <a16:creationId xmlns:a16="http://schemas.microsoft.com/office/drawing/2014/main" id="{F29A324B-8E2F-E526-69C2-7AF29D9DB111}"/>
              </a:ext>
            </a:extLst>
          </p:cNvPr>
          <p:cNvSpPr/>
          <p:nvPr/>
        </p:nvSpPr>
        <p:spPr>
          <a:xfrm>
            <a:off x="-381000" y="0"/>
            <a:ext cx="12954000" cy="685800"/>
          </a:xfrm>
          <a:prstGeom prst="snip2DiagRect">
            <a:avLst>
              <a:gd name="adj1" fmla="val 0"/>
              <a:gd name="adj2" fmla="val 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
            <a:extLst>
              <a:ext uri="{FF2B5EF4-FFF2-40B4-BE49-F238E27FC236}">
                <a16:creationId xmlns:a16="http://schemas.microsoft.com/office/drawing/2014/main" id="{F358D7AF-A271-9B82-8C71-B4CBC7A88350}"/>
              </a:ext>
            </a:extLst>
          </p:cNvPr>
          <p:cNvSpPr txBox="1"/>
          <p:nvPr/>
        </p:nvSpPr>
        <p:spPr>
          <a:xfrm>
            <a:off x="127000" y="0"/>
            <a:ext cx="11811000" cy="685800"/>
          </a:xfrm>
          <a:prstGeom prst="rect">
            <a:avLst/>
          </a:prstGeom>
          <a:noFill/>
        </p:spPr>
        <p:txBody>
          <a:bodyPr vert="horz" wrap="square" lIns="76200" tIns="25400" rIns="76200" bIns="25400" rtlCol="0" anchor="ctr">
            <a:noAutofit/>
          </a:bodyPr>
          <a:lstStyle/>
          <a:p>
            <a:pPr>
              <a:lnSpc>
                <a:spcPct val="95000"/>
              </a:lnSpc>
            </a:pPr>
            <a:r>
              <a:rPr lang="en-US" sz="2400" b="1" u="sng">
                <a:solidFill>
                  <a:srgbClr val="FFFFFF"/>
                </a:solidFill>
                <a:latin typeface="Aptos Display" panose="020B0004020202020204" pitchFamily="34" charset="0"/>
              </a:rPr>
              <a:t>4.3 · L OFC – L ACC · Bursts rise together</a:t>
            </a:r>
          </a:p>
        </p:txBody>
      </p:sp>
    </p:spTree>
    <p:extLst>
      <p:ext uri="{BB962C8B-B14F-4D97-AF65-F5344CB8AC3E}">
        <p14:creationId xmlns:p14="http://schemas.microsoft.com/office/powerpoint/2010/main" val="59139746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tage">
            <a:extLst>
              <a:ext uri="{FF2B5EF4-FFF2-40B4-BE49-F238E27FC236}">
                <a16:creationId xmlns:a16="http://schemas.microsoft.com/office/drawing/2014/main" id="{866195F5-5173-D4B0-946C-DADEDA2E840B}"/>
              </a:ext>
            </a:extLst>
          </p:cNvPr>
          <p:cNvSpPr/>
          <p:nvPr/>
        </p:nvSpPr>
        <p:spPr>
          <a:xfrm>
            <a:off x="0" y="685800"/>
            <a:ext cx="7670800" cy="6172200"/>
          </a:xfrm>
          <a:prstGeom prst="rect">
            <a:avLst/>
          </a:prstGeom>
          <a:solidFill>
            <a:srgbClr val="ECEC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F4_3">
            <a:extLst>
              <a:ext uri="{FF2B5EF4-FFF2-40B4-BE49-F238E27FC236}">
                <a16:creationId xmlns:a16="http://schemas.microsoft.com/office/drawing/2014/main" id="{2FA779CC-6551-7471-52CA-A3F5D0D1D47A}"/>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0689347" y="1658375"/>
            <a:ext cx="18094144" cy="4944281"/>
          </a:xfrm>
          <a:prstGeom prst="rect">
            <a:avLst/>
          </a:prstGeom>
          <a:ln w="9525">
            <a:solidFill>
              <a:srgbClr val="B0B0B0"/>
            </a:solidFill>
          </a:ln>
        </p:spPr>
      </p:pic>
      <p:sp>
        <p:nvSpPr>
          <p:cNvPr id="5" name="!!D1">
            <a:extLst>
              <a:ext uri="{FF2B5EF4-FFF2-40B4-BE49-F238E27FC236}">
                <a16:creationId xmlns:a16="http://schemas.microsoft.com/office/drawing/2014/main" id="{C6B63F7A-BD1E-E2E6-39A6-77E88B9CD65A}"/>
              </a:ext>
            </a:extLst>
          </p:cNvPr>
          <p:cNvSpPr/>
          <p:nvPr/>
        </p:nvSpPr>
        <p:spPr>
          <a:xfrm>
            <a:off x="0" y="685800"/>
            <a:ext cx="7670800" cy="1046069"/>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2">
            <a:extLst>
              <a:ext uri="{FF2B5EF4-FFF2-40B4-BE49-F238E27FC236}">
                <a16:creationId xmlns:a16="http://schemas.microsoft.com/office/drawing/2014/main" id="{1C56FF33-01D1-9299-D3C2-DFF5BDD34C3B}"/>
              </a:ext>
            </a:extLst>
          </p:cNvPr>
          <p:cNvSpPr/>
          <p:nvPr/>
        </p:nvSpPr>
        <p:spPr>
          <a:xfrm>
            <a:off x="0" y="5837331"/>
            <a:ext cx="7670800" cy="1020669"/>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3">
            <a:extLst>
              <a:ext uri="{FF2B5EF4-FFF2-40B4-BE49-F238E27FC236}">
                <a16:creationId xmlns:a16="http://schemas.microsoft.com/office/drawing/2014/main" id="{9BCD7C8C-FD58-3178-6819-922BEB97E7C4}"/>
              </a:ext>
            </a:extLst>
          </p:cNvPr>
          <p:cNvSpPr/>
          <p:nvPr/>
        </p:nvSpPr>
        <p:spPr>
          <a:xfrm>
            <a:off x="0" y="1731869"/>
            <a:ext cx="262509" cy="4105462"/>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4">
            <a:extLst>
              <a:ext uri="{FF2B5EF4-FFF2-40B4-BE49-F238E27FC236}">
                <a16:creationId xmlns:a16="http://schemas.microsoft.com/office/drawing/2014/main" id="{574FCFAC-B11E-0F6B-96DC-FA051A552896}"/>
              </a:ext>
            </a:extLst>
          </p:cNvPr>
          <p:cNvSpPr/>
          <p:nvPr/>
        </p:nvSpPr>
        <p:spPr>
          <a:xfrm>
            <a:off x="7433691" y="1731869"/>
            <a:ext cx="237109" cy="4105462"/>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ocus">
            <a:extLst>
              <a:ext uri="{FF2B5EF4-FFF2-40B4-BE49-F238E27FC236}">
                <a16:creationId xmlns:a16="http://schemas.microsoft.com/office/drawing/2014/main" id="{8D7C4411-7EFC-28BF-DECA-AC99542DB788}"/>
              </a:ext>
            </a:extLst>
          </p:cNvPr>
          <p:cNvSpPr/>
          <p:nvPr/>
        </p:nvSpPr>
        <p:spPr>
          <a:xfrm>
            <a:off x="485697" y="1856163"/>
            <a:ext cx="3619528" cy="3856874"/>
          </a:xfrm>
          <a:prstGeom prst="rect">
            <a:avLst/>
          </a:prstGeom>
          <a:solidFill>
            <a:srgbClr val="83CBEB">
              <a:alpha val="37000"/>
            </a:srgbClr>
          </a:solidFill>
          <a:ln w="38100">
            <a:solidFill>
              <a:srgbClr val="46B1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ocus2">
            <a:extLst>
              <a:ext uri="{FF2B5EF4-FFF2-40B4-BE49-F238E27FC236}">
                <a16:creationId xmlns:a16="http://schemas.microsoft.com/office/drawing/2014/main" id="{A474ED49-87A7-2EAB-9E64-7538F09D4ACE}"/>
              </a:ext>
            </a:extLst>
          </p:cNvPr>
          <p:cNvSpPr/>
          <p:nvPr/>
        </p:nvSpPr>
        <p:spPr>
          <a:xfrm>
            <a:off x="4184340" y="1856163"/>
            <a:ext cx="3223951" cy="3856874"/>
          </a:xfrm>
          <a:prstGeom prst="rect">
            <a:avLst/>
          </a:prstGeom>
          <a:solidFill>
            <a:srgbClr val="83CBEB">
              <a:alpha val="37000"/>
            </a:srgbClr>
          </a:solidFill>
          <a:ln w="38100">
            <a:solidFill>
              <a:srgbClr val="46B1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ail">
            <a:extLst>
              <a:ext uri="{FF2B5EF4-FFF2-40B4-BE49-F238E27FC236}">
                <a16:creationId xmlns:a16="http://schemas.microsoft.com/office/drawing/2014/main" id="{41C300F2-9999-D52C-BC86-80719DE0B0D4}"/>
              </a:ext>
            </a:extLst>
          </p:cNvPr>
          <p:cNvSpPr/>
          <p:nvPr/>
        </p:nvSpPr>
        <p:spPr>
          <a:xfrm>
            <a:off x="7670800" y="685800"/>
            <a:ext cx="4521200" cy="61722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N82">
            <a:extLst>
              <a:ext uri="{FF2B5EF4-FFF2-40B4-BE49-F238E27FC236}">
                <a16:creationId xmlns:a16="http://schemas.microsoft.com/office/drawing/2014/main" id="{778963B0-3C25-D645-E082-90B69B148D22}"/>
              </a:ext>
            </a:extLst>
          </p:cNvPr>
          <p:cNvSpPr/>
          <p:nvPr/>
        </p:nvSpPr>
        <p:spPr>
          <a:xfrm>
            <a:off x="7797800" y="838200"/>
            <a:ext cx="4241800" cy="795528"/>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L OFC and L ACC gamma bursts rising together (amplitude correlation): cue − baseline was higher on Precon4 than on Precon1.</a:t>
            </a:r>
          </a:p>
        </p:txBody>
      </p:sp>
      <p:sp>
        <p:nvSpPr>
          <p:cNvPr id="13" name="!!N83">
            <a:extLst>
              <a:ext uri="{FF2B5EF4-FFF2-40B4-BE49-F238E27FC236}">
                <a16:creationId xmlns:a16="http://schemas.microsoft.com/office/drawing/2014/main" id="{D4637FFE-B5CE-7703-F1D9-A8DFA77BECEF}"/>
              </a:ext>
            </a:extLst>
          </p:cNvPr>
          <p:cNvSpPr/>
          <p:nvPr/>
        </p:nvSpPr>
        <p:spPr>
          <a:xfrm>
            <a:off x="7797800" y="1748028"/>
            <a:ext cx="4241800" cy="107899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FP P = 0.016. Shuffles P = 0.020. t-test P = 0.001 (8 rats). All three tests agree: the strongest lead.</a:t>
            </a:r>
          </a:p>
        </p:txBody>
      </p:sp>
      <p:sp>
        <p:nvSpPr>
          <p:cNvPr id="14" name="!!N84">
            <a:extLst>
              <a:ext uri="{FF2B5EF4-FFF2-40B4-BE49-F238E27FC236}">
                <a16:creationId xmlns:a16="http://schemas.microsoft.com/office/drawing/2014/main" id="{E1D8B6E2-1D22-A778-551D-4C02FACDE1CF}"/>
              </a:ext>
            </a:extLst>
          </p:cNvPr>
          <p:cNvSpPr/>
          <p:nvPr/>
        </p:nvSpPr>
        <p:spPr>
          <a:xfrm>
            <a:off x="12573000" y="838200"/>
            <a:ext cx="4241800" cy="1362456"/>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R ACC and L RSC gamma bursts rising together (amplitude correlation): cue − baseline was higher on Precon4 than on Precon1.</a:t>
            </a:r>
          </a:p>
        </p:txBody>
      </p:sp>
      <p:sp>
        <p:nvSpPr>
          <p:cNvPr id="15" name="!!T-BG">
            <a:extLst>
              <a:ext uri="{FF2B5EF4-FFF2-40B4-BE49-F238E27FC236}">
                <a16:creationId xmlns:a16="http://schemas.microsoft.com/office/drawing/2014/main" id="{DD22077C-3FBF-7379-69DE-9000968AD353}"/>
              </a:ext>
            </a:extLst>
          </p:cNvPr>
          <p:cNvSpPr/>
          <p:nvPr/>
        </p:nvSpPr>
        <p:spPr>
          <a:xfrm>
            <a:off x="-381000" y="0"/>
            <a:ext cx="12954000" cy="685800"/>
          </a:xfrm>
          <a:prstGeom prst="snip2DiagRect">
            <a:avLst>
              <a:gd name="adj1" fmla="val 0"/>
              <a:gd name="adj2" fmla="val 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
            <a:extLst>
              <a:ext uri="{FF2B5EF4-FFF2-40B4-BE49-F238E27FC236}">
                <a16:creationId xmlns:a16="http://schemas.microsoft.com/office/drawing/2014/main" id="{C57C5631-36BB-327F-F9A8-40C693ACD2F1}"/>
              </a:ext>
            </a:extLst>
          </p:cNvPr>
          <p:cNvSpPr txBox="1"/>
          <p:nvPr/>
        </p:nvSpPr>
        <p:spPr>
          <a:xfrm>
            <a:off x="127000" y="0"/>
            <a:ext cx="11811000" cy="685800"/>
          </a:xfrm>
          <a:prstGeom prst="rect">
            <a:avLst/>
          </a:prstGeom>
          <a:noFill/>
        </p:spPr>
        <p:txBody>
          <a:bodyPr vert="horz" wrap="square" lIns="76200" tIns="25400" rIns="76200" bIns="25400" rtlCol="0" anchor="ctr">
            <a:noAutofit/>
          </a:bodyPr>
          <a:lstStyle/>
          <a:p>
            <a:pPr>
              <a:lnSpc>
                <a:spcPct val="95000"/>
              </a:lnSpc>
            </a:pPr>
            <a:r>
              <a:rPr lang="en-US" sz="2400" b="1" u="sng">
                <a:solidFill>
                  <a:srgbClr val="FFFFFF"/>
                </a:solidFill>
                <a:latin typeface="Aptos Display" panose="020B0004020202020204" pitchFamily="34" charset="0"/>
              </a:rPr>
              <a:t>4.3 · L OFC – L ACC · Bursts rise together</a:t>
            </a:r>
          </a:p>
        </p:txBody>
      </p:sp>
    </p:spTree>
    <p:extLst>
      <p:ext uri="{BB962C8B-B14F-4D97-AF65-F5344CB8AC3E}">
        <p14:creationId xmlns:p14="http://schemas.microsoft.com/office/powerpoint/2010/main" val="45625835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tage">
            <a:extLst>
              <a:ext uri="{FF2B5EF4-FFF2-40B4-BE49-F238E27FC236}">
                <a16:creationId xmlns:a16="http://schemas.microsoft.com/office/drawing/2014/main" id="{6A5CA7E5-232F-5207-8A39-EC7580807623}"/>
              </a:ext>
            </a:extLst>
          </p:cNvPr>
          <p:cNvSpPr/>
          <p:nvPr/>
        </p:nvSpPr>
        <p:spPr>
          <a:xfrm>
            <a:off x="0" y="685800"/>
            <a:ext cx="7670800" cy="6172200"/>
          </a:xfrm>
          <a:prstGeom prst="rect">
            <a:avLst/>
          </a:prstGeom>
          <a:solidFill>
            <a:srgbClr val="ECEC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F4_4">
            <a:extLst>
              <a:ext uri="{FF2B5EF4-FFF2-40B4-BE49-F238E27FC236}">
                <a16:creationId xmlns:a16="http://schemas.microsoft.com/office/drawing/2014/main" id="{F4972484-EF51-FE0A-89B4-1B1AF8CC804F}"/>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287909" y="2811767"/>
            <a:ext cx="7120382" cy="1945667"/>
          </a:xfrm>
          <a:prstGeom prst="rect">
            <a:avLst/>
          </a:prstGeom>
          <a:ln w="9525">
            <a:solidFill>
              <a:srgbClr val="B0B0B0"/>
            </a:solidFill>
          </a:ln>
        </p:spPr>
      </p:pic>
      <p:sp>
        <p:nvSpPr>
          <p:cNvPr id="5" name="!!D1">
            <a:extLst>
              <a:ext uri="{FF2B5EF4-FFF2-40B4-BE49-F238E27FC236}">
                <a16:creationId xmlns:a16="http://schemas.microsoft.com/office/drawing/2014/main" id="{0DE53C71-C610-A291-9140-DAFBEE881F13}"/>
              </a:ext>
            </a:extLst>
          </p:cNvPr>
          <p:cNvSpPr/>
          <p:nvPr/>
        </p:nvSpPr>
        <p:spPr>
          <a:xfrm>
            <a:off x="0" y="685800"/>
            <a:ext cx="7670800" cy="635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2">
            <a:extLst>
              <a:ext uri="{FF2B5EF4-FFF2-40B4-BE49-F238E27FC236}">
                <a16:creationId xmlns:a16="http://schemas.microsoft.com/office/drawing/2014/main" id="{AFE61361-AC73-D85E-649D-F7F9BC28EA90}"/>
              </a:ext>
            </a:extLst>
          </p:cNvPr>
          <p:cNvSpPr/>
          <p:nvPr/>
        </p:nvSpPr>
        <p:spPr>
          <a:xfrm>
            <a:off x="0" y="6858000"/>
            <a:ext cx="7670800" cy="635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3">
            <a:extLst>
              <a:ext uri="{FF2B5EF4-FFF2-40B4-BE49-F238E27FC236}">
                <a16:creationId xmlns:a16="http://schemas.microsoft.com/office/drawing/2014/main" id="{9E8DB964-3372-09D7-8A2B-13C10C5EB53C}"/>
              </a:ext>
            </a:extLst>
          </p:cNvPr>
          <p:cNvSpPr/>
          <p:nvPr/>
        </p:nvSpPr>
        <p:spPr>
          <a:xfrm>
            <a:off x="0" y="685800"/>
            <a:ext cx="6350" cy="617220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4">
            <a:extLst>
              <a:ext uri="{FF2B5EF4-FFF2-40B4-BE49-F238E27FC236}">
                <a16:creationId xmlns:a16="http://schemas.microsoft.com/office/drawing/2014/main" id="{DA0CF76A-221E-E135-B9A1-DD02389D8521}"/>
              </a:ext>
            </a:extLst>
          </p:cNvPr>
          <p:cNvSpPr/>
          <p:nvPr/>
        </p:nvSpPr>
        <p:spPr>
          <a:xfrm>
            <a:off x="7670800" y="685800"/>
            <a:ext cx="6350" cy="617220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ocus">
            <a:extLst>
              <a:ext uri="{FF2B5EF4-FFF2-40B4-BE49-F238E27FC236}">
                <a16:creationId xmlns:a16="http://schemas.microsoft.com/office/drawing/2014/main" id="{BEFB8472-026C-E1BA-0484-E8261D6F9EE8}"/>
              </a:ext>
            </a:extLst>
          </p:cNvPr>
          <p:cNvSpPr/>
          <p:nvPr/>
        </p:nvSpPr>
        <p:spPr>
          <a:xfrm>
            <a:off x="4685497" y="2889600"/>
            <a:ext cx="1424351" cy="1517752"/>
          </a:xfrm>
          <a:prstGeom prst="rect">
            <a:avLst/>
          </a:prstGeom>
          <a:solidFill>
            <a:srgbClr val="83CBEB">
              <a:alpha val="37000"/>
            </a:srgbClr>
          </a:solidFill>
          <a:ln w="38100">
            <a:solidFill>
              <a:srgbClr val="46B1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ail">
            <a:extLst>
              <a:ext uri="{FF2B5EF4-FFF2-40B4-BE49-F238E27FC236}">
                <a16:creationId xmlns:a16="http://schemas.microsoft.com/office/drawing/2014/main" id="{E4B8423B-B7F4-2692-A7B0-FAAAC4593C38}"/>
              </a:ext>
            </a:extLst>
          </p:cNvPr>
          <p:cNvSpPr/>
          <p:nvPr/>
        </p:nvSpPr>
        <p:spPr>
          <a:xfrm>
            <a:off x="7670800" y="685800"/>
            <a:ext cx="4521200" cy="61722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N84">
            <a:extLst>
              <a:ext uri="{FF2B5EF4-FFF2-40B4-BE49-F238E27FC236}">
                <a16:creationId xmlns:a16="http://schemas.microsoft.com/office/drawing/2014/main" id="{AB7AEF4C-AA4A-AC8E-8DB4-DA2989DE3832}"/>
              </a:ext>
            </a:extLst>
          </p:cNvPr>
          <p:cNvSpPr/>
          <p:nvPr/>
        </p:nvSpPr>
        <p:spPr>
          <a:xfrm>
            <a:off x="7797800" y="838200"/>
            <a:ext cx="4241800" cy="1362456"/>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R ACC and L RSC gamma bursts rising together (amplitude correlation): cue − baseline was higher on Precon4 than on Precon1.</a:t>
            </a:r>
          </a:p>
        </p:txBody>
      </p:sp>
      <p:sp>
        <p:nvSpPr>
          <p:cNvPr id="12" name="!!N85">
            <a:extLst>
              <a:ext uri="{FF2B5EF4-FFF2-40B4-BE49-F238E27FC236}">
                <a16:creationId xmlns:a16="http://schemas.microsoft.com/office/drawing/2014/main" id="{944C6253-6DC7-3E2B-34E8-928C59D31526}"/>
              </a:ext>
            </a:extLst>
          </p:cNvPr>
          <p:cNvSpPr/>
          <p:nvPr/>
        </p:nvSpPr>
        <p:spPr>
          <a:xfrm>
            <a:off x="12573000" y="1748028"/>
            <a:ext cx="4241800" cy="107899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FP P = 0.028. Shuffles P = 0.001. t-test P = 0.010 (7 rats). All three tests agree: the strongest lead.</a:t>
            </a:r>
          </a:p>
        </p:txBody>
      </p:sp>
      <p:sp>
        <p:nvSpPr>
          <p:cNvPr id="13" name="!!N82">
            <a:extLst>
              <a:ext uri="{FF2B5EF4-FFF2-40B4-BE49-F238E27FC236}">
                <a16:creationId xmlns:a16="http://schemas.microsoft.com/office/drawing/2014/main" id="{CCC0E1BF-DE9E-A01D-6F7B-F3BB9CD6BF2C}"/>
              </a:ext>
            </a:extLst>
          </p:cNvPr>
          <p:cNvSpPr/>
          <p:nvPr/>
        </p:nvSpPr>
        <p:spPr>
          <a:xfrm>
            <a:off x="12573000" y="838200"/>
            <a:ext cx="4241800" cy="795528"/>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L OFC and L ACC gamma bursts rising together (amplitude correlation): cue − baseline was higher on Precon4 than on Precon1.</a:t>
            </a:r>
          </a:p>
        </p:txBody>
      </p:sp>
      <p:sp>
        <p:nvSpPr>
          <p:cNvPr id="14" name="!!N83">
            <a:extLst>
              <a:ext uri="{FF2B5EF4-FFF2-40B4-BE49-F238E27FC236}">
                <a16:creationId xmlns:a16="http://schemas.microsoft.com/office/drawing/2014/main" id="{9AF15779-0C27-9B76-4EC9-1B1CC76F1BC9}"/>
              </a:ext>
            </a:extLst>
          </p:cNvPr>
          <p:cNvSpPr/>
          <p:nvPr/>
        </p:nvSpPr>
        <p:spPr>
          <a:xfrm>
            <a:off x="12573000" y="1748028"/>
            <a:ext cx="4241800" cy="107899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FP P = 0.016. Shuffles P = 0.020. t-test P = 0.001 (8 rats). All three tests agree: the strongest lead.</a:t>
            </a:r>
          </a:p>
        </p:txBody>
      </p:sp>
      <p:sp>
        <p:nvSpPr>
          <p:cNvPr id="15" name="!!T-BG">
            <a:extLst>
              <a:ext uri="{FF2B5EF4-FFF2-40B4-BE49-F238E27FC236}">
                <a16:creationId xmlns:a16="http://schemas.microsoft.com/office/drawing/2014/main" id="{2D07C3FC-66F6-06F3-5CD3-00090F88EA63}"/>
              </a:ext>
            </a:extLst>
          </p:cNvPr>
          <p:cNvSpPr/>
          <p:nvPr/>
        </p:nvSpPr>
        <p:spPr>
          <a:xfrm>
            <a:off x="-381000" y="0"/>
            <a:ext cx="12954000" cy="685800"/>
          </a:xfrm>
          <a:prstGeom prst="snip2DiagRect">
            <a:avLst>
              <a:gd name="adj1" fmla="val 0"/>
              <a:gd name="adj2" fmla="val 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
            <a:extLst>
              <a:ext uri="{FF2B5EF4-FFF2-40B4-BE49-F238E27FC236}">
                <a16:creationId xmlns:a16="http://schemas.microsoft.com/office/drawing/2014/main" id="{7435AD08-A9A2-FE9F-D341-85E90034B58D}"/>
              </a:ext>
            </a:extLst>
          </p:cNvPr>
          <p:cNvSpPr txBox="1"/>
          <p:nvPr/>
        </p:nvSpPr>
        <p:spPr>
          <a:xfrm>
            <a:off x="127000" y="0"/>
            <a:ext cx="11811000" cy="685800"/>
          </a:xfrm>
          <a:prstGeom prst="rect">
            <a:avLst/>
          </a:prstGeom>
          <a:noFill/>
        </p:spPr>
        <p:txBody>
          <a:bodyPr vert="horz" wrap="square" lIns="76200" tIns="25400" rIns="76200" bIns="25400" rtlCol="0" anchor="ctr">
            <a:noAutofit/>
          </a:bodyPr>
          <a:lstStyle/>
          <a:p>
            <a:pPr>
              <a:lnSpc>
                <a:spcPct val="95000"/>
              </a:lnSpc>
            </a:pPr>
            <a:r>
              <a:rPr lang="en-US" sz="2400" b="1" u="sng">
                <a:solidFill>
                  <a:srgbClr val="FFFFFF"/>
                </a:solidFill>
                <a:latin typeface="Aptos Display" panose="020B0004020202020204" pitchFamily="34" charset="0"/>
              </a:rPr>
              <a:t>4.4 · R ACC – L RSC · Bursts rise together</a:t>
            </a:r>
          </a:p>
        </p:txBody>
      </p:sp>
    </p:spTree>
    <p:extLst>
      <p:ext uri="{BB962C8B-B14F-4D97-AF65-F5344CB8AC3E}">
        <p14:creationId xmlns:p14="http://schemas.microsoft.com/office/powerpoint/2010/main" val="220087646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tage">
            <a:extLst>
              <a:ext uri="{FF2B5EF4-FFF2-40B4-BE49-F238E27FC236}">
                <a16:creationId xmlns:a16="http://schemas.microsoft.com/office/drawing/2014/main" id="{306466F2-BAD7-118E-256C-D1CFCACB1472}"/>
              </a:ext>
            </a:extLst>
          </p:cNvPr>
          <p:cNvSpPr/>
          <p:nvPr/>
        </p:nvSpPr>
        <p:spPr>
          <a:xfrm>
            <a:off x="0" y="685800"/>
            <a:ext cx="7670800" cy="6172200"/>
          </a:xfrm>
          <a:prstGeom prst="rect">
            <a:avLst/>
          </a:prstGeom>
          <a:solidFill>
            <a:srgbClr val="ECEC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F4_4">
            <a:extLst>
              <a:ext uri="{FF2B5EF4-FFF2-40B4-BE49-F238E27FC236}">
                <a16:creationId xmlns:a16="http://schemas.microsoft.com/office/drawing/2014/main" id="{06F31C62-DC5B-35C0-B4ED-04E683883ADB}"/>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0689347" y="1658375"/>
            <a:ext cx="18094144" cy="4944281"/>
          </a:xfrm>
          <a:prstGeom prst="rect">
            <a:avLst/>
          </a:prstGeom>
          <a:ln w="9525">
            <a:solidFill>
              <a:srgbClr val="B0B0B0"/>
            </a:solidFill>
          </a:ln>
        </p:spPr>
      </p:pic>
      <p:sp>
        <p:nvSpPr>
          <p:cNvPr id="5" name="!!D1">
            <a:extLst>
              <a:ext uri="{FF2B5EF4-FFF2-40B4-BE49-F238E27FC236}">
                <a16:creationId xmlns:a16="http://schemas.microsoft.com/office/drawing/2014/main" id="{67EDCE9D-236C-7A8B-75DA-11EC2DB6BAB8}"/>
              </a:ext>
            </a:extLst>
          </p:cNvPr>
          <p:cNvSpPr/>
          <p:nvPr/>
        </p:nvSpPr>
        <p:spPr>
          <a:xfrm>
            <a:off x="0" y="685800"/>
            <a:ext cx="7670800" cy="1046069"/>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2">
            <a:extLst>
              <a:ext uri="{FF2B5EF4-FFF2-40B4-BE49-F238E27FC236}">
                <a16:creationId xmlns:a16="http://schemas.microsoft.com/office/drawing/2014/main" id="{064AB66A-7145-5A2C-85F7-6BCD50BC8B79}"/>
              </a:ext>
            </a:extLst>
          </p:cNvPr>
          <p:cNvSpPr/>
          <p:nvPr/>
        </p:nvSpPr>
        <p:spPr>
          <a:xfrm>
            <a:off x="0" y="5837331"/>
            <a:ext cx="7670800" cy="1020669"/>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3">
            <a:extLst>
              <a:ext uri="{FF2B5EF4-FFF2-40B4-BE49-F238E27FC236}">
                <a16:creationId xmlns:a16="http://schemas.microsoft.com/office/drawing/2014/main" id="{D6A9F0CA-2A4A-9E47-5007-C61082F76B30}"/>
              </a:ext>
            </a:extLst>
          </p:cNvPr>
          <p:cNvSpPr/>
          <p:nvPr/>
        </p:nvSpPr>
        <p:spPr>
          <a:xfrm>
            <a:off x="0" y="1731869"/>
            <a:ext cx="262509" cy="4105462"/>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4">
            <a:extLst>
              <a:ext uri="{FF2B5EF4-FFF2-40B4-BE49-F238E27FC236}">
                <a16:creationId xmlns:a16="http://schemas.microsoft.com/office/drawing/2014/main" id="{E9A62DFA-A006-D38E-D81B-0DA7B7A5BC45}"/>
              </a:ext>
            </a:extLst>
          </p:cNvPr>
          <p:cNvSpPr/>
          <p:nvPr/>
        </p:nvSpPr>
        <p:spPr>
          <a:xfrm>
            <a:off x="7433691" y="1731869"/>
            <a:ext cx="237109" cy="4105462"/>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ocus">
            <a:extLst>
              <a:ext uri="{FF2B5EF4-FFF2-40B4-BE49-F238E27FC236}">
                <a16:creationId xmlns:a16="http://schemas.microsoft.com/office/drawing/2014/main" id="{86C459D4-51DD-F4C2-690D-781CB0EA948D}"/>
              </a:ext>
            </a:extLst>
          </p:cNvPr>
          <p:cNvSpPr/>
          <p:nvPr/>
        </p:nvSpPr>
        <p:spPr>
          <a:xfrm>
            <a:off x="485697" y="1856163"/>
            <a:ext cx="3619528" cy="3856874"/>
          </a:xfrm>
          <a:prstGeom prst="rect">
            <a:avLst/>
          </a:prstGeom>
          <a:solidFill>
            <a:srgbClr val="83CBEB">
              <a:alpha val="37000"/>
            </a:srgbClr>
          </a:solidFill>
          <a:ln w="38100">
            <a:solidFill>
              <a:srgbClr val="46B1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ocus2">
            <a:extLst>
              <a:ext uri="{FF2B5EF4-FFF2-40B4-BE49-F238E27FC236}">
                <a16:creationId xmlns:a16="http://schemas.microsoft.com/office/drawing/2014/main" id="{AE2CA952-0115-5426-F9F8-23108FDBFD02}"/>
              </a:ext>
            </a:extLst>
          </p:cNvPr>
          <p:cNvSpPr/>
          <p:nvPr/>
        </p:nvSpPr>
        <p:spPr>
          <a:xfrm>
            <a:off x="4184340" y="1856163"/>
            <a:ext cx="3223951" cy="3856874"/>
          </a:xfrm>
          <a:prstGeom prst="rect">
            <a:avLst/>
          </a:prstGeom>
          <a:solidFill>
            <a:srgbClr val="83CBEB">
              <a:alpha val="37000"/>
            </a:srgbClr>
          </a:solidFill>
          <a:ln w="38100">
            <a:solidFill>
              <a:srgbClr val="46B1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ail">
            <a:extLst>
              <a:ext uri="{FF2B5EF4-FFF2-40B4-BE49-F238E27FC236}">
                <a16:creationId xmlns:a16="http://schemas.microsoft.com/office/drawing/2014/main" id="{7A4779B6-5E66-1960-7E01-D239BCF853C6}"/>
              </a:ext>
            </a:extLst>
          </p:cNvPr>
          <p:cNvSpPr/>
          <p:nvPr/>
        </p:nvSpPr>
        <p:spPr>
          <a:xfrm>
            <a:off x="7670800" y="685800"/>
            <a:ext cx="4521200" cy="61722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N84">
            <a:extLst>
              <a:ext uri="{FF2B5EF4-FFF2-40B4-BE49-F238E27FC236}">
                <a16:creationId xmlns:a16="http://schemas.microsoft.com/office/drawing/2014/main" id="{C3839312-BDE1-2F41-6440-DD06B5B3B256}"/>
              </a:ext>
            </a:extLst>
          </p:cNvPr>
          <p:cNvSpPr/>
          <p:nvPr/>
        </p:nvSpPr>
        <p:spPr>
          <a:xfrm>
            <a:off x="7797800" y="838200"/>
            <a:ext cx="4241800" cy="795528"/>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R ACC and L RSC gamma bursts rising together (amplitude correlation): cue − baseline was higher on Precon4 than on Precon1.</a:t>
            </a:r>
          </a:p>
        </p:txBody>
      </p:sp>
      <p:sp>
        <p:nvSpPr>
          <p:cNvPr id="13" name="!!N85">
            <a:extLst>
              <a:ext uri="{FF2B5EF4-FFF2-40B4-BE49-F238E27FC236}">
                <a16:creationId xmlns:a16="http://schemas.microsoft.com/office/drawing/2014/main" id="{44D7F48E-58DA-0C33-3B14-CE72B96604D9}"/>
              </a:ext>
            </a:extLst>
          </p:cNvPr>
          <p:cNvSpPr/>
          <p:nvPr/>
        </p:nvSpPr>
        <p:spPr>
          <a:xfrm>
            <a:off x="7797800" y="1748028"/>
            <a:ext cx="4241800" cy="107899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FP P = 0.028. Shuffles P = 0.001. t-test P = 0.010 (7 rats). All three tests agree: the strongest lead.</a:t>
            </a:r>
          </a:p>
        </p:txBody>
      </p:sp>
      <p:sp>
        <p:nvSpPr>
          <p:cNvPr id="14" name="!!N86">
            <a:extLst>
              <a:ext uri="{FF2B5EF4-FFF2-40B4-BE49-F238E27FC236}">
                <a16:creationId xmlns:a16="http://schemas.microsoft.com/office/drawing/2014/main" id="{DF93DEDC-5015-5B82-2954-1C5C1C4D8844}"/>
              </a:ext>
            </a:extLst>
          </p:cNvPr>
          <p:cNvSpPr/>
          <p:nvPr/>
        </p:nvSpPr>
        <p:spPr>
          <a:xfrm>
            <a:off x="12573000" y="838200"/>
            <a:ext cx="4241800" cy="1362456"/>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R ACC and R OFC gamma bursts rising together (amplitude correlation): cue − baseline was higher on Precon4 than on Precon1.</a:t>
            </a:r>
          </a:p>
        </p:txBody>
      </p:sp>
      <p:sp>
        <p:nvSpPr>
          <p:cNvPr id="15" name="!!T-BG">
            <a:extLst>
              <a:ext uri="{FF2B5EF4-FFF2-40B4-BE49-F238E27FC236}">
                <a16:creationId xmlns:a16="http://schemas.microsoft.com/office/drawing/2014/main" id="{42CED1D6-C5EB-A87B-7EEF-B8DBA738B505}"/>
              </a:ext>
            </a:extLst>
          </p:cNvPr>
          <p:cNvSpPr/>
          <p:nvPr/>
        </p:nvSpPr>
        <p:spPr>
          <a:xfrm>
            <a:off x="-381000" y="0"/>
            <a:ext cx="12954000" cy="685800"/>
          </a:xfrm>
          <a:prstGeom prst="snip2DiagRect">
            <a:avLst>
              <a:gd name="adj1" fmla="val 0"/>
              <a:gd name="adj2" fmla="val 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
            <a:extLst>
              <a:ext uri="{FF2B5EF4-FFF2-40B4-BE49-F238E27FC236}">
                <a16:creationId xmlns:a16="http://schemas.microsoft.com/office/drawing/2014/main" id="{FBBC4430-57E4-82A8-9A70-401D908FE3EC}"/>
              </a:ext>
            </a:extLst>
          </p:cNvPr>
          <p:cNvSpPr txBox="1"/>
          <p:nvPr/>
        </p:nvSpPr>
        <p:spPr>
          <a:xfrm>
            <a:off x="127000" y="0"/>
            <a:ext cx="11811000" cy="685800"/>
          </a:xfrm>
          <a:prstGeom prst="rect">
            <a:avLst/>
          </a:prstGeom>
          <a:noFill/>
        </p:spPr>
        <p:txBody>
          <a:bodyPr vert="horz" wrap="square" lIns="76200" tIns="25400" rIns="76200" bIns="25400" rtlCol="0" anchor="ctr">
            <a:noAutofit/>
          </a:bodyPr>
          <a:lstStyle/>
          <a:p>
            <a:pPr>
              <a:lnSpc>
                <a:spcPct val="95000"/>
              </a:lnSpc>
            </a:pPr>
            <a:r>
              <a:rPr lang="en-US" sz="2400" b="1" u="sng">
                <a:solidFill>
                  <a:srgbClr val="FFFFFF"/>
                </a:solidFill>
                <a:latin typeface="Aptos Display" panose="020B0004020202020204" pitchFamily="34" charset="0"/>
              </a:rPr>
              <a:t>4.4 · R ACC – L RSC · Bursts rise together</a:t>
            </a:r>
          </a:p>
        </p:txBody>
      </p:sp>
    </p:spTree>
    <p:extLst>
      <p:ext uri="{BB962C8B-B14F-4D97-AF65-F5344CB8AC3E}">
        <p14:creationId xmlns:p14="http://schemas.microsoft.com/office/powerpoint/2010/main" val="377034100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tage">
            <a:extLst>
              <a:ext uri="{FF2B5EF4-FFF2-40B4-BE49-F238E27FC236}">
                <a16:creationId xmlns:a16="http://schemas.microsoft.com/office/drawing/2014/main" id="{C3BBFBB0-4458-470B-1E12-3A9740430626}"/>
              </a:ext>
            </a:extLst>
          </p:cNvPr>
          <p:cNvSpPr/>
          <p:nvPr/>
        </p:nvSpPr>
        <p:spPr>
          <a:xfrm>
            <a:off x="0" y="685800"/>
            <a:ext cx="7670800" cy="6172200"/>
          </a:xfrm>
          <a:prstGeom prst="rect">
            <a:avLst/>
          </a:prstGeom>
          <a:solidFill>
            <a:srgbClr val="ECEC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F4_5">
            <a:extLst>
              <a:ext uri="{FF2B5EF4-FFF2-40B4-BE49-F238E27FC236}">
                <a16:creationId xmlns:a16="http://schemas.microsoft.com/office/drawing/2014/main" id="{4167CF66-19A1-78DD-DD5C-4F474FFCFC8F}"/>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287909" y="2811767"/>
            <a:ext cx="7120382" cy="1945667"/>
          </a:xfrm>
          <a:prstGeom prst="rect">
            <a:avLst/>
          </a:prstGeom>
          <a:ln w="9525">
            <a:solidFill>
              <a:srgbClr val="B0B0B0"/>
            </a:solidFill>
          </a:ln>
        </p:spPr>
      </p:pic>
      <p:sp>
        <p:nvSpPr>
          <p:cNvPr id="5" name="!!D1">
            <a:extLst>
              <a:ext uri="{FF2B5EF4-FFF2-40B4-BE49-F238E27FC236}">
                <a16:creationId xmlns:a16="http://schemas.microsoft.com/office/drawing/2014/main" id="{15DB0040-FAC7-2441-DCF9-1E4EF71552AC}"/>
              </a:ext>
            </a:extLst>
          </p:cNvPr>
          <p:cNvSpPr/>
          <p:nvPr/>
        </p:nvSpPr>
        <p:spPr>
          <a:xfrm>
            <a:off x="0" y="685800"/>
            <a:ext cx="7670800" cy="635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2">
            <a:extLst>
              <a:ext uri="{FF2B5EF4-FFF2-40B4-BE49-F238E27FC236}">
                <a16:creationId xmlns:a16="http://schemas.microsoft.com/office/drawing/2014/main" id="{E86F361D-0648-5977-0BF1-671DF5FFCA5D}"/>
              </a:ext>
            </a:extLst>
          </p:cNvPr>
          <p:cNvSpPr/>
          <p:nvPr/>
        </p:nvSpPr>
        <p:spPr>
          <a:xfrm>
            <a:off x="0" y="6858000"/>
            <a:ext cx="7670800" cy="635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3">
            <a:extLst>
              <a:ext uri="{FF2B5EF4-FFF2-40B4-BE49-F238E27FC236}">
                <a16:creationId xmlns:a16="http://schemas.microsoft.com/office/drawing/2014/main" id="{643730DE-AE98-5C2F-E384-4FF92551EF96}"/>
              </a:ext>
            </a:extLst>
          </p:cNvPr>
          <p:cNvSpPr/>
          <p:nvPr/>
        </p:nvSpPr>
        <p:spPr>
          <a:xfrm>
            <a:off x="0" y="685800"/>
            <a:ext cx="6350" cy="617220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4">
            <a:extLst>
              <a:ext uri="{FF2B5EF4-FFF2-40B4-BE49-F238E27FC236}">
                <a16:creationId xmlns:a16="http://schemas.microsoft.com/office/drawing/2014/main" id="{2C9FDF5E-D09C-B249-673D-7DA4AA2A3AB7}"/>
              </a:ext>
            </a:extLst>
          </p:cNvPr>
          <p:cNvSpPr/>
          <p:nvPr/>
        </p:nvSpPr>
        <p:spPr>
          <a:xfrm>
            <a:off x="7670800" y="685800"/>
            <a:ext cx="6350" cy="617220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ocus">
            <a:extLst>
              <a:ext uri="{FF2B5EF4-FFF2-40B4-BE49-F238E27FC236}">
                <a16:creationId xmlns:a16="http://schemas.microsoft.com/office/drawing/2014/main" id="{22DD4934-881D-AA45-7F9A-D91F87B480BE}"/>
              </a:ext>
            </a:extLst>
          </p:cNvPr>
          <p:cNvSpPr/>
          <p:nvPr/>
        </p:nvSpPr>
        <p:spPr>
          <a:xfrm>
            <a:off x="4685497" y="2889600"/>
            <a:ext cx="1424351" cy="1517752"/>
          </a:xfrm>
          <a:prstGeom prst="rect">
            <a:avLst/>
          </a:prstGeom>
          <a:solidFill>
            <a:srgbClr val="83CBEB">
              <a:alpha val="37000"/>
            </a:srgbClr>
          </a:solidFill>
          <a:ln w="38100">
            <a:solidFill>
              <a:srgbClr val="46B1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ail">
            <a:extLst>
              <a:ext uri="{FF2B5EF4-FFF2-40B4-BE49-F238E27FC236}">
                <a16:creationId xmlns:a16="http://schemas.microsoft.com/office/drawing/2014/main" id="{7014FC9A-9C96-ED50-2FC8-24C3197F72A6}"/>
              </a:ext>
            </a:extLst>
          </p:cNvPr>
          <p:cNvSpPr/>
          <p:nvPr/>
        </p:nvSpPr>
        <p:spPr>
          <a:xfrm>
            <a:off x="7670800" y="685800"/>
            <a:ext cx="4521200" cy="61722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N86">
            <a:extLst>
              <a:ext uri="{FF2B5EF4-FFF2-40B4-BE49-F238E27FC236}">
                <a16:creationId xmlns:a16="http://schemas.microsoft.com/office/drawing/2014/main" id="{3887EB6D-E0B1-9B65-FB2B-00A982378237}"/>
              </a:ext>
            </a:extLst>
          </p:cNvPr>
          <p:cNvSpPr/>
          <p:nvPr/>
        </p:nvSpPr>
        <p:spPr>
          <a:xfrm>
            <a:off x="7797800" y="838200"/>
            <a:ext cx="4241800" cy="1362456"/>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R ACC and R OFC gamma bursts rising together (amplitude correlation): cue − baseline was higher on Precon4 than on Precon1.</a:t>
            </a:r>
          </a:p>
        </p:txBody>
      </p:sp>
      <p:sp>
        <p:nvSpPr>
          <p:cNvPr id="12" name="!!N87">
            <a:extLst>
              <a:ext uri="{FF2B5EF4-FFF2-40B4-BE49-F238E27FC236}">
                <a16:creationId xmlns:a16="http://schemas.microsoft.com/office/drawing/2014/main" id="{354969A7-D1CB-DC65-9529-E0FE03B968B3}"/>
              </a:ext>
            </a:extLst>
          </p:cNvPr>
          <p:cNvSpPr/>
          <p:nvPr/>
        </p:nvSpPr>
        <p:spPr>
          <a:xfrm>
            <a:off x="12573000" y="1748028"/>
            <a:ext cx="4241800" cy="107899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FP P = 0.034. Shuffles P = 0.004. t-test P = 0.016 (8 rats). All three tests agree: the strongest lead.</a:t>
            </a:r>
          </a:p>
        </p:txBody>
      </p:sp>
      <p:sp>
        <p:nvSpPr>
          <p:cNvPr id="13" name="!!N84">
            <a:extLst>
              <a:ext uri="{FF2B5EF4-FFF2-40B4-BE49-F238E27FC236}">
                <a16:creationId xmlns:a16="http://schemas.microsoft.com/office/drawing/2014/main" id="{106C2CAC-674D-BA5A-1F49-28FA5EC2FF6D}"/>
              </a:ext>
            </a:extLst>
          </p:cNvPr>
          <p:cNvSpPr/>
          <p:nvPr/>
        </p:nvSpPr>
        <p:spPr>
          <a:xfrm>
            <a:off x="12573000" y="838200"/>
            <a:ext cx="4241800" cy="795528"/>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R ACC and L RSC gamma bursts rising together (amplitude correlation): cue − baseline was higher on Precon4 than on Precon1.</a:t>
            </a:r>
          </a:p>
        </p:txBody>
      </p:sp>
      <p:sp>
        <p:nvSpPr>
          <p:cNvPr id="14" name="!!N85">
            <a:extLst>
              <a:ext uri="{FF2B5EF4-FFF2-40B4-BE49-F238E27FC236}">
                <a16:creationId xmlns:a16="http://schemas.microsoft.com/office/drawing/2014/main" id="{B131E04F-EB99-02A7-4191-A023300ABCD2}"/>
              </a:ext>
            </a:extLst>
          </p:cNvPr>
          <p:cNvSpPr/>
          <p:nvPr/>
        </p:nvSpPr>
        <p:spPr>
          <a:xfrm>
            <a:off x="12573000" y="1748028"/>
            <a:ext cx="4241800" cy="107899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FP P = 0.028. Shuffles P = 0.001. t-test P = 0.010 (7 rats). All three tests agree: the strongest lead.</a:t>
            </a:r>
          </a:p>
        </p:txBody>
      </p:sp>
      <p:sp>
        <p:nvSpPr>
          <p:cNvPr id="15" name="!!T-BG">
            <a:extLst>
              <a:ext uri="{FF2B5EF4-FFF2-40B4-BE49-F238E27FC236}">
                <a16:creationId xmlns:a16="http://schemas.microsoft.com/office/drawing/2014/main" id="{AF50ACCF-ECFF-067D-938F-B419119F6B82}"/>
              </a:ext>
            </a:extLst>
          </p:cNvPr>
          <p:cNvSpPr/>
          <p:nvPr/>
        </p:nvSpPr>
        <p:spPr>
          <a:xfrm>
            <a:off x="-381000" y="0"/>
            <a:ext cx="12954000" cy="685800"/>
          </a:xfrm>
          <a:prstGeom prst="snip2DiagRect">
            <a:avLst>
              <a:gd name="adj1" fmla="val 0"/>
              <a:gd name="adj2" fmla="val 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
            <a:extLst>
              <a:ext uri="{FF2B5EF4-FFF2-40B4-BE49-F238E27FC236}">
                <a16:creationId xmlns:a16="http://schemas.microsoft.com/office/drawing/2014/main" id="{B522010E-C936-624D-7442-FAB618BB6531}"/>
              </a:ext>
            </a:extLst>
          </p:cNvPr>
          <p:cNvSpPr txBox="1"/>
          <p:nvPr/>
        </p:nvSpPr>
        <p:spPr>
          <a:xfrm>
            <a:off x="127000" y="0"/>
            <a:ext cx="11811000" cy="685800"/>
          </a:xfrm>
          <a:prstGeom prst="rect">
            <a:avLst/>
          </a:prstGeom>
          <a:noFill/>
        </p:spPr>
        <p:txBody>
          <a:bodyPr vert="horz" wrap="square" lIns="76200" tIns="25400" rIns="76200" bIns="25400" rtlCol="0" anchor="ctr">
            <a:noAutofit/>
          </a:bodyPr>
          <a:lstStyle/>
          <a:p>
            <a:pPr>
              <a:lnSpc>
                <a:spcPct val="95000"/>
              </a:lnSpc>
            </a:pPr>
            <a:r>
              <a:rPr lang="en-US" sz="2400" b="1" u="sng">
                <a:solidFill>
                  <a:srgbClr val="FFFFFF"/>
                </a:solidFill>
                <a:latin typeface="Aptos Display" panose="020B0004020202020204" pitchFamily="34" charset="0"/>
              </a:rPr>
              <a:t>4.5 · R ACC – R OFC · Bursts rise together</a:t>
            </a:r>
          </a:p>
        </p:txBody>
      </p:sp>
    </p:spTree>
    <p:extLst>
      <p:ext uri="{BB962C8B-B14F-4D97-AF65-F5344CB8AC3E}">
        <p14:creationId xmlns:p14="http://schemas.microsoft.com/office/powerpoint/2010/main" val="158544243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tage">
            <a:extLst>
              <a:ext uri="{FF2B5EF4-FFF2-40B4-BE49-F238E27FC236}">
                <a16:creationId xmlns:a16="http://schemas.microsoft.com/office/drawing/2014/main" id="{451DC608-2300-E911-37DA-8F808DA0ED6E}"/>
              </a:ext>
            </a:extLst>
          </p:cNvPr>
          <p:cNvSpPr/>
          <p:nvPr/>
        </p:nvSpPr>
        <p:spPr>
          <a:xfrm>
            <a:off x="0" y="685800"/>
            <a:ext cx="7670800" cy="6172200"/>
          </a:xfrm>
          <a:prstGeom prst="rect">
            <a:avLst/>
          </a:prstGeom>
          <a:solidFill>
            <a:srgbClr val="ECEC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F4_5">
            <a:extLst>
              <a:ext uri="{FF2B5EF4-FFF2-40B4-BE49-F238E27FC236}">
                <a16:creationId xmlns:a16="http://schemas.microsoft.com/office/drawing/2014/main" id="{FDF2B3CF-CB12-DE0C-FC0B-7459DC7E6C6B}"/>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0689347" y="1658375"/>
            <a:ext cx="18094144" cy="4944281"/>
          </a:xfrm>
          <a:prstGeom prst="rect">
            <a:avLst/>
          </a:prstGeom>
          <a:ln w="9525">
            <a:solidFill>
              <a:srgbClr val="B0B0B0"/>
            </a:solidFill>
          </a:ln>
        </p:spPr>
      </p:pic>
      <p:sp>
        <p:nvSpPr>
          <p:cNvPr id="5" name="!!D1">
            <a:extLst>
              <a:ext uri="{FF2B5EF4-FFF2-40B4-BE49-F238E27FC236}">
                <a16:creationId xmlns:a16="http://schemas.microsoft.com/office/drawing/2014/main" id="{F5FCC661-C96B-9AE0-6ADE-2110BF45D6C9}"/>
              </a:ext>
            </a:extLst>
          </p:cNvPr>
          <p:cNvSpPr/>
          <p:nvPr/>
        </p:nvSpPr>
        <p:spPr>
          <a:xfrm>
            <a:off x="0" y="685800"/>
            <a:ext cx="7670800" cy="1046069"/>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2">
            <a:extLst>
              <a:ext uri="{FF2B5EF4-FFF2-40B4-BE49-F238E27FC236}">
                <a16:creationId xmlns:a16="http://schemas.microsoft.com/office/drawing/2014/main" id="{82F9D305-AA81-D634-07CC-810CBC366EFB}"/>
              </a:ext>
            </a:extLst>
          </p:cNvPr>
          <p:cNvSpPr/>
          <p:nvPr/>
        </p:nvSpPr>
        <p:spPr>
          <a:xfrm>
            <a:off x="0" y="5837331"/>
            <a:ext cx="7670800" cy="1020669"/>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3">
            <a:extLst>
              <a:ext uri="{FF2B5EF4-FFF2-40B4-BE49-F238E27FC236}">
                <a16:creationId xmlns:a16="http://schemas.microsoft.com/office/drawing/2014/main" id="{552F4460-FC9D-409E-86D8-B58BA25E6225}"/>
              </a:ext>
            </a:extLst>
          </p:cNvPr>
          <p:cNvSpPr/>
          <p:nvPr/>
        </p:nvSpPr>
        <p:spPr>
          <a:xfrm>
            <a:off x="0" y="1731869"/>
            <a:ext cx="262509" cy="4105462"/>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4">
            <a:extLst>
              <a:ext uri="{FF2B5EF4-FFF2-40B4-BE49-F238E27FC236}">
                <a16:creationId xmlns:a16="http://schemas.microsoft.com/office/drawing/2014/main" id="{F1F2638A-1FE8-7565-9B13-9D0F92054102}"/>
              </a:ext>
            </a:extLst>
          </p:cNvPr>
          <p:cNvSpPr/>
          <p:nvPr/>
        </p:nvSpPr>
        <p:spPr>
          <a:xfrm>
            <a:off x="7433691" y="1731869"/>
            <a:ext cx="237109" cy="4105462"/>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ocus">
            <a:extLst>
              <a:ext uri="{FF2B5EF4-FFF2-40B4-BE49-F238E27FC236}">
                <a16:creationId xmlns:a16="http://schemas.microsoft.com/office/drawing/2014/main" id="{35D8DBCA-09D0-EDB1-A7A0-89768F8AE61F}"/>
              </a:ext>
            </a:extLst>
          </p:cNvPr>
          <p:cNvSpPr/>
          <p:nvPr/>
        </p:nvSpPr>
        <p:spPr>
          <a:xfrm>
            <a:off x="485697" y="1856163"/>
            <a:ext cx="3619528" cy="3856874"/>
          </a:xfrm>
          <a:prstGeom prst="rect">
            <a:avLst/>
          </a:prstGeom>
          <a:solidFill>
            <a:srgbClr val="83CBEB">
              <a:alpha val="37000"/>
            </a:srgbClr>
          </a:solidFill>
          <a:ln w="38100">
            <a:solidFill>
              <a:srgbClr val="46B1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ocus2">
            <a:extLst>
              <a:ext uri="{FF2B5EF4-FFF2-40B4-BE49-F238E27FC236}">
                <a16:creationId xmlns:a16="http://schemas.microsoft.com/office/drawing/2014/main" id="{A006F128-574D-F28E-FBBE-C44E967384CE}"/>
              </a:ext>
            </a:extLst>
          </p:cNvPr>
          <p:cNvSpPr/>
          <p:nvPr/>
        </p:nvSpPr>
        <p:spPr>
          <a:xfrm>
            <a:off x="4184340" y="1856163"/>
            <a:ext cx="3223951" cy="3856874"/>
          </a:xfrm>
          <a:prstGeom prst="rect">
            <a:avLst/>
          </a:prstGeom>
          <a:solidFill>
            <a:srgbClr val="83CBEB">
              <a:alpha val="37000"/>
            </a:srgbClr>
          </a:solidFill>
          <a:ln w="38100">
            <a:solidFill>
              <a:srgbClr val="46B1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ail">
            <a:extLst>
              <a:ext uri="{FF2B5EF4-FFF2-40B4-BE49-F238E27FC236}">
                <a16:creationId xmlns:a16="http://schemas.microsoft.com/office/drawing/2014/main" id="{2E8B61C6-899C-99B4-9249-F6D0E298EC18}"/>
              </a:ext>
            </a:extLst>
          </p:cNvPr>
          <p:cNvSpPr/>
          <p:nvPr/>
        </p:nvSpPr>
        <p:spPr>
          <a:xfrm>
            <a:off x="7670800" y="685800"/>
            <a:ext cx="4521200" cy="61722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N86">
            <a:extLst>
              <a:ext uri="{FF2B5EF4-FFF2-40B4-BE49-F238E27FC236}">
                <a16:creationId xmlns:a16="http://schemas.microsoft.com/office/drawing/2014/main" id="{40892FD0-7899-B50B-7057-AE34F8A08673}"/>
              </a:ext>
            </a:extLst>
          </p:cNvPr>
          <p:cNvSpPr/>
          <p:nvPr/>
        </p:nvSpPr>
        <p:spPr>
          <a:xfrm>
            <a:off x="7797800" y="838200"/>
            <a:ext cx="4241800" cy="795528"/>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R ACC and R OFC gamma bursts rising together (amplitude correlation): cue − baseline was higher on Precon4 than on Precon1.</a:t>
            </a:r>
          </a:p>
        </p:txBody>
      </p:sp>
      <p:sp>
        <p:nvSpPr>
          <p:cNvPr id="13" name="!!N87">
            <a:extLst>
              <a:ext uri="{FF2B5EF4-FFF2-40B4-BE49-F238E27FC236}">
                <a16:creationId xmlns:a16="http://schemas.microsoft.com/office/drawing/2014/main" id="{7A18B653-F327-F82C-6F96-4247B6F346C8}"/>
              </a:ext>
            </a:extLst>
          </p:cNvPr>
          <p:cNvSpPr/>
          <p:nvPr/>
        </p:nvSpPr>
        <p:spPr>
          <a:xfrm>
            <a:off x="7797800" y="1748028"/>
            <a:ext cx="4241800" cy="107899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FP P = 0.034. Shuffles P = 0.004. t-test P = 0.016 (8 rats). All three tests agree: the strongest lead.</a:t>
            </a:r>
          </a:p>
        </p:txBody>
      </p:sp>
      <p:sp>
        <p:nvSpPr>
          <p:cNvPr id="14" name="!!N88">
            <a:extLst>
              <a:ext uri="{FF2B5EF4-FFF2-40B4-BE49-F238E27FC236}">
                <a16:creationId xmlns:a16="http://schemas.microsoft.com/office/drawing/2014/main" id="{BEE707A0-8911-3590-8AA9-FDEFEA43B3BA}"/>
              </a:ext>
            </a:extLst>
          </p:cNvPr>
          <p:cNvSpPr/>
          <p:nvPr/>
        </p:nvSpPr>
        <p:spPr>
          <a:xfrm>
            <a:off x="12573000" y="838200"/>
            <a:ext cx="4241800" cy="107899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L ACC predicting L RSC (Granger L ACC → L RSC): cue − baseline was higher on Precon4 than on Precon1.</a:t>
            </a:r>
          </a:p>
        </p:txBody>
      </p:sp>
      <p:sp>
        <p:nvSpPr>
          <p:cNvPr id="15" name="!!T-BG">
            <a:extLst>
              <a:ext uri="{FF2B5EF4-FFF2-40B4-BE49-F238E27FC236}">
                <a16:creationId xmlns:a16="http://schemas.microsoft.com/office/drawing/2014/main" id="{A409D67F-2962-1EFB-DC40-5ED062702B2D}"/>
              </a:ext>
            </a:extLst>
          </p:cNvPr>
          <p:cNvSpPr/>
          <p:nvPr/>
        </p:nvSpPr>
        <p:spPr>
          <a:xfrm>
            <a:off x="-381000" y="0"/>
            <a:ext cx="12954000" cy="685800"/>
          </a:xfrm>
          <a:prstGeom prst="snip2DiagRect">
            <a:avLst>
              <a:gd name="adj1" fmla="val 0"/>
              <a:gd name="adj2" fmla="val 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
            <a:extLst>
              <a:ext uri="{FF2B5EF4-FFF2-40B4-BE49-F238E27FC236}">
                <a16:creationId xmlns:a16="http://schemas.microsoft.com/office/drawing/2014/main" id="{F805BED8-EC01-6FF0-7936-C2DC4808C230}"/>
              </a:ext>
            </a:extLst>
          </p:cNvPr>
          <p:cNvSpPr txBox="1"/>
          <p:nvPr/>
        </p:nvSpPr>
        <p:spPr>
          <a:xfrm>
            <a:off x="127000" y="0"/>
            <a:ext cx="11811000" cy="685800"/>
          </a:xfrm>
          <a:prstGeom prst="rect">
            <a:avLst/>
          </a:prstGeom>
          <a:noFill/>
        </p:spPr>
        <p:txBody>
          <a:bodyPr vert="horz" wrap="square" lIns="76200" tIns="25400" rIns="76200" bIns="25400" rtlCol="0" anchor="ctr">
            <a:noAutofit/>
          </a:bodyPr>
          <a:lstStyle/>
          <a:p>
            <a:pPr>
              <a:lnSpc>
                <a:spcPct val="95000"/>
              </a:lnSpc>
            </a:pPr>
            <a:r>
              <a:rPr lang="en-US" sz="2400" b="1" u="sng">
                <a:solidFill>
                  <a:srgbClr val="FFFFFF"/>
                </a:solidFill>
                <a:latin typeface="Aptos Display" panose="020B0004020202020204" pitchFamily="34" charset="0"/>
              </a:rPr>
              <a:t>4.5 · R ACC – R OFC · Bursts rise together</a:t>
            </a:r>
          </a:p>
        </p:txBody>
      </p:sp>
    </p:spTree>
    <p:extLst>
      <p:ext uri="{BB962C8B-B14F-4D97-AF65-F5344CB8AC3E}">
        <p14:creationId xmlns:p14="http://schemas.microsoft.com/office/powerpoint/2010/main" val="191704589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tage">
            <a:extLst>
              <a:ext uri="{FF2B5EF4-FFF2-40B4-BE49-F238E27FC236}">
                <a16:creationId xmlns:a16="http://schemas.microsoft.com/office/drawing/2014/main" id="{A9C6AC80-BFA5-97A9-3164-8C48A2053BD5}"/>
              </a:ext>
            </a:extLst>
          </p:cNvPr>
          <p:cNvSpPr/>
          <p:nvPr/>
        </p:nvSpPr>
        <p:spPr>
          <a:xfrm>
            <a:off x="0" y="685800"/>
            <a:ext cx="7670800" cy="6172200"/>
          </a:xfrm>
          <a:prstGeom prst="rect">
            <a:avLst/>
          </a:prstGeom>
          <a:solidFill>
            <a:srgbClr val="ECEC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F4_6">
            <a:extLst>
              <a:ext uri="{FF2B5EF4-FFF2-40B4-BE49-F238E27FC236}">
                <a16:creationId xmlns:a16="http://schemas.microsoft.com/office/drawing/2014/main" id="{60925293-19DA-35B5-C38F-1F93A396665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287909" y="2811767"/>
            <a:ext cx="7120382" cy="1945667"/>
          </a:xfrm>
          <a:prstGeom prst="rect">
            <a:avLst/>
          </a:prstGeom>
          <a:ln w="9525">
            <a:solidFill>
              <a:srgbClr val="B0B0B0"/>
            </a:solidFill>
          </a:ln>
        </p:spPr>
      </p:pic>
      <p:sp>
        <p:nvSpPr>
          <p:cNvPr id="5" name="!!D1">
            <a:extLst>
              <a:ext uri="{FF2B5EF4-FFF2-40B4-BE49-F238E27FC236}">
                <a16:creationId xmlns:a16="http://schemas.microsoft.com/office/drawing/2014/main" id="{E5C7C9BD-7ABC-C00A-1529-EE7D0BC32801}"/>
              </a:ext>
            </a:extLst>
          </p:cNvPr>
          <p:cNvSpPr/>
          <p:nvPr/>
        </p:nvSpPr>
        <p:spPr>
          <a:xfrm>
            <a:off x="0" y="685800"/>
            <a:ext cx="7670800" cy="635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2">
            <a:extLst>
              <a:ext uri="{FF2B5EF4-FFF2-40B4-BE49-F238E27FC236}">
                <a16:creationId xmlns:a16="http://schemas.microsoft.com/office/drawing/2014/main" id="{5A86B0FA-C6B2-3A17-9F29-F135B67D010E}"/>
              </a:ext>
            </a:extLst>
          </p:cNvPr>
          <p:cNvSpPr/>
          <p:nvPr/>
        </p:nvSpPr>
        <p:spPr>
          <a:xfrm>
            <a:off x="0" y="6858000"/>
            <a:ext cx="7670800" cy="635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3">
            <a:extLst>
              <a:ext uri="{FF2B5EF4-FFF2-40B4-BE49-F238E27FC236}">
                <a16:creationId xmlns:a16="http://schemas.microsoft.com/office/drawing/2014/main" id="{A0FC58DD-D743-E872-78F8-71CF0112815D}"/>
              </a:ext>
            </a:extLst>
          </p:cNvPr>
          <p:cNvSpPr/>
          <p:nvPr/>
        </p:nvSpPr>
        <p:spPr>
          <a:xfrm>
            <a:off x="0" y="685800"/>
            <a:ext cx="6350" cy="617220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4">
            <a:extLst>
              <a:ext uri="{FF2B5EF4-FFF2-40B4-BE49-F238E27FC236}">
                <a16:creationId xmlns:a16="http://schemas.microsoft.com/office/drawing/2014/main" id="{827C3BB0-C998-CF5E-07CD-D57DEA007838}"/>
              </a:ext>
            </a:extLst>
          </p:cNvPr>
          <p:cNvSpPr/>
          <p:nvPr/>
        </p:nvSpPr>
        <p:spPr>
          <a:xfrm>
            <a:off x="7670800" y="685800"/>
            <a:ext cx="6350" cy="617220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ocus">
            <a:extLst>
              <a:ext uri="{FF2B5EF4-FFF2-40B4-BE49-F238E27FC236}">
                <a16:creationId xmlns:a16="http://schemas.microsoft.com/office/drawing/2014/main" id="{9BD6376F-3C9E-5BDE-8DA1-E96EC3AB883A}"/>
              </a:ext>
            </a:extLst>
          </p:cNvPr>
          <p:cNvSpPr/>
          <p:nvPr/>
        </p:nvSpPr>
        <p:spPr>
          <a:xfrm>
            <a:off x="4685497" y="2889600"/>
            <a:ext cx="1424351" cy="1517752"/>
          </a:xfrm>
          <a:prstGeom prst="rect">
            <a:avLst/>
          </a:prstGeom>
          <a:solidFill>
            <a:srgbClr val="83CBEB">
              <a:alpha val="37000"/>
            </a:srgbClr>
          </a:solidFill>
          <a:ln w="38100">
            <a:solidFill>
              <a:srgbClr val="46B1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ail">
            <a:extLst>
              <a:ext uri="{FF2B5EF4-FFF2-40B4-BE49-F238E27FC236}">
                <a16:creationId xmlns:a16="http://schemas.microsoft.com/office/drawing/2014/main" id="{A42E43D7-88D4-E7FD-BEFB-5BADE6A6F91D}"/>
              </a:ext>
            </a:extLst>
          </p:cNvPr>
          <p:cNvSpPr/>
          <p:nvPr/>
        </p:nvSpPr>
        <p:spPr>
          <a:xfrm>
            <a:off x="7670800" y="685800"/>
            <a:ext cx="4521200" cy="61722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N88">
            <a:extLst>
              <a:ext uri="{FF2B5EF4-FFF2-40B4-BE49-F238E27FC236}">
                <a16:creationId xmlns:a16="http://schemas.microsoft.com/office/drawing/2014/main" id="{050DCB4D-0563-6126-FD08-4E72E4405E54}"/>
              </a:ext>
            </a:extLst>
          </p:cNvPr>
          <p:cNvSpPr/>
          <p:nvPr/>
        </p:nvSpPr>
        <p:spPr>
          <a:xfrm>
            <a:off x="7797800" y="838200"/>
            <a:ext cx="4241800" cy="107899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L ACC predicting L RSC (Granger L ACC → L RSC): cue − baseline was higher on Precon4 than on Precon1.</a:t>
            </a:r>
          </a:p>
        </p:txBody>
      </p:sp>
      <p:sp>
        <p:nvSpPr>
          <p:cNvPr id="12" name="!!N89">
            <a:extLst>
              <a:ext uri="{FF2B5EF4-FFF2-40B4-BE49-F238E27FC236}">
                <a16:creationId xmlns:a16="http://schemas.microsoft.com/office/drawing/2014/main" id="{ED6BE0EC-D65E-EC1E-53ED-D23A4F1644C1}"/>
              </a:ext>
            </a:extLst>
          </p:cNvPr>
          <p:cNvSpPr/>
          <p:nvPr/>
        </p:nvSpPr>
        <p:spPr>
          <a:xfrm>
            <a:off x="12573000" y="1559052"/>
            <a:ext cx="4241800" cy="107899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FP P = 0.040. Shuffles P = 0.008. t-test P = 0.030 (7 rats). All three tests agree: the strongest lead.</a:t>
            </a:r>
          </a:p>
        </p:txBody>
      </p:sp>
      <p:sp>
        <p:nvSpPr>
          <p:cNvPr id="13" name="!!N86">
            <a:extLst>
              <a:ext uri="{FF2B5EF4-FFF2-40B4-BE49-F238E27FC236}">
                <a16:creationId xmlns:a16="http://schemas.microsoft.com/office/drawing/2014/main" id="{C6CF5B9C-88C0-C55E-587A-267F0F38E6FE}"/>
              </a:ext>
            </a:extLst>
          </p:cNvPr>
          <p:cNvSpPr/>
          <p:nvPr/>
        </p:nvSpPr>
        <p:spPr>
          <a:xfrm>
            <a:off x="12573000" y="838200"/>
            <a:ext cx="4241800" cy="795528"/>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R ACC and R OFC gamma bursts rising together (amplitude correlation): cue − baseline was higher on Precon4 than on Precon1.</a:t>
            </a:r>
          </a:p>
        </p:txBody>
      </p:sp>
      <p:sp>
        <p:nvSpPr>
          <p:cNvPr id="14" name="!!N87">
            <a:extLst>
              <a:ext uri="{FF2B5EF4-FFF2-40B4-BE49-F238E27FC236}">
                <a16:creationId xmlns:a16="http://schemas.microsoft.com/office/drawing/2014/main" id="{08C16817-E312-E433-A770-6448032A9804}"/>
              </a:ext>
            </a:extLst>
          </p:cNvPr>
          <p:cNvSpPr/>
          <p:nvPr/>
        </p:nvSpPr>
        <p:spPr>
          <a:xfrm>
            <a:off x="12573000" y="1748028"/>
            <a:ext cx="4241800" cy="107899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FP P = 0.034. Shuffles P = 0.004. t-test P = 0.016 (8 rats). All three tests agree: the strongest lead.</a:t>
            </a:r>
          </a:p>
        </p:txBody>
      </p:sp>
      <p:sp>
        <p:nvSpPr>
          <p:cNvPr id="15" name="!!T-BG">
            <a:extLst>
              <a:ext uri="{FF2B5EF4-FFF2-40B4-BE49-F238E27FC236}">
                <a16:creationId xmlns:a16="http://schemas.microsoft.com/office/drawing/2014/main" id="{42F82F8C-6505-C1F5-F76B-E01678B2788D}"/>
              </a:ext>
            </a:extLst>
          </p:cNvPr>
          <p:cNvSpPr/>
          <p:nvPr/>
        </p:nvSpPr>
        <p:spPr>
          <a:xfrm>
            <a:off x="-381000" y="0"/>
            <a:ext cx="12954000" cy="685800"/>
          </a:xfrm>
          <a:prstGeom prst="snip2DiagRect">
            <a:avLst>
              <a:gd name="adj1" fmla="val 0"/>
              <a:gd name="adj2" fmla="val 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
            <a:extLst>
              <a:ext uri="{FF2B5EF4-FFF2-40B4-BE49-F238E27FC236}">
                <a16:creationId xmlns:a16="http://schemas.microsoft.com/office/drawing/2014/main" id="{BACC6FA3-808B-ECB1-1FF5-EB95A8267B49}"/>
              </a:ext>
            </a:extLst>
          </p:cNvPr>
          <p:cNvSpPr txBox="1"/>
          <p:nvPr/>
        </p:nvSpPr>
        <p:spPr>
          <a:xfrm>
            <a:off x="127000" y="0"/>
            <a:ext cx="11811000" cy="685800"/>
          </a:xfrm>
          <a:prstGeom prst="rect">
            <a:avLst/>
          </a:prstGeom>
          <a:noFill/>
        </p:spPr>
        <p:txBody>
          <a:bodyPr vert="horz" wrap="square" lIns="76200" tIns="25400" rIns="76200" bIns="25400" rtlCol="0" anchor="ctr">
            <a:noAutofit/>
          </a:bodyPr>
          <a:lstStyle/>
          <a:p>
            <a:pPr>
              <a:lnSpc>
                <a:spcPct val="95000"/>
              </a:lnSpc>
            </a:pPr>
            <a:r>
              <a:rPr lang="en-US" sz="2400" b="1" u="sng">
                <a:solidFill>
                  <a:srgbClr val="FFFFFF"/>
                </a:solidFill>
                <a:latin typeface="Aptos Display" panose="020B0004020202020204" pitchFamily="34" charset="0"/>
              </a:rPr>
              <a:t>4.6 · L RSC – L ACC · Which leads</a:t>
            </a:r>
          </a:p>
        </p:txBody>
      </p:sp>
    </p:spTree>
    <p:extLst>
      <p:ext uri="{BB962C8B-B14F-4D97-AF65-F5344CB8AC3E}">
        <p14:creationId xmlns:p14="http://schemas.microsoft.com/office/powerpoint/2010/main" val="138379173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tage">
            <a:extLst>
              <a:ext uri="{FF2B5EF4-FFF2-40B4-BE49-F238E27FC236}">
                <a16:creationId xmlns:a16="http://schemas.microsoft.com/office/drawing/2014/main" id="{184F6331-B7A0-E2A0-B12B-9F939B419ECA}"/>
              </a:ext>
            </a:extLst>
          </p:cNvPr>
          <p:cNvSpPr/>
          <p:nvPr/>
        </p:nvSpPr>
        <p:spPr>
          <a:xfrm>
            <a:off x="0" y="685800"/>
            <a:ext cx="7670800" cy="6172200"/>
          </a:xfrm>
          <a:prstGeom prst="rect">
            <a:avLst/>
          </a:prstGeom>
          <a:solidFill>
            <a:srgbClr val="ECEC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F4_6">
            <a:extLst>
              <a:ext uri="{FF2B5EF4-FFF2-40B4-BE49-F238E27FC236}">
                <a16:creationId xmlns:a16="http://schemas.microsoft.com/office/drawing/2014/main" id="{FAD434DD-E0B1-C2CB-3399-8DE1B8ACB4FB}"/>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0689347" y="1658375"/>
            <a:ext cx="18094144" cy="4944281"/>
          </a:xfrm>
          <a:prstGeom prst="rect">
            <a:avLst/>
          </a:prstGeom>
          <a:ln w="9525">
            <a:solidFill>
              <a:srgbClr val="B0B0B0"/>
            </a:solidFill>
          </a:ln>
        </p:spPr>
      </p:pic>
      <p:sp>
        <p:nvSpPr>
          <p:cNvPr id="5" name="!!D1">
            <a:extLst>
              <a:ext uri="{FF2B5EF4-FFF2-40B4-BE49-F238E27FC236}">
                <a16:creationId xmlns:a16="http://schemas.microsoft.com/office/drawing/2014/main" id="{08376471-3F3C-1523-5978-964A69F443BB}"/>
              </a:ext>
            </a:extLst>
          </p:cNvPr>
          <p:cNvSpPr/>
          <p:nvPr/>
        </p:nvSpPr>
        <p:spPr>
          <a:xfrm>
            <a:off x="0" y="685800"/>
            <a:ext cx="7670800" cy="1046069"/>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2">
            <a:extLst>
              <a:ext uri="{FF2B5EF4-FFF2-40B4-BE49-F238E27FC236}">
                <a16:creationId xmlns:a16="http://schemas.microsoft.com/office/drawing/2014/main" id="{57E747DD-E1BF-C6FE-AF63-C6E66E43FFB3}"/>
              </a:ext>
            </a:extLst>
          </p:cNvPr>
          <p:cNvSpPr/>
          <p:nvPr/>
        </p:nvSpPr>
        <p:spPr>
          <a:xfrm>
            <a:off x="0" y="5837331"/>
            <a:ext cx="7670800" cy="1020669"/>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3">
            <a:extLst>
              <a:ext uri="{FF2B5EF4-FFF2-40B4-BE49-F238E27FC236}">
                <a16:creationId xmlns:a16="http://schemas.microsoft.com/office/drawing/2014/main" id="{279BF549-BB7C-C1C7-21F9-7BB8F76B4F08}"/>
              </a:ext>
            </a:extLst>
          </p:cNvPr>
          <p:cNvSpPr/>
          <p:nvPr/>
        </p:nvSpPr>
        <p:spPr>
          <a:xfrm>
            <a:off x="0" y="1731869"/>
            <a:ext cx="262509" cy="4105462"/>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4">
            <a:extLst>
              <a:ext uri="{FF2B5EF4-FFF2-40B4-BE49-F238E27FC236}">
                <a16:creationId xmlns:a16="http://schemas.microsoft.com/office/drawing/2014/main" id="{2A942448-E2D8-5BAF-E4CE-53A8FCB0D029}"/>
              </a:ext>
            </a:extLst>
          </p:cNvPr>
          <p:cNvSpPr/>
          <p:nvPr/>
        </p:nvSpPr>
        <p:spPr>
          <a:xfrm>
            <a:off x="7433691" y="1731869"/>
            <a:ext cx="237109" cy="4105462"/>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ocus">
            <a:extLst>
              <a:ext uri="{FF2B5EF4-FFF2-40B4-BE49-F238E27FC236}">
                <a16:creationId xmlns:a16="http://schemas.microsoft.com/office/drawing/2014/main" id="{7AD69744-4987-D0F3-087D-B1E4E9B980BA}"/>
              </a:ext>
            </a:extLst>
          </p:cNvPr>
          <p:cNvSpPr/>
          <p:nvPr/>
        </p:nvSpPr>
        <p:spPr>
          <a:xfrm>
            <a:off x="485697" y="1856163"/>
            <a:ext cx="3619528" cy="3856874"/>
          </a:xfrm>
          <a:prstGeom prst="rect">
            <a:avLst/>
          </a:prstGeom>
          <a:solidFill>
            <a:srgbClr val="83CBEB">
              <a:alpha val="37000"/>
            </a:srgbClr>
          </a:solidFill>
          <a:ln w="38100">
            <a:solidFill>
              <a:srgbClr val="46B1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ocus2">
            <a:extLst>
              <a:ext uri="{FF2B5EF4-FFF2-40B4-BE49-F238E27FC236}">
                <a16:creationId xmlns:a16="http://schemas.microsoft.com/office/drawing/2014/main" id="{3B12E9C8-B769-057F-E7D6-5E023101F7B1}"/>
              </a:ext>
            </a:extLst>
          </p:cNvPr>
          <p:cNvSpPr/>
          <p:nvPr/>
        </p:nvSpPr>
        <p:spPr>
          <a:xfrm>
            <a:off x="4184340" y="1856163"/>
            <a:ext cx="3223951" cy="3856874"/>
          </a:xfrm>
          <a:prstGeom prst="rect">
            <a:avLst/>
          </a:prstGeom>
          <a:solidFill>
            <a:srgbClr val="83CBEB">
              <a:alpha val="37000"/>
            </a:srgbClr>
          </a:solidFill>
          <a:ln w="38100">
            <a:solidFill>
              <a:srgbClr val="46B1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ail">
            <a:extLst>
              <a:ext uri="{FF2B5EF4-FFF2-40B4-BE49-F238E27FC236}">
                <a16:creationId xmlns:a16="http://schemas.microsoft.com/office/drawing/2014/main" id="{FD2BF09B-4A53-2382-D073-926C73021E2A}"/>
              </a:ext>
            </a:extLst>
          </p:cNvPr>
          <p:cNvSpPr/>
          <p:nvPr/>
        </p:nvSpPr>
        <p:spPr>
          <a:xfrm>
            <a:off x="7670800" y="685800"/>
            <a:ext cx="4521200" cy="61722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N88">
            <a:extLst>
              <a:ext uri="{FF2B5EF4-FFF2-40B4-BE49-F238E27FC236}">
                <a16:creationId xmlns:a16="http://schemas.microsoft.com/office/drawing/2014/main" id="{5ABFBD24-8E68-1725-DBB2-EBF416995F97}"/>
              </a:ext>
            </a:extLst>
          </p:cNvPr>
          <p:cNvSpPr/>
          <p:nvPr/>
        </p:nvSpPr>
        <p:spPr>
          <a:xfrm>
            <a:off x="7797800" y="838200"/>
            <a:ext cx="4241800" cy="60655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L ACC predicting L RSC (Granger L ACC → L RSC): cue − baseline was higher on Precon4 than on Precon1.</a:t>
            </a:r>
          </a:p>
        </p:txBody>
      </p:sp>
      <p:sp>
        <p:nvSpPr>
          <p:cNvPr id="13" name="!!N89">
            <a:extLst>
              <a:ext uri="{FF2B5EF4-FFF2-40B4-BE49-F238E27FC236}">
                <a16:creationId xmlns:a16="http://schemas.microsoft.com/office/drawing/2014/main" id="{05A8071E-2094-6131-55E7-7B923CBCD91D}"/>
              </a:ext>
            </a:extLst>
          </p:cNvPr>
          <p:cNvSpPr/>
          <p:nvPr/>
        </p:nvSpPr>
        <p:spPr>
          <a:xfrm>
            <a:off x="7797800" y="1559052"/>
            <a:ext cx="4241800" cy="107899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FP P = 0.040. Shuffles P = 0.008. t-test P = 0.030 (7 rats). All three tests agree: the strongest lead.</a:t>
            </a:r>
          </a:p>
        </p:txBody>
      </p:sp>
      <p:sp>
        <p:nvSpPr>
          <p:cNvPr id="14" name="!!N90">
            <a:extLst>
              <a:ext uri="{FF2B5EF4-FFF2-40B4-BE49-F238E27FC236}">
                <a16:creationId xmlns:a16="http://schemas.microsoft.com/office/drawing/2014/main" id="{E27C4A19-D077-EA13-67D8-751507B49ACF}"/>
              </a:ext>
            </a:extLst>
          </p:cNvPr>
          <p:cNvSpPr/>
          <p:nvPr/>
        </p:nvSpPr>
        <p:spPr>
          <a:xfrm>
            <a:off x="12573000" y="838200"/>
            <a:ext cx="4241800" cy="1362456"/>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R DHC and L OFC gamma bursts rising together (amplitude correlation): cue − baseline was higher on Precon4 than on Precon1.</a:t>
            </a:r>
          </a:p>
        </p:txBody>
      </p:sp>
      <p:sp>
        <p:nvSpPr>
          <p:cNvPr id="15" name="!!T-BG">
            <a:extLst>
              <a:ext uri="{FF2B5EF4-FFF2-40B4-BE49-F238E27FC236}">
                <a16:creationId xmlns:a16="http://schemas.microsoft.com/office/drawing/2014/main" id="{650D7CD6-BD34-7A27-3AA2-5524C48DD6BA}"/>
              </a:ext>
            </a:extLst>
          </p:cNvPr>
          <p:cNvSpPr/>
          <p:nvPr/>
        </p:nvSpPr>
        <p:spPr>
          <a:xfrm>
            <a:off x="-381000" y="0"/>
            <a:ext cx="12954000" cy="685800"/>
          </a:xfrm>
          <a:prstGeom prst="snip2DiagRect">
            <a:avLst>
              <a:gd name="adj1" fmla="val 0"/>
              <a:gd name="adj2" fmla="val 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
            <a:extLst>
              <a:ext uri="{FF2B5EF4-FFF2-40B4-BE49-F238E27FC236}">
                <a16:creationId xmlns:a16="http://schemas.microsoft.com/office/drawing/2014/main" id="{3372CBC3-EA48-E73E-95AD-BDD64D1388B8}"/>
              </a:ext>
            </a:extLst>
          </p:cNvPr>
          <p:cNvSpPr txBox="1"/>
          <p:nvPr/>
        </p:nvSpPr>
        <p:spPr>
          <a:xfrm>
            <a:off x="127000" y="0"/>
            <a:ext cx="11811000" cy="685800"/>
          </a:xfrm>
          <a:prstGeom prst="rect">
            <a:avLst/>
          </a:prstGeom>
          <a:noFill/>
        </p:spPr>
        <p:txBody>
          <a:bodyPr vert="horz" wrap="square" lIns="76200" tIns="25400" rIns="76200" bIns="25400" rtlCol="0" anchor="ctr">
            <a:noAutofit/>
          </a:bodyPr>
          <a:lstStyle/>
          <a:p>
            <a:pPr>
              <a:lnSpc>
                <a:spcPct val="95000"/>
              </a:lnSpc>
            </a:pPr>
            <a:r>
              <a:rPr lang="en-US" sz="2400" b="1" u="sng">
                <a:solidFill>
                  <a:srgbClr val="FFFFFF"/>
                </a:solidFill>
                <a:latin typeface="Aptos Display" panose="020B0004020202020204" pitchFamily="34" charset="0"/>
              </a:rPr>
              <a:t>4.6 · L RSC – L ACC · Which leads</a:t>
            </a:r>
          </a:p>
        </p:txBody>
      </p:sp>
    </p:spTree>
    <p:extLst>
      <p:ext uri="{BB962C8B-B14F-4D97-AF65-F5344CB8AC3E}">
        <p14:creationId xmlns:p14="http://schemas.microsoft.com/office/powerpoint/2010/main" val="126488883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tage">
            <a:extLst>
              <a:ext uri="{FF2B5EF4-FFF2-40B4-BE49-F238E27FC236}">
                <a16:creationId xmlns:a16="http://schemas.microsoft.com/office/drawing/2014/main" id="{71428368-FE12-0FE8-7C20-6A188ED23C91}"/>
              </a:ext>
            </a:extLst>
          </p:cNvPr>
          <p:cNvSpPr/>
          <p:nvPr/>
        </p:nvSpPr>
        <p:spPr>
          <a:xfrm>
            <a:off x="0" y="685800"/>
            <a:ext cx="7670800" cy="6172200"/>
          </a:xfrm>
          <a:prstGeom prst="rect">
            <a:avLst/>
          </a:prstGeom>
          <a:solidFill>
            <a:srgbClr val="ECEC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F4_7">
            <a:extLst>
              <a:ext uri="{FF2B5EF4-FFF2-40B4-BE49-F238E27FC236}">
                <a16:creationId xmlns:a16="http://schemas.microsoft.com/office/drawing/2014/main" id="{975F1A5D-FC12-A4BD-D174-CE7ECCFE689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287909" y="2811767"/>
            <a:ext cx="7120382" cy="1945667"/>
          </a:xfrm>
          <a:prstGeom prst="rect">
            <a:avLst/>
          </a:prstGeom>
          <a:ln w="9525">
            <a:solidFill>
              <a:srgbClr val="B0B0B0"/>
            </a:solidFill>
          </a:ln>
        </p:spPr>
      </p:pic>
      <p:sp>
        <p:nvSpPr>
          <p:cNvPr id="5" name="!!D1">
            <a:extLst>
              <a:ext uri="{FF2B5EF4-FFF2-40B4-BE49-F238E27FC236}">
                <a16:creationId xmlns:a16="http://schemas.microsoft.com/office/drawing/2014/main" id="{31DC2AC2-5F49-DAB8-15E6-FB4ED0693577}"/>
              </a:ext>
            </a:extLst>
          </p:cNvPr>
          <p:cNvSpPr/>
          <p:nvPr/>
        </p:nvSpPr>
        <p:spPr>
          <a:xfrm>
            <a:off x="0" y="685800"/>
            <a:ext cx="7670800" cy="635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2">
            <a:extLst>
              <a:ext uri="{FF2B5EF4-FFF2-40B4-BE49-F238E27FC236}">
                <a16:creationId xmlns:a16="http://schemas.microsoft.com/office/drawing/2014/main" id="{351274A6-3A99-068C-6993-7A6B957DD768}"/>
              </a:ext>
            </a:extLst>
          </p:cNvPr>
          <p:cNvSpPr/>
          <p:nvPr/>
        </p:nvSpPr>
        <p:spPr>
          <a:xfrm>
            <a:off x="0" y="6858000"/>
            <a:ext cx="7670800" cy="635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3">
            <a:extLst>
              <a:ext uri="{FF2B5EF4-FFF2-40B4-BE49-F238E27FC236}">
                <a16:creationId xmlns:a16="http://schemas.microsoft.com/office/drawing/2014/main" id="{7DE85B70-872D-AA1E-609A-2D5C24C9B5DD}"/>
              </a:ext>
            </a:extLst>
          </p:cNvPr>
          <p:cNvSpPr/>
          <p:nvPr/>
        </p:nvSpPr>
        <p:spPr>
          <a:xfrm>
            <a:off x="0" y="685800"/>
            <a:ext cx="6350" cy="617220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4">
            <a:extLst>
              <a:ext uri="{FF2B5EF4-FFF2-40B4-BE49-F238E27FC236}">
                <a16:creationId xmlns:a16="http://schemas.microsoft.com/office/drawing/2014/main" id="{2B0DE3EC-99C0-5AA1-4C95-245275D453BB}"/>
              </a:ext>
            </a:extLst>
          </p:cNvPr>
          <p:cNvSpPr/>
          <p:nvPr/>
        </p:nvSpPr>
        <p:spPr>
          <a:xfrm>
            <a:off x="7670800" y="685800"/>
            <a:ext cx="6350" cy="617220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ocus">
            <a:extLst>
              <a:ext uri="{FF2B5EF4-FFF2-40B4-BE49-F238E27FC236}">
                <a16:creationId xmlns:a16="http://schemas.microsoft.com/office/drawing/2014/main" id="{DAAA91FE-82C1-7481-2491-7CDB5CAC75A5}"/>
              </a:ext>
            </a:extLst>
          </p:cNvPr>
          <p:cNvSpPr/>
          <p:nvPr/>
        </p:nvSpPr>
        <p:spPr>
          <a:xfrm>
            <a:off x="4685497" y="2889600"/>
            <a:ext cx="1424351" cy="1517752"/>
          </a:xfrm>
          <a:prstGeom prst="rect">
            <a:avLst/>
          </a:prstGeom>
          <a:solidFill>
            <a:srgbClr val="83CBEB">
              <a:alpha val="37000"/>
            </a:srgbClr>
          </a:solidFill>
          <a:ln w="38100">
            <a:solidFill>
              <a:srgbClr val="46B1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ail">
            <a:extLst>
              <a:ext uri="{FF2B5EF4-FFF2-40B4-BE49-F238E27FC236}">
                <a16:creationId xmlns:a16="http://schemas.microsoft.com/office/drawing/2014/main" id="{B252EE9A-83BB-147A-BF44-BFA2DD4EAE51}"/>
              </a:ext>
            </a:extLst>
          </p:cNvPr>
          <p:cNvSpPr/>
          <p:nvPr/>
        </p:nvSpPr>
        <p:spPr>
          <a:xfrm>
            <a:off x="7670800" y="685800"/>
            <a:ext cx="4521200" cy="61722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N90">
            <a:extLst>
              <a:ext uri="{FF2B5EF4-FFF2-40B4-BE49-F238E27FC236}">
                <a16:creationId xmlns:a16="http://schemas.microsoft.com/office/drawing/2014/main" id="{A3BBC706-2368-E12B-2458-B4E5FC46CC27}"/>
              </a:ext>
            </a:extLst>
          </p:cNvPr>
          <p:cNvSpPr/>
          <p:nvPr/>
        </p:nvSpPr>
        <p:spPr>
          <a:xfrm>
            <a:off x="7797800" y="838200"/>
            <a:ext cx="4241800" cy="1362456"/>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R DHC and L OFC gamma bursts rising together (amplitude correlation): cue − baseline was higher on Precon4 than on Precon1.</a:t>
            </a:r>
          </a:p>
        </p:txBody>
      </p:sp>
      <p:sp>
        <p:nvSpPr>
          <p:cNvPr id="12" name="!!N91">
            <a:extLst>
              <a:ext uri="{FF2B5EF4-FFF2-40B4-BE49-F238E27FC236}">
                <a16:creationId xmlns:a16="http://schemas.microsoft.com/office/drawing/2014/main" id="{21205161-17DF-5019-06AA-81966C3F50B5}"/>
              </a:ext>
            </a:extLst>
          </p:cNvPr>
          <p:cNvSpPr/>
          <p:nvPr/>
        </p:nvSpPr>
        <p:spPr>
          <a:xfrm>
            <a:off x="12573000" y="1748028"/>
            <a:ext cx="4241800" cy="107899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FP P = 0.027. Shuffles P = 0.082. t-test P = 0.018 (8 rats). Two of the three agree: a middling lead.</a:t>
            </a:r>
          </a:p>
        </p:txBody>
      </p:sp>
      <p:sp>
        <p:nvSpPr>
          <p:cNvPr id="13" name="!!N88">
            <a:extLst>
              <a:ext uri="{FF2B5EF4-FFF2-40B4-BE49-F238E27FC236}">
                <a16:creationId xmlns:a16="http://schemas.microsoft.com/office/drawing/2014/main" id="{4CA89F1E-3611-D15D-243E-40EE8406C63A}"/>
              </a:ext>
            </a:extLst>
          </p:cNvPr>
          <p:cNvSpPr/>
          <p:nvPr/>
        </p:nvSpPr>
        <p:spPr>
          <a:xfrm>
            <a:off x="12573000" y="838200"/>
            <a:ext cx="4241800" cy="60655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L ACC predicting L RSC (Granger L ACC → L RSC): cue − baseline was higher on Precon4 than on Precon1.</a:t>
            </a:r>
          </a:p>
        </p:txBody>
      </p:sp>
      <p:sp>
        <p:nvSpPr>
          <p:cNvPr id="14" name="!!N89">
            <a:extLst>
              <a:ext uri="{FF2B5EF4-FFF2-40B4-BE49-F238E27FC236}">
                <a16:creationId xmlns:a16="http://schemas.microsoft.com/office/drawing/2014/main" id="{EFAD6E71-BE34-44A7-BDC7-C38EBA890D56}"/>
              </a:ext>
            </a:extLst>
          </p:cNvPr>
          <p:cNvSpPr/>
          <p:nvPr/>
        </p:nvSpPr>
        <p:spPr>
          <a:xfrm>
            <a:off x="12573000" y="1559052"/>
            <a:ext cx="4241800" cy="107899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FP P = 0.040. Shuffles P = 0.008. t-test P = 0.030 (7 rats). All three tests agree: the strongest lead.</a:t>
            </a:r>
          </a:p>
        </p:txBody>
      </p:sp>
      <p:sp>
        <p:nvSpPr>
          <p:cNvPr id="15" name="!!T-BG">
            <a:extLst>
              <a:ext uri="{FF2B5EF4-FFF2-40B4-BE49-F238E27FC236}">
                <a16:creationId xmlns:a16="http://schemas.microsoft.com/office/drawing/2014/main" id="{76AD42C1-A75F-472C-0101-8C44461B882B}"/>
              </a:ext>
            </a:extLst>
          </p:cNvPr>
          <p:cNvSpPr/>
          <p:nvPr/>
        </p:nvSpPr>
        <p:spPr>
          <a:xfrm>
            <a:off x="-381000" y="0"/>
            <a:ext cx="12954000" cy="685800"/>
          </a:xfrm>
          <a:prstGeom prst="snip2DiagRect">
            <a:avLst>
              <a:gd name="adj1" fmla="val 0"/>
              <a:gd name="adj2" fmla="val 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
            <a:extLst>
              <a:ext uri="{FF2B5EF4-FFF2-40B4-BE49-F238E27FC236}">
                <a16:creationId xmlns:a16="http://schemas.microsoft.com/office/drawing/2014/main" id="{9A241340-3192-2F83-44E6-50BFD615A0A2}"/>
              </a:ext>
            </a:extLst>
          </p:cNvPr>
          <p:cNvSpPr txBox="1"/>
          <p:nvPr/>
        </p:nvSpPr>
        <p:spPr>
          <a:xfrm>
            <a:off x="127000" y="0"/>
            <a:ext cx="11811000" cy="685800"/>
          </a:xfrm>
          <a:prstGeom prst="rect">
            <a:avLst/>
          </a:prstGeom>
          <a:noFill/>
        </p:spPr>
        <p:txBody>
          <a:bodyPr vert="horz" wrap="square" lIns="76200" tIns="25400" rIns="76200" bIns="25400" rtlCol="0" anchor="ctr">
            <a:noAutofit/>
          </a:bodyPr>
          <a:lstStyle/>
          <a:p>
            <a:pPr>
              <a:lnSpc>
                <a:spcPct val="95000"/>
              </a:lnSpc>
            </a:pPr>
            <a:r>
              <a:rPr lang="en-US" sz="2400" b="1" u="sng">
                <a:solidFill>
                  <a:srgbClr val="FFFFFF"/>
                </a:solidFill>
                <a:latin typeface="Aptos Display" panose="020B0004020202020204" pitchFamily="34" charset="0"/>
              </a:rPr>
              <a:t>4.7 · R DHC – L OFC · Bursts rise together</a:t>
            </a:r>
          </a:p>
        </p:txBody>
      </p:sp>
    </p:spTree>
    <p:extLst>
      <p:ext uri="{BB962C8B-B14F-4D97-AF65-F5344CB8AC3E}">
        <p14:creationId xmlns:p14="http://schemas.microsoft.com/office/powerpoint/2010/main" val="24308080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tage">
            <a:extLst>
              <a:ext uri="{FF2B5EF4-FFF2-40B4-BE49-F238E27FC236}">
                <a16:creationId xmlns:a16="http://schemas.microsoft.com/office/drawing/2014/main" id="{D43B87F1-FAAD-5813-8234-596C2518C725}"/>
              </a:ext>
            </a:extLst>
          </p:cNvPr>
          <p:cNvSpPr/>
          <p:nvPr/>
        </p:nvSpPr>
        <p:spPr>
          <a:xfrm>
            <a:off x="0" y="685800"/>
            <a:ext cx="7670800" cy="6172200"/>
          </a:xfrm>
          <a:prstGeom prst="rect">
            <a:avLst/>
          </a:prstGeom>
          <a:solidFill>
            <a:srgbClr val="ECEC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F4_7">
            <a:extLst>
              <a:ext uri="{FF2B5EF4-FFF2-40B4-BE49-F238E27FC236}">
                <a16:creationId xmlns:a16="http://schemas.microsoft.com/office/drawing/2014/main" id="{E1249914-5F6D-1A0C-B783-75E9623C08D2}"/>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0689347" y="1658375"/>
            <a:ext cx="18094144" cy="4944281"/>
          </a:xfrm>
          <a:prstGeom prst="rect">
            <a:avLst/>
          </a:prstGeom>
          <a:ln w="9525">
            <a:solidFill>
              <a:srgbClr val="B0B0B0"/>
            </a:solidFill>
          </a:ln>
        </p:spPr>
      </p:pic>
      <p:sp>
        <p:nvSpPr>
          <p:cNvPr id="5" name="!!D1">
            <a:extLst>
              <a:ext uri="{FF2B5EF4-FFF2-40B4-BE49-F238E27FC236}">
                <a16:creationId xmlns:a16="http://schemas.microsoft.com/office/drawing/2014/main" id="{694DAAB0-A761-6165-CD0A-B3308F271250}"/>
              </a:ext>
            </a:extLst>
          </p:cNvPr>
          <p:cNvSpPr/>
          <p:nvPr/>
        </p:nvSpPr>
        <p:spPr>
          <a:xfrm>
            <a:off x="0" y="685800"/>
            <a:ext cx="7670800" cy="1046069"/>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2">
            <a:extLst>
              <a:ext uri="{FF2B5EF4-FFF2-40B4-BE49-F238E27FC236}">
                <a16:creationId xmlns:a16="http://schemas.microsoft.com/office/drawing/2014/main" id="{5DEA840E-ED26-4C2B-A3DB-2442AE715CDB}"/>
              </a:ext>
            </a:extLst>
          </p:cNvPr>
          <p:cNvSpPr/>
          <p:nvPr/>
        </p:nvSpPr>
        <p:spPr>
          <a:xfrm>
            <a:off x="0" y="5837331"/>
            <a:ext cx="7670800" cy="1020669"/>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3">
            <a:extLst>
              <a:ext uri="{FF2B5EF4-FFF2-40B4-BE49-F238E27FC236}">
                <a16:creationId xmlns:a16="http://schemas.microsoft.com/office/drawing/2014/main" id="{CBE521F1-B2D7-9581-DE92-0F34B3C1ED28}"/>
              </a:ext>
            </a:extLst>
          </p:cNvPr>
          <p:cNvSpPr/>
          <p:nvPr/>
        </p:nvSpPr>
        <p:spPr>
          <a:xfrm>
            <a:off x="0" y="1731869"/>
            <a:ext cx="262509" cy="4105462"/>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4">
            <a:extLst>
              <a:ext uri="{FF2B5EF4-FFF2-40B4-BE49-F238E27FC236}">
                <a16:creationId xmlns:a16="http://schemas.microsoft.com/office/drawing/2014/main" id="{20A08FBE-12F5-C3B2-C21C-38755D38A655}"/>
              </a:ext>
            </a:extLst>
          </p:cNvPr>
          <p:cNvSpPr/>
          <p:nvPr/>
        </p:nvSpPr>
        <p:spPr>
          <a:xfrm>
            <a:off x="7433691" y="1731869"/>
            <a:ext cx="237109" cy="4105462"/>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ocus">
            <a:extLst>
              <a:ext uri="{FF2B5EF4-FFF2-40B4-BE49-F238E27FC236}">
                <a16:creationId xmlns:a16="http://schemas.microsoft.com/office/drawing/2014/main" id="{4EADE6B5-FB13-46B8-5BBE-8509217FCF26}"/>
              </a:ext>
            </a:extLst>
          </p:cNvPr>
          <p:cNvSpPr/>
          <p:nvPr/>
        </p:nvSpPr>
        <p:spPr>
          <a:xfrm>
            <a:off x="485697" y="1856163"/>
            <a:ext cx="3619528" cy="3856874"/>
          </a:xfrm>
          <a:prstGeom prst="rect">
            <a:avLst/>
          </a:prstGeom>
          <a:solidFill>
            <a:srgbClr val="83CBEB">
              <a:alpha val="37000"/>
            </a:srgbClr>
          </a:solidFill>
          <a:ln w="38100">
            <a:solidFill>
              <a:srgbClr val="46B1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ocus2">
            <a:extLst>
              <a:ext uri="{FF2B5EF4-FFF2-40B4-BE49-F238E27FC236}">
                <a16:creationId xmlns:a16="http://schemas.microsoft.com/office/drawing/2014/main" id="{F9C1C2F2-119F-DECE-8D35-7B5B3FF34D70}"/>
              </a:ext>
            </a:extLst>
          </p:cNvPr>
          <p:cNvSpPr/>
          <p:nvPr/>
        </p:nvSpPr>
        <p:spPr>
          <a:xfrm>
            <a:off x="4184340" y="1856163"/>
            <a:ext cx="3223951" cy="3856874"/>
          </a:xfrm>
          <a:prstGeom prst="rect">
            <a:avLst/>
          </a:prstGeom>
          <a:solidFill>
            <a:srgbClr val="83CBEB">
              <a:alpha val="37000"/>
            </a:srgbClr>
          </a:solidFill>
          <a:ln w="38100">
            <a:solidFill>
              <a:srgbClr val="46B1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ail">
            <a:extLst>
              <a:ext uri="{FF2B5EF4-FFF2-40B4-BE49-F238E27FC236}">
                <a16:creationId xmlns:a16="http://schemas.microsoft.com/office/drawing/2014/main" id="{35858E7A-2C2A-B8F9-AFEA-B668B7ACEDD2}"/>
              </a:ext>
            </a:extLst>
          </p:cNvPr>
          <p:cNvSpPr/>
          <p:nvPr/>
        </p:nvSpPr>
        <p:spPr>
          <a:xfrm>
            <a:off x="7670800" y="685800"/>
            <a:ext cx="4521200" cy="61722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N90">
            <a:extLst>
              <a:ext uri="{FF2B5EF4-FFF2-40B4-BE49-F238E27FC236}">
                <a16:creationId xmlns:a16="http://schemas.microsoft.com/office/drawing/2014/main" id="{4CF269AA-72DE-DC6A-2E31-9A6B0069098B}"/>
              </a:ext>
            </a:extLst>
          </p:cNvPr>
          <p:cNvSpPr/>
          <p:nvPr/>
        </p:nvSpPr>
        <p:spPr>
          <a:xfrm>
            <a:off x="7797800" y="838200"/>
            <a:ext cx="4241800" cy="795528"/>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R DHC and L OFC gamma bursts rising together (amplitude correlation): cue − baseline was higher on Precon4 than on Precon1.</a:t>
            </a:r>
          </a:p>
        </p:txBody>
      </p:sp>
      <p:sp>
        <p:nvSpPr>
          <p:cNvPr id="13" name="!!N91">
            <a:extLst>
              <a:ext uri="{FF2B5EF4-FFF2-40B4-BE49-F238E27FC236}">
                <a16:creationId xmlns:a16="http://schemas.microsoft.com/office/drawing/2014/main" id="{CCEFE8B7-CCFF-1C9F-66DA-833F40B647D6}"/>
              </a:ext>
            </a:extLst>
          </p:cNvPr>
          <p:cNvSpPr/>
          <p:nvPr/>
        </p:nvSpPr>
        <p:spPr>
          <a:xfrm>
            <a:off x="7797800" y="1748028"/>
            <a:ext cx="4241800" cy="107899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FP P = 0.027. Shuffles P = 0.082. t-test P = 0.018 (8 rats). Two of the three agree: a middling lead.</a:t>
            </a:r>
          </a:p>
        </p:txBody>
      </p:sp>
      <p:sp>
        <p:nvSpPr>
          <p:cNvPr id="14" name="!!N92">
            <a:extLst>
              <a:ext uri="{FF2B5EF4-FFF2-40B4-BE49-F238E27FC236}">
                <a16:creationId xmlns:a16="http://schemas.microsoft.com/office/drawing/2014/main" id="{D816E048-A3E7-6FF5-2714-1CEFE4F2AE50}"/>
              </a:ext>
            </a:extLst>
          </p:cNvPr>
          <p:cNvSpPr/>
          <p:nvPr/>
        </p:nvSpPr>
        <p:spPr>
          <a:xfrm>
            <a:off x="12573000" y="838200"/>
            <a:ext cx="4241800" cy="107899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Theta in R DHC pacing gamma in L OFC (PAC): cue − baseline was higher on Precon4 than on Precon1.</a:t>
            </a:r>
          </a:p>
        </p:txBody>
      </p:sp>
      <p:sp>
        <p:nvSpPr>
          <p:cNvPr id="15" name="!!T-BG">
            <a:extLst>
              <a:ext uri="{FF2B5EF4-FFF2-40B4-BE49-F238E27FC236}">
                <a16:creationId xmlns:a16="http://schemas.microsoft.com/office/drawing/2014/main" id="{F17AAE64-20B0-76D9-0AED-8A1783BA7E22}"/>
              </a:ext>
            </a:extLst>
          </p:cNvPr>
          <p:cNvSpPr/>
          <p:nvPr/>
        </p:nvSpPr>
        <p:spPr>
          <a:xfrm>
            <a:off x="-381000" y="0"/>
            <a:ext cx="12954000" cy="685800"/>
          </a:xfrm>
          <a:prstGeom prst="snip2DiagRect">
            <a:avLst>
              <a:gd name="adj1" fmla="val 0"/>
              <a:gd name="adj2" fmla="val 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
            <a:extLst>
              <a:ext uri="{FF2B5EF4-FFF2-40B4-BE49-F238E27FC236}">
                <a16:creationId xmlns:a16="http://schemas.microsoft.com/office/drawing/2014/main" id="{137FBD46-4148-8DAC-B784-9B6B991CA390}"/>
              </a:ext>
            </a:extLst>
          </p:cNvPr>
          <p:cNvSpPr txBox="1"/>
          <p:nvPr/>
        </p:nvSpPr>
        <p:spPr>
          <a:xfrm>
            <a:off x="127000" y="0"/>
            <a:ext cx="11811000" cy="685800"/>
          </a:xfrm>
          <a:prstGeom prst="rect">
            <a:avLst/>
          </a:prstGeom>
          <a:noFill/>
        </p:spPr>
        <p:txBody>
          <a:bodyPr vert="horz" wrap="square" lIns="76200" tIns="25400" rIns="76200" bIns="25400" rtlCol="0" anchor="ctr">
            <a:noAutofit/>
          </a:bodyPr>
          <a:lstStyle/>
          <a:p>
            <a:pPr>
              <a:lnSpc>
                <a:spcPct val="95000"/>
              </a:lnSpc>
            </a:pPr>
            <a:r>
              <a:rPr lang="en-US" sz="2400" b="1" u="sng">
                <a:solidFill>
                  <a:srgbClr val="FFFFFF"/>
                </a:solidFill>
                <a:latin typeface="Aptos Display" panose="020B0004020202020204" pitchFamily="34" charset="0"/>
              </a:rPr>
              <a:t>4.7 · R DHC – L OFC · Bursts rise together</a:t>
            </a:r>
          </a:p>
        </p:txBody>
      </p:sp>
    </p:spTree>
    <p:extLst>
      <p:ext uri="{BB962C8B-B14F-4D97-AF65-F5344CB8AC3E}">
        <p14:creationId xmlns:p14="http://schemas.microsoft.com/office/powerpoint/2010/main" val="321394201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tage">
            <a:extLst>
              <a:ext uri="{FF2B5EF4-FFF2-40B4-BE49-F238E27FC236}">
                <a16:creationId xmlns:a16="http://schemas.microsoft.com/office/drawing/2014/main" id="{28D228C5-A6C9-9C83-6AA6-DABCF679823E}"/>
              </a:ext>
            </a:extLst>
          </p:cNvPr>
          <p:cNvSpPr/>
          <p:nvPr/>
        </p:nvSpPr>
        <p:spPr>
          <a:xfrm>
            <a:off x="0" y="685800"/>
            <a:ext cx="7670800" cy="6172200"/>
          </a:xfrm>
          <a:prstGeom prst="rect">
            <a:avLst/>
          </a:prstGeom>
          <a:solidFill>
            <a:srgbClr val="ECEC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F4_8">
            <a:extLst>
              <a:ext uri="{FF2B5EF4-FFF2-40B4-BE49-F238E27FC236}">
                <a16:creationId xmlns:a16="http://schemas.microsoft.com/office/drawing/2014/main" id="{95481A96-08FC-F9F1-0F21-EBF0BF9244A9}"/>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287909" y="2034159"/>
            <a:ext cx="7120382" cy="3500882"/>
          </a:xfrm>
          <a:prstGeom prst="rect">
            <a:avLst/>
          </a:prstGeom>
          <a:ln w="9525">
            <a:solidFill>
              <a:srgbClr val="B0B0B0"/>
            </a:solidFill>
          </a:ln>
        </p:spPr>
      </p:pic>
      <p:sp>
        <p:nvSpPr>
          <p:cNvPr id="5" name="!!D1">
            <a:extLst>
              <a:ext uri="{FF2B5EF4-FFF2-40B4-BE49-F238E27FC236}">
                <a16:creationId xmlns:a16="http://schemas.microsoft.com/office/drawing/2014/main" id="{57941E21-43D3-BA8A-32FD-52D5605A479A}"/>
              </a:ext>
            </a:extLst>
          </p:cNvPr>
          <p:cNvSpPr/>
          <p:nvPr/>
        </p:nvSpPr>
        <p:spPr>
          <a:xfrm>
            <a:off x="0" y="685800"/>
            <a:ext cx="7670800" cy="635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2">
            <a:extLst>
              <a:ext uri="{FF2B5EF4-FFF2-40B4-BE49-F238E27FC236}">
                <a16:creationId xmlns:a16="http://schemas.microsoft.com/office/drawing/2014/main" id="{FF8DD0B1-E88F-1403-D687-36A82BDB6274}"/>
              </a:ext>
            </a:extLst>
          </p:cNvPr>
          <p:cNvSpPr/>
          <p:nvPr/>
        </p:nvSpPr>
        <p:spPr>
          <a:xfrm>
            <a:off x="0" y="6858000"/>
            <a:ext cx="7670800" cy="635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3">
            <a:extLst>
              <a:ext uri="{FF2B5EF4-FFF2-40B4-BE49-F238E27FC236}">
                <a16:creationId xmlns:a16="http://schemas.microsoft.com/office/drawing/2014/main" id="{56F516EB-3081-91FE-E4DD-CBC069E7BF6C}"/>
              </a:ext>
            </a:extLst>
          </p:cNvPr>
          <p:cNvSpPr/>
          <p:nvPr/>
        </p:nvSpPr>
        <p:spPr>
          <a:xfrm>
            <a:off x="0" y="685800"/>
            <a:ext cx="6350" cy="617220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4">
            <a:extLst>
              <a:ext uri="{FF2B5EF4-FFF2-40B4-BE49-F238E27FC236}">
                <a16:creationId xmlns:a16="http://schemas.microsoft.com/office/drawing/2014/main" id="{0D000DD8-D077-06DD-C585-CCD842BE0C06}"/>
              </a:ext>
            </a:extLst>
          </p:cNvPr>
          <p:cNvSpPr/>
          <p:nvPr/>
        </p:nvSpPr>
        <p:spPr>
          <a:xfrm>
            <a:off x="7670800" y="685800"/>
            <a:ext cx="6350" cy="617220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ocus">
            <a:extLst>
              <a:ext uri="{FF2B5EF4-FFF2-40B4-BE49-F238E27FC236}">
                <a16:creationId xmlns:a16="http://schemas.microsoft.com/office/drawing/2014/main" id="{0F083B6B-8486-FE16-4E21-1AF293B798FB}"/>
              </a:ext>
            </a:extLst>
          </p:cNvPr>
          <p:cNvSpPr/>
          <p:nvPr/>
        </p:nvSpPr>
        <p:spPr>
          <a:xfrm>
            <a:off x="4685497" y="2111992"/>
            <a:ext cx="1424351" cy="1517752"/>
          </a:xfrm>
          <a:prstGeom prst="rect">
            <a:avLst/>
          </a:prstGeom>
          <a:solidFill>
            <a:srgbClr val="83CBEB">
              <a:alpha val="37000"/>
            </a:srgbClr>
          </a:solidFill>
          <a:ln w="38100">
            <a:solidFill>
              <a:srgbClr val="46B1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ail">
            <a:extLst>
              <a:ext uri="{FF2B5EF4-FFF2-40B4-BE49-F238E27FC236}">
                <a16:creationId xmlns:a16="http://schemas.microsoft.com/office/drawing/2014/main" id="{7CDAEEF8-6D93-3CA7-E96E-8BCFE5FA8695}"/>
              </a:ext>
            </a:extLst>
          </p:cNvPr>
          <p:cNvSpPr/>
          <p:nvPr/>
        </p:nvSpPr>
        <p:spPr>
          <a:xfrm>
            <a:off x="7670800" y="685800"/>
            <a:ext cx="4521200" cy="61722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N92">
            <a:extLst>
              <a:ext uri="{FF2B5EF4-FFF2-40B4-BE49-F238E27FC236}">
                <a16:creationId xmlns:a16="http://schemas.microsoft.com/office/drawing/2014/main" id="{395BDED5-EC61-FFCA-58A9-4E47C527B746}"/>
              </a:ext>
            </a:extLst>
          </p:cNvPr>
          <p:cNvSpPr/>
          <p:nvPr/>
        </p:nvSpPr>
        <p:spPr>
          <a:xfrm>
            <a:off x="7797800" y="838200"/>
            <a:ext cx="4241800" cy="107899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Theta in R DHC pacing gamma in L OFC (PAC): cue − baseline was higher on Precon4 than on Precon1.</a:t>
            </a:r>
          </a:p>
        </p:txBody>
      </p:sp>
      <p:sp>
        <p:nvSpPr>
          <p:cNvPr id="12" name="!!N93">
            <a:extLst>
              <a:ext uri="{FF2B5EF4-FFF2-40B4-BE49-F238E27FC236}">
                <a16:creationId xmlns:a16="http://schemas.microsoft.com/office/drawing/2014/main" id="{60E21F81-2BC3-CF3C-0743-0AC683DAA93B}"/>
              </a:ext>
            </a:extLst>
          </p:cNvPr>
          <p:cNvSpPr/>
          <p:nvPr/>
        </p:nvSpPr>
        <p:spPr>
          <a:xfrm>
            <a:off x="12573000" y="1559052"/>
            <a:ext cx="4241800" cy="107899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FP P = 0.029. Shuffles P = 0.103. t-test P = 0.039 (8 rats). Two of the three agree: a middling lead.</a:t>
            </a:r>
          </a:p>
        </p:txBody>
      </p:sp>
      <p:sp>
        <p:nvSpPr>
          <p:cNvPr id="13" name="!!N90">
            <a:extLst>
              <a:ext uri="{FF2B5EF4-FFF2-40B4-BE49-F238E27FC236}">
                <a16:creationId xmlns:a16="http://schemas.microsoft.com/office/drawing/2014/main" id="{50873A8C-125E-A8FD-036F-142EC2918182}"/>
              </a:ext>
            </a:extLst>
          </p:cNvPr>
          <p:cNvSpPr/>
          <p:nvPr/>
        </p:nvSpPr>
        <p:spPr>
          <a:xfrm>
            <a:off x="12573000" y="838200"/>
            <a:ext cx="4241800" cy="795528"/>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R DHC and L OFC gamma bursts rising together (amplitude correlation): cue − baseline was higher on Precon4 than on Precon1.</a:t>
            </a:r>
          </a:p>
        </p:txBody>
      </p:sp>
      <p:sp>
        <p:nvSpPr>
          <p:cNvPr id="14" name="!!N91">
            <a:extLst>
              <a:ext uri="{FF2B5EF4-FFF2-40B4-BE49-F238E27FC236}">
                <a16:creationId xmlns:a16="http://schemas.microsoft.com/office/drawing/2014/main" id="{D0F9F5A4-4374-34DE-38C7-50FF12A14B84}"/>
              </a:ext>
            </a:extLst>
          </p:cNvPr>
          <p:cNvSpPr/>
          <p:nvPr/>
        </p:nvSpPr>
        <p:spPr>
          <a:xfrm>
            <a:off x="12573000" y="1748028"/>
            <a:ext cx="4241800" cy="107899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FP P = 0.027. Shuffles P = 0.082. t-test P = 0.018 (8 rats). Two of the three agree: a middling lead.</a:t>
            </a:r>
          </a:p>
        </p:txBody>
      </p:sp>
      <p:sp>
        <p:nvSpPr>
          <p:cNvPr id="15" name="!!T-BG">
            <a:extLst>
              <a:ext uri="{FF2B5EF4-FFF2-40B4-BE49-F238E27FC236}">
                <a16:creationId xmlns:a16="http://schemas.microsoft.com/office/drawing/2014/main" id="{BD75639E-C481-D9BC-4EAF-42B2F394FE32}"/>
              </a:ext>
            </a:extLst>
          </p:cNvPr>
          <p:cNvSpPr/>
          <p:nvPr/>
        </p:nvSpPr>
        <p:spPr>
          <a:xfrm>
            <a:off x="-381000" y="0"/>
            <a:ext cx="12954000" cy="685800"/>
          </a:xfrm>
          <a:prstGeom prst="snip2DiagRect">
            <a:avLst>
              <a:gd name="adj1" fmla="val 0"/>
              <a:gd name="adj2" fmla="val 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
            <a:extLst>
              <a:ext uri="{FF2B5EF4-FFF2-40B4-BE49-F238E27FC236}">
                <a16:creationId xmlns:a16="http://schemas.microsoft.com/office/drawing/2014/main" id="{63316681-CB56-3D21-2CB6-E9F0ED80C135}"/>
              </a:ext>
            </a:extLst>
          </p:cNvPr>
          <p:cNvSpPr txBox="1"/>
          <p:nvPr/>
        </p:nvSpPr>
        <p:spPr>
          <a:xfrm>
            <a:off x="127000" y="0"/>
            <a:ext cx="11811000" cy="685800"/>
          </a:xfrm>
          <a:prstGeom prst="rect">
            <a:avLst/>
          </a:prstGeom>
          <a:noFill/>
        </p:spPr>
        <p:txBody>
          <a:bodyPr vert="horz" wrap="square" lIns="76200" tIns="25400" rIns="76200" bIns="25400" rtlCol="0" anchor="ctr">
            <a:noAutofit/>
          </a:bodyPr>
          <a:lstStyle/>
          <a:p>
            <a:pPr>
              <a:lnSpc>
                <a:spcPct val="95000"/>
              </a:lnSpc>
            </a:pPr>
            <a:r>
              <a:rPr lang="pt-BR" sz="2400" b="1" u="sng">
                <a:solidFill>
                  <a:srgbClr val="FFFFFF"/>
                </a:solidFill>
                <a:latin typeface="Aptos Display" panose="020B0004020202020204" pitchFamily="34" charset="0"/>
              </a:rPr>
              <a:t>4.8 · R DHC – L OFC · Theta paces gamma</a:t>
            </a:r>
            <a:endParaRPr lang="en-US" sz="2400" b="1" u="sng">
              <a:solidFill>
                <a:srgbClr val="FFFFFF"/>
              </a:solidFill>
              <a:latin typeface="Aptos Display" panose="020B0004020202020204" pitchFamily="34" charset="0"/>
            </a:endParaRPr>
          </a:p>
        </p:txBody>
      </p:sp>
    </p:spTree>
    <p:extLst>
      <p:ext uri="{BB962C8B-B14F-4D97-AF65-F5344CB8AC3E}">
        <p14:creationId xmlns:p14="http://schemas.microsoft.com/office/powerpoint/2010/main" val="323201000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tage">
            <a:extLst>
              <a:ext uri="{FF2B5EF4-FFF2-40B4-BE49-F238E27FC236}">
                <a16:creationId xmlns:a16="http://schemas.microsoft.com/office/drawing/2014/main" id="{973B17A5-8C4F-4153-20D0-B5754DFD2C62}"/>
              </a:ext>
            </a:extLst>
          </p:cNvPr>
          <p:cNvSpPr/>
          <p:nvPr/>
        </p:nvSpPr>
        <p:spPr>
          <a:xfrm>
            <a:off x="0" y="685800"/>
            <a:ext cx="7670800" cy="6172200"/>
          </a:xfrm>
          <a:prstGeom prst="rect">
            <a:avLst/>
          </a:prstGeom>
          <a:solidFill>
            <a:srgbClr val="ECEC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F4_8">
            <a:extLst>
              <a:ext uri="{FF2B5EF4-FFF2-40B4-BE49-F238E27FC236}">
                <a16:creationId xmlns:a16="http://schemas.microsoft.com/office/drawing/2014/main" id="{B158DD0B-3269-7A6B-B0C4-E664589B40CB}"/>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0689347" y="1658375"/>
            <a:ext cx="18094144" cy="8896357"/>
          </a:xfrm>
          <a:prstGeom prst="rect">
            <a:avLst/>
          </a:prstGeom>
          <a:ln w="9525">
            <a:solidFill>
              <a:srgbClr val="B0B0B0"/>
            </a:solidFill>
          </a:ln>
        </p:spPr>
      </p:pic>
      <p:sp>
        <p:nvSpPr>
          <p:cNvPr id="5" name="!!D1">
            <a:extLst>
              <a:ext uri="{FF2B5EF4-FFF2-40B4-BE49-F238E27FC236}">
                <a16:creationId xmlns:a16="http://schemas.microsoft.com/office/drawing/2014/main" id="{93D26438-54F6-E0C8-CBC6-A5C4FD4FFC79}"/>
              </a:ext>
            </a:extLst>
          </p:cNvPr>
          <p:cNvSpPr/>
          <p:nvPr/>
        </p:nvSpPr>
        <p:spPr>
          <a:xfrm>
            <a:off x="0" y="685800"/>
            <a:ext cx="7670800" cy="1046069"/>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2">
            <a:extLst>
              <a:ext uri="{FF2B5EF4-FFF2-40B4-BE49-F238E27FC236}">
                <a16:creationId xmlns:a16="http://schemas.microsoft.com/office/drawing/2014/main" id="{BB570B21-709E-BB84-AF3A-7B36B61A9C11}"/>
              </a:ext>
            </a:extLst>
          </p:cNvPr>
          <p:cNvSpPr/>
          <p:nvPr/>
        </p:nvSpPr>
        <p:spPr>
          <a:xfrm>
            <a:off x="0" y="5837331"/>
            <a:ext cx="7670800" cy="1020669"/>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3">
            <a:extLst>
              <a:ext uri="{FF2B5EF4-FFF2-40B4-BE49-F238E27FC236}">
                <a16:creationId xmlns:a16="http://schemas.microsoft.com/office/drawing/2014/main" id="{54123974-BDA0-B65A-9094-10E9EB73202E}"/>
              </a:ext>
            </a:extLst>
          </p:cNvPr>
          <p:cNvSpPr/>
          <p:nvPr/>
        </p:nvSpPr>
        <p:spPr>
          <a:xfrm>
            <a:off x="0" y="1731869"/>
            <a:ext cx="262509" cy="4105462"/>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4">
            <a:extLst>
              <a:ext uri="{FF2B5EF4-FFF2-40B4-BE49-F238E27FC236}">
                <a16:creationId xmlns:a16="http://schemas.microsoft.com/office/drawing/2014/main" id="{D5D3D3F3-15A1-5A5D-3563-A099D3B56AD6}"/>
              </a:ext>
            </a:extLst>
          </p:cNvPr>
          <p:cNvSpPr/>
          <p:nvPr/>
        </p:nvSpPr>
        <p:spPr>
          <a:xfrm>
            <a:off x="7433691" y="1731869"/>
            <a:ext cx="237109" cy="4105462"/>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ocus">
            <a:extLst>
              <a:ext uri="{FF2B5EF4-FFF2-40B4-BE49-F238E27FC236}">
                <a16:creationId xmlns:a16="http://schemas.microsoft.com/office/drawing/2014/main" id="{20C2FCA0-A561-A89F-212D-019F19A86CF1}"/>
              </a:ext>
            </a:extLst>
          </p:cNvPr>
          <p:cNvSpPr/>
          <p:nvPr/>
        </p:nvSpPr>
        <p:spPr>
          <a:xfrm>
            <a:off x="485697" y="1856163"/>
            <a:ext cx="3619528" cy="3856874"/>
          </a:xfrm>
          <a:prstGeom prst="rect">
            <a:avLst/>
          </a:prstGeom>
          <a:solidFill>
            <a:srgbClr val="83CBEB">
              <a:alpha val="37000"/>
            </a:srgbClr>
          </a:solidFill>
          <a:ln w="38100">
            <a:solidFill>
              <a:srgbClr val="46B1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ocus2">
            <a:extLst>
              <a:ext uri="{FF2B5EF4-FFF2-40B4-BE49-F238E27FC236}">
                <a16:creationId xmlns:a16="http://schemas.microsoft.com/office/drawing/2014/main" id="{B89C6A22-9AA1-6269-D2A9-7A285D7DB6CA}"/>
              </a:ext>
            </a:extLst>
          </p:cNvPr>
          <p:cNvSpPr/>
          <p:nvPr/>
        </p:nvSpPr>
        <p:spPr>
          <a:xfrm>
            <a:off x="4184340" y="1856163"/>
            <a:ext cx="3223951" cy="3856874"/>
          </a:xfrm>
          <a:prstGeom prst="rect">
            <a:avLst/>
          </a:prstGeom>
          <a:solidFill>
            <a:srgbClr val="83CBEB">
              <a:alpha val="37000"/>
            </a:srgbClr>
          </a:solidFill>
          <a:ln w="38100">
            <a:solidFill>
              <a:srgbClr val="46B1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ail">
            <a:extLst>
              <a:ext uri="{FF2B5EF4-FFF2-40B4-BE49-F238E27FC236}">
                <a16:creationId xmlns:a16="http://schemas.microsoft.com/office/drawing/2014/main" id="{91C490D1-81E3-AFC7-D1B8-D3AE80C3B0DB}"/>
              </a:ext>
            </a:extLst>
          </p:cNvPr>
          <p:cNvSpPr/>
          <p:nvPr/>
        </p:nvSpPr>
        <p:spPr>
          <a:xfrm>
            <a:off x="7670800" y="685800"/>
            <a:ext cx="4521200" cy="61722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N92">
            <a:extLst>
              <a:ext uri="{FF2B5EF4-FFF2-40B4-BE49-F238E27FC236}">
                <a16:creationId xmlns:a16="http://schemas.microsoft.com/office/drawing/2014/main" id="{0BB62CA4-0F72-9511-08EC-8FAA4F2052DA}"/>
              </a:ext>
            </a:extLst>
          </p:cNvPr>
          <p:cNvSpPr/>
          <p:nvPr/>
        </p:nvSpPr>
        <p:spPr>
          <a:xfrm>
            <a:off x="7797800" y="838200"/>
            <a:ext cx="4241800" cy="60655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Theta in R DHC pacing gamma in L OFC (PAC): cue − baseline was higher on Precon4 than on Precon1.</a:t>
            </a:r>
          </a:p>
        </p:txBody>
      </p:sp>
      <p:sp>
        <p:nvSpPr>
          <p:cNvPr id="13" name="!!N93">
            <a:extLst>
              <a:ext uri="{FF2B5EF4-FFF2-40B4-BE49-F238E27FC236}">
                <a16:creationId xmlns:a16="http://schemas.microsoft.com/office/drawing/2014/main" id="{29396E32-B299-DB02-8A1E-490404A82D0B}"/>
              </a:ext>
            </a:extLst>
          </p:cNvPr>
          <p:cNvSpPr/>
          <p:nvPr/>
        </p:nvSpPr>
        <p:spPr>
          <a:xfrm>
            <a:off x="7797800" y="1559052"/>
            <a:ext cx="4241800" cy="107899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FP P = 0.029. Shuffles P = 0.103. t-test P = 0.039 (8 rats). Two of the three agree: a middling lead.</a:t>
            </a:r>
          </a:p>
        </p:txBody>
      </p:sp>
      <p:sp>
        <p:nvSpPr>
          <p:cNvPr id="14" name="!!N94">
            <a:extLst>
              <a:ext uri="{FF2B5EF4-FFF2-40B4-BE49-F238E27FC236}">
                <a16:creationId xmlns:a16="http://schemas.microsoft.com/office/drawing/2014/main" id="{6CCBAA7B-5825-D021-D2A0-6BDE54366E1F}"/>
              </a:ext>
            </a:extLst>
          </p:cNvPr>
          <p:cNvSpPr/>
          <p:nvPr/>
        </p:nvSpPr>
        <p:spPr>
          <a:xfrm>
            <a:off x="12573000" y="838200"/>
            <a:ext cx="4241800" cy="1645920"/>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Its roses: L OFC gamma around the R DHC theta cycle, averaged over trials and rats, Precon1 then Precon4. Where in the cycle, not how much: c is the result.</a:t>
            </a:r>
          </a:p>
        </p:txBody>
      </p:sp>
      <p:sp>
        <p:nvSpPr>
          <p:cNvPr id="15" name="!!T-BG">
            <a:extLst>
              <a:ext uri="{FF2B5EF4-FFF2-40B4-BE49-F238E27FC236}">
                <a16:creationId xmlns:a16="http://schemas.microsoft.com/office/drawing/2014/main" id="{9F21037F-554C-26C8-6E74-F5AF7BC44B43}"/>
              </a:ext>
            </a:extLst>
          </p:cNvPr>
          <p:cNvSpPr/>
          <p:nvPr/>
        </p:nvSpPr>
        <p:spPr>
          <a:xfrm>
            <a:off x="-381000" y="0"/>
            <a:ext cx="12954000" cy="685800"/>
          </a:xfrm>
          <a:prstGeom prst="snip2DiagRect">
            <a:avLst>
              <a:gd name="adj1" fmla="val 0"/>
              <a:gd name="adj2" fmla="val 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
            <a:extLst>
              <a:ext uri="{FF2B5EF4-FFF2-40B4-BE49-F238E27FC236}">
                <a16:creationId xmlns:a16="http://schemas.microsoft.com/office/drawing/2014/main" id="{01BBFF83-E89F-9083-354E-5A5E861357B6}"/>
              </a:ext>
            </a:extLst>
          </p:cNvPr>
          <p:cNvSpPr txBox="1"/>
          <p:nvPr/>
        </p:nvSpPr>
        <p:spPr>
          <a:xfrm>
            <a:off x="127000" y="0"/>
            <a:ext cx="11811000" cy="685800"/>
          </a:xfrm>
          <a:prstGeom prst="rect">
            <a:avLst/>
          </a:prstGeom>
          <a:noFill/>
        </p:spPr>
        <p:txBody>
          <a:bodyPr vert="horz" wrap="square" lIns="76200" tIns="25400" rIns="76200" bIns="25400" rtlCol="0" anchor="ctr">
            <a:noAutofit/>
          </a:bodyPr>
          <a:lstStyle/>
          <a:p>
            <a:pPr>
              <a:lnSpc>
                <a:spcPct val="95000"/>
              </a:lnSpc>
            </a:pPr>
            <a:r>
              <a:rPr lang="pt-BR" sz="2400" b="1" u="sng">
                <a:solidFill>
                  <a:srgbClr val="FFFFFF"/>
                </a:solidFill>
                <a:latin typeface="Aptos Display" panose="020B0004020202020204" pitchFamily="34" charset="0"/>
              </a:rPr>
              <a:t>4.8 · R DHC – L OFC · Theta paces gamma</a:t>
            </a:r>
            <a:endParaRPr lang="en-US" sz="2400" b="1" u="sng">
              <a:solidFill>
                <a:srgbClr val="FFFFFF"/>
              </a:solidFill>
              <a:latin typeface="Aptos Display" panose="020B0004020202020204" pitchFamily="34" charset="0"/>
            </a:endParaRPr>
          </a:p>
        </p:txBody>
      </p:sp>
    </p:spTree>
    <p:extLst>
      <p:ext uri="{BB962C8B-B14F-4D97-AF65-F5344CB8AC3E}">
        <p14:creationId xmlns:p14="http://schemas.microsoft.com/office/powerpoint/2010/main" val="426888053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tage">
            <a:extLst>
              <a:ext uri="{FF2B5EF4-FFF2-40B4-BE49-F238E27FC236}">
                <a16:creationId xmlns:a16="http://schemas.microsoft.com/office/drawing/2014/main" id="{23D61FDA-210B-1145-8488-53E9FF0413E1}"/>
              </a:ext>
            </a:extLst>
          </p:cNvPr>
          <p:cNvSpPr/>
          <p:nvPr/>
        </p:nvSpPr>
        <p:spPr>
          <a:xfrm>
            <a:off x="0" y="685800"/>
            <a:ext cx="7670800" cy="6172200"/>
          </a:xfrm>
          <a:prstGeom prst="rect">
            <a:avLst/>
          </a:prstGeom>
          <a:solidFill>
            <a:srgbClr val="ECEC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F4_8">
            <a:extLst>
              <a:ext uri="{FF2B5EF4-FFF2-40B4-BE49-F238E27FC236}">
                <a16:creationId xmlns:a16="http://schemas.microsoft.com/office/drawing/2014/main" id="{CFB9D3FD-738C-14BF-D89A-EF11BD224B2E}"/>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287909" y="1197139"/>
            <a:ext cx="7119007" cy="3500206"/>
          </a:xfrm>
          <a:prstGeom prst="rect">
            <a:avLst/>
          </a:prstGeom>
          <a:ln w="9525">
            <a:solidFill>
              <a:srgbClr val="B0B0B0"/>
            </a:solidFill>
          </a:ln>
        </p:spPr>
      </p:pic>
      <p:sp>
        <p:nvSpPr>
          <p:cNvPr id="5" name="!!D1">
            <a:extLst>
              <a:ext uri="{FF2B5EF4-FFF2-40B4-BE49-F238E27FC236}">
                <a16:creationId xmlns:a16="http://schemas.microsoft.com/office/drawing/2014/main" id="{9E60E64C-D6AC-D8DD-A658-B86845A0F327}"/>
              </a:ext>
            </a:extLst>
          </p:cNvPr>
          <p:cNvSpPr/>
          <p:nvPr/>
        </p:nvSpPr>
        <p:spPr>
          <a:xfrm>
            <a:off x="0" y="685800"/>
            <a:ext cx="7670800" cy="2236852"/>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2">
            <a:extLst>
              <a:ext uri="{FF2B5EF4-FFF2-40B4-BE49-F238E27FC236}">
                <a16:creationId xmlns:a16="http://schemas.microsoft.com/office/drawing/2014/main" id="{89381B76-5C5F-DA82-C54B-56BD3CF120A6}"/>
              </a:ext>
            </a:extLst>
          </p:cNvPr>
          <p:cNvSpPr/>
          <p:nvPr/>
        </p:nvSpPr>
        <p:spPr>
          <a:xfrm>
            <a:off x="0" y="4646548"/>
            <a:ext cx="7670800" cy="2211452"/>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3">
            <a:extLst>
              <a:ext uri="{FF2B5EF4-FFF2-40B4-BE49-F238E27FC236}">
                <a16:creationId xmlns:a16="http://schemas.microsoft.com/office/drawing/2014/main" id="{8CEFC24C-06FF-5EA6-599A-A03690AC5F8A}"/>
              </a:ext>
            </a:extLst>
          </p:cNvPr>
          <p:cNvSpPr/>
          <p:nvPr/>
        </p:nvSpPr>
        <p:spPr>
          <a:xfrm>
            <a:off x="0" y="2922652"/>
            <a:ext cx="262509" cy="1723895"/>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4">
            <a:extLst>
              <a:ext uri="{FF2B5EF4-FFF2-40B4-BE49-F238E27FC236}">
                <a16:creationId xmlns:a16="http://schemas.microsoft.com/office/drawing/2014/main" id="{4AE4BC2A-ED14-FE55-01FC-76C442F9E7BC}"/>
              </a:ext>
            </a:extLst>
          </p:cNvPr>
          <p:cNvSpPr/>
          <p:nvPr/>
        </p:nvSpPr>
        <p:spPr>
          <a:xfrm>
            <a:off x="7433691" y="2922652"/>
            <a:ext cx="237109" cy="1723895"/>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ocus">
            <a:extLst>
              <a:ext uri="{FF2B5EF4-FFF2-40B4-BE49-F238E27FC236}">
                <a16:creationId xmlns:a16="http://schemas.microsoft.com/office/drawing/2014/main" id="{26213971-0120-B50C-5594-49C80ADD53BA}"/>
              </a:ext>
            </a:extLst>
          </p:cNvPr>
          <p:cNvSpPr/>
          <p:nvPr/>
        </p:nvSpPr>
        <p:spPr>
          <a:xfrm>
            <a:off x="287909" y="2986962"/>
            <a:ext cx="5019286" cy="1595277"/>
          </a:xfrm>
          <a:prstGeom prst="rect">
            <a:avLst/>
          </a:prstGeom>
          <a:solidFill>
            <a:srgbClr val="83CBEB">
              <a:alpha val="37000"/>
            </a:srgbClr>
          </a:solidFill>
          <a:ln w="38100">
            <a:solidFill>
              <a:srgbClr val="46B1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ail">
            <a:extLst>
              <a:ext uri="{FF2B5EF4-FFF2-40B4-BE49-F238E27FC236}">
                <a16:creationId xmlns:a16="http://schemas.microsoft.com/office/drawing/2014/main" id="{FC7352A1-16E6-32A9-2F61-B756D5F4519C}"/>
              </a:ext>
            </a:extLst>
          </p:cNvPr>
          <p:cNvSpPr/>
          <p:nvPr/>
        </p:nvSpPr>
        <p:spPr>
          <a:xfrm>
            <a:off x="7670800" y="685800"/>
            <a:ext cx="4521200" cy="61722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N94">
            <a:extLst>
              <a:ext uri="{FF2B5EF4-FFF2-40B4-BE49-F238E27FC236}">
                <a16:creationId xmlns:a16="http://schemas.microsoft.com/office/drawing/2014/main" id="{5B82875D-5906-5EB4-3A6B-6A6EAF9F938D}"/>
              </a:ext>
            </a:extLst>
          </p:cNvPr>
          <p:cNvSpPr/>
          <p:nvPr/>
        </p:nvSpPr>
        <p:spPr>
          <a:xfrm>
            <a:off x="7797800" y="838200"/>
            <a:ext cx="4241800" cy="1645920"/>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Its roses: L OFC gamma around the R DHC theta cycle, averaged over trials and rats, Precon1 then Precon4. Where in the cycle, not how much: c is the result.</a:t>
            </a:r>
          </a:p>
        </p:txBody>
      </p:sp>
      <p:sp>
        <p:nvSpPr>
          <p:cNvPr id="12" name="!!N95">
            <a:extLst>
              <a:ext uri="{FF2B5EF4-FFF2-40B4-BE49-F238E27FC236}">
                <a16:creationId xmlns:a16="http://schemas.microsoft.com/office/drawing/2014/main" id="{15977155-4DAD-1D8D-B7F1-F39C327DFB7D}"/>
              </a:ext>
            </a:extLst>
          </p:cNvPr>
          <p:cNvSpPr/>
          <p:nvPr/>
        </p:nvSpPr>
        <p:spPr>
          <a:xfrm>
            <a:off x="12573000" y="838200"/>
            <a:ext cx="4241800" cy="1362456"/>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Coupling with a real delay, R ACC with R RSC (imaginary coherence): cue − baseline was higher on Precon4 than on Precon1.</a:t>
            </a:r>
          </a:p>
        </p:txBody>
      </p:sp>
      <p:sp>
        <p:nvSpPr>
          <p:cNvPr id="13" name="!!N92">
            <a:extLst>
              <a:ext uri="{FF2B5EF4-FFF2-40B4-BE49-F238E27FC236}">
                <a16:creationId xmlns:a16="http://schemas.microsoft.com/office/drawing/2014/main" id="{573EC61B-744C-6E60-163F-DCAEF3F1BD47}"/>
              </a:ext>
            </a:extLst>
          </p:cNvPr>
          <p:cNvSpPr/>
          <p:nvPr/>
        </p:nvSpPr>
        <p:spPr>
          <a:xfrm>
            <a:off x="12573000" y="838200"/>
            <a:ext cx="4241800" cy="60655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Theta in R DHC pacing gamma in L OFC (PAC): cue − baseline was higher on Precon4 than on Precon1.</a:t>
            </a:r>
          </a:p>
        </p:txBody>
      </p:sp>
      <p:sp>
        <p:nvSpPr>
          <p:cNvPr id="14" name="!!N93">
            <a:extLst>
              <a:ext uri="{FF2B5EF4-FFF2-40B4-BE49-F238E27FC236}">
                <a16:creationId xmlns:a16="http://schemas.microsoft.com/office/drawing/2014/main" id="{B7E5A9DF-A992-3ADE-64BB-9C07052719CB}"/>
              </a:ext>
            </a:extLst>
          </p:cNvPr>
          <p:cNvSpPr/>
          <p:nvPr/>
        </p:nvSpPr>
        <p:spPr>
          <a:xfrm>
            <a:off x="12573000" y="1559052"/>
            <a:ext cx="4241800" cy="107899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FP P = 0.029. Shuffles P = 0.103. t-test P = 0.039 (8 rats). Two of the three agree: a middling lead.</a:t>
            </a:r>
          </a:p>
        </p:txBody>
      </p:sp>
      <p:sp>
        <p:nvSpPr>
          <p:cNvPr id="15" name="!!T-BG">
            <a:extLst>
              <a:ext uri="{FF2B5EF4-FFF2-40B4-BE49-F238E27FC236}">
                <a16:creationId xmlns:a16="http://schemas.microsoft.com/office/drawing/2014/main" id="{7CD29056-FC57-39DB-55B8-848413176F53}"/>
              </a:ext>
            </a:extLst>
          </p:cNvPr>
          <p:cNvSpPr/>
          <p:nvPr/>
        </p:nvSpPr>
        <p:spPr>
          <a:xfrm>
            <a:off x="-381000" y="0"/>
            <a:ext cx="12954000" cy="685800"/>
          </a:xfrm>
          <a:prstGeom prst="snip2DiagRect">
            <a:avLst>
              <a:gd name="adj1" fmla="val 0"/>
              <a:gd name="adj2" fmla="val 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
            <a:extLst>
              <a:ext uri="{FF2B5EF4-FFF2-40B4-BE49-F238E27FC236}">
                <a16:creationId xmlns:a16="http://schemas.microsoft.com/office/drawing/2014/main" id="{67C915A0-6B83-B6E8-B45A-2FDC0875E168}"/>
              </a:ext>
            </a:extLst>
          </p:cNvPr>
          <p:cNvSpPr txBox="1"/>
          <p:nvPr/>
        </p:nvSpPr>
        <p:spPr>
          <a:xfrm>
            <a:off x="127000" y="0"/>
            <a:ext cx="11811000" cy="685800"/>
          </a:xfrm>
          <a:prstGeom prst="rect">
            <a:avLst/>
          </a:prstGeom>
          <a:noFill/>
        </p:spPr>
        <p:txBody>
          <a:bodyPr vert="horz" wrap="square" lIns="76200" tIns="25400" rIns="76200" bIns="25400" rtlCol="0" anchor="ctr">
            <a:noAutofit/>
          </a:bodyPr>
          <a:lstStyle/>
          <a:p>
            <a:pPr>
              <a:lnSpc>
                <a:spcPct val="95000"/>
              </a:lnSpc>
            </a:pPr>
            <a:r>
              <a:rPr lang="pt-BR" sz="2400" b="1" u="sng">
                <a:solidFill>
                  <a:srgbClr val="FFFFFF"/>
                </a:solidFill>
                <a:latin typeface="Aptos Display" panose="020B0004020202020204" pitchFamily="34" charset="0"/>
              </a:rPr>
              <a:t>4.8 · R DHC – L OFC · Theta paces gamma</a:t>
            </a:r>
            <a:endParaRPr lang="en-US" sz="2400" b="1" u="sng">
              <a:solidFill>
                <a:srgbClr val="FFFFFF"/>
              </a:solidFill>
              <a:latin typeface="Aptos Display" panose="020B0004020202020204" pitchFamily="34" charset="0"/>
            </a:endParaRPr>
          </a:p>
        </p:txBody>
      </p:sp>
    </p:spTree>
    <p:extLst>
      <p:ext uri="{BB962C8B-B14F-4D97-AF65-F5344CB8AC3E}">
        <p14:creationId xmlns:p14="http://schemas.microsoft.com/office/powerpoint/2010/main" val="234095242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tage">
            <a:extLst>
              <a:ext uri="{FF2B5EF4-FFF2-40B4-BE49-F238E27FC236}">
                <a16:creationId xmlns:a16="http://schemas.microsoft.com/office/drawing/2014/main" id="{397DDBEE-3903-DAA6-780A-BED47AADEBA7}"/>
              </a:ext>
            </a:extLst>
          </p:cNvPr>
          <p:cNvSpPr/>
          <p:nvPr/>
        </p:nvSpPr>
        <p:spPr>
          <a:xfrm>
            <a:off x="0" y="685800"/>
            <a:ext cx="7670800" cy="6172200"/>
          </a:xfrm>
          <a:prstGeom prst="rect">
            <a:avLst/>
          </a:prstGeom>
          <a:solidFill>
            <a:srgbClr val="ECEC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F4_9">
            <a:extLst>
              <a:ext uri="{FF2B5EF4-FFF2-40B4-BE49-F238E27FC236}">
                <a16:creationId xmlns:a16="http://schemas.microsoft.com/office/drawing/2014/main" id="{50ABCD32-5957-EE7B-7831-C8A51746C706}"/>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287909" y="2811767"/>
            <a:ext cx="7120382" cy="1945667"/>
          </a:xfrm>
          <a:prstGeom prst="rect">
            <a:avLst/>
          </a:prstGeom>
          <a:ln w="9525">
            <a:solidFill>
              <a:srgbClr val="B0B0B0"/>
            </a:solidFill>
          </a:ln>
        </p:spPr>
      </p:pic>
      <p:sp>
        <p:nvSpPr>
          <p:cNvPr id="5" name="!!D1">
            <a:extLst>
              <a:ext uri="{FF2B5EF4-FFF2-40B4-BE49-F238E27FC236}">
                <a16:creationId xmlns:a16="http://schemas.microsoft.com/office/drawing/2014/main" id="{F985B2C2-620A-DFA9-85FA-2AD1348699FA}"/>
              </a:ext>
            </a:extLst>
          </p:cNvPr>
          <p:cNvSpPr/>
          <p:nvPr/>
        </p:nvSpPr>
        <p:spPr>
          <a:xfrm>
            <a:off x="0" y="685800"/>
            <a:ext cx="7670800" cy="635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2">
            <a:extLst>
              <a:ext uri="{FF2B5EF4-FFF2-40B4-BE49-F238E27FC236}">
                <a16:creationId xmlns:a16="http://schemas.microsoft.com/office/drawing/2014/main" id="{F15CAC52-A759-242B-325B-8B84070FEB5E}"/>
              </a:ext>
            </a:extLst>
          </p:cNvPr>
          <p:cNvSpPr/>
          <p:nvPr/>
        </p:nvSpPr>
        <p:spPr>
          <a:xfrm>
            <a:off x="0" y="6858000"/>
            <a:ext cx="7670800" cy="635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3">
            <a:extLst>
              <a:ext uri="{FF2B5EF4-FFF2-40B4-BE49-F238E27FC236}">
                <a16:creationId xmlns:a16="http://schemas.microsoft.com/office/drawing/2014/main" id="{D1F9FB1A-6B2E-D26D-13E0-6DF5394AA604}"/>
              </a:ext>
            </a:extLst>
          </p:cNvPr>
          <p:cNvSpPr/>
          <p:nvPr/>
        </p:nvSpPr>
        <p:spPr>
          <a:xfrm>
            <a:off x="0" y="685800"/>
            <a:ext cx="6350" cy="617220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4">
            <a:extLst>
              <a:ext uri="{FF2B5EF4-FFF2-40B4-BE49-F238E27FC236}">
                <a16:creationId xmlns:a16="http://schemas.microsoft.com/office/drawing/2014/main" id="{A9179E2A-19E4-9EF8-B2D6-EE1C84AAB8AD}"/>
              </a:ext>
            </a:extLst>
          </p:cNvPr>
          <p:cNvSpPr/>
          <p:nvPr/>
        </p:nvSpPr>
        <p:spPr>
          <a:xfrm>
            <a:off x="7670800" y="685800"/>
            <a:ext cx="6350" cy="617220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ocus">
            <a:extLst>
              <a:ext uri="{FF2B5EF4-FFF2-40B4-BE49-F238E27FC236}">
                <a16:creationId xmlns:a16="http://schemas.microsoft.com/office/drawing/2014/main" id="{9BE65202-C280-B036-5222-BB5C2AD5CA09}"/>
              </a:ext>
            </a:extLst>
          </p:cNvPr>
          <p:cNvSpPr/>
          <p:nvPr/>
        </p:nvSpPr>
        <p:spPr>
          <a:xfrm>
            <a:off x="4685497" y="2889600"/>
            <a:ext cx="1424351" cy="1517752"/>
          </a:xfrm>
          <a:prstGeom prst="rect">
            <a:avLst/>
          </a:prstGeom>
          <a:solidFill>
            <a:srgbClr val="83CBEB">
              <a:alpha val="37000"/>
            </a:srgbClr>
          </a:solidFill>
          <a:ln w="38100">
            <a:solidFill>
              <a:srgbClr val="46B1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ail">
            <a:extLst>
              <a:ext uri="{FF2B5EF4-FFF2-40B4-BE49-F238E27FC236}">
                <a16:creationId xmlns:a16="http://schemas.microsoft.com/office/drawing/2014/main" id="{D3809DDB-606A-9E27-685B-5BA21334FECF}"/>
              </a:ext>
            </a:extLst>
          </p:cNvPr>
          <p:cNvSpPr/>
          <p:nvPr/>
        </p:nvSpPr>
        <p:spPr>
          <a:xfrm>
            <a:off x="7670800" y="685800"/>
            <a:ext cx="4521200" cy="61722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N95">
            <a:extLst>
              <a:ext uri="{FF2B5EF4-FFF2-40B4-BE49-F238E27FC236}">
                <a16:creationId xmlns:a16="http://schemas.microsoft.com/office/drawing/2014/main" id="{6DEFD15C-3617-778B-9670-0AD83188EAE3}"/>
              </a:ext>
            </a:extLst>
          </p:cNvPr>
          <p:cNvSpPr/>
          <p:nvPr/>
        </p:nvSpPr>
        <p:spPr>
          <a:xfrm>
            <a:off x="7797800" y="838200"/>
            <a:ext cx="4241800" cy="1362456"/>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Coupling with a real delay, R ACC with R RSC (imaginary coherence): cue − baseline was higher on Precon4 than on Precon1.</a:t>
            </a:r>
          </a:p>
        </p:txBody>
      </p:sp>
      <p:sp>
        <p:nvSpPr>
          <p:cNvPr id="12" name="!!N96">
            <a:extLst>
              <a:ext uri="{FF2B5EF4-FFF2-40B4-BE49-F238E27FC236}">
                <a16:creationId xmlns:a16="http://schemas.microsoft.com/office/drawing/2014/main" id="{4C0FEBEF-7FFD-60E2-391D-F41B4A9DC65C}"/>
              </a:ext>
            </a:extLst>
          </p:cNvPr>
          <p:cNvSpPr/>
          <p:nvPr/>
        </p:nvSpPr>
        <p:spPr>
          <a:xfrm>
            <a:off x="12573000" y="1748028"/>
            <a:ext cx="4241800" cy="107899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FP P = 0.042. Shuffles P = 0.058. t-test P &lt; 0.001 (6 rats). Two of the three agree: a middling lead.</a:t>
            </a:r>
          </a:p>
        </p:txBody>
      </p:sp>
      <p:sp>
        <p:nvSpPr>
          <p:cNvPr id="13" name="!!N94">
            <a:extLst>
              <a:ext uri="{FF2B5EF4-FFF2-40B4-BE49-F238E27FC236}">
                <a16:creationId xmlns:a16="http://schemas.microsoft.com/office/drawing/2014/main" id="{5F7C9941-1D84-31AD-E10C-3D3D93580C0D}"/>
              </a:ext>
            </a:extLst>
          </p:cNvPr>
          <p:cNvSpPr/>
          <p:nvPr/>
        </p:nvSpPr>
        <p:spPr>
          <a:xfrm>
            <a:off x="12573000" y="838200"/>
            <a:ext cx="4241800" cy="1645920"/>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Its roses: L OFC gamma around the R DHC theta cycle, averaged over trials and rats, Precon1 then Precon4. Where in the cycle, not how much: c is the result.</a:t>
            </a:r>
          </a:p>
        </p:txBody>
      </p:sp>
      <p:sp>
        <p:nvSpPr>
          <p:cNvPr id="14" name="!!T-BG">
            <a:extLst>
              <a:ext uri="{FF2B5EF4-FFF2-40B4-BE49-F238E27FC236}">
                <a16:creationId xmlns:a16="http://schemas.microsoft.com/office/drawing/2014/main" id="{ED5D698C-7450-F976-49A2-205ABCCDBEF2}"/>
              </a:ext>
            </a:extLst>
          </p:cNvPr>
          <p:cNvSpPr/>
          <p:nvPr/>
        </p:nvSpPr>
        <p:spPr>
          <a:xfrm>
            <a:off x="-381000" y="0"/>
            <a:ext cx="12954000" cy="685800"/>
          </a:xfrm>
          <a:prstGeom prst="snip2DiagRect">
            <a:avLst>
              <a:gd name="adj1" fmla="val 0"/>
              <a:gd name="adj2" fmla="val 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
            <a:extLst>
              <a:ext uri="{FF2B5EF4-FFF2-40B4-BE49-F238E27FC236}">
                <a16:creationId xmlns:a16="http://schemas.microsoft.com/office/drawing/2014/main" id="{EAB19320-F374-CD0D-1E72-6F989392FE61}"/>
              </a:ext>
            </a:extLst>
          </p:cNvPr>
          <p:cNvSpPr txBox="1"/>
          <p:nvPr/>
        </p:nvSpPr>
        <p:spPr>
          <a:xfrm>
            <a:off x="127000" y="0"/>
            <a:ext cx="11811000" cy="685800"/>
          </a:xfrm>
          <a:prstGeom prst="rect">
            <a:avLst/>
          </a:prstGeom>
          <a:noFill/>
        </p:spPr>
        <p:txBody>
          <a:bodyPr vert="horz" wrap="square" lIns="76200" tIns="25400" rIns="76200" bIns="25400" rtlCol="0" anchor="ctr">
            <a:noAutofit/>
          </a:bodyPr>
          <a:lstStyle/>
          <a:p>
            <a:pPr>
              <a:lnSpc>
                <a:spcPct val="95000"/>
              </a:lnSpc>
            </a:pPr>
            <a:r>
              <a:rPr lang="en-US" sz="2400" b="1" u="sng">
                <a:solidFill>
                  <a:srgbClr val="FFFFFF"/>
                </a:solidFill>
                <a:latin typeface="Aptos Display" panose="020B0004020202020204" pitchFamily="34" charset="0"/>
              </a:rPr>
              <a:t>4.9 · R ACC – R RSC · Not just a shared signal</a:t>
            </a:r>
          </a:p>
        </p:txBody>
      </p:sp>
    </p:spTree>
    <p:extLst>
      <p:ext uri="{BB962C8B-B14F-4D97-AF65-F5344CB8AC3E}">
        <p14:creationId xmlns:p14="http://schemas.microsoft.com/office/powerpoint/2010/main" val="156681505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tage">
            <a:extLst>
              <a:ext uri="{FF2B5EF4-FFF2-40B4-BE49-F238E27FC236}">
                <a16:creationId xmlns:a16="http://schemas.microsoft.com/office/drawing/2014/main" id="{40D4F0B3-5814-E562-70E3-2AD2ABC1AA83}"/>
              </a:ext>
            </a:extLst>
          </p:cNvPr>
          <p:cNvSpPr/>
          <p:nvPr/>
        </p:nvSpPr>
        <p:spPr>
          <a:xfrm>
            <a:off x="0" y="685800"/>
            <a:ext cx="7670800" cy="6172200"/>
          </a:xfrm>
          <a:prstGeom prst="rect">
            <a:avLst/>
          </a:prstGeom>
          <a:solidFill>
            <a:srgbClr val="ECEC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F4_9">
            <a:extLst>
              <a:ext uri="{FF2B5EF4-FFF2-40B4-BE49-F238E27FC236}">
                <a16:creationId xmlns:a16="http://schemas.microsoft.com/office/drawing/2014/main" id="{94796E6D-AED7-8AD9-ECD7-B0E2EE4CCC04}"/>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0689347" y="1658375"/>
            <a:ext cx="18094144" cy="4944281"/>
          </a:xfrm>
          <a:prstGeom prst="rect">
            <a:avLst/>
          </a:prstGeom>
          <a:ln w="9525">
            <a:solidFill>
              <a:srgbClr val="B0B0B0"/>
            </a:solidFill>
          </a:ln>
        </p:spPr>
      </p:pic>
      <p:sp>
        <p:nvSpPr>
          <p:cNvPr id="5" name="!!D1">
            <a:extLst>
              <a:ext uri="{FF2B5EF4-FFF2-40B4-BE49-F238E27FC236}">
                <a16:creationId xmlns:a16="http://schemas.microsoft.com/office/drawing/2014/main" id="{420350D2-C452-982F-48D7-AE7814076C47}"/>
              </a:ext>
            </a:extLst>
          </p:cNvPr>
          <p:cNvSpPr/>
          <p:nvPr/>
        </p:nvSpPr>
        <p:spPr>
          <a:xfrm>
            <a:off x="0" y="685800"/>
            <a:ext cx="7670800" cy="1046069"/>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2">
            <a:extLst>
              <a:ext uri="{FF2B5EF4-FFF2-40B4-BE49-F238E27FC236}">
                <a16:creationId xmlns:a16="http://schemas.microsoft.com/office/drawing/2014/main" id="{C458C4FC-F9AB-1C7B-B903-B74FF631AA6A}"/>
              </a:ext>
            </a:extLst>
          </p:cNvPr>
          <p:cNvSpPr/>
          <p:nvPr/>
        </p:nvSpPr>
        <p:spPr>
          <a:xfrm>
            <a:off x="0" y="5837331"/>
            <a:ext cx="7670800" cy="1020669"/>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3">
            <a:extLst>
              <a:ext uri="{FF2B5EF4-FFF2-40B4-BE49-F238E27FC236}">
                <a16:creationId xmlns:a16="http://schemas.microsoft.com/office/drawing/2014/main" id="{A05A5899-F901-6B44-2CA1-B3CC694F1F3F}"/>
              </a:ext>
            </a:extLst>
          </p:cNvPr>
          <p:cNvSpPr/>
          <p:nvPr/>
        </p:nvSpPr>
        <p:spPr>
          <a:xfrm>
            <a:off x="0" y="1731869"/>
            <a:ext cx="262509" cy="4105462"/>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4">
            <a:extLst>
              <a:ext uri="{FF2B5EF4-FFF2-40B4-BE49-F238E27FC236}">
                <a16:creationId xmlns:a16="http://schemas.microsoft.com/office/drawing/2014/main" id="{C925511D-0157-8D10-F025-19CF3953EFBA}"/>
              </a:ext>
            </a:extLst>
          </p:cNvPr>
          <p:cNvSpPr/>
          <p:nvPr/>
        </p:nvSpPr>
        <p:spPr>
          <a:xfrm>
            <a:off x="7433691" y="1731869"/>
            <a:ext cx="237109" cy="4105462"/>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ocus">
            <a:extLst>
              <a:ext uri="{FF2B5EF4-FFF2-40B4-BE49-F238E27FC236}">
                <a16:creationId xmlns:a16="http://schemas.microsoft.com/office/drawing/2014/main" id="{15101C13-36E4-4F40-FD08-911D85413553}"/>
              </a:ext>
            </a:extLst>
          </p:cNvPr>
          <p:cNvSpPr/>
          <p:nvPr/>
        </p:nvSpPr>
        <p:spPr>
          <a:xfrm>
            <a:off x="485697" y="1856163"/>
            <a:ext cx="3619528" cy="3856874"/>
          </a:xfrm>
          <a:prstGeom prst="rect">
            <a:avLst/>
          </a:prstGeom>
          <a:solidFill>
            <a:srgbClr val="83CBEB">
              <a:alpha val="37000"/>
            </a:srgbClr>
          </a:solidFill>
          <a:ln w="38100">
            <a:solidFill>
              <a:srgbClr val="46B1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ocus2">
            <a:extLst>
              <a:ext uri="{FF2B5EF4-FFF2-40B4-BE49-F238E27FC236}">
                <a16:creationId xmlns:a16="http://schemas.microsoft.com/office/drawing/2014/main" id="{8A01A1FD-4B0C-6D8C-C977-7CA196B5E7B6}"/>
              </a:ext>
            </a:extLst>
          </p:cNvPr>
          <p:cNvSpPr/>
          <p:nvPr/>
        </p:nvSpPr>
        <p:spPr>
          <a:xfrm>
            <a:off x="4184340" y="1856163"/>
            <a:ext cx="3223951" cy="3856874"/>
          </a:xfrm>
          <a:prstGeom prst="rect">
            <a:avLst/>
          </a:prstGeom>
          <a:solidFill>
            <a:srgbClr val="83CBEB">
              <a:alpha val="37000"/>
            </a:srgbClr>
          </a:solidFill>
          <a:ln w="38100">
            <a:solidFill>
              <a:srgbClr val="46B1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ail">
            <a:extLst>
              <a:ext uri="{FF2B5EF4-FFF2-40B4-BE49-F238E27FC236}">
                <a16:creationId xmlns:a16="http://schemas.microsoft.com/office/drawing/2014/main" id="{2717971F-2AC8-077E-774C-D4C5A7EE98C9}"/>
              </a:ext>
            </a:extLst>
          </p:cNvPr>
          <p:cNvSpPr/>
          <p:nvPr/>
        </p:nvSpPr>
        <p:spPr>
          <a:xfrm>
            <a:off x="7670800" y="685800"/>
            <a:ext cx="4521200" cy="61722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N95">
            <a:extLst>
              <a:ext uri="{FF2B5EF4-FFF2-40B4-BE49-F238E27FC236}">
                <a16:creationId xmlns:a16="http://schemas.microsoft.com/office/drawing/2014/main" id="{27C675C2-F439-89BA-CE83-24FDF7D13F3B}"/>
              </a:ext>
            </a:extLst>
          </p:cNvPr>
          <p:cNvSpPr/>
          <p:nvPr/>
        </p:nvSpPr>
        <p:spPr>
          <a:xfrm>
            <a:off x="7797800" y="838200"/>
            <a:ext cx="4241800" cy="795528"/>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Coupling with a real delay, R ACC with R RSC (imaginary coherence): cue − baseline was higher on Precon4 than on Precon1.</a:t>
            </a:r>
          </a:p>
        </p:txBody>
      </p:sp>
      <p:sp>
        <p:nvSpPr>
          <p:cNvPr id="13" name="!!N96">
            <a:extLst>
              <a:ext uri="{FF2B5EF4-FFF2-40B4-BE49-F238E27FC236}">
                <a16:creationId xmlns:a16="http://schemas.microsoft.com/office/drawing/2014/main" id="{9792EBE8-4D0A-8DA4-BC26-02AEBB711EEB}"/>
              </a:ext>
            </a:extLst>
          </p:cNvPr>
          <p:cNvSpPr/>
          <p:nvPr/>
        </p:nvSpPr>
        <p:spPr>
          <a:xfrm>
            <a:off x="7797800" y="1748028"/>
            <a:ext cx="4241800" cy="107899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FP P = 0.042. Shuffles P = 0.058. t-test P &lt; 0.001 (6 rats). Two of the three agree: a middling lead.</a:t>
            </a:r>
          </a:p>
        </p:txBody>
      </p:sp>
      <p:sp>
        <p:nvSpPr>
          <p:cNvPr id="14" name="!!N97">
            <a:extLst>
              <a:ext uri="{FF2B5EF4-FFF2-40B4-BE49-F238E27FC236}">
                <a16:creationId xmlns:a16="http://schemas.microsoft.com/office/drawing/2014/main" id="{B0DDB3A5-C820-F07A-5373-8BD71F31D477}"/>
              </a:ext>
            </a:extLst>
          </p:cNvPr>
          <p:cNvSpPr/>
          <p:nvPr/>
        </p:nvSpPr>
        <p:spPr>
          <a:xfrm>
            <a:off x="12573000" y="838200"/>
            <a:ext cx="4241800" cy="1362456"/>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R ACC and L ACC gamma bursts rising together (amplitude correlation): cue − baseline was higher on Precon4 than on Precon1.</a:t>
            </a:r>
          </a:p>
        </p:txBody>
      </p:sp>
      <p:sp>
        <p:nvSpPr>
          <p:cNvPr id="15" name="!!T-BG">
            <a:extLst>
              <a:ext uri="{FF2B5EF4-FFF2-40B4-BE49-F238E27FC236}">
                <a16:creationId xmlns:a16="http://schemas.microsoft.com/office/drawing/2014/main" id="{750A704F-21D0-612C-C7C8-354CC47DAA09}"/>
              </a:ext>
            </a:extLst>
          </p:cNvPr>
          <p:cNvSpPr/>
          <p:nvPr/>
        </p:nvSpPr>
        <p:spPr>
          <a:xfrm>
            <a:off x="-381000" y="0"/>
            <a:ext cx="12954000" cy="685800"/>
          </a:xfrm>
          <a:prstGeom prst="snip2DiagRect">
            <a:avLst>
              <a:gd name="adj1" fmla="val 0"/>
              <a:gd name="adj2" fmla="val 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
            <a:extLst>
              <a:ext uri="{FF2B5EF4-FFF2-40B4-BE49-F238E27FC236}">
                <a16:creationId xmlns:a16="http://schemas.microsoft.com/office/drawing/2014/main" id="{902C473E-C817-7AF8-BF83-ABE2A2DCD098}"/>
              </a:ext>
            </a:extLst>
          </p:cNvPr>
          <p:cNvSpPr txBox="1"/>
          <p:nvPr/>
        </p:nvSpPr>
        <p:spPr>
          <a:xfrm>
            <a:off x="127000" y="0"/>
            <a:ext cx="11811000" cy="685800"/>
          </a:xfrm>
          <a:prstGeom prst="rect">
            <a:avLst/>
          </a:prstGeom>
          <a:noFill/>
        </p:spPr>
        <p:txBody>
          <a:bodyPr vert="horz" wrap="square" lIns="76200" tIns="25400" rIns="76200" bIns="25400" rtlCol="0" anchor="ctr">
            <a:noAutofit/>
          </a:bodyPr>
          <a:lstStyle/>
          <a:p>
            <a:pPr>
              <a:lnSpc>
                <a:spcPct val="95000"/>
              </a:lnSpc>
            </a:pPr>
            <a:r>
              <a:rPr lang="en-US" sz="2400" b="1" u="sng">
                <a:solidFill>
                  <a:srgbClr val="FFFFFF"/>
                </a:solidFill>
                <a:latin typeface="Aptos Display" panose="020B0004020202020204" pitchFamily="34" charset="0"/>
              </a:rPr>
              <a:t>4.9 · R ACC – R RSC · Not just a shared signal</a:t>
            </a:r>
          </a:p>
        </p:txBody>
      </p:sp>
    </p:spTree>
    <p:extLst>
      <p:ext uri="{BB962C8B-B14F-4D97-AF65-F5344CB8AC3E}">
        <p14:creationId xmlns:p14="http://schemas.microsoft.com/office/powerpoint/2010/main" val="63939167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tage">
            <a:extLst>
              <a:ext uri="{FF2B5EF4-FFF2-40B4-BE49-F238E27FC236}">
                <a16:creationId xmlns:a16="http://schemas.microsoft.com/office/drawing/2014/main" id="{5458F8AF-E131-8CB5-8C95-803B1DD20B6E}"/>
              </a:ext>
            </a:extLst>
          </p:cNvPr>
          <p:cNvSpPr/>
          <p:nvPr/>
        </p:nvSpPr>
        <p:spPr>
          <a:xfrm>
            <a:off x="0" y="685800"/>
            <a:ext cx="7670800" cy="6172200"/>
          </a:xfrm>
          <a:prstGeom prst="rect">
            <a:avLst/>
          </a:prstGeom>
          <a:solidFill>
            <a:srgbClr val="ECEC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F4_10">
            <a:extLst>
              <a:ext uri="{FF2B5EF4-FFF2-40B4-BE49-F238E27FC236}">
                <a16:creationId xmlns:a16="http://schemas.microsoft.com/office/drawing/2014/main" id="{84879CEB-4AE9-4B80-D5A6-A9D49512D81C}"/>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287909" y="2811767"/>
            <a:ext cx="7120382" cy="1945667"/>
          </a:xfrm>
          <a:prstGeom prst="rect">
            <a:avLst/>
          </a:prstGeom>
          <a:ln w="9525">
            <a:solidFill>
              <a:srgbClr val="B0B0B0"/>
            </a:solidFill>
          </a:ln>
        </p:spPr>
      </p:pic>
      <p:sp>
        <p:nvSpPr>
          <p:cNvPr id="5" name="!!D1">
            <a:extLst>
              <a:ext uri="{FF2B5EF4-FFF2-40B4-BE49-F238E27FC236}">
                <a16:creationId xmlns:a16="http://schemas.microsoft.com/office/drawing/2014/main" id="{69131CFA-ED78-90B0-0F67-939DA87C6CDE}"/>
              </a:ext>
            </a:extLst>
          </p:cNvPr>
          <p:cNvSpPr/>
          <p:nvPr/>
        </p:nvSpPr>
        <p:spPr>
          <a:xfrm>
            <a:off x="0" y="685800"/>
            <a:ext cx="7670800" cy="635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2">
            <a:extLst>
              <a:ext uri="{FF2B5EF4-FFF2-40B4-BE49-F238E27FC236}">
                <a16:creationId xmlns:a16="http://schemas.microsoft.com/office/drawing/2014/main" id="{98323BF3-D8BE-7793-911C-792A6BFD0852}"/>
              </a:ext>
            </a:extLst>
          </p:cNvPr>
          <p:cNvSpPr/>
          <p:nvPr/>
        </p:nvSpPr>
        <p:spPr>
          <a:xfrm>
            <a:off x="0" y="6858000"/>
            <a:ext cx="7670800" cy="635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3">
            <a:extLst>
              <a:ext uri="{FF2B5EF4-FFF2-40B4-BE49-F238E27FC236}">
                <a16:creationId xmlns:a16="http://schemas.microsoft.com/office/drawing/2014/main" id="{45A5F611-BB5D-C306-6BAA-70C53DCD7A43}"/>
              </a:ext>
            </a:extLst>
          </p:cNvPr>
          <p:cNvSpPr/>
          <p:nvPr/>
        </p:nvSpPr>
        <p:spPr>
          <a:xfrm>
            <a:off x="0" y="685800"/>
            <a:ext cx="6350" cy="617220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4">
            <a:extLst>
              <a:ext uri="{FF2B5EF4-FFF2-40B4-BE49-F238E27FC236}">
                <a16:creationId xmlns:a16="http://schemas.microsoft.com/office/drawing/2014/main" id="{172FC93C-22DA-A417-CF03-9FF613B53F39}"/>
              </a:ext>
            </a:extLst>
          </p:cNvPr>
          <p:cNvSpPr/>
          <p:nvPr/>
        </p:nvSpPr>
        <p:spPr>
          <a:xfrm>
            <a:off x="7670800" y="685800"/>
            <a:ext cx="6350" cy="617220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ocus">
            <a:extLst>
              <a:ext uri="{FF2B5EF4-FFF2-40B4-BE49-F238E27FC236}">
                <a16:creationId xmlns:a16="http://schemas.microsoft.com/office/drawing/2014/main" id="{C78689C5-A746-6EE6-332A-E900128A1A3F}"/>
              </a:ext>
            </a:extLst>
          </p:cNvPr>
          <p:cNvSpPr/>
          <p:nvPr/>
        </p:nvSpPr>
        <p:spPr>
          <a:xfrm>
            <a:off x="4685497" y="2889600"/>
            <a:ext cx="1424351" cy="1517752"/>
          </a:xfrm>
          <a:prstGeom prst="rect">
            <a:avLst/>
          </a:prstGeom>
          <a:solidFill>
            <a:srgbClr val="83CBEB">
              <a:alpha val="37000"/>
            </a:srgbClr>
          </a:solidFill>
          <a:ln w="38100">
            <a:solidFill>
              <a:srgbClr val="46B1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ail">
            <a:extLst>
              <a:ext uri="{FF2B5EF4-FFF2-40B4-BE49-F238E27FC236}">
                <a16:creationId xmlns:a16="http://schemas.microsoft.com/office/drawing/2014/main" id="{CA9F5C99-8F8D-FE90-66A9-8F3449EF7322}"/>
              </a:ext>
            </a:extLst>
          </p:cNvPr>
          <p:cNvSpPr/>
          <p:nvPr/>
        </p:nvSpPr>
        <p:spPr>
          <a:xfrm>
            <a:off x="7670800" y="685800"/>
            <a:ext cx="4521200" cy="61722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N97">
            <a:extLst>
              <a:ext uri="{FF2B5EF4-FFF2-40B4-BE49-F238E27FC236}">
                <a16:creationId xmlns:a16="http://schemas.microsoft.com/office/drawing/2014/main" id="{900BAE91-C13A-85EE-A6B4-8D475FA56B51}"/>
              </a:ext>
            </a:extLst>
          </p:cNvPr>
          <p:cNvSpPr/>
          <p:nvPr/>
        </p:nvSpPr>
        <p:spPr>
          <a:xfrm>
            <a:off x="7797800" y="838200"/>
            <a:ext cx="4241800" cy="1362456"/>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R ACC and L ACC gamma bursts rising together (amplitude correlation): cue − baseline was higher on Precon4 than on Precon1.</a:t>
            </a:r>
          </a:p>
        </p:txBody>
      </p:sp>
      <p:sp>
        <p:nvSpPr>
          <p:cNvPr id="12" name="!!N98">
            <a:extLst>
              <a:ext uri="{FF2B5EF4-FFF2-40B4-BE49-F238E27FC236}">
                <a16:creationId xmlns:a16="http://schemas.microsoft.com/office/drawing/2014/main" id="{5DBFE5F8-1EAB-2FAB-4BF3-8ED71C942D37}"/>
              </a:ext>
            </a:extLst>
          </p:cNvPr>
          <p:cNvSpPr/>
          <p:nvPr/>
        </p:nvSpPr>
        <p:spPr>
          <a:xfrm>
            <a:off x="12573000" y="1748028"/>
            <a:ext cx="4241800" cy="107899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FP P = 0.064. Shuffles P = 0.027. t-test P = 0.023 (8 rats). Two of the three agree: a middling lead.</a:t>
            </a:r>
          </a:p>
        </p:txBody>
      </p:sp>
      <p:sp>
        <p:nvSpPr>
          <p:cNvPr id="13" name="!!N95">
            <a:extLst>
              <a:ext uri="{FF2B5EF4-FFF2-40B4-BE49-F238E27FC236}">
                <a16:creationId xmlns:a16="http://schemas.microsoft.com/office/drawing/2014/main" id="{B13504B5-2DEA-A02F-7750-0EF218CCEE16}"/>
              </a:ext>
            </a:extLst>
          </p:cNvPr>
          <p:cNvSpPr/>
          <p:nvPr/>
        </p:nvSpPr>
        <p:spPr>
          <a:xfrm>
            <a:off x="12573000" y="838200"/>
            <a:ext cx="4241800" cy="795528"/>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Coupling with a real delay, R ACC with R RSC (imaginary coherence): cue − baseline was higher on Precon4 than on Precon1.</a:t>
            </a:r>
          </a:p>
        </p:txBody>
      </p:sp>
      <p:sp>
        <p:nvSpPr>
          <p:cNvPr id="14" name="!!N96">
            <a:extLst>
              <a:ext uri="{FF2B5EF4-FFF2-40B4-BE49-F238E27FC236}">
                <a16:creationId xmlns:a16="http://schemas.microsoft.com/office/drawing/2014/main" id="{67DC0D2F-72EC-1D60-9820-C627B4008028}"/>
              </a:ext>
            </a:extLst>
          </p:cNvPr>
          <p:cNvSpPr/>
          <p:nvPr/>
        </p:nvSpPr>
        <p:spPr>
          <a:xfrm>
            <a:off x="12573000" y="1748028"/>
            <a:ext cx="4241800" cy="107899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FP P = 0.042. Shuffles P = 0.058. t-test P &lt; 0.001 (6 rats). Two of the three agree: a middling lead.</a:t>
            </a:r>
          </a:p>
        </p:txBody>
      </p:sp>
      <p:sp>
        <p:nvSpPr>
          <p:cNvPr id="15" name="!!T-BG">
            <a:extLst>
              <a:ext uri="{FF2B5EF4-FFF2-40B4-BE49-F238E27FC236}">
                <a16:creationId xmlns:a16="http://schemas.microsoft.com/office/drawing/2014/main" id="{3EB9464C-A08E-98B7-CBD0-CF424AB49A7E}"/>
              </a:ext>
            </a:extLst>
          </p:cNvPr>
          <p:cNvSpPr/>
          <p:nvPr/>
        </p:nvSpPr>
        <p:spPr>
          <a:xfrm>
            <a:off x="-381000" y="0"/>
            <a:ext cx="12954000" cy="685800"/>
          </a:xfrm>
          <a:prstGeom prst="snip2DiagRect">
            <a:avLst>
              <a:gd name="adj1" fmla="val 0"/>
              <a:gd name="adj2" fmla="val 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
            <a:extLst>
              <a:ext uri="{FF2B5EF4-FFF2-40B4-BE49-F238E27FC236}">
                <a16:creationId xmlns:a16="http://schemas.microsoft.com/office/drawing/2014/main" id="{C8F26EA5-97D9-E37C-F7A3-DECAC20E38EF}"/>
              </a:ext>
            </a:extLst>
          </p:cNvPr>
          <p:cNvSpPr txBox="1"/>
          <p:nvPr/>
        </p:nvSpPr>
        <p:spPr>
          <a:xfrm>
            <a:off x="127000" y="0"/>
            <a:ext cx="11811000" cy="685800"/>
          </a:xfrm>
          <a:prstGeom prst="rect">
            <a:avLst/>
          </a:prstGeom>
          <a:noFill/>
        </p:spPr>
        <p:txBody>
          <a:bodyPr vert="horz" wrap="square" lIns="76200" tIns="25400" rIns="76200" bIns="25400" rtlCol="0" anchor="ctr">
            <a:noAutofit/>
          </a:bodyPr>
          <a:lstStyle/>
          <a:p>
            <a:pPr>
              <a:lnSpc>
                <a:spcPct val="95000"/>
              </a:lnSpc>
            </a:pPr>
            <a:r>
              <a:rPr lang="en-US" sz="2400" b="1" u="sng">
                <a:solidFill>
                  <a:srgbClr val="FFFFFF"/>
                </a:solidFill>
                <a:latin typeface="Aptos Display" panose="020B0004020202020204" pitchFamily="34" charset="0"/>
              </a:rPr>
              <a:t>4.10 · R ACC – L ACC · Bursts rise together</a:t>
            </a:r>
          </a:p>
        </p:txBody>
      </p:sp>
    </p:spTree>
    <p:extLst>
      <p:ext uri="{BB962C8B-B14F-4D97-AF65-F5344CB8AC3E}">
        <p14:creationId xmlns:p14="http://schemas.microsoft.com/office/powerpoint/2010/main" val="315714717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tage">
            <a:extLst>
              <a:ext uri="{FF2B5EF4-FFF2-40B4-BE49-F238E27FC236}">
                <a16:creationId xmlns:a16="http://schemas.microsoft.com/office/drawing/2014/main" id="{0A45DAE4-6905-3BE8-B009-CB698F6662D4}"/>
              </a:ext>
            </a:extLst>
          </p:cNvPr>
          <p:cNvSpPr/>
          <p:nvPr/>
        </p:nvSpPr>
        <p:spPr>
          <a:xfrm>
            <a:off x="0" y="685800"/>
            <a:ext cx="7670800" cy="6172200"/>
          </a:xfrm>
          <a:prstGeom prst="rect">
            <a:avLst/>
          </a:prstGeom>
          <a:solidFill>
            <a:srgbClr val="ECEC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F4_10">
            <a:extLst>
              <a:ext uri="{FF2B5EF4-FFF2-40B4-BE49-F238E27FC236}">
                <a16:creationId xmlns:a16="http://schemas.microsoft.com/office/drawing/2014/main" id="{C7921FC9-0CAE-F25D-98A7-2300E30075A3}"/>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0689347" y="1658375"/>
            <a:ext cx="18094144" cy="4944281"/>
          </a:xfrm>
          <a:prstGeom prst="rect">
            <a:avLst/>
          </a:prstGeom>
          <a:ln w="9525">
            <a:solidFill>
              <a:srgbClr val="B0B0B0"/>
            </a:solidFill>
          </a:ln>
        </p:spPr>
      </p:pic>
      <p:sp>
        <p:nvSpPr>
          <p:cNvPr id="5" name="!!D1">
            <a:extLst>
              <a:ext uri="{FF2B5EF4-FFF2-40B4-BE49-F238E27FC236}">
                <a16:creationId xmlns:a16="http://schemas.microsoft.com/office/drawing/2014/main" id="{2BC99907-8D3B-5E55-804A-3803F1F77EF4}"/>
              </a:ext>
            </a:extLst>
          </p:cNvPr>
          <p:cNvSpPr/>
          <p:nvPr/>
        </p:nvSpPr>
        <p:spPr>
          <a:xfrm>
            <a:off x="0" y="685800"/>
            <a:ext cx="7670800" cy="1046069"/>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2">
            <a:extLst>
              <a:ext uri="{FF2B5EF4-FFF2-40B4-BE49-F238E27FC236}">
                <a16:creationId xmlns:a16="http://schemas.microsoft.com/office/drawing/2014/main" id="{5C7C3B10-110C-DB89-02DE-D11BC7E5D2C4}"/>
              </a:ext>
            </a:extLst>
          </p:cNvPr>
          <p:cNvSpPr/>
          <p:nvPr/>
        </p:nvSpPr>
        <p:spPr>
          <a:xfrm>
            <a:off x="0" y="5837331"/>
            <a:ext cx="7670800" cy="1020669"/>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3">
            <a:extLst>
              <a:ext uri="{FF2B5EF4-FFF2-40B4-BE49-F238E27FC236}">
                <a16:creationId xmlns:a16="http://schemas.microsoft.com/office/drawing/2014/main" id="{68223A0E-E6A3-247F-0915-E7E2470C18D9}"/>
              </a:ext>
            </a:extLst>
          </p:cNvPr>
          <p:cNvSpPr/>
          <p:nvPr/>
        </p:nvSpPr>
        <p:spPr>
          <a:xfrm>
            <a:off x="0" y="1731869"/>
            <a:ext cx="262509" cy="4105462"/>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4">
            <a:extLst>
              <a:ext uri="{FF2B5EF4-FFF2-40B4-BE49-F238E27FC236}">
                <a16:creationId xmlns:a16="http://schemas.microsoft.com/office/drawing/2014/main" id="{241A196A-59D7-5B4D-34B7-ABAE2865E4D6}"/>
              </a:ext>
            </a:extLst>
          </p:cNvPr>
          <p:cNvSpPr/>
          <p:nvPr/>
        </p:nvSpPr>
        <p:spPr>
          <a:xfrm>
            <a:off x="7433691" y="1731869"/>
            <a:ext cx="237109" cy="4105462"/>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ocus">
            <a:extLst>
              <a:ext uri="{FF2B5EF4-FFF2-40B4-BE49-F238E27FC236}">
                <a16:creationId xmlns:a16="http://schemas.microsoft.com/office/drawing/2014/main" id="{B2B672E0-4A92-CD63-A60F-6BECE368BD49}"/>
              </a:ext>
            </a:extLst>
          </p:cNvPr>
          <p:cNvSpPr/>
          <p:nvPr/>
        </p:nvSpPr>
        <p:spPr>
          <a:xfrm>
            <a:off x="485697" y="1856163"/>
            <a:ext cx="3619528" cy="3856874"/>
          </a:xfrm>
          <a:prstGeom prst="rect">
            <a:avLst/>
          </a:prstGeom>
          <a:solidFill>
            <a:srgbClr val="83CBEB">
              <a:alpha val="37000"/>
            </a:srgbClr>
          </a:solidFill>
          <a:ln w="38100">
            <a:solidFill>
              <a:srgbClr val="46B1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ocus2">
            <a:extLst>
              <a:ext uri="{FF2B5EF4-FFF2-40B4-BE49-F238E27FC236}">
                <a16:creationId xmlns:a16="http://schemas.microsoft.com/office/drawing/2014/main" id="{56C137D6-4118-E7FE-0878-D12E631A5449}"/>
              </a:ext>
            </a:extLst>
          </p:cNvPr>
          <p:cNvSpPr/>
          <p:nvPr/>
        </p:nvSpPr>
        <p:spPr>
          <a:xfrm>
            <a:off x="4184340" y="1856163"/>
            <a:ext cx="3223951" cy="3856874"/>
          </a:xfrm>
          <a:prstGeom prst="rect">
            <a:avLst/>
          </a:prstGeom>
          <a:solidFill>
            <a:srgbClr val="83CBEB">
              <a:alpha val="37000"/>
            </a:srgbClr>
          </a:solidFill>
          <a:ln w="38100">
            <a:solidFill>
              <a:srgbClr val="46B1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ail">
            <a:extLst>
              <a:ext uri="{FF2B5EF4-FFF2-40B4-BE49-F238E27FC236}">
                <a16:creationId xmlns:a16="http://schemas.microsoft.com/office/drawing/2014/main" id="{850CFC58-A1DA-46B7-9120-447D20DAC688}"/>
              </a:ext>
            </a:extLst>
          </p:cNvPr>
          <p:cNvSpPr/>
          <p:nvPr/>
        </p:nvSpPr>
        <p:spPr>
          <a:xfrm>
            <a:off x="7670800" y="685800"/>
            <a:ext cx="4521200" cy="61722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N97">
            <a:extLst>
              <a:ext uri="{FF2B5EF4-FFF2-40B4-BE49-F238E27FC236}">
                <a16:creationId xmlns:a16="http://schemas.microsoft.com/office/drawing/2014/main" id="{373D6B40-3722-F4DD-1CDD-4486F9C84CC0}"/>
              </a:ext>
            </a:extLst>
          </p:cNvPr>
          <p:cNvSpPr/>
          <p:nvPr/>
        </p:nvSpPr>
        <p:spPr>
          <a:xfrm>
            <a:off x="7797800" y="838200"/>
            <a:ext cx="4241800" cy="795528"/>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R ACC and L ACC gamma bursts rising together (amplitude correlation): cue − baseline was higher on Precon4 than on Precon1.</a:t>
            </a:r>
          </a:p>
        </p:txBody>
      </p:sp>
      <p:sp>
        <p:nvSpPr>
          <p:cNvPr id="13" name="!!N98">
            <a:extLst>
              <a:ext uri="{FF2B5EF4-FFF2-40B4-BE49-F238E27FC236}">
                <a16:creationId xmlns:a16="http://schemas.microsoft.com/office/drawing/2014/main" id="{9F106BD0-3329-0ECA-5791-43D2D30A9561}"/>
              </a:ext>
            </a:extLst>
          </p:cNvPr>
          <p:cNvSpPr/>
          <p:nvPr/>
        </p:nvSpPr>
        <p:spPr>
          <a:xfrm>
            <a:off x="7797800" y="1748028"/>
            <a:ext cx="4241800" cy="107899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FP P = 0.064. Shuffles P = 0.027. t-test P = 0.023 (8 rats). Two of the three agree: a middling lead.</a:t>
            </a:r>
          </a:p>
        </p:txBody>
      </p:sp>
      <p:sp>
        <p:nvSpPr>
          <p:cNvPr id="14" name="!!N99">
            <a:extLst>
              <a:ext uri="{FF2B5EF4-FFF2-40B4-BE49-F238E27FC236}">
                <a16:creationId xmlns:a16="http://schemas.microsoft.com/office/drawing/2014/main" id="{7E78F44C-9637-8BCD-119C-CF99E7D9789A}"/>
              </a:ext>
            </a:extLst>
          </p:cNvPr>
          <p:cNvSpPr/>
          <p:nvPr/>
        </p:nvSpPr>
        <p:spPr>
          <a:xfrm>
            <a:off x="12573000" y="838200"/>
            <a:ext cx="4241800" cy="1362456"/>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Coupling with a real delay, R ACC with L ACC (imaginary coherence): cue − baseline was higher on Precon4 than on Precon1.</a:t>
            </a:r>
          </a:p>
        </p:txBody>
      </p:sp>
      <p:sp>
        <p:nvSpPr>
          <p:cNvPr id="15" name="!!T-BG">
            <a:extLst>
              <a:ext uri="{FF2B5EF4-FFF2-40B4-BE49-F238E27FC236}">
                <a16:creationId xmlns:a16="http://schemas.microsoft.com/office/drawing/2014/main" id="{4CA2CD6F-118D-4396-3FAE-B1507DB0272B}"/>
              </a:ext>
            </a:extLst>
          </p:cNvPr>
          <p:cNvSpPr/>
          <p:nvPr/>
        </p:nvSpPr>
        <p:spPr>
          <a:xfrm>
            <a:off x="-381000" y="0"/>
            <a:ext cx="12954000" cy="685800"/>
          </a:xfrm>
          <a:prstGeom prst="snip2DiagRect">
            <a:avLst>
              <a:gd name="adj1" fmla="val 0"/>
              <a:gd name="adj2" fmla="val 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
            <a:extLst>
              <a:ext uri="{FF2B5EF4-FFF2-40B4-BE49-F238E27FC236}">
                <a16:creationId xmlns:a16="http://schemas.microsoft.com/office/drawing/2014/main" id="{EEF6E4AF-6F14-465E-CDB4-555663D28D97}"/>
              </a:ext>
            </a:extLst>
          </p:cNvPr>
          <p:cNvSpPr txBox="1"/>
          <p:nvPr/>
        </p:nvSpPr>
        <p:spPr>
          <a:xfrm>
            <a:off x="127000" y="0"/>
            <a:ext cx="11811000" cy="685800"/>
          </a:xfrm>
          <a:prstGeom prst="rect">
            <a:avLst/>
          </a:prstGeom>
          <a:noFill/>
        </p:spPr>
        <p:txBody>
          <a:bodyPr vert="horz" wrap="square" lIns="76200" tIns="25400" rIns="76200" bIns="25400" rtlCol="0" anchor="ctr">
            <a:noAutofit/>
          </a:bodyPr>
          <a:lstStyle/>
          <a:p>
            <a:pPr>
              <a:lnSpc>
                <a:spcPct val="95000"/>
              </a:lnSpc>
            </a:pPr>
            <a:r>
              <a:rPr lang="en-US" sz="2400" b="1" u="sng">
                <a:solidFill>
                  <a:srgbClr val="FFFFFF"/>
                </a:solidFill>
                <a:latin typeface="Aptos Display" panose="020B0004020202020204" pitchFamily="34" charset="0"/>
              </a:rPr>
              <a:t>4.10 · R ACC – L ACC · Bursts rise together</a:t>
            </a:r>
          </a:p>
        </p:txBody>
      </p:sp>
    </p:spTree>
    <p:extLst>
      <p:ext uri="{BB962C8B-B14F-4D97-AF65-F5344CB8AC3E}">
        <p14:creationId xmlns:p14="http://schemas.microsoft.com/office/powerpoint/2010/main" val="89804189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tage">
            <a:extLst>
              <a:ext uri="{FF2B5EF4-FFF2-40B4-BE49-F238E27FC236}">
                <a16:creationId xmlns:a16="http://schemas.microsoft.com/office/drawing/2014/main" id="{B4903079-5526-BA15-64AF-4804630B392E}"/>
              </a:ext>
            </a:extLst>
          </p:cNvPr>
          <p:cNvSpPr/>
          <p:nvPr/>
        </p:nvSpPr>
        <p:spPr>
          <a:xfrm>
            <a:off x="0" y="685800"/>
            <a:ext cx="7670800" cy="6172200"/>
          </a:xfrm>
          <a:prstGeom prst="rect">
            <a:avLst/>
          </a:prstGeom>
          <a:solidFill>
            <a:srgbClr val="ECEC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F4_11">
            <a:extLst>
              <a:ext uri="{FF2B5EF4-FFF2-40B4-BE49-F238E27FC236}">
                <a16:creationId xmlns:a16="http://schemas.microsoft.com/office/drawing/2014/main" id="{E368CAB2-84D8-724D-C643-401C55B37C78}"/>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287909" y="2811767"/>
            <a:ext cx="7120382" cy="1945667"/>
          </a:xfrm>
          <a:prstGeom prst="rect">
            <a:avLst/>
          </a:prstGeom>
          <a:ln w="9525">
            <a:solidFill>
              <a:srgbClr val="B0B0B0"/>
            </a:solidFill>
          </a:ln>
        </p:spPr>
      </p:pic>
      <p:sp>
        <p:nvSpPr>
          <p:cNvPr id="5" name="!!D1">
            <a:extLst>
              <a:ext uri="{FF2B5EF4-FFF2-40B4-BE49-F238E27FC236}">
                <a16:creationId xmlns:a16="http://schemas.microsoft.com/office/drawing/2014/main" id="{0CE9FB47-D50A-D195-EE4D-1EDE24BECD91}"/>
              </a:ext>
            </a:extLst>
          </p:cNvPr>
          <p:cNvSpPr/>
          <p:nvPr/>
        </p:nvSpPr>
        <p:spPr>
          <a:xfrm>
            <a:off x="0" y="685800"/>
            <a:ext cx="7670800" cy="635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2">
            <a:extLst>
              <a:ext uri="{FF2B5EF4-FFF2-40B4-BE49-F238E27FC236}">
                <a16:creationId xmlns:a16="http://schemas.microsoft.com/office/drawing/2014/main" id="{DF73E4D9-17A2-87CA-3DF0-0CA849F85069}"/>
              </a:ext>
            </a:extLst>
          </p:cNvPr>
          <p:cNvSpPr/>
          <p:nvPr/>
        </p:nvSpPr>
        <p:spPr>
          <a:xfrm>
            <a:off x="0" y="6858000"/>
            <a:ext cx="7670800" cy="635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3">
            <a:extLst>
              <a:ext uri="{FF2B5EF4-FFF2-40B4-BE49-F238E27FC236}">
                <a16:creationId xmlns:a16="http://schemas.microsoft.com/office/drawing/2014/main" id="{FADC2F77-225F-B130-11AA-660B0A376496}"/>
              </a:ext>
            </a:extLst>
          </p:cNvPr>
          <p:cNvSpPr/>
          <p:nvPr/>
        </p:nvSpPr>
        <p:spPr>
          <a:xfrm>
            <a:off x="0" y="685800"/>
            <a:ext cx="6350" cy="617220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4">
            <a:extLst>
              <a:ext uri="{FF2B5EF4-FFF2-40B4-BE49-F238E27FC236}">
                <a16:creationId xmlns:a16="http://schemas.microsoft.com/office/drawing/2014/main" id="{E399A845-DDA3-42D7-E242-AE17458B953E}"/>
              </a:ext>
            </a:extLst>
          </p:cNvPr>
          <p:cNvSpPr/>
          <p:nvPr/>
        </p:nvSpPr>
        <p:spPr>
          <a:xfrm>
            <a:off x="7670800" y="685800"/>
            <a:ext cx="6350" cy="617220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ocus">
            <a:extLst>
              <a:ext uri="{FF2B5EF4-FFF2-40B4-BE49-F238E27FC236}">
                <a16:creationId xmlns:a16="http://schemas.microsoft.com/office/drawing/2014/main" id="{9E60AC62-3E20-6414-0A9C-0839D2D54ACD}"/>
              </a:ext>
            </a:extLst>
          </p:cNvPr>
          <p:cNvSpPr/>
          <p:nvPr/>
        </p:nvSpPr>
        <p:spPr>
          <a:xfrm>
            <a:off x="4685497" y="2889600"/>
            <a:ext cx="1424351" cy="1517752"/>
          </a:xfrm>
          <a:prstGeom prst="rect">
            <a:avLst/>
          </a:prstGeom>
          <a:solidFill>
            <a:srgbClr val="83CBEB">
              <a:alpha val="37000"/>
            </a:srgbClr>
          </a:solidFill>
          <a:ln w="38100">
            <a:solidFill>
              <a:srgbClr val="46B1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ail">
            <a:extLst>
              <a:ext uri="{FF2B5EF4-FFF2-40B4-BE49-F238E27FC236}">
                <a16:creationId xmlns:a16="http://schemas.microsoft.com/office/drawing/2014/main" id="{256F42CC-EC56-8CA7-06C3-E3AEB9DAE159}"/>
              </a:ext>
            </a:extLst>
          </p:cNvPr>
          <p:cNvSpPr/>
          <p:nvPr/>
        </p:nvSpPr>
        <p:spPr>
          <a:xfrm>
            <a:off x="7670800" y="685800"/>
            <a:ext cx="4521200" cy="61722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N99">
            <a:extLst>
              <a:ext uri="{FF2B5EF4-FFF2-40B4-BE49-F238E27FC236}">
                <a16:creationId xmlns:a16="http://schemas.microsoft.com/office/drawing/2014/main" id="{0615746B-40A5-D2CF-B89C-34AFCDABA820}"/>
              </a:ext>
            </a:extLst>
          </p:cNvPr>
          <p:cNvSpPr/>
          <p:nvPr/>
        </p:nvSpPr>
        <p:spPr>
          <a:xfrm>
            <a:off x="7797800" y="838200"/>
            <a:ext cx="4241800" cy="1362456"/>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Coupling with a real delay, R ACC with L ACC (imaginary coherence): cue − baseline was higher on Precon4 than on Precon1.</a:t>
            </a:r>
          </a:p>
        </p:txBody>
      </p:sp>
      <p:sp>
        <p:nvSpPr>
          <p:cNvPr id="12" name="!!N100">
            <a:extLst>
              <a:ext uri="{FF2B5EF4-FFF2-40B4-BE49-F238E27FC236}">
                <a16:creationId xmlns:a16="http://schemas.microsoft.com/office/drawing/2014/main" id="{CE9882C2-AF36-EFD5-FB20-8BDA8B0380AB}"/>
              </a:ext>
            </a:extLst>
          </p:cNvPr>
          <p:cNvSpPr/>
          <p:nvPr/>
        </p:nvSpPr>
        <p:spPr>
          <a:xfrm>
            <a:off x="12573000" y="1748028"/>
            <a:ext cx="4241800" cy="107899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FP P = 0.064. Shuffles P = 0.077. t-test P = 0.027 (8 rats). One test only: a weaker lead.</a:t>
            </a:r>
          </a:p>
        </p:txBody>
      </p:sp>
      <p:sp>
        <p:nvSpPr>
          <p:cNvPr id="13" name="!!N97">
            <a:extLst>
              <a:ext uri="{FF2B5EF4-FFF2-40B4-BE49-F238E27FC236}">
                <a16:creationId xmlns:a16="http://schemas.microsoft.com/office/drawing/2014/main" id="{52E58F02-E50A-E581-57E5-0F13DEE8B26A}"/>
              </a:ext>
            </a:extLst>
          </p:cNvPr>
          <p:cNvSpPr/>
          <p:nvPr/>
        </p:nvSpPr>
        <p:spPr>
          <a:xfrm>
            <a:off x="12573000" y="838200"/>
            <a:ext cx="4241800" cy="795528"/>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R ACC and L ACC gamma bursts rising together (amplitude correlation): cue − baseline was higher on Precon4 than on Precon1.</a:t>
            </a:r>
          </a:p>
        </p:txBody>
      </p:sp>
      <p:sp>
        <p:nvSpPr>
          <p:cNvPr id="14" name="!!N98">
            <a:extLst>
              <a:ext uri="{FF2B5EF4-FFF2-40B4-BE49-F238E27FC236}">
                <a16:creationId xmlns:a16="http://schemas.microsoft.com/office/drawing/2014/main" id="{FDE03DFE-E06D-75E7-9166-4E2D8A5CE041}"/>
              </a:ext>
            </a:extLst>
          </p:cNvPr>
          <p:cNvSpPr/>
          <p:nvPr/>
        </p:nvSpPr>
        <p:spPr>
          <a:xfrm>
            <a:off x="12573000" y="1748028"/>
            <a:ext cx="4241800" cy="107899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FP P = 0.064. Shuffles P = 0.027. t-test P = 0.023 (8 rats). Two of the three agree: a middling lead.</a:t>
            </a:r>
          </a:p>
        </p:txBody>
      </p:sp>
      <p:sp>
        <p:nvSpPr>
          <p:cNvPr id="15" name="!!T-BG">
            <a:extLst>
              <a:ext uri="{FF2B5EF4-FFF2-40B4-BE49-F238E27FC236}">
                <a16:creationId xmlns:a16="http://schemas.microsoft.com/office/drawing/2014/main" id="{FD63760F-3528-77D4-A35A-D9B041B899B6}"/>
              </a:ext>
            </a:extLst>
          </p:cNvPr>
          <p:cNvSpPr/>
          <p:nvPr/>
        </p:nvSpPr>
        <p:spPr>
          <a:xfrm>
            <a:off x="-381000" y="0"/>
            <a:ext cx="12954000" cy="685800"/>
          </a:xfrm>
          <a:prstGeom prst="snip2DiagRect">
            <a:avLst>
              <a:gd name="adj1" fmla="val 0"/>
              <a:gd name="adj2" fmla="val 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
            <a:extLst>
              <a:ext uri="{FF2B5EF4-FFF2-40B4-BE49-F238E27FC236}">
                <a16:creationId xmlns:a16="http://schemas.microsoft.com/office/drawing/2014/main" id="{AC9D5801-72B5-996E-CE3E-326510789B21}"/>
              </a:ext>
            </a:extLst>
          </p:cNvPr>
          <p:cNvSpPr txBox="1"/>
          <p:nvPr/>
        </p:nvSpPr>
        <p:spPr>
          <a:xfrm>
            <a:off x="127000" y="0"/>
            <a:ext cx="11811000" cy="685800"/>
          </a:xfrm>
          <a:prstGeom prst="rect">
            <a:avLst/>
          </a:prstGeom>
          <a:noFill/>
        </p:spPr>
        <p:txBody>
          <a:bodyPr vert="horz" wrap="square" lIns="76200" tIns="25400" rIns="76200" bIns="25400" rtlCol="0" anchor="ctr">
            <a:noAutofit/>
          </a:bodyPr>
          <a:lstStyle/>
          <a:p>
            <a:pPr>
              <a:lnSpc>
                <a:spcPct val="95000"/>
              </a:lnSpc>
            </a:pPr>
            <a:r>
              <a:rPr lang="en-US" sz="2400" b="1" u="sng">
                <a:solidFill>
                  <a:srgbClr val="FFFFFF"/>
                </a:solidFill>
                <a:latin typeface="Aptos Display" panose="020B0004020202020204" pitchFamily="34" charset="0"/>
              </a:rPr>
              <a:t>4.11 · R ACC – L ACC · Not just a shared signal</a:t>
            </a:r>
          </a:p>
        </p:txBody>
      </p:sp>
    </p:spTree>
    <p:extLst>
      <p:ext uri="{BB962C8B-B14F-4D97-AF65-F5344CB8AC3E}">
        <p14:creationId xmlns:p14="http://schemas.microsoft.com/office/powerpoint/2010/main" val="200675663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tage">
            <a:extLst>
              <a:ext uri="{FF2B5EF4-FFF2-40B4-BE49-F238E27FC236}">
                <a16:creationId xmlns:a16="http://schemas.microsoft.com/office/drawing/2014/main" id="{7A9868BF-AD0D-E18B-EA0F-6F1C61F0A101}"/>
              </a:ext>
            </a:extLst>
          </p:cNvPr>
          <p:cNvSpPr/>
          <p:nvPr/>
        </p:nvSpPr>
        <p:spPr>
          <a:xfrm>
            <a:off x="0" y="685800"/>
            <a:ext cx="7670800" cy="6172200"/>
          </a:xfrm>
          <a:prstGeom prst="rect">
            <a:avLst/>
          </a:prstGeom>
          <a:solidFill>
            <a:srgbClr val="ECEC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F4_11">
            <a:extLst>
              <a:ext uri="{FF2B5EF4-FFF2-40B4-BE49-F238E27FC236}">
                <a16:creationId xmlns:a16="http://schemas.microsoft.com/office/drawing/2014/main" id="{E22EEA94-33F4-B194-13BD-FC5DDB98813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0689347" y="1658375"/>
            <a:ext cx="18094144" cy="4944281"/>
          </a:xfrm>
          <a:prstGeom prst="rect">
            <a:avLst/>
          </a:prstGeom>
          <a:ln w="9525">
            <a:solidFill>
              <a:srgbClr val="B0B0B0"/>
            </a:solidFill>
          </a:ln>
        </p:spPr>
      </p:pic>
      <p:sp>
        <p:nvSpPr>
          <p:cNvPr id="5" name="!!D1">
            <a:extLst>
              <a:ext uri="{FF2B5EF4-FFF2-40B4-BE49-F238E27FC236}">
                <a16:creationId xmlns:a16="http://schemas.microsoft.com/office/drawing/2014/main" id="{5A5FDEC3-0178-2580-AB2F-226EB9198BDD}"/>
              </a:ext>
            </a:extLst>
          </p:cNvPr>
          <p:cNvSpPr/>
          <p:nvPr/>
        </p:nvSpPr>
        <p:spPr>
          <a:xfrm>
            <a:off x="0" y="685800"/>
            <a:ext cx="7670800" cy="1046069"/>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2">
            <a:extLst>
              <a:ext uri="{FF2B5EF4-FFF2-40B4-BE49-F238E27FC236}">
                <a16:creationId xmlns:a16="http://schemas.microsoft.com/office/drawing/2014/main" id="{7953FCA6-24E5-6984-BC24-C6655CC97CB0}"/>
              </a:ext>
            </a:extLst>
          </p:cNvPr>
          <p:cNvSpPr/>
          <p:nvPr/>
        </p:nvSpPr>
        <p:spPr>
          <a:xfrm>
            <a:off x="0" y="5837331"/>
            <a:ext cx="7670800" cy="1020669"/>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3">
            <a:extLst>
              <a:ext uri="{FF2B5EF4-FFF2-40B4-BE49-F238E27FC236}">
                <a16:creationId xmlns:a16="http://schemas.microsoft.com/office/drawing/2014/main" id="{90A84116-8D03-F36B-B5A7-B63F6BE1BFFC}"/>
              </a:ext>
            </a:extLst>
          </p:cNvPr>
          <p:cNvSpPr/>
          <p:nvPr/>
        </p:nvSpPr>
        <p:spPr>
          <a:xfrm>
            <a:off x="0" y="1731869"/>
            <a:ext cx="262509" cy="4105462"/>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4">
            <a:extLst>
              <a:ext uri="{FF2B5EF4-FFF2-40B4-BE49-F238E27FC236}">
                <a16:creationId xmlns:a16="http://schemas.microsoft.com/office/drawing/2014/main" id="{DE070670-BB04-6C19-D862-2E4282F1E57E}"/>
              </a:ext>
            </a:extLst>
          </p:cNvPr>
          <p:cNvSpPr/>
          <p:nvPr/>
        </p:nvSpPr>
        <p:spPr>
          <a:xfrm>
            <a:off x="7433691" y="1731869"/>
            <a:ext cx="237109" cy="4105462"/>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ocus">
            <a:extLst>
              <a:ext uri="{FF2B5EF4-FFF2-40B4-BE49-F238E27FC236}">
                <a16:creationId xmlns:a16="http://schemas.microsoft.com/office/drawing/2014/main" id="{0A75204B-087D-43CE-01BC-6DBB9B4DA2EF}"/>
              </a:ext>
            </a:extLst>
          </p:cNvPr>
          <p:cNvSpPr/>
          <p:nvPr/>
        </p:nvSpPr>
        <p:spPr>
          <a:xfrm>
            <a:off x="485697" y="1856163"/>
            <a:ext cx="3619528" cy="3856874"/>
          </a:xfrm>
          <a:prstGeom prst="rect">
            <a:avLst/>
          </a:prstGeom>
          <a:solidFill>
            <a:srgbClr val="83CBEB">
              <a:alpha val="37000"/>
            </a:srgbClr>
          </a:solidFill>
          <a:ln w="38100">
            <a:solidFill>
              <a:srgbClr val="46B1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ocus2">
            <a:extLst>
              <a:ext uri="{FF2B5EF4-FFF2-40B4-BE49-F238E27FC236}">
                <a16:creationId xmlns:a16="http://schemas.microsoft.com/office/drawing/2014/main" id="{17AF2CC2-68B1-95C6-B513-C2D4BA95402C}"/>
              </a:ext>
            </a:extLst>
          </p:cNvPr>
          <p:cNvSpPr/>
          <p:nvPr/>
        </p:nvSpPr>
        <p:spPr>
          <a:xfrm>
            <a:off x="4184340" y="1856163"/>
            <a:ext cx="3223951" cy="3856874"/>
          </a:xfrm>
          <a:prstGeom prst="rect">
            <a:avLst/>
          </a:prstGeom>
          <a:solidFill>
            <a:srgbClr val="83CBEB">
              <a:alpha val="37000"/>
            </a:srgbClr>
          </a:solidFill>
          <a:ln w="38100">
            <a:solidFill>
              <a:srgbClr val="46B1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ail">
            <a:extLst>
              <a:ext uri="{FF2B5EF4-FFF2-40B4-BE49-F238E27FC236}">
                <a16:creationId xmlns:a16="http://schemas.microsoft.com/office/drawing/2014/main" id="{7274610C-C0A8-6524-CB85-95AF9390CFB9}"/>
              </a:ext>
            </a:extLst>
          </p:cNvPr>
          <p:cNvSpPr/>
          <p:nvPr/>
        </p:nvSpPr>
        <p:spPr>
          <a:xfrm>
            <a:off x="7670800" y="685800"/>
            <a:ext cx="4521200" cy="61722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N99">
            <a:extLst>
              <a:ext uri="{FF2B5EF4-FFF2-40B4-BE49-F238E27FC236}">
                <a16:creationId xmlns:a16="http://schemas.microsoft.com/office/drawing/2014/main" id="{376F25FB-C4BF-9A78-6767-3693CE63683B}"/>
              </a:ext>
            </a:extLst>
          </p:cNvPr>
          <p:cNvSpPr/>
          <p:nvPr/>
        </p:nvSpPr>
        <p:spPr>
          <a:xfrm>
            <a:off x="7797800" y="838200"/>
            <a:ext cx="4241800" cy="795528"/>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Coupling with a real delay, R ACC with L ACC (imaginary coherence): cue − baseline was higher on Precon4 than on Precon1.</a:t>
            </a:r>
          </a:p>
        </p:txBody>
      </p:sp>
      <p:sp>
        <p:nvSpPr>
          <p:cNvPr id="13" name="!!N100">
            <a:extLst>
              <a:ext uri="{FF2B5EF4-FFF2-40B4-BE49-F238E27FC236}">
                <a16:creationId xmlns:a16="http://schemas.microsoft.com/office/drawing/2014/main" id="{F963F14C-C742-CCC4-15A2-F78BBEF14C2E}"/>
              </a:ext>
            </a:extLst>
          </p:cNvPr>
          <p:cNvSpPr/>
          <p:nvPr/>
        </p:nvSpPr>
        <p:spPr>
          <a:xfrm>
            <a:off x="7797800" y="1748028"/>
            <a:ext cx="4241800" cy="107899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FP P = 0.064. Shuffles P = 0.077. t-test P = 0.027 (8 rats). One test only: a weaker lead.</a:t>
            </a:r>
          </a:p>
        </p:txBody>
      </p:sp>
      <p:sp>
        <p:nvSpPr>
          <p:cNvPr id="14" name="!!N101">
            <a:extLst>
              <a:ext uri="{FF2B5EF4-FFF2-40B4-BE49-F238E27FC236}">
                <a16:creationId xmlns:a16="http://schemas.microsoft.com/office/drawing/2014/main" id="{97DFC862-D766-1F50-A3D5-2BC3F5EBDA09}"/>
              </a:ext>
            </a:extLst>
          </p:cNvPr>
          <p:cNvSpPr/>
          <p:nvPr/>
        </p:nvSpPr>
        <p:spPr>
          <a:xfrm>
            <a:off x="12573000" y="838200"/>
            <a:ext cx="4241800" cy="107899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Theta in R ACC pacing gamma in L OFC (PAC): cue − baseline was higher on Precon4 than on Precon1.</a:t>
            </a:r>
          </a:p>
        </p:txBody>
      </p:sp>
      <p:sp>
        <p:nvSpPr>
          <p:cNvPr id="15" name="!!T-BG">
            <a:extLst>
              <a:ext uri="{FF2B5EF4-FFF2-40B4-BE49-F238E27FC236}">
                <a16:creationId xmlns:a16="http://schemas.microsoft.com/office/drawing/2014/main" id="{2F12AF03-EFB4-8496-D971-AF9A4FC2578D}"/>
              </a:ext>
            </a:extLst>
          </p:cNvPr>
          <p:cNvSpPr/>
          <p:nvPr/>
        </p:nvSpPr>
        <p:spPr>
          <a:xfrm>
            <a:off x="-381000" y="0"/>
            <a:ext cx="12954000" cy="685800"/>
          </a:xfrm>
          <a:prstGeom prst="snip2DiagRect">
            <a:avLst>
              <a:gd name="adj1" fmla="val 0"/>
              <a:gd name="adj2" fmla="val 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
            <a:extLst>
              <a:ext uri="{FF2B5EF4-FFF2-40B4-BE49-F238E27FC236}">
                <a16:creationId xmlns:a16="http://schemas.microsoft.com/office/drawing/2014/main" id="{53460D14-12D0-3F91-6FB7-7B4CB3BDDD21}"/>
              </a:ext>
            </a:extLst>
          </p:cNvPr>
          <p:cNvSpPr txBox="1"/>
          <p:nvPr/>
        </p:nvSpPr>
        <p:spPr>
          <a:xfrm>
            <a:off x="127000" y="0"/>
            <a:ext cx="11811000" cy="685800"/>
          </a:xfrm>
          <a:prstGeom prst="rect">
            <a:avLst/>
          </a:prstGeom>
          <a:noFill/>
        </p:spPr>
        <p:txBody>
          <a:bodyPr vert="horz" wrap="square" lIns="76200" tIns="25400" rIns="76200" bIns="25400" rtlCol="0" anchor="ctr">
            <a:noAutofit/>
          </a:bodyPr>
          <a:lstStyle/>
          <a:p>
            <a:pPr>
              <a:lnSpc>
                <a:spcPct val="95000"/>
              </a:lnSpc>
            </a:pPr>
            <a:r>
              <a:rPr lang="en-US" sz="2400" b="1" u="sng">
                <a:solidFill>
                  <a:srgbClr val="FFFFFF"/>
                </a:solidFill>
                <a:latin typeface="Aptos Display" panose="020B0004020202020204" pitchFamily="34" charset="0"/>
              </a:rPr>
              <a:t>4.11 · R ACC – L ACC · Not just a shared signal</a:t>
            </a:r>
          </a:p>
        </p:txBody>
      </p:sp>
    </p:spTree>
    <p:extLst>
      <p:ext uri="{BB962C8B-B14F-4D97-AF65-F5344CB8AC3E}">
        <p14:creationId xmlns:p14="http://schemas.microsoft.com/office/powerpoint/2010/main" val="318101843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tage">
            <a:extLst>
              <a:ext uri="{FF2B5EF4-FFF2-40B4-BE49-F238E27FC236}">
                <a16:creationId xmlns:a16="http://schemas.microsoft.com/office/drawing/2014/main" id="{BF06CD27-DEFF-D34D-FC66-67A23B13E3A1}"/>
              </a:ext>
            </a:extLst>
          </p:cNvPr>
          <p:cNvSpPr/>
          <p:nvPr/>
        </p:nvSpPr>
        <p:spPr>
          <a:xfrm>
            <a:off x="0" y="685800"/>
            <a:ext cx="7670800" cy="6172200"/>
          </a:xfrm>
          <a:prstGeom prst="rect">
            <a:avLst/>
          </a:prstGeom>
          <a:solidFill>
            <a:srgbClr val="ECEC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F4_12">
            <a:extLst>
              <a:ext uri="{FF2B5EF4-FFF2-40B4-BE49-F238E27FC236}">
                <a16:creationId xmlns:a16="http://schemas.microsoft.com/office/drawing/2014/main" id="{8A819AAC-9326-60C7-6683-DC10EED1D004}"/>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287909" y="2034159"/>
            <a:ext cx="7120382" cy="3500882"/>
          </a:xfrm>
          <a:prstGeom prst="rect">
            <a:avLst/>
          </a:prstGeom>
          <a:ln w="9525">
            <a:solidFill>
              <a:srgbClr val="B0B0B0"/>
            </a:solidFill>
          </a:ln>
        </p:spPr>
      </p:pic>
      <p:sp>
        <p:nvSpPr>
          <p:cNvPr id="5" name="!!D1">
            <a:extLst>
              <a:ext uri="{FF2B5EF4-FFF2-40B4-BE49-F238E27FC236}">
                <a16:creationId xmlns:a16="http://schemas.microsoft.com/office/drawing/2014/main" id="{27D661FA-232A-E66F-7CD6-F9F1220451D5}"/>
              </a:ext>
            </a:extLst>
          </p:cNvPr>
          <p:cNvSpPr/>
          <p:nvPr/>
        </p:nvSpPr>
        <p:spPr>
          <a:xfrm>
            <a:off x="0" y="685800"/>
            <a:ext cx="7670800" cy="635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2">
            <a:extLst>
              <a:ext uri="{FF2B5EF4-FFF2-40B4-BE49-F238E27FC236}">
                <a16:creationId xmlns:a16="http://schemas.microsoft.com/office/drawing/2014/main" id="{2BB68F87-2405-B59D-F805-4BD9162876EA}"/>
              </a:ext>
            </a:extLst>
          </p:cNvPr>
          <p:cNvSpPr/>
          <p:nvPr/>
        </p:nvSpPr>
        <p:spPr>
          <a:xfrm>
            <a:off x="0" y="6858000"/>
            <a:ext cx="7670800" cy="635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3">
            <a:extLst>
              <a:ext uri="{FF2B5EF4-FFF2-40B4-BE49-F238E27FC236}">
                <a16:creationId xmlns:a16="http://schemas.microsoft.com/office/drawing/2014/main" id="{98C2B3F6-C8E3-40D9-135A-55F387C5CB58}"/>
              </a:ext>
            </a:extLst>
          </p:cNvPr>
          <p:cNvSpPr/>
          <p:nvPr/>
        </p:nvSpPr>
        <p:spPr>
          <a:xfrm>
            <a:off x="0" y="685800"/>
            <a:ext cx="6350" cy="617220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4">
            <a:extLst>
              <a:ext uri="{FF2B5EF4-FFF2-40B4-BE49-F238E27FC236}">
                <a16:creationId xmlns:a16="http://schemas.microsoft.com/office/drawing/2014/main" id="{42DB3950-40A3-6C5B-CAE1-A3D89078FE04}"/>
              </a:ext>
            </a:extLst>
          </p:cNvPr>
          <p:cNvSpPr/>
          <p:nvPr/>
        </p:nvSpPr>
        <p:spPr>
          <a:xfrm>
            <a:off x="7670800" y="685800"/>
            <a:ext cx="6350" cy="617220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ocus">
            <a:extLst>
              <a:ext uri="{FF2B5EF4-FFF2-40B4-BE49-F238E27FC236}">
                <a16:creationId xmlns:a16="http://schemas.microsoft.com/office/drawing/2014/main" id="{123E8C32-4FBE-86C0-76D1-7AE02AE1D461}"/>
              </a:ext>
            </a:extLst>
          </p:cNvPr>
          <p:cNvSpPr/>
          <p:nvPr/>
        </p:nvSpPr>
        <p:spPr>
          <a:xfrm>
            <a:off x="4685497" y="2111992"/>
            <a:ext cx="1424351" cy="1517752"/>
          </a:xfrm>
          <a:prstGeom prst="rect">
            <a:avLst/>
          </a:prstGeom>
          <a:solidFill>
            <a:srgbClr val="83CBEB">
              <a:alpha val="37000"/>
            </a:srgbClr>
          </a:solidFill>
          <a:ln w="38100">
            <a:solidFill>
              <a:srgbClr val="46B1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ail">
            <a:extLst>
              <a:ext uri="{FF2B5EF4-FFF2-40B4-BE49-F238E27FC236}">
                <a16:creationId xmlns:a16="http://schemas.microsoft.com/office/drawing/2014/main" id="{7DA5A71E-8AFF-2DD0-B4B6-D730BE43A3BF}"/>
              </a:ext>
            </a:extLst>
          </p:cNvPr>
          <p:cNvSpPr/>
          <p:nvPr/>
        </p:nvSpPr>
        <p:spPr>
          <a:xfrm>
            <a:off x="7670800" y="685800"/>
            <a:ext cx="4521200" cy="61722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N101">
            <a:extLst>
              <a:ext uri="{FF2B5EF4-FFF2-40B4-BE49-F238E27FC236}">
                <a16:creationId xmlns:a16="http://schemas.microsoft.com/office/drawing/2014/main" id="{D678189E-C91F-8EDB-0FE4-FB1743A3E0C4}"/>
              </a:ext>
            </a:extLst>
          </p:cNvPr>
          <p:cNvSpPr/>
          <p:nvPr/>
        </p:nvSpPr>
        <p:spPr>
          <a:xfrm>
            <a:off x="7797800" y="838200"/>
            <a:ext cx="4241800" cy="107899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Theta in R ACC pacing gamma in L OFC (PAC): cue − baseline was higher on Precon4 than on Precon1.</a:t>
            </a:r>
          </a:p>
        </p:txBody>
      </p:sp>
      <p:sp>
        <p:nvSpPr>
          <p:cNvPr id="12" name="!!N102">
            <a:extLst>
              <a:ext uri="{FF2B5EF4-FFF2-40B4-BE49-F238E27FC236}">
                <a16:creationId xmlns:a16="http://schemas.microsoft.com/office/drawing/2014/main" id="{D3852645-8E5F-A7DD-3A6A-EA72917C8487}"/>
              </a:ext>
            </a:extLst>
          </p:cNvPr>
          <p:cNvSpPr/>
          <p:nvPr/>
        </p:nvSpPr>
        <p:spPr>
          <a:xfrm>
            <a:off x="12573000" y="1559052"/>
            <a:ext cx="4241800" cy="107899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FP P = 0.179. Shuffles P = 0.187. t-test P = 0.010 (8 rats). One test only: a weaker lead.</a:t>
            </a:r>
          </a:p>
        </p:txBody>
      </p:sp>
      <p:sp>
        <p:nvSpPr>
          <p:cNvPr id="13" name="!!N99">
            <a:extLst>
              <a:ext uri="{FF2B5EF4-FFF2-40B4-BE49-F238E27FC236}">
                <a16:creationId xmlns:a16="http://schemas.microsoft.com/office/drawing/2014/main" id="{955C20D1-EC66-A2B5-06E1-13699BEB19AB}"/>
              </a:ext>
            </a:extLst>
          </p:cNvPr>
          <p:cNvSpPr/>
          <p:nvPr/>
        </p:nvSpPr>
        <p:spPr>
          <a:xfrm>
            <a:off x="12573000" y="838200"/>
            <a:ext cx="4241800" cy="795528"/>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Coupling with a real delay, R ACC with L ACC (imaginary coherence): cue − baseline was higher on Precon4 than on Precon1.</a:t>
            </a:r>
          </a:p>
        </p:txBody>
      </p:sp>
      <p:sp>
        <p:nvSpPr>
          <p:cNvPr id="14" name="!!N100">
            <a:extLst>
              <a:ext uri="{FF2B5EF4-FFF2-40B4-BE49-F238E27FC236}">
                <a16:creationId xmlns:a16="http://schemas.microsoft.com/office/drawing/2014/main" id="{0A1D9342-84FC-54AD-72E6-F91AF85949D1}"/>
              </a:ext>
            </a:extLst>
          </p:cNvPr>
          <p:cNvSpPr/>
          <p:nvPr/>
        </p:nvSpPr>
        <p:spPr>
          <a:xfrm>
            <a:off x="12573000" y="1748028"/>
            <a:ext cx="4241800" cy="107899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FP P = 0.064. Shuffles P = 0.077. t-test P = 0.027 (8 rats). One test only: a weaker lead.</a:t>
            </a:r>
          </a:p>
        </p:txBody>
      </p:sp>
      <p:sp>
        <p:nvSpPr>
          <p:cNvPr id="15" name="!!T-BG">
            <a:extLst>
              <a:ext uri="{FF2B5EF4-FFF2-40B4-BE49-F238E27FC236}">
                <a16:creationId xmlns:a16="http://schemas.microsoft.com/office/drawing/2014/main" id="{B8B82C02-640F-4608-9818-E2C32EF025C9}"/>
              </a:ext>
            </a:extLst>
          </p:cNvPr>
          <p:cNvSpPr/>
          <p:nvPr/>
        </p:nvSpPr>
        <p:spPr>
          <a:xfrm>
            <a:off x="-381000" y="0"/>
            <a:ext cx="12954000" cy="685800"/>
          </a:xfrm>
          <a:prstGeom prst="snip2DiagRect">
            <a:avLst>
              <a:gd name="adj1" fmla="val 0"/>
              <a:gd name="adj2" fmla="val 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
            <a:extLst>
              <a:ext uri="{FF2B5EF4-FFF2-40B4-BE49-F238E27FC236}">
                <a16:creationId xmlns:a16="http://schemas.microsoft.com/office/drawing/2014/main" id="{CDB1F70E-3F03-60F2-DFD9-5862F88043B2}"/>
              </a:ext>
            </a:extLst>
          </p:cNvPr>
          <p:cNvSpPr txBox="1"/>
          <p:nvPr/>
        </p:nvSpPr>
        <p:spPr>
          <a:xfrm>
            <a:off x="127000" y="0"/>
            <a:ext cx="11811000" cy="685800"/>
          </a:xfrm>
          <a:prstGeom prst="rect">
            <a:avLst/>
          </a:prstGeom>
          <a:noFill/>
        </p:spPr>
        <p:txBody>
          <a:bodyPr vert="horz" wrap="square" lIns="76200" tIns="25400" rIns="76200" bIns="25400" rtlCol="0" anchor="ctr">
            <a:noAutofit/>
          </a:bodyPr>
          <a:lstStyle/>
          <a:p>
            <a:pPr>
              <a:lnSpc>
                <a:spcPct val="95000"/>
              </a:lnSpc>
            </a:pPr>
            <a:r>
              <a:rPr lang="en-US" sz="2400" b="1" u="sng">
                <a:solidFill>
                  <a:srgbClr val="FFFFFF"/>
                </a:solidFill>
                <a:latin typeface="Aptos Display" panose="020B0004020202020204" pitchFamily="34" charset="0"/>
              </a:rPr>
              <a:t>4.12 · R ACC – L OFC · Theta paces gamma</a:t>
            </a:r>
          </a:p>
        </p:txBody>
      </p:sp>
    </p:spTree>
    <p:extLst>
      <p:ext uri="{BB962C8B-B14F-4D97-AF65-F5344CB8AC3E}">
        <p14:creationId xmlns:p14="http://schemas.microsoft.com/office/powerpoint/2010/main" val="309533281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tage">
            <a:extLst>
              <a:ext uri="{FF2B5EF4-FFF2-40B4-BE49-F238E27FC236}">
                <a16:creationId xmlns:a16="http://schemas.microsoft.com/office/drawing/2014/main" id="{D1919231-6E34-068F-9C8E-E3D3FB077DBD}"/>
              </a:ext>
            </a:extLst>
          </p:cNvPr>
          <p:cNvSpPr/>
          <p:nvPr/>
        </p:nvSpPr>
        <p:spPr>
          <a:xfrm>
            <a:off x="0" y="685800"/>
            <a:ext cx="7670800" cy="6172200"/>
          </a:xfrm>
          <a:prstGeom prst="rect">
            <a:avLst/>
          </a:prstGeom>
          <a:solidFill>
            <a:srgbClr val="ECEC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F4_12">
            <a:extLst>
              <a:ext uri="{FF2B5EF4-FFF2-40B4-BE49-F238E27FC236}">
                <a16:creationId xmlns:a16="http://schemas.microsoft.com/office/drawing/2014/main" id="{581C6770-CC36-E42D-3803-24E05ACD4A00}"/>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0689347" y="1658375"/>
            <a:ext cx="18094144" cy="8896357"/>
          </a:xfrm>
          <a:prstGeom prst="rect">
            <a:avLst/>
          </a:prstGeom>
          <a:ln w="9525">
            <a:solidFill>
              <a:srgbClr val="B0B0B0"/>
            </a:solidFill>
          </a:ln>
        </p:spPr>
      </p:pic>
      <p:sp>
        <p:nvSpPr>
          <p:cNvPr id="5" name="!!D1">
            <a:extLst>
              <a:ext uri="{FF2B5EF4-FFF2-40B4-BE49-F238E27FC236}">
                <a16:creationId xmlns:a16="http://schemas.microsoft.com/office/drawing/2014/main" id="{B4D8F72C-BF3D-406D-54EF-2B555AB61257}"/>
              </a:ext>
            </a:extLst>
          </p:cNvPr>
          <p:cNvSpPr/>
          <p:nvPr/>
        </p:nvSpPr>
        <p:spPr>
          <a:xfrm>
            <a:off x="0" y="685800"/>
            <a:ext cx="7670800" cy="1046069"/>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2">
            <a:extLst>
              <a:ext uri="{FF2B5EF4-FFF2-40B4-BE49-F238E27FC236}">
                <a16:creationId xmlns:a16="http://schemas.microsoft.com/office/drawing/2014/main" id="{3B856D43-C2BA-5257-42BB-D611E29996DB}"/>
              </a:ext>
            </a:extLst>
          </p:cNvPr>
          <p:cNvSpPr/>
          <p:nvPr/>
        </p:nvSpPr>
        <p:spPr>
          <a:xfrm>
            <a:off x="0" y="5837331"/>
            <a:ext cx="7670800" cy="1020669"/>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3">
            <a:extLst>
              <a:ext uri="{FF2B5EF4-FFF2-40B4-BE49-F238E27FC236}">
                <a16:creationId xmlns:a16="http://schemas.microsoft.com/office/drawing/2014/main" id="{442EFF04-79B4-FFCE-AF70-221EA452037B}"/>
              </a:ext>
            </a:extLst>
          </p:cNvPr>
          <p:cNvSpPr/>
          <p:nvPr/>
        </p:nvSpPr>
        <p:spPr>
          <a:xfrm>
            <a:off x="0" y="1731869"/>
            <a:ext cx="262509" cy="4105462"/>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4">
            <a:extLst>
              <a:ext uri="{FF2B5EF4-FFF2-40B4-BE49-F238E27FC236}">
                <a16:creationId xmlns:a16="http://schemas.microsoft.com/office/drawing/2014/main" id="{9E8FF758-56BF-17D7-F378-65F07EC757D7}"/>
              </a:ext>
            </a:extLst>
          </p:cNvPr>
          <p:cNvSpPr/>
          <p:nvPr/>
        </p:nvSpPr>
        <p:spPr>
          <a:xfrm>
            <a:off x="7433691" y="1731869"/>
            <a:ext cx="237109" cy="4105462"/>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ocus">
            <a:extLst>
              <a:ext uri="{FF2B5EF4-FFF2-40B4-BE49-F238E27FC236}">
                <a16:creationId xmlns:a16="http://schemas.microsoft.com/office/drawing/2014/main" id="{C8E77047-C134-DB26-D5F3-426546FBA969}"/>
              </a:ext>
            </a:extLst>
          </p:cNvPr>
          <p:cNvSpPr/>
          <p:nvPr/>
        </p:nvSpPr>
        <p:spPr>
          <a:xfrm>
            <a:off x="485697" y="1856163"/>
            <a:ext cx="3619528" cy="3856874"/>
          </a:xfrm>
          <a:prstGeom prst="rect">
            <a:avLst/>
          </a:prstGeom>
          <a:solidFill>
            <a:srgbClr val="83CBEB">
              <a:alpha val="37000"/>
            </a:srgbClr>
          </a:solidFill>
          <a:ln w="38100">
            <a:solidFill>
              <a:srgbClr val="46B1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ocus2">
            <a:extLst>
              <a:ext uri="{FF2B5EF4-FFF2-40B4-BE49-F238E27FC236}">
                <a16:creationId xmlns:a16="http://schemas.microsoft.com/office/drawing/2014/main" id="{9B6D7564-AD59-0A97-6974-6C999B271930}"/>
              </a:ext>
            </a:extLst>
          </p:cNvPr>
          <p:cNvSpPr/>
          <p:nvPr/>
        </p:nvSpPr>
        <p:spPr>
          <a:xfrm>
            <a:off x="4184340" y="1856163"/>
            <a:ext cx="3223951" cy="3856874"/>
          </a:xfrm>
          <a:prstGeom prst="rect">
            <a:avLst/>
          </a:prstGeom>
          <a:solidFill>
            <a:srgbClr val="83CBEB">
              <a:alpha val="37000"/>
            </a:srgbClr>
          </a:solidFill>
          <a:ln w="38100">
            <a:solidFill>
              <a:srgbClr val="46B1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ail">
            <a:extLst>
              <a:ext uri="{FF2B5EF4-FFF2-40B4-BE49-F238E27FC236}">
                <a16:creationId xmlns:a16="http://schemas.microsoft.com/office/drawing/2014/main" id="{1A5C2886-1F16-DEA3-217C-394D52088483}"/>
              </a:ext>
            </a:extLst>
          </p:cNvPr>
          <p:cNvSpPr/>
          <p:nvPr/>
        </p:nvSpPr>
        <p:spPr>
          <a:xfrm>
            <a:off x="7670800" y="685800"/>
            <a:ext cx="4521200" cy="61722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N101">
            <a:extLst>
              <a:ext uri="{FF2B5EF4-FFF2-40B4-BE49-F238E27FC236}">
                <a16:creationId xmlns:a16="http://schemas.microsoft.com/office/drawing/2014/main" id="{5D817062-9A89-B65E-CD5B-C8BF76956A7C}"/>
              </a:ext>
            </a:extLst>
          </p:cNvPr>
          <p:cNvSpPr/>
          <p:nvPr/>
        </p:nvSpPr>
        <p:spPr>
          <a:xfrm>
            <a:off x="7797800" y="838200"/>
            <a:ext cx="4241800" cy="60655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Theta in R ACC pacing gamma in L OFC (PAC): cue − baseline was higher on Precon4 than on Precon1.</a:t>
            </a:r>
          </a:p>
        </p:txBody>
      </p:sp>
      <p:sp>
        <p:nvSpPr>
          <p:cNvPr id="13" name="!!N102">
            <a:extLst>
              <a:ext uri="{FF2B5EF4-FFF2-40B4-BE49-F238E27FC236}">
                <a16:creationId xmlns:a16="http://schemas.microsoft.com/office/drawing/2014/main" id="{F6288811-FD37-1E6C-64ED-EF34A5AF876E}"/>
              </a:ext>
            </a:extLst>
          </p:cNvPr>
          <p:cNvSpPr/>
          <p:nvPr/>
        </p:nvSpPr>
        <p:spPr>
          <a:xfrm>
            <a:off x="7797800" y="1559052"/>
            <a:ext cx="4241800" cy="107899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FP P = 0.179. Shuffles P = 0.187. t-test P = 0.010 (8 rats). One test only: a weaker lead.</a:t>
            </a:r>
          </a:p>
        </p:txBody>
      </p:sp>
      <p:sp>
        <p:nvSpPr>
          <p:cNvPr id="14" name="!!N103">
            <a:extLst>
              <a:ext uri="{FF2B5EF4-FFF2-40B4-BE49-F238E27FC236}">
                <a16:creationId xmlns:a16="http://schemas.microsoft.com/office/drawing/2014/main" id="{FDF29911-0DD7-F47A-698C-76570AA4869C}"/>
              </a:ext>
            </a:extLst>
          </p:cNvPr>
          <p:cNvSpPr/>
          <p:nvPr/>
        </p:nvSpPr>
        <p:spPr>
          <a:xfrm>
            <a:off x="12573000" y="838200"/>
            <a:ext cx="4241800" cy="1645920"/>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Its roses: L OFC gamma around the R ACC theta cycle, averaged over trials and rats, Precon1 then Precon4. Where in the cycle, not how much: c is the result.</a:t>
            </a:r>
          </a:p>
        </p:txBody>
      </p:sp>
      <p:sp>
        <p:nvSpPr>
          <p:cNvPr id="15" name="!!T-BG">
            <a:extLst>
              <a:ext uri="{FF2B5EF4-FFF2-40B4-BE49-F238E27FC236}">
                <a16:creationId xmlns:a16="http://schemas.microsoft.com/office/drawing/2014/main" id="{5DB6EBBA-6A5F-B442-BCA3-27D09135614F}"/>
              </a:ext>
            </a:extLst>
          </p:cNvPr>
          <p:cNvSpPr/>
          <p:nvPr/>
        </p:nvSpPr>
        <p:spPr>
          <a:xfrm>
            <a:off x="-381000" y="0"/>
            <a:ext cx="12954000" cy="685800"/>
          </a:xfrm>
          <a:prstGeom prst="snip2DiagRect">
            <a:avLst>
              <a:gd name="adj1" fmla="val 0"/>
              <a:gd name="adj2" fmla="val 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
            <a:extLst>
              <a:ext uri="{FF2B5EF4-FFF2-40B4-BE49-F238E27FC236}">
                <a16:creationId xmlns:a16="http://schemas.microsoft.com/office/drawing/2014/main" id="{DBF7AE06-A36A-3B18-ED49-C44E787803CE}"/>
              </a:ext>
            </a:extLst>
          </p:cNvPr>
          <p:cNvSpPr txBox="1"/>
          <p:nvPr/>
        </p:nvSpPr>
        <p:spPr>
          <a:xfrm>
            <a:off x="127000" y="0"/>
            <a:ext cx="11811000" cy="685800"/>
          </a:xfrm>
          <a:prstGeom prst="rect">
            <a:avLst/>
          </a:prstGeom>
          <a:noFill/>
        </p:spPr>
        <p:txBody>
          <a:bodyPr vert="horz" wrap="square" lIns="76200" tIns="25400" rIns="76200" bIns="25400" rtlCol="0" anchor="ctr">
            <a:noAutofit/>
          </a:bodyPr>
          <a:lstStyle/>
          <a:p>
            <a:pPr>
              <a:lnSpc>
                <a:spcPct val="95000"/>
              </a:lnSpc>
            </a:pPr>
            <a:r>
              <a:rPr lang="en-US" sz="2400" b="1" u="sng">
                <a:solidFill>
                  <a:srgbClr val="FFFFFF"/>
                </a:solidFill>
                <a:latin typeface="Aptos Display" panose="020B0004020202020204" pitchFamily="34" charset="0"/>
              </a:rPr>
              <a:t>4.12 · R ACC – L OFC · Theta paces gamma</a:t>
            </a:r>
          </a:p>
        </p:txBody>
      </p:sp>
    </p:spTree>
    <p:extLst>
      <p:ext uri="{BB962C8B-B14F-4D97-AF65-F5344CB8AC3E}">
        <p14:creationId xmlns:p14="http://schemas.microsoft.com/office/powerpoint/2010/main" val="271770183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tage">
            <a:extLst>
              <a:ext uri="{FF2B5EF4-FFF2-40B4-BE49-F238E27FC236}">
                <a16:creationId xmlns:a16="http://schemas.microsoft.com/office/drawing/2014/main" id="{2EA34CF6-6EAB-8D94-2DE1-6A7FCC07DF78}"/>
              </a:ext>
            </a:extLst>
          </p:cNvPr>
          <p:cNvSpPr/>
          <p:nvPr/>
        </p:nvSpPr>
        <p:spPr>
          <a:xfrm>
            <a:off x="0" y="685800"/>
            <a:ext cx="7670800" cy="6172200"/>
          </a:xfrm>
          <a:prstGeom prst="rect">
            <a:avLst/>
          </a:prstGeom>
          <a:solidFill>
            <a:srgbClr val="ECEC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F4_12">
            <a:extLst>
              <a:ext uri="{FF2B5EF4-FFF2-40B4-BE49-F238E27FC236}">
                <a16:creationId xmlns:a16="http://schemas.microsoft.com/office/drawing/2014/main" id="{54903B0F-140E-7994-E23B-0DDC91252A53}"/>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287909" y="1197139"/>
            <a:ext cx="7119007" cy="3500206"/>
          </a:xfrm>
          <a:prstGeom prst="rect">
            <a:avLst/>
          </a:prstGeom>
          <a:ln w="9525">
            <a:solidFill>
              <a:srgbClr val="B0B0B0"/>
            </a:solidFill>
          </a:ln>
        </p:spPr>
      </p:pic>
      <p:sp>
        <p:nvSpPr>
          <p:cNvPr id="5" name="!!D1">
            <a:extLst>
              <a:ext uri="{FF2B5EF4-FFF2-40B4-BE49-F238E27FC236}">
                <a16:creationId xmlns:a16="http://schemas.microsoft.com/office/drawing/2014/main" id="{410F5200-5D9E-358E-C08D-F21D23AEFA67}"/>
              </a:ext>
            </a:extLst>
          </p:cNvPr>
          <p:cNvSpPr/>
          <p:nvPr/>
        </p:nvSpPr>
        <p:spPr>
          <a:xfrm>
            <a:off x="0" y="685800"/>
            <a:ext cx="7670800" cy="2236852"/>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2">
            <a:extLst>
              <a:ext uri="{FF2B5EF4-FFF2-40B4-BE49-F238E27FC236}">
                <a16:creationId xmlns:a16="http://schemas.microsoft.com/office/drawing/2014/main" id="{17EA680A-E797-B75D-94E4-FD8E7AB2260A}"/>
              </a:ext>
            </a:extLst>
          </p:cNvPr>
          <p:cNvSpPr/>
          <p:nvPr/>
        </p:nvSpPr>
        <p:spPr>
          <a:xfrm>
            <a:off x="0" y="4646548"/>
            <a:ext cx="7670800" cy="2211452"/>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3">
            <a:extLst>
              <a:ext uri="{FF2B5EF4-FFF2-40B4-BE49-F238E27FC236}">
                <a16:creationId xmlns:a16="http://schemas.microsoft.com/office/drawing/2014/main" id="{6E6392DC-E3F6-523A-7E15-D7E2BA3BFD64}"/>
              </a:ext>
            </a:extLst>
          </p:cNvPr>
          <p:cNvSpPr/>
          <p:nvPr/>
        </p:nvSpPr>
        <p:spPr>
          <a:xfrm>
            <a:off x="0" y="2922652"/>
            <a:ext cx="262509" cy="1723895"/>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4">
            <a:extLst>
              <a:ext uri="{FF2B5EF4-FFF2-40B4-BE49-F238E27FC236}">
                <a16:creationId xmlns:a16="http://schemas.microsoft.com/office/drawing/2014/main" id="{53F911EB-E2F4-D33F-8BB1-A595C70512EE}"/>
              </a:ext>
            </a:extLst>
          </p:cNvPr>
          <p:cNvSpPr/>
          <p:nvPr/>
        </p:nvSpPr>
        <p:spPr>
          <a:xfrm>
            <a:off x="7433691" y="2922652"/>
            <a:ext cx="237109" cy="1723895"/>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ocus">
            <a:extLst>
              <a:ext uri="{FF2B5EF4-FFF2-40B4-BE49-F238E27FC236}">
                <a16:creationId xmlns:a16="http://schemas.microsoft.com/office/drawing/2014/main" id="{601BCD99-D6A7-1693-2F4D-AA6525C566DA}"/>
              </a:ext>
            </a:extLst>
          </p:cNvPr>
          <p:cNvSpPr/>
          <p:nvPr/>
        </p:nvSpPr>
        <p:spPr>
          <a:xfrm>
            <a:off x="287909" y="2986962"/>
            <a:ext cx="5019286" cy="1595277"/>
          </a:xfrm>
          <a:prstGeom prst="rect">
            <a:avLst/>
          </a:prstGeom>
          <a:solidFill>
            <a:srgbClr val="83CBEB">
              <a:alpha val="37000"/>
            </a:srgbClr>
          </a:solidFill>
          <a:ln w="38100">
            <a:solidFill>
              <a:srgbClr val="46B1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ail">
            <a:extLst>
              <a:ext uri="{FF2B5EF4-FFF2-40B4-BE49-F238E27FC236}">
                <a16:creationId xmlns:a16="http://schemas.microsoft.com/office/drawing/2014/main" id="{7C814A8F-8A50-8F08-4150-93EB17D95BA7}"/>
              </a:ext>
            </a:extLst>
          </p:cNvPr>
          <p:cNvSpPr/>
          <p:nvPr/>
        </p:nvSpPr>
        <p:spPr>
          <a:xfrm>
            <a:off x="7670800" y="685800"/>
            <a:ext cx="4521200" cy="61722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N103">
            <a:extLst>
              <a:ext uri="{FF2B5EF4-FFF2-40B4-BE49-F238E27FC236}">
                <a16:creationId xmlns:a16="http://schemas.microsoft.com/office/drawing/2014/main" id="{6DD2432D-4B82-7417-EA46-2631D9E5EA68}"/>
              </a:ext>
            </a:extLst>
          </p:cNvPr>
          <p:cNvSpPr/>
          <p:nvPr/>
        </p:nvSpPr>
        <p:spPr>
          <a:xfrm>
            <a:off x="7797800" y="838200"/>
            <a:ext cx="4241800" cy="1645920"/>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Its roses: L OFC gamma around the R ACC theta cycle, averaged over trials and rats, Precon1 then Precon4. Where in the cycle, not how much: c is the result.</a:t>
            </a:r>
          </a:p>
        </p:txBody>
      </p:sp>
      <p:sp>
        <p:nvSpPr>
          <p:cNvPr id="12" name="!!N104">
            <a:extLst>
              <a:ext uri="{FF2B5EF4-FFF2-40B4-BE49-F238E27FC236}">
                <a16:creationId xmlns:a16="http://schemas.microsoft.com/office/drawing/2014/main" id="{096AF72F-E57C-1638-E97A-178E972A7B98}"/>
              </a:ext>
            </a:extLst>
          </p:cNvPr>
          <p:cNvSpPr/>
          <p:nvPr/>
        </p:nvSpPr>
        <p:spPr>
          <a:xfrm>
            <a:off x="12573000" y="838200"/>
            <a:ext cx="4241800" cy="107899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Theta in L RSC pacing gamma in R OFC (PAC): cue − baseline was higher on Precon4 than on Precon1.</a:t>
            </a:r>
          </a:p>
        </p:txBody>
      </p:sp>
      <p:sp>
        <p:nvSpPr>
          <p:cNvPr id="13" name="!!N101">
            <a:extLst>
              <a:ext uri="{FF2B5EF4-FFF2-40B4-BE49-F238E27FC236}">
                <a16:creationId xmlns:a16="http://schemas.microsoft.com/office/drawing/2014/main" id="{7A2CECFC-4F16-37FB-0C8B-3AC33ED76257}"/>
              </a:ext>
            </a:extLst>
          </p:cNvPr>
          <p:cNvSpPr/>
          <p:nvPr/>
        </p:nvSpPr>
        <p:spPr>
          <a:xfrm>
            <a:off x="12573000" y="838200"/>
            <a:ext cx="4241800" cy="60655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Theta in R ACC pacing gamma in L OFC (PAC): cue − baseline was higher on Precon4 than on Precon1.</a:t>
            </a:r>
          </a:p>
        </p:txBody>
      </p:sp>
      <p:sp>
        <p:nvSpPr>
          <p:cNvPr id="14" name="!!N102">
            <a:extLst>
              <a:ext uri="{FF2B5EF4-FFF2-40B4-BE49-F238E27FC236}">
                <a16:creationId xmlns:a16="http://schemas.microsoft.com/office/drawing/2014/main" id="{FFB41C4F-C472-EC42-535A-401B306545FC}"/>
              </a:ext>
            </a:extLst>
          </p:cNvPr>
          <p:cNvSpPr/>
          <p:nvPr/>
        </p:nvSpPr>
        <p:spPr>
          <a:xfrm>
            <a:off x="12573000" y="1559052"/>
            <a:ext cx="4241800" cy="107899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FP P = 0.179. Shuffles P = 0.187. t-test P = 0.010 (8 rats). One test only: a weaker lead.</a:t>
            </a:r>
          </a:p>
        </p:txBody>
      </p:sp>
      <p:sp>
        <p:nvSpPr>
          <p:cNvPr id="15" name="!!T-BG">
            <a:extLst>
              <a:ext uri="{FF2B5EF4-FFF2-40B4-BE49-F238E27FC236}">
                <a16:creationId xmlns:a16="http://schemas.microsoft.com/office/drawing/2014/main" id="{5296A360-B00C-4F33-C07D-B3A30BC27B63}"/>
              </a:ext>
            </a:extLst>
          </p:cNvPr>
          <p:cNvSpPr/>
          <p:nvPr/>
        </p:nvSpPr>
        <p:spPr>
          <a:xfrm>
            <a:off x="-381000" y="0"/>
            <a:ext cx="12954000" cy="685800"/>
          </a:xfrm>
          <a:prstGeom prst="snip2DiagRect">
            <a:avLst>
              <a:gd name="adj1" fmla="val 0"/>
              <a:gd name="adj2" fmla="val 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
            <a:extLst>
              <a:ext uri="{FF2B5EF4-FFF2-40B4-BE49-F238E27FC236}">
                <a16:creationId xmlns:a16="http://schemas.microsoft.com/office/drawing/2014/main" id="{148E449F-132C-3550-E6D1-725C9082208E}"/>
              </a:ext>
            </a:extLst>
          </p:cNvPr>
          <p:cNvSpPr txBox="1"/>
          <p:nvPr/>
        </p:nvSpPr>
        <p:spPr>
          <a:xfrm>
            <a:off x="127000" y="0"/>
            <a:ext cx="11811000" cy="685800"/>
          </a:xfrm>
          <a:prstGeom prst="rect">
            <a:avLst/>
          </a:prstGeom>
          <a:noFill/>
        </p:spPr>
        <p:txBody>
          <a:bodyPr vert="horz" wrap="square" lIns="76200" tIns="25400" rIns="76200" bIns="25400" rtlCol="0" anchor="ctr">
            <a:noAutofit/>
          </a:bodyPr>
          <a:lstStyle/>
          <a:p>
            <a:pPr>
              <a:lnSpc>
                <a:spcPct val="95000"/>
              </a:lnSpc>
            </a:pPr>
            <a:r>
              <a:rPr lang="en-US" sz="2400" b="1" u="sng">
                <a:solidFill>
                  <a:srgbClr val="FFFFFF"/>
                </a:solidFill>
                <a:latin typeface="Aptos Display" panose="020B0004020202020204" pitchFamily="34" charset="0"/>
              </a:rPr>
              <a:t>4.12 · R ACC – L OFC · Theta paces gamma</a:t>
            </a:r>
          </a:p>
        </p:txBody>
      </p:sp>
    </p:spTree>
    <p:extLst>
      <p:ext uri="{BB962C8B-B14F-4D97-AF65-F5344CB8AC3E}">
        <p14:creationId xmlns:p14="http://schemas.microsoft.com/office/powerpoint/2010/main" val="277982413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tage">
            <a:extLst>
              <a:ext uri="{FF2B5EF4-FFF2-40B4-BE49-F238E27FC236}">
                <a16:creationId xmlns:a16="http://schemas.microsoft.com/office/drawing/2014/main" id="{B66BE4D8-2473-31B4-BF3D-D0C3BD9D5BC7}"/>
              </a:ext>
            </a:extLst>
          </p:cNvPr>
          <p:cNvSpPr/>
          <p:nvPr/>
        </p:nvSpPr>
        <p:spPr>
          <a:xfrm>
            <a:off x="0" y="685800"/>
            <a:ext cx="7670800" cy="6172200"/>
          </a:xfrm>
          <a:prstGeom prst="rect">
            <a:avLst/>
          </a:prstGeom>
          <a:solidFill>
            <a:srgbClr val="ECEC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F4_13">
            <a:extLst>
              <a:ext uri="{FF2B5EF4-FFF2-40B4-BE49-F238E27FC236}">
                <a16:creationId xmlns:a16="http://schemas.microsoft.com/office/drawing/2014/main" id="{0D543EEB-8332-A816-ABC2-95E0A59519F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287909" y="2034159"/>
            <a:ext cx="7120382" cy="3500882"/>
          </a:xfrm>
          <a:prstGeom prst="rect">
            <a:avLst/>
          </a:prstGeom>
          <a:ln w="9525">
            <a:solidFill>
              <a:srgbClr val="B0B0B0"/>
            </a:solidFill>
          </a:ln>
        </p:spPr>
      </p:pic>
      <p:sp>
        <p:nvSpPr>
          <p:cNvPr id="5" name="!!D1">
            <a:extLst>
              <a:ext uri="{FF2B5EF4-FFF2-40B4-BE49-F238E27FC236}">
                <a16:creationId xmlns:a16="http://schemas.microsoft.com/office/drawing/2014/main" id="{DFECA208-2D5B-EC2D-5C5C-287222FC4390}"/>
              </a:ext>
            </a:extLst>
          </p:cNvPr>
          <p:cNvSpPr/>
          <p:nvPr/>
        </p:nvSpPr>
        <p:spPr>
          <a:xfrm>
            <a:off x="0" y="685800"/>
            <a:ext cx="7670800" cy="635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2">
            <a:extLst>
              <a:ext uri="{FF2B5EF4-FFF2-40B4-BE49-F238E27FC236}">
                <a16:creationId xmlns:a16="http://schemas.microsoft.com/office/drawing/2014/main" id="{2F24B83A-E37C-27A0-92C0-C7B54AEF0202}"/>
              </a:ext>
            </a:extLst>
          </p:cNvPr>
          <p:cNvSpPr/>
          <p:nvPr/>
        </p:nvSpPr>
        <p:spPr>
          <a:xfrm>
            <a:off x="0" y="6858000"/>
            <a:ext cx="7670800" cy="635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3">
            <a:extLst>
              <a:ext uri="{FF2B5EF4-FFF2-40B4-BE49-F238E27FC236}">
                <a16:creationId xmlns:a16="http://schemas.microsoft.com/office/drawing/2014/main" id="{30EBBFEA-8AA3-97B8-80BF-060965D50333}"/>
              </a:ext>
            </a:extLst>
          </p:cNvPr>
          <p:cNvSpPr/>
          <p:nvPr/>
        </p:nvSpPr>
        <p:spPr>
          <a:xfrm>
            <a:off x="0" y="685800"/>
            <a:ext cx="6350" cy="617220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4">
            <a:extLst>
              <a:ext uri="{FF2B5EF4-FFF2-40B4-BE49-F238E27FC236}">
                <a16:creationId xmlns:a16="http://schemas.microsoft.com/office/drawing/2014/main" id="{3B1EE561-4444-FA25-DC0C-E038C13991D2}"/>
              </a:ext>
            </a:extLst>
          </p:cNvPr>
          <p:cNvSpPr/>
          <p:nvPr/>
        </p:nvSpPr>
        <p:spPr>
          <a:xfrm>
            <a:off x="7670800" y="685800"/>
            <a:ext cx="6350" cy="617220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ocus">
            <a:extLst>
              <a:ext uri="{FF2B5EF4-FFF2-40B4-BE49-F238E27FC236}">
                <a16:creationId xmlns:a16="http://schemas.microsoft.com/office/drawing/2014/main" id="{65A55BFC-0CBC-E5E0-27DD-5EADE10AC138}"/>
              </a:ext>
            </a:extLst>
          </p:cNvPr>
          <p:cNvSpPr/>
          <p:nvPr/>
        </p:nvSpPr>
        <p:spPr>
          <a:xfrm>
            <a:off x="4685497" y="2111992"/>
            <a:ext cx="1424351" cy="1517752"/>
          </a:xfrm>
          <a:prstGeom prst="rect">
            <a:avLst/>
          </a:prstGeom>
          <a:solidFill>
            <a:srgbClr val="83CBEB">
              <a:alpha val="37000"/>
            </a:srgbClr>
          </a:solidFill>
          <a:ln w="38100">
            <a:solidFill>
              <a:srgbClr val="46B1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ail">
            <a:extLst>
              <a:ext uri="{FF2B5EF4-FFF2-40B4-BE49-F238E27FC236}">
                <a16:creationId xmlns:a16="http://schemas.microsoft.com/office/drawing/2014/main" id="{879F502A-7ECA-6FE2-0B0C-1EC52CC8E9B1}"/>
              </a:ext>
            </a:extLst>
          </p:cNvPr>
          <p:cNvSpPr/>
          <p:nvPr/>
        </p:nvSpPr>
        <p:spPr>
          <a:xfrm>
            <a:off x="7670800" y="685800"/>
            <a:ext cx="4521200" cy="61722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N104">
            <a:extLst>
              <a:ext uri="{FF2B5EF4-FFF2-40B4-BE49-F238E27FC236}">
                <a16:creationId xmlns:a16="http://schemas.microsoft.com/office/drawing/2014/main" id="{63D46466-C6A8-E59A-9FF3-488B9DEA271D}"/>
              </a:ext>
            </a:extLst>
          </p:cNvPr>
          <p:cNvSpPr/>
          <p:nvPr/>
        </p:nvSpPr>
        <p:spPr>
          <a:xfrm>
            <a:off x="7797800" y="838200"/>
            <a:ext cx="4241800" cy="107899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Theta in L RSC pacing gamma in R OFC (PAC): cue − baseline was higher on Precon4 than on Precon1.</a:t>
            </a:r>
          </a:p>
        </p:txBody>
      </p:sp>
      <p:sp>
        <p:nvSpPr>
          <p:cNvPr id="12" name="!!N105">
            <a:extLst>
              <a:ext uri="{FF2B5EF4-FFF2-40B4-BE49-F238E27FC236}">
                <a16:creationId xmlns:a16="http://schemas.microsoft.com/office/drawing/2014/main" id="{E38C67A2-4F66-ECF7-E711-F76DA712F7AA}"/>
              </a:ext>
            </a:extLst>
          </p:cNvPr>
          <p:cNvSpPr/>
          <p:nvPr/>
        </p:nvSpPr>
        <p:spPr>
          <a:xfrm>
            <a:off x="12573000" y="1559052"/>
            <a:ext cx="4241800" cy="107899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FP P = 0.298. Shuffles P = 0.135. t-test P = 0.020 (7 rats). One test only: a weaker lead.</a:t>
            </a:r>
          </a:p>
        </p:txBody>
      </p:sp>
      <p:sp>
        <p:nvSpPr>
          <p:cNvPr id="13" name="!!N103">
            <a:extLst>
              <a:ext uri="{FF2B5EF4-FFF2-40B4-BE49-F238E27FC236}">
                <a16:creationId xmlns:a16="http://schemas.microsoft.com/office/drawing/2014/main" id="{BBC960CA-B673-8F10-991B-7DB5E60F0C17}"/>
              </a:ext>
            </a:extLst>
          </p:cNvPr>
          <p:cNvSpPr/>
          <p:nvPr/>
        </p:nvSpPr>
        <p:spPr>
          <a:xfrm>
            <a:off x="12573000" y="838200"/>
            <a:ext cx="4241800" cy="1645920"/>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Its roses: L OFC gamma around the R ACC theta cycle, averaged over trials and rats, Precon1 then Precon4. Where in the cycle, not how much: c is the result.</a:t>
            </a:r>
          </a:p>
        </p:txBody>
      </p:sp>
      <p:sp>
        <p:nvSpPr>
          <p:cNvPr id="14" name="!!T-BG">
            <a:extLst>
              <a:ext uri="{FF2B5EF4-FFF2-40B4-BE49-F238E27FC236}">
                <a16:creationId xmlns:a16="http://schemas.microsoft.com/office/drawing/2014/main" id="{5F4234ED-6246-4494-E420-DCCFF242D533}"/>
              </a:ext>
            </a:extLst>
          </p:cNvPr>
          <p:cNvSpPr/>
          <p:nvPr/>
        </p:nvSpPr>
        <p:spPr>
          <a:xfrm>
            <a:off x="-381000" y="0"/>
            <a:ext cx="12954000" cy="685800"/>
          </a:xfrm>
          <a:prstGeom prst="snip2DiagRect">
            <a:avLst>
              <a:gd name="adj1" fmla="val 0"/>
              <a:gd name="adj2" fmla="val 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
            <a:extLst>
              <a:ext uri="{FF2B5EF4-FFF2-40B4-BE49-F238E27FC236}">
                <a16:creationId xmlns:a16="http://schemas.microsoft.com/office/drawing/2014/main" id="{EDFDE90D-FF36-BDA3-4729-3E682E2715DC}"/>
              </a:ext>
            </a:extLst>
          </p:cNvPr>
          <p:cNvSpPr txBox="1"/>
          <p:nvPr/>
        </p:nvSpPr>
        <p:spPr>
          <a:xfrm>
            <a:off x="127000" y="0"/>
            <a:ext cx="11811000" cy="685800"/>
          </a:xfrm>
          <a:prstGeom prst="rect">
            <a:avLst/>
          </a:prstGeom>
          <a:noFill/>
        </p:spPr>
        <p:txBody>
          <a:bodyPr vert="horz" wrap="square" lIns="76200" tIns="25400" rIns="76200" bIns="25400" rtlCol="0" anchor="ctr">
            <a:noAutofit/>
          </a:bodyPr>
          <a:lstStyle/>
          <a:p>
            <a:pPr>
              <a:lnSpc>
                <a:spcPct val="95000"/>
              </a:lnSpc>
            </a:pPr>
            <a:r>
              <a:rPr lang="en-US" sz="2400" b="1" u="sng">
                <a:solidFill>
                  <a:srgbClr val="FFFFFF"/>
                </a:solidFill>
                <a:latin typeface="Aptos Display" panose="020B0004020202020204" pitchFamily="34" charset="0"/>
              </a:rPr>
              <a:t>4.13 · R OFC – L RSC · Theta paces gamma</a:t>
            </a:r>
          </a:p>
        </p:txBody>
      </p:sp>
    </p:spTree>
    <p:extLst>
      <p:ext uri="{BB962C8B-B14F-4D97-AF65-F5344CB8AC3E}">
        <p14:creationId xmlns:p14="http://schemas.microsoft.com/office/powerpoint/2010/main" val="240901087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tage">
            <a:extLst>
              <a:ext uri="{FF2B5EF4-FFF2-40B4-BE49-F238E27FC236}">
                <a16:creationId xmlns:a16="http://schemas.microsoft.com/office/drawing/2014/main" id="{C00F39FE-7A82-6EA4-7A54-21859C0CEEC8}"/>
              </a:ext>
            </a:extLst>
          </p:cNvPr>
          <p:cNvSpPr/>
          <p:nvPr/>
        </p:nvSpPr>
        <p:spPr>
          <a:xfrm>
            <a:off x="0" y="685800"/>
            <a:ext cx="7670800" cy="6172200"/>
          </a:xfrm>
          <a:prstGeom prst="rect">
            <a:avLst/>
          </a:prstGeom>
          <a:solidFill>
            <a:srgbClr val="ECEC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F4_13">
            <a:extLst>
              <a:ext uri="{FF2B5EF4-FFF2-40B4-BE49-F238E27FC236}">
                <a16:creationId xmlns:a16="http://schemas.microsoft.com/office/drawing/2014/main" id="{6AC88036-4DBE-C85D-C5D8-7AFBEAB84397}"/>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0689347" y="1658375"/>
            <a:ext cx="18094144" cy="8896357"/>
          </a:xfrm>
          <a:prstGeom prst="rect">
            <a:avLst/>
          </a:prstGeom>
          <a:ln w="9525">
            <a:solidFill>
              <a:srgbClr val="B0B0B0"/>
            </a:solidFill>
          </a:ln>
        </p:spPr>
      </p:pic>
      <p:sp>
        <p:nvSpPr>
          <p:cNvPr id="5" name="!!D1">
            <a:extLst>
              <a:ext uri="{FF2B5EF4-FFF2-40B4-BE49-F238E27FC236}">
                <a16:creationId xmlns:a16="http://schemas.microsoft.com/office/drawing/2014/main" id="{D296FB0C-576F-1C0F-D618-01E0D76133DB}"/>
              </a:ext>
            </a:extLst>
          </p:cNvPr>
          <p:cNvSpPr/>
          <p:nvPr/>
        </p:nvSpPr>
        <p:spPr>
          <a:xfrm>
            <a:off x="0" y="685800"/>
            <a:ext cx="7670800" cy="1046069"/>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2">
            <a:extLst>
              <a:ext uri="{FF2B5EF4-FFF2-40B4-BE49-F238E27FC236}">
                <a16:creationId xmlns:a16="http://schemas.microsoft.com/office/drawing/2014/main" id="{D4BFED12-23A7-A29E-03D3-E76CB327EDE1}"/>
              </a:ext>
            </a:extLst>
          </p:cNvPr>
          <p:cNvSpPr/>
          <p:nvPr/>
        </p:nvSpPr>
        <p:spPr>
          <a:xfrm>
            <a:off x="0" y="5837331"/>
            <a:ext cx="7670800" cy="1020669"/>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3">
            <a:extLst>
              <a:ext uri="{FF2B5EF4-FFF2-40B4-BE49-F238E27FC236}">
                <a16:creationId xmlns:a16="http://schemas.microsoft.com/office/drawing/2014/main" id="{B75166F3-FC0F-3E60-6A5B-18632A30E931}"/>
              </a:ext>
            </a:extLst>
          </p:cNvPr>
          <p:cNvSpPr/>
          <p:nvPr/>
        </p:nvSpPr>
        <p:spPr>
          <a:xfrm>
            <a:off x="0" y="1731869"/>
            <a:ext cx="262509" cy="4105462"/>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4">
            <a:extLst>
              <a:ext uri="{FF2B5EF4-FFF2-40B4-BE49-F238E27FC236}">
                <a16:creationId xmlns:a16="http://schemas.microsoft.com/office/drawing/2014/main" id="{51A2F478-A04F-B67D-237E-F651E187D063}"/>
              </a:ext>
            </a:extLst>
          </p:cNvPr>
          <p:cNvSpPr/>
          <p:nvPr/>
        </p:nvSpPr>
        <p:spPr>
          <a:xfrm>
            <a:off x="7433691" y="1731869"/>
            <a:ext cx="237109" cy="4105462"/>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ocus">
            <a:extLst>
              <a:ext uri="{FF2B5EF4-FFF2-40B4-BE49-F238E27FC236}">
                <a16:creationId xmlns:a16="http://schemas.microsoft.com/office/drawing/2014/main" id="{BBC4DEC9-BE74-8682-19F5-05B6DC508922}"/>
              </a:ext>
            </a:extLst>
          </p:cNvPr>
          <p:cNvSpPr/>
          <p:nvPr/>
        </p:nvSpPr>
        <p:spPr>
          <a:xfrm>
            <a:off x="485697" y="1856163"/>
            <a:ext cx="3619528" cy="3856874"/>
          </a:xfrm>
          <a:prstGeom prst="rect">
            <a:avLst/>
          </a:prstGeom>
          <a:solidFill>
            <a:srgbClr val="83CBEB">
              <a:alpha val="37000"/>
            </a:srgbClr>
          </a:solidFill>
          <a:ln w="38100">
            <a:solidFill>
              <a:srgbClr val="46B1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ocus2">
            <a:extLst>
              <a:ext uri="{FF2B5EF4-FFF2-40B4-BE49-F238E27FC236}">
                <a16:creationId xmlns:a16="http://schemas.microsoft.com/office/drawing/2014/main" id="{D8AED157-4255-3F9B-C83E-2A2E54CB3C71}"/>
              </a:ext>
            </a:extLst>
          </p:cNvPr>
          <p:cNvSpPr/>
          <p:nvPr/>
        </p:nvSpPr>
        <p:spPr>
          <a:xfrm>
            <a:off x="4184340" y="1856163"/>
            <a:ext cx="3223951" cy="3856874"/>
          </a:xfrm>
          <a:prstGeom prst="rect">
            <a:avLst/>
          </a:prstGeom>
          <a:solidFill>
            <a:srgbClr val="83CBEB">
              <a:alpha val="37000"/>
            </a:srgbClr>
          </a:solidFill>
          <a:ln w="38100">
            <a:solidFill>
              <a:srgbClr val="46B1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ail">
            <a:extLst>
              <a:ext uri="{FF2B5EF4-FFF2-40B4-BE49-F238E27FC236}">
                <a16:creationId xmlns:a16="http://schemas.microsoft.com/office/drawing/2014/main" id="{F0529CB3-2126-9C41-E8E5-02F8ABF2BACD}"/>
              </a:ext>
            </a:extLst>
          </p:cNvPr>
          <p:cNvSpPr/>
          <p:nvPr/>
        </p:nvSpPr>
        <p:spPr>
          <a:xfrm>
            <a:off x="7670800" y="685800"/>
            <a:ext cx="4521200" cy="61722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N104">
            <a:extLst>
              <a:ext uri="{FF2B5EF4-FFF2-40B4-BE49-F238E27FC236}">
                <a16:creationId xmlns:a16="http://schemas.microsoft.com/office/drawing/2014/main" id="{99684575-8906-5673-CA97-019A648ADF37}"/>
              </a:ext>
            </a:extLst>
          </p:cNvPr>
          <p:cNvSpPr/>
          <p:nvPr/>
        </p:nvSpPr>
        <p:spPr>
          <a:xfrm>
            <a:off x="7797800" y="838200"/>
            <a:ext cx="4241800" cy="60655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Theta in L RSC pacing gamma in R OFC (PAC): cue − baseline was higher on Precon4 than on Precon1.</a:t>
            </a:r>
          </a:p>
        </p:txBody>
      </p:sp>
      <p:sp>
        <p:nvSpPr>
          <p:cNvPr id="13" name="!!N105">
            <a:extLst>
              <a:ext uri="{FF2B5EF4-FFF2-40B4-BE49-F238E27FC236}">
                <a16:creationId xmlns:a16="http://schemas.microsoft.com/office/drawing/2014/main" id="{1C96910F-1C6F-08A6-8E2A-8379424E834E}"/>
              </a:ext>
            </a:extLst>
          </p:cNvPr>
          <p:cNvSpPr/>
          <p:nvPr/>
        </p:nvSpPr>
        <p:spPr>
          <a:xfrm>
            <a:off x="7797800" y="1559052"/>
            <a:ext cx="4241800" cy="107899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FP P = 0.298. Shuffles P = 0.135. t-test P = 0.020 (7 rats). One test only: a weaker lead.</a:t>
            </a:r>
          </a:p>
        </p:txBody>
      </p:sp>
      <p:sp>
        <p:nvSpPr>
          <p:cNvPr id="14" name="!!N106">
            <a:extLst>
              <a:ext uri="{FF2B5EF4-FFF2-40B4-BE49-F238E27FC236}">
                <a16:creationId xmlns:a16="http://schemas.microsoft.com/office/drawing/2014/main" id="{2F1D5016-8D6B-081E-1958-342D484ADB41}"/>
              </a:ext>
            </a:extLst>
          </p:cNvPr>
          <p:cNvSpPr/>
          <p:nvPr/>
        </p:nvSpPr>
        <p:spPr>
          <a:xfrm>
            <a:off x="12573000" y="838200"/>
            <a:ext cx="4241800" cy="1645920"/>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Its roses: R OFC gamma around the L RSC theta cycle, averaged over trials and rats, Precon1 then Precon4. Where in the cycle, not how much: c is the result.</a:t>
            </a:r>
          </a:p>
        </p:txBody>
      </p:sp>
      <p:sp>
        <p:nvSpPr>
          <p:cNvPr id="15" name="!!T-BG">
            <a:extLst>
              <a:ext uri="{FF2B5EF4-FFF2-40B4-BE49-F238E27FC236}">
                <a16:creationId xmlns:a16="http://schemas.microsoft.com/office/drawing/2014/main" id="{CCDDF4BB-1341-507A-5B34-8977DEDB3440}"/>
              </a:ext>
            </a:extLst>
          </p:cNvPr>
          <p:cNvSpPr/>
          <p:nvPr/>
        </p:nvSpPr>
        <p:spPr>
          <a:xfrm>
            <a:off x="-381000" y="0"/>
            <a:ext cx="12954000" cy="685800"/>
          </a:xfrm>
          <a:prstGeom prst="snip2DiagRect">
            <a:avLst>
              <a:gd name="adj1" fmla="val 0"/>
              <a:gd name="adj2" fmla="val 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
            <a:extLst>
              <a:ext uri="{FF2B5EF4-FFF2-40B4-BE49-F238E27FC236}">
                <a16:creationId xmlns:a16="http://schemas.microsoft.com/office/drawing/2014/main" id="{C6241524-B63D-5316-7459-43465631B7CD}"/>
              </a:ext>
            </a:extLst>
          </p:cNvPr>
          <p:cNvSpPr txBox="1"/>
          <p:nvPr/>
        </p:nvSpPr>
        <p:spPr>
          <a:xfrm>
            <a:off x="127000" y="0"/>
            <a:ext cx="11811000" cy="685800"/>
          </a:xfrm>
          <a:prstGeom prst="rect">
            <a:avLst/>
          </a:prstGeom>
          <a:noFill/>
        </p:spPr>
        <p:txBody>
          <a:bodyPr vert="horz" wrap="square" lIns="76200" tIns="25400" rIns="76200" bIns="25400" rtlCol="0" anchor="ctr">
            <a:noAutofit/>
          </a:bodyPr>
          <a:lstStyle/>
          <a:p>
            <a:pPr>
              <a:lnSpc>
                <a:spcPct val="95000"/>
              </a:lnSpc>
            </a:pPr>
            <a:r>
              <a:rPr lang="en-US" sz="2400" b="1" u="sng">
                <a:solidFill>
                  <a:srgbClr val="FFFFFF"/>
                </a:solidFill>
                <a:latin typeface="Aptos Display" panose="020B0004020202020204" pitchFamily="34" charset="0"/>
              </a:rPr>
              <a:t>4.13 · R OFC – L RSC · Theta paces gamma</a:t>
            </a:r>
          </a:p>
        </p:txBody>
      </p:sp>
    </p:spTree>
    <p:extLst>
      <p:ext uri="{BB962C8B-B14F-4D97-AF65-F5344CB8AC3E}">
        <p14:creationId xmlns:p14="http://schemas.microsoft.com/office/powerpoint/2010/main" val="272541002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tage">
            <a:extLst>
              <a:ext uri="{FF2B5EF4-FFF2-40B4-BE49-F238E27FC236}">
                <a16:creationId xmlns:a16="http://schemas.microsoft.com/office/drawing/2014/main" id="{34ECE40F-44EF-ACD9-762E-71FE714F9AB2}"/>
              </a:ext>
            </a:extLst>
          </p:cNvPr>
          <p:cNvSpPr/>
          <p:nvPr/>
        </p:nvSpPr>
        <p:spPr>
          <a:xfrm>
            <a:off x="0" y="685800"/>
            <a:ext cx="7670800" cy="6172200"/>
          </a:xfrm>
          <a:prstGeom prst="rect">
            <a:avLst/>
          </a:prstGeom>
          <a:solidFill>
            <a:srgbClr val="ECEC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F4_13">
            <a:extLst>
              <a:ext uri="{FF2B5EF4-FFF2-40B4-BE49-F238E27FC236}">
                <a16:creationId xmlns:a16="http://schemas.microsoft.com/office/drawing/2014/main" id="{5E9A8120-A0F1-F650-7636-C46EBF3FCF0A}"/>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287909" y="1197139"/>
            <a:ext cx="7119007" cy="3500206"/>
          </a:xfrm>
          <a:prstGeom prst="rect">
            <a:avLst/>
          </a:prstGeom>
          <a:ln w="9525">
            <a:solidFill>
              <a:srgbClr val="B0B0B0"/>
            </a:solidFill>
          </a:ln>
        </p:spPr>
      </p:pic>
      <p:sp>
        <p:nvSpPr>
          <p:cNvPr id="5" name="!!D1">
            <a:extLst>
              <a:ext uri="{FF2B5EF4-FFF2-40B4-BE49-F238E27FC236}">
                <a16:creationId xmlns:a16="http://schemas.microsoft.com/office/drawing/2014/main" id="{3F4F9B9A-2A3A-EB06-6EEA-BE2CFCA7325A}"/>
              </a:ext>
            </a:extLst>
          </p:cNvPr>
          <p:cNvSpPr/>
          <p:nvPr/>
        </p:nvSpPr>
        <p:spPr>
          <a:xfrm>
            <a:off x="0" y="685800"/>
            <a:ext cx="7670800" cy="2236852"/>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2">
            <a:extLst>
              <a:ext uri="{FF2B5EF4-FFF2-40B4-BE49-F238E27FC236}">
                <a16:creationId xmlns:a16="http://schemas.microsoft.com/office/drawing/2014/main" id="{E69AC887-53B0-DC55-C66D-E84FEED4654D}"/>
              </a:ext>
            </a:extLst>
          </p:cNvPr>
          <p:cNvSpPr/>
          <p:nvPr/>
        </p:nvSpPr>
        <p:spPr>
          <a:xfrm>
            <a:off x="0" y="4646548"/>
            <a:ext cx="7670800" cy="2211452"/>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3">
            <a:extLst>
              <a:ext uri="{FF2B5EF4-FFF2-40B4-BE49-F238E27FC236}">
                <a16:creationId xmlns:a16="http://schemas.microsoft.com/office/drawing/2014/main" id="{A6EDA9B5-9A99-CFE7-A6D3-7A3E4F25E2C2}"/>
              </a:ext>
            </a:extLst>
          </p:cNvPr>
          <p:cNvSpPr/>
          <p:nvPr/>
        </p:nvSpPr>
        <p:spPr>
          <a:xfrm>
            <a:off x="0" y="2922652"/>
            <a:ext cx="262509" cy="1723895"/>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4">
            <a:extLst>
              <a:ext uri="{FF2B5EF4-FFF2-40B4-BE49-F238E27FC236}">
                <a16:creationId xmlns:a16="http://schemas.microsoft.com/office/drawing/2014/main" id="{8568D979-96E5-3F81-6288-D5C10D9D4DEF}"/>
              </a:ext>
            </a:extLst>
          </p:cNvPr>
          <p:cNvSpPr/>
          <p:nvPr/>
        </p:nvSpPr>
        <p:spPr>
          <a:xfrm>
            <a:off x="7433691" y="2922652"/>
            <a:ext cx="237109" cy="1723895"/>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ocus">
            <a:extLst>
              <a:ext uri="{FF2B5EF4-FFF2-40B4-BE49-F238E27FC236}">
                <a16:creationId xmlns:a16="http://schemas.microsoft.com/office/drawing/2014/main" id="{982397DD-126D-EEB3-EF91-5746D334BE81}"/>
              </a:ext>
            </a:extLst>
          </p:cNvPr>
          <p:cNvSpPr/>
          <p:nvPr/>
        </p:nvSpPr>
        <p:spPr>
          <a:xfrm>
            <a:off x="287909" y="2986962"/>
            <a:ext cx="5019286" cy="1595277"/>
          </a:xfrm>
          <a:prstGeom prst="rect">
            <a:avLst/>
          </a:prstGeom>
          <a:solidFill>
            <a:srgbClr val="83CBEB">
              <a:alpha val="37000"/>
            </a:srgbClr>
          </a:solidFill>
          <a:ln w="38100">
            <a:solidFill>
              <a:srgbClr val="46B1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ail">
            <a:extLst>
              <a:ext uri="{FF2B5EF4-FFF2-40B4-BE49-F238E27FC236}">
                <a16:creationId xmlns:a16="http://schemas.microsoft.com/office/drawing/2014/main" id="{6E6043AC-E810-030E-E53E-3CC7564BB597}"/>
              </a:ext>
            </a:extLst>
          </p:cNvPr>
          <p:cNvSpPr/>
          <p:nvPr/>
        </p:nvSpPr>
        <p:spPr>
          <a:xfrm>
            <a:off x="7670800" y="685800"/>
            <a:ext cx="4521200" cy="61722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N106">
            <a:extLst>
              <a:ext uri="{FF2B5EF4-FFF2-40B4-BE49-F238E27FC236}">
                <a16:creationId xmlns:a16="http://schemas.microsoft.com/office/drawing/2014/main" id="{1A45ED48-A0F0-D899-239A-78D9F61A8753}"/>
              </a:ext>
            </a:extLst>
          </p:cNvPr>
          <p:cNvSpPr/>
          <p:nvPr/>
        </p:nvSpPr>
        <p:spPr>
          <a:xfrm>
            <a:off x="7797800" y="838200"/>
            <a:ext cx="4241800" cy="1645920"/>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Its roses: R OFC gamma around the L RSC theta cycle, averaged over trials and rats, Precon1 then Precon4. Where in the cycle, not how much: c is the result.</a:t>
            </a:r>
          </a:p>
        </p:txBody>
      </p:sp>
      <p:sp>
        <p:nvSpPr>
          <p:cNvPr id="12" name="!!N107">
            <a:extLst>
              <a:ext uri="{FF2B5EF4-FFF2-40B4-BE49-F238E27FC236}">
                <a16:creationId xmlns:a16="http://schemas.microsoft.com/office/drawing/2014/main" id="{0B0CBD2B-11A4-2EF1-10CD-9497C4886470}"/>
              </a:ext>
            </a:extLst>
          </p:cNvPr>
          <p:cNvSpPr/>
          <p:nvPr/>
        </p:nvSpPr>
        <p:spPr>
          <a:xfrm>
            <a:off x="12573000" y="838200"/>
            <a:ext cx="4241800" cy="1929384"/>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From Precon1 to Precon4 the cues’ effect on gamma coherence swung across the network: on Precon1 they lowered it in 31 of 44 pairs; on Precon4, about even (23 up, 21 down).</a:t>
            </a:r>
          </a:p>
        </p:txBody>
      </p:sp>
      <p:sp>
        <p:nvSpPr>
          <p:cNvPr id="13" name="!!N104">
            <a:extLst>
              <a:ext uri="{FF2B5EF4-FFF2-40B4-BE49-F238E27FC236}">
                <a16:creationId xmlns:a16="http://schemas.microsoft.com/office/drawing/2014/main" id="{7C9179A3-C469-8947-7C8B-87606F1E9774}"/>
              </a:ext>
            </a:extLst>
          </p:cNvPr>
          <p:cNvSpPr/>
          <p:nvPr/>
        </p:nvSpPr>
        <p:spPr>
          <a:xfrm>
            <a:off x="12573000" y="838200"/>
            <a:ext cx="4241800" cy="60655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Theta in L RSC pacing gamma in R OFC (PAC): cue − baseline was higher on Precon4 than on Precon1.</a:t>
            </a:r>
          </a:p>
        </p:txBody>
      </p:sp>
      <p:sp>
        <p:nvSpPr>
          <p:cNvPr id="14" name="!!N105">
            <a:extLst>
              <a:ext uri="{FF2B5EF4-FFF2-40B4-BE49-F238E27FC236}">
                <a16:creationId xmlns:a16="http://schemas.microsoft.com/office/drawing/2014/main" id="{B7C0A0B5-91D5-1ECB-A993-772CD07A45F4}"/>
              </a:ext>
            </a:extLst>
          </p:cNvPr>
          <p:cNvSpPr/>
          <p:nvPr/>
        </p:nvSpPr>
        <p:spPr>
          <a:xfrm>
            <a:off x="12573000" y="1559052"/>
            <a:ext cx="4241800" cy="107899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FP P = 0.298. Shuffles P = 0.135. t-test P = 0.020 (7 rats). One test only: a weaker lead.</a:t>
            </a:r>
          </a:p>
        </p:txBody>
      </p:sp>
      <p:sp>
        <p:nvSpPr>
          <p:cNvPr id="15" name="!!T-BG">
            <a:extLst>
              <a:ext uri="{FF2B5EF4-FFF2-40B4-BE49-F238E27FC236}">
                <a16:creationId xmlns:a16="http://schemas.microsoft.com/office/drawing/2014/main" id="{CA3C51B2-44E8-80EB-C3FB-CD00C4E658FF}"/>
              </a:ext>
            </a:extLst>
          </p:cNvPr>
          <p:cNvSpPr/>
          <p:nvPr/>
        </p:nvSpPr>
        <p:spPr>
          <a:xfrm>
            <a:off x="-381000" y="0"/>
            <a:ext cx="12954000" cy="685800"/>
          </a:xfrm>
          <a:prstGeom prst="snip2DiagRect">
            <a:avLst>
              <a:gd name="adj1" fmla="val 0"/>
              <a:gd name="adj2" fmla="val 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
            <a:extLst>
              <a:ext uri="{FF2B5EF4-FFF2-40B4-BE49-F238E27FC236}">
                <a16:creationId xmlns:a16="http://schemas.microsoft.com/office/drawing/2014/main" id="{9C1AB7A4-8D65-1D16-14CE-207DCB631AA6}"/>
              </a:ext>
            </a:extLst>
          </p:cNvPr>
          <p:cNvSpPr txBox="1"/>
          <p:nvPr/>
        </p:nvSpPr>
        <p:spPr>
          <a:xfrm>
            <a:off x="127000" y="0"/>
            <a:ext cx="11811000" cy="685800"/>
          </a:xfrm>
          <a:prstGeom prst="rect">
            <a:avLst/>
          </a:prstGeom>
          <a:noFill/>
        </p:spPr>
        <p:txBody>
          <a:bodyPr vert="horz" wrap="square" lIns="76200" tIns="25400" rIns="76200" bIns="25400" rtlCol="0" anchor="ctr">
            <a:noAutofit/>
          </a:bodyPr>
          <a:lstStyle/>
          <a:p>
            <a:pPr>
              <a:lnSpc>
                <a:spcPct val="95000"/>
              </a:lnSpc>
            </a:pPr>
            <a:r>
              <a:rPr lang="en-US" sz="2400" b="1" u="sng">
                <a:solidFill>
                  <a:srgbClr val="FFFFFF"/>
                </a:solidFill>
                <a:latin typeface="Aptos Display" panose="020B0004020202020204" pitchFamily="34" charset="0"/>
              </a:rPr>
              <a:t>4.13 · R OFC – L RSC · Theta paces gamma</a:t>
            </a:r>
          </a:p>
        </p:txBody>
      </p:sp>
    </p:spTree>
    <p:extLst>
      <p:ext uri="{BB962C8B-B14F-4D97-AF65-F5344CB8AC3E}">
        <p14:creationId xmlns:p14="http://schemas.microsoft.com/office/powerpoint/2010/main" val="215783115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tage">
            <a:extLst>
              <a:ext uri="{FF2B5EF4-FFF2-40B4-BE49-F238E27FC236}">
                <a16:creationId xmlns:a16="http://schemas.microsoft.com/office/drawing/2014/main" id="{B70A84DD-0101-4E06-EA9D-AC07D4F8EB9C}"/>
              </a:ext>
            </a:extLst>
          </p:cNvPr>
          <p:cNvSpPr/>
          <p:nvPr/>
        </p:nvSpPr>
        <p:spPr>
          <a:xfrm>
            <a:off x="0" y="685800"/>
            <a:ext cx="7670800" cy="6172200"/>
          </a:xfrm>
          <a:prstGeom prst="rect">
            <a:avLst/>
          </a:prstGeom>
          <a:solidFill>
            <a:srgbClr val="ECEC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F2">
            <a:extLst>
              <a:ext uri="{FF2B5EF4-FFF2-40B4-BE49-F238E27FC236}">
                <a16:creationId xmlns:a16="http://schemas.microsoft.com/office/drawing/2014/main" id="{85BE2AB3-7997-597E-1DE6-E97E3E5B6E29}"/>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248786" y="-2572884"/>
            <a:ext cx="7158123" cy="8059099"/>
          </a:xfrm>
          <a:prstGeom prst="rect">
            <a:avLst/>
          </a:prstGeom>
          <a:ln w="9525">
            <a:solidFill>
              <a:srgbClr val="B0B0B0"/>
            </a:solidFill>
          </a:ln>
        </p:spPr>
      </p:pic>
      <p:sp>
        <p:nvSpPr>
          <p:cNvPr id="5" name="!!D1">
            <a:extLst>
              <a:ext uri="{FF2B5EF4-FFF2-40B4-BE49-F238E27FC236}">
                <a16:creationId xmlns:a16="http://schemas.microsoft.com/office/drawing/2014/main" id="{F3350667-0936-222E-7732-CB517747B6AF}"/>
              </a:ext>
            </a:extLst>
          </p:cNvPr>
          <p:cNvSpPr/>
          <p:nvPr/>
        </p:nvSpPr>
        <p:spPr>
          <a:xfrm>
            <a:off x="0" y="685800"/>
            <a:ext cx="7670800" cy="176278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2">
            <a:extLst>
              <a:ext uri="{FF2B5EF4-FFF2-40B4-BE49-F238E27FC236}">
                <a16:creationId xmlns:a16="http://schemas.microsoft.com/office/drawing/2014/main" id="{5584CF0E-A427-E6BF-62A6-AC4FD8B8C6D8}"/>
              </a:ext>
            </a:extLst>
          </p:cNvPr>
          <p:cNvSpPr/>
          <p:nvPr/>
        </p:nvSpPr>
        <p:spPr>
          <a:xfrm>
            <a:off x="0" y="5120620"/>
            <a:ext cx="7670800" cy="173738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3">
            <a:extLst>
              <a:ext uri="{FF2B5EF4-FFF2-40B4-BE49-F238E27FC236}">
                <a16:creationId xmlns:a16="http://schemas.microsoft.com/office/drawing/2014/main" id="{10B916FB-2ADE-8140-E33E-457AF5DA4E44}"/>
              </a:ext>
            </a:extLst>
          </p:cNvPr>
          <p:cNvSpPr/>
          <p:nvPr/>
        </p:nvSpPr>
        <p:spPr>
          <a:xfrm>
            <a:off x="0" y="2448580"/>
            <a:ext cx="262509" cy="267204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4">
            <a:extLst>
              <a:ext uri="{FF2B5EF4-FFF2-40B4-BE49-F238E27FC236}">
                <a16:creationId xmlns:a16="http://schemas.microsoft.com/office/drawing/2014/main" id="{56E04ADB-1878-755C-89BE-2F8CAEEE3F60}"/>
              </a:ext>
            </a:extLst>
          </p:cNvPr>
          <p:cNvSpPr/>
          <p:nvPr/>
        </p:nvSpPr>
        <p:spPr>
          <a:xfrm>
            <a:off x="7433691" y="2448580"/>
            <a:ext cx="237109" cy="267204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ocus">
            <a:extLst>
              <a:ext uri="{FF2B5EF4-FFF2-40B4-BE49-F238E27FC236}">
                <a16:creationId xmlns:a16="http://schemas.microsoft.com/office/drawing/2014/main" id="{9DC3D151-C6E6-8554-4275-83F2EAD529A8}"/>
              </a:ext>
            </a:extLst>
          </p:cNvPr>
          <p:cNvSpPr/>
          <p:nvPr/>
        </p:nvSpPr>
        <p:spPr>
          <a:xfrm>
            <a:off x="1031246" y="4293199"/>
            <a:ext cx="1721411" cy="645529"/>
          </a:xfrm>
          <a:prstGeom prst="rect">
            <a:avLst/>
          </a:prstGeom>
          <a:solidFill>
            <a:srgbClr val="83CBEB">
              <a:alpha val="37000"/>
            </a:srgbClr>
          </a:solidFill>
          <a:ln w="38100">
            <a:solidFill>
              <a:srgbClr val="46B1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ocus2">
            <a:extLst>
              <a:ext uri="{FF2B5EF4-FFF2-40B4-BE49-F238E27FC236}">
                <a16:creationId xmlns:a16="http://schemas.microsoft.com/office/drawing/2014/main" id="{4678DC8A-F3AE-45A6-DF08-23D4104637BA}"/>
              </a:ext>
            </a:extLst>
          </p:cNvPr>
          <p:cNvSpPr/>
          <p:nvPr/>
        </p:nvSpPr>
        <p:spPr>
          <a:xfrm>
            <a:off x="5413019" y="4293199"/>
            <a:ext cx="1721411" cy="645529"/>
          </a:xfrm>
          <a:prstGeom prst="rect">
            <a:avLst/>
          </a:prstGeom>
          <a:solidFill>
            <a:srgbClr val="83CBEB">
              <a:alpha val="37000"/>
            </a:srgbClr>
          </a:solidFill>
          <a:ln w="38100">
            <a:solidFill>
              <a:srgbClr val="46B1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ail">
            <a:extLst>
              <a:ext uri="{FF2B5EF4-FFF2-40B4-BE49-F238E27FC236}">
                <a16:creationId xmlns:a16="http://schemas.microsoft.com/office/drawing/2014/main" id="{E9D693F3-73EB-6FAB-D657-B528CCF975CB}"/>
              </a:ext>
            </a:extLst>
          </p:cNvPr>
          <p:cNvSpPr/>
          <p:nvPr/>
        </p:nvSpPr>
        <p:spPr>
          <a:xfrm>
            <a:off x="7670800" y="685800"/>
            <a:ext cx="4521200" cy="61722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N107">
            <a:extLst>
              <a:ext uri="{FF2B5EF4-FFF2-40B4-BE49-F238E27FC236}">
                <a16:creationId xmlns:a16="http://schemas.microsoft.com/office/drawing/2014/main" id="{0D2BD135-895F-8D2C-257F-A0AB2CAFE423}"/>
              </a:ext>
            </a:extLst>
          </p:cNvPr>
          <p:cNvSpPr/>
          <p:nvPr/>
        </p:nvSpPr>
        <p:spPr>
          <a:xfrm>
            <a:off x="7797800" y="838200"/>
            <a:ext cx="4241800" cy="1929384"/>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From Precon1 to Precon4 the cues’ effect on gamma coherence swung across the network: on Precon1 they lowered it in 31 of 44 pairs; on Precon4, about even (23 up, 21 down).</a:t>
            </a:r>
          </a:p>
        </p:txBody>
      </p:sp>
      <p:sp>
        <p:nvSpPr>
          <p:cNvPr id="13" name="!!N108">
            <a:extLst>
              <a:ext uri="{FF2B5EF4-FFF2-40B4-BE49-F238E27FC236}">
                <a16:creationId xmlns:a16="http://schemas.microsoft.com/office/drawing/2014/main" id="{12CE7854-3A1B-1B48-38A7-2C12FA7B09FE}"/>
              </a:ext>
            </a:extLst>
          </p:cNvPr>
          <p:cNvSpPr/>
          <p:nvPr/>
        </p:nvSpPr>
        <p:spPr>
          <a:xfrm>
            <a:off x="12573000" y="1937004"/>
            <a:ext cx="4241800" cy="1362456"/>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Figure 2 (both cues): the rats agreed on that swing (increases P = 0.012), but FP and the shuffles do not confirm it.</a:t>
            </a:r>
          </a:p>
        </p:txBody>
      </p:sp>
      <p:sp>
        <p:nvSpPr>
          <p:cNvPr id="14" name="!!N106">
            <a:extLst>
              <a:ext uri="{FF2B5EF4-FFF2-40B4-BE49-F238E27FC236}">
                <a16:creationId xmlns:a16="http://schemas.microsoft.com/office/drawing/2014/main" id="{0CC46BB3-F0EE-8899-00FF-7F3D579B1D22}"/>
              </a:ext>
            </a:extLst>
          </p:cNvPr>
          <p:cNvSpPr/>
          <p:nvPr/>
        </p:nvSpPr>
        <p:spPr>
          <a:xfrm>
            <a:off x="12573000" y="838200"/>
            <a:ext cx="4241800" cy="1645920"/>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Its roses: R OFC gamma around the L RSC theta cycle, averaged over trials and rats, Precon1 then Precon4. Where in the cycle, not how much: c is the result.</a:t>
            </a:r>
          </a:p>
        </p:txBody>
      </p:sp>
      <p:sp>
        <p:nvSpPr>
          <p:cNvPr id="15" name="!!T-BG">
            <a:extLst>
              <a:ext uri="{FF2B5EF4-FFF2-40B4-BE49-F238E27FC236}">
                <a16:creationId xmlns:a16="http://schemas.microsoft.com/office/drawing/2014/main" id="{BA1D4E44-35A1-FAFF-C1A7-FF67C0D99CBE}"/>
              </a:ext>
            </a:extLst>
          </p:cNvPr>
          <p:cNvSpPr/>
          <p:nvPr/>
        </p:nvSpPr>
        <p:spPr>
          <a:xfrm>
            <a:off x="-381000" y="0"/>
            <a:ext cx="12954000" cy="685800"/>
          </a:xfrm>
          <a:prstGeom prst="snip2DiagRect">
            <a:avLst>
              <a:gd name="adj1" fmla="val 0"/>
              <a:gd name="adj2" fmla="val 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
            <a:extLst>
              <a:ext uri="{FF2B5EF4-FFF2-40B4-BE49-F238E27FC236}">
                <a16:creationId xmlns:a16="http://schemas.microsoft.com/office/drawing/2014/main" id="{FC8E847C-C849-A7E9-2E8E-696B6B7ADD09}"/>
              </a:ext>
            </a:extLst>
          </p:cNvPr>
          <p:cNvSpPr txBox="1"/>
          <p:nvPr/>
        </p:nvSpPr>
        <p:spPr>
          <a:xfrm>
            <a:off x="127000" y="0"/>
            <a:ext cx="11811000" cy="685800"/>
          </a:xfrm>
          <a:prstGeom prst="rect">
            <a:avLst/>
          </a:prstGeom>
          <a:noFill/>
        </p:spPr>
        <p:txBody>
          <a:bodyPr vert="horz" wrap="square" lIns="76200" tIns="25400" rIns="76200" bIns="25400" rtlCol="0" anchor="ctr">
            <a:noAutofit/>
          </a:bodyPr>
          <a:lstStyle/>
          <a:p>
            <a:pPr>
              <a:lnSpc>
                <a:spcPct val="95000"/>
              </a:lnSpc>
            </a:pPr>
            <a:r>
              <a:rPr lang="en-US" sz="2400" b="1" u="sng">
                <a:solidFill>
                  <a:srgbClr val="FFFFFF"/>
                </a:solidFill>
                <a:latin typeface="Aptos Display" panose="020B0004020202020204" pitchFamily="34" charset="0"/>
              </a:rPr>
              <a:t>What it adds up to</a:t>
            </a:r>
          </a:p>
        </p:txBody>
      </p:sp>
    </p:spTree>
    <p:extLst>
      <p:ext uri="{BB962C8B-B14F-4D97-AF65-F5344CB8AC3E}">
        <p14:creationId xmlns:p14="http://schemas.microsoft.com/office/powerpoint/2010/main" val="155731862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tage">
            <a:extLst>
              <a:ext uri="{FF2B5EF4-FFF2-40B4-BE49-F238E27FC236}">
                <a16:creationId xmlns:a16="http://schemas.microsoft.com/office/drawing/2014/main" id="{CB4FE5A2-DDB8-72BF-ADB6-5F5C2A7EDCEA}"/>
              </a:ext>
            </a:extLst>
          </p:cNvPr>
          <p:cNvSpPr/>
          <p:nvPr/>
        </p:nvSpPr>
        <p:spPr>
          <a:xfrm>
            <a:off x="0" y="685800"/>
            <a:ext cx="7670800" cy="6172200"/>
          </a:xfrm>
          <a:prstGeom prst="rect">
            <a:avLst/>
          </a:prstGeom>
          <a:solidFill>
            <a:srgbClr val="ECEC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F2">
            <a:extLst>
              <a:ext uri="{FF2B5EF4-FFF2-40B4-BE49-F238E27FC236}">
                <a16:creationId xmlns:a16="http://schemas.microsoft.com/office/drawing/2014/main" id="{B71A6FAB-1D51-8978-A002-431EDF7D94BD}"/>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248786" y="-2572884"/>
            <a:ext cx="7158123" cy="8059099"/>
          </a:xfrm>
          <a:prstGeom prst="rect">
            <a:avLst/>
          </a:prstGeom>
          <a:ln w="9525">
            <a:solidFill>
              <a:srgbClr val="B0B0B0"/>
            </a:solidFill>
          </a:ln>
        </p:spPr>
      </p:pic>
      <p:sp>
        <p:nvSpPr>
          <p:cNvPr id="5" name="!!D1">
            <a:extLst>
              <a:ext uri="{FF2B5EF4-FFF2-40B4-BE49-F238E27FC236}">
                <a16:creationId xmlns:a16="http://schemas.microsoft.com/office/drawing/2014/main" id="{ED7CAE0E-A986-D142-90D8-767DCBF686DA}"/>
              </a:ext>
            </a:extLst>
          </p:cNvPr>
          <p:cNvSpPr/>
          <p:nvPr/>
        </p:nvSpPr>
        <p:spPr>
          <a:xfrm>
            <a:off x="0" y="685800"/>
            <a:ext cx="7670800" cy="176278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2">
            <a:extLst>
              <a:ext uri="{FF2B5EF4-FFF2-40B4-BE49-F238E27FC236}">
                <a16:creationId xmlns:a16="http://schemas.microsoft.com/office/drawing/2014/main" id="{D28EE774-7443-D6F5-03B5-B6F0E1014F77}"/>
              </a:ext>
            </a:extLst>
          </p:cNvPr>
          <p:cNvSpPr/>
          <p:nvPr/>
        </p:nvSpPr>
        <p:spPr>
          <a:xfrm>
            <a:off x="0" y="5120620"/>
            <a:ext cx="7670800" cy="173738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3">
            <a:extLst>
              <a:ext uri="{FF2B5EF4-FFF2-40B4-BE49-F238E27FC236}">
                <a16:creationId xmlns:a16="http://schemas.microsoft.com/office/drawing/2014/main" id="{02A9738B-53D2-5D5E-5970-F599981CA446}"/>
              </a:ext>
            </a:extLst>
          </p:cNvPr>
          <p:cNvSpPr/>
          <p:nvPr/>
        </p:nvSpPr>
        <p:spPr>
          <a:xfrm>
            <a:off x="0" y="2448580"/>
            <a:ext cx="262509" cy="267204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4">
            <a:extLst>
              <a:ext uri="{FF2B5EF4-FFF2-40B4-BE49-F238E27FC236}">
                <a16:creationId xmlns:a16="http://schemas.microsoft.com/office/drawing/2014/main" id="{5F0AD96A-F0CD-5522-B6CD-559DDC469286}"/>
              </a:ext>
            </a:extLst>
          </p:cNvPr>
          <p:cNvSpPr/>
          <p:nvPr/>
        </p:nvSpPr>
        <p:spPr>
          <a:xfrm>
            <a:off x="7433691" y="2448580"/>
            <a:ext cx="237109" cy="267204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ocus">
            <a:extLst>
              <a:ext uri="{FF2B5EF4-FFF2-40B4-BE49-F238E27FC236}">
                <a16:creationId xmlns:a16="http://schemas.microsoft.com/office/drawing/2014/main" id="{10C716CA-A1EE-F826-E97C-1238BE1BD9EA}"/>
              </a:ext>
            </a:extLst>
          </p:cNvPr>
          <p:cNvSpPr/>
          <p:nvPr/>
        </p:nvSpPr>
        <p:spPr>
          <a:xfrm>
            <a:off x="1031246" y="4293199"/>
            <a:ext cx="1721411" cy="645529"/>
          </a:xfrm>
          <a:prstGeom prst="rect">
            <a:avLst/>
          </a:prstGeom>
          <a:solidFill>
            <a:srgbClr val="83CBEB">
              <a:alpha val="37000"/>
            </a:srgbClr>
          </a:solidFill>
          <a:ln w="38100">
            <a:solidFill>
              <a:srgbClr val="46B1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ocus2">
            <a:extLst>
              <a:ext uri="{FF2B5EF4-FFF2-40B4-BE49-F238E27FC236}">
                <a16:creationId xmlns:a16="http://schemas.microsoft.com/office/drawing/2014/main" id="{2D79664B-45FF-7532-4098-46A1EEA9CAFD}"/>
              </a:ext>
            </a:extLst>
          </p:cNvPr>
          <p:cNvSpPr/>
          <p:nvPr/>
        </p:nvSpPr>
        <p:spPr>
          <a:xfrm>
            <a:off x="5413019" y="4293199"/>
            <a:ext cx="1721411" cy="645529"/>
          </a:xfrm>
          <a:prstGeom prst="rect">
            <a:avLst/>
          </a:prstGeom>
          <a:solidFill>
            <a:srgbClr val="83CBEB">
              <a:alpha val="37000"/>
            </a:srgbClr>
          </a:solidFill>
          <a:ln w="38100">
            <a:solidFill>
              <a:srgbClr val="46B1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ail">
            <a:extLst>
              <a:ext uri="{FF2B5EF4-FFF2-40B4-BE49-F238E27FC236}">
                <a16:creationId xmlns:a16="http://schemas.microsoft.com/office/drawing/2014/main" id="{C4B34FA3-B05F-F97F-2413-2DB600D44F18}"/>
              </a:ext>
            </a:extLst>
          </p:cNvPr>
          <p:cNvSpPr/>
          <p:nvPr/>
        </p:nvSpPr>
        <p:spPr>
          <a:xfrm>
            <a:off x="7670800" y="685800"/>
            <a:ext cx="4521200" cy="61722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N107">
            <a:extLst>
              <a:ext uri="{FF2B5EF4-FFF2-40B4-BE49-F238E27FC236}">
                <a16:creationId xmlns:a16="http://schemas.microsoft.com/office/drawing/2014/main" id="{C292341D-F748-BE81-8D9A-DB8BCE59E88E}"/>
              </a:ext>
            </a:extLst>
          </p:cNvPr>
          <p:cNvSpPr/>
          <p:nvPr/>
        </p:nvSpPr>
        <p:spPr>
          <a:xfrm>
            <a:off x="7797800" y="838200"/>
            <a:ext cx="4241800" cy="984504"/>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From Precon1 to Precon4 the cues’ effect on gamma coherence swung across the network: on Precon1 they lowered it in 31 of 44 pairs; on Precon4, about even (23 up, 21 down).</a:t>
            </a:r>
          </a:p>
        </p:txBody>
      </p:sp>
      <p:sp>
        <p:nvSpPr>
          <p:cNvPr id="13" name="!!N108">
            <a:extLst>
              <a:ext uri="{FF2B5EF4-FFF2-40B4-BE49-F238E27FC236}">
                <a16:creationId xmlns:a16="http://schemas.microsoft.com/office/drawing/2014/main" id="{CC32D944-FE61-3607-D771-38DECDB7D14F}"/>
              </a:ext>
            </a:extLst>
          </p:cNvPr>
          <p:cNvSpPr/>
          <p:nvPr/>
        </p:nvSpPr>
        <p:spPr>
          <a:xfrm>
            <a:off x="7797800" y="1937004"/>
            <a:ext cx="4241800" cy="1362456"/>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Figure 2 (both cues): the rats agreed on that swing (increases P = 0.012), but FP and the shuffles do not confirm it.</a:t>
            </a:r>
          </a:p>
        </p:txBody>
      </p:sp>
      <p:sp>
        <p:nvSpPr>
          <p:cNvPr id="14" name="!!N109">
            <a:extLst>
              <a:ext uri="{FF2B5EF4-FFF2-40B4-BE49-F238E27FC236}">
                <a16:creationId xmlns:a16="http://schemas.microsoft.com/office/drawing/2014/main" id="{2441953E-EDE1-7E31-2B56-A1EEF1B8A3E7}"/>
              </a:ext>
            </a:extLst>
          </p:cNvPr>
          <p:cNvSpPr/>
          <p:nvPr/>
        </p:nvSpPr>
        <p:spPr>
          <a:xfrm>
            <a:off x="12573000" y="2846832"/>
            <a:ext cx="4241800" cy="107899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Figure 4 (cue 1): the increases pass every test (FP P = 0.037, shuffles P = 0.030, rats’ flips P = 0.027).</a:t>
            </a:r>
          </a:p>
        </p:txBody>
      </p:sp>
      <p:sp>
        <p:nvSpPr>
          <p:cNvPr id="15" name="!!T-BG">
            <a:extLst>
              <a:ext uri="{FF2B5EF4-FFF2-40B4-BE49-F238E27FC236}">
                <a16:creationId xmlns:a16="http://schemas.microsoft.com/office/drawing/2014/main" id="{27EE99BD-FAA1-7D18-77B1-512DB700110F}"/>
              </a:ext>
            </a:extLst>
          </p:cNvPr>
          <p:cNvSpPr/>
          <p:nvPr/>
        </p:nvSpPr>
        <p:spPr>
          <a:xfrm>
            <a:off x="-381000" y="0"/>
            <a:ext cx="12954000" cy="685800"/>
          </a:xfrm>
          <a:prstGeom prst="snip2DiagRect">
            <a:avLst>
              <a:gd name="adj1" fmla="val 0"/>
              <a:gd name="adj2" fmla="val 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
            <a:extLst>
              <a:ext uri="{FF2B5EF4-FFF2-40B4-BE49-F238E27FC236}">
                <a16:creationId xmlns:a16="http://schemas.microsoft.com/office/drawing/2014/main" id="{F95378D3-5D34-2948-9607-3E1C6D013ACA}"/>
              </a:ext>
            </a:extLst>
          </p:cNvPr>
          <p:cNvSpPr txBox="1"/>
          <p:nvPr/>
        </p:nvSpPr>
        <p:spPr>
          <a:xfrm>
            <a:off x="127000" y="0"/>
            <a:ext cx="11811000" cy="685800"/>
          </a:xfrm>
          <a:prstGeom prst="rect">
            <a:avLst/>
          </a:prstGeom>
          <a:noFill/>
        </p:spPr>
        <p:txBody>
          <a:bodyPr vert="horz" wrap="square" lIns="76200" tIns="25400" rIns="76200" bIns="25400" rtlCol="0" anchor="ctr">
            <a:noAutofit/>
          </a:bodyPr>
          <a:lstStyle/>
          <a:p>
            <a:pPr>
              <a:lnSpc>
                <a:spcPct val="95000"/>
              </a:lnSpc>
            </a:pPr>
            <a:r>
              <a:rPr lang="en-US" sz="2400" b="1" u="sng">
                <a:solidFill>
                  <a:srgbClr val="FFFFFF"/>
                </a:solidFill>
                <a:latin typeface="Aptos Display" panose="020B0004020202020204" pitchFamily="34" charset="0"/>
              </a:rPr>
              <a:t>What it adds up to</a:t>
            </a:r>
          </a:p>
        </p:txBody>
      </p:sp>
    </p:spTree>
    <p:extLst>
      <p:ext uri="{BB962C8B-B14F-4D97-AF65-F5344CB8AC3E}">
        <p14:creationId xmlns:p14="http://schemas.microsoft.com/office/powerpoint/2010/main" val="201862696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tage">
            <a:extLst>
              <a:ext uri="{FF2B5EF4-FFF2-40B4-BE49-F238E27FC236}">
                <a16:creationId xmlns:a16="http://schemas.microsoft.com/office/drawing/2014/main" id="{52577645-0B67-9E8C-86DD-2316C9BC04F3}"/>
              </a:ext>
            </a:extLst>
          </p:cNvPr>
          <p:cNvSpPr/>
          <p:nvPr/>
        </p:nvSpPr>
        <p:spPr>
          <a:xfrm>
            <a:off x="0" y="685800"/>
            <a:ext cx="7670800" cy="6172200"/>
          </a:xfrm>
          <a:prstGeom prst="rect">
            <a:avLst/>
          </a:prstGeom>
          <a:solidFill>
            <a:srgbClr val="ECEC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F4_fp">
            <a:extLst>
              <a:ext uri="{FF2B5EF4-FFF2-40B4-BE49-F238E27FC236}">
                <a16:creationId xmlns:a16="http://schemas.microsoft.com/office/drawing/2014/main" id="{9299DAD6-C1DC-9F3C-B75F-105A08A5BFA7}"/>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248786" y="-2572884"/>
            <a:ext cx="7158123" cy="8059099"/>
          </a:xfrm>
          <a:prstGeom prst="rect">
            <a:avLst/>
          </a:prstGeom>
          <a:ln w="9525">
            <a:solidFill>
              <a:srgbClr val="B0B0B0"/>
            </a:solidFill>
          </a:ln>
        </p:spPr>
      </p:pic>
      <p:sp>
        <p:nvSpPr>
          <p:cNvPr id="5" name="!!D1">
            <a:extLst>
              <a:ext uri="{FF2B5EF4-FFF2-40B4-BE49-F238E27FC236}">
                <a16:creationId xmlns:a16="http://schemas.microsoft.com/office/drawing/2014/main" id="{F9A77263-F2BA-FC45-866E-863A56291A33}"/>
              </a:ext>
            </a:extLst>
          </p:cNvPr>
          <p:cNvSpPr/>
          <p:nvPr/>
        </p:nvSpPr>
        <p:spPr>
          <a:xfrm>
            <a:off x="0" y="685800"/>
            <a:ext cx="7670800" cy="176278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2">
            <a:extLst>
              <a:ext uri="{FF2B5EF4-FFF2-40B4-BE49-F238E27FC236}">
                <a16:creationId xmlns:a16="http://schemas.microsoft.com/office/drawing/2014/main" id="{08CEB77C-3A01-66D4-C712-4F273CD86FF7}"/>
              </a:ext>
            </a:extLst>
          </p:cNvPr>
          <p:cNvSpPr/>
          <p:nvPr/>
        </p:nvSpPr>
        <p:spPr>
          <a:xfrm>
            <a:off x="0" y="5120620"/>
            <a:ext cx="7670800" cy="173738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3">
            <a:extLst>
              <a:ext uri="{FF2B5EF4-FFF2-40B4-BE49-F238E27FC236}">
                <a16:creationId xmlns:a16="http://schemas.microsoft.com/office/drawing/2014/main" id="{1D3B192F-63DC-589B-B4BE-FB78AF83C7FD}"/>
              </a:ext>
            </a:extLst>
          </p:cNvPr>
          <p:cNvSpPr/>
          <p:nvPr/>
        </p:nvSpPr>
        <p:spPr>
          <a:xfrm>
            <a:off x="0" y="2448580"/>
            <a:ext cx="262509" cy="267204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4">
            <a:extLst>
              <a:ext uri="{FF2B5EF4-FFF2-40B4-BE49-F238E27FC236}">
                <a16:creationId xmlns:a16="http://schemas.microsoft.com/office/drawing/2014/main" id="{4130DB67-F558-4207-F652-C06441D040DC}"/>
              </a:ext>
            </a:extLst>
          </p:cNvPr>
          <p:cNvSpPr/>
          <p:nvPr/>
        </p:nvSpPr>
        <p:spPr>
          <a:xfrm>
            <a:off x="7433691" y="2448580"/>
            <a:ext cx="237109" cy="267204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ocus">
            <a:extLst>
              <a:ext uri="{FF2B5EF4-FFF2-40B4-BE49-F238E27FC236}">
                <a16:creationId xmlns:a16="http://schemas.microsoft.com/office/drawing/2014/main" id="{1B5F6E05-7A51-9043-6C7D-ABD059DF99EB}"/>
              </a:ext>
            </a:extLst>
          </p:cNvPr>
          <p:cNvSpPr/>
          <p:nvPr/>
        </p:nvSpPr>
        <p:spPr>
          <a:xfrm>
            <a:off x="1031246" y="4293199"/>
            <a:ext cx="1721411" cy="645529"/>
          </a:xfrm>
          <a:prstGeom prst="rect">
            <a:avLst/>
          </a:prstGeom>
          <a:solidFill>
            <a:srgbClr val="83CBEB">
              <a:alpha val="37000"/>
            </a:srgbClr>
          </a:solidFill>
          <a:ln w="38100">
            <a:solidFill>
              <a:srgbClr val="46B1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ail">
            <a:extLst>
              <a:ext uri="{FF2B5EF4-FFF2-40B4-BE49-F238E27FC236}">
                <a16:creationId xmlns:a16="http://schemas.microsoft.com/office/drawing/2014/main" id="{D5EFE1AA-3040-5E95-360F-E5C22A818171}"/>
              </a:ext>
            </a:extLst>
          </p:cNvPr>
          <p:cNvSpPr/>
          <p:nvPr/>
        </p:nvSpPr>
        <p:spPr>
          <a:xfrm>
            <a:off x="7670800" y="685800"/>
            <a:ext cx="4521200" cy="61722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N107">
            <a:extLst>
              <a:ext uri="{FF2B5EF4-FFF2-40B4-BE49-F238E27FC236}">
                <a16:creationId xmlns:a16="http://schemas.microsoft.com/office/drawing/2014/main" id="{0ECA1B6C-35FC-D008-FF70-F8F35D58FD7C}"/>
              </a:ext>
            </a:extLst>
          </p:cNvPr>
          <p:cNvSpPr/>
          <p:nvPr/>
        </p:nvSpPr>
        <p:spPr>
          <a:xfrm>
            <a:off x="7797800" y="838200"/>
            <a:ext cx="4241800" cy="984504"/>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From Precon1 to Precon4 the cues’ effect on gamma coherence swung across the network: on Precon1 they lowered it in 31 of 44 pairs; on Precon4, about even (23 up, 21 down).</a:t>
            </a:r>
          </a:p>
        </p:txBody>
      </p:sp>
      <p:sp>
        <p:nvSpPr>
          <p:cNvPr id="12" name="!!N108">
            <a:extLst>
              <a:ext uri="{FF2B5EF4-FFF2-40B4-BE49-F238E27FC236}">
                <a16:creationId xmlns:a16="http://schemas.microsoft.com/office/drawing/2014/main" id="{8FEE194E-332B-D4DD-5461-88CB1EE68C48}"/>
              </a:ext>
            </a:extLst>
          </p:cNvPr>
          <p:cNvSpPr/>
          <p:nvPr/>
        </p:nvSpPr>
        <p:spPr>
          <a:xfrm>
            <a:off x="7797800" y="1937004"/>
            <a:ext cx="4241800" cy="795528"/>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Figure 2 (both cues): the rats agreed on that swing (increases P = 0.012), but FP and the shuffles do not confirm it.</a:t>
            </a:r>
          </a:p>
        </p:txBody>
      </p:sp>
      <p:sp>
        <p:nvSpPr>
          <p:cNvPr id="13" name="!!N109">
            <a:extLst>
              <a:ext uri="{FF2B5EF4-FFF2-40B4-BE49-F238E27FC236}">
                <a16:creationId xmlns:a16="http://schemas.microsoft.com/office/drawing/2014/main" id="{B7C8E441-B3AB-13F3-6DF1-DDD24E9B224E}"/>
              </a:ext>
            </a:extLst>
          </p:cNvPr>
          <p:cNvSpPr/>
          <p:nvPr/>
        </p:nvSpPr>
        <p:spPr>
          <a:xfrm>
            <a:off x="7797800" y="2846832"/>
            <a:ext cx="4241800" cy="107899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Figure 4 (cue 1): the increases pass every test (FP P = 0.037, shuffles P = 0.030, rats’ flips P = 0.027).</a:t>
            </a:r>
          </a:p>
        </p:txBody>
      </p:sp>
      <p:sp>
        <p:nvSpPr>
          <p:cNvPr id="14" name="!!N110">
            <a:extLst>
              <a:ext uri="{FF2B5EF4-FFF2-40B4-BE49-F238E27FC236}">
                <a16:creationId xmlns:a16="http://schemas.microsoft.com/office/drawing/2014/main" id="{E0C493D0-662E-894B-AF7B-0FB548DB1546}"/>
              </a:ext>
            </a:extLst>
          </p:cNvPr>
          <p:cNvSpPr/>
          <p:nvPr/>
        </p:nvSpPr>
        <p:spPr>
          <a:xfrm>
            <a:off x="12573000" y="3567684"/>
            <a:ext cx="4241800" cy="2212848"/>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The change in cue effect passes no test in Figures 1, 3, 5, 6 (theta, and cue 1 → cue 2). In theta, some single days’ cue effects stand out of FP (Figures 1, 3, 5): the cues move theta, but no differently on Precon4 than on Precon1.</a:t>
            </a:r>
          </a:p>
        </p:txBody>
      </p:sp>
      <p:sp>
        <p:nvSpPr>
          <p:cNvPr id="15" name="!!T-BG">
            <a:extLst>
              <a:ext uri="{FF2B5EF4-FFF2-40B4-BE49-F238E27FC236}">
                <a16:creationId xmlns:a16="http://schemas.microsoft.com/office/drawing/2014/main" id="{3D471C20-4E08-A916-C0B7-8F7361735655}"/>
              </a:ext>
            </a:extLst>
          </p:cNvPr>
          <p:cNvSpPr/>
          <p:nvPr/>
        </p:nvSpPr>
        <p:spPr>
          <a:xfrm>
            <a:off x="-381000" y="0"/>
            <a:ext cx="12954000" cy="685800"/>
          </a:xfrm>
          <a:prstGeom prst="snip2DiagRect">
            <a:avLst>
              <a:gd name="adj1" fmla="val 0"/>
              <a:gd name="adj2" fmla="val 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
            <a:extLst>
              <a:ext uri="{FF2B5EF4-FFF2-40B4-BE49-F238E27FC236}">
                <a16:creationId xmlns:a16="http://schemas.microsoft.com/office/drawing/2014/main" id="{61E6AB6A-FCE6-2A4D-6423-9EA5B243C247}"/>
              </a:ext>
            </a:extLst>
          </p:cNvPr>
          <p:cNvSpPr txBox="1"/>
          <p:nvPr/>
        </p:nvSpPr>
        <p:spPr>
          <a:xfrm>
            <a:off x="127000" y="0"/>
            <a:ext cx="11811000" cy="685800"/>
          </a:xfrm>
          <a:prstGeom prst="rect">
            <a:avLst/>
          </a:prstGeom>
          <a:noFill/>
        </p:spPr>
        <p:txBody>
          <a:bodyPr vert="horz" wrap="square" lIns="76200" tIns="25400" rIns="76200" bIns="25400" rtlCol="0" anchor="ctr">
            <a:noAutofit/>
          </a:bodyPr>
          <a:lstStyle/>
          <a:p>
            <a:pPr>
              <a:lnSpc>
                <a:spcPct val="95000"/>
              </a:lnSpc>
            </a:pPr>
            <a:r>
              <a:rPr lang="en-US" sz="2400" b="1" u="sng">
                <a:solidFill>
                  <a:srgbClr val="FFFFFF"/>
                </a:solidFill>
                <a:latin typeface="Aptos Display" panose="020B0004020202020204" pitchFamily="34" charset="0"/>
              </a:rPr>
              <a:t>What it adds up to</a:t>
            </a:r>
          </a:p>
        </p:txBody>
      </p:sp>
    </p:spTree>
    <p:extLst>
      <p:ext uri="{BB962C8B-B14F-4D97-AF65-F5344CB8AC3E}">
        <p14:creationId xmlns:p14="http://schemas.microsoft.com/office/powerpoint/2010/main" val="48324567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tage">
            <a:extLst>
              <a:ext uri="{FF2B5EF4-FFF2-40B4-BE49-F238E27FC236}">
                <a16:creationId xmlns:a16="http://schemas.microsoft.com/office/drawing/2014/main" id="{2A994CC0-3B51-FE3F-28F1-43B58E53F6F4}"/>
              </a:ext>
            </a:extLst>
          </p:cNvPr>
          <p:cNvSpPr/>
          <p:nvPr/>
        </p:nvSpPr>
        <p:spPr>
          <a:xfrm>
            <a:off x="0" y="685800"/>
            <a:ext cx="7670800" cy="6172200"/>
          </a:xfrm>
          <a:prstGeom prst="rect">
            <a:avLst/>
          </a:prstGeom>
          <a:solidFill>
            <a:srgbClr val="ECEC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F4_fp">
            <a:extLst>
              <a:ext uri="{FF2B5EF4-FFF2-40B4-BE49-F238E27FC236}">
                <a16:creationId xmlns:a16="http://schemas.microsoft.com/office/drawing/2014/main" id="{F98FE401-F5CA-F8C8-FB2D-5DCE615DC5FE}"/>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248786" y="-2572884"/>
            <a:ext cx="7158123" cy="8059099"/>
          </a:xfrm>
          <a:prstGeom prst="rect">
            <a:avLst/>
          </a:prstGeom>
          <a:ln w="9525">
            <a:solidFill>
              <a:srgbClr val="B0B0B0"/>
            </a:solidFill>
          </a:ln>
        </p:spPr>
      </p:pic>
      <p:sp>
        <p:nvSpPr>
          <p:cNvPr id="5" name="!!D1">
            <a:extLst>
              <a:ext uri="{FF2B5EF4-FFF2-40B4-BE49-F238E27FC236}">
                <a16:creationId xmlns:a16="http://schemas.microsoft.com/office/drawing/2014/main" id="{8F4192D5-4846-0FBD-9B51-E8479CC110CD}"/>
              </a:ext>
            </a:extLst>
          </p:cNvPr>
          <p:cNvSpPr/>
          <p:nvPr/>
        </p:nvSpPr>
        <p:spPr>
          <a:xfrm>
            <a:off x="0" y="685800"/>
            <a:ext cx="7670800" cy="176278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2">
            <a:extLst>
              <a:ext uri="{FF2B5EF4-FFF2-40B4-BE49-F238E27FC236}">
                <a16:creationId xmlns:a16="http://schemas.microsoft.com/office/drawing/2014/main" id="{6F1A9D1E-3E1E-D0EC-C83D-490212564406}"/>
              </a:ext>
            </a:extLst>
          </p:cNvPr>
          <p:cNvSpPr/>
          <p:nvPr/>
        </p:nvSpPr>
        <p:spPr>
          <a:xfrm>
            <a:off x="0" y="5120620"/>
            <a:ext cx="7670800" cy="173738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3">
            <a:extLst>
              <a:ext uri="{FF2B5EF4-FFF2-40B4-BE49-F238E27FC236}">
                <a16:creationId xmlns:a16="http://schemas.microsoft.com/office/drawing/2014/main" id="{FE20B02E-7432-E584-BDAA-57EFD187B330}"/>
              </a:ext>
            </a:extLst>
          </p:cNvPr>
          <p:cNvSpPr/>
          <p:nvPr/>
        </p:nvSpPr>
        <p:spPr>
          <a:xfrm>
            <a:off x="0" y="2448580"/>
            <a:ext cx="262509" cy="267204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4">
            <a:extLst>
              <a:ext uri="{FF2B5EF4-FFF2-40B4-BE49-F238E27FC236}">
                <a16:creationId xmlns:a16="http://schemas.microsoft.com/office/drawing/2014/main" id="{F43A9AC6-61C7-B883-E8A4-D1ED5FC16768}"/>
              </a:ext>
            </a:extLst>
          </p:cNvPr>
          <p:cNvSpPr/>
          <p:nvPr/>
        </p:nvSpPr>
        <p:spPr>
          <a:xfrm>
            <a:off x="7433691" y="2448580"/>
            <a:ext cx="237109" cy="267204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ail">
            <a:extLst>
              <a:ext uri="{FF2B5EF4-FFF2-40B4-BE49-F238E27FC236}">
                <a16:creationId xmlns:a16="http://schemas.microsoft.com/office/drawing/2014/main" id="{B6289783-C07D-6319-8A4F-F5CFFC4D8ED4}"/>
              </a:ext>
            </a:extLst>
          </p:cNvPr>
          <p:cNvSpPr/>
          <p:nvPr/>
        </p:nvSpPr>
        <p:spPr>
          <a:xfrm>
            <a:off x="7670800" y="685800"/>
            <a:ext cx="4521200" cy="61722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N107">
            <a:extLst>
              <a:ext uri="{FF2B5EF4-FFF2-40B4-BE49-F238E27FC236}">
                <a16:creationId xmlns:a16="http://schemas.microsoft.com/office/drawing/2014/main" id="{C55D2BF2-B802-FBA0-5A24-2C9C06927FB9}"/>
              </a:ext>
            </a:extLst>
          </p:cNvPr>
          <p:cNvSpPr/>
          <p:nvPr/>
        </p:nvSpPr>
        <p:spPr>
          <a:xfrm>
            <a:off x="7797800" y="838200"/>
            <a:ext cx="4241800" cy="984504"/>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From Precon1 to Precon4 the cues’ effect on gamma coherence swung across the network: on Precon1 they lowered it in 31 of 44 pairs; on Precon4, about even (23 up, 21 down).</a:t>
            </a:r>
          </a:p>
        </p:txBody>
      </p:sp>
      <p:sp>
        <p:nvSpPr>
          <p:cNvPr id="11" name="!!N108">
            <a:extLst>
              <a:ext uri="{FF2B5EF4-FFF2-40B4-BE49-F238E27FC236}">
                <a16:creationId xmlns:a16="http://schemas.microsoft.com/office/drawing/2014/main" id="{CA8752CB-8D7C-75FA-6093-4F3D0BC0A390}"/>
              </a:ext>
            </a:extLst>
          </p:cNvPr>
          <p:cNvSpPr/>
          <p:nvPr/>
        </p:nvSpPr>
        <p:spPr>
          <a:xfrm>
            <a:off x="7797800" y="1937004"/>
            <a:ext cx="4241800" cy="795528"/>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Figure 2 (both cues): the rats agreed on that swing (increases P = 0.012), but FP and the shuffles do not confirm it.</a:t>
            </a:r>
          </a:p>
        </p:txBody>
      </p:sp>
      <p:sp>
        <p:nvSpPr>
          <p:cNvPr id="12" name="!!N109">
            <a:extLst>
              <a:ext uri="{FF2B5EF4-FFF2-40B4-BE49-F238E27FC236}">
                <a16:creationId xmlns:a16="http://schemas.microsoft.com/office/drawing/2014/main" id="{64DF0B3C-930F-DC87-0BFB-65981059361C}"/>
              </a:ext>
            </a:extLst>
          </p:cNvPr>
          <p:cNvSpPr/>
          <p:nvPr/>
        </p:nvSpPr>
        <p:spPr>
          <a:xfrm>
            <a:off x="7797800" y="2846832"/>
            <a:ext cx="4241800" cy="60655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Figure 4 (cue 1): the increases pass every test (FP P = 0.037, shuffles P = 0.030, rats’ flips P = 0.027).</a:t>
            </a:r>
          </a:p>
        </p:txBody>
      </p:sp>
      <p:sp>
        <p:nvSpPr>
          <p:cNvPr id="13" name="!!N110">
            <a:extLst>
              <a:ext uri="{FF2B5EF4-FFF2-40B4-BE49-F238E27FC236}">
                <a16:creationId xmlns:a16="http://schemas.microsoft.com/office/drawing/2014/main" id="{FCB8BD82-E861-00FE-DAB3-E060AE6CE47C}"/>
              </a:ext>
            </a:extLst>
          </p:cNvPr>
          <p:cNvSpPr/>
          <p:nvPr/>
        </p:nvSpPr>
        <p:spPr>
          <a:xfrm>
            <a:off x="7797800" y="3567684"/>
            <a:ext cx="4241800" cy="2212848"/>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The change in cue effect passes no test in Figures 1, 3, 5, 6 (theta, and cue 1 → cue 2). In theta, some single days’ cue effects stand out of FP (Figures 1, 3, 5): the cues move theta, but no differently on Precon4 than on Precon1.</a:t>
            </a:r>
          </a:p>
        </p:txBody>
      </p:sp>
      <p:sp>
        <p:nvSpPr>
          <p:cNvPr id="14" name="!!N111">
            <a:extLst>
              <a:ext uri="{FF2B5EF4-FFF2-40B4-BE49-F238E27FC236}">
                <a16:creationId xmlns:a16="http://schemas.microsoft.com/office/drawing/2014/main" id="{444BD4D4-B123-68CE-97E8-1E9D86973CD6}"/>
              </a:ext>
            </a:extLst>
          </p:cNvPr>
          <p:cNvSpPr/>
          <p:nvPr/>
        </p:nvSpPr>
        <p:spPr>
          <a:xfrm>
            <a:off x="12573000" y="838200"/>
            <a:ext cx="4241800" cy="2212848"/>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Of the 20 follow-up figures, 9 pass all three tests (2.1, 2.2, 2.3, 4.1, 4.2, 4.3, 4.4, 4.5, 4.6), 5 pass two (2.4, 4.7, 4.8, 4.9, 4.10), the rest only the t-test. They were picked from 190 t-tests, 21 of which passed where about 10 would by chance.</a:t>
            </a:r>
          </a:p>
        </p:txBody>
      </p:sp>
      <p:sp>
        <p:nvSpPr>
          <p:cNvPr id="15" name="!!T-BG">
            <a:extLst>
              <a:ext uri="{FF2B5EF4-FFF2-40B4-BE49-F238E27FC236}">
                <a16:creationId xmlns:a16="http://schemas.microsoft.com/office/drawing/2014/main" id="{10AB61B2-43BB-40D0-2E13-E827936A9159}"/>
              </a:ext>
            </a:extLst>
          </p:cNvPr>
          <p:cNvSpPr/>
          <p:nvPr/>
        </p:nvSpPr>
        <p:spPr>
          <a:xfrm>
            <a:off x="-381000" y="0"/>
            <a:ext cx="12954000" cy="685800"/>
          </a:xfrm>
          <a:prstGeom prst="snip2DiagRect">
            <a:avLst>
              <a:gd name="adj1" fmla="val 0"/>
              <a:gd name="adj2" fmla="val 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
            <a:extLst>
              <a:ext uri="{FF2B5EF4-FFF2-40B4-BE49-F238E27FC236}">
                <a16:creationId xmlns:a16="http://schemas.microsoft.com/office/drawing/2014/main" id="{E83AD400-D9E1-2613-98FE-E7BDD8500B3C}"/>
              </a:ext>
            </a:extLst>
          </p:cNvPr>
          <p:cNvSpPr txBox="1"/>
          <p:nvPr/>
        </p:nvSpPr>
        <p:spPr>
          <a:xfrm>
            <a:off x="127000" y="0"/>
            <a:ext cx="11811000" cy="685800"/>
          </a:xfrm>
          <a:prstGeom prst="rect">
            <a:avLst/>
          </a:prstGeom>
          <a:noFill/>
        </p:spPr>
        <p:txBody>
          <a:bodyPr vert="horz" wrap="square" lIns="76200" tIns="25400" rIns="76200" bIns="25400" rtlCol="0" anchor="ctr">
            <a:noAutofit/>
          </a:bodyPr>
          <a:lstStyle/>
          <a:p>
            <a:pPr>
              <a:lnSpc>
                <a:spcPct val="95000"/>
              </a:lnSpc>
            </a:pPr>
            <a:r>
              <a:rPr lang="en-US" sz="2400" b="1" u="sng">
                <a:solidFill>
                  <a:srgbClr val="FFFFFF"/>
                </a:solidFill>
                <a:latin typeface="Aptos Display" panose="020B0004020202020204" pitchFamily="34" charset="0"/>
              </a:rPr>
              <a:t>What it adds up to</a:t>
            </a:r>
          </a:p>
        </p:txBody>
      </p:sp>
    </p:spTree>
    <p:extLst>
      <p:ext uri="{BB962C8B-B14F-4D97-AF65-F5344CB8AC3E}">
        <p14:creationId xmlns:p14="http://schemas.microsoft.com/office/powerpoint/2010/main" val="262324149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tage">
            <a:extLst>
              <a:ext uri="{FF2B5EF4-FFF2-40B4-BE49-F238E27FC236}">
                <a16:creationId xmlns:a16="http://schemas.microsoft.com/office/drawing/2014/main" id="{AA5D43A2-5E73-56D3-9980-3F72AF963988}"/>
              </a:ext>
            </a:extLst>
          </p:cNvPr>
          <p:cNvSpPr/>
          <p:nvPr/>
        </p:nvSpPr>
        <p:spPr>
          <a:xfrm>
            <a:off x="0" y="685800"/>
            <a:ext cx="7670800" cy="6172200"/>
          </a:xfrm>
          <a:prstGeom prst="rect">
            <a:avLst/>
          </a:prstGeom>
          <a:solidFill>
            <a:srgbClr val="ECEC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I_families">
            <a:extLst>
              <a:ext uri="{FF2B5EF4-FFF2-40B4-BE49-F238E27FC236}">
                <a16:creationId xmlns:a16="http://schemas.microsoft.com/office/drawing/2014/main" id="{D8578E9A-168B-9A43-0A93-BC89A7C8CABA}"/>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287909" y="1506078"/>
            <a:ext cx="7120382" cy="4557044"/>
          </a:xfrm>
          <a:prstGeom prst="rect">
            <a:avLst/>
          </a:prstGeom>
          <a:ln w="9525">
            <a:solidFill>
              <a:srgbClr val="B0B0B0"/>
            </a:solidFill>
          </a:ln>
        </p:spPr>
      </p:pic>
      <p:sp>
        <p:nvSpPr>
          <p:cNvPr id="5" name="!!D1">
            <a:extLst>
              <a:ext uri="{FF2B5EF4-FFF2-40B4-BE49-F238E27FC236}">
                <a16:creationId xmlns:a16="http://schemas.microsoft.com/office/drawing/2014/main" id="{B7ADCDCE-C543-0AD2-D7A2-BE1CF64B4121}"/>
              </a:ext>
            </a:extLst>
          </p:cNvPr>
          <p:cNvSpPr/>
          <p:nvPr/>
        </p:nvSpPr>
        <p:spPr>
          <a:xfrm>
            <a:off x="0" y="685800"/>
            <a:ext cx="7670800" cy="635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2">
            <a:extLst>
              <a:ext uri="{FF2B5EF4-FFF2-40B4-BE49-F238E27FC236}">
                <a16:creationId xmlns:a16="http://schemas.microsoft.com/office/drawing/2014/main" id="{715F91F9-1C78-8E77-933A-F8EEE266CC82}"/>
              </a:ext>
            </a:extLst>
          </p:cNvPr>
          <p:cNvSpPr/>
          <p:nvPr/>
        </p:nvSpPr>
        <p:spPr>
          <a:xfrm>
            <a:off x="0" y="6858000"/>
            <a:ext cx="7670800" cy="635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3">
            <a:extLst>
              <a:ext uri="{FF2B5EF4-FFF2-40B4-BE49-F238E27FC236}">
                <a16:creationId xmlns:a16="http://schemas.microsoft.com/office/drawing/2014/main" id="{70F58CA6-4FD3-4548-64EA-9B868408F43E}"/>
              </a:ext>
            </a:extLst>
          </p:cNvPr>
          <p:cNvSpPr/>
          <p:nvPr/>
        </p:nvSpPr>
        <p:spPr>
          <a:xfrm>
            <a:off x="0" y="685800"/>
            <a:ext cx="6350" cy="617220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4">
            <a:extLst>
              <a:ext uri="{FF2B5EF4-FFF2-40B4-BE49-F238E27FC236}">
                <a16:creationId xmlns:a16="http://schemas.microsoft.com/office/drawing/2014/main" id="{D20E3365-B2E5-45A3-036D-F745B08A0894}"/>
              </a:ext>
            </a:extLst>
          </p:cNvPr>
          <p:cNvSpPr/>
          <p:nvPr/>
        </p:nvSpPr>
        <p:spPr>
          <a:xfrm>
            <a:off x="7670800" y="685800"/>
            <a:ext cx="6350" cy="617220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ail">
            <a:extLst>
              <a:ext uri="{FF2B5EF4-FFF2-40B4-BE49-F238E27FC236}">
                <a16:creationId xmlns:a16="http://schemas.microsoft.com/office/drawing/2014/main" id="{79033C24-7345-F2DB-9801-6BBFC6A397AE}"/>
              </a:ext>
            </a:extLst>
          </p:cNvPr>
          <p:cNvSpPr/>
          <p:nvPr/>
        </p:nvSpPr>
        <p:spPr>
          <a:xfrm>
            <a:off x="7670800" y="685800"/>
            <a:ext cx="4521200" cy="61722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N111">
            <a:extLst>
              <a:ext uri="{FF2B5EF4-FFF2-40B4-BE49-F238E27FC236}">
                <a16:creationId xmlns:a16="http://schemas.microsoft.com/office/drawing/2014/main" id="{1F0EBDDB-4F05-67FD-D5BE-CA9CD15BCCCE}"/>
              </a:ext>
            </a:extLst>
          </p:cNvPr>
          <p:cNvSpPr/>
          <p:nvPr/>
        </p:nvSpPr>
        <p:spPr>
          <a:xfrm>
            <a:off x="7797800" y="838200"/>
            <a:ext cx="4241800" cy="2212848"/>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Of the 20 follow-up figures, 9 pass all three tests (2.1, 2.2, 2.3, 4.1, 4.2, 4.3, 4.4, 4.5, 4.6), 5 pass two (2.4, 4.7, 4.8, 4.9, 4.10), the rest only the t-test. They were picked from 190 t-tests, 21 of which passed where about 10 would by chance.</a:t>
            </a:r>
          </a:p>
        </p:txBody>
      </p:sp>
      <p:sp>
        <p:nvSpPr>
          <p:cNvPr id="11" name="!!N112">
            <a:extLst>
              <a:ext uri="{FF2B5EF4-FFF2-40B4-BE49-F238E27FC236}">
                <a16:creationId xmlns:a16="http://schemas.microsoft.com/office/drawing/2014/main" id="{8CE8C242-C546-FC28-6BB0-A619BA1D2FB3}"/>
              </a:ext>
            </a:extLst>
          </p:cNvPr>
          <p:cNvSpPr/>
          <p:nvPr/>
        </p:nvSpPr>
        <p:spPr>
          <a:xfrm>
            <a:off x="12573000" y="2125980"/>
            <a:ext cx="4241800" cy="2212848"/>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FP is the most physiological of the three yardsticks: it carries what these rats’ brains do with no cues, with every session’s own lost windows. A result it passes and the shuffle does not is still worth a second look.</a:t>
            </a:r>
          </a:p>
        </p:txBody>
      </p:sp>
      <p:sp>
        <p:nvSpPr>
          <p:cNvPr id="12" name="!!N107">
            <a:extLst>
              <a:ext uri="{FF2B5EF4-FFF2-40B4-BE49-F238E27FC236}">
                <a16:creationId xmlns:a16="http://schemas.microsoft.com/office/drawing/2014/main" id="{06EB404F-1237-1ECF-7140-E5BD74F6B861}"/>
              </a:ext>
            </a:extLst>
          </p:cNvPr>
          <p:cNvSpPr/>
          <p:nvPr/>
        </p:nvSpPr>
        <p:spPr>
          <a:xfrm>
            <a:off x="12573000" y="838200"/>
            <a:ext cx="4241800" cy="984504"/>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From Precon1 to Precon4 the cues’ effect on gamma coherence swung across the network: on Precon1 they lowered it in 31 of 44 pairs; on Precon4, about even (23 up, 21 down).</a:t>
            </a:r>
          </a:p>
        </p:txBody>
      </p:sp>
      <p:sp>
        <p:nvSpPr>
          <p:cNvPr id="13" name="!!N108">
            <a:extLst>
              <a:ext uri="{FF2B5EF4-FFF2-40B4-BE49-F238E27FC236}">
                <a16:creationId xmlns:a16="http://schemas.microsoft.com/office/drawing/2014/main" id="{2EFCA3D3-FFF7-793E-32DF-212DFCD43ED2}"/>
              </a:ext>
            </a:extLst>
          </p:cNvPr>
          <p:cNvSpPr/>
          <p:nvPr/>
        </p:nvSpPr>
        <p:spPr>
          <a:xfrm>
            <a:off x="12573000" y="1937004"/>
            <a:ext cx="4241800" cy="795528"/>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Figure 2 (both cues): the rats agreed on that swing (increases P = 0.012), but FP and the shuffles do not confirm it.</a:t>
            </a:r>
          </a:p>
        </p:txBody>
      </p:sp>
      <p:sp>
        <p:nvSpPr>
          <p:cNvPr id="14" name="!!N109">
            <a:extLst>
              <a:ext uri="{FF2B5EF4-FFF2-40B4-BE49-F238E27FC236}">
                <a16:creationId xmlns:a16="http://schemas.microsoft.com/office/drawing/2014/main" id="{CF810FA6-A702-D880-7200-1E9DA4838513}"/>
              </a:ext>
            </a:extLst>
          </p:cNvPr>
          <p:cNvSpPr/>
          <p:nvPr/>
        </p:nvSpPr>
        <p:spPr>
          <a:xfrm>
            <a:off x="12573000" y="2846832"/>
            <a:ext cx="4241800" cy="606552"/>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Figure 4 (cue 1): the increases pass every test (FP P = 0.037, shuffles P = 0.030, rats’ flips P = 0.027).</a:t>
            </a:r>
          </a:p>
        </p:txBody>
      </p:sp>
      <p:sp>
        <p:nvSpPr>
          <p:cNvPr id="15" name="!!N110">
            <a:extLst>
              <a:ext uri="{FF2B5EF4-FFF2-40B4-BE49-F238E27FC236}">
                <a16:creationId xmlns:a16="http://schemas.microsoft.com/office/drawing/2014/main" id="{83559E6B-3A03-8E2E-5037-8F38D696D40C}"/>
              </a:ext>
            </a:extLst>
          </p:cNvPr>
          <p:cNvSpPr/>
          <p:nvPr/>
        </p:nvSpPr>
        <p:spPr>
          <a:xfrm>
            <a:off x="12573000" y="3567684"/>
            <a:ext cx="4241800" cy="2212848"/>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The change in cue effect passes no test in Figures 1, 3, 5, 6 (theta, and cue 1 → cue 2). In theta, some single days’ cue effects stand out of FP (Figures 1, 3, 5): the cues move theta, but no differently on Precon4 than on Precon1.</a:t>
            </a:r>
          </a:p>
        </p:txBody>
      </p:sp>
      <p:sp>
        <p:nvSpPr>
          <p:cNvPr id="16" name="!!T-BG">
            <a:extLst>
              <a:ext uri="{FF2B5EF4-FFF2-40B4-BE49-F238E27FC236}">
                <a16:creationId xmlns:a16="http://schemas.microsoft.com/office/drawing/2014/main" id="{57394D72-DAB5-F786-D39A-6AA6E633D26E}"/>
              </a:ext>
            </a:extLst>
          </p:cNvPr>
          <p:cNvSpPr/>
          <p:nvPr/>
        </p:nvSpPr>
        <p:spPr>
          <a:xfrm>
            <a:off x="-381000" y="0"/>
            <a:ext cx="12954000" cy="685800"/>
          </a:xfrm>
          <a:prstGeom prst="snip2DiagRect">
            <a:avLst>
              <a:gd name="adj1" fmla="val 0"/>
              <a:gd name="adj2" fmla="val 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
            <a:extLst>
              <a:ext uri="{FF2B5EF4-FFF2-40B4-BE49-F238E27FC236}">
                <a16:creationId xmlns:a16="http://schemas.microsoft.com/office/drawing/2014/main" id="{E56BE1C9-3005-10D9-9670-800408FFC568}"/>
              </a:ext>
            </a:extLst>
          </p:cNvPr>
          <p:cNvSpPr txBox="1"/>
          <p:nvPr/>
        </p:nvSpPr>
        <p:spPr>
          <a:xfrm>
            <a:off x="127000" y="0"/>
            <a:ext cx="11811000" cy="685800"/>
          </a:xfrm>
          <a:prstGeom prst="rect">
            <a:avLst/>
          </a:prstGeom>
          <a:noFill/>
        </p:spPr>
        <p:txBody>
          <a:bodyPr vert="horz" wrap="square" lIns="76200" tIns="25400" rIns="76200" bIns="25400" rtlCol="0" anchor="ctr">
            <a:noAutofit/>
          </a:bodyPr>
          <a:lstStyle/>
          <a:p>
            <a:pPr>
              <a:lnSpc>
                <a:spcPct val="95000"/>
              </a:lnSpc>
            </a:pPr>
            <a:r>
              <a:rPr lang="en-US" sz="2400" b="1" u="sng">
                <a:solidFill>
                  <a:srgbClr val="FFFFFF"/>
                </a:solidFill>
                <a:latin typeface="Aptos Display" panose="020B0004020202020204" pitchFamily="34" charset="0"/>
              </a:rPr>
              <a:t>What it adds up to</a:t>
            </a:r>
          </a:p>
        </p:txBody>
      </p:sp>
    </p:spTree>
    <p:extLst>
      <p:ext uri="{BB962C8B-B14F-4D97-AF65-F5344CB8AC3E}">
        <p14:creationId xmlns:p14="http://schemas.microsoft.com/office/powerpoint/2010/main" val="54697007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tage">
            <a:extLst>
              <a:ext uri="{FF2B5EF4-FFF2-40B4-BE49-F238E27FC236}">
                <a16:creationId xmlns:a16="http://schemas.microsoft.com/office/drawing/2014/main" id="{B933B13E-E427-8C2A-6BFA-E0508D22310A}"/>
              </a:ext>
            </a:extLst>
          </p:cNvPr>
          <p:cNvSpPr/>
          <p:nvPr/>
        </p:nvSpPr>
        <p:spPr>
          <a:xfrm>
            <a:off x="0" y="685800"/>
            <a:ext cx="7670800" cy="6172200"/>
          </a:xfrm>
          <a:prstGeom prst="rect">
            <a:avLst/>
          </a:prstGeom>
          <a:solidFill>
            <a:srgbClr val="ECEC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I_families">
            <a:extLst>
              <a:ext uri="{FF2B5EF4-FFF2-40B4-BE49-F238E27FC236}">
                <a16:creationId xmlns:a16="http://schemas.microsoft.com/office/drawing/2014/main" id="{0D027BF1-A5C5-0747-6E5D-12BE1EE9B363}"/>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287909" y="1506078"/>
            <a:ext cx="7120382" cy="4557044"/>
          </a:xfrm>
          <a:prstGeom prst="rect">
            <a:avLst/>
          </a:prstGeom>
          <a:ln w="9525">
            <a:solidFill>
              <a:srgbClr val="B0B0B0"/>
            </a:solidFill>
          </a:ln>
        </p:spPr>
      </p:pic>
      <p:sp>
        <p:nvSpPr>
          <p:cNvPr id="5" name="!!D1">
            <a:extLst>
              <a:ext uri="{FF2B5EF4-FFF2-40B4-BE49-F238E27FC236}">
                <a16:creationId xmlns:a16="http://schemas.microsoft.com/office/drawing/2014/main" id="{223D2170-DBE7-1262-37DA-4FA48BA182C6}"/>
              </a:ext>
            </a:extLst>
          </p:cNvPr>
          <p:cNvSpPr/>
          <p:nvPr/>
        </p:nvSpPr>
        <p:spPr>
          <a:xfrm>
            <a:off x="0" y="685800"/>
            <a:ext cx="7670800" cy="635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2">
            <a:extLst>
              <a:ext uri="{FF2B5EF4-FFF2-40B4-BE49-F238E27FC236}">
                <a16:creationId xmlns:a16="http://schemas.microsoft.com/office/drawing/2014/main" id="{4376F75C-3E11-67FD-67FD-17F2CE041A5B}"/>
              </a:ext>
            </a:extLst>
          </p:cNvPr>
          <p:cNvSpPr/>
          <p:nvPr/>
        </p:nvSpPr>
        <p:spPr>
          <a:xfrm>
            <a:off x="0" y="6858000"/>
            <a:ext cx="7670800" cy="635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3">
            <a:extLst>
              <a:ext uri="{FF2B5EF4-FFF2-40B4-BE49-F238E27FC236}">
                <a16:creationId xmlns:a16="http://schemas.microsoft.com/office/drawing/2014/main" id="{5D4B7811-C9ED-8B26-83F0-0ACD0A11721D}"/>
              </a:ext>
            </a:extLst>
          </p:cNvPr>
          <p:cNvSpPr/>
          <p:nvPr/>
        </p:nvSpPr>
        <p:spPr>
          <a:xfrm>
            <a:off x="0" y="685800"/>
            <a:ext cx="6350" cy="617220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4">
            <a:extLst>
              <a:ext uri="{FF2B5EF4-FFF2-40B4-BE49-F238E27FC236}">
                <a16:creationId xmlns:a16="http://schemas.microsoft.com/office/drawing/2014/main" id="{F2B4D683-C1EB-4571-1DB2-2D447E91EF9F}"/>
              </a:ext>
            </a:extLst>
          </p:cNvPr>
          <p:cNvSpPr/>
          <p:nvPr/>
        </p:nvSpPr>
        <p:spPr>
          <a:xfrm>
            <a:off x="7670800" y="685800"/>
            <a:ext cx="6350" cy="617220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ail">
            <a:extLst>
              <a:ext uri="{FF2B5EF4-FFF2-40B4-BE49-F238E27FC236}">
                <a16:creationId xmlns:a16="http://schemas.microsoft.com/office/drawing/2014/main" id="{E60BE078-23D0-E917-985B-8E5C845D00FC}"/>
              </a:ext>
            </a:extLst>
          </p:cNvPr>
          <p:cNvSpPr/>
          <p:nvPr/>
        </p:nvSpPr>
        <p:spPr>
          <a:xfrm>
            <a:off x="7670800" y="685800"/>
            <a:ext cx="4521200" cy="61722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N111">
            <a:extLst>
              <a:ext uri="{FF2B5EF4-FFF2-40B4-BE49-F238E27FC236}">
                <a16:creationId xmlns:a16="http://schemas.microsoft.com/office/drawing/2014/main" id="{624D899C-362C-CFF8-C471-BD07507A3CE9}"/>
              </a:ext>
            </a:extLst>
          </p:cNvPr>
          <p:cNvSpPr/>
          <p:nvPr/>
        </p:nvSpPr>
        <p:spPr>
          <a:xfrm>
            <a:off x="7797800" y="838200"/>
            <a:ext cx="4241800" cy="1173480"/>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Of the 20 follow-up figures, 9 pass all three tests (2.1, 2.2, 2.3, 4.1, 4.2, 4.3, 4.4, 4.5, 4.6), 5 pass two (2.4, 4.7, 4.8, 4.9, 4.10), the rest only the t-test. They were picked from 190 t-tests, 21 of which passed where about 10 would by chance.</a:t>
            </a:r>
          </a:p>
        </p:txBody>
      </p:sp>
      <p:sp>
        <p:nvSpPr>
          <p:cNvPr id="11" name="!!N112">
            <a:extLst>
              <a:ext uri="{FF2B5EF4-FFF2-40B4-BE49-F238E27FC236}">
                <a16:creationId xmlns:a16="http://schemas.microsoft.com/office/drawing/2014/main" id="{6A5AAFF5-30E1-8390-7938-6A989E4F4D2A}"/>
              </a:ext>
            </a:extLst>
          </p:cNvPr>
          <p:cNvSpPr/>
          <p:nvPr/>
        </p:nvSpPr>
        <p:spPr>
          <a:xfrm>
            <a:off x="7797800" y="2125980"/>
            <a:ext cx="4241800" cy="2212848"/>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FP is the most physiological of the three yardsticks: it carries what these rats’ brains do with no cues, with every session’s own lost windows. A result it passes and the shuffle does not is still worth a second look.</a:t>
            </a:r>
          </a:p>
        </p:txBody>
      </p:sp>
      <p:sp>
        <p:nvSpPr>
          <p:cNvPr id="12" name="!!N113">
            <a:extLst>
              <a:ext uri="{FF2B5EF4-FFF2-40B4-BE49-F238E27FC236}">
                <a16:creationId xmlns:a16="http://schemas.microsoft.com/office/drawing/2014/main" id="{7D841F69-C690-B901-6349-DFE355CD47BE}"/>
              </a:ext>
            </a:extLst>
          </p:cNvPr>
          <p:cNvSpPr/>
          <p:nvPr/>
        </p:nvSpPr>
        <p:spPr>
          <a:xfrm>
            <a:off x="12573000" y="3224784"/>
            <a:ext cx="4241800" cy="1362456"/>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Nothing is corrected across tests, and the rings re-test the data that lit the light. All of this is leads to test again, not findings yet.</a:t>
            </a:r>
          </a:p>
        </p:txBody>
      </p:sp>
      <p:sp>
        <p:nvSpPr>
          <p:cNvPr id="13" name="!!T-BG">
            <a:extLst>
              <a:ext uri="{FF2B5EF4-FFF2-40B4-BE49-F238E27FC236}">
                <a16:creationId xmlns:a16="http://schemas.microsoft.com/office/drawing/2014/main" id="{014E255E-CFA6-C28D-7AD0-EAC26DF6DB71}"/>
              </a:ext>
            </a:extLst>
          </p:cNvPr>
          <p:cNvSpPr/>
          <p:nvPr/>
        </p:nvSpPr>
        <p:spPr>
          <a:xfrm>
            <a:off x="-381000" y="0"/>
            <a:ext cx="12954000" cy="685800"/>
          </a:xfrm>
          <a:prstGeom prst="snip2DiagRect">
            <a:avLst>
              <a:gd name="adj1" fmla="val 0"/>
              <a:gd name="adj2" fmla="val 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
            <a:extLst>
              <a:ext uri="{FF2B5EF4-FFF2-40B4-BE49-F238E27FC236}">
                <a16:creationId xmlns:a16="http://schemas.microsoft.com/office/drawing/2014/main" id="{E47B8EA5-0B41-2077-7B90-31CDB0355567}"/>
              </a:ext>
            </a:extLst>
          </p:cNvPr>
          <p:cNvSpPr txBox="1"/>
          <p:nvPr/>
        </p:nvSpPr>
        <p:spPr>
          <a:xfrm>
            <a:off x="127000" y="0"/>
            <a:ext cx="11811000" cy="685800"/>
          </a:xfrm>
          <a:prstGeom prst="rect">
            <a:avLst/>
          </a:prstGeom>
          <a:noFill/>
        </p:spPr>
        <p:txBody>
          <a:bodyPr vert="horz" wrap="square" lIns="76200" tIns="25400" rIns="76200" bIns="25400" rtlCol="0" anchor="ctr">
            <a:noAutofit/>
          </a:bodyPr>
          <a:lstStyle/>
          <a:p>
            <a:pPr>
              <a:lnSpc>
                <a:spcPct val="95000"/>
              </a:lnSpc>
            </a:pPr>
            <a:r>
              <a:rPr lang="en-US" sz="2400" b="1" u="sng">
                <a:solidFill>
                  <a:srgbClr val="FFFFFF"/>
                </a:solidFill>
                <a:latin typeface="Aptos Display" panose="020B0004020202020204" pitchFamily="34" charset="0"/>
              </a:rPr>
              <a:t>What it adds up to</a:t>
            </a:r>
          </a:p>
        </p:txBody>
      </p:sp>
    </p:spTree>
    <p:extLst>
      <p:ext uri="{BB962C8B-B14F-4D97-AF65-F5344CB8AC3E}">
        <p14:creationId xmlns:p14="http://schemas.microsoft.com/office/powerpoint/2010/main" val="152822106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tage">
            <a:extLst>
              <a:ext uri="{FF2B5EF4-FFF2-40B4-BE49-F238E27FC236}">
                <a16:creationId xmlns:a16="http://schemas.microsoft.com/office/drawing/2014/main" id="{DC6A1BFE-9DCA-57B6-9DA6-D903CF3A9AF5}"/>
              </a:ext>
            </a:extLst>
          </p:cNvPr>
          <p:cNvSpPr/>
          <p:nvPr/>
        </p:nvSpPr>
        <p:spPr>
          <a:xfrm>
            <a:off x="0" y="685800"/>
            <a:ext cx="7670800" cy="6172200"/>
          </a:xfrm>
          <a:prstGeom prst="rect">
            <a:avLst/>
          </a:prstGeom>
          <a:solidFill>
            <a:srgbClr val="ECEC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I_families">
            <a:extLst>
              <a:ext uri="{FF2B5EF4-FFF2-40B4-BE49-F238E27FC236}">
                <a16:creationId xmlns:a16="http://schemas.microsoft.com/office/drawing/2014/main" id="{CB18E79B-6CAD-1560-BC02-BD2D969EA867}"/>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287909" y="1506078"/>
            <a:ext cx="7120382" cy="4557044"/>
          </a:xfrm>
          <a:prstGeom prst="rect">
            <a:avLst/>
          </a:prstGeom>
          <a:ln w="9525">
            <a:solidFill>
              <a:srgbClr val="B0B0B0"/>
            </a:solidFill>
          </a:ln>
        </p:spPr>
      </p:pic>
      <p:sp>
        <p:nvSpPr>
          <p:cNvPr id="5" name="!!D1">
            <a:extLst>
              <a:ext uri="{FF2B5EF4-FFF2-40B4-BE49-F238E27FC236}">
                <a16:creationId xmlns:a16="http://schemas.microsoft.com/office/drawing/2014/main" id="{7CCC6C9B-24A3-C521-0513-8B0186B25E2E}"/>
              </a:ext>
            </a:extLst>
          </p:cNvPr>
          <p:cNvSpPr/>
          <p:nvPr/>
        </p:nvSpPr>
        <p:spPr>
          <a:xfrm>
            <a:off x="0" y="685800"/>
            <a:ext cx="7670800" cy="635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2">
            <a:extLst>
              <a:ext uri="{FF2B5EF4-FFF2-40B4-BE49-F238E27FC236}">
                <a16:creationId xmlns:a16="http://schemas.microsoft.com/office/drawing/2014/main" id="{EF5210FC-11B8-DBC8-DA48-50CCE83A9EB5}"/>
              </a:ext>
            </a:extLst>
          </p:cNvPr>
          <p:cNvSpPr/>
          <p:nvPr/>
        </p:nvSpPr>
        <p:spPr>
          <a:xfrm>
            <a:off x="0" y="6858000"/>
            <a:ext cx="7670800" cy="635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3">
            <a:extLst>
              <a:ext uri="{FF2B5EF4-FFF2-40B4-BE49-F238E27FC236}">
                <a16:creationId xmlns:a16="http://schemas.microsoft.com/office/drawing/2014/main" id="{0676A871-9BD2-2931-8C3C-8C85AE7B1008}"/>
              </a:ext>
            </a:extLst>
          </p:cNvPr>
          <p:cNvSpPr/>
          <p:nvPr/>
        </p:nvSpPr>
        <p:spPr>
          <a:xfrm>
            <a:off x="0" y="685800"/>
            <a:ext cx="6350" cy="617220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4">
            <a:extLst>
              <a:ext uri="{FF2B5EF4-FFF2-40B4-BE49-F238E27FC236}">
                <a16:creationId xmlns:a16="http://schemas.microsoft.com/office/drawing/2014/main" id="{5EAEF043-C504-DB88-A51F-74D2B7750ABB}"/>
              </a:ext>
            </a:extLst>
          </p:cNvPr>
          <p:cNvSpPr/>
          <p:nvPr/>
        </p:nvSpPr>
        <p:spPr>
          <a:xfrm>
            <a:off x="7670800" y="685800"/>
            <a:ext cx="6350" cy="617220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ail">
            <a:extLst>
              <a:ext uri="{FF2B5EF4-FFF2-40B4-BE49-F238E27FC236}">
                <a16:creationId xmlns:a16="http://schemas.microsoft.com/office/drawing/2014/main" id="{0A55E547-A541-C1E2-4C47-B9758E2C951A}"/>
              </a:ext>
            </a:extLst>
          </p:cNvPr>
          <p:cNvSpPr/>
          <p:nvPr/>
        </p:nvSpPr>
        <p:spPr>
          <a:xfrm>
            <a:off x="7670800" y="685800"/>
            <a:ext cx="4521200" cy="61722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N111">
            <a:extLst>
              <a:ext uri="{FF2B5EF4-FFF2-40B4-BE49-F238E27FC236}">
                <a16:creationId xmlns:a16="http://schemas.microsoft.com/office/drawing/2014/main" id="{B290ABF7-A13C-E91E-8C91-154DB7E0B624}"/>
              </a:ext>
            </a:extLst>
          </p:cNvPr>
          <p:cNvSpPr/>
          <p:nvPr/>
        </p:nvSpPr>
        <p:spPr>
          <a:xfrm>
            <a:off x="7797800" y="838200"/>
            <a:ext cx="4241800" cy="1173480"/>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Of the 20 follow-up figures, 9 pass all three tests (2.1, 2.2, 2.3, 4.1, 4.2, 4.3, 4.4, 4.5, 4.6), 5 pass two (2.4, 4.7, 4.8, 4.9, 4.10), the rest only the t-test. They were picked from 190 t-tests, 21 of which passed where about 10 would by chance.</a:t>
            </a:r>
          </a:p>
        </p:txBody>
      </p:sp>
      <p:sp>
        <p:nvSpPr>
          <p:cNvPr id="11" name="!!N112">
            <a:extLst>
              <a:ext uri="{FF2B5EF4-FFF2-40B4-BE49-F238E27FC236}">
                <a16:creationId xmlns:a16="http://schemas.microsoft.com/office/drawing/2014/main" id="{82EED970-5A3C-D79A-7211-1E64132026A8}"/>
              </a:ext>
            </a:extLst>
          </p:cNvPr>
          <p:cNvSpPr/>
          <p:nvPr/>
        </p:nvSpPr>
        <p:spPr>
          <a:xfrm>
            <a:off x="7797800" y="2125980"/>
            <a:ext cx="4241800" cy="984504"/>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FP is the most physiological of the three yardsticks: it carries what these rats’ brains do with no cues, with every session’s own lost windows. A result it passes and the shuffle does not is still worth a second look.</a:t>
            </a:r>
          </a:p>
        </p:txBody>
      </p:sp>
      <p:sp>
        <p:nvSpPr>
          <p:cNvPr id="12" name="!!N113">
            <a:extLst>
              <a:ext uri="{FF2B5EF4-FFF2-40B4-BE49-F238E27FC236}">
                <a16:creationId xmlns:a16="http://schemas.microsoft.com/office/drawing/2014/main" id="{63382B1C-068A-D218-1055-120FCBD05B1B}"/>
              </a:ext>
            </a:extLst>
          </p:cNvPr>
          <p:cNvSpPr/>
          <p:nvPr/>
        </p:nvSpPr>
        <p:spPr>
          <a:xfrm>
            <a:off x="7797800" y="3224784"/>
            <a:ext cx="4241800" cy="1362456"/>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Nothing is corrected across tests, and the rings re-test the data that lit the light. All of this is leads to test again, not findings yet.</a:t>
            </a:r>
          </a:p>
        </p:txBody>
      </p:sp>
      <p:sp>
        <p:nvSpPr>
          <p:cNvPr id="13" name="!!N114">
            <a:extLst>
              <a:ext uri="{FF2B5EF4-FFF2-40B4-BE49-F238E27FC236}">
                <a16:creationId xmlns:a16="http://schemas.microsoft.com/office/drawing/2014/main" id="{99266359-556E-11C0-4A0A-A5D42DD7A87C}"/>
              </a:ext>
            </a:extLst>
          </p:cNvPr>
          <p:cNvSpPr/>
          <p:nvPr/>
        </p:nvSpPr>
        <p:spPr>
          <a:xfrm>
            <a:off x="12573000" y="838200"/>
            <a:ext cx="4241800" cy="1645920"/>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Everything is in Jarvis: tab 9 has each figure as PDF, SVG and PNG with its legend, and its numbers for Prism (.xlsx and .pzfx); tab 8 has the SPSS files to recreate the lights.</a:t>
            </a:r>
          </a:p>
        </p:txBody>
      </p:sp>
      <p:sp>
        <p:nvSpPr>
          <p:cNvPr id="14" name="!!T-BG">
            <a:extLst>
              <a:ext uri="{FF2B5EF4-FFF2-40B4-BE49-F238E27FC236}">
                <a16:creationId xmlns:a16="http://schemas.microsoft.com/office/drawing/2014/main" id="{3E6C8A9B-7855-0DBE-2568-7BE4B8A06447}"/>
              </a:ext>
            </a:extLst>
          </p:cNvPr>
          <p:cNvSpPr/>
          <p:nvPr/>
        </p:nvSpPr>
        <p:spPr>
          <a:xfrm>
            <a:off x="-381000" y="0"/>
            <a:ext cx="12954000" cy="685800"/>
          </a:xfrm>
          <a:prstGeom prst="snip2DiagRect">
            <a:avLst>
              <a:gd name="adj1" fmla="val 0"/>
              <a:gd name="adj2" fmla="val 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
            <a:extLst>
              <a:ext uri="{FF2B5EF4-FFF2-40B4-BE49-F238E27FC236}">
                <a16:creationId xmlns:a16="http://schemas.microsoft.com/office/drawing/2014/main" id="{BD21EB76-858C-CB49-6E1F-E5D4E82F8DC2}"/>
              </a:ext>
            </a:extLst>
          </p:cNvPr>
          <p:cNvSpPr txBox="1"/>
          <p:nvPr/>
        </p:nvSpPr>
        <p:spPr>
          <a:xfrm>
            <a:off x="127000" y="0"/>
            <a:ext cx="11811000" cy="685800"/>
          </a:xfrm>
          <a:prstGeom prst="rect">
            <a:avLst/>
          </a:prstGeom>
          <a:noFill/>
        </p:spPr>
        <p:txBody>
          <a:bodyPr vert="horz" wrap="square" lIns="76200" tIns="25400" rIns="76200" bIns="25400" rtlCol="0" anchor="ctr">
            <a:noAutofit/>
          </a:bodyPr>
          <a:lstStyle/>
          <a:p>
            <a:pPr>
              <a:lnSpc>
                <a:spcPct val="95000"/>
              </a:lnSpc>
            </a:pPr>
            <a:r>
              <a:rPr lang="en-US" sz="2400" b="1" u="sng">
                <a:solidFill>
                  <a:srgbClr val="FFFFFF"/>
                </a:solidFill>
                <a:latin typeface="Aptos Display" panose="020B0004020202020204" pitchFamily="34" charset="0"/>
              </a:rPr>
              <a:t>What it adds up to</a:t>
            </a:r>
          </a:p>
        </p:txBody>
      </p:sp>
    </p:spTree>
    <p:extLst>
      <p:ext uri="{BB962C8B-B14F-4D97-AF65-F5344CB8AC3E}">
        <p14:creationId xmlns:p14="http://schemas.microsoft.com/office/powerpoint/2010/main" val="423628000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tage">
            <a:extLst>
              <a:ext uri="{FF2B5EF4-FFF2-40B4-BE49-F238E27FC236}">
                <a16:creationId xmlns:a16="http://schemas.microsoft.com/office/drawing/2014/main" id="{13A6C87E-0B08-5775-AF60-0D022A0E41C0}"/>
              </a:ext>
            </a:extLst>
          </p:cNvPr>
          <p:cNvSpPr/>
          <p:nvPr/>
        </p:nvSpPr>
        <p:spPr>
          <a:xfrm>
            <a:off x="0" y="685800"/>
            <a:ext cx="7670800" cy="6172200"/>
          </a:xfrm>
          <a:prstGeom prst="rect">
            <a:avLst/>
          </a:prstGeom>
          <a:solidFill>
            <a:srgbClr val="ECEC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I_families">
            <a:extLst>
              <a:ext uri="{FF2B5EF4-FFF2-40B4-BE49-F238E27FC236}">
                <a16:creationId xmlns:a16="http://schemas.microsoft.com/office/drawing/2014/main" id="{1E56ADA1-605A-A38B-836F-4FE4C2A91E79}"/>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287909" y="1506078"/>
            <a:ext cx="7120382" cy="4557044"/>
          </a:xfrm>
          <a:prstGeom prst="rect">
            <a:avLst/>
          </a:prstGeom>
          <a:ln w="9525">
            <a:solidFill>
              <a:srgbClr val="B0B0B0"/>
            </a:solidFill>
          </a:ln>
        </p:spPr>
      </p:pic>
      <p:sp>
        <p:nvSpPr>
          <p:cNvPr id="5" name="!!D1">
            <a:extLst>
              <a:ext uri="{FF2B5EF4-FFF2-40B4-BE49-F238E27FC236}">
                <a16:creationId xmlns:a16="http://schemas.microsoft.com/office/drawing/2014/main" id="{903829EF-2BD1-2FC7-E585-8B4B8CA49266}"/>
              </a:ext>
            </a:extLst>
          </p:cNvPr>
          <p:cNvSpPr/>
          <p:nvPr/>
        </p:nvSpPr>
        <p:spPr>
          <a:xfrm>
            <a:off x="0" y="685800"/>
            <a:ext cx="7670800" cy="635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2">
            <a:extLst>
              <a:ext uri="{FF2B5EF4-FFF2-40B4-BE49-F238E27FC236}">
                <a16:creationId xmlns:a16="http://schemas.microsoft.com/office/drawing/2014/main" id="{51516D3A-32CA-EDE7-3EF6-2936E4ED7449}"/>
              </a:ext>
            </a:extLst>
          </p:cNvPr>
          <p:cNvSpPr/>
          <p:nvPr/>
        </p:nvSpPr>
        <p:spPr>
          <a:xfrm>
            <a:off x="0" y="6858000"/>
            <a:ext cx="7670800" cy="635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3">
            <a:extLst>
              <a:ext uri="{FF2B5EF4-FFF2-40B4-BE49-F238E27FC236}">
                <a16:creationId xmlns:a16="http://schemas.microsoft.com/office/drawing/2014/main" id="{169511FF-816D-4F4E-EF3C-CA5E84D9CF75}"/>
              </a:ext>
            </a:extLst>
          </p:cNvPr>
          <p:cNvSpPr/>
          <p:nvPr/>
        </p:nvSpPr>
        <p:spPr>
          <a:xfrm>
            <a:off x="0" y="685800"/>
            <a:ext cx="6350" cy="617220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4">
            <a:extLst>
              <a:ext uri="{FF2B5EF4-FFF2-40B4-BE49-F238E27FC236}">
                <a16:creationId xmlns:a16="http://schemas.microsoft.com/office/drawing/2014/main" id="{D997EDF4-7A94-525C-8274-EB12A65F1215}"/>
              </a:ext>
            </a:extLst>
          </p:cNvPr>
          <p:cNvSpPr/>
          <p:nvPr/>
        </p:nvSpPr>
        <p:spPr>
          <a:xfrm>
            <a:off x="7670800" y="685800"/>
            <a:ext cx="6350" cy="6172200"/>
          </a:xfrm>
          <a:prstGeom prst="rect">
            <a:avLst/>
          </a:prstGeom>
          <a:solidFill>
            <a:srgbClr val="000000">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ail">
            <a:extLst>
              <a:ext uri="{FF2B5EF4-FFF2-40B4-BE49-F238E27FC236}">
                <a16:creationId xmlns:a16="http://schemas.microsoft.com/office/drawing/2014/main" id="{6BC24D43-B3FB-B42D-A38B-971E031A2E9B}"/>
              </a:ext>
            </a:extLst>
          </p:cNvPr>
          <p:cNvSpPr/>
          <p:nvPr/>
        </p:nvSpPr>
        <p:spPr>
          <a:xfrm>
            <a:off x="7670800" y="685800"/>
            <a:ext cx="4521200" cy="61722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N114">
            <a:extLst>
              <a:ext uri="{FF2B5EF4-FFF2-40B4-BE49-F238E27FC236}">
                <a16:creationId xmlns:a16="http://schemas.microsoft.com/office/drawing/2014/main" id="{F0C6C02B-966D-0FEB-0870-4C64B192F285}"/>
              </a:ext>
            </a:extLst>
          </p:cNvPr>
          <p:cNvSpPr/>
          <p:nvPr/>
        </p:nvSpPr>
        <p:spPr>
          <a:xfrm>
            <a:off x="7797800" y="838200"/>
            <a:ext cx="4241800" cy="1645920"/>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Everything is in Jarvis: tab 9 has each figure as PDF, SVG and PNG with its legend, and its numbers for Prism (.xlsx and .pzfx); tab 8 has the SPSS files to recreate the lights.</a:t>
            </a:r>
          </a:p>
        </p:txBody>
      </p:sp>
      <p:sp>
        <p:nvSpPr>
          <p:cNvPr id="11" name="!!N111">
            <a:extLst>
              <a:ext uri="{FF2B5EF4-FFF2-40B4-BE49-F238E27FC236}">
                <a16:creationId xmlns:a16="http://schemas.microsoft.com/office/drawing/2014/main" id="{C4462465-77A8-F40A-C41A-EEC522C43F60}"/>
              </a:ext>
            </a:extLst>
          </p:cNvPr>
          <p:cNvSpPr/>
          <p:nvPr/>
        </p:nvSpPr>
        <p:spPr>
          <a:xfrm>
            <a:off x="12573000" y="838200"/>
            <a:ext cx="4241800" cy="1173480"/>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Of the 20 follow-up figures, 9 pass all three tests (2.1, 2.2, 2.3, 4.1, 4.2, 4.3, 4.4, 4.5, 4.6), 5 pass two (2.4, 4.7, 4.8, 4.9, 4.10), the rest only the t-test. They were picked from 190 t-tests, 21 of which passed where about 10 would by chance.</a:t>
            </a:r>
          </a:p>
        </p:txBody>
      </p:sp>
      <p:sp>
        <p:nvSpPr>
          <p:cNvPr id="12" name="!!N112">
            <a:extLst>
              <a:ext uri="{FF2B5EF4-FFF2-40B4-BE49-F238E27FC236}">
                <a16:creationId xmlns:a16="http://schemas.microsoft.com/office/drawing/2014/main" id="{394BAB8D-114E-C9C8-683A-E316659F5067}"/>
              </a:ext>
            </a:extLst>
          </p:cNvPr>
          <p:cNvSpPr/>
          <p:nvPr/>
        </p:nvSpPr>
        <p:spPr>
          <a:xfrm>
            <a:off x="12573000" y="2125980"/>
            <a:ext cx="4241800" cy="984504"/>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sz="1200">
                <a:solidFill>
                  <a:srgbClr val="FFFFFF"/>
                </a:solidFill>
                <a:latin typeface="Aptos" panose="020B0004020202020204" pitchFamily="34" charset="0"/>
              </a:rPr>
              <a:t>FP is the most physiological of the three yardsticks: it carries what these rats’ brains do with no cues, with every session’s own lost windows. A result it passes and the shuffle does not is still worth a second look.</a:t>
            </a:r>
          </a:p>
        </p:txBody>
      </p:sp>
      <p:sp>
        <p:nvSpPr>
          <p:cNvPr id="13" name="!!N113">
            <a:extLst>
              <a:ext uri="{FF2B5EF4-FFF2-40B4-BE49-F238E27FC236}">
                <a16:creationId xmlns:a16="http://schemas.microsoft.com/office/drawing/2014/main" id="{E8DF4546-241B-D37D-4A78-FF1713B2BAF6}"/>
              </a:ext>
            </a:extLst>
          </p:cNvPr>
          <p:cNvSpPr/>
          <p:nvPr/>
        </p:nvSpPr>
        <p:spPr>
          <a:xfrm>
            <a:off x="12573000" y="3224784"/>
            <a:ext cx="4241800" cy="1362456"/>
          </a:xfrm>
          <a:prstGeom prst="snip2DiagRect">
            <a:avLst>
              <a:gd name="adj1" fmla="val 0"/>
              <a:gd name="adj2" fmla="val 1400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127000" bIns="88900" rtlCol="0" anchor="ctr"/>
          <a:lstStyle/>
          <a:p>
            <a:pPr>
              <a:lnSpc>
                <a:spcPct val="95000"/>
              </a:lnSpc>
            </a:pPr>
            <a:r>
              <a:rPr lang="en-US" b="1">
                <a:solidFill>
                  <a:srgbClr val="FF0000"/>
                </a:solidFill>
                <a:latin typeface="Aptos" panose="020B0004020202020204" pitchFamily="34" charset="0"/>
              </a:rPr>
              <a:t>Nothing is corrected across tests, and the rings re-test the data that lit the light. All of this is leads to test again, not findings yet.</a:t>
            </a:r>
          </a:p>
        </p:txBody>
      </p:sp>
      <p:sp>
        <p:nvSpPr>
          <p:cNvPr id="14" name="!!T-BG">
            <a:extLst>
              <a:ext uri="{FF2B5EF4-FFF2-40B4-BE49-F238E27FC236}">
                <a16:creationId xmlns:a16="http://schemas.microsoft.com/office/drawing/2014/main" id="{4253CC7E-B543-E626-6D47-7D14C1F3392C}"/>
              </a:ext>
            </a:extLst>
          </p:cNvPr>
          <p:cNvSpPr/>
          <p:nvPr/>
        </p:nvSpPr>
        <p:spPr>
          <a:xfrm>
            <a:off x="-381000" y="0"/>
            <a:ext cx="12954000" cy="685800"/>
          </a:xfrm>
          <a:prstGeom prst="snip2DiagRect">
            <a:avLst>
              <a:gd name="adj1" fmla="val 0"/>
              <a:gd name="adj2" fmla="val 0"/>
            </a:avLst>
          </a:prstGeom>
          <a:solidFill>
            <a:srgbClr val="000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
            <a:extLst>
              <a:ext uri="{FF2B5EF4-FFF2-40B4-BE49-F238E27FC236}">
                <a16:creationId xmlns:a16="http://schemas.microsoft.com/office/drawing/2014/main" id="{62F5DD6E-FF88-7DC7-63CA-CE838592E12B}"/>
              </a:ext>
            </a:extLst>
          </p:cNvPr>
          <p:cNvSpPr txBox="1"/>
          <p:nvPr/>
        </p:nvSpPr>
        <p:spPr>
          <a:xfrm>
            <a:off x="127000" y="0"/>
            <a:ext cx="11811000" cy="685800"/>
          </a:xfrm>
          <a:prstGeom prst="rect">
            <a:avLst/>
          </a:prstGeom>
          <a:noFill/>
        </p:spPr>
        <p:txBody>
          <a:bodyPr vert="horz" wrap="square" lIns="76200" tIns="25400" rIns="76200" bIns="25400" rtlCol="0" anchor="ctr">
            <a:noAutofit/>
          </a:bodyPr>
          <a:lstStyle/>
          <a:p>
            <a:pPr>
              <a:lnSpc>
                <a:spcPct val="95000"/>
              </a:lnSpc>
            </a:pPr>
            <a:r>
              <a:rPr lang="en-US" sz="2400" b="1" u="sng">
                <a:solidFill>
                  <a:srgbClr val="FFFFFF"/>
                </a:solidFill>
                <a:latin typeface="Aptos Display" panose="020B0004020202020204" pitchFamily="34" charset="0"/>
              </a:rPr>
              <a:t>What it adds up to</a:t>
            </a:r>
          </a:p>
        </p:txBody>
      </p:sp>
    </p:spTree>
    <p:extLst>
      <p:ext uri="{BB962C8B-B14F-4D97-AF65-F5344CB8AC3E}">
        <p14:creationId xmlns:p14="http://schemas.microsoft.com/office/powerpoint/2010/main" val="397576454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25106</Words>
  <Application>Microsoft Office PowerPoint</Application>
  <PresentationFormat>Custom</PresentationFormat>
  <Paragraphs>711</Paragraphs>
  <Slides>122</Slides>
  <Notes>70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122</vt:i4>
      </vt:variant>
    </vt:vector>
  </HeadingPairs>
  <TitlesOfParts>
    <vt:vector size="126"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Shahriar Tafti</dc:creator>
  <cp:lastModifiedBy>Shahriar Tafti</cp:lastModifiedBy>
  <cp:revision>1</cp:revision>
  <dcterms:created xsi:type="dcterms:W3CDTF">2026-10-23T20:04:51Z</dcterms:created>
  <dcterms:modified xsi:type="dcterms:W3CDTF">2026-10-23T20:04:51Z</dcterms:modified>
</cp:coreProperties>
</file>