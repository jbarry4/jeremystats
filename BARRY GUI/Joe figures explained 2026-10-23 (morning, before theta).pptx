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CEC58-92E3-491B-B4EB-E31FB2560883}"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FCBA49-7C97-40D6-8D1E-BAFE2E40ADCF}" type="slidenum">
              <a:rPr lang="en-US" smtClean="0"/>
              <a:t>‹#›</a:t>
            </a:fld>
            <a:endParaRPr lang="en-US"/>
          </a:p>
        </p:txBody>
      </p:sp>
    </p:spTree>
    <p:extLst>
      <p:ext uri="{BB962C8B-B14F-4D97-AF65-F5344CB8AC3E}">
        <p14:creationId xmlns:p14="http://schemas.microsoft.com/office/powerpoint/2010/main" val="136426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Jarvis, tabs 8 and 9 (the Monolith page). Every number on these slides is the tab's own.</a:t>
            </a:r>
          </a:p>
        </p:txBody>
      </p:sp>
      <p:sp>
        <p:nvSpPr>
          <p:cNvPr id="4" name="Slide Number Placeholder 3"/>
          <p:cNvSpPr>
            <a:spLocks noGrp="1"/>
          </p:cNvSpPr>
          <p:nvPr>
            <p:ph type="sldNum" sz="quarter" idx="5"/>
          </p:nvPr>
        </p:nvSpPr>
        <p:spPr/>
        <p:txBody>
          <a:bodyPr/>
          <a:lstStyle/>
          <a:p>
            <a:fld id="{5BFCBA49-7C97-40D6-8D1E-BAFE2E40ADCF}" type="slidenum">
              <a:rPr lang="en-US" smtClean="0"/>
              <a:t>1</a:t>
            </a:fld>
            <a:endParaRPr lang="en-US"/>
          </a:p>
        </p:txBody>
      </p:sp>
    </p:spTree>
    <p:extLst>
      <p:ext uri="{BB962C8B-B14F-4D97-AF65-F5344CB8AC3E}">
        <p14:creationId xmlns:p14="http://schemas.microsoft.com/office/powerpoint/2010/main" val="2290211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newest note is the big red one; older ones shrink and stay on the right until the topic ends.</a:t>
            </a:r>
          </a:p>
        </p:txBody>
      </p:sp>
      <p:sp>
        <p:nvSpPr>
          <p:cNvPr id="4" name="Slide Number Placeholder 3"/>
          <p:cNvSpPr>
            <a:spLocks noGrp="1"/>
          </p:cNvSpPr>
          <p:nvPr>
            <p:ph type="sldNum" sz="quarter" idx="5"/>
          </p:nvPr>
        </p:nvSpPr>
        <p:spPr/>
        <p:txBody>
          <a:bodyPr/>
          <a:lstStyle/>
          <a:p>
            <a:fld id="{5BFCBA49-7C97-40D6-8D1E-BAFE2E40ADCF}" type="slidenum">
              <a:rPr lang="en-US" smtClean="0"/>
              <a:t>2</a:t>
            </a:fld>
            <a:endParaRPr lang="en-US"/>
          </a:p>
        </p:txBody>
      </p:sp>
    </p:spTree>
    <p:extLst>
      <p:ext uri="{BB962C8B-B14F-4D97-AF65-F5344CB8AC3E}">
        <p14:creationId xmlns:p14="http://schemas.microsoft.com/office/powerpoint/2010/main" val="1469980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Coherence is computed the way Dickson et al. 2022 and Jeremy’s MATLAB do it (mscohere).</a:t>
            </a:r>
          </a:p>
        </p:txBody>
      </p:sp>
      <p:sp>
        <p:nvSpPr>
          <p:cNvPr id="4" name="Slide Number Placeholder 3"/>
          <p:cNvSpPr>
            <a:spLocks noGrp="1"/>
          </p:cNvSpPr>
          <p:nvPr>
            <p:ph type="sldNum" sz="quarter" idx="5"/>
          </p:nvPr>
        </p:nvSpPr>
        <p:spPr/>
        <p:txBody>
          <a:bodyPr/>
          <a:lstStyle/>
          <a:p>
            <a:fld id="{5BFCBA49-7C97-40D6-8D1E-BAFE2E40ADCF}" type="slidenum">
              <a:rPr lang="en-US" smtClean="0"/>
              <a:t>3</a:t>
            </a:fld>
            <a:endParaRPr lang="en-US"/>
          </a:p>
        </p:txBody>
      </p:sp>
    </p:spTree>
    <p:extLst>
      <p:ext uri="{BB962C8B-B14F-4D97-AF65-F5344CB8AC3E}">
        <p14:creationId xmlns:p14="http://schemas.microsoft.com/office/powerpoint/2010/main" val="3178185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Theta (5–12 Hz) was measured too; no main comparison passed in theta, so this deck is gamma.</a:t>
            </a:r>
          </a:p>
        </p:txBody>
      </p:sp>
      <p:sp>
        <p:nvSpPr>
          <p:cNvPr id="4" name="Slide Number Placeholder 3"/>
          <p:cNvSpPr>
            <a:spLocks noGrp="1"/>
          </p:cNvSpPr>
          <p:nvPr>
            <p:ph type="sldNum" sz="quarter" idx="5"/>
          </p:nvPr>
        </p:nvSpPr>
        <p:spPr/>
        <p:txBody>
          <a:bodyPr/>
          <a:lstStyle/>
          <a:p>
            <a:fld id="{5BFCBA49-7C97-40D6-8D1E-BAFE2E40ADCF}" type="slidenum">
              <a:rPr lang="en-US" smtClean="0"/>
              <a:t>5</a:t>
            </a:fld>
            <a:endParaRPr lang="en-US"/>
          </a:p>
        </p:txBody>
      </p:sp>
    </p:spTree>
    <p:extLst>
      <p:ext uri="{BB962C8B-B14F-4D97-AF65-F5344CB8AC3E}">
        <p14:creationId xmlns:p14="http://schemas.microsoft.com/office/powerpoint/2010/main" val="997738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Coherence in each window is the mean over the session’s trials (12 to 16 a session), per rat and day.</a:t>
            </a:r>
          </a:p>
        </p:txBody>
      </p:sp>
      <p:sp>
        <p:nvSpPr>
          <p:cNvPr id="4" name="Slide Number Placeholder 3"/>
          <p:cNvSpPr>
            <a:spLocks noGrp="1"/>
          </p:cNvSpPr>
          <p:nvPr>
            <p:ph type="sldNum" sz="quarter" idx="5"/>
          </p:nvPr>
        </p:nvSpPr>
        <p:spPr/>
        <p:txBody>
          <a:bodyPr/>
          <a:lstStyle/>
          <a:p>
            <a:fld id="{5BFCBA49-7C97-40D6-8D1E-BAFE2E40ADCF}" type="slidenum">
              <a:rPr lang="en-US" smtClean="0"/>
              <a:t>8</a:t>
            </a:fld>
            <a:endParaRPr lang="en-US"/>
          </a:p>
        </p:txBody>
      </p:sp>
    </p:spTree>
    <p:extLst>
      <p:ext uri="{BB962C8B-B14F-4D97-AF65-F5344CB8AC3E}">
        <p14:creationId xmlns:p14="http://schemas.microsoft.com/office/powerpoint/2010/main" val="2320093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 rat: the mean over its pairs of (Precon4 cue − baseline) − (Precon1 cue − baseline). A one-sample t-test of these 8 numbers: t(7) = 2.77, P = 0.028.</a:t>
            </a:r>
          </a:p>
        </p:txBody>
      </p:sp>
      <p:sp>
        <p:nvSpPr>
          <p:cNvPr id="4" name="Slide Number Placeholder 3"/>
          <p:cNvSpPr>
            <a:spLocks noGrp="1"/>
          </p:cNvSpPr>
          <p:nvPr>
            <p:ph type="sldNum" sz="quarter" idx="5"/>
          </p:nvPr>
        </p:nvSpPr>
        <p:spPr/>
        <p:txBody>
          <a:bodyPr/>
          <a:lstStyle/>
          <a:p>
            <a:fld id="{5BFCBA49-7C97-40D6-8D1E-BAFE2E40ADCF}" type="slidenum">
              <a:rPr lang="en-US" smtClean="0"/>
              <a:t>10</a:t>
            </a:fld>
            <a:endParaRPr lang="en-US"/>
          </a:p>
        </p:txBody>
      </p:sp>
    </p:spTree>
    <p:extLst>
      <p:ext uri="{BB962C8B-B14F-4D97-AF65-F5344CB8AC3E}">
        <p14:creationId xmlns:p14="http://schemas.microsoft.com/office/powerpoint/2010/main" val="1549481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Mixed model, rat as the unit, Day × Phase: comparison 1 F(1, 7) = 9.57, P = 0.017; comparison 2 F(1, 7) = 6.83, P = 0.035.</a:t>
            </a:r>
          </a:p>
        </p:txBody>
      </p:sp>
      <p:sp>
        <p:nvSpPr>
          <p:cNvPr id="4" name="Slide Number Placeholder 3"/>
          <p:cNvSpPr>
            <a:spLocks noGrp="1"/>
          </p:cNvSpPr>
          <p:nvPr>
            <p:ph type="sldNum" sz="quarter" idx="5"/>
          </p:nvPr>
        </p:nvSpPr>
        <p:spPr/>
        <p:txBody>
          <a:bodyPr/>
          <a:lstStyle/>
          <a:p>
            <a:fld id="{5BFCBA49-7C97-40D6-8D1E-BAFE2E40ADCF}" type="slidenum">
              <a:rPr lang="en-US" smtClean="0"/>
              <a:t>12</a:t>
            </a:fld>
            <a:endParaRPr lang="en-US"/>
          </a:p>
        </p:txBody>
      </p:sp>
    </p:spTree>
    <p:extLst>
      <p:ext uri="{BB962C8B-B14F-4D97-AF65-F5344CB8AC3E}">
        <p14:creationId xmlns:p14="http://schemas.microsoft.com/office/powerpoint/2010/main" val="2501807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light passes if either its Day × factor term or its Day × factor × Pair term has P &lt; 0.05: about 24 × (1 − 0.95²) ≈ 2.3 expected by chance alone; 3 lit.</a:t>
            </a:r>
          </a:p>
        </p:txBody>
      </p:sp>
      <p:sp>
        <p:nvSpPr>
          <p:cNvPr id="4" name="Slide Number Placeholder 3"/>
          <p:cNvSpPr>
            <a:spLocks noGrp="1"/>
          </p:cNvSpPr>
          <p:nvPr>
            <p:ph type="sldNum" sz="quarter" idx="5"/>
          </p:nvPr>
        </p:nvSpPr>
        <p:spPr/>
        <p:txBody>
          <a:bodyPr/>
          <a:lstStyle/>
          <a:p>
            <a:fld id="{5BFCBA49-7C97-40D6-8D1E-BAFE2E40ADCF}" type="slidenum">
              <a:rPr lang="en-US" smtClean="0"/>
              <a:t>14</a:t>
            </a:fld>
            <a:endParaRPr lang="en-US"/>
          </a:p>
        </p:txBody>
      </p:sp>
    </p:spTree>
    <p:extLst>
      <p:ext uri="{BB962C8B-B14F-4D97-AF65-F5344CB8AC3E}">
        <p14:creationId xmlns:p14="http://schemas.microsoft.com/office/powerpoint/2010/main" val="248699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30–90 Hz: the connectome of the change from Baseline (20 s) to Cue 1 + Cue 2 (20 s). a–c, Precon1; d–f, Precon4; g–i, Precon4 − Precon1. Each ring holds the 12 regions (open, a region no pair reaches with at least 4 rats); each edge is one of the 44 pairs tested, curving toward the centre, its width the mean change in coherence from Baseline (20 s) to Cue 1 + Cue 2 (20 s)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every way of flipping the sign of each rat’s change (256 sign patterns; the rat is the unit, as in the mixed model that lit tab 8’s light), the vertical line the observed value, with its rank among them and its exact P (the share at least as extreme; with 8 rats P moves in steps of 1/256, so the smallest possible is 1/256 for the increases or the decreases and 2/256 for both; increases one-sided upward, decreases downward, both two-sided; *P &lt; 0.05, **P &lt; 0.01, ***P &lt; 0.001; uncorrected). n = 8 rats, 12–16 trials per session. Significant: Precon4 − Precon1, increases: P = 0.012; Precon4 − Precon1, both: P = 0.023.</a:t>
            </a:r>
          </a:p>
        </p:txBody>
      </p:sp>
      <p:sp>
        <p:nvSpPr>
          <p:cNvPr id="4" name="Slide Number Placeholder 3"/>
          <p:cNvSpPr>
            <a:spLocks noGrp="1"/>
          </p:cNvSpPr>
          <p:nvPr>
            <p:ph type="sldNum" sz="quarter" idx="5"/>
          </p:nvPr>
        </p:nvSpPr>
        <p:spPr/>
        <p:txBody>
          <a:bodyPr/>
          <a:lstStyle/>
          <a:p>
            <a:fld id="{5BFCBA49-7C97-40D6-8D1E-BAFE2E40ADCF}" type="slidenum">
              <a:rPr lang="en-US" smtClean="0"/>
              <a:t>16</a:t>
            </a:fld>
            <a:endParaRPr lang="en-US"/>
          </a:p>
        </p:txBody>
      </p:sp>
    </p:spTree>
    <p:extLst>
      <p:ext uri="{BB962C8B-B14F-4D97-AF65-F5344CB8AC3E}">
        <p14:creationId xmlns:p14="http://schemas.microsoft.com/office/powerpoint/2010/main" val="4134256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Exact sign-flip test, the rat as the unit (as the mixed model behind tab 8's light). P is the share of the 256 patterns at least as extreme, the real one included.</a:t>
            </a:r>
          </a:p>
        </p:txBody>
      </p:sp>
      <p:sp>
        <p:nvSpPr>
          <p:cNvPr id="4" name="Slide Number Placeholder 3"/>
          <p:cNvSpPr>
            <a:spLocks noGrp="1"/>
          </p:cNvSpPr>
          <p:nvPr>
            <p:ph type="sldNum" sz="quarter" idx="5"/>
          </p:nvPr>
        </p:nvSpPr>
        <p:spPr/>
        <p:txBody>
          <a:bodyPr/>
          <a:lstStyle/>
          <a:p>
            <a:fld id="{5BFCBA49-7C97-40D6-8D1E-BAFE2E40ADCF}" type="slidenum">
              <a:rPr lang="en-US" smtClean="0"/>
              <a:t>24</a:t>
            </a:fld>
            <a:endParaRPr lang="en-US"/>
          </a:p>
        </p:txBody>
      </p:sp>
    </p:spTree>
    <p:extLst>
      <p:ext uri="{BB962C8B-B14F-4D97-AF65-F5344CB8AC3E}">
        <p14:creationId xmlns:p14="http://schemas.microsoft.com/office/powerpoint/2010/main" val="135529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Rank 254 of 256.</a:t>
            </a:r>
          </a:p>
        </p:txBody>
      </p:sp>
      <p:sp>
        <p:nvSpPr>
          <p:cNvPr id="4" name="Slide Number Placeholder 3"/>
          <p:cNvSpPr>
            <a:spLocks noGrp="1"/>
          </p:cNvSpPr>
          <p:nvPr>
            <p:ph type="sldNum" sz="quarter" idx="5"/>
          </p:nvPr>
        </p:nvSpPr>
        <p:spPr/>
        <p:txBody>
          <a:bodyPr/>
          <a:lstStyle/>
          <a:p>
            <a:fld id="{5BFCBA49-7C97-40D6-8D1E-BAFE2E40ADCF}" type="slidenum">
              <a:rPr lang="en-US" smtClean="0"/>
              <a:t>25</a:t>
            </a:fld>
            <a:endParaRPr lang="en-US"/>
          </a:p>
        </p:txBody>
      </p:sp>
    </p:spTree>
    <p:extLst>
      <p:ext uri="{BB962C8B-B14F-4D97-AF65-F5344CB8AC3E}">
        <p14:creationId xmlns:p14="http://schemas.microsoft.com/office/powerpoint/2010/main" val="155218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Trial-to-trial noise inside a session is about 1.7 times wider than the spread between rats.</a:t>
            </a:r>
          </a:p>
        </p:txBody>
      </p:sp>
      <p:sp>
        <p:nvSpPr>
          <p:cNvPr id="4" name="Slide Number Placeholder 3"/>
          <p:cNvSpPr>
            <a:spLocks noGrp="1"/>
          </p:cNvSpPr>
          <p:nvPr>
            <p:ph type="sldNum" sz="quarter" idx="5"/>
          </p:nvPr>
        </p:nvSpPr>
        <p:spPr/>
        <p:txBody>
          <a:bodyPr/>
          <a:lstStyle/>
          <a:p>
            <a:fld id="{5BFCBA49-7C97-40D6-8D1E-BAFE2E40ADCF}" type="slidenum">
              <a:rPr lang="en-US" smtClean="0"/>
              <a:t>28</a:t>
            </a:fld>
            <a:endParaRPr lang="en-US"/>
          </a:p>
        </p:txBody>
      </p:sp>
    </p:spTree>
    <p:extLst>
      <p:ext uri="{BB962C8B-B14F-4D97-AF65-F5344CB8AC3E}">
        <p14:creationId xmlns:p14="http://schemas.microsoft.com/office/powerpoint/2010/main" val="3005541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fake cue onset every 10 s of FP1 and FP2 (1,017 fake trials in all), the trial's own windows round it, measured with the same wires, clipping and measures; each set draws each session's fake trials at random, with replacement.</a:t>
            </a:r>
          </a:p>
        </p:txBody>
      </p:sp>
      <p:sp>
        <p:nvSpPr>
          <p:cNvPr id="4" name="Slide Number Placeholder 3"/>
          <p:cNvSpPr>
            <a:spLocks noGrp="1"/>
          </p:cNvSpPr>
          <p:nvPr>
            <p:ph type="sldNum" sz="quarter" idx="5"/>
          </p:nvPr>
        </p:nvSpPr>
        <p:spPr/>
        <p:txBody>
          <a:bodyPr/>
          <a:lstStyle/>
          <a:p>
            <a:fld id="{5BFCBA49-7C97-40D6-8D1E-BAFE2E40ADCF}" type="slidenum">
              <a:rPr lang="en-US" smtClean="0"/>
              <a:t>29</a:t>
            </a:fld>
            <a:endParaRPr lang="en-US"/>
          </a:p>
        </p:txBody>
      </p:sp>
    </p:spTree>
    <p:extLst>
      <p:ext uri="{BB962C8B-B14F-4D97-AF65-F5344CB8AC3E}">
        <p14:creationId xmlns:p14="http://schemas.microsoft.com/office/powerpoint/2010/main" val="1285391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R ACC – R RSC: not volume conduction. a, the pair on the ring of regions.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Imaginary coherence: t(5) = 3.52, P = 0.017 (one-sample t-test of each rat's change, uncorrected); within-session shuffles P = 0.091, rank 9,519 of 10,001; FP intervals P = 0.080, rank 9,613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42</a:t>
            </a:fld>
            <a:endParaRPr lang="en-US"/>
          </a:p>
        </p:txBody>
      </p:sp>
    </p:spTree>
    <p:extLst>
      <p:ext uri="{BB962C8B-B14F-4D97-AF65-F5344CB8AC3E}">
        <p14:creationId xmlns:p14="http://schemas.microsoft.com/office/powerpoint/2010/main" val="1928006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R ACC – R RSC: not volume conduction. a, the pair on the ring of regions.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Imaginary coherence: t(5) = 3.52, P = 0.017 (one-sample t-test of each rat's change, uncorrected); within-session shuffles P = 0.091, rank 9,519 of 10,001; FP intervals P = 0.080, rank 9,613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47</a:t>
            </a:fld>
            <a:endParaRPr lang="en-US"/>
          </a:p>
        </p:txBody>
      </p:sp>
    </p:spTree>
    <p:extLst>
      <p:ext uri="{BB962C8B-B14F-4D97-AF65-F5344CB8AC3E}">
        <p14:creationId xmlns:p14="http://schemas.microsoft.com/office/powerpoint/2010/main" val="12987127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t(5) = 3.52, P = 0.017; mean change 0.01195. Shuffles: rank 9519 of 10001, P = 0.091. FP: rank 9613 of 10001, P = 0.080.</a:t>
            </a:r>
          </a:p>
        </p:txBody>
      </p:sp>
      <p:sp>
        <p:nvSpPr>
          <p:cNvPr id="4" name="Slide Number Placeholder 3"/>
          <p:cNvSpPr>
            <a:spLocks noGrp="1"/>
          </p:cNvSpPr>
          <p:nvPr>
            <p:ph type="sldNum" sz="quarter" idx="5"/>
          </p:nvPr>
        </p:nvSpPr>
        <p:spPr/>
        <p:txBody>
          <a:bodyPr/>
          <a:lstStyle/>
          <a:p>
            <a:fld id="{5BFCBA49-7C97-40D6-8D1E-BAFE2E40ADCF}" type="slidenum">
              <a:rPr lang="en-US" smtClean="0"/>
              <a:t>48</a:t>
            </a:fld>
            <a:endParaRPr lang="en-US"/>
          </a:p>
        </p:txBody>
      </p:sp>
    </p:spTree>
    <p:extLst>
      <p:ext uri="{BB962C8B-B14F-4D97-AF65-F5344CB8AC3E}">
        <p14:creationId xmlns:p14="http://schemas.microsoft.com/office/powerpoint/2010/main" val="1528736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R ACC – R RSC: direction. a, the pair on the ring of regions (the arrow, the direction measured).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Granger R RSC → R ACC: t(5) = 2.68, P = 0.044 (one-sample t-test of each rat's change, uncorrected); within-session shuffles P = 0.002, rank 9,990 of 10,001; FP intervals P &lt; 0.001, rank 9,998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49</a:t>
            </a:fld>
            <a:endParaRPr lang="en-US"/>
          </a:p>
        </p:txBody>
      </p:sp>
    </p:spTree>
    <p:extLst>
      <p:ext uri="{BB962C8B-B14F-4D97-AF65-F5344CB8AC3E}">
        <p14:creationId xmlns:p14="http://schemas.microsoft.com/office/powerpoint/2010/main" val="25615942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t(5) = 2.68, P = 0.044; mean change 0.01122. Shuffles: rank 9990 of 10001, P = 0.002. FP: rank 9998 of 10001, P &lt; 0.001.</a:t>
            </a:r>
          </a:p>
        </p:txBody>
      </p:sp>
      <p:sp>
        <p:nvSpPr>
          <p:cNvPr id="4" name="Slide Number Placeholder 3"/>
          <p:cNvSpPr>
            <a:spLocks noGrp="1"/>
          </p:cNvSpPr>
          <p:nvPr>
            <p:ph type="sldNum" sz="quarter" idx="5"/>
          </p:nvPr>
        </p:nvSpPr>
        <p:spPr/>
        <p:txBody>
          <a:bodyPr/>
          <a:lstStyle/>
          <a:p>
            <a:fld id="{5BFCBA49-7C97-40D6-8D1E-BAFE2E40ADCF}" type="slidenum">
              <a:rPr lang="en-US" smtClean="0"/>
              <a:t>50</a:t>
            </a:fld>
            <a:endParaRPr lang="en-US"/>
          </a:p>
        </p:txBody>
      </p:sp>
    </p:spTree>
    <p:extLst>
      <p:ext uri="{BB962C8B-B14F-4D97-AF65-F5344CB8AC3E}">
        <p14:creationId xmlns:p14="http://schemas.microsoft.com/office/powerpoint/2010/main" val="1521014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R ACC – R RSC: phase–amplitude coupling. a, the pair on the ring of regions (the arrow, the direction measured). Then, for each measure: its value for each rat at Baseline (20 s) and Cue 1 + Cue 2 (20 s) on Precon1 (grey) and Precon4 (black), each rat's values as dots (PAC is never drawn as lines),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R RSC θ → R ACC γ: t(5) = −3.74, P = 0.013 (one-sample t-test of each rat's change, uncorrected); within-session shuffles P = 0.025, rank 114 of 10,001; FP intervals P = 0.006, rank 31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51</a:t>
            </a:fld>
            <a:endParaRPr lang="en-US"/>
          </a:p>
        </p:txBody>
      </p:sp>
    </p:spTree>
    <p:extLst>
      <p:ext uri="{BB962C8B-B14F-4D97-AF65-F5344CB8AC3E}">
        <p14:creationId xmlns:p14="http://schemas.microsoft.com/office/powerpoint/2010/main" val="2235222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t(5) = -3.74, P = 0.013; mean change -0.0001204. Shuffles: rank 114 of 10001, P = 0.025. FP: rank 31 of 10001, P = 0.006.</a:t>
            </a:r>
          </a:p>
        </p:txBody>
      </p:sp>
      <p:sp>
        <p:nvSpPr>
          <p:cNvPr id="4" name="Slide Number Placeholder 3"/>
          <p:cNvSpPr>
            <a:spLocks noGrp="1"/>
          </p:cNvSpPr>
          <p:nvPr>
            <p:ph type="sldNum" sz="quarter" idx="5"/>
          </p:nvPr>
        </p:nvSpPr>
        <p:spPr/>
        <p:txBody>
          <a:bodyPr/>
          <a:lstStyle/>
          <a:p>
            <a:fld id="{5BFCBA49-7C97-40D6-8D1E-BAFE2E40ADCF}" type="slidenum">
              <a:rPr lang="en-US" smtClean="0"/>
              <a:t>52</a:t>
            </a:fld>
            <a:endParaRPr lang="en-US"/>
          </a:p>
        </p:txBody>
      </p:sp>
    </p:spTree>
    <p:extLst>
      <p:ext uri="{BB962C8B-B14F-4D97-AF65-F5344CB8AC3E}">
        <p14:creationId xmlns:p14="http://schemas.microsoft.com/office/powerpoint/2010/main" val="824203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Mean over rats of each rat's normalised gamma amplitude in 18 theta-phase bins, read from the recordings (the VACC's copies) through tab 8's own wires; the four roses share one scale.</a:t>
            </a:r>
          </a:p>
        </p:txBody>
      </p:sp>
      <p:sp>
        <p:nvSpPr>
          <p:cNvPr id="4" name="Slide Number Placeholder 3"/>
          <p:cNvSpPr>
            <a:spLocks noGrp="1"/>
          </p:cNvSpPr>
          <p:nvPr>
            <p:ph type="sldNum" sz="quarter" idx="5"/>
          </p:nvPr>
        </p:nvSpPr>
        <p:spPr/>
        <p:txBody>
          <a:bodyPr/>
          <a:lstStyle/>
          <a:p>
            <a:fld id="{5BFCBA49-7C97-40D6-8D1E-BAFE2E40ADCF}" type="slidenum">
              <a:rPr lang="en-US" smtClean="0"/>
              <a:t>53</a:t>
            </a:fld>
            <a:endParaRPr lang="en-US"/>
          </a:p>
        </p:txBody>
      </p:sp>
    </p:spTree>
    <p:extLst>
      <p:ext uri="{BB962C8B-B14F-4D97-AF65-F5344CB8AC3E}">
        <p14:creationId xmlns:p14="http://schemas.microsoft.com/office/powerpoint/2010/main" val="3729033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R DHC – L RSC: amplitudes together. a, the pair on the ring of regions.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t(6) = 2.54, P = 0.044 (one-sample t-test of each rat's change, uncorrected); within-session shuffles P = 0.014, rank 9,937 of 10,001; FP intervals P = 0.047, rank 9,785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56</a:t>
            </a:fld>
            <a:endParaRPr lang="en-US"/>
          </a:p>
        </p:txBody>
      </p:sp>
    </p:spTree>
    <p:extLst>
      <p:ext uri="{BB962C8B-B14F-4D97-AF65-F5344CB8AC3E}">
        <p14:creationId xmlns:p14="http://schemas.microsoft.com/office/powerpoint/2010/main" val="2092667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t(6) = 2.54, P = 0.044; mean change 0.03468. Shuffles: rank 9937 of 10001, P = 0.014. FP: rank 9785 of 10001, P = 0.047.</a:t>
            </a:r>
          </a:p>
        </p:txBody>
      </p:sp>
      <p:sp>
        <p:nvSpPr>
          <p:cNvPr id="4" name="Slide Number Placeholder 3"/>
          <p:cNvSpPr>
            <a:spLocks noGrp="1"/>
          </p:cNvSpPr>
          <p:nvPr>
            <p:ph type="sldNum" sz="quarter" idx="5"/>
          </p:nvPr>
        </p:nvSpPr>
        <p:spPr/>
        <p:txBody>
          <a:bodyPr/>
          <a:lstStyle/>
          <a:p>
            <a:fld id="{5BFCBA49-7C97-40D6-8D1E-BAFE2E40ADCF}" type="slidenum">
              <a:rPr lang="en-US" smtClean="0"/>
              <a:t>57</a:t>
            </a:fld>
            <a:endParaRPr lang="en-US"/>
          </a:p>
        </p:txBody>
      </p:sp>
    </p:spTree>
    <p:extLst>
      <p:ext uri="{BB962C8B-B14F-4D97-AF65-F5344CB8AC3E}">
        <p14:creationId xmlns:p14="http://schemas.microsoft.com/office/powerpoint/2010/main" val="140626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R RSC – L POR-SUB: direction. a, the pair on the ring of regions (the arrow, the direction measured).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Granger R RSC → L POR-SUB: t(3) = 3.42, P = 0.042 (one-sample t-test of each rat's change, uncorrected); within-session shuffles P = 0.028, rank 9,881 of 10,001; FP intervals P = 0.096, rank 9,536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58</a:t>
            </a:fld>
            <a:endParaRPr lang="en-US"/>
          </a:p>
        </p:txBody>
      </p:sp>
    </p:spTree>
    <p:extLst>
      <p:ext uri="{BB962C8B-B14F-4D97-AF65-F5344CB8AC3E}">
        <p14:creationId xmlns:p14="http://schemas.microsoft.com/office/powerpoint/2010/main" val="8439647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t(3) = 3.42, P = 0.042; mean change 0.009354. Shuffles: rank 9881 of 10001, P = 0.028. FP: rank 9536 of 10001, P = 0.096.</a:t>
            </a:r>
          </a:p>
        </p:txBody>
      </p:sp>
      <p:sp>
        <p:nvSpPr>
          <p:cNvPr id="4" name="Slide Number Placeholder 3"/>
          <p:cNvSpPr>
            <a:spLocks noGrp="1"/>
          </p:cNvSpPr>
          <p:nvPr>
            <p:ph type="sldNum" sz="quarter" idx="5"/>
          </p:nvPr>
        </p:nvSpPr>
        <p:spPr/>
        <p:txBody>
          <a:bodyPr/>
          <a:lstStyle/>
          <a:p>
            <a:fld id="{5BFCBA49-7C97-40D6-8D1E-BAFE2E40ADCF}" type="slidenum">
              <a:rPr lang="en-US" smtClean="0"/>
              <a:t>59</a:t>
            </a:fld>
            <a:endParaRPr lang="en-US"/>
          </a:p>
        </p:txBody>
      </p:sp>
    </p:spTree>
    <p:extLst>
      <p:ext uri="{BB962C8B-B14F-4D97-AF65-F5344CB8AC3E}">
        <p14:creationId xmlns:p14="http://schemas.microsoft.com/office/powerpoint/2010/main" val="2632115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R PER – L DHC: amplitudes together. a, the pair on the ring of regions.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t(3) = −8.63, P = 0.003 (one-sample t-test of each rat's change, uncorrected); within-session shuffles P = 0.259, rank 1,288 of 10,001; FP intervals P = 0.364, rank 1,821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60</a:t>
            </a:fld>
            <a:endParaRPr lang="en-US"/>
          </a:p>
        </p:txBody>
      </p:sp>
    </p:spTree>
    <p:extLst>
      <p:ext uri="{BB962C8B-B14F-4D97-AF65-F5344CB8AC3E}">
        <p14:creationId xmlns:p14="http://schemas.microsoft.com/office/powerpoint/2010/main" val="645915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t(3) = -8.63, P = 0.003; mean change -0.01971. Shuffles: rank 1288 of 10001, P = 0.259. FP: rank 1821 of 10001, P = 0.364.</a:t>
            </a:r>
          </a:p>
        </p:txBody>
      </p:sp>
      <p:sp>
        <p:nvSpPr>
          <p:cNvPr id="4" name="Slide Number Placeholder 3"/>
          <p:cNvSpPr>
            <a:spLocks noGrp="1"/>
          </p:cNvSpPr>
          <p:nvPr>
            <p:ph type="sldNum" sz="quarter" idx="5"/>
          </p:nvPr>
        </p:nvSpPr>
        <p:spPr/>
        <p:txBody>
          <a:bodyPr/>
          <a:lstStyle/>
          <a:p>
            <a:fld id="{5BFCBA49-7C97-40D6-8D1E-BAFE2E40ADCF}" type="slidenum">
              <a:rPr lang="en-US" smtClean="0"/>
              <a:t>61</a:t>
            </a:fld>
            <a:endParaRPr lang="en-US"/>
          </a:p>
        </p:txBody>
      </p:sp>
    </p:spTree>
    <p:extLst>
      <p:ext uri="{BB962C8B-B14F-4D97-AF65-F5344CB8AC3E}">
        <p14:creationId xmlns:p14="http://schemas.microsoft.com/office/powerpoint/2010/main" val="21918107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R PER – L DHC: phase–amplitude coupling. a, the pair on the ring of regions. Then, for each measure: its value for each rat at Baseline (20 s) and Cue 1 + Cue 2 (20 s) on Precon1 (grey) and Precon4 (black), each rat's values as dots (PAC is never drawn as lines),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within R PER: t(4) = 3.89, P = 0.018 (one-sample t-test of each rat's change, uncorrected); within-session shuffles P = 0.546, rank 7,280 of 10,001; FP intervals P = 0.389, rank 8,109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62</a:t>
            </a:fld>
            <a:endParaRPr lang="en-US"/>
          </a:p>
        </p:txBody>
      </p:sp>
    </p:spTree>
    <p:extLst>
      <p:ext uri="{BB962C8B-B14F-4D97-AF65-F5344CB8AC3E}">
        <p14:creationId xmlns:p14="http://schemas.microsoft.com/office/powerpoint/2010/main" val="4150608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t(4) = 3.89, P = 0.018; mean change 5.763e-05. Shuffles: rank 7280 of 10001, P = 0.546. FP: rank 8109 of 10001, P = 0.389.</a:t>
            </a:r>
          </a:p>
        </p:txBody>
      </p:sp>
      <p:sp>
        <p:nvSpPr>
          <p:cNvPr id="4" name="Slide Number Placeholder 3"/>
          <p:cNvSpPr>
            <a:spLocks noGrp="1"/>
          </p:cNvSpPr>
          <p:nvPr>
            <p:ph type="sldNum" sz="quarter" idx="5"/>
          </p:nvPr>
        </p:nvSpPr>
        <p:spPr/>
        <p:txBody>
          <a:bodyPr/>
          <a:lstStyle/>
          <a:p>
            <a:fld id="{5BFCBA49-7C97-40D6-8D1E-BAFE2E40ADCF}" type="slidenum">
              <a:rPr lang="en-US" smtClean="0"/>
              <a:t>63</a:t>
            </a:fld>
            <a:endParaRPr lang="en-US"/>
          </a:p>
        </p:txBody>
      </p:sp>
    </p:spTree>
    <p:extLst>
      <p:ext uri="{BB962C8B-B14F-4D97-AF65-F5344CB8AC3E}">
        <p14:creationId xmlns:p14="http://schemas.microsoft.com/office/powerpoint/2010/main" val="32055050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ACC – R OFC: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t(7) = 3.17, P = 0.016 (one-sample t-test of each rat's change, uncorrected); within-session shuffles P = 0.004, rank 9,980 of 10,001; FP intervals P = 0.034, rank 9,846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65</a:t>
            </a:fld>
            <a:endParaRPr lang="en-US"/>
          </a:p>
        </p:txBody>
      </p:sp>
    </p:spTree>
    <p:extLst>
      <p:ext uri="{BB962C8B-B14F-4D97-AF65-F5344CB8AC3E}">
        <p14:creationId xmlns:p14="http://schemas.microsoft.com/office/powerpoint/2010/main" val="10544087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3.17, P = 0.016; mean change 0.03322. Shuffles: rank 9980 of 10001, P = 0.004. FP: rank 9846 of 10001, P = 0.034.</a:t>
            </a:r>
          </a:p>
        </p:txBody>
      </p:sp>
      <p:sp>
        <p:nvSpPr>
          <p:cNvPr id="4" name="Slide Number Placeholder 3"/>
          <p:cNvSpPr>
            <a:spLocks noGrp="1"/>
          </p:cNvSpPr>
          <p:nvPr>
            <p:ph type="sldNum" sz="quarter" idx="5"/>
          </p:nvPr>
        </p:nvSpPr>
        <p:spPr/>
        <p:txBody>
          <a:bodyPr/>
          <a:lstStyle/>
          <a:p>
            <a:fld id="{5BFCBA49-7C97-40D6-8D1E-BAFE2E40ADCF}" type="slidenum">
              <a:rPr lang="en-US" smtClean="0"/>
              <a:t>66</a:t>
            </a:fld>
            <a:endParaRPr lang="en-US"/>
          </a:p>
        </p:txBody>
      </p:sp>
    </p:spTree>
    <p:extLst>
      <p:ext uri="{BB962C8B-B14F-4D97-AF65-F5344CB8AC3E}">
        <p14:creationId xmlns:p14="http://schemas.microsoft.com/office/powerpoint/2010/main" val="37515437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ACC – R RSC: not volume conduction.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Imaginary coherence: t(5) = 7.13, P &lt; 0.001 (one-sample t-test of each rat's change, uncorrected); within-session shuffles P = 0.058, rank 9,721 of 10,001; FP intervals P = 0.042, rank 9,796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67</a:t>
            </a:fld>
            <a:endParaRPr lang="en-US"/>
          </a:p>
        </p:txBody>
      </p:sp>
    </p:spTree>
    <p:extLst>
      <p:ext uri="{BB962C8B-B14F-4D97-AF65-F5344CB8AC3E}">
        <p14:creationId xmlns:p14="http://schemas.microsoft.com/office/powerpoint/2010/main" val="9577591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t(5) = 7.13, P &lt; 0.001; mean change 0.01537. Shuffles: rank 9721 of 10001, P = 0.058. FP: rank 9796 of 10001, P = 0.042.</a:t>
            </a:r>
          </a:p>
        </p:txBody>
      </p:sp>
      <p:sp>
        <p:nvSpPr>
          <p:cNvPr id="4" name="Slide Number Placeholder 3"/>
          <p:cNvSpPr>
            <a:spLocks noGrp="1"/>
          </p:cNvSpPr>
          <p:nvPr>
            <p:ph type="sldNum" sz="quarter" idx="5"/>
          </p:nvPr>
        </p:nvSpPr>
        <p:spPr/>
        <p:txBody>
          <a:bodyPr/>
          <a:lstStyle/>
          <a:p>
            <a:fld id="{5BFCBA49-7C97-40D6-8D1E-BAFE2E40ADCF}" type="slidenum">
              <a:rPr lang="en-US" smtClean="0"/>
              <a:t>68</a:t>
            </a:fld>
            <a:endParaRPr lang="en-US"/>
          </a:p>
        </p:txBody>
      </p:sp>
    </p:spTree>
    <p:extLst>
      <p:ext uri="{BB962C8B-B14F-4D97-AF65-F5344CB8AC3E}">
        <p14:creationId xmlns:p14="http://schemas.microsoft.com/office/powerpoint/2010/main" val="2550301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ACC – L RSC: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t(6) = 3.72, P = 0.010 (one-sample t-test of each rat's change, uncorrected); within-session shuffles P = 0.001, rank 9,993 of 10,001; FP intervals P = 0.028, rank 9,862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69</a:t>
            </a:fld>
            <a:endParaRPr lang="en-US"/>
          </a:p>
        </p:txBody>
      </p:sp>
    </p:spTree>
    <p:extLst>
      <p:ext uri="{BB962C8B-B14F-4D97-AF65-F5344CB8AC3E}">
        <p14:creationId xmlns:p14="http://schemas.microsoft.com/office/powerpoint/2010/main" val="34997468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t(6) = 3.72, P = 0.010; mean change 0.04523. Shuffles: rank 9993 of 10001, P = 0.001. FP: rank 9862 of 10001, P = 0.028.</a:t>
            </a:r>
          </a:p>
        </p:txBody>
      </p:sp>
      <p:sp>
        <p:nvSpPr>
          <p:cNvPr id="4" name="Slide Number Placeholder 3"/>
          <p:cNvSpPr>
            <a:spLocks noGrp="1"/>
          </p:cNvSpPr>
          <p:nvPr>
            <p:ph type="sldNum" sz="quarter" idx="5"/>
          </p:nvPr>
        </p:nvSpPr>
        <p:spPr/>
        <p:txBody>
          <a:bodyPr/>
          <a:lstStyle/>
          <a:p>
            <a:fld id="{5BFCBA49-7C97-40D6-8D1E-BAFE2E40ADCF}" type="slidenum">
              <a:rPr lang="en-US" smtClean="0"/>
              <a:t>70</a:t>
            </a:fld>
            <a:endParaRPr lang="en-US"/>
          </a:p>
        </p:txBody>
      </p:sp>
    </p:spTree>
    <p:extLst>
      <p:ext uri="{BB962C8B-B14F-4D97-AF65-F5344CB8AC3E}">
        <p14:creationId xmlns:p14="http://schemas.microsoft.com/office/powerpoint/2010/main" val="15812023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ACC – L OFC: not volume conduction.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PLI: t(7) = 2.65, P = 0.033 (one-sample t-test of each rat's change, uncorrected); within-session shuffles P = 0.027, rank 9,869 of 10,001; FP intervals P = 0.023, rank 9,894 of 10,001; Imaginary coherence: t(7) = 3.14, P = 0.016 (one-sample t-test of each rat's change, uncorrected); within-session shuffles P = 0.012, rank 9,942 of 10,001; FP intervals P = 0.008, rank 9,957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71</a:t>
            </a:fld>
            <a:endParaRPr lang="en-US"/>
          </a:p>
        </p:txBody>
      </p:sp>
    </p:spTree>
    <p:extLst>
      <p:ext uri="{BB962C8B-B14F-4D97-AF65-F5344CB8AC3E}">
        <p14:creationId xmlns:p14="http://schemas.microsoft.com/office/powerpoint/2010/main" val="35574873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2.65, P = 0.033; mean change 0.01533. Shuffles: rank 9869 of 10001, P = 0.027. FP: rank 9894 of 10001, P = 0.023.</a:t>
            </a:r>
          </a:p>
        </p:txBody>
      </p:sp>
      <p:sp>
        <p:nvSpPr>
          <p:cNvPr id="4" name="Slide Number Placeholder 3"/>
          <p:cNvSpPr>
            <a:spLocks noGrp="1"/>
          </p:cNvSpPr>
          <p:nvPr>
            <p:ph type="sldNum" sz="quarter" idx="5"/>
          </p:nvPr>
        </p:nvSpPr>
        <p:spPr/>
        <p:txBody>
          <a:bodyPr/>
          <a:lstStyle/>
          <a:p>
            <a:fld id="{5BFCBA49-7C97-40D6-8D1E-BAFE2E40ADCF}" type="slidenum">
              <a:rPr lang="en-US" smtClean="0"/>
              <a:t>72</a:t>
            </a:fld>
            <a:endParaRPr lang="en-US"/>
          </a:p>
        </p:txBody>
      </p:sp>
    </p:spTree>
    <p:extLst>
      <p:ext uri="{BB962C8B-B14F-4D97-AF65-F5344CB8AC3E}">
        <p14:creationId xmlns:p14="http://schemas.microsoft.com/office/powerpoint/2010/main" val="953671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3.14, P = 0.016; mean change 0.0163. Shuffles: rank 9942 of 10001, P = 0.012. FP: rank 9957 of 10001, P = 0.008.</a:t>
            </a:r>
          </a:p>
        </p:txBody>
      </p:sp>
      <p:sp>
        <p:nvSpPr>
          <p:cNvPr id="4" name="Slide Number Placeholder 3"/>
          <p:cNvSpPr>
            <a:spLocks noGrp="1"/>
          </p:cNvSpPr>
          <p:nvPr>
            <p:ph type="sldNum" sz="quarter" idx="5"/>
          </p:nvPr>
        </p:nvSpPr>
        <p:spPr/>
        <p:txBody>
          <a:bodyPr/>
          <a:lstStyle/>
          <a:p>
            <a:fld id="{5BFCBA49-7C97-40D6-8D1E-BAFE2E40ADCF}" type="slidenum">
              <a:rPr lang="en-US" smtClean="0"/>
              <a:t>74</a:t>
            </a:fld>
            <a:endParaRPr lang="en-US"/>
          </a:p>
        </p:txBody>
      </p:sp>
    </p:spTree>
    <p:extLst>
      <p:ext uri="{BB962C8B-B14F-4D97-AF65-F5344CB8AC3E}">
        <p14:creationId xmlns:p14="http://schemas.microsoft.com/office/powerpoint/2010/main" val="14412932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ACC – L OFC: phase–amplitude coupling. a, the pair on the ring of regions (the arrow, the direction measured). Then, for each measure: its value for each rat at Baseline (10 s) and Cue 1 on Precon1 (grey) and Precon4 (black), each rat's values as dots (PAC is never drawn as lines),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R ACC θ → L OFC γ: t(7) = 3.53, P = 0.010 (one-sample t-test of each rat's change, uncorrected); within-session shuffles P = 0.187, rank 9,004 of 10,001; FP intervals P = 0.179, rank 9,126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75</a:t>
            </a:fld>
            <a:endParaRPr lang="en-US"/>
          </a:p>
        </p:txBody>
      </p:sp>
    </p:spTree>
    <p:extLst>
      <p:ext uri="{BB962C8B-B14F-4D97-AF65-F5344CB8AC3E}">
        <p14:creationId xmlns:p14="http://schemas.microsoft.com/office/powerpoint/2010/main" val="16276523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3.53, P = 0.010; mean change 9.734e-05. Shuffles: rank 9004 of 10001, P = 0.187. FP: rank 9126 of 10001, P = 0.179.</a:t>
            </a:r>
          </a:p>
        </p:txBody>
      </p:sp>
      <p:sp>
        <p:nvSpPr>
          <p:cNvPr id="4" name="Slide Number Placeholder 3"/>
          <p:cNvSpPr>
            <a:spLocks noGrp="1"/>
          </p:cNvSpPr>
          <p:nvPr>
            <p:ph type="sldNum" sz="quarter" idx="5"/>
          </p:nvPr>
        </p:nvSpPr>
        <p:spPr/>
        <p:txBody>
          <a:bodyPr/>
          <a:lstStyle/>
          <a:p>
            <a:fld id="{5BFCBA49-7C97-40D6-8D1E-BAFE2E40ADCF}" type="slidenum">
              <a:rPr lang="en-US" smtClean="0"/>
              <a:t>76</a:t>
            </a:fld>
            <a:endParaRPr lang="en-US"/>
          </a:p>
        </p:txBody>
      </p:sp>
    </p:spTree>
    <p:extLst>
      <p:ext uri="{BB962C8B-B14F-4D97-AF65-F5344CB8AC3E}">
        <p14:creationId xmlns:p14="http://schemas.microsoft.com/office/powerpoint/2010/main" val="31730490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ACC – L ACC: not volume conduction.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Imaginary coherence: t(7) = 2.78, P = 0.027 (one-sample t-test of each rat's change, uncorrected); within-session shuffles P = 0.077, rank 9,635 of 10,001; FP intervals P = 0.064, rank 9,664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78</a:t>
            </a:fld>
            <a:endParaRPr lang="en-US"/>
          </a:p>
        </p:txBody>
      </p:sp>
    </p:spTree>
    <p:extLst>
      <p:ext uri="{BB962C8B-B14F-4D97-AF65-F5344CB8AC3E}">
        <p14:creationId xmlns:p14="http://schemas.microsoft.com/office/powerpoint/2010/main" val="25076275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2.78, P = 0.027; mean change 0.01397. Shuffles: rank 9635 of 10001, P = 0.077. FP: rank 9664 of 10001, P = 0.064.</a:t>
            </a:r>
          </a:p>
        </p:txBody>
      </p:sp>
      <p:sp>
        <p:nvSpPr>
          <p:cNvPr id="4" name="Slide Number Placeholder 3"/>
          <p:cNvSpPr>
            <a:spLocks noGrp="1"/>
          </p:cNvSpPr>
          <p:nvPr>
            <p:ph type="sldNum" sz="quarter" idx="5"/>
          </p:nvPr>
        </p:nvSpPr>
        <p:spPr/>
        <p:txBody>
          <a:bodyPr/>
          <a:lstStyle/>
          <a:p>
            <a:fld id="{5BFCBA49-7C97-40D6-8D1E-BAFE2E40ADCF}" type="slidenum">
              <a:rPr lang="en-US" smtClean="0"/>
              <a:t>79</a:t>
            </a:fld>
            <a:endParaRPr lang="en-US"/>
          </a:p>
        </p:txBody>
      </p:sp>
    </p:spTree>
    <p:extLst>
      <p:ext uri="{BB962C8B-B14F-4D97-AF65-F5344CB8AC3E}">
        <p14:creationId xmlns:p14="http://schemas.microsoft.com/office/powerpoint/2010/main" val="501936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ACC – L ACC: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t(7) = 2.89, P = 0.023 (one-sample t-test of each rat's change, uncorrected); within-session shuffles P = 0.027, rank 9,856 of 10,001; FP intervals P = 0.064, rank 9,692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80</a:t>
            </a:fld>
            <a:endParaRPr lang="en-US"/>
          </a:p>
        </p:txBody>
      </p:sp>
    </p:spTree>
    <p:extLst>
      <p:ext uri="{BB962C8B-B14F-4D97-AF65-F5344CB8AC3E}">
        <p14:creationId xmlns:p14="http://schemas.microsoft.com/office/powerpoint/2010/main" val="21407007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2.89, P = 0.023; mean change 0.03769. Shuffles: rank 9856 of 10001, P = 0.027. FP: rank 9692 of 10001, P = 0.064.</a:t>
            </a:r>
          </a:p>
        </p:txBody>
      </p:sp>
      <p:sp>
        <p:nvSpPr>
          <p:cNvPr id="4" name="Slide Number Placeholder 3"/>
          <p:cNvSpPr>
            <a:spLocks noGrp="1"/>
          </p:cNvSpPr>
          <p:nvPr>
            <p:ph type="sldNum" sz="quarter" idx="5"/>
          </p:nvPr>
        </p:nvSpPr>
        <p:spPr/>
        <p:txBody>
          <a:bodyPr/>
          <a:lstStyle/>
          <a:p>
            <a:fld id="{5BFCBA49-7C97-40D6-8D1E-BAFE2E40ADCF}" type="slidenum">
              <a:rPr lang="en-US" smtClean="0"/>
              <a:t>81</a:t>
            </a:fld>
            <a:endParaRPr lang="en-US"/>
          </a:p>
        </p:txBody>
      </p:sp>
    </p:spTree>
    <p:extLst>
      <p:ext uri="{BB962C8B-B14F-4D97-AF65-F5344CB8AC3E}">
        <p14:creationId xmlns:p14="http://schemas.microsoft.com/office/powerpoint/2010/main" val="31995324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OFC – L RSC: phase–amplitude coupling. a, the pair on the ring of regions (the arrow, the direction measured). Then, for each measure: its value for each rat at Baseline (10 s) and Cue 1 on Precon1 (grey) and Precon4 (black), each rat's values as dots (PAC is never drawn as lines),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L RSC θ → R OFC γ: t(6) = 3.13, P = 0.020 (one-sample t-test of each rat's change, uncorrected); within-session shuffles P = 0.135, rank 9,285 of 10,001; FP intervals P = 0.298, rank 8,472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82</a:t>
            </a:fld>
            <a:endParaRPr lang="en-US"/>
          </a:p>
        </p:txBody>
      </p:sp>
    </p:spTree>
    <p:extLst>
      <p:ext uri="{BB962C8B-B14F-4D97-AF65-F5344CB8AC3E}">
        <p14:creationId xmlns:p14="http://schemas.microsoft.com/office/powerpoint/2010/main" val="3697006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t(6) = 3.13, P = 0.020; mean change 9.774e-05. Shuffles: rank 9285 of 10001, P = 0.135. FP: rank 8472 of 10001, P = 0.298.</a:t>
            </a:r>
          </a:p>
        </p:txBody>
      </p:sp>
      <p:sp>
        <p:nvSpPr>
          <p:cNvPr id="4" name="Slide Number Placeholder 3"/>
          <p:cNvSpPr>
            <a:spLocks noGrp="1"/>
          </p:cNvSpPr>
          <p:nvPr>
            <p:ph type="sldNum" sz="quarter" idx="5"/>
          </p:nvPr>
        </p:nvSpPr>
        <p:spPr/>
        <p:txBody>
          <a:bodyPr/>
          <a:lstStyle/>
          <a:p>
            <a:fld id="{5BFCBA49-7C97-40D6-8D1E-BAFE2E40ADCF}" type="slidenum">
              <a:rPr lang="en-US" smtClean="0"/>
              <a:t>83</a:t>
            </a:fld>
            <a:endParaRPr lang="en-US"/>
          </a:p>
        </p:txBody>
      </p:sp>
    </p:spTree>
    <p:extLst>
      <p:ext uri="{BB962C8B-B14F-4D97-AF65-F5344CB8AC3E}">
        <p14:creationId xmlns:p14="http://schemas.microsoft.com/office/powerpoint/2010/main" val="38754853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DHC – L RSC: direction.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lag: t(6) = −3.47, P = 0.013 (one-sample t-test of each rat's change, uncorrected); within-session shuffles P = 0.020, rank 98 of 10,001; FP intervals P = 0.014, rank 72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85</a:t>
            </a:fld>
            <a:endParaRPr lang="en-US"/>
          </a:p>
        </p:txBody>
      </p:sp>
    </p:spTree>
    <p:extLst>
      <p:ext uri="{BB962C8B-B14F-4D97-AF65-F5344CB8AC3E}">
        <p14:creationId xmlns:p14="http://schemas.microsoft.com/office/powerpoint/2010/main" val="414103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t(6) = -3.47, P = 0.013; mean change -27.44. Shuffles: rank 98 of 10001, P = 0.020. FP: rank 72 of 10001, P = 0.014.</a:t>
            </a:r>
          </a:p>
        </p:txBody>
      </p:sp>
      <p:sp>
        <p:nvSpPr>
          <p:cNvPr id="4" name="Slide Number Placeholder 3"/>
          <p:cNvSpPr>
            <a:spLocks noGrp="1"/>
          </p:cNvSpPr>
          <p:nvPr>
            <p:ph type="sldNum" sz="quarter" idx="5"/>
          </p:nvPr>
        </p:nvSpPr>
        <p:spPr/>
        <p:txBody>
          <a:bodyPr/>
          <a:lstStyle/>
          <a:p>
            <a:fld id="{5BFCBA49-7C97-40D6-8D1E-BAFE2E40ADCF}" type="slidenum">
              <a:rPr lang="en-US" smtClean="0"/>
              <a:t>86</a:t>
            </a:fld>
            <a:endParaRPr lang="en-US"/>
          </a:p>
        </p:txBody>
      </p:sp>
    </p:spTree>
    <p:extLst>
      <p:ext uri="{BB962C8B-B14F-4D97-AF65-F5344CB8AC3E}">
        <p14:creationId xmlns:p14="http://schemas.microsoft.com/office/powerpoint/2010/main" val="19810762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DHC – L OFC: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t(7) = 3.09, P = 0.018 (one-sample t-test of each rat's change, uncorrected); within-session shuffles P = 0.082, rank 9,567 of 10,001; FP intervals P = 0.027, rank 9,865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87</a:t>
            </a:fld>
            <a:endParaRPr lang="en-US"/>
          </a:p>
        </p:txBody>
      </p:sp>
    </p:spTree>
    <p:extLst>
      <p:ext uri="{BB962C8B-B14F-4D97-AF65-F5344CB8AC3E}">
        <p14:creationId xmlns:p14="http://schemas.microsoft.com/office/powerpoint/2010/main" val="2046247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3.09, P = 0.018; mean change 0.03085. Shuffles: rank 9567 of 10001, P = 0.082. FP: rank 9865 of 10001, P = 0.027.</a:t>
            </a:r>
          </a:p>
        </p:txBody>
      </p:sp>
      <p:sp>
        <p:nvSpPr>
          <p:cNvPr id="4" name="Slide Number Placeholder 3"/>
          <p:cNvSpPr>
            <a:spLocks noGrp="1"/>
          </p:cNvSpPr>
          <p:nvPr>
            <p:ph type="sldNum" sz="quarter" idx="5"/>
          </p:nvPr>
        </p:nvSpPr>
        <p:spPr/>
        <p:txBody>
          <a:bodyPr/>
          <a:lstStyle/>
          <a:p>
            <a:fld id="{5BFCBA49-7C97-40D6-8D1E-BAFE2E40ADCF}" type="slidenum">
              <a:rPr lang="en-US" smtClean="0"/>
              <a:t>88</a:t>
            </a:fld>
            <a:endParaRPr lang="en-US"/>
          </a:p>
        </p:txBody>
      </p:sp>
    </p:spTree>
    <p:extLst>
      <p:ext uri="{BB962C8B-B14F-4D97-AF65-F5344CB8AC3E}">
        <p14:creationId xmlns:p14="http://schemas.microsoft.com/office/powerpoint/2010/main" val="36403968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R DHC – L OFC: phase–amplitude coupling. a, the pair on the ring of regions (the arrow, the direction measured). Then, for each measure: its value for each rat at Baseline (10 s) and Cue 1 on Precon1 (grey) and Precon4 (black), each rat's values as dots (PAC is never drawn as lines),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R DHC θ → L OFC γ: t(7) = 2.54, P = 0.039 (one-sample t-test of each rat's change, uncorrected); within-session shuffles P = 0.103, rank 9,485 of 10,001; FP intervals P = 0.029, rank 9,858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89</a:t>
            </a:fld>
            <a:endParaRPr lang="en-US"/>
          </a:p>
        </p:txBody>
      </p:sp>
    </p:spTree>
    <p:extLst>
      <p:ext uri="{BB962C8B-B14F-4D97-AF65-F5344CB8AC3E}">
        <p14:creationId xmlns:p14="http://schemas.microsoft.com/office/powerpoint/2010/main" val="13038114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2.54, P = 0.039; mean change 0.00015. Shuffles: rank 9485 of 10001, P = 0.103. FP: rank 9858 of 10001, P = 0.029.</a:t>
            </a:r>
          </a:p>
        </p:txBody>
      </p:sp>
      <p:sp>
        <p:nvSpPr>
          <p:cNvPr id="4" name="Slide Number Placeholder 3"/>
          <p:cNvSpPr>
            <a:spLocks noGrp="1"/>
          </p:cNvSpPr>
          <p:nvPr>
            <p:ph type="sldNum" sz="quarter" idx="5"/>
          </p:nvPr>
        </p:nvSpPr>
        <p:spPr/>
        <p:txBody>
          <a:bodyPr/>
          <a:lstStyle/>
          <a:p>
            <a:fld id="{5BFCBA49-7C97-40D6-8D1E-BAFE2E40ADCF}" type="slidenum">
              <a:rPr lang="en-US" smtClean="0"/>
              <a:t>90</a:t>
            </a:fld>
            <a:endParaRPr lang="en-US"/>
          </a:p>
        </p:txBody>
      </p:sp>
    </p:spTree>
    <p:extLst>
      <p:ext uri="{BB962C8B-B14F-4D97-AF65-F5344CB8AC3E}">
        <p14:creationId xmlns:p14="http://schemas.microsoft.com/office/powerpoint/2010/main" val="28656424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L RSC – L ACC: direction. a, the pair on the ring of regions (the arrow, the direction measured).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Granger L ACC → L RSC: t(6) = 2.82, P = 0.030 (one-sample t-test of each rat's change, uncorrected); within-session shuffles P = 0.008, rank 9,955 of 10,001; FP intervals P = 0.040, rank 9,793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92</a:t>
            </a:fld>
            <a:endParaRPr lang="en-US"/>
          </a:p>
        </p:txBody>
      </p:sp>
    </p:spTree>
    <p:extLst>
      <p:ext uri="{BB962C8B-B14F-4D97-AF65-F5344CB8AC3E}">
        <p14:creationId xmlns:p14="http://schemas.microsoft.com/office/powerpoint/2010/main" val="3747533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t(6) = 2.82, P = 0.030; mean change 0.008396. Shuffles: rank 9955 of 10001, P = 0.008. FP: rank 9793 of 10001, P = 0.040.</a:t>
            </a:r>
          </a:p>
        </p:txBody>
      </p:sp>
      <p:sp>
        <p:nvSpPr>
          <p:cNvPr id="4" name="Slide Number Placeholder 3"/>
          <p:cNvSpPr>
            <a:spLocks noGrp="1"/>
          </p:cNvSpPr>
          <p:nvPr>
            <p:ph type="sldNum" sz="quarter" idx="5"/>
          </p:nvPr>
        </p:nvSpPr>
        <p:spPr/>
        <p:txBody>
          <a:bodyPr/>
          <a:lstStyle/>
          <a:p>
            <a:fld id="{5BFCBA49-7C97-40D6-8D1E-BAFE2E40ADCF}" type="slidenum">
              <a:rPr lang="en-US" smtClean="0"/>
              <a:t>93</a:t>
            </a:fld>
            <a:endParaRPr lang="en-US"/>
          </a:p>
        </p:txBody>
      </p:sp>
    </p:spTree>
    <p:extLst>
      <p:ext uri="{BB962C8B-B14F-4D97-AF65-F5344CB8AC3E}">
        <p14:creationId xmlns:p14="http://schemas.microsoft.com/office/powerpoint/2010/main" val="7416203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L OFC – L ACC: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t(7) = 5.07, P = 0.001 (one-sample t-test of each rat's change, uncorrected); within-session shuffles P = 0.020, rank 9,903 of 10,001; FP intervals P = 0.016, rank 9,916 of 10,001.</a:t>
            </a:r>
          </a:p>
        </p:txBody>
      </p:sp>
      <p:sp>
        <p:nvSpPr>
          <p:cNvPr id="4" name="Slide Number Placeholder 3"/>
          <p:cNvSpPr>
            <a:spLocks noGrp="1"/>
          </p:cNvSpPr>
          <p:nvPr>
            <p:ph type="sldNum" sz="quarter" idx="5"/>
          </p:nvPr>
        </p:nvSpPr>
        <p:spPr/>
        <p:txBody>
          <a:bodyPr/>
          <a:lstStyle/>
          <a:p>
            <a:fld id="{5BFCBA49-7C97-40D6-8D1E-BAFE2E40ADCF}" type="slidenum">
              <a:rPr lang="en-US" smtClean="0"/>
              <a:t>94</a:t>
            </a:fld>
            <a:endParaRPr lang="en-US"/>
          </a:p>
        </p:txBody>
      </p:sp>
    </p:spTree>
    <p:extLst>
      <p:ext uri="{BB962C8B-B14F-4D97-AF65-F5344CB8AC3E}">
        <p14:creationId xmlns:p14="http://schemas.microsoft.com/office/powerpoint/2010/main" val="35027894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t(7) = 5.07, P = 0.001; mean change 0.04594. Shuffles: rank 9903 of 10001, P = 0.020. FP: rank 9916 of 10001, P = 0.016.</a:t>
            </a:r>
          </a:p>
        </p:txBody>
      </p:sp>
      <p:sp>
        <p:nvSpPr>
          <p:cNvPr id="4" name="Slide Number Placeholder 3"/>
          <p:cNvSpPr>
            <a:spLocks noGrp="1"/>
          </p:cNvSpPr>
          <p:nvPr>
            <p:ph type="sldNum" sz="quarter" idx="5"/>
          </p:nvPr>
        </p:nvSpPr>
        <p:spPr/>
        <p:txBody>
          <a:bodyPr/>
          <a:lstStyle/>
          <a:p>
            <a:fld id="{5BFCBA49-7C97-40D6-8D1E-BAFE2E40ADCF}" type="slidenum">
              <a:rPr lang="en-US" smtClean="0"/>
              <a:t>95</a:t>
            </a:fld>
            <a:endParaRPr lang="en-US"/>
          </a:p>
        </p:txBody>
      </p:sp>
    </p:spTree>
    <p:extLst>
      <p:ext uri="{BB962C8B-B14F-4D97-AF65-F5344CB8AC3E}">
        <p14:creationId xmlns:p14="http://schemas.microsoft.com/office/powerpoint/2010/main" val="10942127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Monolith page, tabs 8 (Joe's data) and 9 (Joe's figures). Questions to Shahriar.</a:t>
            </a:r>
          </a:p>
        </p:txBody>
      </p:sp>
      <p:sp>
        <p:nvSpPr>
          <p:cNvPr id="4" name="Slide Number Placeholder 3"/>
          <p:cNvSpPr>
            <a:spLocks noGrp="1"/>
          </p:cNvSpPr>
          <p:nvPr>
            <p:ph type="sldNum" sz="quarter" idx="5"/>
          </p:nvPr>
        </p:nvSpPr>
        <p:spPr/>
        <p:txBody>
          <a:bodyPr/>
          <a:lstStyle/>
          <a:p>
            <a:fld id="{5BFCBA49-7C97-40D6-8D1E-BAFE2E40ADCF}" type="slidenum">
              <a:rPr lang="en-US" smtClean="0"/>
              <a:t>102</a:t>
            </a:fld>
            <a:endParaRPr lang="en-US"/>
          </a:p>
        </p:txBody>
      </p:sp>
    </p:spTree>
    <p:extLst>
      <p:ext uri="{BB962C8B-B14F-4D97-AF65-F5344CB8AC3E}">
        <p14:creationId xmlns:p14="http://schemas.microsoft.com/office/powerpoint/2010/main" val="293888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C4A13-2E58-C556-89E6-492A3942DC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673231-B143-DF2B-9B56-47B4AE0E67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EC63D1-D22C-8897-2C25-8676E5CD7AB1}"/>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5" name="Footer Placeholder 4">
            <a:extLst>
              <a:ext uri="{FF2B5EF4-FFF2-40B4-BE49-F238E27FC236}">
                <a16:creationId xmlns:a16="http://schemas.microsoft.com/office/drawing/2014/main" id="{21D9116E-1CD3-0289-AB1A-547D91A469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B3CA3-A591-281B-93C2-D1D0FB68B589}"/>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2427861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82BF-2C72-CF72-D282-E77058D7BB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7F993A-A2A5-D96E-EA73-D3342BF697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69BC04-61EC-2618-DB08-1F899C574256}"/>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5" name="Footer Placeholder 4">
            <a:extLst>
              <a:ext uri="{FF2B5EF4-FFF2-40B4-BE49-F238E27FC236}">
                <a16:creationId xmlns:a16="http://schemas.microsoft.com/office/drawing/2014/main" id="{52E8CB8C-22AA-95FE-A600-2EA11B5129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B4A6C-E5F1-B15B-6815-08FEE7E866C7}"/>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1521197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904E6-91BD-F149-0B5B-839A736CEC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DA88F0-D03F-F0C6-1F58-10E6513B81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110F5B-8D38-5B88-36BF-B7BCAA67F73F}"/>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5" name="Footer Placeholder 4">
            <a:extLst>
              <a:ext uri="{FF2B5EF4-FFF2-40B4-BE49-F238E27FC236}">
                <a16:creationId xmlns:a16="http://schemas.microsoft.com/office/drawing/2014/main" id="{41F96571-4C21-A5DE-358A-83CD996943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DA9A07-47CB-40F6-04F4-8E7CFCC986BD}"/>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1081717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387C4-D7A8-276A-AA43-B78E921BE2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BF4C77-E33B-F6DC-95BA-B80EF8C8B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DAEFB2-7B01-A2C0-729C-EAA163AB47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AC8958-2AB1-A9D1-A685-E85500C650F9}"/>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6" name="Footer Placeholder 5">
            <a:extLst>
              <a:ext uri="{FF2B5EF4-FFF2-40B4-BE49-F238E27FC236}">
                <a16:creationId xmlns:a16="http://schemas.microsoft.com/office/drawing/2014/main" id="{358927DF-C2C0-7D54-0831-FDC9F922EC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D36F24-6662-5E2A-F9AB-9A96A8307168}"/>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1289838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4FE14-8C81-6473-561E-28349F636D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75F752-E181-6EED-5008-CA0EFA28A8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CDD3DB-2E7D-C2F1-274C-CCB51DA2CA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95A525-D12C-148F-5C80-1FE7C14E8C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BBC2F-C727-18C5-9A79-EF70C713D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0A3D21-992B-A4F0-8BEC-C809254AA2C8}"/>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8" name="Footer Placeholder 7">
            <a:extLst>
              <a:ext uri="{FF2B5EF4-FFF2-40B4-BE49-F238E27FC236}">
                <a16:creationId xmlns:a16="http://schemas.microsoft.com/office/drawing/2014/main" id="{D6A1FB1F-37BB-2706-82F2-F22E23AFBE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A2AE11-10C5-AB12-12B7-9146552EA08E}"/>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262954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EC37-6AB9-506F-1D5E-908391C28B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34D26F-4BA8-2E24-D176-A6395D067530}"/>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4" name="Footer Placeholder 3">
            <a:extLst>
              <a:ext uri="{FF2B5EF4-FFF2-40B4-BE49-F238E27FC236}">
                <a16:creationId xmlns:a16="http://schemas.microsoft.com/office/drawing/2014/main" id="{EAB445FF-402C-5791-9565-A75997A027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FFD842-9780-AF50-0D2B-39E0A68AAAF9}"/>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3958806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9B4BDC-6823-6A69-CEB8-8502CA2119A8}"/>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3" name="Footer Placeholder 2">
            <a:extLst>
              <a:ext uri="{FF2B5EF4-FFF2-40B4-BE49-F238E27FC236}">
                <a16:creationId xmlns:a16="http://schemas.microsoft.com/office/drawing/2014/main" id="{44629AD9-AC41-4D8B-7BD1-6BFB8F3F15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55EDA3-C59A-92A8-805B-73CC28D55700}"/>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21892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B1113-62AA-FB4F-4DB8-B88B984CB2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1BA550-4EB0-639A-0DF4-6FF439683C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FC8E05-284B-434C-E024-11298AB978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E129CB-40DB-2B66-E740-707D2EF71D5A}"/>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6" name="Footer Placeholder 5">
            <a:extLst>
              <a:ext uri="{FF2B5EF4-FFF2-40B4-BE49-F238E27FC236}">
                <a16:creationId xmlns:a16="http://schemas.microsoft.com/office/drawing/2014/main" id="{20CF8C73-47A2-7C12-E80D-91300FE271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7FDE02-EBE4-70E7-0D10-31F9853D2793}"/>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377455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09D84-3ACD-4620-0C15-B266AE51FB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19B9CC-5981-A698-CE9B-A5DB8E1DB3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68B4AB-4CF6-C01D-FDB0-6AC9ED8D4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63BD59-B85A-A934-6C4C-4E34881F3CCE}"/>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6" name="Footer Placeholder 5">
            <a:extLst>
              <a:ext uri="{FF2B5EF4-FFF2-40B4-BE49-F238E27FC236}">
                <a16:creationId xmlns:a16="http://schemas.microsoft.com/office/drawing/2014/main" id="{F1D30159-B287-D4C6-07B0-B32F69FE91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348FB0-48F1-4D3F-A082-69CB3A4B45E8}"/>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2164550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86F4-4BC6-D24C-945A-634522FC0C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6C8D51-E967-C351-ED4D-E0A7C2D6D1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C15364-59D5-694E-D375-DDF2C2E5CB9E}"/>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5" name="Footer Placeholder 4">
            <a:extLst>
              <a:ext uri="{FF2B5EF4-FFF2-40B4-BE49-F238E27FC236}">
                <a16:creationId xmlns:a16="http://schemas.microsoft.com/office/drawing/2014/main" id="{95040959-25EF-A64D-6EE9-26C3BE8BAC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09CF9D-0A8D-72FF-72AE-5A1239FD1FD4}"/>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2527112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3CAB2D-C317-518E-80C7-AFB7355EDD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B63496-32C9-5569-E5DE-733CD5B06A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BBD68A-1370-D234-8440-8A76768EB8C5}"/>
              </a:ext>
            </a:extLst>
          </p:cNvPr>
          <p:cNvSpPr>
            <a:spLocks noGrp="1"/>
          </p:cNvSpPr>
          <p:nvPr>
            <p:ph type="dt" sz="half" idx="10"/>
          </p:nvPr>
        </p:nvSpPr>
        <p:spPr/>
        <p:txBody>
          <a:bodyPr/>
          <a:lstStyle/>
          <a:p>
            <a:fld id="{D6157483-950A-443B-B381-C0CDF9BDE9F1}" type="datetimeFigureOut">
              <a:rPr lang="en-US" smtClean="0"/>
              <a:t>10/23/2026</a:t>
            </a:fld>
            <a:endParaRPr lang="en-US"/>
          </a:p>
        </p:txBody>
      </p:sp>
      <p:sp>
        <p:nvSpPr>
          <p:cNvPr id="5" name="Footer Placeholder 4">
            <a:extLst>
              <a:ext uri="{FF2B5EF4-FFF2-40B4-BE49-F238E27FC236}">
                <a16:creationId xmlns:a16="http://schemas.microsoft.com/office/drawing/2014/main" id="{759C6519-5F99-F4E0-6073-E2F948D3CC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63B7A-7A3E-6593-2E57-3AECFD578524}"/>
              </a:ext>
            </a:extLst>
          </p:cNvPr>
          <p:cNvSpPr>
            <a:spLocks noGrp="1"/>
          </p:cNvSpPr>
          <p:nvPr>
            <p:ph type="sldNum" sz="quarter" idx="12"/>
          </p:nvPr>
        </p:nvSpPr>
        <p:spPr/>
        <p:txBody>
          <a:bodyPr/>
          <a:lstStyle/>
          <a:p>
            <a:fld id="{F4128895-CFCB-43C7-9C71-9D80C5FB8312}" type="slidenum">
              <a:rPr lang="en-US" smtClean="0"/>
              <a:t>‹#›</a:t>
            </a:fld>
            <a:endParaRPr lang="en-US"/>
          </a:p>
        </p:txBody>
      </p:sp>
    </p:spTree>
    <p:extLst>
      <p:ext uri="{BB962C8B-B14F-4D97-AF65-F5344CB8AC3E}">
        <p14:creationId xmlns:p14="http://schemas.microsoft.com/office/powerpoint/2010/main" val="1274671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819B33-7264-69D1-5058-6D1A020A3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35C515-30D1-769E-B215-27956C54AD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C33547-253C-3FA1-9024-570A20CBD8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157483-950A-443B-B381-C0CDF9BDE9F1}" type="datetimeFigureOut">
              <a:rPr lang="en-US" smtClean="0"/>
              <a:t>10/23/2026</a:t>
            </a:fld>
            <a:endParaRPr lang="en-US"/>
          </a:p>
        </p:txBody>
      </p:sp>
      <p:sp>
        <p:nvSpPr>
          <p:cNvPr id="5" name="Footer Placeholder 4">
            <a:extLst>
              <a:ext uri="{FF2B5EF4-FFF2-40B4-BE49-F238E27FC236}">
                <a16:creationId xmlns:a16="http://schemas.microsoft.com/office/drawing/2014/main" id="{63D8C663-24CA-8D81-7763-3344F06873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3C1849-1710-59B8-ECC1-5326D2B88C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128895-CFCB-43C7-9C71-9D80C5FB8312}" type="slidenum">
              <a:rPr lang="en-US" smtClean="0"/>
              <a:t>‹#›</a:t>
            </a:fld>
            <a:endParaRPr lang="en-US"/>
          </a:p>
        </p:txBody>
      </p:sp>
    </p:spTree>
    <p:extLst>
      <p:ext uri="{BB962C8B-B14F-4D97-AF65-F5344CB8AC3E}">
        <p14:creationId xmlns:p14="http://schemas.microsoft.com/office/powerpoint/2010/main" val="4055315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415FB6D-0CC5-F1C0-7C74-EA2E73ECC980}"/>
              </a:ext>
            </a:extLst>
          </p:cNvPr>
          <p:cNvSpPr/>
          <p:nvPr/>
        </p:nvSpPr>
        <p:spPr>
          <a:xfrm>
            <a:off x="0" y="0"/>
            <a:ext cx="12192000" cy="68580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1">
            <a:extLst>
              <a:ext uri="{FF2B5EF4-FFF2-40B4-BE49-F238E27FC236}">
                <a16:creationId xmlns:a16="http://schemas.microsoft.com/office/drawing/2014/main" id="{B81F0A37-A572-6D82-F7AB-5861FB67AF92}"/>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2">
            <a:extLst>
              <a:ext uri="{FF2B5EF4-FFF2-40B4-BE49-F238E27FC236}">
                <a16:creationId xmlns:a16="http://schemas.microsoft.com/office/drawing/2014/main" id="{958B7A11-292E-71CB-7CEF-3DABDFA2DB71}"/>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3">
            <a:extLst>
              <a:ext uri="{FF2B5EF4-FFF2-40B4-BE49-F238E27FC236}">
                <a16:creationId xmlns:a16="http://schemas.microsoft.com/office/drawing/2014/main" id="{210F6877-437F-634F-54DD-7B4803DEE78B}"/>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4">
            <a:extLst>
              <a:ext uri="{FF2B5EF4-FFF2-40B4-BE49-F238E27FC236}">
                <a16:creationId xmlns:a16="http://schemas.microsoft.com/office/drawing/2014/main" id="{30410DE9-5BC0-CB7E-D812-FEE3AA9B115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ail">
            <a:extLst>
              <a:ext uri="{FF2B5EF4-FFF2-40B4-BE49-F238E27FC236}">
                <a16:creationId xmlns:a16="http://schemas.microsoft.com/office/drawing/2014/main" id="{1E9FC762-D8EF-791C-47CC-D3EEC64A114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N1">
            <a:extLst>
              <a:ext uri="{FF2B5EF4-FFF2-40B4-BE49-F238E27FC236}">
                <a16:creationId xmlns:a16="http://schemas.microsoft.com/office/drawing/2014/main" id="{BD714102-8F71-84AB-E5B6-DF8C15E36DB5}"/>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idea per slide. The blue box is where to look; the black boxes say what it means.</a:t>
            </a:r>
          </a:p>
        </p:txBody>
      </p:sp>
      <p:sp>
        <p:nvSpPr>
          <p:cNvPr id="9" name="!!T-BG">
            <a:extLst>
              <a:ext uri="{FF2B5EF4-FFF2-40B4-BE49-F238E27FC236}">
                <a16:creationId xmlns:a16="http://schemas.microsoft.com/office/drawing/2014/main" id="{DB2871E9-2155-8D72-7A14-F62FDA8C49E9}"/>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
            <a:extLst>
              <a:ext uri="{FF2B5EF4-FFF2-40B4-BE49-F238E27FC236}">
                <a16:creationId xmlns:a16="http://schemas.microsoft.com/office/drawing/2014/main" id="{7724D397-142C-14CC-060F-0A12E156E90E}"/>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FFFF"/>
                </a:solidFill>
                <a:latin typeface="Aptos Display" panose="020B0004020202020204" pitchFamily="34" charset="0"/>
              </a:rPr>
              <a:t>Did the cues change how the regions </a:t>
            </a:r>
            <a:r>
              <a:rPr lang="en-US" sz="4000" b="1">
                <a:solidFill>
                  <a:srgbClr val="FF0000"/>
                </a:solidFill>
                <a:latin typeface="Aptos Display" panose="020B0004020202020204" pitchFamily="34" charset="0"/>
              </a:rPr>
              <a:t>talk?</a:t>
            </a:r>
          </a:p>
          <a:p>
            <a:pPr algn="ctr">
              <a:lnSpc>
                <a:spcPct val="95000"/>
              </a:lnSpc>
            </a:pPr>
            <a:r>
              <a:rPr lang="en-US" sz="2000">
                <a:solidFill>
                  <a:srgbClr val="FFFFFF"/>
                </a:solidFill>
                <a:latin typeface="Aptos Display" panose="020B0004020202020204" pitchFamily="34" charset="0"/>
              </a:rPr>
              <a:t>Precon1 → Precon4 · 8 rats · gamma coherence</a:t>
            </a:r>
          </a:p>
          <a:p>
            <a:pPr algn="ctr">
              <a:lnSpc>
                <a:spcPct val="95000"/>
              </a:lnSpc>
            </a:pPr>
            <a:r>
              <a:rPr lang="en-US" sz="2000">
                <a:solidFill>
                  <a:srgbClr val="FFFFFF"/>
                </a:solidFill>
                <a:latin typeface="Aptos Display" panose="020B0004020202020204" pitchFamily="34" charset="0"/>
              </a:rPr>
              <a:t>Shahriar · 22 October 2026</a:t>
            </a:r>
          </a:p>
        </p:txBody>
      </p:sp>
    </p:spTree>
    <p:extLst>
      <p:ext uri="{BB962C8B-B14F-4D97-AF65-F5344CB8AC3E}">
        <p14:creationId xmlns:p14="http://schemas.microsoft.com/office/powerpoint/2010/main" val="370109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BAADEF3-6ADE-B00A-6E2D-C7BCB8B5B97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coherence">
            <a:extLst>
              <a:ext uri="{FF2B5EF4-FFF2-40B4-BE49-F238E27FC236}">
                <a16:creationId xmlns:a16="http://schemas.microsoft.com/office/drawing/2014/main" id="{F546654C-57FD-2CD7-485F-FE645E8C9F3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790893"/>
            <a:ext cx="7120382" cy="3987414"/>
          </a:xfrm>
          <a:prstGeom prst="rect">
            <a:avLst/>
          </a:prstGeom>
          <a:ln w="9525">
            <a:solidFill>
              <a:srgbClr val="B0B0B0"/>
            </a:solidFill>
          </a:ln>
        </p:spPr>
      </p:pic>
      <p:sp>
        <p:nvSpPr>
          <p:cNvPr id="5" name="!!D1">
            <a:extLst>
              <a:ext uri="{FF2B5EF4-FFF2-40B4-BE49-F238E27FC236}">
                <a16:creationId xmlns:a16="http://schemas.microsoft.com/office/drawing/2014/main" id="{4872E777-252A-5560-5F1C-E2B93E184312}"/>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33641E38-9004-7192-9561-E57491387F2F}"/>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74C6E46-A523-7607-E4E5-EDB20EE73EBE}"/>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7D68783-4F10-8A3B-A5B3-92A98B139A1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46795DA-3474-4CAA-E656-54EE062839FA}"/>
              </a:ext>
            </a:extLst>
          </p:cNvPr>
          <p:cNvSpPr/>
          <p:nvPr/>
        </p:nvSpPr>
        <p:spPr>
          <a:xfrm>
            <a:off x="382847" y="1980770"/>
            <a:ext cx="6930505" cy="18038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06F11DF-7D5F-59DA-AB28-2D1742B7FFB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
            <a:extLst>
              <a:ext uri="{FF2B5EF4-FFF2-40B4-BE49-F238E27FC236}">
                <a16:creationId xmlns:a16="http://schemas.microsoft.com/office/drawing/2014/main" id="{FF14290E-7185-A05B-B4BF-6FC1292EF294}"/>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idea per slide. The blue box is where to look; the black boxes say what it means.</a:t>
            </a:r>
          </a:p>
        </p:txBody>
      </p:sp>
      <p:sp>
        <p:nvSpPr>
          <p:cNvPr id="12" name="!!N2">
            <a:extLst>
              <a:ext uri="{FF2B5EF4-FFF2-40B4-BE49-F238E27FC236}">
                <a16:creationId xmlns:a16="http://schemas.microsoft.com/office/drawing/2014/main" id="{892FADE0-21E8-9DB6-801E-D581E6AA8AAB}"/>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Coherence: how much two regions’ rhythms rise and fall together. In step, it is near 1.</a:t>
            </a:r>
          </a:p>
        </p:txBody>
      </p:sp>
      <p:sp>
        <p:nvSpPr>
          <p:cNvPr id="13" name="!!T-BG">
            <a:extLst>
              <a:ext uri="{FF2B5EF4-FFF2-40B4-BE49-F238E27FC236}">
                <a16:creationId xmlns:a16="http://schemas.microsoft.com/office/drawing/2014/main" id="{87BCCB41-9059-AE07-1709-738157AF97D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9766A3A6-5438-01A7-92BA-4430A714A68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How to read this deck</a:t>
            </a:r>
          </a:p>
        </p:txBody>
      </p:sp>
    </p:spTree>
    <p:extLst>
      <p:ext uri="{BB962C8B-B14F-4D97-AF65-F5344CB8AC3E}">
        <p14:creationId xmlns:p14="http://schemas.microsoft.com/office/powerpoint/2010/main" val="3358061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22C10C1-8F22-C133-2E6A-DD4BD359B27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coherence">
            <a:extLst>
              <a:ext uri="{FF2B5EF4-FFF2-40B4-BE49-F238E27FC236}">
                <a16:creationId xmlns:a16="http://schemas.microsoft.com/office/drawing/2014/main" id="{F5070EC2-AEFE-A812-0639-6830B327114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790893"/>
            <a:ext cx="7120382" cy="3987414"/>
          </a:xfrm>
          <a:prstGeom prst="rect">
            <a:avLst/>
          </a:prstGeom>
          <a:ln w="9525">
            <a:solidFill>
              <a:srgbClr val="B0B0B0"/>
            </a:solidFill>
          </a:ln>
        </p:spPr>
      </p:pic>
      <p:sp>
        <p:nvSpPr>
          <p:cNvPr id="5" name="!!D1">
            <a:extLst>
              <a:ext uri="{FF2B5EF4-FFF2-40B4-BE49-F238E27FC236}">
                <a16:creationId xmlns:a16="http://schemas.microsoft.com/office/drawing/2014/main" id="{518967ED-C592-14ED-CE21-88BAD20DE05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4BD21D2-A36D-C43D-8846-AFCBB15F324F}"/>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7495EAF-29AD-2D61-3B62-A468A3E43AA3}"/>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8B38A72-D685-6A5F-2CE6-6765113F9E13}"/>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8E24759-4CCB-531A-B8B4-B1BD0AE1540A}"/>
              </a:ext>
            </a:extLst>
          </p:cNvPr>
          <p:cNvSpPr/>
          <p:nvPr/>
        </p:nvSpPr>
        <p:spPr>
          <a:xfrm>
            <a:off x="382847" y="1980770"/>
            <a:ext cx="6930505" cy="18038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4CC1589F-AA3E-EA8B-272B-59277202557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
            <a:extLst>
              <a:ext uri="{FF2B5EF4-FFF2-40B4-BE49-F238E27FC236}">
                <a16:creationId xmlns:a16="http://schemas.microsoft.com/office/drawing/2014/main" id="{A9D131C6-119E-8BE3-9BD7-246C5F626C53}"/>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Coherence: how much two regions’ rhythms rise and fall together. In step, it is near 1.</a:t>
            </a:r>
          </a:p>
        </p:txBody>
      </p:sp>
      <p:sp>
        <p:nvSpPr>
          <p:cNvPr id="12" name="!!N3">
            <a:extLst>
              <a:ext uri="{FF2B5EF4-FFF2-40B4-BE49-F238E27FC236}">
                <a16:creationId xmlns:a16="http://schemas.microsoft.com/office/drawing/2014/main" id="{0F1D6A15-D784-0840-F895-6AB33E38DE96}"/>
              </a:ext>
            </a:extLst>
          </p:cNvPr>
          <p:cNvSpPr/>
          <p:nvPr/>
        </p:nvSpPr>
        <p:spPr>
          <a:xfrm>
            <a:off x="125730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When B’s timing drifts against A’s, it is near 0. In step, B’s peaks keep the same distance from A’s (the dotted lines).</a:t>
            </a:r>
          </a:p>
        </p:txBody>
      </p:sp>
      <p:sp>
        <p:nvSpPr>
          <p:cNvPr id="13" name="!!N1">
            <a:extLst>
              <a:ext uri="{FF2B5EF4-FFF2-40B4-BE49-F238E27FC236}">
                <a16:creationId xmlns:a16="http://schemas.microsoft.com/office/drawing/2014/main" id="{64B7F6F3-69C2-C0F6-756B-940367481115}"/>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idea per slide. The blue box is where to look; the black boxes say what it means.</a:t>
            </a:r>
          </a:p>
        </p:txBody>
      </p:sp>
      <p:sp>
        <p:nvSpPr>
          <p:cNvPr id="14" name="!!T-BG">
            <a:extLst>
              <a:ext uri="{FF2B5EF4-FFF2-40B4-BE49-F238E27FC236}">
                <a16:creationId xmlns:a16="http://schemas.microsoft.com/office/drawing/2014/main" id="{F89D6CF3-7959-A9BA-6153-5B26E30ED96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51809AD5-7B36-445C-A3E9-13FA5B13614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42491928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8E61E28-CCAC-DF4F-CE5E-3A01CBA5274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coherence">
            <a:extLst>
              <a:ext uri="{FF2B5EF4-FFF2-40B4-BE49-F238E27FC236}">
                <a16:creationId xmlns:a16="http://schemas.microsoft.com/office/drawing/2014/main" id="{91CEC4BC-B593-1EBF-44C3-F65FEFE33EB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790893"/>
            <a:ext cx="7120382" cy="3987414"/>
          </a:xfrm>
          <a:prstGeom prst="rect">
            <a:avLst/>
          </a:prstGeom>
          <a:ln w="9525">
            <a:solidFill>
              <a:srgbClr val="B0B0B0"/>
            </a:solidFill>
          </a:ln>
        </p:spPr>
      </p:pic>
      <p:sp>
        <p:nvSpPr>
          <p:cNvPr id="5" name="!!D1">
            <a:extLst>
              <a:ext uri="{FF2B5EF4-FFF2-40B4-BE49-F238E27FC236}">
                <a16:creationId xmlns:a16="http://schemas.microsoft.com/office/drawing/2014/main" id="{BCDD1D7F-8694-968F-0DC7-12120FAF9E29}"/>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1115AFC-AE14-890A-C8E9-02F904FF37AE}"/>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F7EC5FE-5CB2-456D-817D-AFE4BFF6ABD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D32A256-0008-B8CD-C1E4-F41F9337D744}"/>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202142C-2C85-D29A-0128-3D5B6624213C}"/>
              </a:ext>
            </a:extLst>
          </p:cNvPr>
          <p:cNvSpPr/>
          <p:nvPr/>
        </p:nvSpPr>
        <p:spPr>
          <a:xfrm>
            <a:off x="382847" y="3879538"/>
            <a:ext cx="6930505" cy="1803831"/>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8A72DEB-8FD7-C4D2-9796-3F547A9BA51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
            <a:extLst>
              <a:ext uri="{FF2B5EF4-FFF2-40B4-BE49-F238E27FC236}">
                <a16:creationId xmlns:a16="http://schemas.microsoft.com/office/drawing/2014/main" id="{ED8FC22F-0A80-3BFA-38FC-0E150A45E174}"/>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Coherence: how much two regions’ rhythms rise and fall together. In step, it is near 1.</a:t>
            </a:r>
          </a:p>
        </p:txBody>
      </p:sp>
      <p:sp>
        <p:nvSpPr>
          <p:cNvPr id="12" name="!!N3">
            <a:extLst>
              <a:ext uri="{FF2B5EF4-FFF2-40B4-BE49-F238E27FC236}">
                <a16:creationId xmlns:a16="http://schemas.microsoft.com/office/drawing/2014/main" id="{7E656B7A-9E58-5066-B286-0E808ECB3C69}"/>
              </a:ext>
            </a:extLst>
          </p:cNvPr>
          <p:cNvSpPr/>
          <p:nvPr/>
        </p:nvSpPr>
        <p:spPr>
          <a:xfrm>
            <a:off x="77978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When B’s timing drifts against A’s, it is near 0. In step, B’s peaks keep the same distance from A’s (the dotted lines).</a:t>
            </a:r>
          </a:p>
        </p:txBody>
      </p:sp>
      <p:sp>
        <p:nvSpPr>
          <p:cNvPr id="13" name="!!N4">
            <a:extLst>
              <a:ext uri="{FF2B5EF4-FFF2-40B4-BE49-F238E27FC236}">
                <a16:creationId xmlns:a16="http://schemas.microsoft.com/office/drawing/2014/main" id="{A5DEA50D-6AC1-AF02-CBFF-1FC5FE352E7D}"/>
              </a:ext>
            </a:extLst>
          </p:cNvPr>
          <p:cNvSpPr/>
          <p:nvPr/>
        </p:nvSpPr>
        <p:spPr>
          <a:xfrm>
            <a:off x="12573000" y="246888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Here: gamma (30–90 Hz), between every pair of 12 regions. 44 pairs had at least 4 rats on both days.</a:t>
            </a:r>
          </a:p>
        </p:txBody>
      </p:sp>
      <p:sp>
        <p:nvSpPr>
          <p:cNvPr id="14" name="!!T-BG">
            <a:extLst>
              <a:ext uri="{FF2B5EF4-FFF2-40B4-BE49-F238E27FC236}">
                <a16:creationId xmlns:a16="http://schemas.microsoft.com/office/drawing/2014/main" id="{24068943-5E5A-3146-A613-F63A13E412C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C078C7C9-3892-5084-5382-82359E0A956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13917341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189D541-5C11-C791-5FDA-6A701E79FDF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coherence">
            <a:extLst>
              <a:ext uri="{FF2B5EF4-FFF2-40B4-BE49-F238E27FC236}">
                <a16:creationId xmlns:a16="http://schemas.microsoft.com/office/drawing/2014/main" id="{74DBFE79-6874-4EF3-2F3A-D544D04696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790893"/>
            <a:ext cx="7120382" cy="3987414"/>
          </a:xfrm>
          <a:prstGeom prst="rect">
            <a:avLst/>
          </a:prstGeom>
          <a:ln w="9525">
            <a:solidFill>
              <a:srgbClr val="B0B0B0"/>
            </a:solidFill>
          </a:ln>
        </p:spPr>
      </p:pic>
      <p:sp>
        <p:nvSpPr>
          <p:cNvPr id="5" name="!!D1">
            <a:extLst>
              <a:ext uri="{FF2B5EF4-FFF2-40B4-BE49-F238E27FC236}">
                <a16:creationId xmlns:a16="http://schemas.microsoft.com/office/drawing/2014/main" id="{A5634C0D-75DC-0627-08A9-0BB4164CBC14}"/>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34D8B2B-D4D2-171A-3671-CED07CBC582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43A15AF-D711-79B3-4BDF-93D30FF25579}"/>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EFD8AC3-41B5-D6D9-53E6-87669CE8687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B869216E-A736-E85E-4BB9-5D383745AF2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2">
            <a:extLst>
              <a:ext uri="{FF2B5EF4-FFF2-40B4-BE49-F238E27FC236}">
                <a16:creationId xmlns:a16="http://schemas.microsoft.com/office/drawing/2014/main" id="{00D0B15D-0D1F-0550-BF32-FCE39B324A8A}"/>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Coherence: how much two regions’ rhythms rise and fall together. In step, it is near 1.</a:t>
            </a:r>
          </a:p>
        </p:txBody>
      </p:sp>
      <p:sp>
        <p:nvSpPr>
          <p:cNvPr id="11" name="!!N3">
            <a:extLst>
              <a:ext uri="{FF2B5EF4-FFF2-40B4-BE49-F238E27FC236}">
                <a16:creationId xmlns:a16="http://schemas.microsoft.com/office/drawing/2014/main" id="{F585AD4A-3178-BF01-332A-419C3D2C5EE3}"/>
              </a:ext>
            </a:extLst>
          </p:cNvPr>
          <p:cNvSpPr/>
          <p:nvPr/>
        </p:nvSpPr>
        <p:spPr>
          <a:xfrm>
            <a:off x="7797800" y="1559052"/>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When B’s timing drifts against A’s, it is near 0. In step, B’s peaks keep the same distance from A’s (the dotted lines).</a:t>
            </a:r>
          </a:p>
        </p:txBody>
      </p:sp>
      <p:sp>
        <p:nvSpPr>
          <p:cNvPr id="12" name="!!N4">
            <a:extLst>
              <a:ext uri="{FF2B5EF4-FFF2-40B4-BE49-F238E27FC236}">
                <a16:creationId xmlns:a16="http://schemas.microsoft.com/office/drawing/2014/main" id="{8E3ACBC7-2844-4BB6-630A-EAB1F828DEBF}"/>
              </a:ext>
            </a:extLst>
          </p:cNvPr>
          <p:cNvSpPr/>
          <p:nvPr/>
        </p:nvSpPr>
        <p:spPr>
          <a:xfrm>
            <a:off x="7797800" y="246888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Here: gamma (30–90 Hz), between every pair of 12 regions. 44 pairs had at least 4 rats on both days.</a:t>
            </a:r>
          </a:p>
        </p:txBody>
      </p:sp>
      <p:sp>
        <p:nvSpPr>
          <p:cNvPr id="13" name="!!N5">
            <a:extLst>
              <a:ext uri="{FF2B5EF4-FFF2-40B4-BE49-F238E27FC236}">
                <a16:creationId xmlns:a16="http://schemas.microsoft.com/office/drawing/2014/main" id="{06D621DF-0CC2-E5D1-FF29-637DC4A05C73}"/>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trial: a baseline before cue 1, then cue 1 and cue 2.</a:t>
            </a:r>
          </a:p>
        </p:txBody>
      </p:sp>
      <p:sp>
        <p:nvSpPr>
          <p:cNvPr id="14" name="!!T-BG">
            <a:extLst>
              <a:ext uri="{FF2B5EF4-FFF2-40B4-BE49-F238E27FC236}">
                <a16:creationId xmlns:a16="http://schemas.microsoft.com/office/drawing/2014/main" id="{66A88594-3C2F-8D37-4424-68EC3D217E2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7C5F7721-BEDD-D2DF-3503-BE4E1D3A394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1593686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865361E-61ED-00D7-CBC7-54C3CB4909E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timeline">
            <a:extLst>
              <a:ext uri="{FF2B5EF4-FFF2-40B4-BE49-F238E27FC236}">
                <a16:creationId xmlns:a16="http://schemas.microsoft.com/office/drawing/2014/main" id="{D5A60056-B251-7EFD-9C02-E32EA3BBBC3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2123178"/>
            <a:ext cx="7120382" cy="3322845"/>
          </a:xfrm>
          <a:prstGeom prst="rect">
            <a:avLst/>
          </a:prstGeom>
          <a:ln w="9525">
            <a:solidFill>
              <a:srgbClr val="B0B0B0"/>
            </a:solidFill>
          </a:ln>
        </p:spPr>
      </p:pic>
      <p:sp>
        <p:nvSpPr>
          <p:cNvPr id="5" name="!!D1">
            <a:extLst>
              <a:ext uri="{FF2B5EF4-FFF2-40B4-BE49-F238E27FC236}">
                <a16:creationId xmlns:a16="http://schemas.microsoft.com/office/drawing/2014/main" id="{BF4A713A-61E7-CAE0-0CE7-BCAE595FCC9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7E8624A-79B0-F2A7-6D64-FEFA20CD45A3}"/>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2F8E43D-5A1D-7AC1-4F95-EA908F8E090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7977288-4B54-8D79-7841-A221FA50A60F}"/>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CC61D3B-F39E-9B5A-FC9A-CBA2DD02C606}"/>
              </a:ext>
            </a:extLst>
          </p:cNvPr>
          <p:cNvSpPr/>
          <p:nvPr/>
        </p:nvSpPr>
        <p:spPr>
          <a:xfrm>
            <a:off x="990857" y="2518121"/>
            <a:ext cx="5798112" cy="104622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DC7FAFC-5EC1-4D80-38C1-F81E7C3008E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
            <a:extLst>
              <a:ext uri="{FF2B5EF4-FFF2-40B4-BE49-F238E27FC236}">
                <a16:creationId xmlns:a16="http://schemas.microsoft.com/office/drawing/2014/main" id="{9153AA63-6455-FEC1-444C-49E26386AF56}"/>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trial: a baseline before cue 1, then cue 1 and cue 2.</a:t>
            </a:r>
          </a:p>
        </p:txBody>
      </p:sp>
      <p:sp>
        <p:nvSpPr>
          <p:cNvPr id="12" name="!!N6">
            <a:extLst>
              <a:ext uri="{FF2B5EF4-FFF2-40B4-BE49-F238E27FC236}">
                <a16:creationId xmlns:a16="http://schemas.microsoft.com/office/drawing/2014/main" id="{84F04EB1-B5FF-7D80-6D93-10A7084496AA}"/>
              </a:ext>
            </a:extLst>
          </p:cNvPr>
          <p:cNvSpPr/>
          <p:nvPr/>
        </p:nvSpPr>
        <p:spPr>
          <a:xfrm>
            <a:off x="12573000" y="137007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1: the 20 s baseline against both cues (20 s).</a:t>
            </a:r>
          </a:p>
        </p:txBody>
      </p:sp>
      <p:sp>
        <p:nvSpPr>
          <p:cNvPr id="13" name="!!N2">
            <a:extLst>
              <a:ext uri="{FF2B5EF4-FFF2-40B4-BE49-F238E27FC236}">
                <a16:creationId xmlns:a16="http://schemas.microsoft.com/office/drawing/2014/main" id="{B76A6DFF-7B48-D84A-36D2-BB86D8067070}"/>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Coherence: how much two regions’ rhythms rise and fall together. In step, it is near 1.</a:t>
            </a:r>
          </a:p>
        </p:txBody>
      </p:sp>
      <p:sp>
        <p:nvSpPr>
          <p:cNvPr id="14" name="!!N3">
            <a:extLst>
              <a:ext uri="{FF2B5EF4-FFF2-40B4-BE49-F238E27FC236}">
                <a16:creationId xmlns:a16="http://schemas.microsoft.com/office/drawing/2014/main" id="{B592ADAE-1B3B-A890-B094-0124C3ABD240}"/>
              </a:ext>
            </a:extLst>
          </p:cNvPr>
          <p:cNvSpPr/>
          <p:nvPr/>
        </p:nvSpPr>
        <p:spPr>
          <a:xfrm>
            <a:off x="12573000" y="1559052"/>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When B’s timing drifts against A’s, it is near 0. In step, B’s peaks keep the same distance from A’s (the dotted lines).</a:t>
            </a:r>
          </a:p>
        </p:txBody>
      </p:sp>
      <p:sp>
        <p:nvSpPr>
          <p:cNvPr id="15" name="!!N4">
            <a:extLst>
              <a:ext uri="{FF2B5EF4-FFF2-40B4-BE49-F238E27FC236}">
                <a16:creationId xmlns:a16="http://schemas.microsoft.com/office/drawing/2014/main" id="{38BDA692-22B4-B328-A6D5-768D81520DD4}"/>
              </a:ext>
            </a:extLst>
          </p:cNvPr>
          <p:cNvSpPr/>
          <p:nvPr/>
        </p:nvSpPr>
        <p:spPr>
          <a:xfrm>
            <a:off x="12573000" y="246888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Here: gamma (30–90 Hz), between every pair of 12 regions. 44 pairs had at least 4 rats on both days.</a:t>
            </a:r>
          </a:p>
        </p:txBody>
      </p:sp>
      <p:sp>
        <p:nvSpPr>
          <p:cNvPr id="16" name="!!T-BG">
            <a:extLst>
              <a:ext uri="{FF2B5EF4-FFF2-40B4-BE49-F238E27FC236}">
                <a16:creationId xmlns:a16="http://schemas.microsoft.com/office/drawing/2014/main" id="{199469BA-94DB-F8AC-6E3E-8A853A9A0C0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DABFDEEB-969A-00A6-5A70-2A55FF6714D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23404676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4C9CCAF-72F9-0A93-1CB7-0C2022E77B3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timeline">
            <a:extLst>
              <a:ext uri="{FF2B5EF4-FFF2-40B4-BE49-F238E27FC236}">
                <a16:creationId xmlns:a16="http://schemas.microsoft.com/office/drawing/2014/main" id="{1C42A5D4-83FA-A944-4A9B-52D609A3F10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2123178"/>
            <a:ext cx="7120382" cy="3322845"/>
          </a:xfrm>
          <a:prstGeom prst="rect">
            <a:avLst/>
          </a:prstGeom>
          <a:ln w="9525">
            <a:solidFill>
              <a:srgbClr val="B0B0B0"/>
            </a:solidFill>
          </a:ln>
        </p:spPr>
      </p:pic>
      <p:sp>
        <p:nvSpPr>
          <p:cNvPr id="5" name="!!D1">
            <a:extLst>
              <a:ext uri="{FF2B5EF4-FFF2-40B4-BE49-F238E27FC236}">
                <a16:creationId xmlns:a16="http://schemas.microsoft.com/office/drawing/2014/main" id="{6D4D815E-D3C7-795A-AC32-9C5A96BEA094}"/>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3ACA78D-9955-0821-39C9-44AC3A2647B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31544E4-B702-F594-35DB-A8DBBE3ED95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AB9F49B-D270-35E3-BEAB-AFD2CCE383C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6BBB4F6-C29A-00C8-D68A-873E06805C08}"/>
              </a:ext>
            </a:extLst>
          </p:cNvPr>
          <p:cNvSpPr/>
          <p:nvPr/>
        </p:nvSpPr>
        <p:spPr>
          <a:xfrm>
            <a:off x="572724" y="3977325"/>
            <a:ext cx="6271996" cy="550643"/>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D45B70B-3CCD-E697-FE00-7A7B4ADE28A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
            <a:extLst>
              <a:ext uri="{FF2B5EF4-FFF2-40B4-BE49-F238E27FC236}">
                <a16:creationId xmlns:a16="http://schemas.microsoft.com/office/drawing/2014/main" id="{C015EE04-7B26-3563-DFA4-7D3FA92DF834}"/>
              </a:ext>
            </a:extLst>
          </p:cNvPr>
          <p:cNvSpPr/>
          <p:nvPr/>
        </p:nvSpPr>
        <p:spPr>
          <a:xfrm>
            <a:off x="7797800" y="83820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trial: a baseline before cue 1, then cue 1 and cue 2.</a:t>
            </a:r>
          </a:p>
        </p:txBody>
      </p:sp>
      <p:sp>
        <p:nvSpPr>
          <p:cNvPr id="12" name="!!N6">
            <a:extLst>
              <a:ext uri="{FF2B5EF4-FFF2-40B4-BE49-F238E27FC236}">
                <a16:creationId xmlns:a16="http://schemas.microsoft.com/office/drawing/2014/main" id="{5EE03188-31DB-E7DE-20EE-7BAE655C122A}"/>
              </a:ext>
            </a:extLst>
          </p:cNvPr>
          <p:cNvSpPr/>
          <p:nvPr/>
        </p:nvSpPr>
        <p:spPr>
          <a:xfrm>
            <a:off x="7797800" y="137007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1: the 20 s baseline against both cues (20 s).</a:t>
            </a:r>
          </a:p>
        </p:txBody>
      </p:sp>
      <p:sp>
        <p:nvSpPr>
          <p:cNvPr id="13" name="!!N7">
            <a:extLst>
              <a:ext uri="{FF2B5EF4-FFF2-40B4-BE49-F238E27FC236}">
                <a16:creationId xmlns:a16="http://schemas.microsoft.com/office/drawing/2014/main" id="{DB9BEE0E-A3DA-697F-1342-1884945F6837}"/>
              </a:ext>
            </a:extLst>
          </p:cNvPr>
          <p:cNvSpPr/>
          <p:nvPr/>
        </p:nvSpPr>
        <p:spPr>
          <a:xfrm>
            <a:off x="12573000" y="20909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2: the 10 s baseline against cue 1.</a:t>
            </a:r>
          </a:p>
        </p:txBody>
      </p:sp>
      <p:sp>
        <p:nvSpPr>
          <p:cNvPr id="14" name="!!T-BG">
            <a:extLst>
              <a:ext uri="{FF2B5EF4-FFF2-40B4-BE49-F238E27FC236}">
                <a16:creationId xmlns:a16="http://schemas.microsoft.com/office/drawing/2014/main" id="{E556664A-5CA6-731D-F138-79EF47EE14D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0744555B-AD7C-5033-0161-30CC8B7AEC1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7923987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3AA599D-7BC1-F870-6510-28C104228D5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timeline">
            <a:extLst>
              <a:ext uri="{FF2B5EF4-FFF2-40B4-BE49-F238E27FC236}">
                <a16:creationId xmlns:a16="http://schemas.microsoft.com/office/drawing/2014/main" id="{64910993-D5B1-2309-828D-9560D225D5D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123178"/>
            <a:ext cx="7120382" cy="3322845"/>
          </a:xfrm>
          <a:prstGeom prst="rect">
            <a:avLst/>
          </a:prstGeom>
          <a:ln w="9525">
            <a:solidFill>
              <a:srgbClr val="B0B0B0"/>
            </a:solidFill>
          </a:ln>
        </p:spPr>
      </p:pic>
      <p:sp>
        <p:nvSpPr>
          <p:cNvPr id="5" name="!!D1">
            <a:extLst>
              <a:ext uri="{FF2B5EF4-FFF2-40B4-BE49-F238E27FC236}">
                <a16:creationId xmlns:a16="http://schemas.microsoft.com/office/drawing/2014/main" id="{01EED815-98E9-6FD7-EDF6-1212B98444C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D50FBC8-AF81-F481-A5C8-E335D1D8A69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F5B8D1E-FFC3-1C88-0B03-F045AFD6CBA1}"/>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14C5953-77BF-4513-E01F-E77004FADFC4}"/>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CD8AF95-08AD-0449-3B8A-46EBE831BA27}"/>
              </a:ext>
            </a:extLst>
          </p:cNvPr>
          <p:cNvSpPr/>
          <p:nvPr/>
        </p:nvSpPr>
        <p:spPr>
          <a:xfrm>
            <a:off x="572724" y="4693161"/>
            <a:ext cx="6271996" cy="550643"/>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2DABA44-866E-8B13-F5F0-43267969580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
            <a:extLst>
              <a:ext uri="{FF2B5EF4-FFF2-40B4-BE49-F238E27FC236}">
                <a16:creationId xmlns:a16="http://schemas.microsoft.com/office/drawing/2014/main" id="{29A66E41-3B6D-9AA7-0B41-08EDF5E93947}"/>
              </a:ext>
            </a:extLst>
          </p:cNvPr>
          <p:cNvSpPr/>
          <p:nvPr/>
        </p:nvSpPr>
        <p:spPr>
          <a:xfrm>
            <a:off x="7797800" y="83820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trial: a baseline before cue 1, then cue 1 and cue 2.</a:t>
            </a:r>
          </a:p>
        </p:txBody>
      </p:sp>
      <p:sp>
        <p:nvSpPr>
          <p:cNvPr id="12" name="!!N6">
            <a:extLst>
              <a:ext uri="{FF2B5EF4-FFF2-40B4-BE49-F238E27FC236}">
                <a16:creationId xmlns:a16="http://schemas.microsoft.com/office/drawing/2014/main" id="{5CB0C2A1-002D-5F28-8F55-B501649274F8}"/>
              </a:ext>
            </a:extLst>
          </p:cNvPr>
          <p:cNvSpPr/>
          <p:nvPr/>
        </p:nvSpPr>
        <p:spPr>
          <a:xfrm>
            <a:off x="7797800" y="1370076"/>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Comparison 1: the 20 s baseline against both cues (20 s).</a:t>
            </a:r>
          </a:p>
        </p:txBody>
      </p:sp>
      <p:sp>
        <p:nvSpPr>
          <p:cNvPr id="13" name="!!N7">
            <a:extLst>
              <a:ext uri="{FF2B5EF4-FFF2-40B4-BE49-F238E27FC236}">
                <a16:creationId xmlns:a16="http://schemas.microsoft.com/office/drawing/2014/main" id="{6AB8D502-1EEC-D6F8-66C8-C98738E78130}"/>
              </a:ext>
            </a:extLst>
          </p:cNvPr>
          <p:cNvSpPr/>
          <p:nvPr/>
        </p:nvSpPr>
        <p:spPr>
          <a:xfrm>
            <a:off x="7797800" y="20909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2: the 10 s baseline against cue 1.</a:t>
            </a:r>
          </a:p>
        </p:txBody>
      </p:sp>
      <p:sp>
        <p:nvSpPr>
          <p:cNvPr id="14" name="!!N8">
            <a:extLst>
              <a:ext uri="{FF2B5EF4-FFF2-40B4-BE49-F238E27FC236}">
                <a16:creationId xmlns:a16="http://schemas.microsoft.com/office/drawing/2014/main" id="{87380F51-A2AE-7FF9-CBD2-93031A907986}"/>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question: did the cues’ effect on coherence change from Precon1 to Precon4?</a:t>
            </a:r>
          </a:p>
        </p:txBody>
      </p:sp>
      <p:sp>
        <p:nvSpPr>
          <p:cNvPr id="15" name="!!T-BG">
            <a:extLst>
              <a:ext uri="{FF2B5EF4-FFF2-40B4-BE49-F238E27FC236}">
                <a16:creationId xmlns:a16="http://schemas.microsoft.com/office/drawing/2014/main" id="{44B34E63-4178-4561-77FB-2C7C54351BA4}"/>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4FAA9BFD-19AF-CC14-BD20-4056F9D157A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18121322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70F9552-1C43-B905-0A64-858FD32BBDC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rats_m1">
            <a:extLst>
              <a:ext uri="{FF2B5EF4-FFF2-40B4-BE49-F238E27FC236}">
                <a16:creationId xmlns:a16="http://schemas.microsoft.com/office/drawing/2014/main" id="{AC5090D5-BA21-E38C-A8BD-B255B46BA37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411139"/>
            <a:ext cx="7120382" cy="4746921"/>
          </a:xfrm>
          <a:prstGeom prst="rect">
            <a:avLst/>
          </a:prstGeom>
          <a:ln w="9525">
            <a:solidFill>
              <a:srgbClr val="B0B0B0"/>
            </a:solidFill>
          </a:ln>
        </p:spPr>
      </p:pic>
      <p:sp>
        <p:nvSpPr>
          <p:cNvPr id="5" name="!!D1">
            <a:extLst>
              <a:ext uri="{FF2B5EF4-FFF2-40B4-BE49-F238E27FC236}">
                <a16:creationId xmlns:a16="http://schemas.microsoft.com/office/drawing/2014/main" id="{56939751-8888-F4EF-CAAD-9D3CDDFF18D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45C2357-9B18-51F0-A505-E410869F5D75}"/>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094CB0D-D918-FEC6-22E7-CCD97B46B25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189268B-F249-2940-B717-7B04056E9A72}"/>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7BB1E25C-B54B-180A-E0D2-8FD3503CAFB3}"/>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8">
            <a:extLst>
              <a:ext uri="{FF2B5EF4-FFF2-40B4-BE49-F238E27FC236}">
                <a16:creationId xmlns:a16="http://schemas.microsoft.com/office/drawing/2014/main" id="{A68D12DA-7632-3FC7-A147-37AF83C3DCE3}"/>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question: did the cues’ effect on coherence change from Precon1 to Precon4?</a:t>
            </a:r>
          </a:p>
        </p:txBody>
      </p:sp>
      <p:sp>
        <p:nvSpPr>
          <p:cNvPr id="11" name="!!N9">
            <a:extLst>
              <a:ext uri="{FF2B5EF4-FFF2-40B4-BE49-F238E27FC236}">
                <a16:creationId xmlns:a16="http://schemas.microsoft.com/office/drawing/2014/main" id="{BAB9BD60-B888-7F37-76AC-A550D5197187}"/>
              </a:ext>
            </a:extLst>
          </p:cNvPr>
          <p:cNvSpPr/>
          <p:nvPr/>
        </p:nvSpPr>
        <p:spPr>
          <a:xfrm>
            <a:off x="125730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dot is one rat (comparison 1): cue − baseline on Precon4, minus the same on Precon1, averaged over its pairs. 7 of 8 are above 0.</a:t>
            </a:r>
          </a:p>
        </p:txBody>
      </p:sp>
      <p:sp>
        <p:nvSpPr>
          <p:cNvPr id="12" name="!!N5">
            <a:extLst>
              <a:ext uri="{FF2B5EF4-FFF2-40B4-BE49-F238E27FC236}">
                <a16:creationId xmlns:a16="http://schemas.microsoft.com/office/drawing/2014/main" id="{C76F4F73-B8F9-2908-B5EA-B3384B009798}"/>
              </a:ext>
            </a:extLst>
          </p:cNvPr>
          <p:cNvSpPr/>
          <p:nvPr/>
        </p:nvSpPr>
        <p:spPr>
          <a:xfrm>
            <a:off x="12573000" y="83820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trial: a baseline before cue 1, then cue 1 and cue 2.</a:t>
            </a:r>
          </a:p>
        </p:txBody>
      </p:sp>
      <p:sp>
        <p:nvSpPr>
          <p:cNvPr id="13" name="!!N6">
            <a:extLst>
              <a:ext uri="{FF2B5EF4-FFF2-40B4-BE49-F238E27FC236}">
                <a16:creationId xmlns:a16="http://schemas.microsoft.com/office/drawing/2014/main" id="{5B7225FD-EBD3-CE19-254B-E0A3207F69EB}"/>
              </a:ext>
            </a:extLst>
          </p:cNvPr>
          <p:cNvSpPr/>
          <p:nvPr/>
        </p:nvSpPr>
        <p:spPr>
          <a:xfrm>
            <a:off x="12573000" y="1370076"/>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Comparison 1: the 20 s baseline against both cues (20 s).</a:t>
            </a:r>
          </a:p>
        </p:txBody>
      </p:sp>
      <p:sp>
        <p:nvSpPr>
          <p:cNvPr id="14" name="!!N7">
            <a:extLst>
              <a:ext uri="{FF2B5EF4-FFF2-40B4-BE49-F238E27FC236}">
                <a16:creationId xmlns:a16="http://schemas.microsoft.com/office/drawing/2014/main" id="{2674BA83-13E9-801E-A6BE-6873689B2882}"/>
              </a:ext>
            </a:extLst>
          </p:cNvPr>
          <p:cNvSpPr/>
          <p:nvPr/>
        </p:nvSpPr>
        <p:spPr>
          <a:xfrm>
            <a:off x="12573000" y="20909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2: the 10 s baseline against cue 1.</a:t>
            </a:r>
          </a:p>
        </p:txBody>
      </p:sp>
      <p:sp>
        <p:nvSpPr>
          <p:cNvPr id="15" name="!!T-BG">
            <a:extLst>
              <a:ext uri="{FF2B5EF4-FFF2-40B4-BE49-F238E27FC236}">
                <a16:creationId xmlns:a16="http://schemas.microsoft.com/office/drawing/2014/main" id="{4092E6DA-570A-4B82-B357-9C2B313B7C24}"/>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DDD2888-64B7-7A78-ABCA-14F99245AF1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25042453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F29E6EE-380D-75C4-F06B-B51AF27A8E99}"/>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rats_m1">
            <a:extLst>
              <a:ext uri="{FF2B5EF4-FFF2-40B4-BE49-F238E27FC236}">
                <a16:creationId xmlns:a16="http://schemas.microsoft.com/office/drawing/2014/main" id="{4F222ED8-6846-4B3B-9EFD-A23BD9BE8B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411139"/>
            <a:ext cx="7120382" cy="4746921"/>
          </a:xfrm>
          <a:prstGeom prst="rect">
            <a:avLst/>
          </a:prstGeom>
          <a:ln w="9525">
            <a:solidFill>
              <a:srgbClr val="B0B0B0"/>
            </a:solidFill>
          </a:ln>
        </p:spPr>
      </p:pic>
      <p:sp>
        <p:nvSpPr>
          <p:cNvPr id="5" name="!!D1">
            <a:extLst>
              <a:ext uri="{FF2B5EF4-FFF2-40B4-BE49-F238E27FC236}">
                <a16:creationId xmlns:a16="http://schemas.microsoft.com/office/drawing/2014/main" id="{B8C51CAE-20A7-2E9C-041E-A7428AE7CDF3}"/>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902DD1C-4FB6-B801-D928-AE26A896C62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59A6BE4-3B76-8A09-E59D-10D2ADE5121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1E2AD32-D09D-F8BE-AD7D-93A30A4BBA22}"/>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0DC92CF0-69E6-9CB4-8800-6BC31D2766DC}"/>
              </a:ext>
            </a:extLst>
          </p:cNvPr>
          <p:cNvSpPr/>
          <p:nvPr/>
        </p:nvSpPr>
        <p:spPr>
          <a:xfrm>
            <a:off x="1474639" y="1648485"/>
            <a:ext cx="5696306" cy="379753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A22E440-8B88-E2D8-99EB-FF36E5554C7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
            <a:extLst>
              <a:ext uri="{FF2B5EF4-FFF2-40B4-BE49-F238E27FC236}">
                <a16:creationId xmlns:a16="http://schemas.microsoft.com/office/drawing/2014/main" id="{70425514-7670-DA97-EA00-592A9160910C}"/>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question: did the cues’ effect on coherence </a:t>
            </a:r>
            <a:r>
              <a:rPr lang="en-US" sz="1200" b="1">
                <a:solidFill>
                  <a:srgbClr val="FFFFFF"/>
                </a:solidFill>
                <a:latin typeface="Aptos" panose="020B0004020202020204" pitchFamily="34" charset="0"/>
              </a:rPr>
              <a:t>change</a:t>
            </a:r>
            <a:r>
              <a:rPr lang="en-US" sz="1200">
                <a:solidFill>
                  <a:srgbClr val="FFFFFF"/>
                </a:solidFill>
                <a:latin typeface="Aptos" panose="020B0004020202020204" pitchFamily="34" charset="0"/>
              </a:rPr>
              <a:t> from Precon1 to Precon4?</a:t>
            </a:r>
          </a:p>
        </p:txBody>
      </p:sp>
      <p:sp>
        <p:nvSpPr>
          <p:cNvPr id="12" name="!!N9">
            <a:extLst>
              <a:ext uri="{FF2B5EF4-FFF2-40B4-BE49-F238E27FC236}">
                <a16:creationId xmlns:a16="http://schemas.microsoft.com/office/drawing/2014/main" id="{64C0D1BC-BF9C-71D3-5B0C-554682C69C6A}"/>
              </a:ext>
            </a:extLst>
          </p:cNvPr>
          <p:cNvSpPr/>
          <p:nvPr/>
        </p:nvSpPr>
        <p:spPr>
          <a:xfrm>
            <a:off x="77978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dot is one rat (comparison 1): cue − baseline on Precon4, minus the same on Precon1, averaged over its pairs. 7 of 8 are above 0.</a:t>
            </a:r>
          </a:p>
        </p:txBody>
      </p:sp>
      <p:sp>
        <p:nvSpPr>
          <p:cNvPr id="13" name="!!N10">
            <a:extLst>
              <a:ext uri="{FF2B5EF4-FFF2-40B4-BE49-F238E27FC236}">
                <a16:creationId xmlns:a16="http://schemas.microsoft.com/office/drawing/2014/main" id="{EF1902E0-C32A-1C83-E1FE-ADB29BC40745}"/>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12 comparisons, each in theta and gamma. Green: unlikely to be chance (P &lt; 0.05). Amber: a check that lit. Grey: not clear of chance, which is not the same as no change.</a:t>
            </a:r>
          </a:p>
        </p:txBody>
      </p:sp>
      <p:sp>
        <p:nvSpPr>
          <p:cNvPr id="14" name="!!T-BG">
            <a:extLst>
              <a:ext uri="{FF2B5EF4-FFF2-40B4-BE49-F238E27FC236}">
                <a16:creationId xmlns:a16="http://schemas.microsoft.com/office/drawing/2014/main" id="{5CF824B6-F73D-FB80-538F-8A5290E2207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8DF496FA-8660-A96A-42A1-AD96CC2A5D8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36029257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A6BD9C4-5E98-EB50-7726-AF48341EDC6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lights">
            <a:extLst>
              <a:ext uri="{FF2B5EF4-FFF2-40B4-BE49-F238E27FC236}">
                <a16:creationId xmlns:a16="http://schemas.microsoft.com/office/drawing/2014/main" id="{C60A1BC5-E791-3505-D348-4350672DD5B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676967"/>
            <a:ext cx="7120382" cy="4215266"/>
          </a:xfrm>
          <a:prstGeom prst="rect">
            <a:avLst/>
          </a:prstGeom>
          <a:ln w="9525">
            <a:solidFill>
              <a:srgbClr val="B0B0B0"/>
            </a:solidFill>
          </a:ln>
        </p:spPr>
      </p:pic>
      <p:sp>
        <p:nvSpPr>
          <p:cNvPr id="5" name="!!D1">
            <a:extLst>
              <a:ext uri="{FF2B5EF4-FFF2-40B4-BE49-F238E27FC236}">
                <a16:creationId xmlns:a16="http://schemas.microsoft.com/office/drawing/2014/main" id="{F5A40703-2297-366A-E5C9-8203530F377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BC790D1-9DC4-EBCB-3EED-67F1D8FC77A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D053946-37E9-0303-4013-0A7F775B55D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CBCBB97-9964-F50A-F5B9-3A5BA19746D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18C32C06-0753-E50F-0BA6-3EF0D983C27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0">
            <a:extLst>
              <a:ext uri="{FF2B5EF4-FFF2-40B4-BE49-F238E27FC236}">
                <a16:creationId xmlns:a16="http://schemas.microsoft.com/office/drawing/2014/main" id="{2D685644-AE0E-74A6-6408-64389CF59838}"/>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12 comparisons, each in theta and gamma. Green: unlikely to be chance (P &lt; 0.05). Amber: a check that lit. Grey: not clear of chance, which is not the same as no change.</a:t>
            </a:r>
          </a:p>
        </p:txBody>
      </p:sp>
      <p:sp>
        <p:nvSpPr>
          <p:cNvPr id="11" name="!!N11">
            <a:extLst>
              <a:ext uri="{FF2B5EF4-FFF2-40B4-BE49-F238E27FC236}">
                <a16:creationId xmlns:a16="http://schemas.microsoft.com/office/drawing/2014/main" id="{EFE67541-7750-DFE1-C191-5C20C7C0B7DA}"/>
              </a:ext>
            </a:extLst>
          </p:cNvPr>
          <p:cNvSpPr/>
          <p:nvPr/>
        </p:nvSpPr>
        <p:spPr>
          <a:xfrm>
            <a:off x="12573000" y="19370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Two lit, both in gamma: comparison 1 (P = 0.017, 7 of 8 rats the same way) and comparison 2 (P = 0.035, 6 of 8).</a:t>
            </a:r>
          </a:p>
        </p:txBody>
      </p:sp>
      <p:sp>
        <p:nvSpPr>
          <p:cNvPr id="12" name="!!N8">
            <a:extLst>
              <a:ext uri="{FF2B5EF4-FFF2-40B4-BE49-F238E27FC236}">
                <a16:creationId xmlns:a16="http://schemas.microsoft.com/office/drawing/2014/main" id="{B3500994-F882-B5CF-01A6-B54514117595}"/>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question: did the cues’ effect on coherence </a:t>
            </a:r>
            <a:r>
              <a:rPr lang="en-US" sz="1200" b="1">
                <a:solidFill>
                  <a:srgbClr val="FFFFFF"/>
                </a:solidFill>
                <a:latin typeface="Aptos" panose="020B0004020202020204" pitchFamily="34" charset="0"/>
              </a:rPr>
              <a:t>change</a:t>
            </a:r>
            <a:r>
              <a:rPr lang="en-US" sz="1200">
                <a:solidFill>
                  <a:srgbClr val="FFFFFF"/>
                </a:solidFill>
                <a:latin typeface="Aptos" panose="020B0004020202020204" pitchFamily="34" charset="0"/>
              </a:rPr>
              <a:t> from Precon1 to Precon4?</a:t>
            </a:r>
          </a:p>
        </p:txBody>
      </p:sp>
      <p:sp>
        <p:nvSpPr>
          <p:cNvPr id="13" name="!!N9">
            <a:extLst>
              <a:ext uri="{FF2B5EF4-FFF2-40B4-BE49-F238E27FC236}">
                <a16:creationId xmlns:a16="http://schemas.microsoft.com/office/drawing/2014/main" id="{EE5EC8B5-14FD-03C5-776D-E17584770B45}"/>
              </a:ext>
            </a:extLst>
          </p:cNvPr>
          <p:cNvSpPr/>
          <p:nvPr/>
        </p:nvSpPr>
        <p:spPr>
          <a:xfrm>
            <a:off x="125730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dot is one rat (comparison 1): cue − baseline on Precon4, minus the same on Precon1, averaged over its pairs. 7 of 8 are above 0.</a:t>
            </a:r>
          </a:p>
        </p:txBody>
      </p:sp>
      <p:sp>
        <p:nvSpPr>
          <p:cNvPr id="14" name="!!T-BG">
            <a:extLst>
              <a:ext uri="{FF2B5EF4-FFF2-40B4-BE49-F238E27FC236}">
                <a16:creationId xmlns:a16="http://schemas.microsoft.com/office/drawing/2014/main" id="{E6C24EE6-038F-1A51-9B1F-524BAE44DEF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D3EA5AA9-7EEF-06BC-3A7D-9F2235EED06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Tab 8: what lit up</a:t>
            </a:r>
          </a:p>
        </p:txBody>
      </p:sp>
    </p:spTree>
    <p:extLst>
      <p:ext uri="{BB962C8B-B14F-4D97-AF65-F5344CB8AC3E}">
        <p14:creationId xmlns:p14="http://schemas.microsoft.com/office/powerpoint/2010/main" val="39916044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124C4C6-4C76-58A2-B6EB-4DC407E4916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lights">
            <a:extLst>
              <a:ext uri="{FF2B5EF4-FFF2-40B4-BE49-F238E27FC236}">
                <a16:creationId xmlns:a16="http://schemas.microsoft.com/office/drawing/2014/main" id="{627A0964-45B5-022F-E9B5-ABF77CA8955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676967"/>
            <a:ext cx="7120382" cy="4215266"/>
          </a:xfrm>
          <a:prstGeom prst="rect">
            <a:avLst/>
          </a:prstGeom>
          <a:ln w="9525">
            <a:solidFill>
              <a:srgbClr val="B0B0B0"/>
            </a:solidFill>
          </a:ln>
        </p:spPr>
      </p:pic>
      <p:sp>
        <p:nvSpPr>
          <p:cNvPr id="5" name="!!D1">
            <a:extLst>
              <a:ext uri="{FF2B5EF4-FFF2-40B4-BE49-F238E27FC236}">
                <a16:creationId xmlns:a16="http://schemas.microsoft.com/office/drawing/2014/main" id="{8D76860C-4055-444B-B3D2-CD9A3804DEC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AE74C8B-19C1-220C-2F6C-ABB1D81BA2D6}"/>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49501F0-C3AF-1C76-91FE-0F0120BF7EC1}"/>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D8B2F9D-D8B9-BC19-685D-D8F18A888E7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1FDF884-7E2A-704C-DCC4-6FE03C7FE88E}"/>
              </a:ext>
            </a:extLst>
          </p:cNvPr>
          <p:cNvSpPr/>
          <p:nvPr/>
        </p:nvSpPr>
        <p:spPr>
          <a:xfrm>
            <a:off x="6458907" y="1999758"/>
            <a:ext cx="379754" cy="303803"/>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A3275EB1-0BEE-2784-C583-9291ADA5125E}"/>
              </a:ext>
            </a:extLst>
          </p:cNvPr>
          <p:cNvSpPr/>
          <p:nvPr/>
        </p:nvSpPr>
        <p:spPr>
          <a:xfrm>
            <a:off x="6458907" y="2303561"/>
            <a:ext cx="379754" cy="303803"/>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F53745A7-AA39-363E-ABBB-D33D3A3B32C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10">
            <a:extLst>
              <a:ext uri="{FF2B5EF4-FFF2-40B4-BE49-F238E27FC236}">
                <a16:creationId xmlns:a16="http://schemas.microsoft.com/office/drawing/2014/main" id="{8ADDDB45-AEDE-D11A-FE05-6D8281146E8C}"/>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12 comparisons, each in theta and gamma. Green: unlikely to be chance (P &lt; 0.05). Amber: a check that lit. Grey: not clear of chance, which is not the same as no change.</a:t>
            </a:r>
          </a:p>
        </p:txBody>
      </p:sp>
      <p:sp>
        <p:nvSpPr>
          <p:cNvPr id="13" name="!!N11">
            <a:extLst>
              <a:ext uri="{FF2B5EF4-FFF2-40B4-BE49-F238E27FC236}">
                <a16:creationId xmlns:a16="http://schemas.microsoft.com/office/drawing/2014/main" id="{E74E8358-8CEB-2919-6A10-15CC1D7D74EC}"/>
              </a:ext>
            </a:extLst>
          </p:cNvPr>
          <p:cNvSpPr/>
          <p:nvPr/>
        </p:nvSpPr>
        <p:spPr>
          <a:xfrm>
            <a:off x="7797800" y="19370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Two lit, both in gamma: comparison 1 (P = 0.017, 7 of 8 rats the same way) and comparison 2 (P = 0.035, 6 of 8).</a:t>
            </a:r>
          </a:p>
        </p:txBody>
      </p:sp>
      <p:sp>
        <p:nvSpPr>
          <p:cNvPr id="14" name="!!N12">
            <a:extLst>
              <a:ext uri="{FF2B5EF4-FFF2-40B4-BE49-F238E27FC236}">
                <a16:creationId xmlns:a16="http://schemas.microsoft.com/office/drawing/2014/main" id="{0C8CE41D-F7E3-7378-0AE6-9B2D475F4E5A}"/>
              </a:ext>
            </a:extLst>
          </p:cNvPr>
          <p:cNvSpPr/>
          <p:nvPr/>
        </p:nvSpPr>
        <p:spPr>
          <a:xfrm>
            <a:off x="125730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check lit too: Noise vs Click in theta (P = 0.039). The checks were expected to stay dark: worth a look, not a finding.</a:t>
            </a:r>
          </a:p>
        </p:txBody>
      </p:sp>
      <p:sp>
        <p:nvSpPr>
          <p:cNvPr id="15" name="!!T-BG">
            <a:extLst>
              <a:ext uri="{FF2B5EF4-FFF2-40B4-BE49-F238E27FC236}">
                <a16:creationId xmlns:a16="http://schemas.microsoft.com/office/drawing/2014/main" id="{15F0A704-398F-23C0-5C2B-78B4617A0534}"/>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83DDFD4-66E6-16ED-811D-92DE51D3FBA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Tab 8: what lit up</a:t>
            </a:r>
          </a:p>
        </p:txBody>
      </p:sp>
    </p:spTree>
    <p:extLst>
      <p:ext uri="{BB962C8B-B14F-4D97-AF65-F5344CB8AC3E}">
        <p14:creationId xmlns:p14="http://schemas.microsoft.com/office/powerpoint/2010/main" val="16625451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D805794-E956-0A2B-8B15-611DBFE3687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lights">
            <a:extLst>
              <a:ext uri="{FF2B5EF4-FFF2-40B4-BE49-F238E27FC236}">
                <a16:creationId xmlns:a16="http://schemas.microsoft.com/office/drawing/2014/main" id="{9DA73E32-8EA3-ADA4-8D12-27F9808AACC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676967"/>
            <a:ext cx="7120382" cy="4215266"/>
          </a:xfrm>
          <a:prstGeom prst="rect">
            <a:avLst/>
          </a:prstGeom>
          <a:ln w="9525">
            <a:solidFill>
              <a:srgbClr val="B0B0B0"/>
            </a:solidFill>
          </a:ln>
        </p:spPr>
      </p:pic>
      <p:sp>
        <p:nvSpPr>
          <p:cNvPr id="5" name="!!D1">
            <a:extLst>
              <a:ext uri="{FF2B5EF4-FFF2-40B4-BE49-F238E27FC236}">
                <a16:creationId xmlns:a16="http://schemas.microsoft.com/office/drawing/2014/main" id="{10A9C3BF-21F6-0658-6A36-7CA63CBDD329}"/>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0429253-4CB3-A77A-5D34-67DF0474EB4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B130603-1E46-0721-4568-651ED6113D92}"/>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0F17699-F2E5-7EC1-4C20-22CE7C98F0C2}"/>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285C95E-DE75-07D7-606C-CBE7D1C6042E}"/>
              </a:ext>
            </a:extLst>
          </p:cNvPr>
          <p:cNvSpPr/>
          <p:nvPr/>
        </p:nvSpPr>
        <p:spPr>
          <a:xfrm>
            <a:off x="5414584" y="4430181"/>
            <a:ext cx="379754" cy="303803"/>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993389FD-BA8E-A1C3-2E25-742251F9489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0">
            <a:extLst>
              <a:ext uri="{FF2B5EF4-FFF2-40B4-BE49-F238E27FC236}">
                <a16:creationId xmlns:a16="http://schemas.microsoft.com/office/drawing/2014/main" id="{7AB00C06-D660-3530-538D-84DB6A274F09}"/>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12 comparisons, each in theta and gamma. Green: unlikely to be chance (P &lt; 0.05). Amber: a check that lit. Grey: not clear of chance, which is not the same as no change.</a:t>
            </a:r>
          </a:p>
        </p:txBody>
      </p:sp>
      <p:sp>
        <p:nvSpPr>
          <p:cNvPr id="12" name="!!N11">
            <a:extLst>
              <a:ext uri="{FF2B5EF4-FFF2-40B4-BE49-F238E27FC236}">
                <a16:creationId xmlns:a16="http://schemas.microsoft.com/office/drawing/2014/main" id="{9FDFB0B5-79F6-037B-7BB7-9E8D92994F2F}"/>
              </a:ext>
            </a:extLst>
          </p:cNvPr>
          <p:cNvSpPr/>
          <p:nvPr/>
        </p:nvSpPr>
        <p:spPr>
          <a:xfrm>
            <a:off x="7797800" y="19370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Two lit, both in gamma: comparison 1 (P = 0.017, 7 of 8 rats the same way) and comparison 2 (P = 0.035, 6 of 8).</a:t>
            </a:r>
          </a:p>
        </p:txBody>
      </p:sp>
      <p:sp>
        <p:nvSpPr>
          <p:cNvPr id="13" name="!!N12">
            <a:extLst>
              <a:ext uri="{FF2B5EF4-FFF2-40B4-BE49-F238E27FC236}">
                <a16:creationId xmlns:a16="http://schemas.microsoft.com/office/drawing/2014/main" id="{F60006C2-104D-C509-FE1F-1B4849FCBF73}"/>
              </a:ext>
            </a:extLst>
          </p:cNvPr>
          <p:cNvSpPr/>
          <p:nvPr/>
        </p:nvSpPr>
        <p:spPr>
          <a:xfrm>
            <a:off x="77978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check lit too: Noise vs Click in theta (P = 0.039). The checks were expected to stay dark: worth a look, not a finding.</a:t>
            </a:r>
          </a:p>
        </p:txBody>
      </p:sp>
      <p:sp>
        <p:nvSpPr>
          <p:cNvPr id="14" name="!!N13">
            <a:extLst>
              <a:ext uri="{FF2B5EF4-FFF2-40B4-BE49-F238E27FC236}">
                <a16:creationId xmlns:a16="http://schemas.microsoft.com/office/drawing/2014/main" id="{AC044A1A-A5DC-0B89-5364-368B56A0AAB6}"/>
              </a:ext>
            </a:extLst>
          </p:cNvPr>
          <p:cNvSpPr/>
          <p:nvPr/>
        </p:nvSpPr>
        <p:spPr>
          <a:xfrm>
            <a:off x="12573000" y="3567684"/>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the 24 lights, and each has two ways to pass. If nothing had changed anywhere, about 2 would light by chance; 3 lit.</a:t>
            </a:r>
          </a:p>
        </p:txBody>
      </p:sp>
      <p:sp>
        <p:nvSpPr>
          <p:cNvPr id="15" name="!!T-BG">
            <a:extLst>
              <a:ext uri="{FF2B5EF4-FFF2-40B4-BE49-F238E27FC236}">
                <a16:creationId xmlns:a16="http://schemas.microsoft.com/office/drawing/2014/main" id="{EC00E282-40DF-D0CD-F2B9-84952E0D0AD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89C2C730-AD34-CDC9-5105-DE783C47C8C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Tab 8: what lit up</a:t>
            </a:r>
          </a:p>
        </p:txBody>
      </p:sp>
    </p:spTree>
    <p:extLst>
      <p:ext uri="{BB962C8B-B14F-4D97-AF65-F5344CB8AC3E}">
        <p14:creationId xmlns:p14="http://schemas.microsoft.com/office/powerpoint/2010/main" val="191946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BE1FB3B-0DDB-B9D0-EFD9-98087DA77CA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lights">
            <a:extLst>
              <a:ext uri="{FF2B5EF4-FFF2-40B4-BE49-F238E27FC236}">
                <a16:creationId xmlns:a16="http://schemas.microsoft.com/office/drawing/2014/main" id="{269783C7-B429-61A0-C66B-6D6F22DF1C9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676967"/>
            <a:ext cx="7120382" cy="4215266"/>
          </a:xfrm>
          <a:prstGeom prst="rect">
            <a:avLst/>
          </a:prstGeom>
          <a:ln w="9525">
            <a:solidFill>
              <a:srgbClr val="B0B0B0"/>
            </a:solidFill>
          </a:ln>
        </p:spPr>
      </p:pic>
      <p:sp>
        <p:nvSpPr>
          <p:cNvPr id="5" name="!!D1">
            <a:extLst>
              <a:ext uri="{FF2B5EF4-FFF2-40B4-BE49-F238E27FC236}">
                <a16:creationId xmlns:a16="http://schemas.microsoft.com/office/drawing/2014/main" id="{9F663A36-BA1B-4CC8-98C0-78DD1B92ADEC}"/>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52A7B09-92B3-7C5C-479C-D541EA23B64F}"/>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89D60A3-568D-BD9E-B191-3A2CD29CD77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368465D-A8A8-F737-C6F1-80B124A3BDF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EA660F1A-EFA0-6A2C-BDD8-2216E0F24E3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0">
            <a:extLst>
              <a:ext uri="{FF2B5EF4-FFF2-40B4-BE49-F238E27FC236}">
                <a16:creationId xmlns:a16="http://schemas.microsoft.com/office/drawing/2014/main" id="{DC4F2606-0BCA-FD09-3148-5C76ADB74B9A}"/>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12 comparisons, each in theta and gamma. Green: unlikely to be chance (P &lt; 0.05). Amber: a check that lit. Grey: not clear of chance, which is not the same as no change.</a:t>
            </a:r>
          </a:p>
        </p:txBody>
      </p:sp>
      <p:sp>
        <p:nvSpPr>
          <p:cNvPr id="11" name="!!N11">
            <a:extLst>
              <a:ext uri="{FF2B5EF4-FFF2-40B4-BE49-F238E27FC236}">
                <a16:creationId xmlns:a16="http://schemas.microsoft.com/office/drawing/2014/main" id="{2082F449-614D-EF42-113D-F9DEEC0B0769}"/>
              </a:ext>
            </a:extLst>
          </p:cNvPr>
          <p:cNvSpPr/>
          <p:nvPr/>
        </p:nvSpPr>
        <p:spPr>
          <a:xfrm>
            <a:off x="7797800" y="19370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Two lit, both in gamma: comparison 1 (P = 0.017, 7 of 8 rats the same way) and comparison 2 (P = 0.035, 6 of 8).</a:t>
            </a:r>
          </a:p>
        </p:txBody>
      </p:sp>
      <p:sp>
        <p:nvSpPr>
          <p:cNvPr id="12" name="!!N12">
            <a:extLst>
              <a:ext uri="{FF2B5EF4-FFF2-40B4-BE49-F238E27FC236}">
                <a16:creationId xmlns:a16="http://schemas.microsoft.com/office/drawing/2014/main" id="{77EAE01A-CF16-8504-497C-84CF02523045}"/>
              </a:ext>
            </a:extLst>
          </p:cNvPr>
          <p:cNvSpPr/>
          <p:nvPr/>
        </p:nvSpPr>
        <p:spPr>
          <a:xfrm>
            <a:off x="7797800" y="265785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One check lit too: Noise vs Click in theta (P = 0.039). The checks were expected to stay dark: worth a look, not a finding.</a:t>
            </a:r>
          </a:p>
        </p:txBody>
      </p:sp>
      <p:sp>
        <p:nvSpPr>
          <p:cNvPr id="13" name="!!N13">
            <a:extLst>
              <a:ext uri="{FF2B5EF4-FFF2-40B4-BE49-F238E27FC236}">
                <a16:creationId xmlns:a16="http://schemas.microsoft.com/office/drawing/2014/main" id="{1146B742-C4F8-E3FB-73C6-D8D774DD362B}"/>
              </a:ext>
            </a:extLst>
          </p:cNvPr>
          <p:cNvSpPr/>
          <p:nvPr/>
        </p:nvSpPr>
        <p:spPr>
          <a:xfrm>
            <a:off x="7797800" y="3567684"/>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the 24 lights, and each has two ways to pass. If nothing had changed anywhere, about 2 would light by chance; 3 lit.</a:t>
            </a:r>
          </a:p>
        </p:txBody>
      </p:sp>
      <p:sp>
        <p:nvSpPr>
          <p:cNvPr id="14" name="!!T-BG">
            <a:extLst>
              <a:ext uri="{FF2B5EF4-FFF2-40B4-BE49-F238E27FC236}">
                <a16:creationId xmlns:a16="http://schemas.microsoft.com/office/drawing/2014/main" id="{DE90D221-D85C-DD10-2AB4-5A6C723F294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BDBB6EEA-A67E-0E98-A1F3-5145E81CA6A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Tab 8: what lit up</a:t>
            </a:r>
          </a:p>
        </p:txBody>
      </p:sp>
    </p:spTree>
    <p:extLst>
      <p:ext uri="{BB962C8B-B14F-4D97-AF65-F5344CB8AC3E}">
        <p14:creationId xmlns:p14="http://schemas.microsoft.com/office/powerpoint/2010/main" val="34489254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06AF7A7-7101-1465-B06A-7320DB62760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9C9C7451-ACD0-919E-8721-EE6F2C48022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83A36951-D2FE-A6DD-1BBB-6728517F065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BDDABC5-1D2B-8C53-D431-376C24F0D4D5}"/>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EC778D6-C9DC-5B06-A65E-1D837CE63E9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A97FCD8-BC62-677E-1D0C-4DEED6C53EC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F7C5AF9B-847A-7FD9-D20F-BF948DF7CE2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4">
            <a:extLst>
              <a:ext uri="{FF2B5EF4-FFF2-40B4-BE49-F238E27FC236}">
                <a16:creationId xmlns:a16="http://schemas.microsoft.com/office/drawing/2014/main" id="{5302B430-D2CE-7FF0-49B9-9B16281B385C}"/>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Every ring is the same 12 regions. Each line is one pair, 44 pairs in all. Grey dots: regions no pair reached with 4 rats.</a:t>
            </a:r>
          </a:p>
        </p:txBody>
      </p:sp>
      <p:sp>
        <p:nvSpPr>
          <p:cNvPr id="11" name="!!N10">
            <a:extLst>
              <a:ext uri="{FF2B5EF4-FFF2-40B4-BE49-F238E27FC236}">
                <a16:creationId xmlns:a16="http://schemas.microsoft.com/office/drawing/2014/main" id="{6FB6868F-9E88-C40C-6419-83EBCEBC954C}"/>
              </a:ext>
            </a:extLst>
          </p:cNvPr>
          <p:cNvSpPr/>
          <p:nvPr/>
        </p:nvSpPr>
        <p:spPr>
          <a:xfrm>
            <a:off x="125730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12 comparisons, each in theta and gamma. Green: unlikely to be chance (P &lt; 0.05). Amber: a check that lit. Grey: not clear of chance, which is not the same as no change.</a:t>
            </a:r>
          </a:p>
        </p:txBody>
      </p:sp>
      <p:sp>
        <p:nvSpPr>
          <p:cNvPr id="12" name="!!N11">
            <a:extLst>
              <a:ext uri="{FF2B5EF4-FFF2-40B4-BE49-F238E27FC236}">
                <a16:creationId xmlns:a16="http://schemas.microsoft.com/office/drawing/2014/main" id="{F318D40F-622F-76AA-F64A-4EB30ED060DC}"/>
              </a:ext>
            </a:extLst>
          </p:cNvPr>
          <p:cNvSpPr/>
          <p:nvPr/>
        </p:nvSpPr>
        <p:spPr>
          <a:xfrm>
            <a:off x="12573000" y="19370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Two lit, both in gamma: comparison 1 (P = 0.017, 7 of 8 rats the same way) and comparison 2 (P = 0.035, 6 of 8).</a:t>
            </a:r>
          </a:p>
        </p:txBody>
      </p:sp>
      <p:sp>
        <p:nvSpPr>
          <p:cNvPr id="13" name="!!N12">
            <a:extLst>
              <a:ext uri="{FF2B5EF4-FFF2-40B4-BE49-F238E27FC236}">
                <a16:creationId xmlns:a16="http://schemas.microsoft.com/office/drawing/2014/main" id="{FEF1D171-F008-A60A-3E93-652DF99D2341}"/>
              </a:ext>
            </a:extLst>
          </p:cNvPr>
          <p:cNvSpPr/>
          <p:nvPr/>
        </p:nvSpPr>
        <p:spPr>
          <a:xfrm>
            <a:off x="12573000" y="265785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One check lit too: Noise vs Click in theta (P = 0.039). The checks were expected to stay dark: worth a look, not a finding.</a:t>
            </a:r>
          </a:p>
        </p:txBody>
      </p:sp>
      <p:sp>
        <p:nvSpPr>
          <p:cNvPr id="14" name="!!N13">
            <a:extLst>
              <a:ext uri="{FF2B5EF4-FFF2-40B4-BE49-F238E27FC236}">
                <a16:creationId xmlns:a16="http://schemas.microsoft.com/office/drawing/2014/main" id="{D4DBA9F4-63DB-9AC5-0162-AF76E4A04F3D}"/>
              </a:ext>
            </a:extLst>
          </p:cNvPr>
          <p:cNvSpPr/>
          <p:nvPr/>
        </p:nvSpPr>
        <p:spPr>
          <a:xfrm>
            <a:off x="12573000" y="3567684"/>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the 24 lights, and each has two ways to pass. If nothing had changed anywhere, about 2 would light by chance; 3 lit.</a:t>
            </a:r>
          </a:p>
        </p:txBody>
      </p:sp>
      <p:sp>
        <p:nvSpPr>
          <p:cNvPr id="15" name="!!T-BG">
            <a:extLst>
              <a:ext uri="{FF2B5EF4-FFF2-40B4-BE49-F238E27FC236}">
                <a16:creationId xmlns:a16="http://schemas.microsoft.com/office/drawing/2014/main" id="{B87F6944-C814-6C9E-8029-BD9211E6DDA3}"/>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5340BBE1-979D-051B-2DF7-96B4B51C5F2A}"/>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1</a:t>
            </a:r>
          </a:p>
          <a:p>
            <a:pPr algn="ctr">
              <a:lnSpc>
                <a:spcPct val="95000"/>
              </a:lnSpc>
            </a:pPr>
            <a:r>
              <a:rPr lang="en-US" sz="2000">
                <a:solidFill>
                  <a:srgbClr val="FFFFFF"/>
                </a:solidFill>
                <a:latin typeface="Aptos Display" panose="020B0004020202020204" pitchFamily="34" charset="0"/>
              </a:rPr>
              <a:t>Comparison 1, baseline → both cues: the whole network</a:t>
            </a:r>
          </a:p>
        </p:txBody>
      </p:sp>
    </p:spTree>
    <p:extLst>
      <p:ext uri="{BB962C8B-B14F-4D97-AF65-F5344CB8AC3E}">
        <p14:creationId xmlns:p14="http://schemas.microsoft.com/office/powerpoint/2010/main" val="32800162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1D2EB65-2D6D-8682-73CD-73294E763479}"/>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09834171-AE8E-57CB-EE10-DA94B4020C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F5D3D3DE-F25D-E35A-4437-64CDCDFC708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DD92EB5-DED9-5165-019F-A5227388F93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C86F209-8F80-0D0F-73BF-A36A59A9E2E3}"/>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50A3323-7182-7D05-630B-AD2960E08E8F}"/>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5F50FA5E-9AB1-69E6-8E41-659385827BD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4">
            <a:extLst>
              <a:ext uri="{FF2B5EF4-FFF2-40B4-BE49-F238E27FC236}">
                <a16:creationId xmlns:a16="http://schemas.microsoft.com/office/drawing/2014/main" id="{607DA732-3508-53F1-E11F-0A3E1AFABF73}"/>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Every ring is the same 12 regions. Each line is one pair, 44 pairs in all. Grey dots: regions no pair reached with 4 rats.</a:t>
            </a:r>
          </a:p>
        </p:txBody>
      </p:sp>
      <p:sp>
        <p:nvSpPr>
          <p:cNvPr id="11" name="!!N15">
            <a:extLst>
              <a:ext uri="{FF2B5EF4-FFF2-40B4-BE49-F238E27FC236}">
                <a16:creationId xmlns:a16="http://schemas.microsoft.com/office/drawing/2014/main" id="{7243E169-88AC-640C-8DD4-049F169623AB}"/>
              </a:ext>
            </a:extLst>
          </p:cNvPr>
          <p:cNvSpPr/>
          <p:nvPr/>
        </p:nvSpPr>
        <p:spPr>
          <a:xfrm>
            <a:off x="125730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line’s width is how much that pair’s coherence went from baseline to the cues, averaged over the rats. Orange: up.</a:t>
            </a:r>
          </a:p>
        </p:txBody>
      </p:sp>
      <p:sp>
        <p:nvSpPr>
          <p:cNvPr id="12" name="!!T-BG">
            <a:extLst>
              <a:ext uri="{FF2B5EF4-FFF2-40B4-BE49-F238E27FC236}">
                <a16:creationId xmlns:a16="http://schemas.microsoft.com/office/drawing/2014/main" id="{413C5624-7589-8BB9-0C71-C01AE02BDB3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
            <a:extLst>
              <a:ext uri="{FF2B5EF4-FFF2-40B4-BE49-F238E27FC236}">
                <a16:creationId xmlns:a16="http://schemas.microsoft.com/office/drawing/2014/main" id="{4925C7EC-EF8C-D721-B9A0-F2140F295FC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9040572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1D29792-C878-5548-3695-5E5D3D2D2F1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9474C8CD-11A7-A30D-67BD-BBD20BAAE1C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39620" y="13211"/>
            <a:ext cx="22080989" cy="24860270"/>
          </a:xfrm>
          <a:prstGeom prst="rect">
            <a:avLst/>
          </a:prstGeom>
          <a:ln w="9525">
            <a:solidFill>
              <a:srgbClr val="B0B0B0"/>
            </a:solidFill>
          </a:ln>
        </p:spPr>
      </p:pic>
      <p:sp>
        <p:nvSpPr>
          <p:cNvPr id="5" name="!!D1">
            <a:extLst>
              <a:ext uri="{FF2B5EF4-FFF2-40B4-BE49-F238E27FC236}">
                <a16:creationId xmlns:a16="http://schemas.microsoft.com/office/drawing/2014/main" id="{28CF9C2B-3BCF-BB23-88F5-08DB0A4B4837}"/>
              </a:ext>
            </a:extLst>
          </p:cNvPr>
          <p:cNvSpPr/>
          <p:nvPr/>
        </p:nvSpPr>
        <p:spPr>
          <a:xfrm>
            <a:off x="0" y="685800"/>
            <a:ext cx="7670800" cy="569198"/>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6BCF5F5-6BC4-6906-06CF-CADEEC05B9BC}"/>
              </a:ext>
            </a:extLst>
          </p:cNvPr>
          <p:cNvSpPr/>
          <p:nvPr/>
        </p:nvSpPr>
        <p:spPr>
          <a:xfrm>
            <a:off x="0" y="6314202"/>
            <a:ext cx="7670800" cy="543798"/>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6A2D894-16C9-A8D0-1655-59EBD1AA95FF}"/>
              </a:ext>
            </a:extLst>
          </p:cNvPr>
          <p:cNvSpPr/>
          <p:nvPr/>
        </p:nvSpPr>
        <p:spPr>
          <a:xfrm>
            <a:off x="0" y="1254998"/>
            <a:ext cx="262509" cy="505920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661D05A-2BB8-A417-D9B7-BD1F86C463C6}"/>
              </a:ext>
            </a:extLst>
          </p:cNvPr>
          <p:cNvSpPr/>
          <p:nvPr/>
        </p:nvSpPr>
        <p:spPr>
          <a:xfrm>
            <a:off x="7433691" y="1254998"/>
            <a:ext cx="237109" cy="505920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EC680572-7E57-D9D2-F8F9-2825D838F96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4">
            <a:extLst>
              <a:ext uri="{FF2B5EF4-FFF2-40B4-BE49-F238E27FC236}">
                <a16:creationId xmlns:a16="http://schemas.microsoft.com/office/drawing/2014/main" id="{2F1C4700-B28C-AFB6-4C8E-2EED5FE65089}"/>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1" name="!!N15">
            <a:extLst>
              <a:ext uri="{FF2B5EF4-FFF2-40B4-BE49-F238E27FC236}">
                <a16:creationId xmlns:a16="http://schemas.microsoft.com/office/drawing/2014/main" id="{C87A79D3-E2CE-EBA1-12E8-BE2B1465AF5B}"/>
              </a:ext>
            </a:extLst>
          </p:cNvPr>
          <p:cNvSpPr/>
          <p:nvPr/>
        </p:nvSpPr>
        <p:spPr>
          <a:xfrm>
            <a:off x="77978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line’s width is how much that pair’s coherence went from baseline to the cues, averaged over the rats. Orange: up.</a:t>
            </a:r>
          </a:p>
        </p:txBody>
      </p:sp>
      <p:sp>
        <p:nvSpPr>
          <p:cNvPr id="12" name="!!N16">
            <a:extLst>
              <a:ext uri="{FF2B5EF4-FFF2-40B4-BE49-F238E27FC236}">
                <a16:creationId xmlns:a16="http://schemas.microsoft.com/office/drawing/2014/main" id="{A6883CE3-9F56-B9BB-2E47-3EF5887FC7AD}"/>
              </a:ext>
            </a:extLst>
          </p:cNvPr>
          <p:cNvSpPr/>
          <p:nvPr/>
        </p:nvSpPr>
        <p:spPr>
          <a:xfrm>
            <a:off x="12573000" y="2657856"/>
            <a:ext cx="4241800" cy="51206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Purple: down.</a:t>
            </a:r>
          </a:p>
        </p:txBody>
      </p:sp>
      <p:sp>
        <p:nvSpPr>
          <p:cNvPr id="13" name="!!T-BG">
            <a:extLst>
              <a:ext uri="{FF2B5EF4-FFF2-40B4-BE49-F238E27FC236}">
                <a16:creationId xmlns:a16="http://schemas.microsoft.com/office/drawing/2014/main" id="{FC8BE3DF-4ACE-CF63-3E85-EC9C228F659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14E0BA47-A8BA-8F3F-4C3B-B38ED9C4AC6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9480644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58887CB-26F5-B344-2242-F6A51E4BFC6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4E92A47D-E4C4-6790-BA06-BD749DE930B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797949" y="13211"/>
            <a:ext cx="22080989" cy="24860270"/>
          </a:xfrm>
          <a:prstGeom prst="rect">
            <a:avLst/>
          </a:prstGeom>
          <a:ln w="9525">
            <a:solidFill>
              <a:srgbClr val="B0B0B0"/>
            </a:solidFill>
          </a:ln>
        </p:spPr>
      </p:pic>
      <p:sp>
        <p:nvSpPr>
          <p:cNvPr id="5" name="!!D1">
            <a:extLst>
              <a:ext uri="{FF2B5EF4-FFF2-40B4-BE49-F238E27FC236}">
                <a16:creationId xmlns:a16="http://schemas.microsoft.com/office/drawing/2014/main" id="{35ED5230-DB9A-533C-2638-902D944C4458}"/>
              </a:ext>
            </a:extLst>
          </p:cNvPr>
          <p:cNvSpPr/>
          <p:nvPr/>
        </p:nvSpPr>
        <p:spPr>
          <a:xfrm>
            <a:off x="0" y="685800"/>
            <a:ext cx="7670800" cy="569198"/>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0AA6505-2990-B012-BFF8-58A0835D4F25}"/>
              </a:ext>
            </a:extLst>
          </p:cNvPr>
          <p:cNvSpPr/>
          <p:nvPr/>
        </p:nvSpPr>
        <p:spPr>
          <a:xfrm>
            <a:off x="0" y="6314202"/>
            <a:ext cx="7670800" cy="543798"/>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2FFDDD9-0454-FF26-7799-94C2EF5332C5}"/>
              </a:ext>
            </a:extLst>
          </p:cNvPr>
          <p:cNvSpPr/>
          <p:nvPr/>
        </p:nvSpPr>
        <p:spPr>
          <a:xfrm>
            <a:off x="0" y="1254998"/>
            <a:ext cx="262509" cy="505920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EB6C07D-61FE-8F53-93FB-A20BFDE92DD4}"/>
              </a:ext>
            </a:extLst>
          </p:cNvPr>
          <p:cNvSpPr/>
          <p:nvPr/>
        </p:nvSpPr>
        <p:spPr>
          <a:xfrm>
            <a:off x="7433691" y="1254998"/>
            <a:ext cx="237109" cy="505920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0AE46885-2D04-79E5-B90A-F8EC269E4DE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4">
            <a:extLst>
              <a:ext uri="{FF2B5EF4-FFF2-40B4-BE49-F238E27FC236}">
                <a16:creationId xmlns:a16="http://schemas.microsoft.com/office/drawing/2014/main" id="{0AC57A4D-6507-F563-F47C-31A406E39303}"/>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1" name="!!N15">
            <a:extLst>
              <a:ext uri="{FF2B5EF4-FFF2-40B4-BE49-F238E27FC236}">
                <a16:creationId xmlns:a16="http://schemas.microsoft.com/office/drawing/2014/main" id="{79AB1E25-B87E-16E7-0A7A-7692780B1F27}"/>
              </a:ext>
            </a:extLst>
          </p:cNvPr>
          <p:cNvSpPr/>
          <p:nvPr/>
        </p:nvSpPr>
        <p:spPr>
          <a:xfrm>
            <a:off x="77978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how much that pair’s coherence went from baseline to the cues, averaged over the rats. Orange: up.</a:t>
            </a:r>
          </a:p>
        </p:txBody>
      </p:sp>
      <p:sp>
        <p:nvSpPr>
          <p:cNvPr id="12" name="!!N16">
            <a:extLst>
              <a:ext uri="{FF2B5EF4-FFF2-40B4-BE49-F238E27FC236}">
                <a16:creationId xmlns:a16="http://schemas.microsoft.com/office/drawing/2014/main" id="{B4D63EA2-D7C0-84E6-7EEE-505264A89FF0}"/>
              </a:ext>
            </a:extLst>
          </p:cNvPr>
          <p:cNvSpPr/>
          <p:nvPr/>
        </p:nvSpPr>
        <p:spPr>
          <a:xfrm>
            <a:off x="7797800" y="2657856"/>
            <a:ext cx="4241800" cy="51206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Purple: down.</a:t>
            </a:r>
          </a:p>
        </p:txBody>
      </p:sp>
      <p:sp>
        <p:nvSpPr>
          <p:cNvPr id="13" name="!!N17">
            <a:extLst>
              <a:ext uri="{FF2B5EF4-FFF2-40B4-BE49-F238E27FC236}">
                <a16:creationId xmlns:a16="http://schemas.microsoft.com/office/drawing/2014/main" id="{D6DC0D2D-5DD2-EDA9-0FFA-7B28F9A774F0}"/>
              </a:ext>
            </a:extLst>
          </p:cNvPr>
          <p:cNvSpPr/>
          <p:nvPr/>
        </p:nvSpPr>
        <p:spPr>
          <a:xfrm>
            <a:off x="12573000" y="31897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Top row: Precon1. The cues lowered gamma coherence in 31 of the 44 pairs.</a:t>
            </a:r>
          </a:p>
        </p:txBody>
      </p:sp>
      <p:sp>
        <p:nvSpPr>
          <p:cNvPr id="14" name="!!T-BG">
            <a:extLst>
              <a:ext uri="{FF2B5EF4-FFF2-40B4-BE49-F238E27FC236}">
                <a16:creationId xmlns:a16="http://schemas.microsoft.com/office/drawing/2014/main" id="{C03D24D3-5A84-EFDE-2151-7BEB24C87E2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9369BAFB-D0A1-3E64-FD64-1064EA98803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17980027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395189D-8E83-543B-7CFD-A3F712FBEFA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9DB28B78-CF4A-074A-E8E3-0E5EA200D22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9A23C430-7207-5DC9-54E9-67F00F294B5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E80ACD4-F705-FDD3-1EB1-5B143A874711}"/>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D50E964-6A99-B4B1-A7F2-804E5F005A6A}"/>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368B1CF-1A46-664E-A3B1-70C465A9C7B4}"/>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AA45CBE6-9F6B-5874-39CD-3A4563B94EF2}"/>
              </a:ext>
            </a:extLst>
          </p:cNvPr>
          <p:cNvSpPr/>
          <p:nvPr/>
        </p:nvSpPr>
        <p:spPr>
          <a:xfrm>
            <a:off x="1315710" y="1041892"/>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B7CA361-9907-AF6C-5DE3-496A04FD0C5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4">
            <a:extLst>
              <a:ext uri="{FF2B5EF4-FFF2-40B4-BE49-F238E27FC236}">
                <a16:creationId xmlns:a16="http://schemas.microsoft.com/office/drawing/2014/main" id="{772B5606-A7BA-0B98-E381-15CA748C2B51}"/>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2" name="!!N15">
            <a:extLst>
              <a:ext uri="{FF2B5EF4-FFF2-40B4-BE49-F238E27FC236}">
                <a16:creationId xmlns:a16="http://schemas.microsoft.com/office/drawing/2014/main" id="{C7755350-B2DD-AC9E-5C5F-27DFD67E67C8}"/>
              </a:ext>
            </a:extLst>
          </p:cNvPr>
          <p:cNvSpPr/>
          <p:nvPr/>
        </p:nvSpPr>
        <p:spPr>
          <a:xfrm>
            <a:off x="77978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how much that pair’s coherence went from baseline to the cues, averaged over the rats. Orange: up.</a:t>
            </a:r>
          </a:p>
        </p:txBody>
      </p:sp>
      <p:sp>
        <p:nvSpPr>
          <p:cNvPr id="13" name="!!N16">
            <a:extLst>
              <a:ext uri="{FF2B5EF4-FFF2-40B4-BE49-F238E27FC236}">
                <a16:creationId xmlns:a16="http://schemas.microsoft.com/office/drawing/2014/main" id="{43A6F8E7-B4E6-F9DE-C340-D0C8D136A953}"/>
              </a:ext>
            </a:extLst>
          </p:cNvPr>
          <p:cNvSpPr/>
          <p:nvPr/>
        </p:nvSpPr>
        <p:spPr>
          <a:xfrm>
            <a:off x="7797800" y="2657856"/>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Purple: down.</a:t>
            </a:r>
          </a:p>
        </p:txBody>
      </p:sp>
      <p:sp>
        <p:nvSpPr>
          <p:cNvPr id="14" name="!!N17">
            <a:extLst>
              <a:ext uri="{FF2B5EF4-FFF2-40B4-BE49-F238E27FC236}">
                <a16:creationId xmlns:a16="http://schemas.microsoft.com/office/drawing/2014/main" id="{87FD9AD8-B075-D638-9424-49806E3058D8}"/>
              </a:ext>
            </a:extLst>
          </p:cNvPr>
          <p:cNvSpPr/>
          <p:nvPr/>
        </p:nvSpPr>
        <p:spPr>
          <a:xfrm>
            <a:off x="7797800" y="31897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Top row: Precon1. The cues lowered gamma coherence in 31 of the 44 pairs.</a:t>
            </a:r>
          </a:p>
        </p:txBody>
      </p:sp>
      <p:sp>
        <p:nvSpPr>
          <p:cNvPr id="15" name="!!N18">
            <a:extLst>
              <a:ext uri="{FF2B5EF4-FFF2-40B4-BE49-F238E27FC236}">
                <a16:creationId xmlns:a16="http://schemas.microsoft.com/office/drawing/2014/main" id="{8CC1C74B-79FA-88CC-8151-CAB371E785FF}"/>
              </a:ext>
            </a:extLst>
          </p:cNvPr>
          <p:cNvSpPr/>
          <p:nvPr/>
        </p:nvSpPr>
        <p:spPr>
          <a:xfrm>
            <a:off x="12573000" y="391058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Middle row: Precon4. About even: 23 pairs up, 21 down.</a:t>
            </a:r>
          </a:p>
        </p:txBody>
      </p:sp>
      <p:sp>
        <p:nvSpPr>
          <p:cNvPr id="16" name="!!T-BG">
            <a:extLst>
              <a:ext uri="{FF2B5EF4-FFF2-40B4-BE49-F238E27FC236}">
                <a16:creationId xmlns:a16="http://schemas.microsoft.com/office/drawing/2014/main" id="{A5057812-6FCF-49D3-74DB-EE56EF88A1F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575E99A4-F76E-4FA9-73CD-962904B55CE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4582626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90366AF-84ED-D87F-1B65-B1AB939B858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362A8C9D-AE9F-6372-511F-B01ABA92A15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82B9522C-97E0-1D55-470F-4F03BE81C6A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F64CC77-6EA2-3959-2C3D-2729DA32BB51}"/>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B6B13E1-E8ED-B8B7-70D8-8E3B2C1B2E3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59A581C-7E1C-A284-0C4B-4D3AE20E8809}"/>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E40B882-BF97-CF75-FA46-6579D5FE8E35}"/>
              </a:ext>
            </a:extLst>
          </p:cNvPr>
          <p:cNvSpPr/>
          <p:nvPr/>
        </p:nvSpPr>
        <p:spPr>
          <a:xfrm>
            <a:off x="1315710" y="2777128"/>
            <a:ext cx="5093756" cy="181919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2071469-D28D-A5E7-835D-249C7A6003F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4">
            <a:extLst>
              <a:ext uri="{FF2B5EF4-FFF2-40B4-BE49-F238E27FC236}">
                <a16:creationId xmlns:a16="http://schemas.microsoft.com/office/drawing/2014/main" id="{9C44B35B-4FA9-CF5A-0D8D-F1DB0A5A2A27}"/>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2" name="!!N15">
            <a:extLst>
              <a:ext uri="{FF2B5EF4-FFF2-40B4-BE49-F238E27FC236}">
                <a16:creationId xmlns:a16="http://schemas.microsoft.com/office/drawing/2014/main" id="{06138F75-6F0A-ACB3-770A-5AD67509808C}"/>
              </a:ext>
            </a:extLst>
          </p:cNvPr>
          <p:cNvSpPr/>
          <p:nvPr/>
        </p:nvSpPr>
        <p:spPr>
          <a:xfrm>
            <a:off x="77978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how much that pair’s coherence went from baseline to the cues, averaged over the rats. Orange: up.</a:t>
            </a:r>
          </a:p>
        </p:txBody>
      </p:sp>
      <p:sp>
        <p:nvSpPr>
          <p:cNvPr id="13" name="!!N16">
            <a:extLst>
              <a:ext uri="{FF2B5EF4-FFF2-40B4-BE49-F238E27FC236}">
                <a16:creationId xmlns:a16="http://schemas.microsoft.com/office/drawing/2014/main" id="{7149AFC8-BF6A-EED4-3E56-1860C79C7D5B}"/>
              </a:ext>
            </a:extLst>
          </p:cNvPr>
          <p:cNvSpPr/>
          <p:nvPr/>
        </p:nvSpPr>
        <p:spPr>
          <a:xfrm>
            <a:off x="7797800" y="2657856"/>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Purple: down.</a:t>
            </a:r>
          </a:p>
        </p:txBody>
      </p:sp>
      <p:sp>
        <p:nvSpPr>
          <p:cNvPr id="14" name="!!N17">
            <a:extLst>
              <a:ext uri="{FF2B5EF4-FFF2-40B4-BE49-F238E27FC236}">
                <a16:creationId xmlns:a16="http://schemas.microsoft.com/office/drawing/2014/main" id="{8A49A91A-1F45-332C-B246-500EE07672D2}"/>
              </a:ext>
            </a:extLst>
          </p:cNvPr>
          <p:cNvSpPr/>
          <p:nvPr/>
        </p:nvSpPr>
        <p:spPr>
          <a:xfrm>
            <a:off x="7797800" y="318973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Top row: Precon1. The cues lowered gamma coherence in 31 of the 44 pairs.</a:t>
            </a:r>
          </a:p>
        </p:txBody>
      </p:sp>
      <p:sp>
        <p:nvSpPr>
          <p:cNvPr id="15" name="!!N18">
            <a:extLst>
              <a:ext uri="{FF2B5EF4-FFF2-40B4-BE49-F238E27FC236}">
                <a16:creationId xmlns:a16="http://schemas.microsoft.com/office/drawing/2014/main" id="{B762BC9A-DECA-D297-0048-42447E8F2FB3}"/>
              </a:ext>
            </a:extLst>
          </p:cNvPr>
          <p:cNvSpPr/>
          <p:nvPr/>
        </p:nvSpPr>
        <p:spPr>
          <a:xfrm>
            <a:off x="7797800" y="391058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Middle row: Precon4. About even: 23 pairs up, 21 down.</a:t>
            </a:r>
          </a:p>
        </p:txBody>
      </p:sp>
      <p:sp>
        <p:nvSpPr>
          <p:cNvPr id="16" name="!!N19">
            <a:extLst>
              <a:ext uri="{FF2B5EF4-FFF2-40B4-BE49-F238E27FC236}">
                <a16:creationId xmlns:a16="http://schemas.microsoft.com/office/drawing/2014/main" id="{4368C123-3DE6-08C9-5760-B6A20E5CD2A2}"/>
              </a:ext>
            </a:extLst>
          </p:cNvPr>
          <p:cNvSpPr/>
          <p:nvPr/>
        </p:nvSpPr>
        <p:spPr>
          <a:xfrm>
            <a:off x="12573000" y="444246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Bottom row: the change, Precon4 − Precon1. This is what tab 8’s light tested.</a:t>
            </a:r>
          </a:p>
        </p:txBody>
      </p:sp>
      <p:sp>
        <p:nvSpPr>
          <p:cNvPr id="17" name="!!T-BG">
            <a:extLst>
              <a:ext uri="{FF2B5EF4-FFF2-40B4-BE49-F238E27FC236}">
                <a16:creationId xmlns:a16="http://schemas.microsoft.com/office/drawing/2014/main" id="{DDBC1976-04CA-4BC6-1C53-AD181851ACC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
            <a:extLst>
              <a:ext uri="{FF2B5EF4-FFF2-40B4-BE49-F238E27FC236}">
                <a16:creationId xmlns:a16="http://schemas.microsoft.com/office/drawing/2014/main" id="{BDF9B4D4-0823-F9DE-A69C-99D2A550DEC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5071354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0976FD0-3DE4-73C6-6CCC-1A85A2A78FF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DFAB23D0-E355-3BAD-BDB6-09C399A013E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F3D14FF4-9FCC-61F7-BEF0-EA299BD0B618}"/>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57F02FD-0278-7392-6BF4-F5D40F98AA2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29FB8BB-DDA3-C2AD-87F6-E6206DA4744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E769679-3BD7-0B8F-DD57-D7D2A3D95C4F}"/>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146CF28-1603-C98C-F0C8-481C11849400}"/>
              </a:ext>
            </a:extLst>
          </p:cNvPr>
          <p:cNvSpPr/>
          <p:nvPr/>
        </p:nvSpPr>
        <p:spPr>
          <a:xfrm>
            <a:off x="1315710" y="4512363"/>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1E7EFA5-B585-8A81-F33F-01A2F5604AB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4">
            <a:extLst>
              <a:ext uri="{FF2B5EF4-FFF2-40B4-BE49-F238E27FC236}">
                <a16:creationId xmlns:a16="http://schemas.microsoft.com/office/drawing/2014/main" id="{E58A0BF0-BA07-A211-8B1A-2C9615328099}"/>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2" name="!!N15">
            <a:extLst>
              <a:ext uri="{FF2B5EF4-FFF2-40B4-BE49-F238E27FC236}">
                <a16:creationId xmlns:a16="http://schemas.microsoft.com/office/drawing/2014/main" id="{3093C793-BA48-B44D-DE1F-711D11FF3974}"/>
              </a:ext>
            </a:extLst>
          </p:cNvPr>
          <p:cNvSpPr/>
          <p:nvPr/>
        </p:nvSpPr>
        <p:spPr>
          <a:xfrm>
            <a:off x="77978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how much that pair’s coherence went from baseline to the cues, averaged over the rats. Orange: up.</a:t>
            </a:r>
          </a:p>
        </p:txBody>
      </p:sp>
      <p:sp>
        <p:nvSpPr>
          <p:cNvPr id="13" name="!!N16">
            <a:extLst>
              <a:ext uri="{FF2B5EF4-FFF2-40B4-BE49-F238E27FC236}">
                <a16:creationId xmlns:a16="http://schemas.microsoft.com/office/drawing/2014/main" id="{40B78CF3-5812-CA44-F777-D587F64C9D3C}"/>
              </a:ext>
            </a:extLst>
          </p:cNvPr>
          <p:cNvSpPr/>
          <p:nvPr/>
        </p:nvSpPr>
        <p:spPr>
          <a:xfrm>
            <a:off x="7797800" y="2657856"/>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Purple: down.</a:t>
            </a:r>
          </a:p>
        </p:txBody>
      </p:sp>
      <p:sp>
        <p:nvSpPr>
          <p:cNvPr id="14" name="!!N17">
            <a:extLst>
              <a:ext uri="{FF2B5EF4-FFF2-40B4-BE49-F238E27FC236}">
                <a16:creationId xmlns:a16="http://schemas.microsoft.com/office/drawing/2014/main" id="{6AF758E7-85CC-9DD0-9D6B-4939E8B54CFE}"/>
              </a:ext>
            </a:extLst>
          </p:cNvPr>
          <p:cNvSpPr/>
          <p:nvPr/>
        </p:nvSpPr>
        <p:spPr>
          <a:xfrm>
            <a:off x="7797800" y="318973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Top row: Precon1. The cues lowered gamma coherence in 31 of the 44 pairs.</a:t>
            </a:r>
          </a:p>
        </p:txBody>
      </p:sp>
      <p:sp>
        <p:nvSpPr>
          <p:cNvPr id="15" name="!!N18">
            <a:extLst>
              <a:ext uri="{FF2B5EF4-FFF2-40B4-BE49-F238E27FC236}">
                <a16:creationId xmlns:a16="http://schemas.microsoft.com/office/drawing/2014/main" id="{C370B679-D8BE-85B1-B191-C73CE4EAA6D0}"/>
              </a:ext>
            </a:extLst>
          </p:cNvPr>
          <p:cNvSpPr/>
          <p:nvPr/>
        </p:nvSpPr>
        <p:spPr>
          <a:xfrm>
            <a:off x="7797800" y="3910584"/>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Middle row: Precon4. About even: 23 pairs up, 21 down.</a:t>
            </a:r>
          </a:p>
        </p:txBody>
      </p:sp>
      <p:sp>
        <p:nvSpPr>
          <p:cNvPr id="16" name="!!N19">
            <a:extLst>
              <a:ext uri="{FF2B5EF4-FFF2-40B4-BE49-F238E27FC236}">
                <a16:creationId xmlns:a16="http://schemas.microsoft.com/office/drawing/2014/main" id="{319B7B17-89C0-64CA-5AE8-045DFF7D6A73}"/>
              </a:ext>
            </a:extLst>
          </p:cNvPr>
          <p:cNvSpPr/>
          <p:nvPr/>
        </p:nvSpPr>
        <p:spPr>
          <a:xfrm>
            <a:off x="7797800" y="444246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Bottom row: the change, Precon4 − Precon1. This is what tab 8’s light tested.</a:t>
            </a:r>
          </a:p>
        </p:txBody>
      </p:sp>
      <p:sp>
        <p:nvSpPr>
          <p:cNvPr id="17" name="!!N20">
            <a:extLst>
              <a:ext uri="{FF2B5EF4-FFF2-40B4-BE49-F238E27FC236}">
                <a16:creationId xmlns:a16="http://schemas.microsoft.com/office/drawing/2014/main" id="{1218F9DB-EFE6-386D-BA93-9653B27E2982}"/>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Left column: only the lines that went up. Middle: only those that went down. Right: both.</a:t>
            </a:r>
          </a:p>
        </p:txBody>
      </p:sp>
      <p:sp>
        <p:nvSpPr>
          <p:cNvPr id="18" name="!!T-BG">
            <a:extLst>
              <a:ext uri="{FF2B5EF4-FFF2-40B4-BE49-F238E27FC236}">
                <a16:creationId xmlns:a16="http://schemas.microsoft.com/office/drawing/2014/main" id="{9AF67D31-9C9B-AA20-EF7A-47675D09AF7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
            <a:extLst>
              <a:ext uri="{FF2B5EF4-FFF2-40B4-BE49-F238E27FC236}">
                <a16:creationId xmlns:a16="http://schemas.microsoft.com/office/drawing/2014/main" id="{723E0DD0-1F0D-E690-FD6B-206DA0303C3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39668273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976CE58-0ECF-FECE-FAD9-8BD771CE308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8E7910C2-83CE-1D59-B47D-8DBB326EBA7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76961D97-F2DC-BC74-A3B3-06E918B6220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DE01155-5D94-3EAE-922C-7AF7D40167BB}"/>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C294AA6-16A4-89D4-164A-EE7C2E7A8F7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0945D6A-0A15-DA2C-0BA3-0038A4B88DB2}"/>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476E885-EBA7-6157-97ED-33B5BC83F2CC}"/>
              </a:ext>
            </a:extLst>
          </p:cNvPr>
          <p:cNvSpPr/>
          <p:nvPr/>
        </p:nvSpPr>
        <p:spPr>
          <a:xfrm>
            <a:off x="1567599" y="915948"/>
            <a:ext cx="1707248" cy="547158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4AC5972F-5C72-6315-B557-0FEC50DBAA0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0">
            <a:extLst>
              <a:ext uri="{FF2B5EF4-FFF2-40B4-BE49-F238E27FC236}">
                <a16:creationId xmlns:a16="http://schemas.microsoft.com/office/drawing/2014/main" id="{020EDF97-4E6D-081D-4EB3-DFBE56E09A0B}"/>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Left column: only the lines that went up. Middle: only those that went down. Right: both.</a:t>
            </a:r>
          </a:p>
        </p:txBody>
      </p:sp>
      <p:sp>
        <p:nvSpPr>
          <p:cNvPr id="12" name="!!N21">
            <a:extLst>
              <a:ext uri="{FF2B5EF4-FFF2-40B4-BE49-F238E27FC236}">
                <a16:creationId xmlns:a16="http://schemas.microsoft.com/office/drawing/2014/main" id="{1B1E8A3A-83D2-2EFB-0D16-E2315C7C5FA0}"/>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ring becomes one number: its lines added up. Here the change’s increases add up to 0.43: the black line under the ring.</a:t>
            </a:r>
          </a:p>
        </p:txBody>
      </p:sp>
      <p:sp>
        <p:nvSpPr>
          <p:cNvPr id="13" name="!!N14">
            <a:extLst>
              <a:ext uri="{FF2B5EF4-FFF2-40B4-BE49-F238E27FC236}">
                <a16:creationId xmlns:a16="http://schemas.microsoft.com/office/drawing/2014/main" id="{E16E5906-FADE-460D-3511-C5067561CE52}"/>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4" name="!!N15">
            <a:extLst>
              <a:ext uri="{FF2B5EF4-FFF2-40B4-BE49-F238E27FC236}">
                <a16:creationId xmlns:a16="http://schemas.microsoft.com/office/drawing/2014/main" id="{F96B814A-583D-BB9D-4574-D0834E159217}"/>
              </a:ext>
            </a:extLst>
          </p:cNvPr>
          <p:cNvSpPr/>
          <p:nvPr/>
        </p:nvSpPr>
        <p:spPr>
          <a:xfrm>
            <a:off x="125730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how much that pair’s coherence went from baseline to the cues, averaged over the rats. Orange: up.</a:t>
            </a:r>
          </a:p>
        </p:txBody>
      </p:sp>
      <p:sp>
        <p:nvSpPr>
          <p:cNvPr id="15" name="!!N16">
            <a:extLst>
              <a:ext uri="{FF2B5EF4-FFF2-40B4-BE49-F238E27FC236}">
                <a16:creationId xmlns:a16="http://schemas.microsoft.com/office/drawing/2014/main" id="{7FDF48EC-0DB4-DA3A-A775-6549DF459991}"/>
              </a:ext>
            </a:extLst>
          </p:cNvPr>
          <p:cNvSpPr/>
          <p:nvPr/>
        </p:nvSpPr>
        <p:spPr>
          <a:xfrm>
            <a:off x="12573000" y="2657856"/>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Purple: down.</a:t>
            </a:r>
          </a:p>
        </p:txBody>
      </p:sp>
      <p:sp>
        <p:nvSpPr>
          <p:cNvPr id="16" name="!!N17">
            <a:extLst>
              <a:ext uri="{FF2B5EF4-FFF2-40B4-BE49-F238E27FC236}">
                <a16:creationId xmlns:a16="http://schemas.microsoft.com/office/drawing/2014/main" id="{5CCD3661-2607-05EF-E270-B864E20327CB}"/>
              </a:ext>
            </a:extLst>
          </p:cNvPr>
          <p:cNvSpPr/>
          <p:nvPr/>
        </p:nvSpPr>
        <p:spPr>
          <a:xfrm>
            <a:off x="12573000" y="318973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Top row: Precon1. The cues lowered gamma coherence in 31 of the 44 pairs.</a:t>
            </a:r>
          </a:p>
        </p:txBody>
      </p:sp>
      <p:sp>
        <p:nvSpPr>
          <p:cNvPr id="17" name="!!N18">
            <a:extLst>
              <a:ext uri="{FF2B5EF4-FFF2-40B4-BE49-F238E27FC236}">
                <a16:creationId xmlns:a16="http://schemas.microsoft.com/office/drawing/2014/main" id="{60704FAD-0182-7FAD-4EAE-756145A84A76}"/>
              </a:ext>
            </a:extLst>
          </p:cNvPr>
          <p:cNvSpPr/>
          <p:nvPr/>
        </p:nvSpPr>
        <p:spPr>
          <a:xfrm>
            <a:off x="12573000" y="3910584"/>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Middle row: Precon4. About even: 23 pairs up, 21 down.</a:t>
            </a:r>
          </a:p>
        </p:txBody>
      </p:sp>
      <p:sp>
        <p:nvSpPr>
          <p:cNvPr id="18" name="!!N19">
            <a:extLst>
              <a:ext uri="{FF2B5EF4-FFF2-40B4-BE49-F238E27FC236}">
                <a16:creationId xmlns:a16="http://schemas.microsoft.com/office/drawing/2014/main" id="{6DF9AE71-D66D-1E46-DAE9-637167CC00C1}"/>
              </a:ext>
            </a:extLst>
          </p:cNvPr>
          <p:cNvSpPr/>
          <p:nvPr/>
        </p:nvSpPr>
        <p:spPr>
          <a:xfrm>
            <a:off x="12573000" y="444246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Bottom row: the change, Precon4 − Precon1. This is what tab 8’s light tested.</a:t>
            </a:r>
          </a:p>
        </p:txBody>
      </p:sp>
      <p:sp>
        <p:nvSpPr>
          <p:cNvPr id="19" name="!!T-BG">
            <a:extLst>
              <a:ext uri="{FF2B5EF4-FFF2-40B4-BE49-F238E27FC236}">
                <a16:creationId xmlns:a16="http://schemas.microsoft.com/office/drawing/2014/main" id="{05BD9F42-3E07-BF88-E9C6-CB38DDA21D2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
            <a:extLst>
              <a:ext uri="{FF2B5EF4-FFF2-40B4-BE49-F238E27FC236}">
                <a16:creationId xmlns:a16="http://schemas.microsoft.com/office/drawing/2014/main" id="{48DF4773-292D-28BB-459B-F2F406E95FA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38514278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7029CD1-839D-EC50-23D8-80ACA13FF99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7AEC2D87-C83A-7FCA-E28E-F3EF6D4D50D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39150740-AEA4-FA18-BF65-5C2E8780BED1}"/>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4A8DB4E-3DE7-F7B0-6D1E-BDB5641635A2}"/>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62B1B3B-E753-53F7-ABF0-779EDA42A883}"/>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02B1F5D-BE95-4171-B3F1-DDB05B90E6D6}"/>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540B1ED-54E4-91FE-5335-AB6C7A584F7C}"/>
              </a:ext>
            </a:extLst>
          </p:cNvPr>
          <p:cNvSpPr/>
          <p:nvPr/>
        </p:nvSpPr>
        <p:spPr>
          <a:xfrm>
            <a:off x="940816" y="901954"/>
            <a:ext cx="5814568" cy="40899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CDC6DE7-6D9C-8CB2-667A-6F5D795F029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1">
            <a:extLst>
              <a:ext uri="{FF2B5EF4-FFF2-40B4-BE49-F238E27FC236}">
                <a16:creationId xmlns:a16="http://schemas.microsoft.com/office/drawing/2014/main" id="{5AC5F5C5-942C-0C91-74AA-8DFD5B5D0BB5}"/>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ring becomes one number: its lines added up. Here the change’s increases add up to 0.43: the black line under the ring.</a:t>
            </a:r>
          </a:p>
        </p:txBody>
      </p:sp>
      <p:sp>
        <p:nvSpPr>
          <p:cNvPr id="12" name="!!N22">
            <a:extLst>
              <a:ext uri="{FF2B5EF4-FFF2-40B4-BE49-F238E27FC236}">
                <a16:creationId xmlns:a16="http://schemas.microsoft.com/office/drawing/2014/main" id="{97475142-0C43-CEBB-15FB-946580487EFA}"/>
              </a:ext>
            </a:extLst>
          </p:cNvPr>
          <p:cNvSpPr/>
          <p:nvPr/>
        </p:nvSpPr>
        <p:spPr>
          <a:xfrm>
            <a:off x="12573000" y="1748028"/>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test: if the cues’ effect were the same on both days, each rat’s change could as well point the other way. Flip the rats’ signs every way (256 for 8 rats) and add up again each time: those sums are the grey hill.</a:t>
            </a:r>
          </a:p>
        </p:txBody>
      </p:sp>
      <p:sp>
        <p:nvSpPr>
          <p:cNvPr id="13" name="!!N20">
            <a:extLst>
              <a:ext uri="{FF2B5EF4-FFF2-40B4-BE49-F238E27FC236}">
                <a16:creationId xmlns:a16="http://schemas.microsoft.com/office/drawing/2014/main" id="{BD92F186-B9DD-96D7-153C-CA798233302B}"/>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Left column: only the lines that went up. Middle: only those that went down. Right: both.</a:t>
            </a:r>
          </a:p>
        </p:txBody>
      </p:sp>
      <p:sp>
        <p:nvSpPr>
          <p:cNvPr id="14" name="!!T-BG">
            <a:extLst>
              <a:ext uri="{FF2B5EF4-FFF2-40B4-BE49-F238E27FC236}">
                <a16:creationId xmlns:a16="http://schemas.microsoft.com/office/drawing/2014/main" id="{0474D911-5FA6-4B1B-D828-17083AA1967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8780F977-DE57-0C7F-D625-9E7AA2855BD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29652660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E064A7B4-6971-C1E1-5DCD-79605F3A5E3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A58C1191-4F3B-BEE3-3C34-4AEC0D3112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88CB7DF0-EDED-F08A-11D6-09F97AB8ADBF}"/>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42049C5-C730-7B51-7D22-5517D2F63BCB}"/>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2A6B40F-060D-F321-9B81-E8DFAB90FA8C}"/>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B66EF517-B290-7BB0-1CEE-843373DC6B9B}"/>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87103BB-5FF0-79F7-B219-7C0CA9ED7F8B}"/>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7B5BDC1-720E-789B-BAED-77299CC0F3C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1">
            <a:extLst>
              <a:ext uri="{FF2B5EF4-FFF2-40B4-BE49-F238E27FC236}">
                <a16:creationId xmlns:a16="http://schemas.microsoft.com/office/drawing/2014/main" id="{A4BFA401-F1DF-B895-6118-2791673993A0}"/>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ring becomes one number: its lines added up. Here the change’s increases add up to 0.43: the black line under the ring.</a:t>
            </a:r>
          </a:p>
        </p:txBody>
      </p:sp>
      <p:sp>
        <p:nvSpPr>
          <p:cNvPr id="12" name="!!N22">
            <a:extLst>
              <a:ext uri="{FF2B5EF4-FFF2-40B4-BE49-F238E27FC236}">
                <a16:creationId xmlns:a16="http://schemas.microsoft.com/office/drawing/2014/main" id="{BBF94AD5-B6DB-4C4C-86CB-1D157023DC7F}"/>
              </a:ext>
            </a:extLst>
          </p:cNvPr>
          <p:cNvSpPr/>
          <p:nvPr/>
        </p:nvSpPr>
        <p:spPr>
          <a:xfrm>
            <a:off x="7797800" y="1748028"/>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test: if the cues’ effect were the same on both days, each rat’s change could as well point the other way. Flip the rats’ signs every way (256 for 8 rats) and add up again each time: those sums are the grey hill.</a:t>
            </a:r>
          </a:p>
        </p:txBody>
      </p:sp>
      <p:sp>
        <p:nvSpPr>
          <p:cNvPr id="13" name="!!N23">
            <a:extLst>
              <a:ext uri="{FF2B5EF4-FFF2-40B4-BE49-F238E27FC236}">
                <a16:creationId xmlns:a16="http://schemas.microsoft.com/office/drawing/2014/main" id="{798C8F6A-C3C3-6201-B233-2A0330DBA4FF}"/>
              </a:ext>
            </a:extLst>
          </p:cNvPr>
          <p:cNvSpPr/>
          <p:nvPr/>
        </p:nvSpPr>
        <p:spPr>
          <a:xfrm>
            <a:off x="12573000" y="28468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black line is the real sum. Only 3 of the 256 sums reach it (itself included): P = 0.012.</a:t>
            </a:r>
          </a:p>
        </p:txBody>
      </p:sp>
      <p:sp>
        <p:nvSpPr>
          <p:cNvPr id="14" name="!!T-BG">
            <a:extLst>
              <a:ext uri="{FF2B5EF4-FFF2-40B4-BE49-F238E27FC236}">
                <a16:creationId xmlns:a16="http://schemas.microsoft.com/office/drawing/2014/main" id="{2EF7EA6F-52CA-2598-AA1F-2C918546ABE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C541D7BC-5A0B-EA36-2FCB-68FA025F0AF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41664512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C58958C-B9C7-27FF-FE8E-3FB3F1143A1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CB620CD3-A1D3-32EF-5AC7-FE2898C3FB4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7FE10181-113A-DECE-2560-06477F57D8C4}"/>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1B4B95A-6044-DE97-A497-9A22C9BB806E}"/>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8C712A9-217D-3ACC-0D15-EC8803303937}"/>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B47FE656-329A-2273-1F0F-A0031B07335D}"/>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DFA2196-EB92-FD98-1DE0-F680B5867313}"/>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F53BA218-CBE0-75DF-3BEA-6ADAFF18EC1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1">
            <a:extLst>
              <a:ext uri="{FF2B5EF4-FFF2-40B4-BE49-F238E27FC236}">
                <a16:creationId xmlns:a16="http://schemas.microsoft.com/office/drawing/2014/main" id="{D6C184D3-650C-B125-3454-50EF82CF8C80}"/>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ring becomes one number: its lines added up. Here the change’s increases add up to 0.43: the black line under the ring.</a:t>
            </a:r>
          </a:p>
        </p:txBody>
      </p:sp>
      <p:sp>
        <p:nvSpPr>
          <p:cNvPr id="12" name="!!N22">
            <a:extLst>
              <a:ext uri="{FF2B5EF4-FFF2-40B4-BE49-F238E27FC236}">
                <a16:creationId xmlns:a16="http://schemas.microsoft.com/office/drawing/2014/main" id="{6B5DFFFE-6102-3DA0-D967-AF834621A512}"/>
              </a:ext>
            </a:extLst>
          </p:cNvPr>
          <p:cNvSpPr/>
          <p:nvPr/>
        </p:nvSpPr>
        <p:spPr>
          <a:xfrm>
            <a:off x="7797800" y="1748028"/>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test: if the cues’ effect were the same on both days, each rat’s change could as well point the other way. Flip the rats’ signs every way (256 for 8 rats) and add up again each time: those sums are the grey hill.</a:t>
            </a:r>
          </a:p>
        </p:txBody>
      </p:sp>
      <p:sp>
        <p:nvSpPr>
          <p:cNvPr id="13" name="!!N23">
            <a:extLst>
              <a:ext uri="{FF2B5EF4-FFF2-40B4-BE49-F238E27FC236}">
                <a16:creationId xmlns:a16="http://schemas.microsoft.com/office/drawing/2014/main" id="{4A680E82-012F-A2AE-509D-AE9161EB8EFC}"/>
              </a:ext>
            </a:extLst>
          </p:cNvPr>
          <p:cNvSpPr/>
          <p:nvPr/>
        </p:nvSpPr>
        <p:spPr>
          <a:xfrm>
            <a:off x="7797800" y="28468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black line is the real sum. Only 3 of the 256 sums reach it (itself included): P = 0.012.</a:t>
            </a:r>
          </a:p>
        </p:txBody>
      </p:sp>
      <p:sp>
        <p:nvSpPr>
          <p:cNvPr id="14" name="!!N24">
            <a:extLst>
              <a:ext uri="{FF2B5EF4-FFF2-40B4-BE49-F238E27FC236}">
                <a16:creationId xmlns:a16="http://schemas.microsoft.com/office/drawing/2014/main" id="{9134D4B8-4C49-993F-BBBD-E3C24B0B0F1F}"/>
              </a:ext>
            </a:extLst>
          </p:cNvPr>
          <p:cNvSpPr/>
          <p:nvPr/>
        </p:nvSpPr>
        <p:spPr>
          <a:xfrm>
            <a:off x="12573000" y="356768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P = 0.023, in line with tab 8’s light (P = 0.017).</a:t>
            </a:r>
          </a:p>
        </p:txBody>
      </p:sp>
      <p:sp>
        <p:nvSpPr>
          <p:cNvPr id="15" name="!!T-BG">
            <a:extLst>
              <a:ext uri="{FF2B5EF4-FFF2-40B4-BE49-F238E27FC236}">
                <a16:creationId xmlns:a16="http://schemas.microsoft.com/office/drawing/2014/main" id="{2BA32AF1-37AD-1973-3036-D184319183F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7BD0D14-7E66-F388-C21B-A0F43DC5DBB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30321504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065A48E-7036-C732-970A-D05624AF8559}"/>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83E88F79-5614-5E06-CF8E-A2D026634AD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1181080"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7CA2D2DB-6C19-5023-C8B2-2D65F70F6014}"/>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E21124D-4AC1-C3D0-696E-67A2FE57D6BE}"/>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7F96921-E9C3-E96F-0262-8AC1F852336F}"/>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F7C3188-18A2-1168-46C3-E1E0261B23C6}"/>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9AEE434-4D07-ED4E-073F-AA778E084E6D}"/>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E866D36-B934-CB98-4B3D-1613F9D2E793}"/>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1">
            <a:extLst>
              <a:ext uri="{FF2B5EF4-FFF2-40B4-BE49-F238E27FC236}">
                <a16:creationId xmlns:a16="http://schemas.microsoft.com/office/drawing/2014/main" id="{B38A3249-993C-9D9A-C718-357C823FEF49}"/>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ring becomes one number: its lines added up. Here the change’s increases add up to 0.43: the black line under the ring.</a:t>
            </a:r>
          </a:p>
        </p:txBody>
      </p:sp>
      <p:sp>
        <p:nvSpPr>
          <p:cNvPr id="12" name="!!N22">
            <a:extLst>
              <a:ext uri="{FF2B5EF4-FFF2-40B4-BE49-F238E27FC236}">
                <a16:creationId xmlns:a16="http://schemas.microsoft.com/office/drawing/2014/main" id="{DA9DEBE6-E42C-30A7-5E63-037082224DC8}"/>
              </a:ext>
            </a:extLst>
          </p:cNvPr>
          <p:cNvSpPr/>
          <p:nvPr/>
        </p:nvSpPr>
        <p:spPr>
          <a:xfrm>
            <a:off x="7797800" y="1748028"/>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test: if the cues’ effect were the same on both days, each rat’s change could as well point the other way. Flip the rats’ signs every way (256 for 8 rats) and add up again each time: those sums are the grey hill.</a:t>
            </a:r>
          </a:p>
        </p:txBody>
      </p:sp>
      <p:sp>
        <p:nvSpPr>
          <p:cNvPr id="13" name="!!N23">
            <a:extLst>
              <a:ext uri="{FF2B5EF4-FFF2-40B4-BE49-F238E27FC236}">
                <a16:creationId xmlns:a16="http://schemas.microsoft.com/office/drawing/2014/main" id="{12B8ABBB-9E61-D7E0-8FEE-CB8F2AFBE39D}"/>
              </a:ext>
            </a:extLst>
          </p:cNvPr>
          <p:cNvSpPr/>
          <p:nvPr/>
        </p:nvSpPr>
        <p:spPr>
          <a:xfrm>
            <a:off x="7797800" y="284683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black line is the real sum. Only 3 of the 256 sums reach it (itself included): P = 0.012.</a:t>
            </a:r>
          </a:p>
        </p:txBody>
      </p:sp>
      <p:sp>
        <p:nvSpPr>
          <p:cNvPr id="14" name="!!N24">
            <a:extLst>
              <a:ext uri="{FF2B5EF4-FFF2-40B4-BE49-F238E27FC236}">
                <a16:creationId xmlns:a16="http://schemas.microsoft.com/office/drawing/2014/main" id="{F4C47BE2-A286-840F-D457-C1C11D3DFA90}"/>
              </a:ext>
            </a:extLst>
          </p:cNvPr>
          <p:cNvSpPr/>
          <p:nvPr/>
        </p:nvSpPr>
        <p:spPr>
          <a:xfrm>
            <a:off x="7797800" y="356768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P = 0.023, in line with tab 8’s light (P = 0.017).</a:t>
            </a:r>
          </a:p>
        </p:txBody>
      </p:sp>
      <p:sp>
        <p:nvSpPr>
          <p:cNvPr id="15" name="!!N25">
            <a:extLst>
              <a:ext uri="{FF2B5EF4-FFF2-40B4-BE49-F238E27FC236}">
                <a16:creationId xmlns:a16="http://schemas.microsoft.com/office/drawing/2014/main" id="{EFCEACCC-59C5-D06F-12E5-120DF165CB42}"/>
              </a:ext>
            </a:extLst>
          </p:cNvPr>
          <p:cNvSpPr/>
          <p:nvPr/>
        </p:nvSpPr>
        <p:spPr>
          <a:xfrm>
            <a:off x="12573000" y="428853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Neither day passes on its own (Precon1 P = 0.055 at best, Precon4 P = 0.359): it is the change between them.</a:t>
            </a:r>
          </a:p>
        </p:txBody>
      </p:sp>
      <p:sp>
        <p:nvSpPr>
          <p:cNvPr id="16" name="!!T-BG">
            <a:extLst>
              <a:ext uri="{FF2B5EF4-FFF2-40B4-BE49-F238E27FC236}">
                <a16:creationId xmlns:a16="http://schemas.microsoft.com/office/drawing/2014/main" id="{89F9FDC7-AA72-9114-9764-14948F3D485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FE5AF8CE-CCF1-B63F-EA2F-5664E4BA754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1317093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7CA6CC4-D33E-158F-AC40-1C26F78E9F1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E4946752-EC99-BF3B-DE28-733E4D6BC2B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F6BC68D0-4491-4B96-3191-BDE6399D9D89}"/>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7E56E11-65F8-73AA-77B6-EF24E0301CA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AF1FDC7-1E3D-C42A-3474-4348865E46A4}"/>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C0A354C-A748-3277-3ED0-D877459BF18A}"/>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5D60765-97D7-0070-0F1F-05F9986C068A}"/>
              </a:ext>
            </a:extLst>
          </p:cNvPr>
          <p:cNvSpPr/>
          <p:nvPr/>
        </p:nvSpPr>
        <p:spPr>
          <a:xfrm>
            <a:off x="1315710" y="1041892"/>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8A098AA6-C74D-3F13-EBDB-C1C106443B39}"/>
              </a:ext>
            </a:extLst>
          </p:cNvPr>
          <p:cNvSpPr/>
          <p:nvPr/>
        </p:nvSpPr>
        <p:spPr>
          <a:xfrm>
            <a:off x="1315710" y="2777128"/>
            <a:ext cx="5093756" cy="181919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3927A137-E08A-618E-8781-EF98AF37366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21">
            <a:extLst>
              <a:ext uri="{FF2B5EF4-FFF2-40B4-BE49-F238E27FC236}">
                <a16:creationId xmlns:a16="http://schemas.microsoft.com/office/drawing/2014/main" id="{8BD28D78-70F5-C46B-1D3B-559F58DEFECD}"/>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ring becomes one number: its lines added up. Here the change’s increases add up to 0.43: the black line under the ring.</a:t>
            </a:r>
          </a:p>
        </p:txBody>
      </p:sp>
      <p:sp>
        <p:nvSpPr>
          <p:cNvPr id="13" name="!!N22">
            <a:extLst>
              <a:ext uri="{FF2B5EF4-FFF2-40B4-BE49-F238E27FC236}">
                <a16:creationId xmlns:a16="http://schemas.microsoft.com/office/drawing/2014/main" id="{9E39EB4F-2A1F-DF55-7227-25DFEB0F3E82}"/>
              </a:ext>
            </a:extLst>
          </p:cNvPr>
          <p:cNvSpPr/>
          <p:nvPr/>
        </p:nvSpPr>
        <p:spPr>
          <a:xfrm>
            <a:off x="7797800" y="1748028"/>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test: if the cues’ effect were the same on both days, each rat’s change could as well point the other way. Flip the rats’ signs every way (256 for 8 rats) and add up again each time: those sums are the grey hill.</a:t>
            </a:r>
          </a:p>
        </p:txBody>
      </p:sp>
      <p:sp>
        <p:nvSpPr>
          <p:cNvPr id="14" name="!!N23">
            <a:extLst>
              <a:ext uri="{FF2B5EF4-FFF2-40B4-BE49-F238E27FC236}">
                <a16:creationId xmlns:a16="http://schemas.microsoft.com/office/drawing/2014/main" id="{722D8A95-61DC-5917-5969-8CC6BAADA573}"/>
              </a:ext>
            </a:extLst>
          </p:cNvPr>
          <p:cNvSpPr/>
          <p:nvPr/>
        </p:nvSpPr>
        <p:spPr>
          <a:xfrm>
            <a:off x="7797800" y="284683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black line is the real sum. Only 3 of the 256 sums reach it (itself included): P = 0.012.</a:t>
            </a:r>
          </a:p>
        </p:txBody>
      </p:sp>
      <p:sp>
        <p:nvSpPr>
          <p:cNvPr id="15" name="!!N24">
            <a:extLst>
              <a:ext uri="{FF2B5EF4-FFF2-40B4-BE49-F238E27FC236}">
                <a16:creationId xmlns:a16="http://schemas.microsoft.com/office/drawing/2014/main" id="{BA52E52B-DD0D-EA60-7CE2-BF217BFEFD11}"/>
              </a:ext>
            </a:extLst>
          </p:cNvPr>
          <p:cNvSpPr/>
          <p:nvPr/>
        </p:nvSpPr>
        <p:spPr>
          <a:xfrm>
            <a:off x="7797800" y="356768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Ups and downs together: P = 0.023, in line with tab 8’s light (P = 0.017).</a:t>
            </a:r>
          </a:p>
        </p:txBody>
      </p:sp>
      <p:sp>
        <p:nvSpPr>
          <p:cNvPr id="16" name="!!N25">
            <a:extLst>
              <a:ext uri="{FF2B5EF4-FFF2-40B4-BE49-F238E27FC236}">
                <a16:creationId xmlns:a16="http://schemas.microsoft.com/office/drawing/2014/main" id="{10967801-3AE7-A936-2DE6-C086F3A6D1E1}"/>
              </a:ext>
            </a:extLst>
          </p:cNvPr>
          <p:cNvSpPr/>
          <p:nvPr/>
        </p:nvSpPr>
        <p:spPr>
          <a:xfrm>
            <a:off x="7797800" y="428853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Neither day passes on its own (Precon1 P = 0.055 at best, Precon4 P = 0.359): it is the change between them.</a:t>
            </a:r>
          </a:p>
        </p:txBody>
      </p:sp>
      <p:sp>
        <p:nvSpPr>
          <p:cNvPr id="17" name="!!N26">
            <a:extLst>
              <a:ext uri="{FF2B5EF4-FFF2-40B4-BE49-F238E27FC236}">
                <a16:creationId xmlns:a16="http://schemas.microsoft.com/office/drawing/2014/main" id="{D351F78D-B3F0-4C75-2B92-C59828007CE0}"/>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Same ring, a second test (the toggle on tab 9): in every session, each trial’s baseline and cue swapped at random, 10,000 times. Single trials vary a lot, so the hill is much wider: P = 0.187 (the rats’ test: P = 0.023).</a:t>
            </a:r>
          </a:p>
        </p:txBody>
      </p:sp>
      <p:sp>
        <p:nvSpPr>
          <p:cNvPr id="18" name="!!T-BG">
            <a:extLst>
              <a:ext uri="{FF2B5EF4-FFF2-40B4-BE49-F238E27FC236}">
                <a16:creationId xmlns:a16="http://schemas.microsoft.com/office/drawing/2014/main" id="{24C69FDD-A4EF-3FCF-D007-CB90F05015D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
            <a:extLst>
              <a:ext uri="{FF2B5EF4-FFF2-40B4-BE49-F238E27FC236}">
                <a16:creationId xmlns:a16="http://schemas.microsoft.com/office/drawing/2014/main" id="{89573B7D-37C8-8E15-4B2E-4EF8ED99713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3011780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D8855B5-FEB3-E6DE-A301-C00D3179022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trials">
            <a:extLst>
              <a:ext uri="{FF2B5EF4-FFF2-40B4-BE49-F238E27FC236}">
                <a16:creationId xmlns:a16="http://schemas.microsoft.com/office/drawing/2014/main" id="{B0384767-76A9-9F50-EF03-F4BA8122CB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181080"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4AED60A3-A37D-5D86-044F-99FB7B7E2C3D}"/>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448EA3F-5308-04BA-CA5F-28D15AB30144}"/>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6630805-C07F-8305-C867-A74E61274409}"/>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3EC0527-B6AD-C6B4-A8D2-B65E653F68E5}"/>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4A42AB2-7552-09F4-EAE5-0037537D7BBF}"/>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EA70521D-1B6F-1A0F-4118-4A7C118CC95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6">
            <a:extLst>
              <a:ext uri="{FF2B5EF4-FFF2-40B4-BE49-F238E27FC236}">
                <a16:creationId xmlns:a16="http://schemas.microsoft.com/office/drawing/2014/main" id="{6CC5063F-3C12-7CC8-3A81-5D2009B042D7}"/>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Same ring, a second test (the toggle on tab 9): in every session, each trial’s baseline and cue swapped at random, 10,000 times. Single trials vary a lot, so the hill is much wider: P = 0.187 (the rats’ test: P = 0.023).</a:t>
            </a:r>
          </a:p>
        </p:txBody>
      </p:sp>
      <p:sp>
        <p:nvSpPr>
          <p:cNvPr id="12" name="!!N27">
            <a:extLst>
              <a:ext uri="{FF2B5EF4-FFF2-40B4-BE49-F238E27FC236}">
                <a16:creationId xmlns:a16="http://schemas.microsoft.com/office/drawing/2014/main" id="{53A89F7F-D579-9741-7FDB-D3563543809F}"/>
              </a:ext>
            </a:extLst>
          </p:cNvPr>
          <p:cNvSpPr/>
          <p:nvPr/>
        </p:nvSpPr>
        <p:spPr>
          <a:xfrm>
            <a:off x="12573000" y="83820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third test, FP: the same rats in FP1 and FP2, with no cues. Fake trials at random moments, measured as real ones are; in each of 10,000 sets every session gets as many as it had real trials, losing the same windows its real trials lost.</a:t>
            </a:r>
          </a:p>
        </p:txBody>
      </p:sp>
      <p:sp>
        <p:nvSpPr>
          <p:cNvPr id="13" name="!!N21">
            <a:extLst>
              <a:ext uri="{FF2B5EF4-FFF2-40B4-BE49-F238E27FC236}">
                <a16:creationId xmlns:a16="http://schemas.microsoft.com/office/drawing/2014/main" id="{1D8900F6-EC1B-026A-EA6A-1CD00E935AAB}"/>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ring becomes one number: its lines added up. Here the change’s increases add up to 0.43: the black line under the ring.</a:t>
            </a:r>
          </a:p>
        </p:txBody>
      </p:sp>
      <p:sp>
        <p:nvSpPr>
          <p:cNvPr id="14" name="!!N22">
            <a:extLst>
              <a:ext uri="{FF2B5EF4-FFF2-40B4-BE49-F238E27FC236}">
                <a16:creationId xmlns:a16="http://schemas.microsoft.com/office/drawing/2014/main" id="{EC69C99F-81CA-07F2-53D7-B1D7428BF60A}"/>
              </a:ext>
            </a:extLst>
          </p:cNvPr>
          <p:cNvSpPr/>
          <p:nvPr/>
        </p:nvSpPr>
        <p:spPr>
          <a:xfrm>
            <a:off x="12573000" y="1748028"/>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test: if the cues’ effect were the same on both days, each rat’s change could as well point the other way. Flip the rats’ signs every way (256 for 8 rats) and add up again each time: those sums are the grey hill.</a:t>
            </a:r>
          </a:p>
        </p:txBody>
      </p:sp>
      <p:sp>
        <p:nvSpPr>
          <p:cNvPr id="15" name="!!N23">
            <a:extLst>
              <a:ext uri="{FF2B5EF4-FFF2-40B4-BE49-F238E27FC236}">
                <a16:creationId xmlns:a16="http://schemas.microsoft.com/office/drawing/2014/main" id="{6787B5D0-FC5B-7FF1-4CCA-F5FEB4828AF2}"/>
              </a:ext>
            </a:extLst>
          </p:cNvPr>
          <p:cNvSpPr/>
          <p:nvPr/>
        </p:nvSpPr>
        <p:spPr>
          <a:xfrm>
            <a:off x="12573000" y="284683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black line is the real sum. Only 3 of the 256 sums reach it (itself included): P = 0.012.</a:t>
            </a:r>
          </a:p>
        </p:txBody>
      </p:sp>
      <p:sp>
        <p:nvSpPr>
          <p:cNvPr id="16" name="!!N24">
            <a:extLst>
              <a:ext uri="{FF2B5EF4-FFF2-40B4-BE49-F238E27FC236}">
                <a16:creationId xmlns:a16="http://schemas.microsoft.com/office/drawing/2014/main" id="{A76FE7BE-67B8-617F-084D-7E7A836F8F2A}"/>
              </a:ext>
            </a:extLst>
          </p:cNvPr>
          <p:cNvSpPr/>
          <p:nvPr/>
        </p:nvSpPr>
        <p:spPr>
          <a:xfrm>
            <a:off x="12573000" y="356768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Ups and downs together: P = 0.023, in line with tab 8’s light (P = 0.017).</a:t>
            </a:r>
          </a:p>
        </p:txBody>
      </p:sp>
      <p:sp>
        <p:nvSpPr>
          <p:cNvPr id="17" name="!!N25">
            <a:extLst>
              <a:ext uri="{FF2B5EF4-FFF2-40B4-BE49-F238E27FC236}">
                <a16:creationId xmlns:a16="http://schemas.microsoft.com/office/drawing/2014/main" id="{7D7A4DAE-70B3-6C47-0437-8CEF0E5450BC}"/>
              </a:ext>
            </a:extLst>
          </p:cNvPr>
          <p:cNvSpPr/>
          <p:nvPr/>
        </p:nvSpPr>
        <p:spPr>
          <a:xfrm>
            <a:off x="12573000" y="428853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Neither day passes on its own (Precon1 P = 0.055 at best, Precon4 P = 0.359): it is the change between them.</a:t>
            </a:r>
          </a:p>
        </p:txBody>
      </p:sp>
      <p:sp>
        <p:nvSpPr>
          <p:cNvPr id="18" name="!!T-BG">
            <a:extLst>
              <a:ext uri="{FF2B5EF4-FFF2-40B4-BE49-F238E27FC236}">
                <a16:creationId xmlns:a16="http://schemas.microsoft.com/office/drawing/2014/main" id="{26E74CB5-EFDA-0285-35DA-AE224454145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
            <a:extLst>
              <a:ext uri="{FF2B5EF4-FFF2-40B4-BE49-F238E27FC236}">
                <a16:creationId xmlns:a16="http://schemas.microsoft.com/office/drawing/2014/main" id="{D7DB7548-3014-7ABD-2935-7775B0B8CB4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1299508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41062D5-5E89-96E8-2CC8-D2624ECB37F9}"/>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fp">
            <a:extLst>
              <a:ext uri="{FF2B5EF4-FFF2-40B4-BE49-F238E27FC236}">
                <a16:creationId xmlns:a16="http://schemas.microsoft.com/office/drawing/2014/main" id="{C11D3585-FDBA-9912-F0F6-385E078FFE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181080"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8ACC7AD0-ABC7-BA2F-8D67-D286759CC7C5}"/>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3E1C6EC-4DBF-D848-4DCF-488795951EFA}"/>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CB654E2-C34C-56D6-3048-DD85C571BFA3}"/>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06FFAD9-2C25-E07D-830F-F469052A6455}"/>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1F46638-9F63-F329-EE80-BA3A3A633E2B}"/>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FB7ED83-935C-3A5D-DA01-1C60E83B4C5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7">
            <a:extLst>
              <a:ext uri="{FF2B5EF4-FFF2-40B4-BE49-F238E27FC236}">
                <a16:creationId xmlns:a16="http://schemas.microsoft.com/office/drawing/2014/main" id="{0B069EC6-DCD3-1560-92CA-CB93D4955180}"/>
              </a:ext>
            </a:extLst>
          </p:cNvPr>
          <p:cNvSpPr/>
          <p:nvPr/>
        </p:nvSpPr>
        <p:spPr>
          <a:xfrm>
            <a:off x="7797800" y="83820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third test, FP: the same rats in FP1 and FP2, with no cues. Fake trials at random moments, measured as real ones are; in each of 10,000 sets every session gets as many as it had real trials, losing the same windows its real trials lost.</a:t>
            </a:r>
          </a:p>
        </p:txBody>
      </p:sp>
      <p:sp>
        <p:nvSpPr>
          <p:cNvPr id="12" name="!!N28">
            <a:extLst>
              <a:ext uri="{FF2B5EF4-FFF2-40B4-BE49-F238E27FC236}">
                <a16:creationId xmlns:a16="http://schemas.microsoft.com/office/drawing/2014/main" id="{0AE9FD50-A51C-D657-AEA5-8C426C6E23BD}"/>
              </a:ext>
            </a:extLst>
          </p:cNvPr>
          <p:cNvSpPr/>
          <p:nvPr/>
        </p:nvSpPr>
        <p:spPr>
          <a:xfrm>
            <a:off x="12573000" y="212598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Against FP, Figure 1’s change: P = 0.199 (increases P = 0.100). It does not stand out of what the rats do with no cues.</a:t>
            </a:r>
          </a:p>
        </p:txBody>
      </p:sp>
      <p:sp>
        <p:nvSpPr>
          <p:cNvPr id="13" name="!!N26">
            <a:extLst>
              <a:ext uri="{FF2B5EF4-FFF2-40B4-BE49-F238E27FC236}">
                <a16:creationId xmlns:a16="http://schemas.microsoft.com/office/drawing/2014/main" id="{1FD3A0D9-283C-6F59-AF51-C92C8B822AD7}"/>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Same ring, a second test (the toggle on tab 9): in every session, each trial’s baseline and cue swapped at random, 10,000 times. Single trials vary a lot, so the hill is much wider: P = 0.187 (the rats’ test: P = 0.023).</a:t>
            </a:r>
          </a:p>
        </p:txBody>
      </p:sp>
      <p:sp>
        <p:nvSpPr>
          <p:cNvPr id="14" name="!!T-BG">
            <a:extLst>
              <a:ext uri="{FF2B5EF4-FFF2-40B4-BE49-F238E27FC236}">
                <a16:creationId xmlns:a16="http://schemas.microsoft.com/office/drawing/2014/main" id="{7F03E41E-66B1-11A8-8E3C-4C8669FD887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EFE62EF5-3BBE-9E60-E515-472F4F2F6B2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41921479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6589D6D-EB0D-060C-7678-DF03A483734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fp">
            <a:extLst>
              <a:ext uri="{FF2B5EF4-FFF2-40B4-BE49-F238E27FC236}">
                <a16:creationId xmlns:a16="http://schemas.microsoft.com/office/drawing/2014/main" id="{3A3E4DBE-320C-A657-A00D-FEC37771712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1181080"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D017292C-1878-FCCC-B83E-273AE9E52DB3}"/>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BBA04E6-412C-4B30-AFE7-0502976E9185}"/>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DE6368B-9400-3ED8-275F-43D2B93E76F7}"/>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2611687-D2CD-3F02-127B-D989D279EC33}"/>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F0129B8-94AB-EF51-FEDC-B37C485BDB18}"/>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9D25AB45-79D9-4C59-A089-648A3066ACF3}"/>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7">
            <a:extLst>
              <a:ext uri="{FF2B5EF4-FFF2-40B4-BE49-F238E27FC236}">
                <a16:creationId xmlns:a16="http://schemas.microsoft.com/office/drawing/2014/main" id="{9D023720-F8AA-8915-A2C9-DC8C07B6BF3E}"/>
              </a:ext>
            </a:extLst>
          </p:cNvPr>
          <p:cNvSpPr/>
          <p:nvPr/>
        </p:nvSpPr>
        <p:spPr>
          <a:xfrm>
            <a:off x="7797800" y="838200"/>
            <a:ext cx="4241800" cy="117348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third test, FP: the same rats in FP1 and FP2, with no cues. Fake trials at random moments, measured as real ones are; in each of 10,000 sets every session gets as many as it had real trials, losing the same windows its real trials lost.</a:t>
            </a:r>
          </a:p>
        </p:txBody>
      </p:sp>
      <p:sp>
        <p:nvSpPr>
          <p:cNvPr id="12" name="!!N28">
            <a:extLst>
              <a:ext uri="{FF2B5EF4-FFF2-40B4-BE49-F238E27FC236}">
                <a16:creationId xmlns:a16="http://schemas.microsoft.com/office/drawing/2014/main" id="{11DCE51C-90D6-5306-F638-64219BCEFC61}"/>
              </a:ext>
            </a:extLst>
          </p:cNvPr>
          <p:cNvSpPr/>
          <p:nvPr/>
        </p:nvSpPr>
        <p:spPr>
          <a:xfrm>
            <a:off x="7797800" y="212598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Against FP, Figure 1’s change: P = 0.199 (increases P = 0.100). It does not stand out of what the rats do with no cues.</a:t>
            </a:r>
          </a:p>
        </p:txBody>
      </p:sp>
      <p:sp>
        <p:nvSpPr>
          <p:cNvPr id="13" name="!!N29">
            <a:extLst>
              <a:ext uri="{FF2B5EF4-FFF2-40B4-BE49-F238E27FC236}">
                <a16:creationId xmlns:a16="http://schemas.microsoft.com/office/drawing/2014/main" id="{0C9CC714-60D4-2701-967D-1C4503438F4D}"/>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So: the rats moved together, the test that matches tab 8’s light, but neither the trial shuffle nor FP confirms it. Figure 1 is a lead, not a finding.</a:t>
            </a:r>
          </a:p>
        </p:txBody>
      </p:sp>
      <p:sp>
        <p:nvSpPr>
          <p:cNvPr id="14" name="!!T-BG">
            <a:extLst>
              <a:ext uri="{FF2B5EF4-FFF2-40B4-BE49-F238E27FC236}">
                <a16:creationId xmlns:a16="http://schemas.microsoft.com/office/drawing/2014/main" id="{1DDE87FF-04B0-5A24-C69B-B60FB5ADA62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BBFA23C2-DF10-AE8A-C6B2-E56AB53BA8D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6078149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E9D81E3-F779-CFFF-3EC4-6611E5F31B9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fp">
            <a:extLst>
              <a:ext uri="{FF2B5EF4-FFF2-40B4-BE49-F238E27FC236}">
                <a16:creationId xmlns:a16="http://schemas.microsoft.com/office/drawing/2014/main" id="{7C921B60-2899-2F76-BE10-8D4E8B9CA04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1181080"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90549763-C514-E99D-66AC-3983B6F156C1}"/>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E605896-A077-D249-6860-5C31BE1B4C01}"/>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98875D6-A49B-00F5-4679-C925BE4F3CA7}"/>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17D4CC3-3F93-6CA4-8C77-0DF1154837C5}"/>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B4AB8F7-8328-852B-F6BE-E66671D4D51D}"/>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EE66B16-81E1-DEF9-AB5F-93AEC7450DF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9">
            <a:extLst>
              <a:ext uri="{FF2B5EF4-FFF2-40B4-BE49-F238E27FC236}">
                <a16:creationId xmlns:a16="http://schemas.microsoft.com/office/drawing/2014/main" id="{D755D9FC-8D2E-95EA-055D-11909F01235A}"/>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So: the rats moved together, the test that matches tab 8’s light, but neither the trial shuffle nor FP confirms it. Figure 1 is a lead, not a finding.</a:t>
            </a:r>
          </a:p>
        </p:txBody>
      </p:sp>
      <p:sp>
        <p:nvSpPr>
          <p:cNvPr id="12" name="!!N27">
            <a:extLst>
              <a:ext uri="{FF2B5EF4-FFF2-40B4-BE49-F238E27FC236}">
                <a16:creationId xmlns:a16="http://schemas.microsoft.com/office/drawing/2014/main" id="{6F745341-263C-3340-03B4-C7450C7A57CA}"/>
              </a:ext>
            </a:extLst>
          </p:cNvPr>
          <p:cNvSpPr/>
          <p:nvPr/>
        </p:nvSpPr>
        <p:spPr>
          <a:xfrm>
            <a:off x="12573000" y="838200"/>
            <a:ext cx="4241800" cy="117348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third test, FP: the same rats in FP1 and FP2, with no cues. Fake trials at random moments, measured as real ones are; in each of 10,000 sets every session gets as many as it had real trials, losing the same windows its real trials lost.</a:t>
            </a:r>
          </a:p>
        </p:txBody>
      </p:sp>
      <p:sp>
        <p:nvSpPr>
          <p:cNvPr id="13" name="!!N28">
            <a:extLst>
              <a:ext uri="{FF2B5EF4-FFF2-40B4-BE49-F238E27FC236}">
                <a16:creationId xmlns:a16="http://schemas.microsoft.com/office/drawing/2014/main" id="{AD716811-C655-12C8-6054-4B992D4A6FF5}"/>
              </a:ext>
            </a:extLst>
          </p:cNvPr>
          <p:cNvSpPr/>
          <p:nvPr/>
        </p:nvSpPr>
        <p:spPr>
          <a:xfrm>
            <a:off x="12573000" y="212598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Against FP, Figure 1’s change: P = 0.199 (increases P = 0.100). It does not stand out of what the rats do with no cues.</a:t>
            </a:r>
          </a:p>
        </p:txBody>
      </p:sp>
      <p:sp>
        <p:nvSpPr>
          <p:cNvPr id="14" name="!!T-BG">
            <a:extLst>
              <a:ext uri="{FF2B5EF4-FFF2-40B4-BE49-F238E27FC236}">
                <a16:creationId xmlns:a16="http://schemas.microsoft.com/office/drawing/2014/main" id="{2624A97C-4A72-E85A-2317-37A529BD513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06252E23-A1CF-CD54-E0CA-CA7A5978275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gamma</a:t>
            </a:r>
          </a:p>
        </p:txBody>
      </p:sp>
    </p:spTree>
    <p:extLst>
      <p:ext uri="{BB962C8B-B14F-4D97-AF65-F5344CB8AC3E}">
        <p14:creationId xmlns:p14="http://schemas.microsoft.com/office/powerpoint/2010/main" val="36320306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080FF7D-CA02-2646-807C-F6BF801959D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D72F1F4C-FE74-AF30-4F34-14981FD76C4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3C6A93E0-4250-4E72-4DEE-30CA1562E01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0A257A0-FA36-D2CD-A95E-4806AA7F183B}"/>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09E823C-F015-7BD1-0D93-9479D1E61574}"/>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704198E-A492-EC65-B056-0770C2A34AF5}"/>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E5E3A599-C48B-C169-DD20-BF53974CFD1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30">
            <a:extLst>
              <a:ext uri="{FF2B5EF4-FFF2-40B4-BE49-F238E27FC236}">
                <a16:creationId xmlns:a16="http://schemas.microsoft.com/office/drawing/2014/main" id="{A04BF913-4F40-D36D-D268-9DFA5C58600E}"/>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Same layout, comparison 2: the 10 s baseline against cue 1.</a:t>
            </a:r>
          </a:p>
        </p:txBody>
      </p:sp>
      <p:sp>
        <p:nvSpPr>
          <p:cNvPr id="11" name="!!N29">
            <a:extLst>
              <a:ext uri="{FF2B5EF4-FFF2-40B4-BE49-F238E27FC236}">
                <a16:creationId xmlns:a16="http://schemas.microsoft.com/office/drawing/2014/main" id="{B0D43F94-8C62-B660-DB05-853AE487221D}"/>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So: the rats moved together, the test that matches tab 8’s light, but neither the trial shuffle nor FP confirms it. Figure 1 is a lead, not a finding.</a:t>
            </a:r>
          </a:p>
        </p:txBody>
      </p:sp>
      <p:sp>
        <p:nvSpPr>
          <p:cNvPr id="12" name="!!T-BG">
            <a:extLst>
              <a:ext uri="{FF2B5EF4-FFF2-40B4-BE49-F238E27FC236}">
                <a16:creationId xmlns:a16="http://schemas.microsoft.com/office/drawing/2014/main" id="{C0ABEC8A-1292-CA8B-D012-DC48F905D3FD}"/>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
            <a:extLst>
              <a:ext uri="{FF2B5EF4-FFF2-40B4-BE49-F238E27FC236}">
                <a16:creationId xmlns:a16="http://schemas.microsoft.com/office/drawing/2014/main" id="{E17B88C6-2FED-91D3-F877-F3C1D225E76C}"/>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2</a:t>
            </a:r>
          </a:p>
          <a:p>
            <a:pPr algn="ctr">
              <a:lnSpc>
                <a:spcPct val="95000"/>
              </a:lnSpc>
            </a:pPr>
            <a:r>
              <a:rPr lang="en-US" sz="2000">
                <a:solidFill>
                  <a:srgbClr val="FFFFFF"/>
                </a:solidFill>
                <a:latin typeface="Aptos Display" panose="020B0004020202020204" pitchFamily="34" charset="0"/>
              </a:rPr>
              <a:t>Comparison 2, baseline → cue 1: the whole network</a:t>
            </a:r>
          </a:p>
        </p:txBody>
      </p:sp>
    </p:spTree>
    <p:extLst>
      <p:ext uri="{BB962C8B-B14F-4D97-AF65-F5344CB8AC3E}">
        <p14:creationId xmlns:p14="http://schemas.microsoft.com/office/powerpoint/2010/main" val="17018611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416F613-19FC-FECE-9C8A-45CF1AEB456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FEA19B9B-3BCC-F9D9-6AE3-716FB596158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6EC98FCB-6931-A926-96D2-B7E287213F08}"/>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14BCBE2-A084-3564-5A62-8F1AE35D6CF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8A28D33-C380-7360-CCD2-52A3947057D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2C58C12-D086-3FD2-BAA9-AB9F2C1E52BC}"/>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D3664AAF-29DC-0BB3-A19D-8418BEEB2B04}"/>
              </a:ext>
            </a:extLst>
          </p:cNvPr>
          <p:cNvSpPr/>
          <p:nvPr/>
        </p:nvSpPr>
        <p:spPr>
          <a:xfrm>
            <a:off x="1315710" y="4512363"/>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91669F25-9B09-EC90-BDF3-9FD569FC61B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0">
            <a:extLst>
              <a:ext uri="{FF2B5EF4-FFF2-40B4-BE49-F238E27FC236}">
                <a16:creationId xmlns:a16="http://schemas.microsoft.com/office/drawing/2014/main" id="{0D2D42AE-D671-551D-BCE8-33246204367B}"/>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Same layout, comparison 2: the 10 s baseline against cue 1.</a:t>
            </a:r>
          </a:p>
        </p:txBody>
      </p:sp>
      <p:sp>
        <p:nvSpPr>
          <p:cNvPr id="12" name="!!N31">
            <a:extLst>
              <a:ext uri="{FF2B5EF4-FFF2-40B4-BE49-F238E27FC236}">
                <a16:creationId xmlns:a16="http://schemas.microsoft.com/office/drawing/2014/main" id="{231135F8-9B99-67C0-F9A9-BCCCEC91CE6F}"/>
              </a:ext>
            </a:extLst>
          </p:cNvPr>
          <p:cNvSpPr/>
          <p:nvPr/>
        </p:nvSpPr>
        <p:spPr>
          <a:xfrm>
            <a:off x="12573000" y="1559052"/>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change’s increases: only 7 of 256 sums reach it: P = 0.027. The trial shuffle agrees (P = 0.030), and so does FP (P = 0.037): the one network result that passes every test.</a:t>
            </a:r>
          </a:p>
        </p:txBody>
      </p:sp>
      <p:sp>
        <p:nvSpPr>
          <p:cNvPr id="13" name="!!T-BG">
            <a:extLst>
              <a:ext uri="{FF2B5EF4-FFF2-40B4-BE49-F238E27FC236}">
                <a16:creationId xmlns:a16="http://schemas.microsoft.com/office/drawing/2014/main" id="{DE372E06-934F-A41B-D99C-FB609CCB316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DEFBECD2-E05D-CBCA-F1FC-C26DEF4B47E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it-IT" sz="2400" b="1" u="sng">
                <a:solidFill>
                  <a:srgbClr val="FFFFFF"/>
                </a:solidFill>
                <a:latin typeface="Aptos Display" panose="020B0004020202020204" pitchFamily="34" charset="0"/>
              </a:rPr>
              <a:t>Figure 2 · baseline → cue 1 ·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21156445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2A4A332-4E43-84F3-1999-065C59222AB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2881B171-2A6F-CCB6-AD92-CDF78426503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9A9E4AEA-FA3C-C540-83D1-842EEA82BB9B}"/>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6305D62-CCCD-3DA1-EABE-25A328C421EC}"/>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2CF5E7F-1827-EB4D-107C-E55B681BC3BF}"/>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DB45685-01FB-A9BD-3E25-A79965AA3A58}"/>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6B69E04-61C8-8E18-BF74-FEC64CD8E931}"/>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8A8A185-3A20-19CD-DF12-C364D6155B8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0">
            <a:extLst>
              <a:ext uri="{FF2B5EF4-FFF2-40B4-BE49-F238E27FC236}">
                <a16:creationId xmlns:a16="http://schemas.microsoft.com/office/drawing/2014/main" id="{848CC921-FF1E-1DBA-164C-BF46494B7741}"/>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Same layout, comparison 2: the 10 s baseline against cue 1.</a:t>
            </a:r>
          </a:p>
        </p:txBody>
      </p:sp>
      <p:sp>
        <p:nvSpPr>
          <p:cNvPr id="12" name="!!N31">
            <a:extLst>
              <a:ext uri="{FF2B5EF4-FFF2-40B4-BE49-F238E27FC236}">
                <a16:creationId xmlns:a16="http://schemas.microsoft.com/office/drawing/2014/main" id="{6511E47B-5229-2C85-4964-414D4407F23B}"/>
              </a:ext>
            </a:extLst>
          </p:cNvPr>
          <p:cNvSpPr/>
          <p:nvPr/>
        </p:nvSpPr>
        <p:spPr>
          <a:xfrm>
            <a:off x="7797800" y="1559052"/>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change’s increases: only 7 of 256 sums reach it: P = 0.027. The trial shuffle agrees (P = 0.030), and so does FP (P = 0.037): the one network result that passes every test.</a:t>
            </a:r>
          </a:p>
        </p:txBody>
      </p:sp>
      <p:sp>
        <p:nvSpPr>
          <p:cNvPr id="13" name="!!N32">
            <a:extLst>
              <a:ext uri="{FF2B5EF4-FFF2-40B4-BE49-F238E27FC236}">
                <a16:creationId xmlns:a16="http://schemas.microsoft.com/office/drawing/2014/main" id="{C4E25265-ECFE-48F5-4E36-CBCE144734DC}"/>
              </a:ext>
            </a:extLst>
          </p:cNvPr>
          <p:cNvSpPr/>
          <p:nvPr/>
        </p:nvSpPr>
        <p:spPr>
          <a:xfrm>
            <a:off x="12573000" y="265785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rats P = 0.062, trials P = 0.058, FP P = 0.074.</a:t>
            </a:r>
          </a:p>
        </p:txBody>
      </p:sp>
      <p:sp>
        <p:nvSpPr>
          <p:cNvPr id="14" name="!!T-BG">
            <a:extLst>
              <a:ext uri="{FF2B5EF4-FFF2-40B4-BE49-F238E27FC236}">
                <a16:creationId xmlns:a16="http://schemas.microsoft.com/office/drawing/2014/main" id="{1E9DE6DA-4548-647B-07A2-40150EA8EDC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0E712294-C321-0E72-FB8A-89082CCA1EE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it-IT" sz="2400" b="1" u="sng">
                <a:solidFill>
                  <a:srgbClr val="FFFFFF"/>
                </a:solidFill>
                <a:latin typeface="Aptos Display" panose="020B0004020202020204" pitchFamily="34" charset="0"/>
              </a:rPr>
              <a:t>Figure 2 · baseline → cue 1 ·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9506752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8AC7621-F900-CDF5-5541-D97423B73B4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C98A1DFC-B76A-37B7-9C33-4F236A90024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1181080"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A128B860-6BCB-A239-4DFB-3E36CF6DBD46}"/>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E42CBF6-39FF-3ED5-2032-13886616CEA5}"/>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08BFCEE-2A4B-644B-C317-E5318FA16432}"/>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2A39FB0-1D49-03D9-637C-C8283FB58F88}"/>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07CDEFD-5E69-21C0-3358-EA1DB86C61C6}"/>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BE22FF3-7F90-E383-21DB-7BE85CBF302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0">
            <a:extLst>
              <a:ext uri="{FF2B5EF4-FFF2-40B4-BE49-F238E27FC236}">
                <a16:creationId xmlns:a16="http://schemas.microsoft.com/office/drawing/2014/main" id="{A19E435B-7585-5D73-94D2-54BE2336B8EA}"/>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Same layout, comparison 2: the 10 s baseline against cue 1.</a:t>
            </a:r>
          </a:p>
        </p:txBody>
      </p:sp>
      <p:sp>
        <p:nvSpPr>
          <p:cNvPr id="12" name="!!N31">
            <a:extLst>
              <a:ext uri="{FF2B5EF4-FFF2-40B4-BE49-F238E27FC236}">
                <a16:creationId xmlns:a16="http://schemas.microsoft.com/office/drawing/2014/main" id="{C03EBEA2-AD0A-160E-2718-F668CFE81575}"/>
              </a:ext>
            </a:extLst>
          </p:cNvPr>
          <p:cNvSpPr/>
          <p:nvPr/>
        </p:nvSpPr>
        <p:spPr>
          <a:xfrm>
            <a:off x="7797800" y="1559052"/>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change’s increases: only 7 of 256 sums reach it: P = 0.027. The trial shuffle agrees (P = 0.030), and so does FP (P = 0.037): the one network result that passes every test.</a:t>
            </a:r>
          </a:p>
        </p:txBody>
      </p:sp>
      <p:sp>
        <p:nvSpPr>
          <p:cNvPr id="13" name="!!N32">
            <a:extLst>
              <a:ext uri="{FF2B5EF4-FFF2-40B4-BE49-F238E27FC236}">
                <a16:creationId xmlns:a16="http://schemas.microsoft.com/office/drawing/2014/main" id="{E3E91FEF-B42A-8D40-E92F-22C7D66D3A83}"/>
              </a:ext>
            </a:extLst>
          </p:cNvPr>
          <p:cNvSpPr/>
          <p:nvPr/>
        </p:nvSpPr>
        <p:spPr>
          <a:xfrm>
            <a:off x="7797800" y="265785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rats P = 0.062, trials P = 0.058, FP P = 0.074.</a:t>
            </a:r>
          </a:p>
        </p:txBody>
      </p:sp>
      <p:sp>
        <p:nvSpPr>
          <p:cNvPr id="14" name="!!N33">
            <a:extLst>
              <a:ext uri="{FF2B5EF4-FFF2-40B4-BE49-F238E27FC236}">
                <a16:creationId xmlns:a16="http://schemas.microsoft.com/office/drawing/2014/main" id="{F17FB786-C9A0-5F58-5468-101FB44A999C}"/>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ring splits the other way: on Precon1 alone, the decreases pass the trial shuffle (P = 0.039) and FP (P = 0.030) but not the rats’ test (P = 0.090). It is one day, not the change, so it does not answer the question.</a:t>
            </a:r>
          </a:p>
        </p:txBody>
      </p:sp>
      <p:sp>
        <p:nvSpPr>
          <p:cNvPr id="15" name="!!T-BG">
            <a:extLst>
              <a:ext uri="{FF2B5EF4-FFF2-40B4-BE49-F238E27FC236}">
                <a16:creationId xmlns:a16="http://schemas.microsoft.com/office/drawing/2014/main" id="{7FE49964-4C60-62CC-E7C8-730E2BDD429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51A8561D-CF54-7475-7511-61AF535355C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it-IT" sz="2400" b="1" u="sng">
                <a:solidFill>
                  <a:srgbClr val="FFFFFF"/>
                </a:solidFill>
                <a:latin typeface="Aptos Display" panose="020B0004020202020204" pitchFamily="34" charset="0"/>
              </a:rPr>
              <a:t>Figure 2 · baseline → cue 1 ·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1348028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41EE299-D5BC-AB4B-D10D-9F6B58F724F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807F3F04-D733-02F0-6DB2-2D02521CCAD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662168" y="-132842"/>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FF3A2FB1-6748-BE8C-DBD8-A3CE5C232FAE}"/>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8BEFAD4-EDD9-EBBC-F737-8E97DC55C9D7}"/>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6E6711D-A4B0-E792-5AFD-74E9D8295E39}"/>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FA2C6D9-EB38-40D6-9DD7-D5C4EFC66C3E}"/>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275EBED-677C-AEDA-C73E-AA9E641B2386}"/>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02FB205-79FA-B342-9604-B4319711031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3">
            <a:extLst>
              <a:ext uri="{FF2B5EF4-FFF2-40B4-BE49-F238E27FC236}">
                <a16:creationId xmlns:a16="http://schemas.microsoft.com/office/drawing/2014/main" id="{ED93FF72-7DD2-4E53-2467-BB485F91EA27}"/>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ring splits the other way: on Precon1 alone, the decreases pass the trial shuffle (P = 0.039) and FP (P = 0.030) but not the rats’ test (P = 0.090). It is one day, not the change, so it does not answer the question.</a:t>
            </a:r>
          </a:p>
        </p:txBody>
      </p:sp>
      <p:sp>
        <p:nvSpPr>
          <p:cNvPr id="12" name="!!N34">
            <a:extLst>
              <a:ext uri="{FF2B5EF4-FFF2-40B4-BE49-F238E27FC236}">
                <a16:creationId xmlns:a16="http://schemas.microsoft.com/office/drawing/2014/main" id="{869B5091-DC9F-57FB-1603-320E0A6602E8}"/>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Then tab 8 looked closer at single pairs inside comparisons 1 and 2, with four kinds of extra test.</a:t>
            </a:r>
          </a:p>
        </p:txBody>
      </p:sp>
      <p:sp>
        <p:nvSpPr>
          <p:cNvPr id="13" name="!!N30">
            <a:extLst>
              <a:ext uri="{FF2B5EF4-FFF2-40B4-BE49-F238E27FC236}">
                <a16:creationId xmlns:a16="http://schemas.microsoft.com/office/drawing/2014/main" id="{75D55575-868F-9C3E-3944-03E733501F24}"/>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Same layout, comparison 2: the 10 s baseline against cue 1.</a:t>
            </a:r>
          </a:p>
        </p:txBody>
      </p:sp>
      <p:sp>
        <p:nvSpPr>
          <p:cNvPr id="14" name="!!N31">
            <a:extLst>
              <a:ext uri="{FF2B5EF4-FFF2-40B4-BE49-F238E27FC236}">
                <a16:creationId xmlns:a16="http://schemas.microsoft.com/office/drawing/2014/main" id="{C148DF9B-A15A-0044-E68A-1790B4041B0E}"/>
              </a:ext>
            </a:extLst>
          </p:cNvPr>
          <p:cNvSpPr/>
          <p:nvPr/>
        </p:nvSpPr>
        <p:spPr>
          <a:xfrm>
            <a:off x="12573000" y="1559052"/>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change’s increases: only 7 of 256 sums reach it: P = 0.027. The trial shuffle agrees (P = 0.030), and so does FP (P = 0.037): the one network result that passes every test.</a:t>
            </a:r>
          </a:p>
        </p:txBody>
      </p:sp>
      <p:sp>
        <p:nvSpPr>
          <p:cNvPr id="15" name="!!N32">
            <a:extLst>
              <a:ext uri="{FF2B5EF4-FFF2-40B4-BE49-F238E27FC236}">
                <a16:creationId xmlns:a16="http://schemas.microsoft.com/office/drawing/2014/main" id="{5E127B96-E1C5-DCA8-2259-E84535012FAF}"/>
              </a:ext>
            </a:extLst>
          </p:cNvPr>
          <p:cNvSpPr/>
          <p:nvPr/>
        </p:nvSpPr>
        <p:spPr>
          <a:xfrm>
            <a:off x="12573000" y="265785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rats P = 0.062, trials P = 0.058, FP P = 0.074.</a:t>
            </a:r>
          </a:p>
        </p:txBody>
      </p:sp>
      <p:sp>
        <p:nvSpPr>
          <p:cNvPr id="16" name="!!T-BG">
            <a:extLst>
              <a:ext uri="{FF2B5EF4-FFF2-40B4-BE49-F238E27FC236}">
                <a16:creationId xmlns:a16="http://schemas.microsoft.com/office/drawing/2014/main" id="{E369C2D0-8A86-7D2A-67F1-CE93BF298DD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4B899288-6313-6FE6-8CC6-9693AC919ED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it-IT" sz="2400" b="1" u="sng">
                <a:solidFill>
                  <a:srgbClr val="FFFFFF"/>
                </a:solidFill>
                <a:latin typeface="Aptos Display" panose="020B0004020202020204" pitchFamily="34" charset="0"/>
              </a:rPr>
              <a:t>Figure 2 · baseline → cue 1 ·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22159806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39839FB-96FF-E9AA-4C7B-9CAF260D8359}"/>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91B8CF25-1D78-5B4B-58D1-1D4E1F3E0CE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CDF1D710-8B65-B300-77D2-64A5D21A44D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4FE2831-9CB7-FA6E-F2BF-B8E1909A608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313BA8F-4A64-423B-A4BE-A92230377F4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BDAA3D8-0726-4B88-AB89-4841224DFFF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EB15BF81-C27D-EFC8-ED05-92914B26B7A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34">
            <a:extLst>
              <a:ext uri="{FF2B5EF4-FFF2-40B4-BE49-F238E27FC236}">
                <a16:creationId xmlns:a16="http://schemas.microsoft.com/office/drawing/2014/main" id="{107AE71D-AECF-DCB4-F1B0-2236B618E1A2}"/>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Then tab 8 looked closer at single pairs inside comparisons 1 and 2, with four kinds of extra test.</a:t>
            </a:r>
          </a:p>
        </p:txBody>
      </p:sp>
      <p:sp>
        <p:nvSpPr>
          <p:cNvPr id="11" name="!!N35">
            <a:extLst>
              <a:ext uri="{FF2B5EF4-FFF2-40B4-BE49-F238E27FC236}">
                <a16:creationId xmlns:a16="http://schemas.microsoft.com/office/drawing/2014/main" id="{4EA3BB35-AEDF-31F1-3B53-A4F5E8B1E40E}"/>
              </a:ext>
            </a:extLst>
          </p:cNvPr>
          <p:cNvSpPr/>
          <p:nvPr/>
        </p:nvSpPr>
        <p:spPr>
          <a:xfrm>
            <a:off x="12573000" y="155905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 just a shared signal: two wires can look coherent because they pick up the same source. PLI and imaginary coherence count only coupling with a delay: PLI asks how steadily one rhythm runs ahead, imaginary coherence also weighs how strongly.</a:t>
            </a:r>
          </a:p>
        </p:txBody>
      </p:sp>
      <p:sp>
        <p:nvSpPr>
          <p:cNvPr id="12" name="!!N33">
            <a:extLst>
              <a:ext uri="{FF2B5EF4-FFF2-40B4-BE49-F238E27FC236}">
                <a16:creationId xmlns:a16="http://schemas.microsoft.com/office/drawing/2014/main" id="{919E9B9C-4713-25DD-31F3-8D09DEFF8DE1}"/>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ring splits the other way: on Precon1 alone, the decreases pass the trial shuffle (P = 0.039) and FP (P = 0.030) but not the rats’ test (P = 0.090). It is one day, not the change, so it does not answer the question.</a:t>
            </a:r>
          </a:p>
        </p:txBody>
      </p:sp>
      <p:sp>
        <p:nvSpPr>
          <p:cNvPr id="13" name="!!T-BG">
            <a:extLst>
              <a:ext uri="{FF2B5EF4-FFF2-40B4-BE49-F238E27FC236}">
                <a16:creationId xmlns:a16="http://schemas.microsoft.com/office/drawing/2014/main" id="{9982F746-15E9-4573-41EC-1202823C354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9EC00146-DBF9-C1BF-7E46-B11ADB1866B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39642811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B34C410-5BF5-F4C9-2A45-55E94802F466}"/>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14B847DE-A8F2-33F4-2858-BAA6D5491B5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21A8B1E1-8BD5-BE0C-99A4-8B7B32EAB9D2}"/>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BC84D03-A507-732F-2D65-5B68C93FBB53}"/>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A058AE3-A2F3-C70A-1324-E69B65906D87}"/>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08AC272-E5F0-1223-EAD7-A1C3EAE40BDA}"/>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D5D808E-E61C-CEF0-965C-06985FA762D3}"/>
              </a:ext>
            </a:extLst>
          </p:cNvPr>
          <p:cNvSpPr/>
          <p:nvPr/>
        </p:nvSpPr>
        <p:spPr>
          <a:xfrm>
            <a:off x="430317" y="1648485"/>
            <a:ext cx="3370314" cy="208864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F7FA102-70C9-A368-CB6A-BF62D05D51B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4">
            <a:extLst>
              <a:ext uri="{FF2B5EF4-FFF2-40B4-BE49-F238E27FC236}">
                <a16:creationId xmlns:a16="http://schemas.microsoft.com/office/drawing/2014/main" id="{4C0BE4E9-08EA-5B1D-B9BB-6DD05F82DFDB}"/>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Then tab 8 looked closer at single pairs inside comparisons 1 and 2, with four kinds of extra test.</a:t>
            </a:r>
          </a:p>
        </p:txBody>
      </p:sp>
      <p:sp>
        <p:nvSpPr>
          <p:cNvPr id="12" name="!!N35">
            <a:extLst>
              <a:ext uri="{FF2B5EF4-FFF2-40B4-BE49-F238E27FC236}">
                <a16:creationId xmlns:a16="http://schemas.microsoft.com/office/drawing/2014/main" id="{80BD9522-D5E5-FB6C-03C4-D971A2E0AA59}"/>
              </a:ext>
            </a:extLst>
          </p:cNvPr>
          <p:cNvSpPr/>
          <p:nvPr/>
        </p:nvSpPr>
        <p:spPr>
          <a:xfrm>
            <a:off x="7797800" y="155905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 just a shared signal: two wires can look coherent because they pick up the same source. PLI and imaginary coherence count only coupling with a delay: PLI asks how steadily one rhythm runs ahead, imaginary coherence also weighs how strongly.</a:t>
            </a:r>
          </a:p>
        </p:txBody>
      </p:sp>
      <p:sp>
        <p:nvSpPr>
          <p:cNvPr id="13" name="!!N36">
            <a:extLst>
              <a:ext uri="{FF2B5EF4-FFF2-40B4-BE49-F238E27FC236}">
                <a16:creationId xmlns:a16="http://schemas.microsoft.com/office/drawing/2014/main" id="{DE39BEEF-185C-3093-743B-4CBCC7E8BAB0}"/>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Which leads: Granger asks if one region’s past predicts the other’s future; the lag asks whose gamma bursts come first.</a:t>
            </a:r>
          </a:p>
        </p:txBody>
      </p:sp>
      <p:sp>
        <p:nvSpPr>
          <p:cNvPr id="14" name="!!T-BG">
            <a:extLst>
              <a:ext uri="{FF2B5EF4-FFF2-40B4-BE49-F238E27FC236}">
                <a16:creationId xmlns:a16="http://schemas.microsoft.com/office/drawing/2014/main" id="{27E5C254-3B8F-E7F0-40EA-F5FFF78037C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5CC2DE77-AA09-6163-04EB-70ADB30C56E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16693148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7C47034-5E1F-EC37-BA30-E34427F65E4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51876255-D50E-8C71-9DD8-71623F38837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7252F246-DC80-7BF1-2625-A598B41D915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146F506-1A2F-4997-397F-0D2EDBA2858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59DDC13-3F67-7F8E-D97F-EBE3CCBABA03}"/>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B5F6FA9-C0AA-3CDE-ECBF-8CEB3EA203E1}"/>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2ACA17B-F7A1-4C30-8FC4-E93CE3CC7A95}"/>
              </a:ext>
            </a:extLst>
          </p:cNvPr>
          <p:cNvSpPr/>
          <p:nvPr/>
        </p:nvSpPr>
        <p:spPr>
          <a:xfrm>
            <a:off x="3895569" y="1648485"/>
            <a:ext cx="3370315" cy="208864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22B1DDC-4803-8C27-715F-4F384245D3C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6">
            <a:extLst>
              <a:ext uri="{FF2B5EF4-FFF2-40B4-BE49-F238E27FC236}">
                <a16:creationId xmlns:a16="http://schemas.microsoft.com/office/drawing/2014/main" id="{BC46A1F1-23D0-E868-E19C-D7B4246F3CED}"/>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Which leads: Granger asks if one region’s past predicts the other’s future; the lag asks whose gamma bursts come first.</a:t>
            </a:r>
          </a:p>
        </p:txBody>
      </p:sp>
      <p:sp>
        <p:nvSpPr>
          <p:cNvPr id="12" name="!!N37">
            <a:extLst>
              <a:ext uri="{FF2B5EF4-FFF2-40B4-BE49-F238E27FC236}">
                <a16:creationId xmlns:a16="http://schemas.microsoft.com/office/drawing/2014/main" id="{94F9F938-3955-ED35-71B7-CB5A411CEA17}"/>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Bursts rise together: do the two regions’ gamma get loud at the same moments?</a:t>
            </a:r>
          </a:p>
        </p:txBody>
      </p:sp>
      <p:sp>
        <p:nvSpPr>
          <p:cNvPr id="13" name="!!N34">
            <a:extLst>
              <a:ext uri="{FF2B5EF4-FFF2-40B4-BE49-F238E27FC236}">
                <a16:creationId xmlns:a16="http://schemas.microsoft.com/office/drawing/2014/main" id="{1F1F5781-6C2D-51C7-74AB-29FC23E67287}"/>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Then tab 8 looked closer at single pairs inside comparisons 1 and 2, with four kinds of extra test.</a:t>
            </a:r>
          </a:p>
        </p:txBody>
      </p:sp>
      <p:sp>
        <p:nvSpPr>
          <p:cNvPr id="14" name="!!N35">
            <a:extLst>
              <a:ext uri="{FF2B5EF4-FFF2-40B4-BE49-F238E27FC236}">
                <a16:creationId xmlns:a16="http://schemas.microsoft.com/office/drawing/2014/main" id="{D4B52BE9-9FF4-6977-75F1-4DB80464C3D6}"/>
              </a:ext>
            </a:extLst>
          </p:cNvPr>
          <p:cNvSpPr/>
          <p:nvPr/>
        </p:nvSpPr>
        <p:spPr>
          <a:xfrm>
            <a:off x="12573000" y="155905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 just a shared signal: two wires can look coherent because they pick up the same source. PLI and imaginary coherence count only coupling with a delay: PLI asks how steadily one rhythm runs ahead, imaginary coherence also weighs how strongly.</a:t>
            </a:r>
          </a:p>
        </p:txBody>
      </p:sp>
      <p:sp>
        <p:nvSpPr>
          <p:cNvPr id="15" name="!!T-BG">
            <a:extLst>
              <a:ext uri="{FF2B5EF4-FFF2-40B4-BE49-F238E27FC236}">
                <a16:creationId xmlns:a16="http://schemas.microsoft.com/office/drawing/2014/main" id="{604CBD39-B416-5741-00D9-4CE2B132A56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134D360D-94B0-E7F6-BB1E-71CAAB11239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33749809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83B4FE5-E00C-7FC3-4EBB-3DCE5257A77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6DB3DCCC-3FA4-103A-7845-653CCF3038D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A582C0DF-D551-043A-E838-42081903F782}"/>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30462F7-C965-04EE-31E1-C8F9CC7EC2D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9F705D8-0686-B834-64C5-683769B3A289}"/>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8639D97-47C4-C535-7E39-67DA7C42D50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534D600-2144-DE93-B846-BD945361DAC8}"/>
              </a:ext>
            </a:extLst>
          </p:cNvPr>
          <p:cNvSpPr/>
          <p:nvPr/>
        </p:nvSpPr>
        <p:spPr>
          <a:xfrm>
            <a:off x="430317" y="3832069"/>
            <a:ext cx="3370314" cy="208864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963E8205-F9B2-9E55-B9D6-A3C102F23D5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6">
            <a:extLst>
              <a:ext uri="{FF2B5EF4-FFF2-40B4-BE49-F238E27FC236}">
                <a16:creationId xmlns:a16="http://schemas.microsoft.com/office/drawing/2014/main" id="{43CF4FF0-ED50-7EC3-D7FF-8AD2E2325DDB}"/>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Which leads: Granger asks if one region’s past predicts the other’s future; the lag asks whose gamma bursts come first.</a:t>
            </a:r>
          </a:p>
        </p:txBody>
      </p:sp>
      <p:sp>
        <p:nvSpPr>
          <p:cNvPr id="12" name="!!N37">
            <a:extLst>
              <a:ext uri="{FF2B5EF4-FFF2-40B4-BE49-F238E27FC236}">
                <a16:creationId xmlns:a16="http://schemas.microsoft.com/office/drawing/2014/main" id="{01FDFD15-F60B-0367-9127-6A773B9EBD64}"/>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Bursts rise together: do the two regions’ gamma get loud at the same moments?</a:t>
            </a:r>
          </a:p>
        </p:txBody>
      </p:sp>
      <p:sp>
        <p:nvSpPr>
          <p:cNvPr id="13" name="!!N38">
            <a:extLst>
              <a:ext uri="{FF2B5EF4-FFF2-40B4-BE49-F238E27FC236}">
                <a16:creationId xmlns:a16="http://schemas.microsoft.com/office/drawing/2014/main" id="{D4FF6D76-60EE-BDDD-7FAB-D1D16CD2E839}"/>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paces gamma: do gamma bursts in one region ride the theta cycle of another (or its own)?</a:t>
            </a:r>
          </a:p>
        </p:txBody>
      </p:sp>
      <p:sp>
        <p:nvSpPr>
          <p:cNvPr id="14" name="!!T-BG">
            <a:extLst>
              <a:ext uri="{FF2B5EF4-FFF2-40B4-BE49-F238E27FC236}">
                <a16:creationId xmlns:a16="http://schemas.microsoft.com/office/drawing/2014/main" id="{EDD3441B-25FB-1743-B95C-09DDAB5AA7F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E2B19114-18DB-4C51-3636-F42E8F74138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42241814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E180AA0-1573-0B51-AAE7-A906C1E95D8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31170D0C-CE60-A9AC-58DE-EB1FC1075AC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C40DF9CB-DBD6-DBCA-DD54-68B6F5A6D0F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3F46FD3-2092-F35D-581B-7CB010693D3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1DAAE88-EA30-1EC1-FC0F-DF63ACD9FC77}"/>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0587154-4AFE-CEF7-3AD5-C2BCB570FDCF}"/>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B2BB3B7-53E7-C457-0CBB-44FBEF5D0154}"/>
              </a:ext>
            </a:extLst>
          </p:cNvPr>
          <p:cNvSpPr/>
          <p:nvPr/>
        </p:nvSpPr>
        <p:spPr>
          <a:xfrm>
            <a:off x="3895569" y="3832069"/>
            <a:ext cx="3370315" cy="208864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44DBA27-8FA2-6314-84D4-1E0C19B986C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8">
            <a:extLst>
              <a:ext uri="{FF2B5EF4-FFF2-40B4-BE49-F238E27FC236}">
                <a16:creationId xmlns:a16="http://schemas.microsoft.com/office/drawing/2014/main" id="{DF87946D-C1E7-94FC-405A-8427C1AF1D26}"/>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paces gamma: do gamma bursts in one region ride the theta cycle of another (or its own)?</a:t>
            </a:r>
          </a:p>
        </p:txBody>
      </p:sp>
      <p:sp>
        <p:nvSpPr>
          <p:cNvPr id="12" name="!!N39">
            <a:extLst>
              <a:ext uri="{FF2B5EF4-FFF2-40B4-BE49-F238E27FC236}">
                <a16:creationId xmlns:a16="http://schemas.microsoft.com/office/drawing/2014/main" id="{8DE220B3-FEAC-552C-58DE-A3765EB1D0A2}"/>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How to read a follow-up figure. a: the pair, on the same ring (an arrow when a direction was measured).</a:t>
            </a:r>
          </a:p>
        </p:txBody>
      </p:sp>
      <p:sp>
        <p:nvSpPr>
          <p:cNvPr id="13" name="!!N36">
            <a:extLst>
              <a:ext uri="{FF2B5EF4-FFF2-40B4-BE49-F238E27FC236}">
                <a16:creationId xmlns:a16="http://schemas.microsoft.com/office/drawing/2014/main" id="{73E160FC-8650-967B-C200-F2579A93CB9C}"/>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Which leads: Granger asks if one region’s past predicts the other’s future; the lag asks whose gamma bursts come first.</a:t>
            </a:r>
          </a:p>
        </p:txBody>
      </p:sp>
      <p:sp>
        <p:nvSpPr>
          <p:cNvPr id="14" name="!!N37">
            <a:extLst>
              <a:ext uri="{FF2B5EF4-FFF2-40B4-BE49-F238E27FC236}">
                <a16:creationId xmlns:a16="http://schemas.microsoft.com/office/drawing/2014/main" id="{F413B779-D125-79F0-C972-F43015A9EE37}"/>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Bursts rise together: do the two regions’ gamma get loud at the same moments?</a:t>
            </a:r>
          </a:p>
        </p:txBody>
      </p:sp>
      <p:sp>
        <p:nvSpPr>
          <p:cNvPr id="15" name="!!T-BG">
            <a:extLst>
              <a:ext uri="{FF2B5EF4-FFF2-40B4-BE49-F238E27FC236}">
                <a16:creationId xmlns:a16="http://schemas.microsoft.com/office/drawing/2014/main" id="{C8E29EA2-5749-B935-9E07-C7A09932788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661F1B6F-6B61-0761-C763-0E9646A460A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29351951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B0FD0A1-E9B0-FF18-F652-EFF378B9A83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1">
            <a:extLst>
              <a:ext uri="{FF2B5EF4-FFF2-40B4-BE49-F238E27FC236}">
                <a16:creationId xmlns:a16="http://schemas.microsoft.com/office/drawing/2014/main" id="{2CA268E0-1442-888F-B347-C2FBFD56D1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37336" y="901954"/>
            <a:ext cx="23440994" cy="6405325"/>
          </a:xfrm>
          <a:prstGeom prst="rect">
            <a:avLst/>
          </a:prstGeom>
          <a:ln w="9525">
            <a:solidFill>
              <a:srgbClr val="B0B0B0"/>
            </a:solidFill>
          </a:ln>
        </p:spPr>
      </p:pic>
      <p:sp>
        <p:nvSpPr>
          <p:cNvPr id="5" name="!!D1">
            <a:extLst>
              <a:ext uri="{FF2B5EF4-FFF2-40B4-BE49-F238E27FC236}">
                <a16:creationId xmlns:a16="http://schemas.microsoft.com/office/drawing/2014/main" id="{25E4239C-0F68-4FB2-1E2F-AEF89955260B}"/>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A466360-AD46-0326-308C-1220C09A5734}"/>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8608D39-E06A-0FE9-2727-094DA02DC311}"/>
              </a:ext>
            </a:extLst>
          </p:cNvPr>
          <p:cNvSpPr/>
          <p:nvPr/>
        </p:nvSpPr>
        <p:spPr>
          <a:xfrm>
            <a:off x="0" y="876554"/>
            <a:ext cx="81193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FC1E8DE-D639-2E93-93F9-81EBCA7A8141}"/>
              </a:ext>
            </a:extLst>
          </p:cNvPr>
          <p:cNvSpPr/>
          <p:nvPr/>
        </p:nvSpPr>
        <p:spPr>
          <a:xfrm>
            <a:off x="6884264" y="876554"/>
            <a:ext cx="78653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102D59B-575B-D386-656D-180E0F981DBE}"/>
              </a:ext>
            </a:extLst>
          </p:cNvPr>
          <p:cNvSpPr/>
          <p:nvPr/>
        </p:nvSpPr>
        <p:spPr>
          <a:xfrm>
            <a:off x="837336" y="901954"/>
            <a:ext cx="6021528" cy="576529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C2A8192-25CF-514E-7484-4E898046005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9">
            <a:extLst>
              <a:ext uri="{FF2B5EF4-FFF2-40B4-BE49-F238E27FC236}">
                <a16:creationId xmlns:a16="http://schemas.microsoft.com/office/drawing/2014/main" id="{49DDA4B1-7E5C-0D3A-97AD-3275CAFDFCFF}"/>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How to read a follow-up figure. a: the pair, on the same ring (an arrow when a direction was measured).</a:t>
            </a:r>
          </a:p>
        </p:txBody>
      </p:sp>
      <p:sp>
        <p:nvSpPr>
          <p:cNvPr id="12" name="!!N40">
            <a:extLst>
              <a:ext uri="{FF2B5EF4-FFF2-40B4-BE49-F238E27FC236}">
                <a16:creationId xmlns:a16="http://schemas.microsoft.com/office/drawing/2014/main" id="{DF0E4662-F5AC-2ABD-5F4E-B454416F0FDC}"/>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 each rat’s baseline and cue, Precon1 in grey and Precon4 in black.</a:t>
            </a:r>
          </a:p>
        </p:txBody>
      </p:sp>
      <p:sp>
        <p:nvSpPr>
          <p:cNvPr id="13" name="!!N38">
            <a:extLst>
              <a:ext uri="{FF2B5EF4-FFF2-40B4-BE49-F238E27FC236}">
                <a16:creationId xmlns:a16="http://schemas.microsoft.com/office/drawing/2014/main" id="{C1DCC94E-021C-FA67-E21D-BE6FE9F2E7D6}"/>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paces gamma: do gamma bursts in one region ride the theta cycle of another (or its own)?</a:t>
            </a:r>
          </a:p>
        </p:txBody>
      </p:sp>
      <p:sp>
        <p:nvSpPr>
          <p:cNvPr id="14" name="!!T-BG">
            <a:extLst>
              <a:ext uri="{FF2B5EF4-FFF2-40B4-BE49-F238E27FC236}">
                <a16:creationId xmlns:a16="http://schemas.microsoft.com/office/drawing/2014/main" id="{342F51DD-BE5F-996A-9C47-143E3EC9CB8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C385BDA2-F547-8B7B-0513-D17F316512F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1.1 · R ACC – R RSC · Not just a shared signal</a:t>
            </a:r>
          </a:p>
        </p:txBody>
      </p:sp>
    </p:spTree>
    <p:extLst>
      <p:ext uri="{BB962C8B-B14F-4D97-AF65-F5344CB8AC3E}">
        <p14:creationId xmlns:p14="http://schemas.microsoft.com/office/powerpoint/2010/main" val="25691881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C537868-D5C0-E22A-EE9F-BE81E850983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1">
            <a:extLst>
              <a:ext uri="{FF2B5EF4-FFF2-40B4-BE49-F238E27FC236}">
                <a16:creationId xmlns:a16="http://schemas.microsoft.com/office/drawing/2014/main" id="{F4EE3534-EB15-F164-A2C7-1EBE112F155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970219" y="1429397"/>
            <a:ext cx="20042744" cy="5476742"/>
          </a:xfrm>
          <a:prstGeom prst="rect">
            <a:avLst/>
          </a:prstGeom>
          <a:ln w="9525">
            <a:solidFill>
              <a:srgbClr val="B0B0B0"/>
            </a:solidFill>
          </a:ln>
        </p:spPr>
      </p:pic>
      <p:sp>
        <p:nvSpPr>
          <p:cNvPr id="5" name="!!D1">
            <a:extLst>
              <a:ext uri="{FF2B5EF4-FFF2-40B4-BE49-F238E27FC236}">
                <a16:creationId xmlns:a16="http://schemas.microsoft.com/office/drawing/2014/main" id="{E5B2F4DC-0733-B0D4-EC21-7A86AB7695A2}"/>
              </a:ext>
            </a:extLst>
          </p:cNvPr>
          <p:cNvSpPr/>
          <p:nvPr/>
        </p:nvSpPr>
        <p:spPr>
          <a:xfrm>
            <a:off x="0" y="685800"/>
            <a:ext cx="7670800" cy="93728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4A86B71-9632-2C8D-C726-AE45651C9BA1}"/>
              </a:ext>
            </a:extLst>
          </p:cNvPr>
          <p:cNvSpPr/>
          <p:nvPr/>
        </p:nvSpPr>
        <p:spPr>
          <a:xfrm>
            <a:off x="0" y="5946115"/>
            <a:ext cx="7670800" cy="91188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D5B36E5-9FF0-5AB5-9B11-6EEA852A019E}"/>
              </a:ext>
            </a:extLst>
          </p:cNvPr>
          <p:cNvSpPr/>
          <p:nvPr/>
        </p:nvSpPr>
        <p:spPr>
          <a:xfrm>
            <a:off x="0" y="1623085"/>
            <a:ext cx="262509" cy="432303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55F7134-C633-BE0F-98EF-56B95427AF8B}"/>
              </a:ext>
            </a:extLst>
          </p:cNvPr>
          <p:cNvSpPr/>
          <p:nvPr/>
        </p:nvSpPr>
        <p:spPr>
          <a:xfrm>
            <a:off x="7433691" y="1623085"/>
            <a:ext cx="237109" cy="432303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EFE10F33-C963-1553-05F6-0334FEB07683}"/>
              </a:ext>
            </a:extLst>
          </p:cNvPr>
          <p:cNvSpPr/>
          <p:nvPr/>
        </p:nvSpPr>
        <p:spPr>
          <a:xfrm>
            <a:off x="287909" y="1648485"/>
            <a:ext cx="7120381" cy="42722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E8BC357B-DE73-74D8-FD27-B64E22086D0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9">
            <a:extLst>
              <a:ext uri="{FF2B5EF4-FFF2-40B4-BE49-F238E27FC236}">
                <a16:creationId xmlns:a16="http://schemas.microsoft.com/office/drawing/2014/main" id="{FC239ED1-E6C3-4240-EF78-24353313086A}"/>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How to read a follow-up figure. a: the pair, on the same ring (an arrow when a direction was measured).</a:t>
            </a:r>
          </a:p>
        </p:txBody>
      </p:sp>
      <p:sp>
        <p:nvSpPr>
          <p:cNvPr id="12" name="!!N40">
            <a:extLst>
              <a:ext uri="{FF2B5EF4-FFF2-40B4-BE49-F238E27FC236}">
                <a16:creationId xmlns:a16="http://schemas.microsoft.com/office/drawing/2014/main" id="{51541F00-6EDC-17E5-AC70-9485CB3F2EBF}"/>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 each rat’s baseline and cue, Precon1 in grey and Precon4 in black.</a:t>
            </a:r>
          </a:p>
        </p:txBody>
      </p:sp>
      <p:sp>
        <p:nvSpPr>
          <p:cNvPr id="13" name="!!N41">
            <a:extLst>
              <a:ext uri="{FF2B5EF4-FFF2-40B4-BE49-F238E27FC236}">
                <a16:creationId xmlns:a16="http://schemas.microsoft.com/office/drawing/2014/main" id="{7370A0B9-60C4-20CC-661B-B08C8B10B3E4}"/>
              </a:ext>
            </a:extLst>
          </p:cNvPr>
          <p:cNvSpPr/>
          <p:nvPr/>
        </p:nvSpPr>
        <p:spPr>
          <a:xfrm>
            <a:off x="12573000" y="22799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 each rat’s change, Precon4 − Precon1, with the mean and its 95% range. The t-test asks if the mean is away from 0.</a:t>
            </a:r>
          </a:p>
        </p:txBody>
      </p:sp>
      <p:sp>
        <p:nvSpPr>
          <p:cNvPr id="14" name="!!T-BG">
            <a:extLst>
              <a:ext uri="{FF2B5EF4-FFF2-40B4-BE49-F238E27FC236}">
                <a16:creationId xmlns:a16="http://schemas.microsoft.com/office/drawing/2014/main" id="{1497E6AC-76AC-C985-B80C-7F1D93F38E7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3B5B5704-656C-6228-EDF7-DB58B1D399DB}"/>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1.1 · R ACC – R RSC · Not just a shared signal</a:t>
            </a:r>
          </a:p>
        </p:txBody>
      </p:sp>
    </p:spTree>
    <p:extLst>
      <p:ext uri="{BB962C8B-B14F-4D97-AF65-F5344CB8AC3E}">
        <p14:creationId xmlns:p14="http://schemas.microsoft.com/office/powerpoint/2010/main" val="37071999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FB4D99C-31B8-27EE-2B50-391490D484F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1">
            <a:extLst>
              <a:ext uri="{FF2B5EF4-FFF2-40B4-BE49-F238E27FC236}">
                <a16:creationId xmlns:a16="http://schemas.microsoft.com/office/drawing/2014/main" id="{927A49A6-DB00-793A-CEB4-4B8CC53A6A7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DCE01112-DA13-1080-57D2-586BDD9FE26F}"/>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46B3A37-2573-0F08-99D0-F462BA1150E2}"/>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A540AE3-6F76-E9CE-3E12-E39B9C5B4A52}"/>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7ABB7BE-49CD-E53A-00B3-6F11CD946106}"/>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D21BD37-B223-DEFB-398B-B85C0676CC94}"/>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98433A0-EB81-B493-F0B6-4CDAF84F4C53}"/>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9">
            <a:extLst>
              <a:ext uri="{FF2B5EF4-FFF2-40B4-BE49-F238E27FC236}">
                <a16:creationId xmlns:a16="http://schemas.microsoft.com/office/drawing/2014/main" id="{4F785E72-470F-C939-5AF6-332377FCFD38}"/>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How to read a follow-up figure. a: the pair, on the same ring (an arrow when a direction was measured).</a:t>
            </a:r>
          </a:p>
        </p:txBody>
      </p:sp>
      <p:sp>
        <p:nvSpPr>
          <p:cNvPr id="12" name="!!N40">
            <a:extLst>
              <a:ext uri="{FF2B5EF4-FFF2-40B4-BE49-F238E27FC236}">
                <a16:creationId xmlns:a16="http://schemas.microsoft.com/office/drawing/2014/main" id="{AB2E68FD-2011-D566-6709-3EB82B76A336}"/>
              </a:ext>
            </a:extLst>
          </p:cNvPr>
          <p:cNvSpPr/>
          <p:nvPr/>
        </p:nvSpPr>
        <p:spPr>
          <a:xfrm>
            <a:off x="77978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b: each rat’s baseline and cue, Precon1 in grey and Precon4 in black.</a:t>
            </a:r>
          </a:p>
        </p:txBody>
      </p:sp>
      <p:sp>
        <p:nvSpPr>
          <p:cNvPr id="13" name="!!N41">
            <a:extLst>
              <a:ext uri="{FF2B5EF4-FFF2-40B4-BE49-F238E27FC236}">
                <a16:creationId xmlns:a16="http://schemas.microsoft.com/office/drawing/2014/main" id="{C6976FB5-CC0A-DC23-63E3-F840EF35C01E}"/>
              </a:ext>
            </a:extLst>
          </p:cNvPr>
          <p:cNvSpPr/>
          <p:nvPr/>
        </p:nvSpPr>
        <p:spPr>
          <a:xfrm>
            <a:off x="7797800" y="22799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 each rat’s change, Precon4 − Precon1, with the mean and its 95% range. The t-test asks if the mean is away from 0.</a:t>
            </a:r>
          </a:p>
        </p:txBody>
      </p:sp>
      <p:sp>
        <p:nvSpPr>
          <p:cNvPr id="14" name="!!N42">
            <a:extLst>
              <a:ext uri="{FF2B5EF4-FFF2-40B4-BE49-F238E27FC236}">
                <a16:creationId xmlns:a16="http://schemas.microsoft.com/office/drawing/2014/main" id="{AA02D1F9-E333-02A7-6CFE-A839291FF57A}"/>
              </a:ext>
            </a:extLst>
          </p:cNvPr>
          <p:cNvSpPr/>
          <p:nvPr/>
        </p:nvSpPr>
        <p:spPr>
          <a:xfrm>
            <a:off x="12573000" y="3189732"/>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d: the same change against two second opinions: 10,000 within-session shuffles (grey) and 10,000 sets of fake trials from FP (blue).</a:t>
            </a:r>
          </a:p>
        </p:txBody>
      </p:sp>
      <p:sp>
        <p:nvSpPr>
          <p:cNvPr id="15" name="!!T-BG">
            <a:extLst>
              <a:ext uri="{FF2B5EF4-FFF2-40B4-BE49-F238E27FC236}">
                <a16:creationId xmlns:a16="http://schemas.microsoft.com/office/drawing/2014/main" id="{E520709E-CF48-5B89-3880-F496C8A10CE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E8D2F57-E091-4177-7A6E-07C002BA545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1.1 · R ACC – R RSC · Not just a shared signal</a:t>
            </a:r>
          </a:p>
        </p:txBody>
      </p:sp>
    </p:spTree>
    <p:extLst>
      <p:ext uri="{BB962C8B-B14F-4D97-AF65-F5344CB8AC3E}">
        <p14:creationId xmlns:p14="http://schemas.microsoft.com/office/powerpoint/2010/main" val="39909471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51AA5F2-2D1C-7263-206B-2807DBACEE3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1">
            <a:extLst>
              <a:ext uri="{FF2B5EF4-FFF2-40B4-BE49-F238E27FC236}">
                <a16:creationId xmlns:a16="http://schemas.microsoft.com/office/drawing/2014/main" id="{B09BA245-2BF0-75B8-1549-54FFACFEF08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D758AE48-C7A0-8B30-8825-673B4345D414}"/>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96875F2-FD68-C7DD-DA40-9A73E45A4058}"/>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E8C9816-EA74-43D1-4082-F0705D1AE719}"/>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959E758-3C88-25E5-2B19-06134681A99F}"/>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5BF96D3-2E2C-DFC7-8F14-B5F76FC5897B}"/>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EE9B4907-0927-9D25-79B1-763EAD201B0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9">
            <a:extLst>
              <a:ext uri="{FF2B5EF4-FFF2-40B4-BE49-F238E27FC236}">
                <a16:creationId xmlns:a16="http://schemas.microsoft.com/office/drawing/2014/main" id="{4A4AF49A-8C56-1618-8A22-D71DED6C8382}"/>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How to read a follow-up figure. a: the pair, on the same ring (an arrow when a direction was measured).</a:t>
            </a:r>
          </a:p>
        </p:txBody>
      </p:sp>
      <p:sp>
        <p:nvSpPr>
          <p:cNvPr id="12" name="!!N40">
            <a:extLst>
              <a:ext uri="{FF2B5EF4-FFF2-40B4-BE49-F238E27FC236}">
                <a16:creationId xmlns:a16="http://schemas.microsoft.com/office/drawing/2014/main" id="{1E40E079-4E3F-DB2B-A343-E1D05B5AEC97}"/>
              </a:ext>
            </a:extLst>
          </p:cNvPr>
          <p:cNvSpPr/>
          <p:nvPr/>
        </p:nvSpPr>
        <p:spPr>
          <a:xfrm>
            <a:off x="77978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b: each rat’s baseline and cue, Precon1 in grey and Precon4 in black.</a:t>
            </a:r>
          </a:p>
        </p:txBody>
      </p:sp>
      <p:sp>
        <p:nvSpPr>
          <p:cNvPr id="13" name="!!N41">
            <a:extLst>
              <a:ext uri="{FF2B5EF4-FFF2-40B4-BE49-F238E27FC236}">
                <a16:creationId xmlns:a16="http://schemas.microsoft.com/office/drawing/2014/main" id="{E322385F-1769-181C-5C05-6ED193D6BB9C}"/>
              </a:ext>
            </a:extLst>
          </p:cNvPr>
          <p:cNvSpPr/>
          <p:nvPr/>
        </p:nvSpPr>
        <p:spPr>
          <a:xfrm>
            <a:off x="7797800" y="22799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 each rat’s change, Precon4 − Precon1, with the mean and its 95% range. The t-test asks if the mean is away from 0.</a:t>
            </a:r>
          </a:p>
        </p:txBody>
      </p:sp>
      <p:sp>
        <p:nvSpPr>
          <p:cNvPr id="14" name="!!N42">
            <a:extLst>
              <a:ext uri="{FF2B5EF4-FFF2-40B4-BE49-F238E27FC236}">
                <a16:creationId xmlns:a16="http://schemas.microsoft.com/office/drawing/2014/main" id="{D83E7D2E-541F-1C58-F785-6DD1F3C02C78}"/>
              </a:ext>
            </a:extLst>
          </p:cNvPr>
          <p:cNvSpPr/>
          <p:nvPr/>
        </p:nvSpPr>
        <p:spPr>
          <a:xfrm>
            <a:off x="7797800" y="3189732"/>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d: the same change against two second opinions: 10,000 within-session shuffles (grey) and 10,000 sets of fake trials from FP (blue).</a:t>
            </a:r>
          </a:p>
        </p:txBody>
      </p:sp>
      <p:sp>
        <p:nvSpPr>
          <p:cNvPr id="15" name="!!N43">
            <a:extLst>
              <a:ext uri="{FF2B5EF4-FFF2-40B4-BE49-F238E27FC236}">
                <a16:creationId xmlns:a16="http://schemas.microsoft.com/office/drawing/2014/main" id="{846F7130-5142-272F-6896-C09521202CD6}"/>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Tab 8 ran 190 of these t-tests (19 pairs × 10 measures); 21 passed, where about 10 would by chance. Those 21 are the measures in these 20 figures.</a:t>
            </a:r>
          </a:p>
        </p:txBody>
      </p:sp>
      <p:sp>
        <p:nvSpPr>
          <p:cNvPr id="16" name="!!T-BG">
            <a:extLst>
              <a:ext uri="{FF2B5EF4-FFF2-40B4-BE49-F238E27FC236}">
                <a16:creationId xmlns:a16="http://schemas.microsoft.com/office/drawing/2014/main" id="{0D2DBEC8-0528-A3FE-BF1E-39F7AA61ADC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273B67E6-3C56-491A-322B-076AA7BCE35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1.1 · R ACC – R RSC · Not just a shared signal</a:t>
            </a:r>
          </a:p>
        </p:txBody>
      </p:sp>
    </p:spTree>
    <p:extLst>
      <p:ext uri="{BB962C8B-B14F-4D97-AF65-F5344CB8AC3E}">
        <p14:creationId xmlns:p14="http://schemas.microsoft.com/office/powerpoint/2010/main" val="5926953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A435A54-0DA2-CBD5-61A7-50F60D61B8B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1">
            <a:extLst>
              <a:ext uri="{FF2B5EF4-FFF2-40B4-BE49-F238E27FC236}">
                <a16:creationId xmlns:a16="http://schemas.microsoft.com/office/drawing/2014/main" id="{296AB0DE-DD9D-1851-A1DB-25E782B8924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2200D1F4-89E4-F25C-E92A-8F1CC536FCCC}"/>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6F09606-5606-871F-F39F-810AC3FB7E8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07C8604-AC31-E8FF-F48A-AD1B1B50B61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45E309D-C02E-E0C3-FB1B-8C89BFAB607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50B471E3-1695-0750-853E-D63B0BA4926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43">
            <a:extLst>
              <a:ext uri="{FF2B5EF4-FFF2-40B4-BE49-F238E27FC236}">
                <a16:creationId xmlns:a16="http://schemas.microsoft.com/office/drawing/2014/main" id="{BFD04111-6D67-164C-4FB2-8079962286A4}"/>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Tab 8 ran 190 of these t-tests (19 pairs × 10 measures); 21 passed, where about 10 would by chance. Those 21 are the measures in these 20 figures.</a:t>
            </a:r>
          </a:p>
        </p:txBody>
      </p:sp>
      <p:sp>
        <p:nvSpPr>
          <p:cNvPr id="11" name="!!N44">
            <a:extLst>
              <a:ext uri="{FF2B5EF4-FFF2-40B4-BE49-F238E27FC236}">
                <a16:creationId xmlns:a16="http://schemas.microsoft.com/office/drawing/2014/main" id="{87FDBEE7-5554-D554-7551-B7C197112716}"/>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R RSC (imaginary coherence): cue − baseline was higher on Precon4 than on Precon1.</a:t>
            </a:r>
          </a:p>
        </p:txBody>
      </p:sp>
      <p:sp>
        <p:nvSpPr>
          <p:cNvPr id="12" name="!!N39">
            <a:extLst>
              <a:ext uri="{FF2B5EF4-FFF2-40B4-BE49-F238E27FC236}">
                <a16:creationId xmlns:a16="http://schemas.microsoft.com/office/drawing/2014/main" id="{EFEBD23A-645B-D4E8-9D6B-3853F49A1700}"/>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How to read a follow-up figure. a: the pair, on the same ring (an arrow when a direction was measured).</a:t>
            </a:r>
          </a:p>
        </p:txBody>
      </p:sp>
      <p:sp>
        <p:nvSpPr>
          <p:cNvPr id="13" name="!!N40">
            <a:extLst>
              <a:ext uri="{FF2B5EF4-FFF2-40B4-BE49-F238E27FC236}">
                <a16:creationId xmlns:a16="http://schemas.microsoft.com/office/drawing/2014/main" id="{0CE939A8-BDFC-CBF7-D282-BB184AA20627}"/>
              </a:ext>
            </a:extLst>
          </p:cNvPr>
          <p:cNvSpPr/>
          <p:nvPr/>
        </p:nvSpPr>
        <p:spPr>
          <a:xfrm>
            <a:off x="125730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b: each rat’s baseline and cue, Precon1 in grey and Precon4 in black.</a:t>
            </a:r>
          </a:p>
        </p:txBody>
      </p:sp>
      <p:sp>
        <p:nvSpPr>
          <p:cNvPr id="14" name="!!N41">
            <a:extLst>
              <a:ext uri="{FF2B5EF4-FFF2-40B4-BE49-F238E27FC236}">
                <a16:creationId xmlns:a16="http://schemas.microsoft.com/office/drawing/2014/main" id="{B0FC39DB-0C01-7673-C20C-B0DAF7699EB9}"/>
              </a:ext>
            </a:extLst>
          </p:cNvPr>
          <p:cNvSpPr/>
          <p:nvPr/>
        </p:nvSpPr>
        <p:spPr>
          <a:xfrm>
            <a:off x="12573000" y="22799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 each rat’s change, Precon4 − Precon1, with the mean and its 95% range. The t-test asks if the mean is away from 0.</a:t>
            </a:r>
          </a:p>
        </p:txBody>
      </p:sp>
      <p:sp>
        <p:nvSpPr>
          <p:cNvPr id="15" name="!!N42">
            <a:extLst>
              <a:ext uri="{FF2B5EF4-FFF2-40B4-BE49-F238E27FC236}">
                <a16:creationId xmlns:a16="http://schemas.microsoft.com/office/drawing/2014/main" id="{17CEA868-03E5-93C4-9C54-2884FA0D0A27}"/>
              </a:ext>
            </a:extLst>
          </p:cNvPr>
          <p:cNvSpPr/>
          <p:nvPr/>
        </p:nvSpPr>
        <p:spPr>
          <a:xfrm>
            <a:off x="12573000" y="3189732"/>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d: the same change against two second opinions: 10,000 within-session shuffles (grey) and 10,000 sets of fake trials from FP (blue).</a:t>
            </a:r>
          </a:p>
        </p:txBody>
      </p:sp>
      <p:sp>
        <p:nvSpPr>
          <p:cNvPr id="16" name="!!T-BG">
            <a:extLst>
              <a:ext uri="{FF2B5EF4-FFF2-40B4-BE49-F238E27FC236}">
                <a16:creationId xmlns:a16="http://schemas.microsoft.com/office/drawing/2014/main" id="{48C8F71A-B615-AA7D-9E3F-6F40076181F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5902BD1C-5113-C359-435D-1392FEABDB6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1.1 · R ACC – R RSC · Not just a shared signal</a:t>
            </a:r>
          </a:p>
        </p:txBody>
      </p:sp>
    </p:spTree>
    <p:extLst>
      <p:ext uri="{BB962C8B-B14F-4D97-AF65-F5344CB8AC3E}">
        <p14:creationId xmlns:p14="http://schemas.microsoft.com/office/powerpoint/2010/main" val="3515141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09E24A3-0FEB-C8A5-0825-4E9B4598C34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1">
            <a:extLst>
              <a:ext uri="{FF2B5EF4-FFF2-40B4-BE49-F238E27FC236}">
                <a16:creationId xmlns:a16="http://schemas.microsoft.com/office/drawing/2014/main" id="{60B917D9-4E6C-2E19-D119-3BBD260F87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CB4CFB3A-642F-453D-FB41-E1905CCEF9EF}"/>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3D4B95A-AB40-9E6D-7CCA-DE89A99E722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284C7250-B6C0-D815-4DFD-473DB6B7D2A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F368DD7-A351-A52C-E0C2-83E955457A0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140D088-B505-8960-82E0-56B3F8CA4E9F}"/>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5E121BD-D0F0-224E-AC22-1740C10E08A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4">
            <a:extLst>
              <a:ext uri="{FF2B5EF4-FFF2-40B4-BE49-F238E27FC236}">
                <a16:creationId xmlns:a16="http://schemas.microsoft.com/office/drawing/2014/main" id="{FE7D9422-4003-7623-952D-02668FFE5DE3}"/>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R RSC (imaginary coherence): cue − baseline was higher on Precon4 than on Precon1.</a:t>
            </a:r>
          </a:p>
        </p:txBody>
      </p:sp>
      <p:sp>
        <p:nvSpPr>
          <p:cNvPr id="12" name="!!N45">
            <a:extLst>
              <a:ext uri="{FF2B5EF4-FFF2-40B4-BE49-F238E27FC236}">
                <a16:creationId xmlns:a16="http://schemas.microsoft.com/office/drawing/2014/main" id="{0572DA64-FEE6-E880-D82F-FC6BC6976BA2}"/>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0.017 (6 rats). Shuffles P = 0.091. FP P = 0.080. Neither second opinion agrees: a weaker lead.</a:t>
            </a:r>
          </a:p>
        </p:txBody>
      </p:sp>
      <p:sp>
        <p:nvSpPr>
          <p:cNvPr id="13" name="!!N43">
            <a:extLst>
              <a:ext uri="{FF2B5EF4-FFF2-40B4-BE49-F238E27FC236}">
                <a16:creationId xmlns:a16="http://schemas.microsoft.com/office/drawing/2014/main" id="{9816E293-8AC6-6E7B-7CC2-46082CFECA0F}"/>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Tab 8 ran 190 of these t-tests (19 pairs × 10 measures); 21 passed, where about 10 would by chance. Those 21 are the measures in these 20 figures.</a:t>
            </a:r>
          </a:p>
        </p:txBody>
      </p:sp>
      <p:sp>
        <p:nvSpPr>
          <p:cNvPr id="14" name="!!T-BG">
            <a:extLst>
              <a:ext uri="{FF2B5EF4-FFF2-40B4-BE49-F238E27FC236}">
                <a16:creationId xmlns:a16="http://schemas.microsoft.com/office/drawing/2014/main" id="{D54026E9-CF56-35FF-4051-3958DD5FC06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1DE5BBBF-7D5C-2C4D-2A0D-9759DA2DC83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1.1 · R ACC – R RSC · Not just a shared signal</a:t>
            </a:r>
          </a:p>
        </p:txBody>
      </p:sp>
    </p:spTree>
    <p:extLst>
      <p:ext uri="{BB962C8B-B14F-4D97-AF65-F5344CB8AC3E}">
        <p14:creationId xmlns:p14="http://schemas.microsoft.com/office/powerpoint/2010/main" val="17969748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743CD4D-5800-3DA8-4134-0FD57CAF7D5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1">
            <a:extLst>
              <a:ext uri="{FF2B5EF4-FFF2-40B4-BE49-F238E27FC236}">
                <a16:creationId xmlns:a16="http://schemas.microsoft.com/office/drawing/2014/main" id="{29229630-C74F-B834-216E-6B683EE25A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073F896F-1A1D-F190-CAB8-CA1AAF4579B4}"/>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7F2594F-2D5A-0201-478B-3F44F1D4D374}"/>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D0CB6A2-3D4D-D50E-EED2-91165BE8E6DC}"/>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AAADA02-C985-71C7-321F-CDED55E78232}"/>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D72F8D39-D679-CE75-6AD4-B77DC578A9A1}"/>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85772D44-960F-AEBB-F4E3-9D9B1B981922}"/>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271E732A-B283-5674-5756-4F975A9F6C1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44">
            <a:extLst>
              <a:ext uri="{FF2B5EF4-FFF2-40B4-BE49-F238E27FC236}">
                <a16:creationId xmlns:a16="http://schemas.microsoft.com/office/drawing/2014/main" id="{B47FA5A3-71C9-2C91-3C38-9F5782D6C773}"/>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R RSC (imaginary coherence): cue − baseline was higher on Precon4 than on Precon1.</a:t>
            </a:r>
          </a:p>
        </p:txBody>
      </p:sp>
      <p:sp>
        <p:nvSpPr>
          <p:cNvPr id="13" name="!!N45">
            <a:extLst>
              <a:ext uri="{FF2B5EF4-FFF2-40B4-BE49-F238E27FC236}">
                <a16:creationId xmlns:a16="http://schemas.microsoft.com/office/drawing/2014/main" id="{EFA072D7-DD38-8999-F8F5-5E2052E5991D}"/>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0.017 (6 rats). Shuffles P = 0.091. FP P = 0.080. Neither second opinion agrees: a weaker lead.</a:t>
            </a:r>
          </a:p>
        </p:txBody>
      </p:sp>
      <p:sp>
        <p:nvSpPr>
          <p:cNvPr id="14" name="!!N46">
            <a:extLst>
              <a:ext uri="{FF2B5EF4-FFF2-40B4-BE49-F238E27FC236}">
                <a16:creationId xmlns:a16="http://schemas.microsoft.com/office/drawing/2014/main" id="{90A72314-40E8-5D78-7174-8AFE5DA6F72D}"/>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RSC predicting R ACC (Granger R RSC → R ACC): cue − baseline was higher on Precon4 than on Precon1.</a:t>
            </a:r>
          </a:p>
        </p:txBody>
      </p:sp>
      <p:sp>
        <p:nvSpPr>
          <p:cNvPr id="15" name="!!T-BG">
            <a:extLst>
              <a:ext uri="{FF2B5EF4-FFF2-40B4-BE49-F238E27FC236}">
                <a16:creationId xmlns:a16="http://schemas.microsoft.com/office/drawing/2014/main" id="{CF35F092-447E-4BA1-3C02-5DDAEE20F07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0083A104-2F90-7AB2-842A-FC24A50BA1E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1.1 · R ACC – R RSC · Not just a shared signal</a:t>
            </a:r>
          </a:p>
        </p:txBody>
      </p:sp>
    </p:spTree>
    <p:extLst>
      <p:ext uri="{BB962C8B-B14F-4D97-AF65-F5344CB8AC3E}">
        <p14:creationId xmlns:p14="http://schemas.microsoft.com/office/powerpoint/2010/main" val="13311979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9BE128E-50BB-C59A-0AD0-816AA078ED4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2">
            <a:extLst>
              <a:ext uri="{FF2B5EF4-FFF2-40B4-BE49-F238E27FC236}">
                <a16:creationId xmlns:a16="http://schemas.microsoft.com/office/drawing/2014/main" id="{EB89C2E2-F4FA-38B1-7069-2F3DCF321B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14B6BDD7-08B2-ADB8-1EB7-5EBA459289E9}"/>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9C1AC74-115A-F7D8-147D-B596481BCD9E}"/>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9D33713-153B-6521-F5D5-AB9C652264A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E7785D1-A3A2-3BF6-B59C-947DB5CF4EBA}"/>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581AF46-EC98-923E-5FDF-8E471B2F7EA7}"/>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6FD9D32E-5B7C-1E01-77A6-BD8C4640282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6">
            <a:extLst>
              <a:ext uri="{FF2B5EF4-FFF2-40B4-BE49-F238E27FC236}">
                <a16:creationId xmlns:a16="http://schemas.microsoft.com/office/drawing/2014/main" id="{D27DFE5A-091F-23B3-01F0-7232E2B54CA4}"/>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RSC predicting R ACC (Granger R RSC → R ACC): cue − baseline was higher on Precon4 than on Precon1.</a:t>
            </a:r>
          </a:p>
        </p:txBody>
      </p:sp>
      <p:sp>
        <p:nvSpPr>
          <p:cNvPr id="12" name="!!N47">
            <a:extLst>
              <a:ext uri="{FF2B5EF4-FFF2-40B4-BE49-F238E27FC236}">
                <a16:creationId xmlns:a16="http://schemas.microsoft.com/office/drawing/2014/main" id="{4634D278-B42C-87D9-7188-807B2B34FDE2}"/>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0.044 (6 rats). Shuffles P = 0.002. FP P &lt; 0.001. Both second opinions agree: a stronger lead.</a:t>
            </a:r>
          </a:p>
        </p:txBody>
      </p:sp>
      <p:sp>
        <p:nvSpPr>
          <p:cNvPr id="13" name="!!N44">
            <a:extLst>
              <a:ext uri="{FF2B5EF4-FFF2-40B4-BE49-F238E27FC236}">
                <a16:creationId xmlns:a16="http://schemas.microsoft.com/office/drawing/2014/main" id="{C8788881-C3C8-DC8C-D7E5-2D9AD45930EA}"/>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R RSC (imaginary coherence): cue − baseline was higher on Precon4 than on Precon1.</a:t>
            </a:r>
          </a:p>
        </p:txBody>
      </p:sp>
      <p:sp>
        <p:nvSpPr>
          <p:cNvPr id="14" name="!!N45">
            <a:extLst>
              <a:ext uri="{FF2B5EF4-FFF2-40B4-BE49-F238E27FC236}">
                <a16:creationId xmlns:a16="http://schemas.microsoft.com/office/drawing/2014/main" id="{508EC71B-DA56-1AAE-86EF-44E41C86AFAE}"/>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0.017 (6 rats). Shuffles P = 0.091. FP P = 0.080. Neither second opinion agrees: a weaker lead.</a:t>
            </a:r>
          </a:p>
        </p:txBody>
      </p:sp>
      <p:sp>
        <p:nvSpPr>
          <p:cNvPr id="15" name="!!T-BG">
            <a:extLst>
              <a:ext uri="{FF2B5EF4-FFF2-40B4-BE49-F238E27FC236}">
                <a16:creationId xmlns:a16="http://schemas.microsoft.com/office/drawing/2014/main" id="{93EBD720-9560-E2C7-F4D3-B44CD7A641D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17BA95E-D604-E76D-FB27-F2079AA4BDB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1.2 · R ACC – R RSC · Which leads</a:t>
            </a:r>
          </a:p>
        </p:txBody>
      </p:sp>
    </p:spTree>
    <p:extLst>
      <p:ext uri="{BB962C8B-B14F-4D97-AF65-F5344CB8AC3E}">
        <p14:creationId xmlns:p14="http://schemas.microsoft.com/office/powerpoint/2010/main" val="23696838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6FF6B9F-FCB9-9A89-06B5-F6888863D88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2">
            <a:extLst>
              <a:ext uri="{FF2B5EF4-FFF2-40B4-BE49-F238E27FC236}">
                <a16:creationId xmlns:a16="http://schemas.microsoft.com/office/drawing/2014/main" id="{D6272405-6992-EAF4-38E8-9923526D31A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C4BE3FF4-5A6D-BA39-3770-BF6158C10FE6}"/>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9F76C26-68B3-B9F8-A452-B94EA004DD6E}"/>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31D4AE0-5BD5-E732-2B47-691E95442C0D}"/>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B267677-EF22-FCBD-1A7B-ED63187FE025}"/>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C2ACF7F4-B057-5EEB-783A-136512571264}"/>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E72F9035-3AE6-2DEE-FAA9-A161105E6DFB}"/>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CB87D26D-616A-C189-C838-9CCCE4C1D04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46">
            <a:extLst>
              <a:ext uri="{FF2B5EF4-FFF2-40B4-BE49-F238E27FC236}">
                <a16:creationId xmlns:a16="http://schemas.microsoft.com/office/drawing/2014/main" id="{481B5021-671E-16C8-4B57-F284600478C4}"/>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RSC predicting R ACC (Granger R RSC → R ACC): cue − baseline was higher on Precon4 than on Precon1.</a:t>
            </a:r>
          </a:p>
        </p:txBody>
      </p:sp>
      <p:sp>
        <p:nvSpPr>
          <p:cNvPr id="13" name="!!N47">
            <a:extLst>
              <a:ext uri="{FF2B5EF4-FFF2-40B4-BE49-F238E27FC236}">
                <a16:creationId xmlns:a16="http://schemas.microsoft.com/office/drawing/2014/main" id="{0239FB9E-F86D-B3E3-39AE-75D62520E78B}"/>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0.044 (6 rats). Shuffles P = 0.002. FP P &lt; 0.001. Both second opinions agree: a stronger lead.</a:t>
            </a:r>
          </a:p>
        </p:txBody>
      </p:sp>
      <p:sp>
        <p:nvSpPr>
          <p:cNvPr id="14" name="!!N48">
            <a:extLst>
              <a:ext uri="{FF2B5EF4-FFF2-40B4-BE49-F238E27FC236}">
                <a16:creationId xmlns:a16="http://schemas.microsoft.com/office/drawing/2014/main" id="{CD2EBD55-C109-60ED-B7B3-0A94E197B8D9}"/>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RSC pacing gamma in R ACC (PAC): cue − baseline was lower on Precon4 than on Precon1.</a:t>
            </a:r>
          </a:p>
        </p:txBody>
      </p:sp>
      <p:sp>
        <p:nvSpPr>
          <p:cNvPr id="15" name="!!T-BG">
            <a:extLst>
              <a:ext uri="{FF2B5EF4-FFF2-40B4-BE49-F238E27FC236}">
                <a16:creationId xmlns:a16="http://schemas.microsoft.com/office/drawing/2014/main" id="{31A93CBA-6037-BF88-3E0F-7B350E954A0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D574C6CA-80CD-91B8-FA52-4E71411082E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1.2 · R ACC – R RSC · Which leads</a:t>
            </a:r>
          </a:p>
        </p:txBody>
      </p:sp>
    </p:spTree>
    <p:extLst>
      <p:ext uri="{BB962C8B-B14F-4D97-AF65-F5344CB8AC3E}">
        <p14:creationId xmlns:p14="http://schemas.microsoft.com/office/powerpoint/2010/main" val="10021728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44D599E-AA90-DCE5-7B79-12910BB398F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3">
            <a:extLst>
              <a:ext uri="{FF2B5EF4-FFF2-40B4-BE49-F238E27FC236}">
                <a16:creationId xmlns:a16="http://schemas.microsoft.com/office/drawing/2014/main" id="{7BB95CE5-3A10-A15F-751C-071CA15C67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01B4F177-DA3D-6CE9-7DF3-4650AAC46BA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29A8A85-2555-5E95-17F4-39CFA2EFF49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3B2E9054-CADB-F87E-1A20-1021C2930D49}"/>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6F2E167-0174-99ED-F2FC-AC78BE9D2BAA}"/>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44F19E5-BD4F-565D-6BB7-02E2AC8238BB}"/>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47CC043-383C-0B60-6746-695A428A81C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8">
            <a:extLst>
              <a:ext uri="{FF2B5EF4-FFF2-40B4-BE49-F238E27FC236}">
                <a16:creationId xmlns:a16="http://schemas.microsoft.com/office/drawing/2014/main" id="{350B143B-AB5B-44AD-96BB-736BD8EB33DB}"/>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RSC pacing gamma in R ACC (PAC): cue − baseline was lower on Precon4 than on Precon1.</a:t>
            </a:r>
          </a:p>
        </p:txBody>
      </p:sp>
      <p:sp>
        <p:nvSpPr>
          <p:cNvPr id="12" name="!!N49">
            <a:extLst>
              <a:ext uri="{FF2B5EF4-FFF2-40B4-BE49-F238E27FC236}">
                <a16:creationId xmlns:a16="http://schemas.microsoft.com/office/drawing/2014/main" id="{05E4772E-EA27-7DE1-D5C6-522DAED4C32C}"/>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0.013 (6 rats). Shuffles P = 0.025. FP P = 0.006. Both second opinions agree: a stronger lead.</a:t>
            </a:r>
          </a:p>
        </p:txBody>
      </p:sp>
      <p:sp>
        <p:nvSpPr>
          <p:cNvPr id="13" name="!!N46">
            <a:extLst>
              <a:ext uri="{FF2B5EF4-FFF2-40B4-BE49-F238E27FC236}">
                <a16:creationId xmlns:a16="http://schemas.microsoft.com/office/drawing/2014/main" id="{117ADE80-0CF0-4AE4-F11D-C6F2A45637D4}"/>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RSC predicting R ACC (Granger R RSC → R ACC): cue − baseline was higher on Precon4 than on Precon1.</a:t>
            </a:r>
          </a:p>
        </p:txBody>
      </p:sp>
      <p:sp>
        <p:nvSpPr>
          <p:cNvPr id="14" name="!!N47">
            <a:extLst>
              <a:ext uri="{FF2B5EF4-FFF2-40B4-BE49-F238E27FC236}">
                <a16:creationId xmlns:a16="http://schemas.microsoft.com/office/drawing/2014/main" id="{EF9A02CC-389A-5524-A48C-30D49698DB9A}"/>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0.044 (6 rats). Shuffles P = 0.002. FP P &lt; 0.001. Both second opinions agree: a stronger lead.</a:t>
            </a:r>
          </a:p>
        </p:txBody>
      </p:sp>
      <p:sp>
        <p:nvSpPr>
          <p:cNvPr id="15" name="!!T-BG">
            <a:extLst>
              <a:ext uri="{FF2B5EF4-FFF2-40B4-BE49-F238E27FC236}">
                <a16:creationId xmlns:a16="http://schemas.microsoft.com/office/drawing/2014/main" id="{9662F6C2-9044-4E8A-B6E0-C2D7682CAE6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FDD7172-8952-533B-E4C0-C54207B1025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1.3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4440151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8C690F9-D193-405B-37B1-7E73A9659E4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3">
            <a:extLst>
              <a:ext uri="{FF2B5EF4-FFF2-40B4-BE49-F238E27FC236}">
                <a16:creationId xmlns:a16="http://schemas.microsoft.com/office/drawing/2014/main" id="{55E63AD8-D409-B107-CD0D-68E9EE4DDF8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A694CF1E-3288-7679-F790-E895DE54AE77}"/>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DC6E5C4-FB5F-4CA4-564E-12C2DC78A764}"/>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9DB7454-C4AC-2A83-EC96-9DE514E1B52D}"/>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0E3386A-D1A4-69EC-AEDE-9B7B156270AE}"/>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DEAFEC66-C9AF-2A0C-F5E7-D994DE5DCA84}"/>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4436BC64-C291-F1C7-BF33-981226657926}"/>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B20B8296-E7E9-7D80-8C7B-A2E329A0C7C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48">
            <a:extLst>
              <a:ext uri="{FF2B5EF4-FFF2-40B4-BE49-F238E27FC236}">
                <a16:creationId xmlns:a16="http://schemas.microsoft.com/office/drawing/2014/main" id="{61B1A109-F28C-4084-6ED4-A803BD7CB3C9}"/>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RSC pacing gamma in R ACC (PAC): cue − baseline was lower on Precon4 than on Precon1.</a:t>
            </a:r>
          </a:p>
        </p:txBody>
      </p:sp>
      <p:sp>
        <p:nvSpPr>
          <p:cNvPr id="13" name="!!N49">
            <a:extLst>
              <a:ext uri="{FF2B5EF4-FFF2-40B4-BE49-F238E27FC236}">
                <a16:creationId xmlns:a16="http://schemas.microsoft.com/office/drawing/2014/main" id="{09E0B9EF-EF8A-4563-A068-C4238647FB9E}"/>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0.013 (6 rats). Shuffles P = 0.025. FP P = 0.006. Both second opinions agree: a stronger lead.</a:t>
            </a:r>
          </a:p>
        </p:txBody>
      </p:sp>
      <p:sp>
        <p:nvSpPr>
          <p:cNvPr id="14" name="!!N50">
            <a:extLst>
              <a:ext uri="{FF2B5EF4-FFF2-40B4-BE49-F238E27FC236}">
                <a16:creationId xmlns:a16="http://schemas.microsoft.com/office/drawing/2014/main" id="{46C587E4-13CC-8197-6401-F0BA38A343EC}"/>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roses: R ACC gamma around the R RSC theta cycle, averaged over rats. Orange: louder at that phase than its average over the cycle; purple: quieter.</a:t>
            </a:r>
          </a:p>
        </p:txBody>
      </p:sp>
      <p:sp>
        <p:nvSpPr>
          <p:cNvPr id="15" name="!!T-BG">
            <a:extLst>
              <a:ext uri="{FF2B5EF4-FFF2-40B4-BE49-F238E27FC236}">
                <a16:creationId xmlns:a16="http://schemas.microsoft.com/office/drawing/2014/main" id="{73960516-95A9-E420-E143-B1A0418DD84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190F6ED3-F68A-6BE6-7B18-03A5ECACB65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1.3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518244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68DE0C8-F426-B226-A6B7-449D4108184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3">
            <a:extLst>
              <a:ext uri="{FF2B5EF4-FFF2-40B4-BE49-F238E27FC236}">
                <a16:creationId xmlns:a16="http://schemas.microsoft.com/office/drawing/2014/main" id="{288762EA-F3E1-23B0-AEA2-7C2F7B4A183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14015"/>
            <a:ext cx="10099056" cy="4965409"/>
          </a:xfrm>
          <a:prstGeom prst="rect">
            <a:avLst/>
          </a:prstGeom>
          <a:ln w="9525">
            <a:solidFill>
              <a:srgbClr val="B0B0B0"/>
            </a:solidFill>
          </a:ln>
        </p:spPr>
      </p:pic>
      <p:sp>
        <p:nvSpPr>
          <p:cNvPr id="5" name="!!D1">
            <a:extLst>
              <a:ext uri="{FF2B5EF4-FFF2-40B4-BE49-F238E27FC236}">
                <a16:creationId xmlns:a16="http://schemas.microsoft.com/office/drawing/2014/main" id="{699B34F8-0FD9-319D-D310-5C997ADC8B9E}"/>
              </a:ext>
            </a:extLst>
          </p:cNvPr>
          <p:cNvSpPr/>
          <p:nvPr/>
        </p:nvSpPr>
        <p:spPr>
          <a:xfrm>
            <a:off x="0" y="685800"/>
            <a:ext cx="7670800" cy="194186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95711F3-08A5-0869-0AA0-F487BC012E63}"/>
              </a:ext>
            </a:extLst>
          </p:cNvPr>
          <p:cNvSpPr/>
          <p:nvPr/>
        </p:nvSpPr>
        <p:spPr>
          <a:xfrm>
            <a:off x="0" y="4941534"/>
            <a:ext cx="7670800" cy="191646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4F11AF6-4BD9-60AC-EE9D-53D135F1AB53}"/>
              </a:ext>
            </a:extLst>
          </p:cNvPr>
          <p:cNvSpPr/>
          <p:nvPr/>
        </p:nvSpPr>
        <p:spPr>
          <a:xfrm>
            <a:off x="0" y="2627666"/>
            <a:ext cx="262509" cy="2313867"/>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D1583BC-F7A5-6D1F-8AFE-DFAE47AFD7E8}"/>
              </a:ext>
            </a:extLst>
          </p:cNvPr>
          <p:cNvSpPr/>
          <p:nvPr/>
        </p:nvSpPr>
        <p:spPr>
          <a:xfrm>
            <a:off x="7433691" y="2627666"/>
            <a:ext cx="237109" cy="2313867"/>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663758A-EEC5-C7AB-EB20-0D0C5B4384B0}"/>
              </a:ext>
            </a:extLst>
          </p:cNvPr>
          <p:cNvSpPr/>
          <p:nvPr/>
        </p:nvSpPr>
        <p:spPr>
          <a:xfrm>
            <a:off x="287909" y="2653066"/>
            <a:ext cx="7120381" cy="226306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B569D8C-8BAE-76D1-4AFF-B1B6E6AF6170}"/>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0">
            <a:extLst>
              <a:ext uri="{FF2B5EF4-FFF2-40B4-BE49-F238E27FC236}">
                <a16:creationId xmlns:a16="http://schemas.microsoft.com/office/drawing/2014/main" id="{50FE4E11-03D4-2D96-C130-C93C5D03103F}"/>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roses: R ACC gamma around the R RSC theta cycle, averaged over rats. Orange: louder at that phase than its average over the cycle; purple: quieter.</a:t>
            </a:r>
          </a:p>
        </p:txBody>
      </p:sp>
      <p:sp>
        <p:nvSpPr>
          <p:cNvPr id="12" name="!!N51">
            <a:extLst>
              <a:ext uri="{FF2B5EF4-FFF2-40B4-BE49-F238E27FC236}">
                <a16:creationId xmlns:a16="http://schemas.microsoft.com/office/drawing/2014/main" id="{6E873EA5-22B4-8C67-1AB6-D7DA1535EB31}"/>
              </a:ext>
            </a:extLst>
          </p:cNvPr>
          <p:cNvSpPr/>
          <p:nvPr/>
        </p:nvSpPr>
        <p:spPr>
          <a:xfrm>
            <a:off x="12573000" y="1748028"/>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Precon1 on the left, Precon4 on the right; baseline, then the cue. Rats that prefer different phases cancel, so a rose shows where in the cycle, not how much: b and c are what was tested.</a:t>
            </a:r>
          </a:p>
        </p:txBody>
      </p:sp>
      <p:sp>
        <p:nvSpPr>
          <p:cNvPr id="13" name="!!N48">
            <a:extLst>
              <a:ext uri="{FF2B5EF4-FFF2-40B4-BE49-F238E27FC236}">
                <a16:creationId xmlns:a16="http://schemas.microsoft.com/office/drawing/2014/main" id="{2CDAA222-D4BC-6C59-A61D-E8DA0E5D1521}"/>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RSC pacing gamma in R ACC (PAC): cue − baseline was lower on Precon4 than on Precon1.</a:t>
            </a:r>
          </a:p>
        </p:txBody>
      </p:sp>
      <p:sp>
        <p:nvSpPr>
          <p:cNvPr id="14" name="!!N49">
            <a:extLst>
              <a:ext uri="{FF2B5EF4-FFF2-40B4-BE49-F238E27FC236}">
                <a16:creationId xmlns:a16="http://schemas.microsoft.com/office/drawing/2014/main" id="{40C6F302-A313-A693-1E11-DBCACCB3395F}"/>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0.013 (6 rats). Shuffles P = 0.025. FP P = 0.006. Both second opinions agree: a stronger lead.</a:t>
            </a:r>
          </a:p>
        </p:txBody>
      </p:sp>
      <p:sp>
        <p:nvSpPr>
          <p:cNvPr id="15" name="!!T-BG">
            <a:extLst>
              <a:ext uri="{FF2B5EF4-FFF2-40B4-BE49-F238E27FC236}">
                <a16:creationId xmlns:a16="http://schemas.microsoft.com/office/drawing/2014/main" id="{69762CF6-CFE1-B3F5-4AA5-E9DAB30B6C2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2040BDD1-ABF6-F844-6226-9E54A02E266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1.3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4967295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318B99B-1ACC-15C6-E86B-EBCFDDB2A79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3">
            <a:extLst>
              <a:ext uri="{FF2B5EF4-FFF2-40B4-BE49-F238E27FC236}">
                <a16:creationId xmlns:a16="http://schemas.microsoft.com/office/drawing/2014/main" id="{D1555FF0-05F8-E1AD-19DD-9A8F61CC226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4015"/>
            <a:ext cx="10099056" cy="4965409"/>
          </a:xfrm>
          <a:prstGeom prst="rect">
            <a:avLst/>
          </a:prstGeom>
          <a:ln w="9525">
            <a:solidFill>
              <a:srgbClr val="B0B0B0"/>
            </a:solidFill>
          </a:ln>
        </p:spPr>
      </p:pic>
      <p:sp>
        <p:nvSpPr>
          <p:cNvPr id="5" name="!!D1">
            <a:extLst>
              <a:ext uri="{FF2B5EF4-FFF2-40B4-BE49-F238E27FC236}">
                <a16:creationId xmlns:a16="http://schemas.microsoft.com/office/drawing/2014/main" id="{1E270070-D7B8-50A9-1688-854F7E4FED05}"/>
              </a:ext>
            </a:extLst>
          </p:cNvPr>
          <p:cNvSpPr/>
          <p:nvPr/>
        </p:nvSpPr>
        <p:spPr>
          <a:xfrm>
            <a:off x="0" y="685800"/>
            <a:ext cx="7670800" cy="194186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A83C7A4-C8E3-C983-7226-52F29294334D}"/>
              </a:ext>
            </a:extLst>
          </p:cNvPr>
          <p:cNvSpPr/>
          <p:nvPr/>
        </p:nvSpPr>
        <p:spPr>
          <a:xfrm>
            <a:off x="0" y="4941534"/>
            <a:ext cx="7670800" cy="191646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F93F192-978F-61C7-1DB8-04227A10592A}"/>
              </a:ext>
            </a:extLst>
          </p:cNvPr>
          <p:cNvSpPr/>
          <p:nvPr/>
        </p:nvSpPr>
        <p:spPr>
          <a:xfrm>
            <a:off x="0" y="2627666"/>
            <a:ext cx="262509" cy="2313867"/>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BCE8BD8-37F7-3E7E-034F-60C298570B9E}"/>
              </a:ext>
            </a:extLst>
          </p:cNvPr>
          <p:cNvSpPr/>
          <p:nvPr/>
        </p:nvSpPr>
        <p:spPr>
          <a:xfrm>
            <a:off x="7433691" y="2627666"/>
            <a:ext cx="237109" cy="2313867"/>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AB0C93F-99A7-20FB-8498-806226390EF3}"/>
              </a:ext>
            </a:extLst>
          </p:cNvPr>
          <p:cNvSpPr/>
          <p:nvPr/>
        </p:nvSpPr>
        <p:spPr>
          <a:xfrm>
            <a:off x="287909" y="2653066"/>
            <a:ext cx="7120381" cy="226306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4AED3EA-AF61-28B0-14E8-0B714A1CF08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0">
            <a:extLst>
              <a:ext uri="{FF2B5EF4-FFF2-40B4-BE49-F238E27FC236}">
                <a16:creationId xmlns:a16="http://schemas.microsoft.com/office/drawing/2014/main" id="{DCCC2872-AC04-6078-FDAB-480E456578A2}"/>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roses: R ACC gamma around the R RSC theta cycle, averaged over rats. Orange: louder at that phase than its average over the cycle; purple: quieter.</a:t>
            </a:r>
          </a:p>
        </p:txBody>
      </p:sp>
      <p:sp>
        <p:nvSpPr>
          <p:cNvPr id="12" name="!!N51">
            <a:extLst>
              <a:ext uri="{FF2B5EF4-FFF2-40B4-BE49-F238E27FC236}">
                <a16:creationId xmlns:a16="http://schemas.microsoft.com/office/drawing/2014/main" id="{01D83A00-01EE-BE1E-2244-39563E68326D}"/>
              </a:ext>
            </a:extLst>
          </p:cNvPr>
          <p:cNvSpPr/>
          <p:nvPr/>
        </p:nvSpPr>
        <p:spPr>
          <a:xfrm>
            <a:off x="7797800" y="1748028"/>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Precon1 on the left, Precon4 on the right; baseline, then the cue. Rats that prefer different phases cancel, so a rose shows where in the cycle, not how much: b and c are what was tested.</a:t>
            </a:r>
          </a:p>
        </p:txBody>
      </p:sp>
      <p:sp>
        <p:nvSpPr>
          <p:cNvPr id="13" name="!!N52">
            <a:extLst>
              <a:ext uri="{FF2B5EF4-FFF2-40B4-BE49-F238E27FC236}">
                <a16:creationId xmlns:a16="http://schemas.microsoft.com/office/drawing/2014/main" id="{DC0708AD-4862-6821-A340-76B1D6465872}"/>
              </a:ext>
            </a:extLst>
          </p:cNvPr>
          <p:cNvSpPr/>
          <p:nvPr/>
        </p:nvSpPr>
        <p:spPr>
          <a:xfrm>
            <a:off x="12573000" y="284683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comodulogram: the same change (cue − baseline, Precon4 minus Precon1) split into narrow theta bands (across) and gamma bands (up). Orange: the cue raised coupling more on Precon4; purple: less. A map, not the test: c is the result.</a:t>
            </a:r>
          </a:p>
        </p:txBody>
      </p:sp>
      <p:sp>
        <p:nvSpPr>
          <p:cNvPr id="14" name="!!T-BG">
            <a:extLst>
              <a:ext uri="{FF2B5EF4-FFF2-40B4-BE49-F238E27FC236}">
                <a16:creationId xmlns:a16="http://schemas.microsoft.com/office/drawing/2014/main" id="{77011E89-D320-D363-AE53-48AA0E92204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1951A0EF-421D-D1C9-66CD-D4DBE0CA257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1.3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6024499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DC3C902-8870-6F4A-3E45-530F91C74D1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3">
            <a:extLst>
              <a:ext uri="{FF2B5EF4-FFF2-40B4-BE49-F238E27FC236}">
                <a16:creationId xmlns:a16="http://schemas.microsoft.com/office/drawing/2014/main" id="{4006C95D-F790-9E10-7CD2-3E9B75DFC5B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6721892" y="-4984019"/>
            <a:ext cx="24125524" cy="11861809"/>
          </a:xfrm>
          <a:prstGeom prst="rect">
            <a:avLst/>
          </a:prstGeom>
          <a:ln w="9525">
            <a:solidFill>
              <a:srgbClr val="B0B0B0"/>
            </a:solidFill>
          </a:ln>
        </p:spPr>
      </p:pic>
      <p:sp>
        <p:nvSpPr>
          <p:cNvPr id="5" name="!!D1">
            <a:extLst>
              <a:ext uri="{FF2B5EF4-FFF2-40B4-BE49-F238E27FC236}">
                <a16:creationId xmlns:a16="http://schemas.microsoft.com/office/drawing/2014/main" id="{E8065F13-3053-C0FC-D981-337397B741B1}"/>
              </a:ext>
            </a:extLst>
          </p:cNvPr>
          <p:cNvSpPr/>
          <p:nvPr/>
        </p:nvSpPr>
        <p:spPr>
          <a:xfrm>
            <a:off x="0" y="685800"/>
            <a:ext cx="7670800" cy="3702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CA2A1C0-D17A-3A6B-C14B-34D493EC22EE}"/>
              </a:ext>
            </a:extLst>
          </p:cNvPr>
          <p:cNvSpPr/>
          <p:nvPr/>
        </p:nvSpPr>
        <p:spPr>
          <a:xfrm>
            <a:off x="0" y="6513108"/>
            <a:ext cx="7670800" cy="3448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48938B7-0E6A-6B50-1158-725C17CC5355}"/>
              </a:ext>
            </a:extLst>
          </p:cNvPr>
          <p:cNvSpPr/>
          <p:nvPr/>
        </p:nvSpPr>
        <p:spPr>
          <a:xfrm>
            <a:off x="0" y="1056092"/>
            <a:ext cx="262509" cy="545701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658ECA8-E94E-6A19-01B9-1BA86473424A}"/>
              </a:ext>
            </a:extLst>
          </p:cNvPr>
          <p:cNvSpPr/>
          <p:nvPr/>
        </p:nvSpPr>
        <p:spPr>
          <a:xfrm>
            <a:off x="7433691" y="1056092"/>
            <a:ext cx="237109" cy="545701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6E9D759-1C7E-FDB5-FF01-CD9A0B742DEB}"/>
              </a:ext>
            </a:extLst>
          </p:cNvPr>
          <p:cNvSpPr/>
          <p:nvPr/>
        </p:nvSpPr>
        <p:spPr>
          <a:xfrm>
            <a:off x="287909" y="1081492"/>
            <a:ext cx="7120381" cy="540621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0D0EBA4-1679-4D70-A61E-D3E3C2DA4CE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0">
            <a:extLst>
              <a:ext uri="{FF2B5EF4-FFF2-40B4-BE49-F238E27FC236}">
                <a16:creationId xmlns:a16="http://schemas.microsoft.com/office/drawing/2014/main" id="{42BD7235-968A-762B-A990-ECD536708F82}"/>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roses: R ACC gamma around the R RSC theta cycle, averaged over rats. Orange: louder at that phase than its average over the cycle; purple: quieter.</a:t>
            </a:r>
          </a:p>
        </p:txBody>
      </p:sp>
      <p:sp>
        <p:nvSpPr>
          <p:cNvPr id="12" name="!!N51">
            <a:extLst>
              <a:ext uri="{FF2B5EF4-FFF2-40B4-BE49-F238E27FC236}">
                <a16:creationId xmlns:a16="http://schemas.microsoft.com/office/drawing/2014/main" id="{F383C8C6-54AA-ECCA-0BD3-9E833C3D6670}"/>
              </a:ext>
            </a:extLst>
          </p:cNvPr>
          <p:cNvSpPr/>
          <p:nvPr/>
        </p:nvSpPr>
        <p:spPr>
          <a:xfrm>
            <a:off x="7797800" y="1748028"/>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Precon1 on the left, Precon4 on the right; baseline, then the cue. Rats that prefer different phases cancel, so a rose shows where in the cycle, not how much: b and c are what was tested.</a:t>
            </a:r>
          </a:p>
        </p:txBody>
      </p:sp>
      <p:sp>
        <p:nvSpPr>
          <p:cNvPr id="13" name="!!N52">
            <a:extLst>
              <a:ext uri="{FF2B5EF4-FFF2-40B4-BE49-F238E27FC236}">
                <a16:creationId xmlns:a16="http://schemas.microsoft.com/office/drawing/2014/main" id="{DD32679C-90D8-AF99-D8CE-B2B4EA66677F}"/>
              </a:ext>
            </a:extLst>
          </p:cNvPr>
          <p:cNvSpPr/>
          <p:nvPr/>
        </p:nvSpPr>
        <p:spPr>
          <a:xfrm>
            <a:off x="7797800" y="284683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comodulogram: the same change (cue − baseline, Precon4 minus Precon1) split into narrow theta bands (across) and gamma bands (up). Orange: the cue raised coupling more on Precon4; purple: less. A map, not the test: c is the result.</a:t>
            </a:r>
          </a:p>
        </p:txBody>
      </p:sp>
      <p:sp>
        <p:nvSpPr>
          <p:cNvPr id="14" name="!!N53">
            <a:extLst>
              <a:ext uri="{FF2B5EF4-FFF2-40B4-BE49-F238E27FC236}">
                <a16:creationId xmlns:a16="http://schemas.microsoft.com/office/drawing/2014/main" id="{37C9E7E0-C1EA-AC53-AC42-31D4EDB9A202}"/>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DHC and L RSC gamma bursts rising together (amplitude correlation): cue − baseline was higher on Precon4 than on Precon1.</a:t>
            </a:r>
          </a:p>
        </p:txBody>
      </p:sp>
      <p:sp>
        <p:nvSpPr>
          <p:cNvPr id="15" name="!!T-BG">
            <a:extLst>
              <a:ext uri="{FF2B5EF4-FFF2-40B4-BE49-F238E27FC236}">
                <a16:creationId xmlns:a16="http://schemas.microsoft.com/office/drawing/2014/main" id="{B40A4D6E-A3DD-85ED-E5BB-8FD143DC544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4BB5ABF5-06B8-73FD-DC1E-8D4C2566939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1.3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598694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B6814BD-530F-2E3C-5597-B395DAC0EC8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4">
            <a:extLst>
              <a:ext uri="{FF2B5EF4-FFF2-40B4-BE49-F238E27FC236}">
                <a16:creationId xmlns:a16="http://schemas.microsoft.com/office/drawing/2014/main" id="{EFF6E182-EF9B-8276-2838-5C8706F22A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4A9D8A49-7859-D768-613F-A308F01F29C8}"/>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561B3EF-9DB4-4175-BD5D-DA097C20C18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381DF515-2F2E-D866-7ECA-07854052C592}"/>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B34E3BC-0B00-1BE6-AB3F-1D130D2A263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9C1BCB3-5903-BC45-4615-F271015BAF7F}"/>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9B0B4732-AE88-6D29-5001-7D1EB2DDEAB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3">
            <a:extLst>
              <a:ext uri="{FF2B5EF4-FFF2-40B4-BE49-F238E27FC236}">
                <a16:creationId xmlns:a16="http://schemas.microsoft.com/office/drawing/2014/main" id="{86B200F5-6EA1-496E-FB18-B1FE9B419733}"/>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DHC and L RSC gamma bursts rising together (amplitude correlation): cue − baseline was higher on Precon4 than on Precon1.</a:t>
            </a:r>
          </a:p>
        </p:txBody>
      </p:sp>
      <p:sp>
        <p:nvSpPr>
          <p:cNvPr id="12" name="!!N54">
            <a:extLst>
              <a:ext uri="{FF2B5EF4-FFF2-40B4-BE49-F238E27FC236}">
                <a16:creationId xmlns:a16="http://schemas.microsoft.com/office/drawing/2014/main" id="{0ACF9138-6EA5-B6A3-1845-E5431AB6EE7B}"/>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0.044 (7 rats). Shuffles P = 0.014. FP P = 0.047. Both second opinions agree: a stronger lead.</a:t>
            </a:r>
          </a:p>
        </p:txBody>
      </p:sp>
      <p:sp>
        <p:nvSpPr>
          <p:cNvPr id="13" name="!!N50">
            <a:extLst>
              <a:ext uri="{FF2B5EF4-FFF2-40B4-BE49-F238E27FC236}">
                <a16:creationId xmlns:a16="http://schemas.microsoft.com/office/drawing/2014/main" id="{07F68871-B082-3035-F341-468113CA757F}"/>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roses: R ACC gamma around the R RSC theta cycle, averaged over rats. Orange: louder at that phase than its average over the cycle; purple: quieter.</a:t>
            </a:r>
          </a:p>
        </p:txBody>
      </p:sp>
      <p:sp>
        <p:nvSpPr>
          <p:cNvPr id="14" name="!!N51">
            <a:extLst>
              <a:ext uri="{FF2B5EF4-FFF2-40B4-BE49-F238E27FC236}">
                <a16:creationId xmlns:a16="http://schemas.microsoft.com/office/drawing/2014/main" id="{967482C6-9B38-7713-9E29-CEDDAA873077}"/>
              </a:ext>
            </a:extLst>
          </p:cNvPr>
          <p:cNvSpPr/>
          <p:nvPr/>
        </p:nvSpPr>
        <p:spPr>
          <a:xfrm>
            <a:off x="12573000" y="1748028"/>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Precon1 on the left, Precon4 on the right; baseline, then the cue. Rats that prefer different phases cancel, so a rose shows where in the cycle, not how much: b and c are what was tested.</a:t>
            </a:r>
          </a:p>
        </p:txBody>
      </p:sp>
      <p:sp>
        <p:nvSpPr>
          <p:cNvPr id="15" name="!!N52">
            <a:extLst>
              <a:ext uri="{FF2B5EF4-FFF2-40B4-BE49-F238E27FC236}">
                <a16:creationId xmlns:a16="http://schemas.microsoft.com/office/drawing/2014/main" id="{E8BA60E9-CD31-062F-812D-9568C6EB4062}"/>
              </a:ext>
            </a:extLst>
          </p:cNvPr>
          <p:cNvSpPr/>
          <p:nvPr/>
        </p:nvSpPr>
        <p:spPr>
          <a:xfrm>
            <a:off x="12573000" y="284683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comodulogram: the same change (cue − baseline, Precon4 minus Precon1) split into narrow theta bands (across) and gamma bands (up). Orange: the cue raised coupling more on Precon4; purple: less. A map, not the test: c is the result.</a:t>
            </a:r>
          </a:p>
        </p:txBody>
      </p:sp>
      <p:sp>
        <p:nvSpPr>
          <p:cNvPr id="16" name="!!T-BG">
            <a:extLst>
              <a:ext uri="{FF2B5EF4-FFF2-40B4-BE49-F238E27FC236}">
                <a16:creationId xmlns:a16="http://schemas.microsoft.com/office/drawing/2014/main" id="{F92131A3-B1E4-F049-4FB6-B16ECCEB430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CA3250F6-C495-C891-74A2-A1E44B7B0BA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1.4 · R DHC – L RSC · Bursts rise together</a:t>
            </a:r>
          </a:p>
        </p:txBody>
      </p:sp>
    </p:spTree>
    <p:extLst>
      <p:ext uri="{BB962C8B-B14F-4D97-AF65-F5344CB8AC3E}">
        <p14:creationId xmlns:p14="http://schemas.microsoft.com/office/powerpoint/2010/main" val="11733970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38048D5-ED00-3CE2-56DE-D19F370CA27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4">
            <a:extLst>
              <a:ext uri="{FF2B5EF4-FFF2-40B4-BE49-F238E27FC236}">
                <a16:creationId xmlns:a16="http://schemas.microsoft.com/office/drawing/2014/main" id="{9F2C7151-E2E4-DE66-2050-E99184E510D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A4445761-6C55-5793-04D0-61417AB6A181}"/>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32D22F2E-80BC-9DD7-5EA4-48EC39AB58F0}"/>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36468D66-8CA7-9DEE-639B-53D8E22715AA}"/>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780D831-3346-3D9C-B46F-B31E59098350}"/>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99A220C-EAA1-ACB0-23B0-47D7BB349950}"/>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F343DA08-0421-96A1-ADA3-26F72FFEF490}"/>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38E5DB01-0FA7-91CB-6E9A-A140D7F4191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53">
            <a:extLst>
              <a:ext uri="{FF2B5EF4-FFF2-40B4-BE49-F238E27FC236}">
                <a16:creationId xmlns:a16="http://schemas.microsoft.com/office/drawing/2014/main" id="{0C2B2DCE-9DD3-4DC2-425D-960F349CFB41}"/>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DHC and L RSC gamma bursts rising together (amplitude correlation): cue − baseline was higher on Precon4 than on Precon1.</a:t>
            </a:r>
          </a:p>
        </p:txBody>
      </p:sp>
      <p:sp>
        <p:nvSpPr>
          <p:cNvPr id="13" name="!!N54">
            <a:extLst>
              <a:ext uri="{FF2B5EF4-FFF2-40B4-BE49-F238E27FC236}">
                <a16:creationId xmlns:a16="http://schemas.microsoft.com/office/drawing/2014/main" id="{5C907343-8737-E1D8-FA6B-6B42E2BFDE7B}"/>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0.044 (7 rats). Shuffles P = 0.014. FP P = 0.047. Both second opinions agree: a stronger lead.</a:t>
            </a:r>
          </a:p>
        </p:txBody>
      </p:sp>
      <p:sp>
        <p:nvSpPr>
          <p:cNvPr id="14" name="!!N55">
            <a:extLst>
              <a:ext uri="{FF2B5EF4-FFF2-40B4-BE49-F238E27FC236}">
                <a16:creationId xmlns:a16="http://schemas.microsoft.com/office/drawing/2014/main" id="{2D91DB1F-9BBF-6D77-3AEA-119675DC6C7A}"/>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RSC predicting L POR-SUB (Granger R RSC → L POR-SUB): cue − baseline was higher on Precon4 than on Precon1.</a:t>
            </a:r>
          </a:p>
        </p:txBody>
      </p:sp>
      <p:sp>
        <p:nvSpPr>
          <p:cNvPr id="15" name="!!T-BG">
            <a:extLst>
              <a:ext uri="{FF2B5EF4-FFF2-40B4-BE49-F238E27FC236}">
                <a16:creationId xmlns:a16="http://schemas.microsoft.com/office/drawing/2014/main" id="{2694506B-BE2F-03E0-894D-208CFE6635D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2FF6A673-233B-4F10-2ECA-7526BC18C9E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1.4 · R DHC – L RSC · Bursts rise together</a:t>
            </a:r>
          </a:p>
        </p:txBody>
      </p:sp>
    </p:spTree>
    <p:extLst>
      <p:ext uri="{BB962C8B-B14F-4D97-AF65-F5344CB8AC3E}">
        <p14:creationId xmlns:p14="http://schemas.microsoft.com/office/powerpoint/2010/main" val="5134999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38DABE0-D0BC-B186-3769-0C361FB2DB96}"/>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5">
            <a:extLst>
              <a:ext uri="{FF2B5EF4-FFF2-40B4-BE49-F238E27FC236}">
                <a16:creationId xmlns:a16="http://schemas.microsoft.com/office/drawing/2014/main" id="{A1ACD33A-1834-7397-E2BC-0B99B2A4B6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B259BD66-A14A-7BA0-AA09-BEE67F30B0B5}"/>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FDFA61B-15A2-8E59-4EDB-6FFD07AB951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C9D8539-B0CE-89C0-5730-EF5B127BEED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322F908-8662-91D7-E107-E9296B038C8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C48DB34F-FC1D-4871-F352-AF69E42B8C72}"/>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35FC4E85-D638-845A-C4EF-0860DEA1449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5">
            <a:extLst>
              <a:ext uri="{FF2B5EF4-FFF2-40B4-BE49-F238E27FC236}">
                <a16:creationId xmlns:a16="http://schemas.microsoft.com/office/drawing/2014/main" id="{31EAA67E-374D-DCF4-D380-36D177774082}"/>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RSC predicting L POR-SUB (Granger R RSC → L POR-SUB): cue − baseline was higher on Precon4 than on Precon1.</a:t>
            </a:r>
          </a:p>
        </p:txBody>
      </p:sp>
      <p:sp>
        <p:nvSpPr>
          <p:cNvPr id="12" name="!!N56">
            <a:extLst>
              <a:ext uri="{FF2B5EF4-FFF2-40B4-BE49-F238E27FC236}">
                <a16:creationId xmlns:a16="http://schemas.microsoft.com/office/drawing/2014/main" id="{C1DDCD41-C177-6B00-F0F5-6319B4276A88}"/>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0.042 (4 rats). Shuffles P = 0.028. FP P = 0.096. Only the shuffle agrees: a middling lead.</a:t>
            </a:r>
          </a:p>
        </p:txBody>
      </p:sp>
      <p:sp>
        <p:nvSpPr>
          <p:cNvPr id="13" name="!!N53">
            <a:extLst>
              <a:ext uri="{FF2B5EF4-FFF2-40B4-BE49-F238E27FC236}">
                <a16:creationId xmlns:a16="http://schemas.microsoft.com/office/drawing/2014/main" id="{D2C01B79-7F9A-4A49-94CB-D7A1AD4D7831}"/>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DHC and L RSC gamma bursts rising together (amplitude correlation): cue − baseline was higher on Precon4 than on Precon1.</a:t>
            </a:r>
          </a:p>
        </p:txBody>
      </p:sp>
      <p:sp>
        <p:nvSpPr>
          <p:cNvPr id="14" name="!!N54">
            <a:extLst>
              <a:ext uri="{FF2B5EF4-FFF2-40B4-BE49-F238E27FC236}">
                <a16:creationId xmlns:a16="http://schemas.microsoft.com/office/drawing/2014/main" id="{79550954-BDDE-2C6B-011D-F8412C198C14}"/>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0.044 (7 rats). Shuffles P = 0.014. FP P = 0.047. Both second opinions agree: a stronger lead.</a:t>
            </a:r>
          </a:p>
        </p:txBody>
      </p:sp>
      <p:sp>
        <p:nvSpPr>
          <p:cNvPr id="15" name="!!T-BG">
            <a:extLst>
              <a:ext uri="{FF2B5EF4-FFF2-40B4-BE49-F238E27FC236}">
                <a16:creationId xmlns:a16="http://schemas.microsoft.com/office/drawing/2014/main" id="{72E29D0F-E5C3-E8B8-567C-97B0EE02889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3182E17-E517-55DB-09A3-AC449804F72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1.5 · R RSC – L POR-SUB · Which leads</a:t>
            </a:r>
          </a:p>
        </p:txBody>
      </p:sp>
    </p:spTree>
    <p:extLst>
      <p:ext uri="{BB962C8B-B14F-4D97-AF65-F5344CB8AC3E}">
        <p14:creationId xmlns:p14="http://schemas.microsoft.com/office/powerpoint/2010/main" val="23975267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95C0AA7-3199-7C63-0545-74D873669DD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5">
            <a:extLst>
              <a:ext uri="{FF2B5EF4-FFF2-40B4-BE49-F238E27FC236}">
                <a16:creationId xmlns:a16="http://schemas.microsoft.com/office/drawing/2014/main" id="{47E1D4EE-ABC0-39CD-D986-6C3BC64EDB1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E0498488-AC33-9F19-4E8D-67BEAA12EF28}"/>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D20BD64-F795-615C-C659-189844141F51}"/>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AA1F8CC-3BE2-260C-9781-3737AE78A3AF}"/>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40DB9BF-C1A5-E971-EB47-4E594A40B0A0}"/>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9E3EA2C-A977-B2F3-5280-31D5C2589B47}"/>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3DFC37B2-4118-5320-11E9-ABCD83FBAA7F}"/>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D7926B2C-EEB7-EE3B-E14D-6D43AB7837B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55">
            <a:extLst>
              <a:ext uri="{FF2B5EF4-FFF2-40B4-BE49-F238E27FC236}">
                <a16:creationId xmlns:a16="http://schemas.microsoft.com/office/drawing/2014/main" id="{A2582826-67E7-EAF7-C41D-1FF12B3893B7}"/>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RSC predicting L POR-SUB (Granger R RSC → L POR-SUB): cue − baseline was higher on Precon4 than on Precon1.</a:t>
            </a:r>
          </a:p>
        </p:txBody>
      </p:sp>
      <p:sp>
        <p:nvSpPr>
          <p:cNvPr id="13" name="!!N56">
            <a:extLst>
              <a:ext uri="{FF2B5EF4-FFF2-40B4-BE49-F238E27FC236}">
                <a16:creationId xmlns:a16="http://schemas.microsoft.com/office/drawing/2014/main" id="{F0DBF1DA-919D-BF14-54B6-EC7A7076FA29}"/>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0.042 (4 rats). Shuffles P = 0.028. FP P = 0.096. Only the shuffle agrees: a middling lead.</a:t>
            </a:r>
          </a:p>
        </p:txBody>
      </p:sp>
      <p:sp>
        <p:nvSpPr>
          <p:cNvPr id="14" name="!!N57">
            <a:extLst>
              <a:ext uri="{FF2B5EF4-FFF2-40B4-BE49-F238E27FC236}">
                <a16:creationId xmlns:a16="http://schemas.microsoft.com/office/drawing/2014/main" id="{C036684A-1678-90A6-C37F-1B304E6D4F8C}"/>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PER and L DHC gamma bursts rising together (amplitude correlation): cue − baseline was lower on Precon4 than on Precon1.</a:t>
            </a:r>
          </a:p>
        </p:txBody>
      </p:sp>
      <p:sp>
        <p:nvSpPr>
          <p:cNvPr id="15" name="!!T-BG">
            <a:extLst>
              <a:ext uri="{FF2B5EF4-FFF2-40B4-BE49-F238E27FC236}">
                <a16:creationId xmlns:a16="http://schemas.microsoft.com/office/drawing/2014/main" id="{3C45C0A4-5D97-3372-78E3-A7CD6846DD8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63D0F64C-68EA-E0C5-5AC2-8BAFC5A6A42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1.5 · R RSC – L POR-SUB · Which leads</a:t>
            </a:r>
          </a:p>
        </p:txBody>
      </p:sp>
    </p:spTree>
    <p:extLst>
      <p:ext uri="{BB962C8B-B14F-4D97-AF65-F5344CB8AC3E}">
        <p14:creationId xmlns:p14="http://schemas.microsoft.com/office/powerpoint/2010/main" val="1785703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3B86A92-11D4-D080-3224-230DFFE98D0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6">
            <a:extLst>
              <a:ext uri="{FF2B5EF4-FFF2-40B4-BE49-F238E27FC236}">
                <a16:creationId xmlns:a16="http://schemas.microsoft.com/office/drawing/2014/main" id="{40EF8E8D-C0C1-DD83-461A-6F465008CD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CB74EFE4-3830-0ADE-95DE-E1A4D9B0456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4031661-2F22-3BAC-BB86-8D71FED6FC9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4AB80DA-1997-ADD5-1A5B-EBA99ABAC2B1}"/>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4A280BD-393B-31D9-CE0B-D0AE121356C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643F321-AB0B-F4CF-2214-7D8C5E5BD82D}"/>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3788901-6BEC-5DE6-3C51-6F4A9AA0D40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7">
            <a:extLst>
              <a:ext uri="{FF2B5EF4-FFF2-40B4-BE49-F238E27FC236}">
                <a16:creationId xmlns:a16="http://schemas.microsoft.com/office/drawing/2014/main" id="{02BD4A7F-B8D5-E1B9-50B2-B5B124FB3929}"/>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PER and L DHC gamma bursts rising together (amplitude correlation): cue − baseline was lower on Precon4 than on Precon1.</a:t>
            </a:r>
          </a:p>
        </p:txBody>
      </p:sp>
      <p:sp>
        <p:nvSpPr>
          <p:cNvPr id="12" name="!!N58">
            <a:extLst>
              <a:ext uri="{FF2B5EF4-FFF2-40B4-BE49-F238E27FC236}">
                <a16:creationId xmlns:a16="http://schemas.microsoft.com/office/drawing/2014/main" id="{054A62DC-3657-3865-3CBB-FF80D2201A3C}"/>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0.003 (4 rats). Shuffles P = 0.259. FP P = 0.364. Neither second opinion agrees: a weaker lead.</a:t>
            </a:r>
          </a:p>
        </p:txBody>
      </p:sp>
      <p:sp>
        <p:nvSpPr>
          <p:cNvPr id="13" name="!!N55">
            <a:extLst>
              <a:ext uri="{FF2B5EF4-FFF2-40B4-BE49-F238E27FC236}">
                <a16:creationId xmlns:a16="http://schemas.microsoft.com/office/drawing/2014/main" id="{961347E1-475E-B311-CDA4-7097B89C0760}"/>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RSC predicting L POR-SUB (Granger R RSC → L POR-SUB): cue − baseline was higher on Precon4 than on Precon1.</a:t>
            </a:r>
          </a:p>
        </p:txBody>
      </p:sp>
      <p:sp>
        <p:nvSpPr>
          <p:cNvPr id="14" name="!!N56">
            <a:extLst>
              <a:ext uri="{FF2B5EF4-FFF2-40B4-BE49-F238E27FC236}">
                <a16:creationId xmlns:a16="http://schemas.microsoft.com/office/drawing/2014/main" id="{F923E41F-D907-3A35-F256-4C35C94643B8}"/>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0.042 (4 rats). Shuffles P = 0.028. FP P = 0.096. Only the shuffle agrees: a middling lead.</a:t>
            </a:r>
          </a:p>
        </p:txBody>
      </p:sp>
      <p:sp>
        <p:nvSpPr>
          <p:cNvPr id="15" name="!!T-BG">
            <a:extLst>
              <a:ext uri="{FF2B5EF4-FFF2-40B4-BE49-F238E27FC236}">
                <a16:creationId xmlns:a16="http://schemas.microsoft.com/office/drawing/2014/main" id="{5392F163-A14E-C0D5-A260-51AD05B9F4D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990E864D-4E9E-5DB2-EC0A-5C0C2788748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1.6 · R PER – L DHC · Bursts rise together</a:t>
            </a:r>
          </a:p>
        </p:txBody>
      </p:sp>
    </p:spTree>
    <p:extLst>
      <p:ext uri="{BB962C8B-B14F-4D97-AF65-F5344CB8AC3E}">
        <p14:creationId xmlns:p14="http://schemas.microsoft.com/office/powerpoint/2010/main" val="13565331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27C5191-FA8E-55C9-56D4-B35D45D6D4B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6">
            <a:extLst>
              <a:ext uri="{FF2B5EF4-FFF2-40B4-BE49-F238E27FC236}">
                <a16:creationId xmlns:a16="http://schemas.microsoft.com/office/drawing/2014/main" id="{3B666FC3-B865-9A32-A96A-51F30243430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CE95F010-304F-B4A2-AF31-067D71F209A3}"/>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503E865-507B-C955-23F9-3D63F92D1942}"/>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558E3F4-3E7D-D55E-634F-FA92E5B3FBF3}"/>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4AED573-D650-3559-1FC7-C068AABF5931}"/>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2C474CC-3365-5F1D-47BD-0D8B8EB6CD31}"/>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7ACB6235-FD7A-13D8-3848-6C83818BAC0E}"/>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5E614C70-7CC5-0E1F-84BC-088ADA948F6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57">
            <a:extLst>
              <a:ext uri="{FF2B5EF4-FFF2-40B4-BE49-F238E27FC236}">
                <a16:creationId xmlns:a16="http://schemas.microsoft.com/office/drawing/2014/main" id="{9D836B8C-68AB-30D1-4385-0BED9C27F71D}"/>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PER and L DHC gamma bursts rising together (amplitude correlation): cue − baseline was lower on Precon4 than on Precon1.</a:t>
            </a:r>
          </a:p>
        </p:txBody>
      </p:sp>
      <p:sp>
        <p:nvSpPr>
          <p:cNvPr id="13" name="!!N58">
            <a:extLst>
              <a:ext uri="{FF2B5EF4-FFF2-40B4-BE49-F238E27FC236}">
                <a16:creationId xmlns:a16="http://schemas.microsoft.com/office/drawing/2014/main" id="{DA8EFA74-D6D8-6ACC-3149-43CA958328DB}"/>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0.003 (4 rats). Shuffles P = 0.259. FP P = 0.364. Neither second opinion agrees: a weaker lead.</a:t>
            </a:r>
          </a:p>
        </p:txBody>
      </p:sp>
      <p:sp>
        <p:nvSpPr>
          <p:cNvPr id="14" name="!!N59">
            <a:extLst>
              <a:ext uri="{FF2B5EF4-FFF2-40B4-BE49-F238E27FC236}">
                <a16:creationId xmlns:a16="http://schemas.microsoft.com/office/drawing/2014/main" id="{EC735F70-B3F1-B8F0-59C5-D2744B0E0C77}"/>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pacing gamma within R PER (PAC): cue − baseline was higher on Precon4 than on Precon1.</a:t>
            </a:r>
          </a:p>
        </p:txBody>
      </p:sp>
      <p:sp>
        <p:nvSpPr>
          <p:cNvPr id="15" name="!!T-BG">
            <a:extLst>
              <a:ext uri="{FF2B5EF4-FFF2-40B4-BE49-F238E27FC236}">
                <a16:creationId xmlns:a16="http://schemas.microsoft.com/office/drawing/2014/main" id="{DBA887D7-718C-AF0E-53CD-11B10ED7E34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C7AD872C-D738-C660-DC13-7728145D7AF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1.6 · R PER – L DHC · Bursts rise together</a:t>
            </a:r>
          </a:p>
        </p:txBody>
      </p:sp>
    </p:spTree>
    <p:extLst>
      <p:ext uri="{BB962C8B-B14F-4D97-AF65-F5344CB8AC3E}">
        <p14:creationId xmlns:p14="http://schemas.microsoft.com/office/powerpoint/2010/main" val="20689244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4C17EBA-2BC4-9768-4285-AA0FDC47FBC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7">
            <a:extLst>
              <a:ext uri="{FF2B5EF4-FFF2-40B4-BE49-F238E27FC236}">
                <a16:creationId xmlns:a16="http://schemas.microsoft.com/office/drawing/2014/main" id="{09211DB2-9926-AC7A-143E-DDCD167EEB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CE474B27-1375-9B1B-E7FD-E22242F2237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F0994A6-3AD0-31E9-DE9E-071A216AA7B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198352F-190C-7027-36BE-EBC99584F93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285424C-586C-E944-D74C-C7886A1DDCA5}"/>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E89EB221-5542-89FD-5C13-F43F030D1BD6}"/>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5601DCB-0549-A8DD-B288-481DE5208A0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9">
            <a:extLst>
              <a:ext uri="{FF2B5EF4-FFF2-40B4-BE49-F238E27FC236}">
                <a16:creationId xmlns:a16="http://schemas.microsoft.com/office/drawing/2014/main" id="{AF2433CF-48C0-88DB-528B-75FAC8E22F89}"/>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pacing gamma within R PER (PAC): cue − baseline was higher on Precon4 than on Precon1.</a:t>
            </a:r>
          </a:p>
        </p:txBody>
      </p:sp>
      <p:sp>
        <p:nvSpPr>
          <p:cNvPr id="12" name="!!N60">
            <a:extLst>
              <a:ext uri="{FF2B5EF4-FFF2-40B4-BE49-F238E27FC236}">
                <a16:creationId xmlns:a16="http://schemas.microsoft.com/office/drawing/2014/main" id="{25412902-EF28-C5BE-3F57-B391338C6074}"/>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0.018 (5 rats). Shuffles P = 0.546. FP P = 0.389. Neither second opinion agrees: a weaker lead.</a:t>
            </a:r>
          </a:p>
        </p:txBody>
      </p:sp>
      <p:sp>
        <p:nvSpPr>
          <p:cNvPr id="13" name="!!N57">
            <a:extLst>
              <a:ext uri="{FF2B5EF4-FFF2-40B4-BE49-F238E27FC236}">
                <a16:creationId xmlns:a16="http://schemas.microsoft.com/office/drawing/2014/main" id="{60275928-AD8B-CE88-15F9-E63CA290236F}"/>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PER and L DHC gamma bursts rising together (amplitude correlation): cue − baseline was lower on Precon4 than on Precon1.</a:t>
            </a:r>
          </a:p>
        </p:txBody>
      </p:sp>
      <p:sp>
        <p:nvSpPr>
          <p:cNvPr id="14" name="!!N58">
            <a:extLst>
              <a:ext uri="{FF2B5EF4-FFF2-40B4-BE49-F238E27FC236}">
                <a16:creationId xmlns:a16="http://schemas.microsoft.com/office/drawing/2014/main" id="{0A60CBE4-9664-952B-8BBC-E2308B644917}"/>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0.003 (4 rats). Shuffles P = 0.259. FP P = 0.364. Neither second opinion agrees: a weaker lead.</a:t>
            </a:r>
          </a:p>
        </p:txBody>
      </p:sp>
      <p:sp>
        <p:nvSpPr>
          <p:cNvPr id="15" name="!!T-BG">
            <a:extLst>
              <a:ext uri="{FF2B5EF4-FFF2-40B4-BE49-F238E27FC236}">
                <a16:creationId xmlns:a16="http://schemas.microsoft.com/office/drawing/2014/main" id="{4C1A42F4-4954-9CBA-065C-EFBA87FB5BB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11E09DC9-4106-99DE-6036-1342C4061E1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1.7 · R PER – L DHC · Theta paces gamma</a:t>
            </a:r>
          </a:p>
        </p:txBody>
      </p:sp>
    </p:spTree>
    <p:extLst>
      <p:ext uri="{BB962C8B-B14F-4D97-AF65-F5344CB8AC3E}">
        <p14:creationId xmlns:p14="http://schemas.microsoft.com/office/powerpoint/2010/main" val="9364301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464DA30-FD27-AFD1-2CBE-3F9C71BC223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7">
            <a:extLst>
              <a:ext uri="{FF2B5EF4-FFF2-40B4-BE49-F238E27FC236}">
                <a16:creationId xmlns:a16="http://schemas.microsoft.com/office/drawing/2014/main" id="{8C21172A-F7B5-E88C-6BBC-03CE794092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9802F01F-15A8-F2E5-1C29-827FB02184C7}"/>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C37EFA9-AE15-A019-58A4-0BE26236D1EB}"/>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17CEB37-1CF4-B560-CFFD-B9C81D2BC935}"/>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CB2638E-81C2-DFD9-31E2-101A6B684D6B}"/>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0D856F91-10BB-4175-72ED-5B35F4A8E029}"/>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EB05B34B-EDF7-994D-0561-D287D78BBFE8}"/>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E113BC87-B8DB-4C56-DD76-5FA8CE08FF2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59">
            <a:extLst>
              <a:ext uri="{FF2B5EF4-FFF2-40B4-BE49-F238E27FC236}">
                <a16:creationId xmlns:a16="http://schemas.microsoft.com/office/drawing/2014/main" id="{8830B00D-751F-7F21-392F-42189E82A589}"/>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pacing gamma within R PER (PAC): cue − baseline was higher on Precon4 than on Precon1.</a:t>
            </a:r>
          </a:p>
        </p:txBody>
      </p:sp>
      <p:sp>
        <p:nvSpPr>
          <p:cNvPr id="13" name="!!N60">
            <a:extLst>
              <a:ext uri="{FF2B5EF4-FFF2-40B4-BE49-F238E27FC236}">
                <a16:creationId xmlns:a16="http://schemas.microsoft.com/office/drawing/2014/main" id="{B9DD26B2-9460-46C2-55CE-CEE1FB3D1F8E}"/>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0.018 (5 rats). Shuffles P = 0.546. FP P = 0.389. Neither second opinion agrees: a weaker lead.</a:t>
            </a:r>
          </a:p>
        </p:txBody>
      </p:sp>
      <p:sp>
        <p:nvSpPr>
          <p:cNvPr id="14" name="!!N61">
            <a:extLst>
              <a:ext uri="{FF2B5EF4-FFF2-40B4-BE49-F238E27FC236}">
                <a16:creationId xmlns:a16="http://schemas.microsoft.com/office/drawing/2014/main" id="{38F1FD53-9E88-3B97-8384-4156AC8C9A1A}"/>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PER gamma around the R PER theta cycle, averaged over rats, Precon1 then Precon4. Where in the cycle, not how much: c is the result.</a:t>
            </a:r>
          </a:p>
        </p:txBody>
      </p:sp>
      <p:sp>
        <p:nvSpPr>
          <p:cNvPr id="15" name="!!T-BG">
            <a:extLst>
              <a:ext uri="{FF2B5EF4-FFF2-40B4-BE49-F238E27FC236}">
                <a16:creationId xmlns:a16="http://schemas.microsoft.com/office/drawing/2014/main" id="{B2BC37CF-4426-B3F8-C920-211A3A3C1D1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80E3F7C-C434-1444-C504-0F361DEC100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1.7 · R PER – L DHC · Theta paces gamma</a:t>
            </a:r>
          </a:p>
        </p:txBody>
      </p:sp>
    </p:spTree>
    <p:extLst>
      <p:ext uri="{BB962C8B-B14F-4D97-AF65-F5344CB8AC3E}">
        <p14:creationId xmlns:p14="http://schemas.microsoft.com/office/powerpoint/2010/main" val="818937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08F9787-A8F0-3B4E-C688-D84245EB5DB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7">
            <a:extLst>
              <a:ext uri="{FF2B5EF4-FFF2-40B4-BE49-F238E27FC236}">
                <a16:creationId xmlns:a16="http://schemas.microsoft.com/office/drawing/2014/main" id="{E0DF78BA-EFE9-0E11-E336-496C422256B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97139"/>
            <a:ext cx="7119007" cy="3500206"/>
          </a:xfrm>
          <a:prstGeom prst="rect">
            <a:avLst/>
          </a:prstGeom>
          <a:ln w="9525">
            <a:solidFill>
              <a:srgbClr val="B0B0B0"/>
            </a:solidFill>
          </a:ln>
        </p:spPr>
      </p:pic>
      <p:sp>
        <p:nvSpPr>
          <p:cNvPr id="5" name="!!D1">
            <a:extLst>
              <a:ext uri="{FF2B5EF4-FFF2-40B4-BE49-F238E27FC236}">
                <a16:creationId xmlns:a16="http://schemas.microsoft.com/office/drawing/2014/main" id="{15CF1390-D0DF-D889-3BF5-EF57B1722126}"/>
              </a:ext>
            </a:extLst>
          </p:cNvPr>
          <p:cNvSpPr/>
          <p:nvPr/>
        </p:nvSpPr>
        <p:spPr>
          <a:xfrm>
            <a:off x="0" y="685800"/>
            <a:ext cx="7670800" cy="22368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1FF42F3-9D36-C423-7821-93C5DAB1A474}"/>
              </a:ext>
            </a:extLst>
          </p:cNvPr>
          <p:cNvSpPr/>
          <p:nvPr/>
        </p:nvSpPr>
        <p:spPr>
          <a:xfrm>
            <a:off x="0" y="4646548"/>
            <a:ext cx="7670800" cy="22114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FB4F888-AFE5-2BBC-F43A-D759C28C86F9}"/>
              </a:ext>
            </a:extLst>
          </p:cNvPr>
          <p:cNvSpPr/>
          <p:nvPr/>
        </p:nvSpPr>
        <p:spPr>
          <a:xfrm>
            <a:off x="0" y="2922652"/>
            <a:ext cx="2625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E746EC2-0E8E-9256-DEF9-0138000B8FE2}"/>
              </a:ext>
            </a:extLst>
          </p:cNvPr>
          <p:cNvSpPr/>
          <p:nvPr/>
        </p:nvSpPr>
        <p:spPr>
          <a:xfrm>
            <a:off x="7433691" y="2922652"/>
            <a:ext cx="2371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43F0805-BD77-ADE3-3E49-7406521FB0AD}"/>
              </a:ext>
            </a:extLst>
          </p:cNvPr>
          <p:cNvSpPr/>
          <p:nvPr/>
        </p:nvSpPr>
        <p:spPr>
          <a:xfrm>
            <a:off x="287909" y="2986962"/>
            <a:ext cx="5019286" cy="159527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3E0920EF-17AC-C1DF-3F82-D732125BA620}"/>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1">
            <a:extLst>
              <a:ext uri="{FF2B5EF4-FFF2-40B4-BE49-F238E27FC236}">
                <a16:creationId xmlns:a16="http://schemas.microsoft.com/office/drawing/2014/main" id="{EF24881C-FC75-10F5-2F68-EF72F2FA9C78}"/>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PER gamma around the R PER theta cycle, averaged over rats, Precon1 then Precon4. Where in the cycle, not how much: c is the result.</a:t>
            </a:r>
          </a:p>
        </p:txBody>
      </p:sp>
      <p:sp>
        <p:nvSpPr>
          <p:cNvPr id="12" name="!!N62">
            <a:extLst>
              <a:ext uri="{FF2B5EF4-FFF2-40B4-BE49-F238E27FC236}">
                <a16:creationId xmlns:a16="http://schemas.microsoft.com/office/drawing/2014/main" id="{2635EB7E-93D4-F104-BC63-1E630464A718}"/>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R OFC gamma bursts rising together (amplitude correlation): cue − baseline was higher on Precon4 than on Precon1.</a:t>
            </a:r>
          </a:p>
        </p:txBody>
      </p:sp>
      <p:sp>
        <p:nvSpPr>
          <p:cNvPr id="13" name="!!N59">
            <a:extLst>
              <a:ext uri="{FF2B5EF4-FFF2-40B4-BE49-F238E27FC236}">
                <a16:creationId xmlns:a16="http://schemas.microsoft.com/office/drawing/2014/main" id="{4B7B8BB4-EFC9-42D5-88EB-219B17E2B42D}"/>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pacing gamma within R PER (PAC): cue − baseline was higher on Precon4 than on Precon1.</a:t>
            </a:r>
          </a:p>
        </p:txBody>
      </p:sp>
      <p:sp>
        <p:nvSpPr>
          <p:cNvPr id="14" name="!!N60">
            <a:extLst>
              <a:ext uri="{FF2B5EF4-FFF2-40B4-BE49-F238E27FC236}">
                <a16:creationId xmlns:a16="http://schemas.microsoft.com/office/drawing/2014/main" id="{39659435-2CB6-FAEC-51D5-55B1BBC3548E}"/>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0.018 (5 rats). Shuffles P = 0.546. FP P = 0.389. Neither second opinion agrees: a weaker lead.</a:t>
            </a:r>
          </a:p>
        </p:txBody>
      </p:sp>
      <p:sp>
        <p:nvSpPr>
          <p:cNvPr id="15" name="!!T-BG">
            <a:extLst>
              <a:ext uri="{FF2B5EF4-FFF2-40B4-BE49-F238E27FC236}">
                <a16:creationId xmlns:a16="http://schemas.microsoft.com/office/drawing/2014/main" id="{71833E8A-9395-2200-D3FF-8D76EE8CBC2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B646ACA-C194-AFAB-D79F-2FF7BF1F5C4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1.7 · R PER – L DHC · Theta paces gamma</a:t>
            </a:r>
          </a:p>
        </p:txBody>
      </p:sp>
    </p:spTree>
    <p:extLst>
      <p:ext uri="{BB962C8B-B14F-4D97-AF65-F5344CB8AC3E}">
        <p14:creationId xmlns:p14="http://schemas.microsoft.com/office/powerpoint/2010/main" val="38421005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E3D5613-D50E-B2A5-F70E-266DD8CEEFF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444ADB59-C359-505E-DCDB-DB80E6D9B70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13CDBB97-D798-D54C-120D-71914D19C23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13F115A-E891-57DD-AD07-DFE9D9F6101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BC4B29C-DA72-20EC-FFE2-6D85881ABFE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B09EBBE8-9B88-F157-6177-46EFD71DFAB5}"/>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5D7AC99-BDD8-A29F-30F0-B487674F2D1D}"/>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074F4E5-4C56-7153-EFFB-53162323E42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2">
            <a:extLst>
              <a:ext uri="{FF2B5EF4-FFF2-40B4-BE49-F238E27FC236}">
                <a16:creationId xmlns:a16="http://schemas.microsoft.com/office/drawing/2014/main" id="{1A51EE8F-AC33-6DDB-D2CD-5A1B877BD312}"/>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R OFC gamma bursts rising together (amplitude correlation): cue − baseline was higher on Precon4 than on Precon1.</a:t>
            </a:r>
          </a:p>
        </p:txBody>
      </p:sp>
      <p:sp>
        <p:nvSpPr>
          <p:cNvPr id="12" name="!!N63">
            <a:extLst>
              <a:ext uri="{FF2B5EF4-FFF2-40B4-BE49-F238E27FC236}">
                <a16:creationId xmlns:a16="http://schemas.microsoft.com/office/drawing/2014/main" id="{8A7C0AB4-F109-0822-5248-A408ED8E4273}"/>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0.016 (8 rats). Shuffles P = 0.004. FP P = 0.034. Both second opinions agree: a stronger lead.</a:t>
            </a:r>
          </a:p>
        </p:txBody>
      </p:sp>
      <p:sp>
        <p:nvSpPr>
          <p:cNvPr id="13" name="!!N61">
            <a:extLst>
              <a:ext uri="{FF2B5EF4-FFF2-40B4-BE49-F238E27FC236}">
                <a16:creationId xmlns:a16="http://schemas.microsoft.com/office/drawing/2014/main" id="{7251D712-E1EE-6A59-9E61-64F1320DCFDD}"/>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PER gamma around the R PER theta cycle, averaged over rats, Precon1 then Precon4. Where in the cycle, not how much: c is the result.</a:t>
            </a:r>
          </a:p>
        </p:txBody>
      </p:sp>
      <p:sp>
        <p:nvSpPr>
          <p:cNvPr id="14" name="!!T-BG">
            <a:extLst>
              <a:ext uri="{FF2B5EF4-FFF2-40B4-BE49-F238E27FC236}">
                <a16:creationId xmlns:a16="http://schemas.microsoft.com/office/drawing/2014/main" id="{38DAAFA4-23EB-1FB9-DC02-EFA68808C79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A97AD54F-F6FF-38EF-2206-1D6114A7F6A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OFC · Bursts rise together</a:t>
            </a:r>
          </a:p>
        </p:txBody>
      </p:sp>
    </p:spTree>
    <p:extLst>
      <p:ext uri="{BB962C8B-B14F-4D97-AF65-F5344CB8AC3E}">
        <p14:creationId xmlns:p14="http://schemas.microsoft.com/office/powerpoint/2010/main" val="37730999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6474488-557A-276B-C46A-04DDDE5169F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D085F493-9466-7DE7-8CAC-0DB5EA5983F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25126B9E-5759-BB39-94F3-E70E1FFE472D}"/>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15A4E21-91E7-35BE-7702-4640CCDE0FF4}"/>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E37DE54-2FA8-49BC-4674-9D9CE3BDCBBE}"/>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2B939BE-B831-FC07-CB07-7440DF9670E4}"/>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72C85BF-2807-181C-F56D-1FCF1215AD2C}"/>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B9C8145F-BB48-4A25-0E09-016D065B2B68}"/>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E7E4AF22-C6E0-1471-8781-B4BB557F76C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2">
            <a:extLst>
              <a:ext uri="{FF2B5EF4-FFF2-40B4-BE49-F238E27FC236}">
                <a16:creationId xmlns:a16="http://schemas.microsoft.com/office/drawing/2014/main" id="{E51A886E-E8A4-8192-F454-767A6D88CA50}"/>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R OFC gamma bursts rising together (amplitude correlation): cue − baseline was higher on Precon4 than on Precon1.</a:t>
            </a:r>
          </a:p>
        </p:txBody>
      </p:sp>
      <p:sp>
        <p:nvSpPr>
          <p:cNvPr id="13" name="!!N63">
            <a:extLst>
              <a:ext uri="{FF2B5EF4-FFF2-40B4-BE49-F238E27FC236}">
                <a16:creationId xmlns:a16="http://schemas.microsoft.com/office/drawing/2014/main" id="{F00F6DC2-A474-21D7-BCB9-10E74AAA9868}"/>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0.016 (8 rats). Shuffles P = 0.004. FP P = 0.034. Both second opinions agree: a stronger lead.</a:t>
            </a:r>
          </a:p>
        </p:txBody>
      </p:sp>
      <p:sp>
        <p:nvSpPr>
          <p:cNvPr id="14" name="!!N64">
            <a:extLst>
              <a:ext uri="{FF2B5EF4-FFF2-40B4-BE49-F238E27FC236}">
                <a16:creationId xmlns:a16="http://schemas.microsoft.com/office/drawing/2014/main" id="{BC6B0209-29D1-571C-D377-B65333CEB672}"/>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R RSC (imaginary coherence): cue − baseline was higher on Precon4 than on Precon1.</a:t>
            </a:r>
          </a:p>
        </p:txBody>
      </p:sp>
      <p:sp>
        <p:nvSpPr>
          <p:cNvPr id="15" name="!!T-BG">
            <a:extLst>
              <a:ext uri="{FF2B5EF4-FFF2-40B4-BE49-F238E27FC236}">
                <a16:creationId xmlns:a16="http://schemas.microsoft.com/office/drawing/2014/main" id="{759299C2-B3E1-3D7C-80B8-DBF4CF98F99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3D12062C-ACFA-398B-B51A-8F50F5A9010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OFC · Bursts rise together</a:t>
            </a:r>
          </a:p>
        </p:txBody>
      </p:sp>
    </p:spTree>
    <p:extLst>
      <p:ext uri="{BB962C8B-B14F-4D97-AF65-F5344CB8AC3E}">
        <p14:creationId xmlns:p14="http://schemas.microsoft.com/office/powerpoint/2010/main" val="15572607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1486D5E-B02D-4E83-7D95-8BC64274DEE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2">
            <a:extLst>
              <a:ext uri="{FF2B5EF4-FFF2-40B4-BE49-F238E27FC236}">
                <a16:creationId xmlns:a16="http://schemas.microsoft.com/office/drawing/2014/main" id="{03A78D97-35A1-CCBB-9E5D-53B209C7A2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B571D6A3-6B37-3214-F58C-0F8C498819BF}"/>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6D37D31-9C1D-917D-6F7B-213CBBE654A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716FE37-92B7-3A37-DDB9-36C1FE85A43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49AC632-3AFD-9A3D-A3C7-245F505B9209}"/>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2827109-5FCE-B65D-F864-6208A70922BB}"/>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20EE3EF-2F3F-2C4A-2474-FEE1160ED87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4">
            <a:extLst>
              <a:ext uri="{FF2B5EF4-FFF2-40B4-BE49-F238E27FC236}">
                <a16:creationId xmlns:a16="http://schemas.microsoft.com/office/drawing/2014/main" id="{109DC9AD-99D6-25B9-6758-25A6F7274BB0}"/>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R RSC (imaginary coherence): cue − baseline was higher on Precon4 than on Precon1.</a:t>
            </a:r>
          </a:p>
        </p:txBody>
      </p:sp>
      <p:sp>
        <p:nvSpPr>
          <p:cNvPr id="12" name="!!N65">
            <a:extLst>
              <a:ext uri="{FF2B5EF4-FFF2-40B4-BE49-F238E27FC236}">
                <a16:creationId xmlns:a16="http://schemas.microsoft.com/office/drawing/2014/main" id="{3622D5E2-F514-EA38-B79F-42FF2C7E6BC9}"/>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&lt; 0.001 (6 rats). Shuffles P = 0.058. FP P = 0.042. Only FP agrees: a middling lead.</a:t>
            </a:r>
          </a:p>
        </p:txBody>
      </p:sp>
      <p:sp>
        <p:nvSpPr>
          <p:cNvPr id="13" name="!!N62">
            <a:extLst>
              <a:ext uri="{FF2B5EF4-FFF2-40B4-BE49-F238E27FC236}">
                <a16:creationId xmlns:a16="http://schemas.microsoft.com/office/drawing/2014/main" id="{6687F2C7-5163-58CE-003D-555BBA764952}"/>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R OFC gamma bursts rising together (amplitude correlation): cue − baseline was higher on Precon4 than on Precon1.</a:t>
            </a:r>
          </a:p>
        </p:txBody>
      </p:sp>
      <p:sp>
        <p:nvSpPr>
          <p:cNvPr id="14" name="!!N63">
            <a:extLst>
              <a:ext uri="{FF2B5EF4-FFF2-40B4-BE49-F238E27FC236}">
                <a16:creationId xmlns:a16="http://schemas.microsoft.com/office/drawing/2014/main" id="{52E22DB9-CB37-C649-8426-4C38AF694C77}"/>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0.016 (8 rats). Shuffles P = 0.004. FP P = 0.034. Both second opinions agree: a stronger lead.</a:t>
            </a:r>
          </a:p>
        </p:txBody>
      </p:sp>
      <p:sp>
        <p:nvSpPr>
          <p:cNvPr id="15" name="!!T-BG">
            <a:extLst>
              <a:ext uri="{FF2B5EF4-FFF2-40B4-BE49-F238E27FC236}">
                <a16:creationId xmlns:a16="http://schemas.microsoft.com/office/drawing/2014/main" id="{6A9232B5-049B-A7CD-8A12-D7D37EC2F55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0D8FFDBA-E483-0086-2124-B83AD798972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2.2 · R ACC – R RSC · Not just a shared signal</a:t>
            </a:r>
          </a:p>
        </p:txBody>
      </p:sp>
    </p:spTree>
    <p:extLst>
      <p:ext uri="{BB962C8B-B14F-4D97-AF65-F5344CB8AC3E}">
        <p14:creationId xmlns:p14="http://schemas.microsoft.com/office/powerpoint/2010/main" val="25228647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F9AA84C-0640-81D6-1A3D-C7EF0A044E3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2">
            <a:extLst>
              <a:ext uri="{FF2B5EF4-FFF2-40B4-BE49-F238E27FC236}">
                <a16:creationId xmlns:a16="http://schemas.microsoft.com/office/drawing/2014/main" id="{4C0CBC22-63A5-9053-F1FA-D5A019A63B7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50BEF9B1-7902-DB5C-5AC3-229D1D1B1A02}"/>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5206C55-2D18-29A9-7270-782BBA56D7E0}"/>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381B330-BEE7-0973-ADE6-BAA80431DF9E}"/>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4DBFD99-2E34-AAA9-13A8-4E57B6212EC3}"/>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8A611E1-4B94-C511-855D-29CACE3BB3D1}"/>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CC7C5A64-ED85-5C38-5E52-4143758316DD}"/>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4C5D18EF-D60A-864F-65B1-4A97866EC01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4">
            <a:extLst>
              <a:ext uri="{FF2B5EF4-FFF2-40B4-BE49-F238E27FC236}">
                <a16:creationId xmlns:a16="http://schemas.microsoft.com/office/drawing/2014/main" id="{61946808-4CB5-9DC5-378B-085E374E8073}"/>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R RSC (imaginary coherence): cue − baseline was higher on Precon4 than on Precon1.</a:t>
            </a:r>
          </a:p>
        </p:txBody>
      </p:sp>
      <p:sp>
        <p:nvSpPr>
          <p:cNvPr id="13" name="!!N65">
            <a:extLst>
              <a:ext uri="{FF2B5EF4-FFF2-40B4-BE49-F238E27FC236}">
                <a16:creationId xmlns:a16="http://schemas.microsoft.com/office/drawing/2014/main" id="{5E558D74-6238-63C9-1FD9-9A808B7087F6}"/>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&lt; 0.001 (6 rats). Shuffles P = 0.058. FP P = 0.042. Only FP agrees: a middling lead.</a:t>
            </a:r>
          </a:p>
        </p:txBody>
      </p:sp>
      <p:sp>
        <p:nvSpPr>
          <p:cNvPr id="14" name="!!N66">
            <a:extLst>
              <a:ext uri="{FF2B5EF4-FFF2-40B4-BE49-F238E27FC236}">
                <a16:creationId xmlns:a16="http://schemas.microsoft.com/office/drawing/2014/main" id="{C2EA0DB4-684A-C5A8-D8E5-C5B8185C0D32}"/>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L RSC gamma bursts rising together (amplitude correlation): cue − baseline was higher on Precon4 than on Precon1.</a:t>
            </a:r>
          </a:p>
        </p:txBody>
      </p:sp>
      <p:sp>
        <p:nvSpPr>
          <p:cNvPr id="15" name="!!T-BG">
            <a:extLst>
              <a:ext uri="{FF2B5EF4-FFF2-40B4-BE49-F238E27FC236}">
                <a16:creationId xmlns:a16="http://schemas.microsoft.com/office/drawing/2014/main" id="{804BE561-0556-CFCC-2A84-C1D626140EC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EED4B92-D7CB-C1FF-58D6-C47902E9939B}"/>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2.2 · R ACC – R RSC · Not just a shared signal</a:t>
            </a:r>
          </a:p>
        </p:txBody>
      </p:sp>
    </p:spTree>
    <p:extLst>
      <p:ext uri="{BB962C8B-B14F-4D97-AF65-F5344CB8AC3E}">
        <p14:creationId xmlns:p14="http://schemas.microsoft.com/office/powerpoint/2010/main" val="1890184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38D86C7-6E17-7CFE-A623-C2BF5E383F7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3">
            <a:extLst>
              <a:ext uri="{FF2B5EF4-FFF2-40B4-BE49-F238E27FC236}">
                <a16:creationId xmlns:a16="http://schemas.microsoft.com/office/drawing/2014/main" id="{91D8C047-3918-FDD7-853C-2E9BCB36D6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7B01FA2D-38F9-1518-CD27-8C8FFD65E53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8E1CAF3-742B-3A95-7CF8-191DD40B8C3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9FD47AA-56E1-BD24-46A1-77D590FFD7F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BC07A02-2D20-AF42-A969-935970D79F4A}"/>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E3416CEC-00C2-F5EF-063D-9D746DE3DDFC}"/>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6E69F79-E0C8-2731-6155-C88E519F945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6">
            <a:extLst>
              <a:ext uri="{FF2B5EF4-FFF2-40B4-BE49-F238E27FC236}">
                <a16:creationId xmlns:a16="http://schemas.microsoft.com/office/drawing/2014/main" id="{B9E1A96A-BEE3-D09F-BA17-038786B6B20D}"/>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L RSC gamma bursts rising together (amplitude correlation): cue − baseline was higher on Precon4 than on Precon1.</a:t>
            </a:r>
          </a:p>
        </p:txBody>
      </p:sp>
      <p:sp>
        <p:nvSpPr>
          <p:cNvPr id="12" name="!!N67">
            <a:extLst>
              <a:ext uri="{FF2B5EF4-FFF2-40B4-BE49-F238E27FC236}">
                <a16:creationId xmlns:a16="http://schemas.microsoft.com/office/drawing/2014/main" id="{D174BA44-6178-1D14-5124-FCCE5F2F0C2B}"/>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0.010 (7 rats). Shuffles P = 0.001. FP P = 0.028. Both second opinions agree: a stronger lead.</a:t>
            </a:r>
          </a:p>
        </p:txBody>
      </p:sp>
      <p:sp>
        <p:nvSpPr>
          <p:cNvPr id="13" name="!!N64">
            <a:extLst>
              <a:ext uri="{FF2B5EF4-FFF2-40B4-BE49-F238E27FC236}">
                <a16:creationId xmlns:a16="http://schemas.microsoft.com/office/drawing/2014/main" id="{A0A392B3-DA93-2539-5E1F-A0AE4DE05557}"/>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R RSC (imaginary coherence): cue − baseline was higher on Precon4 than on Precon1.</a:t>
            </a:r>
          </a:p>
        </p:txBody>
      </p:sp>
      <p:sp>
        <p:nvSpPr>
          <p:cNvPr id="14" name="!!N65">
            <a:extLst>
              <a:ext uri="{FF2B5EF4-FFF2-40B4-BE49-F238E27FC236}">
                <a16:creationId xmlns:a16="http://schemas.microsoft.com/office/drawing/2014/main" id="{2C7294E2-F3BB-9336-2BB0-C6336E795F55}"/>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&lt; 0.001 (6 rats). Shuffles P = 0.058. FP P = 0.042. Only FP agrees: a middling lead.</a:t>
            </a:r>
          </a:p>
        </p:txBody>
      </p:sp>
      <p:sp>
        <p:nvSpPr>
          <p:cNvPr id="15" name="!!T-BG">
            <a:extLst>
              <a:ext uri="{FF2B5EF4-FFF2-40B4-BE49-F238E27FC236}">
                <a16:creationId xmlns:a16="http://schemas.microsoft.com/office/drawing/2014/main" id="{51F34E36-7B5F-E198-51EC-ADF4AD0B2B4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0811D9E-0080-7F2B-09D0-EF535DC3822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2.3 · R ACC – L RSC · Bursts rise together</a:t>
            </a:r>
          </a:p>
        </p:txBody>
      </p:sp>
    </p:spTree>
    <p:extLst>
      <p:ext uri="{BB962C8B-B14F-4D97-AF65-F5344CB8AC3E}">
        <p14:creationId xmlns:p14="http://schemas.microsoft.com/office/powerpoint/2010/main" val="22861807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EDF7D14-066E-8215-CF70-8271CD99500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3">
            <a:extLst>
              <a:ext uri="{FF2B5EF4-FFF2-40B4-BE49-F238E27FC236}">
                <a16:creationId xmlns:a16="http://schemas.microsoft.com/office/drawing/2014/main" id="{BADD1CCE-58DD-E68D-0BC6-40AD4568FE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7E59B508-86FE-8B7E-7C1A-AA68909EE069}"/>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0B757AA-218B-B20C-BD8D-CD0096330458}"/>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516C6B5-D620-BC90-62A0-849ADB9A7D36}"/>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62D576D-7C2B-7D66-CDDA-8EB818130A4C}"/>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9C15953-A50B-EBEF-5B0B-DEFFA7E77AC6}"/>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0147A7C8-B684-16F5-3C39-12CC07ACE1BD}"/>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26277F85-DFA5-C6E3-D7D6-089375778C9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6">
            <a:extLst>
              <a:ext uri="{FF2B5EF4-FFF2-40B4-BE49-F238E27FC236}">
                <a16:creationId xmlns:a16="http://schemas.microsoft.com/office/drawing/2014/main" id="{35990C6F-EB7C-151A-5C44-33F9808CB5B6}"/>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L RSC gamma bursts rising together (amplitude correlation): cue − baseline was higher on Precon4 than on Precon1.</a:t>
            </a:r>
          </a:p>
        </p:txBody>
      </p:sp>
      <p:sp>
        <p:nvSpPr>
          <p:cNvPr id="13" name="!!N67">
            <a:extLst>
              <a:ext uri="{FF2B5EF4-FFF2-40B4-BE49-F238E27FC236}">
                <a16:creationId xmlns:a16="http://schemas.microsoft.com/office/drawing/2014/main" id="{791B058B-F6DA-999B-0837-BDD8B2C6E872}"/>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0.010 (7 rats). Shuffles P = 0.001. FP P = 0.028. Both second opinions agree: a stronger lead.</a:t>
            </a:r>
          </a:p>
        </p:txBody>
      </p:sp>
      <p:sp>
        <p:nvSpPr>
          <p:cNvPr id="14" name="!!N68">
            <a:extLst>
              <a:ext uri="{FF2B5EF4-FFF2-40B4-BE49-F238E27FC236}">
                <a16:creationId xmlns:a16="http://schemas.microsoft.com/office/drawing/2014/main" id="{53133BC0-D787-7673-8CFC-F085CB4E2084}"/>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Steady-delay coupling, R ACC with L OFC (PLI): cue − baseline was higher on Precon4 than on Precon1.</a:t>
            </a:r>
          </a:p>
        </p:txBody>
      </p:sp>
      <p:sp>
        <p:nvSpPr>
          <p:cNvPr id="15" name="!!T-BG">
            <a:extLst>
              <a:ext uri="{FF2B5EF4-FFF2-40B4-BE49-F238E27FC236}">
                <a16:creationId xmlns:a16="http://schemas.microsoft.com/office/drawing/2014/main" id="{88522949-8742-A9B6-E1EB-AEB7238802C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46412F46-F1E5-CED3-423F-32FC21AFB5A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2.3 · R ACC – L RSC · Bursts rise together</a:t>
            </a:r>
          </a:p>
        </p:txBody>
      </p:sp>
    </p:spTree>
    <p:extLst>
      <p:ext uri="{BB962C8B-B14F-4D97-AF65-F5344CB8AC3E}">
        <p14:creationId xmlns:p14="http://schemas.microsoft.com/office/powerpoint/2010/main" val="6954302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216380F-1302-4809-D80C-1405AAB35B6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4">
            <a:extLst>
              <a:ext uri="{FF2B5EF4-FFF2-40B4-BE49-F238E27FC236}">
                <a16:creationId xmlns:a16="http://schemas.microsoft.com/office/drawing/2014/main" id="{3028C055-C92C-4805-CAE4-1721AA49341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955904"/>
            <a:ext cx="7120382" cy="3657392"/>
          </a:xfrm>
          <a:prstGeom prst="rect">
            <a:avLst/>
          </a:prstGeom>
          <a:ln w="9525">
            <a:solidFill>
              <a:srgbClr val="B0B0B0"/>
            </a:solidFill>
          </a:ln>
        </p:spPr>
      </p:pic>
      <p:sp>
        <p:nvSpPr>
          <p:cNvPr id="5" name="!!D1">
            <a:extLst>
              <a:ext uri="{FF2B5EF4-FFF2-40B4-BE49-F238E27FC236}">
                <a16:creationId xmlns:a16="http://schemas.microsoft.com/office/drawing/2014/main" id="{21065B61-3187-946B-E5E5-30ECE86A6E4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AD70957-3CE6-C54B-F03F-F0C96F331055}"/>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81C2358-43C0-7916-8917-719598A755B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9F37042-918C-90D9-3FB4-7860839C0BC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48F44B1-2F2A-F0A4-39FB-576A0F23BBDC}"/>
              </a:ext>
            </a:extLst>
          </p:cNvPr>
          <p:cNvSpPr/>
          <p:nvPr/>
        </p:nvSpPr>
        <p:spPr>
          <a:xfrm>
            <a:off x="4685497" y="2033737"/>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38D22B5-5D5B-E927-0612-0982C75EEA6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8">
            <a:extLst>
              <a:ext uri="{FF2B5EF4-FFF2-40B4-BE49-F238E27FC236}">
                <a16:creationId xmlns:a16="http://schemas.microsoft.com/office/drawing/2014/main" id="{672E747A-48C6-F2CA-C9DA-7EBC91207274}"/>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Steady-delay coupling, R ACC with L OFC (PLI): cue − baseline was higher on Precon4 than on Precon1.</a:t>
            </a:r>
          </a:p>
        </p:txBody>
      </p:sp>
      <p:sp>
        <p:nvSpPr>
          <p:cNvPr id="12" name="!!N69">
            <a:extLst>
              <a:ext uri="{FF2B5EF4-FFF2-40B4-BE49-F238E27FC236}">
                <a16:creationId xmlns:a16="http://schemas.microsoft.com/office/drawing/2014/main" id="{1A634AEC-AAFE-A8C7-F21A-A4CCB6E09368}"/>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0.033 (8 rats). Shuffles P = 0.027. FP P = 0.023. Both second opinions agree: a stronger lead.</a:t>
            </a:r>
          </a:p>
        </p:txBody>
      </p:sp>
      <p:sp>
        <p:nvSpPr>
          <p:cNvPr id="13" name="!!N66">
            <a:extLst>
              <a:ext uri="{FF2B5EF4-FFF2-40B4-BE49-F238E27FC236}">
                <a16:creationId xmlns:a16="http://schemas.microsoft.com/office/drawing/2014/main" id="{1CE2A343-06DB-C63E-9871-366A90837059}"/>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L RSC gamma bursts rising together (amplitude correlation): cue − baseline was higher on Precon4 than on Precon1.</a:t>
            </a:r>
          </a:p>
        </p:txBody>
      </p:sp>
      <p:sp>
        <p:nvSpPr>
          <p:cNvPr id="14" name="!!N67">
            <a:extLst>
              <a:ext uri="{FF2B5EF4-FFF2-40B4-BE49-F238E27FC236}">
                <a16:creationId xmlns:a16="http://schemas.microsoft.com/office/drawing/2014/main" id="{EF2EEF53-66B8-8841-3BA4-D4013CB5512A}"/>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0.010 (7 rats). Shuffles P = 0.001. FP P = 0.028. Both second opinions agree: a stronger lead.</a:t>
            </a:r>
          </a:p>
        </p:txBody>
      </p:sp>
      <p:sp>
        <p:nvSpPr>
          <p:cNvPr id="15" name="!!T-BG">
            <a:extLst>
              <a:ext uri="{FF2B5EF4-FFF2-40B4-BE49-F238E27FC236}">
                <a16:creationId xmlns:a16="http://schemas.microsoft.com/office/drawing/2014/main" id="{55692398-18D0-543F-03CE-56FB4BC4859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8177E57-D276-7B38-D016-3629B0E633E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2.4 · R ACC – L OFC · Not just a shared signal</a:t>
            </a:r>
          </a:p>
        </p:txBody>
      </p:sp>
    </p:spTree>
    <p:extLst>
      <p:ext uri="{BB962C8B-B14F-4D97-AF65-F5344CB8AC3E}">
        <p14:creationId xmlns:p14="http://schemas.microsoft.com/office/powerpoint/2010/main" val="3524819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7E0ABEE-72BE-8768-66E6-730E664B0626}"/>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4">
            <a:extLst>
              <a:ext uri="{FF2B5EF4-FFF2-40B4-BE49-F238E27FC236}">
                <a16:creationId xmlns:a16="http://schemas.microsoft.com/office/drawing/2014/main" id="{D5D0F09C-4ADD-9FEB-2E94-CD553D51955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9294076"/>
          </a:xfrm>
          <a:prstGeom prst="rect">
            <a:avLst/>
          </a:prstGeom>
          <a:ln w="9525">
            <a:solidFill>
              <a:srgbClr val="B0B0B0"/>
            </a:solidFill>
          </a:ln>
        </p:spPr>
      </p:pic>
      <p:sp>
        <p:nvSpPr>
          <p:cNvPr id="5" name="!!D1">
            <a:extLst>
              <a:ext uri="{FF2B5EF4-FFF2-40B4-BE49-F238E27FC236}">
                <a16:creationId xmlns:a16="http://schemas.microsoft.com/office/drawing/2014/main" id="{C0B07490-40F3-0D94-D61E-C15461CBE38E}"/>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0C46651-948C-6E18-B4B0-83FEB81E0F61}"/>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377A435A-44D6-F0CB-39B3-924986EB6C98}"/>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27344CE-6CAC-44A0-FDBE-995C4F32C038}"/>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9B12E19-411A-98CB-252E-BD01BD19D99B}"/>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FDCDBEC5-9BC5-FA8D-25A4-BEE2DC2E6C94}"/>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BCB0CA49-2300-087D-9DEB-5B32FA38238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8">
            <a:extLst>
              <a:ext uri="{FF2B5EF4-FFF2-40B4-BE49-F238E27FC236}">
                <a16:creationId xmlns:a16="http://schemas.microsoft.com/office/drawing/2014/main" id="{9BC5D0C8-07AF-E36A-E105-ABADEAAC9E48}"/>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Steady-delay coupling, R ACC with L OFC (PLI): cue − baseline was higher on Precon4 than on Precon1.</a:t>
            </a:r>
          </a:p>
        </p:txBody>
      </p:sp>
      <p:sp>
        <p:nvSpPr>
          <p:cNvPr id="13" name="!!N69">
            <a:extLst>
              <a:ext uri="{FF2B5EF4-FFF2-40B4-BE49-F238E27FC236}">
                <a16:creationId xmlns:a16="http://schemas.microsoft.com/office/drawing/2014/main" id="{06BE9D1B-4D65-04D6-532A-FE70DA3041B8}"/>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0.033 (8 rats). Shuffles P = 0.027. FP P = 0.023. Both second opinions agree: a stronger lead.</a:t>
            </a:r>
          </a:p>
        </p:txBody>
      </p:sp>
      <p:sp>
        <p:nvSpPr>
          <p:cNvPr id="14" name="!!N70">
            <a:extLst>
              <a:ext uri="{FF2B5EF4-FFF2-40B4-BE49-F238E27FC236}">
                <a16:creationId xmlns:a16="http://schemas.microsoft.com/office/drawing/2014/main" id="{23799F19-02D0-BF6A-DF96-6200D9BA7D01}"/>
              </a:ext>
            </a:extLst>
          </p:cNvPr>
          <p:cNvSpPr/>
          <p:nvPr/>
        </p:nvSpPr>
        <p:spPr>
          <a:xfrm>
            <a:off x="12573000" y="22799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L OFC (imaginary coherence): cue − baseline was higher on Precon4 than on Precon1.</a:t>
            </a:r>
          </a:p>
        </p:txBody>
      </p:sp>
      <p:sp>
        <p:nvSpPr>
          <p:cNvPr id="15" name="!!T-BG">
            <a:extLst>
              <a:ext uri="{FF2B5EF4-FFF2-40B4-BE49-F238E27FC236}">
                <a16:creationId xmlns:a16="http://schemas.microsoft.com/office/drawing/2014/main" id="{5E4D0436-4F10-BD7F-E578-3AF6C28D04C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9CF43DCB-E9C3-3707-5D81-E3510F5C837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2.4 · R ACC – L OFC · Not just a shared signal</a:t>
            </a:r>
          </a:p>
        </p:txBody>
      </p:sp>
    </p:spTree>
    <p:extLst>
      <p:ext uri="{BB962C8B-B14F-4D97-AF65-F5344CB8AC3E}">
        <p14:creationId xmlns:p14="http://schemas.microsoft.com/office/powerpoint/2010/main" val="4571760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A7EBCB7-6650-1368-1ABC-C2C6DFEA509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4">
            <a:extLst>
              <a:ext uri="{FF2B5EF4-FFF2-40B4-BE49-F238E27FC236}">
                <a16:creationId xmlns:a16="http://schemas.microsoft.com/office/drawing/2014/main" id="{F4A963C5-325B-0DA4-BC05-A9E8D998371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955904"/>
            <a:ext cx="7120382" cy="3657392"/>
          </a:xfrm>
          <a:prstGeom prst="rect">
            <a:avLst/>
          </a:prstGeom>
          <a:ln w="9525">
            <a:solidFill>
              <a:srgbClr val="B0B0B0"/>
            </a:solidFill>
          </a:ln>
        </p:spPr>
      </p:pic>
      <p:sp>
        <p:nvSpPr>
          <p:cNvPr id="5" name="!!D1">
            <a:extLst>
              <a:ext uri="{FF2B5EF4-FFF2-40B4-BE49-F238E27FC236}">
                <a16:creationId xmlns:a16="http://schemas.microsoft.com/office/drawing/2014/main" id="{C32B5337-6E32-AD71-6DF7-4B58D526A3A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D1E5C04-8A8B-5E7B-8FAC-78F09871651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EFFF3FD-A820-5CFE-7525-0088417C68B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172AEE1-24E2-8FB1-B6A2-3B230BA065E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FE99D20-A26B-810A-F85C-AB38A239FBC5}"/>
              </a:ext>
            </a:extLst>
          </p:cNvPr>
          <p:cNvSpPr/>
          <p:nvPr/>
        </p:nvSpPr>
        <p:spPr>
          <a:xfrm>
            <a:off x="4685497" y="3746073"/>
            <a:ext cx="1424351" cy="1517751"/>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8D5E393-1DED-4F06-4069-65783E430E7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8">
            <a:extLst>
              <a:ext uri="{FF2B5EF4-FFF2-40B4-BE49-F238E27FC236}">
                <a16:creationId xmlns:a16="http://schemas.microsoft.com/office/drawing/2014/main" id="{E62B541A-27CC-37BE-9A72-4E0E3AF5E05C}"/>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Steady-delay coupling, R ACC with L OFC (PLI): cue − baseline was higher on Precon4 than on Precon1.</a:t>
            </a:r>
          </a:p>
        </p:txBody>
      </p:sp>
      <p:sp>
        <p:nvSpPr>
          <p:cNvPr id="12" name="!!N69">
            <a:extLst>
              <a:ext uri="{FF2B5EF4-FFF2-40B4-BE49-F238E27FC236}">
                <a16:creationId xmlns:a16="http://schemas.microsoft.com/office/drawing/2014/main" id="{8E3ADAC4-10AA-1460-94BE-C346284F5EA1}"/>
              </a:ext>
            </a:extLst>
          </p:cNvPr>
          <p:cNvSpPr/>
          <p:nvPr/>
        </p:nvSpPr>
        <p:spPr>
          <a:xfrm>
            <a:off x="77978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t-test P = 0.033 (8 rats). Shuffles P = 0.027. FP P = 0.023. </a:t>
            </a:r>
            <a:r>
              <a:rPr lang="en-US" sz="1200" b="1">
                <a:solidFill>
                  <a:srgbClr val="FFFFFF"/>
                </a:solidFill>
                <a:latin typeface="Aptos" panose="020B0004020202020204" pitchFamily="34" charset="0"/>
              </a:rPr>
              <a:t>Both second opinions agree: a stronger lead.</a:t>
            </a:r>
          </a:p>
        </p:txBody>
      </p:sp>
      <p:sp>
        <p:nvSpPr>
          <p:cNvPr id="13" name="!!N70">
            <a:extLst>
              <a:ext uri="{FF2B5EF4-FFF2-40B4-BE49-F238E27FC236}">
                <a16:creationId xmlns:a16="http://schemas.microsoft.com/office/drawing/2014/main" id="{BC87E0F1-A89A-AD6D-6029-A8165BF7BE77}"/>
              </a:ext>
            </a:extLst>
          </p:cNvPr>
          <p:cNvSpPr/>
          <p:nvPr/>
        </p:nvSpPr>
        <p:spPr>
          <a:xfrm>
            <a:off x="7797800" y="22799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L OFC (imaginary coherence): cue − baseline was higher on Precon4 than on Precon1.</a:t>
            </a:r>
          </a:p>
        </p:txBody>
      </p:sp>
      <p:sp>
        <p:nvSpPr>
          <p:cNvPr id="14" name="!!N71">
            <a:extLst>
              <a:ext uri="{FF2B5EF4-FFF2-40B4-BE49-F238E27FC236}">
                <a16:creationId xmlns:a16="http://schemas.microsoft.com/office/drawing/2014/main" id="{E84A14DC-8F60-9060-F939-CC90180B95F0}"/>
              </a:ext>
            </a:extLst>
          </p:cNvPr>
          <p:cNvSpPr/>
          <p:nvPr/>
        </p:nvSpPr>
        <p:spPr>
          <a:xfrm>
            <a:off x="12573000" y="31897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0.016 (8 rats). Shuffles P = 0.012. FP P = 0.008. Both second opinions agree: a stronger lead.</a:t>
            </a:r>
          </a:p>
        </p:txBody>
      </p:sp>
      <p:sp>
        <p:nvSpPr>
          <p:cNvPr id="15" name="!!T-BG">
            <a:extLst>
              <a:ext uri="{FF2B5EF4-FFF2-40B4-BE49-F238E27FC236}">
                <a16:creationId xmlns:a16="http://schemas.microsoft.com/office/drawing/2014/main" id="{287E6EC5-D281-D79A-B178-9629EDC2194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56DF0A97-908A-3986-D20B-12AC530B3FE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2.4 · R ACC – L OFC · Not just a shared signal</a:t>
            </a:r>
          </a:p>
        </p:txBody>
      </p:sp>
    </p:spTree>
    <p:extLst>
      <p:ext uri="{BB962C8B-B14F-4D97-AF65-F5344CB8AC3E}">
        <p14:creationId xmlns:p14="http://schemas.microsoft.com/office/powerpoint/2010/main" val="816431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C27AD1D-2594-C9B6-2394-941E7794355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4">
            <a:extLst>
              <a:ext uri="{FF2B5EF4-FFF2-40B4-BE49-F238E27FC236}">
                <a16:creationId xmlns:a16="http://schemas.microsoft.com/office/drawing/2014/main" id="{12C28C87-3461-C6D7-CC7E-F24C58453C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2692970"/>
            <a:ext cx="18094144" cy="9294076"/>
          </a:xfrm>
          <a:prstGeom prst="rect">
            <a:avLst/>
          </a:prstGeom>
          <a:ln w="9525">
            <a:solidFill>
              <a:srgbClr val="B0B0B0"/>
            </a:solidFill>
          </a:ln>
        </p:spPr>
      </p:pic>
      <p:sp>
        <p:nvSpPr>
          <p:cNvPr id="5" name="!!D1">
            <a:extLst>
              <a:ext uri="{FF2B5EF4-FFF2-40B4-BE49-F238E27FC236}">
                <a16:creationId xmlns:a16="http://schemas.microsoft.com/office/drawing/2014/main" id="{A41785DE-8F91-DD99-352D-1EEB72037220}"/>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B54D8E8-6807-5E17-076D-0DFFC9F46BB7}"/>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57A99F6-D26C-1E01-8325-243BAA0EC064}"/>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731EECFF-5F3E-F80D-13F0-9DAF4D08F900}"/>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CACEB5D-C1EC-94DD-78F7-B09923093DF8}"/>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6EBD1019-311C-F41B-42A5-10A9E0966B70}"/>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9BA5033A-8E40-2097-76C1-F1E6C4D3A9D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8">
            <a:extLst>
              <a:ext uri="{FF2B5EF4-FFF2-40B4-BE49-F238E27FC236}">
                <a16:creationId xmlns:a16="http://schemas.microsoft.com/office/drawing/2014/main" id="{942EBB86-DFED-CCD9-C479-B782AE2295A4}"/>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Steady-delay coupling, R ACC with L OFC (PLI): cue − baseline was higher on Precon4 than on Precon1.</a:t>
            </a:r>
          </a:p>
        </p:txBody>
      </p:sp>
      <p:sp>
        <p:nvSpPr>
          <p:cNvPr id="13" name="!!N69">
            <a:extLst>
              <a:ext uri="{FF2B5EF4-FFF2-40B4-BE49-F238E27FC236}">
                <a16:creationId xmlns:a16="http://schemas.microsoft.com/office/drawing/2014/main" id="{663FB409-81A7-822B-3872-91A7114578B1}"/>
              </a:ext>
            </a:extLst>
          </p:cNvPr>
          <p:cNvSpPr/>
          <p:nvPr/>
        </p:nvSpPr>
        <p:spPr>
          <a:xfrm>
            <a:off x="77978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t-test P = 0.033 (8 rats). Shuffles P = 0.027. FP P = 0.023. </a:t>
            </a:r>
            <a:r>
              <a:rPr lang="en-US" sz="1200" b="1">
                <a:solidFill>
                  <a:srgbClr val="FFFFFF"/>
                </a:solidFill>
                <a:latin typeface="Aptos" panose="020B0004020202020204" pitchFamily="34" charset="0"/>
              </a:rPr>
              <a:t>Both second opinions agree: a stronger lead.</a:t>
            </a:r>
          </a:p>
        </p:txBody>
      </p:sp>
      <p:sp>
        <p:nvSpPr>
          <p:cNvPr id="14" name="!!N70">
            <a:extLst>
              <a:ext uri="{FF2B5EF4-FFF2-40B4-BE49-F238E27FC236}">
                <a16:creationId xmlns:a16="http://schemas.microsoft.com/office/drawing/2014/main" id="{61BFD00F-674A-8556-7437-DED01BF9B6BC}"/>
              </a:ext>
            </a:extLst>
          </p:cNvPr>
          <p:cNvSpPr/>
          <p:nvPr/>
        </p:nvSpPr>
        <p:spPr>
          <a:xfrm>
            <a:off x="7797800" y="22799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L OFC (imaginary coherence): cue − baseline was higher on Precon4 than on Precon1.</a:t>
            </a:r>
          </a:p>
        </p:txBody>
      </p:sp>
      <p:sp>
        <p:nvSpPr>
          <p:cNvPr id="15" name="!!N71">
            <a:extLst>
              <a:ext uri="{FF2B5EF4-FFF2-40B4-BE49-F238E27FC236}">
                <a16:creationId xmlns:a16="http://schemas.microsoft.com/office/drawing/2014/main" id="{E786CDFB-A121-F386-AC2C-A509BEE9B7BB}"/>
              </a:ext>
            </a:extLst>
          </p:cNvPr>
          <p:cNvSpPr/>
          <p:nvPr/>
        </p:nvSpPr>
        <p:spPr>
          <a:xfrm>
            <a:off x="7797800" y="31897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0.016 (8 rats). Shuffles P = 0.012. FP P = 0.008. Both second opinions agree: a stronger lead.</a:t>
            </a:r>
          </a:p>
        </p:txBody>
      </p:sp>
      <p:sp>
        <p:nvSpPr>
          <p:cNvPr id="16" name="!!N72">
            <a:extLst>
              <a:ext uri="{FF2B5EF4-FFF2-40B4-BE49-F238E27FC236}">
                <a16:creationId xmlns:a16="http://schemas.microsoft.com/office/drawing/2014/main" id="{3E84E0E2-891F-EA88-ED67-C85D178814E9}"/>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ACC pacing gamma in L OFC (PAC): cue − baseline was higher on Precon4 than on Precon1.</a:t>
            </a:r>
          </a:p>
        </p:txBody>
      </p:sp>
      <p:sp>
        <p:nvSpPr>
          <p:cNvPr id="17" name="!!T-BG">
            <a:extLst>
              <a:ext uri="{FF2B5EF4-FFF2-40B4-BE49-F238E27FC236}">
                <a16:creationId xmlns:a16="http://schemas.microsoft.com/office/drawing/2014/main" id="{69E97452-6513-5FF7-31AF-BAA86E1BD35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
            <a:extLst>
              <a:ext uri="{FF2B5EF4-FFF2-40B4-BE49-F238E27FC236}">
                <a16:creationId xmlns:a16="http://schemas.microsoft.com/office/drawing/2014/main" id="{29859F89-B473-9AB0-1377-C0B64A972EF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2.4 · R ACC – L OFC · Not just a shared signal</a:t>
            </a:r>
          </a:p>
        </p:txBody>
      </p:sp>
    </p:spTree>
    <p:extLst>
      <p:ext uri="{BB962C8B-B14F-4D97-AF65-F5344CB8AC3E}">
        <p14:creationId xmlns:p14="http://schemas.microsoft.com/office/powerpoint/2010/main" val="22735978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FD350EC-C302-1CB7-DE61-A615F5AB5EA6}"/>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5">
            <a:extLst>
              <a:ext uri="{FF2B5EF4-FFF2-40B4-BE49-F238E27FC236}">
                <a16:creationId xmlns:a16="http://schemas.microsoft.com/office/drawing/2014/main" id="{0D0FEFA2-E031-849B-F9F2-7F5466F528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5DE36D84-5ABA-3241-D8A3-20492AD8FAD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8453176-8F47-7E26-A1E1-10A576DB2E1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57ACB0D-561F-8D8E-CDE0-6C369EDAF7C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7CD10E55-C776-F21F-3F93-27F4B5B8ABCD}"/>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818D1FA-B1DE-BCB3-1578-622CCAAC9905}"/>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D5AF36A-795A-628B-9CFF-A9167EB41010}"/>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2">
            <a:extLst>
              <a:ext uri="{FF2B5EF4-FFF2-40B4-BE49-F238E27FC236}">
                <a16:creationId xmlns:a16="http://schemas.microsoft.com/office/drawing/2014/main" id="{7FF81903-02D1-BB2F-BB95-34A6B245C0F7}"/>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ACC pacing gamma in L OFC (PAC): cue − baseline was higher on Precon4 than on Precon1.</a:t>
            </a:r>
          </a:p>
        </p:txBody>
      </p:sp>
      <p:sp>
        <p:nvSpPr>
          <p:cNvPr id="12" name="!!N73">
            <a:extLst>
              <a:ext uri="{FF2B5EF4-FFF2-40B4-BE49-F238E27FC236}">
                <a16:creationId xmlns:a16="http://schemas.microsoft.com/office/drawing/2014/main" id="{F1D599DD-714B-BEAD-D9AC-CC636A5474ED}"/>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0.010 (8 rats). Shuffles P = 0.187. FP P = 0.179. Neither second opinion agrees: a weaker lead.</a:t>
            </a:r>
          </a:p>
        </p:txBody>
      </p:sp>
      <p:sp>
        <p:nvSpPr>
          <p:cNvPr id="13" name="!!N68">
            <a:extLst>
              <a:ext uri="{FF2B5EF4-FFF2-40B4-BE49-F238E27FC236}">
                <a16:creationId xmlns:a16="http://schemas.microsoft.com/office/drawing/2014/main" id="{F2832910-968C-B86D-FF27-FEAA1DB0F867}"/>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Steady-delay coupling, R ACC with L OFC (PLI): cue − baseline was higher on Precon4 than on Precon1.</a:t>
            </a:r>
          </a:p>
        </p:txBody>
      </p:sp>
      <p:sp>
        <p:nvSpPr>
          <p:cNvPr id="14" name="!!N69">
            <a:extLst>
              <a:ext uri="{FF2B5EF4-FFF2-40B4-BE49-F238E27FC236}">
                <a16:creationId xmlns:a16="http://schemas.microsoft.com/office/drawing/2014/main" id="{721D7684-2FD2-1AA7-508D-6C4AE4133156}"/>
              </a:ext>
            </a:extLst>
          </p:cNvPr>
          <p:cNvSpPr/>
          <p:nvPr/>
        </p:nvSpPr>
        <p:spPr>
          <a:xfrm>
            <a:off x="125730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t-test P = 0.033 (8 rats). Shuffles P = 0.027. FP P = 0.023. </a:t>
            </a:r>
            <a:r>
              <a:rPr lang="en-US" sz="1200" b="1">
                <a:solidFill>
                  <a:srgbClr val="FFFFFF"/>
                </a:solidFill>
                <a:latin typeface="Aptos" panose="020B0004020202020204" pitchFamily="34" charset="0"/>
              </a:rPr>
              <a:t>Both second opinions agree: a stronger lead.</a:t>
            </a:r>
          </a:p>
        </p:txBody>
      </p:sp>
      <p:sp>
        <p:nvSpPr>
          <p:cNvPr id="15" name="!!N70">
            <a:extLst>
              <a:ext uri="{FF2B5EF4-FFF2-40B4-BE49-F238E27FC236}">
                <a16:creationId xmlns:a16="http://schemas.microsoft.com/office/drawing/2014/main" id="{0D69837B-1715-937C-093A-4670F357B700}"/>
              </a:ext>
            </a:extLst>
          </p:cNvPr>
          <p:cNvSpPr/>
          <p:nvPr/>
        </p:nvSpPr>
        <p:spPr>
          <a:xfrm>
            <a:off x="12573000" y="22799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L OFC (imaginary coherence): cue − baseline was higher on Precon4 than on Precon1.</a:t>
            </a:r>
          </a:p>
        </p:txBody>
      </p:sp>
      <p:sp>
        <p:nvSpPr>
          <p:cNvPr id="16" name="!!N71">
            <a:extLst>
              <a:ext uri="{FF2B5EF4-FFF2-40B4-BE49-F238E27FC236}">
                <a16:creationId xmlns:a16="http://schemas.microsoft.com/office/drawing/2014/main" id="{09E4FD5A-C044-9B5F-3DC4-772EF17F12E8}"/>
              </a:ext>
            </a:extLst>
          </p:cNvPr>
          <p:cNvSpPr/>
          <p:nvPr/>
        </p:nvSpPr>
        <p:spPr>
          <a:xfrm>
            <a:off x="12573000" y="31897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0.016 (8 rats). Shuffles P = 0.012. FP P = 0.008. Both second opinions agree: a stronger lead.</a:t>
            </a:r>
          </a:p>
        </p:txBody>
      </p:sp>
      <p:sp>
        <p:nvSpPr>
          <p:cNvPr id="17" name="!!T-BG">
            <a:extLst>
              <a:ext uri="{FF2B5EF4-FFF2-40B4-BE49-F238E27FC236}">
                <a16:creationId xmlns:a16="http://schemas.microsoft.com/office/drawing/2014/main" id="{77E17BB2-8E5D-1868-1FEB-06E75A90521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
            <a:extLst>
              <a:ext uri="{FF2B5EF4-FFF2-40B4-BE49-F238E27FC236}">
                <a16:creationId xmlns:a16="http://schemas.microsoft.com/office/drawing/2014/main" id="{7E68D564-0D88-0795-4C94-50166BC819A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2.5 · R ACC – L OFC · Theta paces gamma</a:t>
            </a:r>
          </a:p>
        </p:txBody>
      </p:sp>
    </p:spTree>
    <p:extLst>
      <p:ext uri="{BB962C8B-B14F-4D97-AF65-F5344CB8AC3E}">
        <p14:creationId xmlns:p14="http://schemas.microsoft.com/office/powerpoint/2010/main" val="32460567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310215F-3645-769E-4DE1-572CAA29F51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5">
            <a:extLst>
              <a:ext uri="{FF2B5EF4-FFF2-40B4-BE49-F238E27FC236}">
                <a16:creationId xmlns:a16="http://schemas.microsoft.com/office/drawing/2014/main" id="{4633A6A7-173D-2C3A-EFDE-2CB93CD44BA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C5EA4C0F-46EF-48A8-ABCD-AEE91C06F76C}"/>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6D24EEC-2558-18D6-7179-B538B8AEFFBE}"/>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96D6D6E-AAAD-AB9B-8466-40F5E5F9ED03}"/>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14AC74A-A9E0-607A-4B62-D66F78EE5FBD}"/>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E55A43CA-8845-641B-C46E-3321FAF60C3D}"/>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7BEB3FF3-069A-087C-3CD8-94A68A94547C}"/>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2E1FD474-1F55-120D-5482-946E517314A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72">
            <a:extLst>
              <a:ext uri="{FF2B5EF4-FFF2-40B4-BE49-F238E27FC236}">
                <a16:creationId xmlns:a16="http://schemas.microsoft.com/office/drawing/2014/main" id="{FFA8F653-82DE-F4B7-AE83-86E62D2864DD}"/>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ACC pacing gamma in L OFC (PAC): cue − baseline was higher on Precon4 than on Precon1.</a:t>
            </a:r>
          </a:p>
        </p:txBody>
      </p:sp>
      <p:sp>
        <p:nvSpPr>
          <p:cNvPr id="13" name="!!N73">
            <a:extLst>
              <a:ext uri="{FF2B5EF4-FFF2-40B4-BE49-F238E27FC236}">
                <a16:creationId xmlns:a16="http://schemas.microsoft.com/office/drawing/2014/main" id="{B4E1C717-4995-0667-6021-9F849B3E83B7}"/>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0.010 (8 rats). Shuffles P = 0.187. FP P = 0.179. Neither second opinion agrees: a weaker lead.</a:t>
            </a:r>
          </a:p>
        </p:txBody>
      </p:sp>
      <p:sp>
        <p:nvSpPr>
          <p:cNvPr id="14" name="!!N74">
            <a:extLst>
              <a:ext uri="{FF2B5EF4-FFF2-40B4-BE49-F238E27FC236}">
                <a16:creationId xmlns:a16="http://schemas.microsoft.com/office/drawing/2014/main" id="{CD901030-BD5D-3C0A-37E1-FEF3595B6F95}"/>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ACC theta cycle, averaged over rats, Precon1 then Precon4. Where in the cycle, not how much: c is the result.</a:t>
            </a:r>
          </a:p>
        </p:txBody>
      </p:sp>
      <p:sp>
        <p:nvSpPr>
          <p:cNvPr id="15" name="!!T-BG">
            <a:extLst>
              <a:ext uri="{FF2B5EF4-FFF2-40B4-BE49-F238E27FC236}">
                <a16:creationId xmlns:a16="http://schemas.microsoft.com/office/drawing/2014/main" id="{0C6B1AFE-4FB3-AF84-001B-615490748E1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9C60D983-996A-7CFD-871C-69B6E2F0760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2.5 · R ACC – L OFC · Theta paces gamma</a:t>
            </a:r>
          </a:p>
        </p:txBody>
      </p:sp>
    </p:spTree>
    <p:extLst>
      <p:ext uri="{BB962C8B-B14F-4D97-AF65-F5344CB8AC3E}">
        <p14:creationId xmlns:p14="http://schemas.microsoft.com/office/powerpoint/2010/main" val="32564090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41AA2D9-A4EC-4E63-05C0-985E483EE06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5">
            <a:extLst>
              <a:ext uri="{FF2B5EF4-FFF2-40B4-BE49-F238E27FC236}">
                <a16:creationId xmlns:a16="http://schemas.microsoft.com/office/drawing/2014/main" id="{36C5D632-5080-92C1-7DA4-D226E092A01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97139"/>
            <a:ext cx="7119007" cy="3500206"/>
          </a:xfrm>
          <a:prstGeom prst="rect">
            <a:avLst/>
          </a:prstGeom>
          <a:ln w="9525">
            <a:solidFill>
              <a:srgbClr val="B0B0B0"/>
            </a:solidFill>
          </a:ln>
        </p:spPr>
      </p:pic>
      <p:sp>
        <p:nvSpPr>
          <p:cNvPr id="5" name="!!D1">
            <a:extLst>
              <a:ext uri="{FF2B5EF4-FFF2-40B4-BE49-F238E27FC236}">
                <a16:creationId xmlns:a16="http://schemas.microsoft.com/office/drawing/2014/main" id="{42270307-C562-3C0A-07E3-8E669FE1C7C5}"/>
              </a:ext>
            </a:extLst>
          </p:cNvPr>
          <p:cNvSpPr/>
          <p:nvPr/>
        </p:nvSpPr>
        <p:spPr>
          <a:xfrm>
            <a:off x="0" y="685800"/>
            <a:ext cx="7670800" cy="22368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AF69D67-9635-C26E-D858-99C0182D0CC0}"/>
              </a:ext>
            </a:extLst>
          </p:cNvPr>
          <p:cNvSpPr/>
          <p:nvPr/>
        </p:nvSpPr>
        <p:spPr>
          <a:xfrm>
            <a:off x="0" y="4646548"/>
            <a:ext cx="7670800" cy="22114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8330125-D383-4689-61D4-F5FE3A569899}"/>
              </a:ext>
            </a:extLst>
          </p:cNvPr>
          <p:cNvSpPr/>
          <p:nvPr/>
        </p:nvSpPr>
        <p:spPr>
          <a:xfrm>
            <a:off x="0" y="2922652"/>
            <a:ext cx="2625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7B4F93B-2FD8-6AD0-35CE-879EB7BB6E6B}"/>
              </a:ext>
            </a:extLst>
          </p:cNvPr>
          <p:cNvSpPr/>
          <p:nvPr/>
        </p:nvSpPr>
        <p:spPr>
          <a:xfrm>
            <a:off x="7433691" y="2922652"/>
            <a:ext cx="2371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A18D7FD-EE7D-93A7-D2D9-FA5E5BF20FC1}"/>
              </a:ext>
            </a:extLst>
          </p:cNvPr>
          <p:cNvSpPr/>
          <p:nvPr/>
        </p:nvSpPr>
        <p:spPr>
          <a:xfrm>
            <a:off x="287909" y="2986962"/>
            <a:ext cx="5019286" cy="159527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59F303D-11A8-EDE0-EE62-F8B80744776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4">
            <a:extLst>
              <a:ext uri="{FF2B5EF4-FFF2-40B4-BE49-F238E27FC236}">
                <a16:creationId xmlns:a16="http://schemas.microsoft.com/office/drawing/2014/main" id="{B91F71B2-FC3B-1C49-7A69-67F98C252E46}"/>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ACC theta cycle, averaged over rats, Precon1 then Precon4. Where in the cycle, not how much: c is the result.</a:t>
            </a:r>
          </a:p>
        </p:txBody>
      </p:sp>
      <p:sp>
        <p:nvSpPr>
          <p:cNvPr id="12" name="!!N75">
            <a:extLst>
              <a:ext uri="{FF2B5EF4-FFF2-40B4-BE49-F238E27FC236}">
                <a16:creationId xmlns:a16="http://schemas.microsoft.com/office/drawing/2014/main" id="{C6114B2B-7672-BE28-488B-2F0F57192FA4}"/>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L ACC (imaginary coherence): cue − baseline was higher on Precon4 than on Precon1.</a:t>
            </a:r>
          </a:p>
        </p:txBody>
      </p:sp>
      <p:sp>
        <p:nvSpPr>
          <p:cNvPr id="13" name="!!N72">
            <a:extLst>
              <a:ext uri="{FF2B5EF4-FFF2-40B4-BE49-F238E27FC236}">
                <a16:creationId xmlns:a16="http://schemas.microsoft.com/office/drawing/2014/main" id="{4AF9026A-8556-BC39-49A6-FD4737DB0CE9}"/>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ACC pacing gamma in L OFC (PAC): cue − baseline was higher on Precon4 than on Precon1.</a:t>
            </a:r>
          </a:p>
        </p:txBody>
      </p:sp>
      <p:sp>
        <p:nvSpPr>
          <p:cNvPr id="14" name="!!N73">
            <a:extLst>
              <a:ext uri="{FF2B5EF4-FFF2-40B4-BE49-F238E27FC236}">
                <a16:creationId xmlns:a16="http://schemas.microsoft.com/office/drawing/2014/main" id="{99C2CF34-A67F-F5F8-3E53-0ADEEF235943}"/>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0.010 (8 rats). Shuffles P = 0.187. FP P = 0.179. Neither second opinion agrees: a weaker lead.</a:t>
            </a:r>
          </a:p>
        </p:txBody>
      </p:sp>
      <p:sp>
        <p:nvSpPr>
          <p:cNvPr id="15" name="!!T-BG">
            <a:extLst>
              <a:ext uri="{FF2B5EF4-FFF2-40B4-BE49-F238E27FC236}">
                <a16:creationId xmlns:a16="http://schemas.microsoft.com/office/drawing/2014/main" id="{D2A65543-17A3-15CD-1EB0-DFA0EB17A8A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D4BE74F-2370-F836-475B-039B526D13F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2.5 · R ACC – L OFC · Theta paces gamma</a:t>
            </a:r>
          </a:p>
        </p:txBody>
      </p:sp>
    </p:spTree>
    <p:extLst>
      <p:ext uri="{BB962C8B-B14F-4D97-AF65-F5344CB8AC3E}">
        <p14:creationId xmlns:p14="http://schemas.microsoft.com/office/powerpoint/2010/main" val="8613287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C44F75D-73F7-9CCC-659A-DEE8917894E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6">
            <a:extLst>
              <a:ext uri="{FF2B5EF4-FFF2-40B4-BE49-F238E27FC236}">
                <a16:creationId xmlns:a16="http://schemas.microsoft.com/office/drawing/2014/main" id="{D19ED475-7E20-23C8-4C9B-0606C70BD3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388200EC-99DA-28D0-BE00-1297E1C2762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5A3D08C-C036-4FE1-9116-69E65AA924D6}"/>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D7DD00E-E602-2DC2-02E5-805285045C3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6DA8F47-D81B-1F4C-2945-A034B313F75C}"/>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E1479C1-A33E-9DDE-B6CF-CA3851C29100}"/>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CCB0F48-0DDC-A2CF-31B1-62394A60D97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5">
            <a:extLst>
              <a:ext uri="{FF2B5EF4-FFF2-40B4-BE49-F238E27FC236}">
                <a16:creationId xmlns:a16="http://schemas.microsoft.com/office/drawing/2014/main" id="{7820F633-158C-EB1F-64F5-A4156DE75B6C}"/>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L ACC (imaginary coherence): cue − baseline was higher on Precon4 than on Precon1.</a:t>
            </a:r>
          </a:p>
        </p:txBody>
      </p:sp>
      <p:sp>
        <p:nvSpPr>
          <p:cNvPr id="12" name="!!N76">
            <a:extLst>
              <a:ext uri="{FF2B5EF4-FFF2-40B4-BE49-F238E27FC236}">
                <a16:creationId xmlns:a16="http://schemas.microsoft.com/office/drawing/2014/main" id="{D07024D2-C83C-2BD2-16F0-805210912DE1}"/>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0.027 (8 rats). Shuffles P = 0.077. FP P = 0.064. Neither second opinion agrees: a weaker lead.</a:t>
            </a:r>
          </a:p>
        </p:txBody>
      </p:sp>
      <p:sp>
        <p:nvSpPr>
          <p:cNvPr id="13" name="!!N74">
            <a:extLst>
              <a:ext uri="{FF2B5EF4-FFF2-40B4-BE49-F238E27FC236}">
                <a16:creationId xmlns:a16="http://schemas.microsoft.com/office/drawing/2014/main" id="{0FDB59CE-54D4-F706-4EC5-1E635A27BD31}"/>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ACC theta cycle, averaged over rats, Precon1 then Precon4. Where in the cycle, not how much: c is the result.</a:t>
            </a:r>
          </a:p>
        </p:txBody>
      </p:sp>
      <p:sp>
        <p:nvSpPr>
          <p:cNvPr id="14" name="!!T-BG">
            <a:extLst>
              <a:ext uri="{FF2B5EF4-FFF2-40B4-BE49-F238E27FC236}">
                <a16:creationId xmlns:a16="http://schemas.microsoft.com/office/drawing/2014/main" id="{4A07634E-7386-5B12-C66A-98ED439B8F0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D675FD13-2106-4898-EF0A-5DE4556E49A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2.6 · R ACC – L ACC · Not just a shared signal</a:t>
            </a:r>
          </a:p>
        </p:txBody>
      </p:sp>
    </p:spTree>
    <p:extLst>
      <p:ext uri="{BB962C8B-B14F-4D97-AF65-F5344CB8AC3E}">
        <p14:creationId xmlns:p14="http://schemas.microsoft.com/office/powerpoint/2010/main" val="38301909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06E89F2-AA83-3D4B-DD17-FDC3268E1C7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6">
            <a:extLst>
              <a:ext uri="{FF2B5EF4-FFF2-40B4-BE49-F238E27FC236}">
                <a16:creationId xmlns:a16="http://schemas.microsoft.com/office/drawing/2014/main" id="{6AE4C9B4-E595-72AB-65B4-9B419A4D0DB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5EC9016B-2698-DA41-C0E0-9361E882745E}"/>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912FEC2-2CA5-4F48-4212-38D4FCF84A94}"/>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0E61DF6-E0BB-4FCF-58B7-72C73835DF26}"/>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382D2A7-A6BC-BA14-340E-9954ACE5ADEE}"/>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A3CD98CE-0583-2BD0-3890-F139DBE4F1D4}"/>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52837708-3725-7784-F9AB-1F2DF998D681}"/>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D4B096AF-8D2D-8CE5-0CB9-629D63C928D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75">
            <a:extLst>
              <a:ext uri="{FF2B5EF4-FFF2-40B4-BE49-F238E27FC236}">
                <a16:creationId xmlns:a16="http://schemas.microsoft.com/office/drawing/2014/main" id="{A0DC15F0-BD8B-8D54-C5D4-B63652660692}"/>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L ACC (imaginary coherence): cue − baseline was higher on Precon4 than on Precon1.</a:t>
            </a:r>
          </a:p>
        </p:txBody>
      </p:sp>
      <p:sp>
        <p:nvSpPr>
          <p:cNvPr id="13" name="!!N76">
            <a:extLst>
              <a:ext uri="{FF2B5EF4-FFF2-40B4-BE49-F238E27FC236}">
                <a16:creationId xmlns:a16="http://schemas.microsoft.com/office/drawing/2014/main" id="{2E729053-AC35-2B40-BA54-2A4B00809EDC}"/>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0.027 (8 rats). Shuffles P = 0.077. FP P = 0.064. Neither second opinion agrees: a weaker lead.</a:t>
            </a:r>
          </a:p>
        </p:txBody>
      </p:sp>
      <p:sp>
        <p:nvSpPr>
          <p:cNvPr id="14" name="!!N77">
            <a:extLst>
              <a:ext uri="{FF2B5EF4-FFF2-40B4-BE49-F238E27FC236}">
                <a16:creationId xmlns:a16="http://schemas.microsoft.com/office/drawing/2014/main" id="{50335D97-9813-5A71-087B-00B16AF1A051}"/>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L ACC gamma bursts rising together (amplitude correlation): cue − baseline was higher on Precon4 than on Precon1.</a:t>
            </a:r>
          </a:p>
        </p:txBody>
      </p:sp>
      <p:sp>
        <p:nvSpPr>
          <p:cNvPr id="15" name="!!T-BG">
            <a:extLst>
              <a:ext uri="{FF2B5EF4-FFF2-40B4-BE49-F238E27FC236}">
                <a16:creationId xmlns:a16="http://schemas.microsoft.com/office/drawing/2014/main" id="{675CA6C8-1655-E6A4-F3AE-362BE1120AF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62363430-1507-8E70-2144-F85521E8C3E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2.6 · R ACC – L ACC · Not just a shared signal</a:t>
            </a:r>
          </a:p>
        </p:txBody>
      </p:sp>
    </p:spTree>
    <p:extLst>
      <p:ext uri="{BB962C8B-B14F-4D97-AF65-F5344CB8AC3E}">
        <p14:creationId xmlns:p14="http://schemas.microsoft.com/office/powerpoint/2010/main" val="18085215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554734F-4F2E-D0F2-EC08-47496A211C4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7">
            <a:extLst>
              <a:ext uri="{FF2B5EF4-FFF2-40B4-BE49-F238E27FC236}">
                <a16:creationId xmlns:a16="http://schemas.microsoft.com/office/drawing/2014/main" id="{DB25AA8A-C6FB-8A69-B41D-3C256573ECB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EFB5C4CB-398F-B700-C326-D5CDFABFDBE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ADFE49B-3128-F44A-AD93-02AB8477D81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3EE4FFF5-6029-9397-4D79-63C0822430B4}"/>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2D9DB7F-4352-035C-B3A4-45620B1BE9F4}"/>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2A918C4-8181-B028-A64E-0966CC0A050B}"/>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4A20600-64D7-5082-FFE5-D212F2476B9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7">
            <a:extLst>
              <a:ext uri="{FF2B5EF4-FFF2-40B4-BE49-F238E27FC236}">
                <a16:creationId xmlns:a16="http://schemas.microsoft.com/office/drawing/2014/main" id="{DBC3BEB8-B4D3-13F5-FD46-66CB207D3F8A}"/>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L ACC gamma bursts rising together (amplitude correlation): cue − baseline was higher on Precon4 than on Precon1.</a:t>
            </a:r>
          </a:p>
        </p:txBody>
      </p:sp>
      <p:sp>
        <p:nvSpPr>
          <p:cNvPr id="12" name="!!N78">
            <a:extLst>
              <a:ext uri="{FF2B5EF4-FFF2-40B4-BE49-F238E27FC236}">
                <a16:creationId xmlns:a16="http://schemas.microsoft.com/office/drawing/2014/main" id="{46087887-DEA8-5B86-E7E8-CDB3CB90918A}"/>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0.023 (8 rats). Shuffles P = 0.027. FP P = 0.064. Only the shuffle agrees: a middling lead.</a:t>
            </a:r>
          </a:p>
        </p:txBody>
      </p:sp>
      <p:sp>
        <p:nvSpPr>
          <p:cNvPr id="13" name="!!N75">
            <a:extLst>
              <a:ext uri="{FF2B5EF4-FFF2-40B4-BE49-F238E27FC236}">
                <a16:creationId xmlns:a16="http://schemas.microsoft.com/office/drawing/2014/main" id="{3A66E359-F6CF-56E8-17A3-502F9EA2AF74}"/>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L ACC (imaginary coherence): cue − baseline was higher on Precon4 than on Precon1.</a:t>
            </a:r>
          </a:p>
        </p:txBody>
      </p:sp>
      <p:sp>
        <p:nvSpPr>
          <p:cNvPr id="14" name="!!N76">
            <a:extLst>
              <a:ext uri="{FF2B5EF4-FFF2-40B4-BE49-F238E27FC236}">
                <a16:creationId xmlns:a16="http://schemas.microsoft.com/office/drawing/2014/main" id="{11333058-554D-FDDC-2F59-D192B1318A62}"/>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0.027 (8 rats). Shuffles P = 0.077. FP P = 0.064. Neither second opinion agrees: a weaker lead.</a:t>
            </a:r>
          </a:p>
        </p:txBody>
      </p:sp>
      <p:sp>
        <p:nvSpPr>
          <p:cNvPr id="15" name="!!T-BG">
            <a:extLst>
              <a:ext uri="{FF2B5EF4-FFF2-40B4-BE49-F238E27FC236}">
                <a16:creationId xmlns:a16="http://schemas.microsoft.com/office/drawing/2014/main" id="{C5F876A9-CDD7-A7CF-D2ED-694E19C4985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C6115CA3-059C-2B2B-F63E-729373A31DB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2.7 · R ACC – L ACC · Bursts rise together</a:t>
            </a:r>
          </a:p>
        </p:txBody>
      </p:sp>
    </p:spTree>
    <p:extLst>
      <p:ext uri="{BB962C8B-B14F-4D97-AF65-F5344CB8AC3E}">
        <p14:creationId xmlns:p14="http://schemas.microsoft.com/office/powerpoint/2010/main" val="25392658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AF2DDD2-8913-A632-99DB-C2A22242C61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7">
            <a:extLst>
              <a:ext uri="{FF2B5EF4-FFF2-40B4-BE49-F238E27FC236}">
                <a16:creationId xmlns:a16="http://schemas.microsoft.com/office/drawing/2014/main" id="{79A676CA-F2C8-4685-1A75-E4120EF9FE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5C4961D0-C414-5F1F-7366-1CF3D80E5037}"/>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790B3DE-FABC-8254-BCAE-47E3F4231F6E}"/>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C44C654-54A3-A5A9-113F-436B12C516B9}"/>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B5627664-B6DD-671F-7520-3C4DC38EDBBB}"/>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4966F51-7893-B53B-7180-4D24C45F5960}"/>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A40376F4-C70E-3511-7EA8-0E38BA1A036C}"/>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546A10BC-5DE1-D896-FAEE-19724559BCC0}"/>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77">
            <a:extLst>
              <a:ext uri="{FF2B5EF4-FFF2-40B4-BE49-F238E27FC236}">
                <a16:creationId xmlns:a16="http://schemas.microsoft.com/office/drawing/2014/main" id="{A93A2B79-882F-8D17-14A8-1FB86174216B}"/>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L ACC gamma bursts rising together (amplitude correlation): cue − baseline was higher on Precon4 than on Precon1.</a:t>
            </a:r>
          </a:p>
        </p:txBody>
      </p:sp>
      <p:sp>
        <p:nvSpPr>
          <p:cNvPr id="13" name="!!N78">
            <a:extLst>
              <a:ext uri="{FF2B5EF4-FFF2-40B4-BE49-F238E27FC236}">
                <a16:creationId xmlns:a16="http://schemas.microsoft.com/office/drawing/2014/main" id="{2983F7B4-10AB-8B99-7E62-E01CB984D54F}"/>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0.023 (8 rats). Shuffles P = 0.027. FP P = 0.064. Only the shuffle agrees: a middling lead.</a:t>
            </a:r>
          </a:p>
        </p:txBody>
      </p:sp>
      <p:sp>
        <p:nvSpPr>
          <p:cNvPr id="14" name="!!N79">
            <a:extLst>
              <a:ext uri="{FF2B5EF4-FFF2-40B4-BE49-F238E27FC236}">
                <a16:creationId xmlns:a16="http://schemas.microsoft.com/office/drawing/2014/main" id="{81FD230D-9FB2-79AE-DA61-D6E5BC9ED05C}"/>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L RSC pacing gamma in R OFC (PAC): cue − baseline was higher on Precon4 than on Precon1.</a:t>
            </a:r>
          </a:p>
        </p:txBody>
      </p:sp>
      <p:sp>
        <p:nvSpPr>
          <p:cNvPr id="15" name="!!T-BG">
            <a:extLst>
              <a:ext uri="{FF2B5EF4-FFF2-40B4-BE49-F238E27FC236}">
                <a16:creationId xmlns:a16="http://schemas.microsoft.com/office/drawing/2014/main" id="{6059DCC0-3BBE-714A-9AE2-6D150AAC1C1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77022732-AA96-DEBC-D8F0-41EA6333018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2.7 · R ACC – L ACC · Bursts rise together</a:t>
            </a:r>
          </a:p>
        </p:txBody>
      </p:sp>
    </p:spTree>
    <p:extLst>
      <p:ext uri="{BB962C8B-B14F-4D97-AF65-F5344CB8AC3E}">
        <p14:creationId xmlns:p14="http://schemas.microsoft.com/office/powerpoint/2010/main" val="3785967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663376D-8405-2649-5AE6-9FAD1C9FE1F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8">
            <a:extLst>
              <a:ext uri="{FF2B5EF4-FFF2-40B4-BE49-F238E27FC236}">
                <a16:creationId xmlns:a16="http://schemas.microsoft.com/office/drawing/2014/main" id="{9A6AB616-7978-3668-FDAF-BFB0F05DD91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A9BDA5CE-2283-ABBD-4BE6-041735B1E72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177D956-E46C-1C72-0B10-FC6F124C4448}"/>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F7A134E-2CB7-2BCE-82DB-67325D2AAA0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037226B-CA6F-043F-6656-7ACDC27E5AF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42B44F4-A1BB-2FCB-F1F9-DFBE2124F549}"/>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92100CF-23D2-AABA-7F30-64CE5DD7AD6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9">
            <a:extLst>
              <a:ext uri="{FF2B5EF4-FFF2-40B4-BE49-F238E27FC236}">
                <a16:creationId xmlns:a16="http://schemas.microsoft.com/office/drawing/2014/main" id="{05CFC4EA-FD66-CD50-A9BA-33C4357F1FAE}"/>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L RSC pacing gamma in R OFC (PAC): cue − baseline was higher on Precon4 than on Precon1.</a:t>
            </a:r>
          </a:p>
        </p:txBody>
      </p:sp>
      <p:sp>
        <p:nvSpPr>
          <p:cNvPr id="12" name="!!N80">
            <a:extLst>
              <a:ext uri="{FF2B5EF4-FFF2-40B4-BE49-F238E27FC236}">
                <a16:creationId xmlns:a16="http://schemas.microsoft.com/office/drawing/2014/main" id="{B2F999F3-0E10-1D29-296B-373370A8981D}"/>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0.020 (7 rats). Shuffles P = 0.135. FP P = 0.298. Neither second opinion agrees: a weaker lead.</a:t>
            </a:r>
          </a:p>
        </p:txBody>
      </p:sp>
      <p:sp>
        <p:nvSpPr>
          <p:cNvPr id="13" name="!!N77">
            <a:extLst>
              <a:ext uri="{FF2B5EF4-FFF2-40B4-BE49-F238E27FC236}">
                <a16:creationId xmlns:a16="http://schemas.microsoft.com/office/drawing/2014/main" id="{C7EB4BB8-7322-FA20-685E-360A7F2581C9}"/>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L ACC gamma bursts rising together (amplitude correlation): cue − baseline was higher on Precon4 than on Precon1.</a:t>
            </a:r>
          </a:p>
        </p:txBody>
      </p:sp>
      <p:sp>
        <p:nvSpPr>
          <p:cNvPr id="14" name="!!N78">
            <a:extLst>
              <a:ext uri="{FF2B5EF4-FFF2-40B4-BE49-F238E27FC236}">
                <a16:creationId xmlns:a16="http://schemas.microsoft.com/office/drawing/2014/main" id="{C3F89137-99AD-6F2C-4992-9F8E5D56AF49}"/>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0.023 (8 rats). Shuffles P = 0.027. FP P = 0.064. Only the shuffle agrees: a middling lead.</a:t>
            </a:r>
          </a:p>
        </p:txBody>
      </p:sp>
      <p:sp>
        <p:nvSpPr>
          <p:cNvPr id="15" name="!!T-BG">
            <a:extLst>
              <a:ext uri="{FF2B5EF4-FFF2-40B4-BE49-F238E27FC236}">
                <a16:creationId xmlns:a16="http://schemas.microsoft.com/office/drawing/2014/main" id="{BCE98974-9BFB-3EFC-2D23-06DC1F89E5B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38BA688-21EB-627D-880B-246F578F349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2.8 · R OFC – L RSC · Theta paces gamma</a:t>
            </a:r>
          </a:p>
        </p:txBody>
      </p:sp>
    </p:spTree>
    <p:extLst>
      <p:ext uri="{BB962C8B-B14F-4D97-AF65-F5344CB8AC3E}">
        <p14:creationId xmlns:p14="http://schemas.microsoft.com/office/powerpoint/2010/main" val="26316260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208733E-2FD6-990E-2636-67B1BB7AE50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8">
            <a:extLst>
              <a:ext uri="{FF2B5EF4-FFF2-40B4-BE49-F238E27FC236}">
                <a16:creationId xmlns:a16="http://schemas.microsoft.com/office/drawing/2014/main" id="{250E760F-8FA9-215E-096F-08BD9FFBD07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CC834068-D952-FAD1-96B7-E0B7D7D5A2AC}"/>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981EB6C-162F-17E7-B2D7-27344D9FC0EB}"/>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CE4770A-93C0-BF82-7CA0-3C1DBCAA936E}"/>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4563F02-67BE-6614-DF3E-3455B6215F8B}"/>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B822D29-FC02-E188-30F2-212886A113A2}"/>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7C5F9FC6-7E66-A9F1-8EE5-484AB674BDBA}"/>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6C83AB4D-EB56-245B-BEAA-A2B67B7D25E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79">
            <a:extLst>
              <a:ext uri="{FF2B5EF4-FFF2-40B4-BE49-F238E27FC236}">
                <a16:creationId xmlns:a16="http://schemas.microsoft.com/office/drawing/2014/main" id="{9CD7342A-9336-A668-AE72-D1D148EA6EF3}"/>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L RSC pacing gamma in R OFC (PAC): cue − baseline was higher on Precon4 than on Precon1.</a:t>
            </a:r>
          </a:p>
        </p:txBody>
      </p:sp>
      <p:sp>
        <p:nvSpPr>
          <p:cNvPr id="13" name="!!N80">
            <a:extLst>
              <a:ext uri="{FF2B5EF4-FFF2-40B4-BE49-F238E27FC236}">
                <a16:creationId xmlns:a16="http://schemas.microsoft.com/office/drawing/2014/main" id="{798D5E4B-55FF-AFA2-6C58-E6646926276D}"/>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0.020 (7 rats). Shuffles P = 0.135. FP P = 0.298. Neither second opinion agrees: a weaker lead.</a:t>
            </a:r>
          </a:p>
        </p:txBody>
      </p:sp>
      <p:sp>
        <p:nvSpPr>
          <p:cNvPr id="14" name="!!N81">
            <a:extLst>
              <a:ext uri="{FF2B5EF4-FFF2-40B4-BE49-F238E27FC236}">
                <a16:creationId xmlns:a16="http://schemas.microsoft.com/office/drawing/2014/main" id="{9DF2B817-0042-B77B-E058-BBDDCC097D38}"/>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OFC gamma around the L RSC theta cycle, averaged over rats, Precon1 then Precon4. Where in the cycle, not how much: c is the result.</a:t>
            </a:r>
          </a:p>
        </p:txBody>
      </p:sp>
      <p:sp>
        <p:nvSpPr>
          <p:cNvPr id="15" name="!!T-BG">
            <a:extLst>
              <a:ext uri="{FF2B5EF4-FFF2-40B4-BE49-F238E27FC236}">
                <a16:creationId xmlns:a16="http://schemas.microsoft.com/office/drawing/2014/main" id="{669C6E1E-D33F-B344-B6D9-D04B18A8813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5874CD66-43F3-D408-7CC5-47FCC247592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2.8 · R OFC – L RSC · Theta paces gamma</a:t>
            </a:r>
          </a:p>
        </p:txBody>
      </p:sp>
    </p:spTree>
    <p:extLst>
      <p:ext uri="{BB962C8B-B14F-4D97-AF65-F5344CB8AC3E}">
        <p14:creationId xmlns:p14="http://schemas.microsoft.com/office/powerpoint/2010/main" val="21205648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871F0F8-9410-40BC-02C2-54862D0D010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8">
            <a:extLst>
              <a:ext uri="{FF2B5EF4-FFF2-40B4-BE49-F238E27FC236}">
                <a16:creationId xmlns:a16="http://schemas.microsoft.com/office/drawing/2014/main" id="{74BA8FD9-9951-A58C-E447-8F20BAE4600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97139"/>
            <a:ext cx="7119007" cy="3500206"/>
          </a:xfrm>
          <a:prstGeom prst="rect">
            <a:avLst/>
          </a:prstGeom>
          <a:ln w="9525">
            <a:solidFill>
              <a:srgbClr val="B0B0B0"/>
            </a:solidFill>
          </a:ln>
        </p:spPr>
      </p:pic>
      <p:sp>
        <p:nvSpPr>
          <p:cNvPr id="5" name="!!D1">
            <a:extLst>
              <a:ext uri="{FF2B5EF4-FFF2-40B4-BE49-F238E27FC236}">
                <a16:creationId xmlns:a16="http://schemas.microsoft.com/office/drawing/2014/main" id="{1B82C59E-165B-00B0-37AC-CE19EE2109B2}"/>
              </a:ext>
            </a:extLst>
          </p:cNvPr>
          <p:cNvSpPr/>
          <p:nvPr/>
        </p:nvSpPr>
        <p:spPr>
          <a:xfrm>
            <a:off x="0" y="685800"/>
            <a:ext cx="7670800" cy="22368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6C20DA7-119D-ABB3-ECD5-9E8663F8112D}"/>
              </a:ext>
            </a:extLst>
          </p:cNvPr>
          <p:cNvSpPr/>
          <p:nvPr/>
        </p:nvSpPr>
        <p:spPr>
          <a:xfrm>
            <a:off x="0" y="4646548"/>
            <a:ext cx="7670800" cy="22114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3B9AA93-2A22-660C-3487-3CC1F538B241}"/>
              </a:ext>
            </a:extLst>
          </p:cNvPr>
          <p:cNvSpPr/>
          <p:nvPr/>
        </p:nvSpPr>
        <p:spPr>
          <a:xfrm>
            <a:off x="0" y="2922652"/>
            <a:ext cx="2625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C61AE19-C9A5-29FD-CD80-69F6A9911994}"/>
              </a:ext>
            </a:extLst>
          </p:cNvPr>
          <p:cNvSpPr/>
          <p:nvPr/>
        </p:nvSpPr>
        <p:spPr>
          <a:xfrm>
            <a:off x="7433691" y="2922652"/>
            <a:ext cx="2371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9C590B3-0D0A-2BA0-5C3A-25B7DAD8D252}"/>
              </a:ext>
            </a:extLst>
          </p:cNvPr>
          <p:cNvSpPr/>
          <p:nvPr/>
        </p:nvSpPr>
        <p:spPr>
          <a:xfrm>
            <a:off x="287909" y="2986962"/>
            <a:ext cx="5019286" cy="159527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732C088-A34C-4A01-3C99-BE3DF2DA69F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1">
            <a:extLst>
              <a:ext uri="{FF2B5EF4-FFF2-40B4-BE49-F238E27FC236}">
                <a16:creationId xmlns:a16="http://schemas.microsoft.com/office/drawing/2014/main" id="{2982757F-5490-B6C0-0BF0-7B67848278D2}"/>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OFC gamma around the L RSC theta cycle, averaged over rats, Precon1 then Precon4. Where in the cycle, not how much: c is the result.</a:t>
            </a:r>
          </a:p>
        </p:txBody>
      </p:sp>
      <p:sp>
        <p:nvSpPr>
          <p:cNvPr id="12" name="!!N82">
            <a:extLst>
              <a:ext uri="{FF2B5EF4-FFF2-40B4-BE49-F238E27FC236}">
                <a16:creationId xmlns:a16="http://schemas.microsoft.com/office/drawing/2014/main" id="{7DD5F607-9301-49E3-9A43-42B0583495EB}"/>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Gamma-burst lag, R DHC with L RSC: how the cue shifted it differs between the days by 27 ms, toward R DHC leading on Precon4 compared with Precon1.</a:t>
            </a:r>
          </a:p>
        </p:txBody>
      </p:sp>
      <p:sp>
        <p:nvSpPr>
          <p:cNvPr id="13" name="!!N79">
            <a:extLst>
              <a:ext uri="{FF2B5EF4-FFF2-40B4-BE49-F238E27FC236}">
                <a16:creationId xmlns:a16="http://schemas.microsoft.com/office/drawing/2014/main" id="{7055CA8B-8BE8-1E8A-BD54-E17BEEE9CBAA}"/>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L RSC pacing gamma in R OFC (PAC): cue − baseline was higher on Precon4 than on Precon1.</a:t>
            </a:r>
          </a:p>
        </p:txBody>
      </p:sp>
      <p:sp>
        <p:nvSpPr>
          <p:cNvPr id="14" name="!!N80">
            <a:extLst>
              <a:ext uri="{FF2B5EF4-FFF2-40B4-BE49-F238E27FC236}">
                <a16:creationId xmlns:a16="http://schemas.microsoft.com/office/drawing/2014/main" id="{6FA0ADED-136C-8391-E913-ACB0E6628614}"/>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0.020 (7 rats). Shuffles P = 0.135. FP P = 0.298. Neither second opinion agrees: a weaker lead.</a:t>
            </a:r>
          </a:p>
        </p:txBody>
      </p:sp>
      <p:sp>
        <p:nvSpPr>
          <p:cNvPr id="15" name="!!T-BG">
            <a:extLst>
              <a:ext uri="{FF2B5EF4-FFF2-40B4-BE49-F238E27FC236}">
                <a16:creationId xmlns:a16="http://schemas.microsoft.com/office/drawing/2014/main" id="{FA5D4690-1E4F-3B66-A9CF-A16FE16C6A8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549F0F44-EEA1-6516-BF6F-05BCEFC453E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2.8 · R OFC – L RSC · Theta paces gamma</a:t>
            </a:r>
          </a:p>
        </p:txBody>
      </p:sp>
    </p:spTree>
    <p:extLst>
      <p:ext uri="{BB962C8B-B14F-4D97-AF65-F5344CB8AC3E}">
        <p14:creationId xmlns:p14="http://schemas.microsoft.com/office/powerpoint/2010/main" val="25325650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E4A7657-265C-84D9-0AD1-54470D61750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9">
            <a:extLst>
              <a:ext uri="{FF2B5EF4-FFF2-40B4-BE49-F238E27FC236}">
                <a16:creationId xmlns:a16="http://schemas.microsoft.com/office/drawing/2014/main" id="{65C7F6AB-5863-2493-D25E-8F1DFC3C0E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E038E0B0-DDE7-0863-6FEF-615B67A1EFD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BC5CCEE-9C24-6765-0BB2-AD3FF53E850F}"/>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D5FF5D9-E675-EA3E-B56A-A28D61AE93AE}"/>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3738325-2848-576A-2C42-E4CD5B4158B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6F92E9A-9989-DBDE-F163-68FC1C2B5D64}"/>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4B763A9-D4F2-A204-6EA5-18513118B68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2">
            <a:extLst>
              <a:ext uri="{FF2B5EF4-FFF2-40B4-BE49-F238E27FC236}">
                <a16:creationId xmlns:a16="http://schemas.microsoft.com/office/drawing/2014/main" id="{BEE46079-8E26-9D55-3E43-25A742487389}"/>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Gamma-burst lag, R DHC with L RSC: how the cue shifted it differs between the days by 27 ms, toward R DHC leading on Precon4 compared with Precon1.</a:t>
            </a:r>
          </a:p>
        </p:txBody>
      </p:sp>
      <p:sp>
        <p:nvSpPr>
          <p:cNvPr id="12" name="!!N83">
            <a:extLst>
              <a:ext uri="{FF2B5EF4-FFF2-40B4-BE49-F238E27FC236}">
                <a16:creationId xmlns:a16="http://schemas.microsoft.com/office/drawing/2014/main" id="{A3E437F5-7687-03D4-42CE-59E467B3FB35}"/>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0.013 (7 rats). Shuffles P = 0.020. FP P = 0.014. Both second opinions agree: a stronger lead.</a:t>
            </a:r>
          </a:p>
        </p:txBody>
      </p:sp>
      <p:sp>
        <p:nvSpPr>
          <p:cNvPr id="13" name="!!N81">
            <a:extLst>
              <a:ext uri="{FF2B5EF4-FFF2-40B4-BE49-F238E27FC236}">
                <a16:creationId xmlns:a16="http://schemas.microsoft.com/office/drawing/2014/main" id="{646E5FBA-E43D-86EA-B880-24010F5D63E9}"/>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OFC gamma around the L RSC theta cycle, averaged over rats, Precon1 then Precon4. Where in the cycle, not how much: c is the result.</a:t>
            </a:r>
          </a:p>
        </p:txBody>
      </p:sp>
      <p:sp>
        <p:nvSpPr>
          <p:cNvPr id="14" name="!!T-BG">
            <a:extLst>
              <a:ext uri="{FF2B5EF4-FFF2-40B4-BE49-F238E27FC236}">
                <a16:creationId xmlns:a16="http://schemas.microsoft.com/office/drawing/2014/main" id="{1B1E7F2D-8122-6E9F-E4AB-F4AA8AFB5604}"/>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E1CCA42A-34C2-F275-448D-07802333D96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2.9 · R DHC – L RSC · Which leads</a:t>
            </a:r>
          </a:p>
        </p:txBody>
      </p:sp>
    </p:spTree>
    <p:extLst>
      <p:ext uri="{BB962C8B-B14F-4D97-AF65-F5344CB8AC3E}">
        <p14:creationId xmlns:p14="http://schemas.microsoft.com/office/powerpoint/2010/main" val="22118150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D465A19-BB4D-ACB0-5027-DB4CAE72B81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9">
            <a:extLst>
              <a:ext uri="{FF2B5EF4-FFF2-40B4-BE49-F238E27FC236}">
                <a16:creationId xmlns:a16="http://schemas.microsoft.com/office/drawing/2014/main" id="{1005731B-77F6-5666-BDDF-4551B794D3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1027960A-AA67-5508-F67C-75C89C8D4E3C}"/>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12FB011-8468-BB2A-94B6-85BD60700107}"/>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250A3C9C-2229-4820-6118-C31B1375687C}"/>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5D18088-57DE-98EA-E53B-A4739A922625}"/>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839D468-9815-1655-2643-6BB00F0061D0}"/>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F9F2BFFC-B729-7141-D032-C8D621551FAD}"/>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164421E7-4A64-7B81-6C3D-2A4EE4CAD42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2">
            <a:extLst>
              <a:ext uri="{FF2B5EF4-FFF2-40B4-BE49-F238E27FC236}">
                <a16:creationId xmlns:a16="http://schemas.microsoft.com/office/drawing/2014/main" id="{EE7DA249-B360-59A9-5B47-602277555D9C}"/>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Gamma-burst lag, R DHC with L RSC: how the cue shifted it differs between the days by 27 ms, toward R DHC leading on Precon4 compared with Precon1.</a:t>
            </a:r>
          </a:p>
        </p:txBody>
      </p:sp>
      <p:sp>
        <p:nvSpPr>
          <p:cNvPr id="13" name="!!N83">
            <a:extLst>
              <a:ext uri="{FF2B5EF4-FFF2-40B4-BE49-F238E27FC236}">
                <a16:creationId xmlns:a16="http://schemas.microsoft.com/office/drawing/2014/main" id="{350C3E6D-665C-DF54-666C-589D668ADACF}"/>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0.013 (7 rats). Shuffles P = 0.020. FP P = 0.014. Both second opinions agree: a stronger lead.</a:t>
            </a:r>
          </a:p>
        </p:txBody>
      </p:sp>
      <p:sp>
        <p:nvSpPr>
          <p:cNvPr id="14" name="!!N84">
            <a:extLst>
              <a:ext uri="{FF2B5EF4-FFF2-40B4-BE49-F238E27FC236}">
                <a16:creationId xmlns:a16="http://schemas.microsoft.com/office/drawing/2014/main" id="{5BEEDBBD-C50B-EEDD-316D-A12ED81AC3E3}"/>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DHC and L OFC gamma bursts rising together (amplitude correlation): cue − baseline was higher on Precon4 than on Precon1.</a:t>
            </a:r>
          </a:p>
        </p:txBody>
      </p:sp>
      <p:sp>
        <p:nvSpPr>
          <p:cNvPr id="15" name="!!T-BG">
            <a:extLst>
              <a:ext uri="{FF2B5EF4-FFF2-40B4-BE49-F238E27FC236}">
                <a16:creationId xmlns:a16="http://schemas.microsoft.com/office/drawing/2014/main" id="{370697F3-C11D-39DE-BA17-CD48C230A72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49518E5C-3628-6B84-38B8-C651FB19B71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2.9 · R DHC – L RSC · Which leads</a:t>
            </a:r>
          </a:p>
        </p:txBody>
      </p:sp>
    </p:spTree>
    <p:extLst>
      <p:ext uri="{BB962C8B-B14F-4D97-AF65-F5344CB8AC3E}">
        <p14:creationId xmlns:p14="http://schemas.microsoft.com/office/powerpoint/2010/main" val="37513111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683A692-24DD-422F-3E62-B2F3ADFB6BF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0">
            <a:extLst>
              <a:ext uri="{FF2B5EF4-FFF2-40B4-BE49-F238E27FC236}">
                <a16:creationId xmlns:a16="http://schemas.microsoft.com/office/drawing/2014/main" id="{08031C9E-3F75-53B5-5A25-7D205AA9D2B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1F016281-2765-0F7B-23E5-D03DA3B0A83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F597865-CBBD-E345-5219-EDC8AF50F076}"/>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5BB14B6-3C50-3D4B-4071-1781006E2341}"/>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F1032E8-6A14-673B-20CD-1C9F0296B37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A86C6678-FA1D-F248-E0E2-1905EEE52310}"/>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038CBAF-BFEE-5447-5775-8A61564F795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4">
            <a:extLst>
              <a:ext uri="{FF2B5EF4-FFF2-40B4-BE49-F238E27FC236}">
                <a16:creationId xmlns:a16="http://schemas.microsoft.com/office/drawing/2014/main" id="{2517539C-192A-6C8A-6F6D-CD1FB5F135DA}"/>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DHC and L OFC gamma bursts rising together (amplitude correlation): cue − baseline was higher on Precon4 than on Precon1.</a:t>
            </a:r>
          </a:p>
        </p:txBody>
      </p:sp>
      <p:sp>
        <p:nvSpPr>
          <p:cNvPr id="12" name="!!N85">
            <a:extLst>
              <a:ext uri="{FF2B5EF4-FFF2-40B4-BE49-F238E27FC236}">
                <a16:creationId xmlns:a16="http://schemas.microsoft.com/office/drawing/2014/main" id="{7589A695-DA14-6173-4E55-0D2B953C7650}"/>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0.018 (8 rats). Shuffles P = 0.082. FP P = 0.027. Only FP agrees: a middling lead.</a:t>
            </a:r>
          </a:p>
        </p:txBody>
      </p:sp>
      <p:sp>
        <p:nvSpPr>
          <p:cNvPr id="13" name="!!N82">
            <a:extLst>
              <a:ext uri="{FF2B5EF4-FFF2-40B4-BE49-F238E27FC236}">
                <a16:creationId xmlns:a16="http://schemas.microsoft.com/office/drawing/2014/main" id="{8984E83C-C2E7-FFDE-7E84-D5F970A11826}"/>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Gamma-burst lag, R DHC with L RSC: how the cue shifted it differs between the days by 27 ms, toward R DHC leading on Precon4 compared with Precon1.</a:t>
            </a:r>
          </a:p>
        </p:txBody>
      </p:sp>
      <p:sp>
        <p:nvSpPr>
          <p:cNvPr id="14" name="!!N83">
            <a:extLst>
              <a:ext uri="{FF2B5EF4-FFF2-40B4-BE49-F238E27FC236}">
                <a16:creationId xmlns:a16="http://schemas.microsoft.com/office/drawing/2014/main" id="{2DFFA066-F2AA-19D9-7619-3CF74D022ECC}"/>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0.013 (7 rats). Shuffles P = 0.020. FP P = 0.014. Both second opinions agree: a stronger lead.</a:t>
            </a:r>
          </a:p>
        </p:txBody>
      </p:sp>
      <p:sp>
        <p:nvSpPr>
          <p:cNvPr id="15" name="!!T-BG">
            <a:extLst>
              <a:ext uri="{FF2B5EF4-FFF2-40B4-BE49-F238E27FC236}">
                <a16:creationId xmlns:a16="http://schemas.microsoft.com/office/drawing/2014/main" id="{4774AFC7-7FEB-A1E3-66A8-32C66F9611F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598D21B7-66F0-1B9A-5568-737A9A1D6DC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2.10 · R DHC – L OFC · Bursts rise together</a:t>
            </a:r>
          </a:p>
        </p:txBody>
      </p:sp>
    </p:spTree>
    <p:extLst>
      <p:ext uri="{BB962C8B-B14F-4D97-AF65-F5344CB8AC3E}">
        <p14:creationId xmlns:p14="http://schemas.microsoft.com/office/powerpoint/2010/main" val="3200484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7CED098-5BCB-A8DF-3B3E-EFE5D0B9E42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0">
            <a:extLst>
              <a:ext uri="{FF2B5EF4-FFF2-40B4-BE49-F238E27FC236}">
                <a16:creationId xmlns:a16="http://schemas.microsoft.com/office/drawing/2014/main" id="{E195CF52-CB08-E132-0CE4-C5A2F2B4E56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FDC29C8D-9CB5-2D55-2D5F-00D8D67CAACF}"/>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773FE51-A8EE-8032-2D06-5A3B559709FE}"/>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A1BE081-5320-E8C5-BDB1-E62494562E5C}"/>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B66D4886-7D53-8A3E-ABA0-F3DC9D7B4FC9}"/>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3490217-F238-CB0F-21BD-B942EDD7AE97}"/>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8A9961DD-F71B-4E7C-6B43-D0850D0673EB}"/>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4B71B8E4-D9A8-D2DC-0EB7-E327BF650D2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4">
            <a:extLst>
              <a:ext uri="{FF2B5EF4-FFF2-40B4-BE49-F238E27FC236}">
                <a16:creationId xmlns:a16="http://schemas.microsoft.com/office/drawing/2014/main" id="{D8F3D3F9-DD0C-A2D7-F651-2D50A2B1B652}"/>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DHC and L OFC gamma bursts rising together (amplitude correlation): cue − baseline was higher on Precon4 than on Precon1.</a:t>
            </a:r>
          </a:p>
        </p:txBody>
      </p:sp>
      <p:sp>
        <p:nvSpPr>
          <p:cNvPr id="13" name="!!N85">
            <a:extLst>
              <a:ext uri="{FF2B5EF4-FFF2-40B4-BE49-F238E27FC236}">
                <a16:creationId xmlns:a16="http://schemas.microsoft.com/office/drawing/2014/main" id="{20D8E494-9D1A-DD8A-93AF-7B239733EFB9}"/>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0.018 (8 rats). Shuffles P = 0.082. FP P = 0.027. Only FP agrees: a middling lead.</a:t>
            </a:r>
          </a:p>
        </p:txBody>
      </p:sp>
      <p:sp>
        <p:nvSpPr>
          <p:cNvPr id="14" name="!!N86">
            <a:extLst>
              <a:ext uri="{FF2B5EF4-FFF2-40B4-BE49-F238E27FC236}">
                <a16:creationId xmlns:a16="http://schemas.microsoft.com/office/drawing/2014/main" id="{DC58CEE2-DC20-0609-9F0F-BA6F19E111C2}"/>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DHC pacing gamma in L OFC (PAC): cue − baseline was higher on Precon4 than on Precon1.</a:t>
            </a:r>
          </a:p>
        </p:txBody>
      </p:sp>
      <p:sp>
        <p:nvSpPr>
          <p:cNvPr id="15" name="!!T-BG">
            <a:extLst>
              <a:ext uri="{FF2B5EF4-FFF2-40B4-BE49-F238E27FC236}">
                <a16:creationId xmlns:a16="http://schemas.microsoft.com/office/drawing/2014/main" id="{AB954965-D290-302E-7BFB-9BBE4973FB1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1CCC4FD-36DA-43FB-3304-6E80BFF9A96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2.10 · R DHC – L OFC · Bursts rise together</a:t>
            </a:r>
          </a:p>
        </p:txBody>
      </p:sp>
    </p:spTree>
    <p:extLst>
      <p:ext uri="{BB962C8B-B14F-4D97-AF65-F5344CB8AC3E}">
        <p14:creationId xmlns:p14="http://schemas.microsoft.com/office/powerpoint/2010/main" val="18510684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3E75D44-876A-E5EA-8109-CF76173372C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1">
            <a:extLst>
              <a:ext uri="{FF2B5EF4-FFF2-40B4-BE49-F238E27FC236}">
                <a16:creationId xmlns:a16="http://schemas.microsoft.com/office/drawing/2014/main" id="{E916EDB0-CE3E-4645-E45A-BDFE9E45910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1051FB77-0108-C13D-5B81-E1A3093689C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D2909D0-5C0A-9C8A-ACC1-CC1E41162026}"/>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B86A64F-71B3-7774-72D1-7BEBA74EAECB}"/>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BD9D1D9-1F68-504C-97F4-40312A4804F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208AC8A-ADCA-1248-F6E2-9C29ADA4ECE1}"/>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67277F6B-6AE2-E697-5B19-598ABE20BB80}"/>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6">
            <a:extLst>
              <a:ext uri="{FF2B5EF4-FFF2-40B4-BE49-F238E27FC236}">
                <a16:creationId xmlns:a16="http://schemas.microsoft.com/office/drawing/2014/main" id="{71CB2158-02DD-F7D2-89B6-AC9F711C2729}"/>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DHC pacing gamma in L OFC (PAC): cue − baseline was higher on Precon4 than on Precon1.</a:t>
            </a:r>
          </a:p>
        </p:txBody>
      </p:sp>
      <p:sp>
        <p:nvSpPr>
          <p:cNvPr id="12" name="!!N87">
            <a:extLst>
              <a:ext uri="{FF2B5EF4-FFF2-40B4-BE49-F238E27FC236}">
                <a16:creationId xmlns:a16="http://schemas.microsoft.com/office/drawing/2014/main" id="{12E9B6D8-3501-8126-A44A-682DE623E5B7}"/>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0.039 (8 rats). Shuffles P = 0.103. FP P = 0.029. Only FP agrees: a middling lead.</a:t>
            </a:r>
          </a:p>
        </p:txBody>
      </p:sp>
      <p:sp>
        <p:nvSpPr>
          <p:cNvPr id="13" name="!!N84">
            <a:extLst>
              <a:ext uri="{FF2B5EF4-FFF2-40B4-BE49-F238E27FC236}">
                <a16:creationId xmlns:a16="http://schemas.microsoft.com/office/drawing/2014/main" id="{D0CCEC22-8D71-4AFE-F79B-02BEB499C285}"/>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DHC and L OFC gamma bursts rising together (amplitude correlation): cue − baseline was higher on Precon4 than on Precon1.</a:t>
            </a:r>
          </a:p>
        </p:txBody>
      </p:sp>
      <p:sp>
        <p:nvSpPr>
          <p:cNvPr id="14" name="!!N85">
            <a:extLst>
              <a:ext uri="{FF2B5EF4-FFF2-40B4-BE49-F238E27FC236}">
                <a16:creationId xmlns:a16="http://schemas.microsoft.com/office/drawing/2014/main" id="{AE88C34E-05E5-04F4-8076-A3F766C13A6A}"/>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0.018 (8 rats). Shuffles P = 0.082. FP P = 0.027. Only FP agrees: a middling lead.</a:t>
            </a:r>
          </a:p>
        </p:txBody>
      </p:sp>
      <p:sp>
        <p:nvSpPr>
          <p:cNvPr id="15" name="!!T-BG">
            <a:extLst>
              <a:ext uri="{FF2B5EF4-FFF2-40B4-BE49-F238E27FC236}">
                <a16:creationId xmlns:a16="http://schemas.microsoft.com/office/drawing/2014/main" id="{BE3445F2-EC9D-AF14-2E5A-5C4EDCE7DFF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0B2A0989-7595-7E50-DC05-D2562B4F145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2.11 · R DHC – L OFC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15318624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977BA05-835D-EAF5-7603-953180E2EBB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1">
            <a:extLst>
              <a:ext uri="{FF2B5EF4-FFF2-40B4-BE49-F238E27FC236}">
                <a16:creationId xmlns:a16="http://schemas.microsoft.com/office/drawing/2014/main" id="{D847B6FE-1E9C-1BC8-08CD-A90F9772384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2BC8374A-83E4-6CC2-5817-88F076EDC013}"/>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DF7B5E7-9F9B-A331-5F87-A178CF5DB3D7}"/>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A1727A1-61FB-8717-A340-BDA246ACFFF9}"/>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3C4734A-4E10-0FC0-E4C9-85AA25F96C4E}"/>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90A1A7E-2E71-FE60-599C-96D14D17F73F}"/>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E6F0B9FA-EFF8-5352-3AD4-6C4549752970}"/>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5570A05A-CBF9-88C6-710D-D5845E8A225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6">
            <a:extLst>
              <a:ext uri="{FF2B5EF4-FFF2-40B4-BE49-F238E27FC236}">
                <a16:creationId xmlns:a16="http://schemas.microsoft.com/office/drawing/2014/main" id="{6DEE0871-2094-DC28-5D64-12B12F4451C7}"/>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DHC pacing gamma in L OFC (PAC): cue − baseline was higher on Precon4 than on Precon1.</a:t>
            </a:r>
          </a:p>
        </p:txBody>
      </p:sp>
      <p:sp>
        <p:nvSpPr>
          <p:cNvPr id="13" name="!!N87">
            <a:extLst>
              <a:ext uri="{FF2B5EF4-FFF2-40B4-BE49-F238E27FC236}">
                <a16:creationId xmlns:a16="http://schemas.microsoft.com/office/drawing/2014/main" id="{6A4CDA93-7EA0-80F8-26A9-5734AAEA1A7D}"/>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0.039 (8 rats). Shuffles P = 0.103. FP P = 0.029. Only FP agrees: a middling lead.</a:t>
            </a:r>
          </a:p>
        </p:txBody>
      </p:sp>
      <p:sp>
        <p:nvSpPr>
          <p:cNvPr id="14" name="!!N88">
            <a:extLst>
              <a:ext uri="{FF2B5EF4-FFF2-40B4-BE49-F238E27FC236}">
                <a16:creationId xmlns:a16="http://schemas.microsoft.com/office/drawing/2014/main" id="{358013D7-EAB0-08C0-F6F3-C91458610510}"/>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DHC theta cycle, averaged over rats, Precon1 then Precon4. Where in the cycle, not how much: c is the result.</a:t>
            </a:r>
          </a:p>
        </p:txBody>
      </p:sp>
      <p:sp>
        <p:nvSpPr>
          <p:cNvPr id="15" name="!!T-BG">
            <a:extLst>
              <a:ext uri="{FF2B5EF4-FFF2-40B4-BE49-F238E27FC236}">
                <a16:creationId xmlns:a16="http://schemas.microsoft.com/office/drawing/2014/main" id="{11524759-D075-9377-8E8A-F493BDD37F6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E2F241F-C01E-4E0A-0ADF-8A039B9FD50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2.11 · R DHC – L OFC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14434821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E481BE3C-301B-86D0-8179-19471168818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1">
            <a:extLst>
              <a:ext uri="{FF2B5EF4-FFF2-40B4-BE49-F238E27FC236}">
                <a16:creationId xmlns:a16="http://schemas.microsoft.com/office/drawing/2014/main" id="{B96FB04B-88DA-B9D6-159F-AC5588A43E5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97139"/>
            <a:ext cx="7119007" cy="3500206"/>
          </a:xfrm>
          <a:prstGeom prst="rect">
            <a:avLst/>
          </a:prstGeom>
          <a:ln w="9525">
            <a:solidFill>
              <a:srgbClr val="B0B0B0"/>
            </a:solidFill>
          </a:ln>
        </p:spPr>
      </p:pic>
      <p:sp>
        <p:nvSpPr>
          <p:cNvPr id="5" name="!!D1">
            <a:extLst>
              <a:ext uri="{FF2B5EF4-FFF2-40B4-BE49-F238E27FC236}">
                <a16:creationId xmlns:a16="http://schemas.microsoft.com/office/drawing/2014/main" id="{A9C26825-CCFD-A537-5873-5F6BDE59955B}"/>
              </a:ext>
            </a:extLst>
          </p:cNvPr>
          <p:cNvSpPr/>
          <p:nvPr/>
        </p:nvSpPr>
        <p:spPr>
          <a:xfrm>
            <a:off x="0" y="685800"/>
            <a:ext cx="7670800" cy="22368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6A7A948-4A37-D122-8AD1-A4F984EE5BDB}"/>
              </a:ext>
            </a:extLst>
          </p:cNvPr>
          <p:cNvSpPr/>
          <p:nvPr/>
        </p:nvSpPr>
        <p:spPr>
          <a:xfrm>
            <a:off x="0" y="4646548"/>
            <a:ext cx="7670800" cy="22114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4727D9A-E589-B892-0853-59FD60B09205}"/>
              </a:ext>
            </a:extLst>
          </p:cNvPr>
          <p:cNvSpPr/>
          <p:nvPr/>
        </p:nvSpPr>
        <p:spPr>
          <a:xfrm>
            <a:off x="0" y="2922652"/>
            <a:ext cx="2625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CDF44D1-5094-2A09-8892-2E78CFB0B7A1}"/>
              </a:ext>
            </a:extLst>
          </p:cNvPr>
          <p:cNvSpPr/>
          <p:nvPr/>
        </p:nvSpPr>
        <p:spPr>
          <a:xfrm>
            <a:off x="7433691" y="2922652"/>
            <a:ext cx="2371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D1B04D7-9607-CBD0-39D3-FE83DA7CC337}"/>
              </a:ext>
            </a:extLst>
          </p:cNvPr>
          <p:cNvSpPr/>
          <p:nvPr/>
        </p:nvSpPr>
        <p:spPr>
          <a:xfrm>
            <a:off x="287909" y="2986962"/>
            <a:ext cx="5019286" cy="159527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6D9C77F6-6FDB-DF9A-DFF5-0659F6F175A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8">
            <a:extLst>
              <a:ext uri="{FF2B5EF4-FFF2-40B4-BE49-F238E27FC236}">
                <a16:creationId xmlns:a16="http://schemas.microsoft.com/office/drawing/2014/main" id="{75E43788-BFB7-BE75-E58E-2FDDB7B32BD3}"/>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DHC theta cycle, averaged over rats, Precon1 then Precon4. Where in the cycle, not how much: c is the result.</a:t>
            </a:r>
          </a:p>
        </p:txBody>
      </p:sp>
      <p:sp>
        <p:nvSpPr>
          <p:cNvPr id="12" name="!!N89">
            <a:extLst>
              <a:ext uri="{FF2B5EF4-FFF2-40B4-BE49-F238E27FC236}">
                <a16:creationId xmlns:a16="http://schemas.microsoft.com/office/drawing/2014/main" id="{A079769A-F241-E5EE-FB4D-282D4EAEADD4}"/>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 ACC predicting L RSC (Granger L ACC → L RSC): cue − baseline was higher on Precon4 than on Precon1.</a:t>
            </a:r>
          </a:p>
        </p:txBody>
      </p:sp>
      <p:sp>
        <p:nvSpPr>
          <p:cNvPr id="13" name="!!N86">
            <a:extLst>
              <a:ext uri="{FF2B5EF4-FFF2-40B4-BE49-F238E27FC236}">
                <a16:creationId xmlns:a16="http://schemas.microsoft.com/office/drawing/2014/main" id="{81CF8BE3-D2DD-95B8-E8C1-1E4CF660129E}"/>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DHC pacing gamma in L OFC (PAC): cue − baseline was higher on Precon4 than on Precon1.</a:t>
            </a:r>
          </a:p>
        </p:txBody>
      </p:sp>
      <p:sp>
        <p:nvSpPr>
          <p:cNvPr id="14" name="!!N87">
            <a:extLst>
              <a:ext uri="{FF2B5EF4-FFF2-40B4-BE49-F238E27FC236}">
                <a16:creationId xmlns:a16="http://schemas.microsoft.com/office/drawing/2014/main" id="{51C535A7-1754-A39A-6EDA-1617827D4024}"/>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0.039 (8 rats). Shuffles P = 0.103. FP P = 0.029. Only FP agrees: a middling lead.</a:t>
            </a:r>
          </a:p>
        </p:txBody>
      </p:sp>
      <p:sp>
        <p:nvSpPr>
          <p:cNvPr id="15" name="!!T-BG">
            <a:extLst>
              <a:ext uri="{FF2B5EF4-FFF2-40B4-BE49-F238E27FC236}">
                <a16:creationId xmlns:a16="http://schemas.microsoft.com/office/drawing/2014/main" id="{D81AA5F5-BA54-EBBF-42CD-61D86A41A3E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1D9B054-D115-2E76-E814-C98561B233F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2.11 · R DHC – L OFC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11331481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E01CFCA-3B6F-7847-A042-5DF17231B41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2">
            <a:extLst>
              <a:ext uri="{FF2B5EF4-FFF2-40B4-BE49-F238E27FC236}">
                <a16:creationId xmlns:a16="http://schemas.microsoft.com/office/drawing/2014/main" id="{C23BB726-BC01-4B9C-8B30-F53BE1357F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FAC81891-58DF-5C94-9072-96360C12B99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1CDB1BA-C739-5F54-2815-9CCFF130BB36}"/>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6194F6E-C653-F061-BA59-CF6AC2E905F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28A677F-9C30-D81F-6E1C-F10F66F4B2A2}"/>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74C71DA-6018-7CFE-97E5-17D13CA17148}"/>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19A58FF-8C70-93F6-D722-008363DF266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9">
            <a:extLst>
              <a:ext uri="{FF2B5EF4-FFF2-40B4-BE49-F238E27FC236}">
                <a16:creationId xmlns:a16="http://schemas.microsoft.com/office/drawing/2014/main" id="{50CB5375-06DE-B7FF-1F01-AC10DFF85F2A}"/>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 ACC predicting L RSC (Granger L ACC → L RSC): cue − baseline was higher on Precon4 than on Precon1.</a:t>
            </a:r>
          </a:p>
        </p:txBody>
      </p:sp>
      <p:sp>
        <p:nvSpPr>
          <p:cNvPr id="12" name="!!N90">
            <a:extLst>
              <a:ext uri="{FF2B5EF4-FFF2-40B4-BE49-F238E27FC236}">
                <a16:creationId xmlns:a16="http://schemas.microsoft.com/office/drawing/2014/main" id="{6FF28D25-4EEF-3BD9-811C-1EB7E2FB0348}"/>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0.030 (7 rats). Shuffles P = 0.008. FP P = 0.040. Both second opinions agree: a stronger lead.</a:t>
            </a:r>
          </a:p>
        </p:txBody>
      </p:sp>
      <p:sp>
        <p:nvSpPr>
          <p:cNvPr id="13" name="!!N88">
            <a:extLst>
              <a:ext uri="{FF2B5EF4-FFF2-40B4-BE49-F238E27FC236}">
                <a16:creationId xmlns:a16="http://schemas.microsoft.com/office/drawing/2014/main" id="{3541D046-1C9C-A9CA-8712-6349DF644636}"/>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DHC theta cycle, averaged over rats, Precon1 then Precon4. Where in the cycle, not how much: c is the result.</a:t>
            </a:r>
          </a:p>
        </p:txBody>
      </p:sp>
      <p:sp>
        <p:nvSpPr>
          <p:cNvPr id="14" name="!!T-BG">
            <a:extLst>
              <a:ext uri="{FF2B5EF4-FFF2-40B4-BE49-F238E27FC236}">
                <a16:creationId xmlns:a16="http://schemas.microsoft.com/office/drawing/2014/main" id="{64FDB9FB-C1F8-A907-6437-66BC410D88F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98AC9A49-97A3-FE3B-D6CC-A7887052F0CB}"/>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2.12 · L RSC – L ACC · Which leads</a:t>
            </a:r>
          </a:p>
        </p:txBody>
      </p:sp>
    </p:spTree>
    <p:extLst>
      <p:ext uri="{BB962C8B-B14F-4D97-AF65-F5344CB8AC3E}">
        <p14:creationId xmlns:p14="http://schemas.microsoft.com/office/powerpoint/2010/main" val="20883397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28154D3-513D-09B3-1F2F-1F8359DE2B09}"/>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2">
            <a:extLst>
              <a:ext uri="{FF2B5EF4-FFF2-40B4-BE49-F238E27FC236}">
                <a16:creationId xmlns:a16="http://schemas.microsoft.com/office/drawing/2014/main" id="{63ED81A6-7E2E-1F7A-4C3F-1A724F20F45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049001AB-ED7A-F681-0CEA-5654DB515EA0}"/>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E208B70-6492-6A0D-B023-5717E8E3D68C}"/>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C9BA487-A03C-B491-C293-555CDA23CCB9}"/>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366E31D-8838-FDD8-4CF5-ED5BA7F5AE24}"/>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7E2E8E8-B5CA-F681-BF90-740D0498FD68}"/>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6BC5CD3E-105E-2B66-AE74-60A8109EE877}"/>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EB22220F-B7B5-D921-FD56-A6BB6DE40AF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9">
            <a:extLst>
              <a:ext uri="{FF2B5EF4-FFF2-40B4-BE49-F238E27FC236}">
                <a16:creationId xmlns:a16="http://schemas.microsoft.com/office/drawing/2014/main" id="{7CEA30C2-40C5-0518-D72F-D61E592FA3E4}"/>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L ACC predicting L RSC (Granger L ACC → L RSC): cue − baseline was higher on Precon4 than on Precon1.</a:t>
            </a:r>
          </a:p>
        </p:txBody>
      </p:sp>
      <p:sp>
        <p:nvSpPr>
          <p:cNvPr id="13" name="!!N90">
            <a:extLst>
              <a:ext uri="{FF2B5EF4-FFF2-40B4-BE49-F238E27FC236}">
                <a16:creationId xmlns:a16="http://schemas.microsoft.com/office/drawing/2014/main" id="{014F26FA-D817-D749-B2EE-21CBFAC8BE21}"/>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0.030 (7 rats). Shuffles P = 0.008. FP P = 0.040. Both second opinions agree: a stronger lead.</a:t>
            </a:r>
          </a:p>
        </p:txBody>
      </p:sp>
      <p:sp>
        <p:nvSpPr>
          <p:cNvPr id="14" name="!!N91">
            <a:extLst>
              <a:ext uri="{FF2B5EF4-FFF2-40B4-BE49-F238E27FC236}">
                <a16:creationId xmlns:a16="http://schemas.microsoft.com/office/drawing/2014/main" id="{3AECE9C0-9091-CB3E-4B59-8099A24A1562}"/>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 OFC and L ACC gamma bursts rising together (amplitude correlation): cue − baseline was higher on Precon4 than on Precon1.</a:t>
            </a:r>
          </a:p>
        </p:txBody>
      </p:sp>
      <p:sp>
        <p:nvSpPr>
          <p:cNvPr id="15" name="!!T-BG">
            <a:extLst>
              <a:ext uri="{FF2B5EF4-FFF2-40B4-BE49-F238E27FC236}">
                <a16:creationId xmlns:a16="http://schemas.microsoft.com/office/drawing/2014/main" id="{E2606C17-1FB9-C44C-3A7F-B055087E422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20E8CA1F-037F-92B6-2208-9E2947D40D0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2.12 · L RSC – L ACC · Which leads</a:t>
            </a:r>
          </a:p>
        </p:txBody>
      </p:sp>
    </p:spTree>
    <p:extLst>
      <p:ext uri="{BB962C8B-B14F-4D97-AF65-F5344CB8AC3E}">
        <p14:creationId xmlns:p14="http://schemas.microsoft.com/office/powerpoint/2010/main" val="39128995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4DB2D46-5340-3781-355B-AC94108E792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3">
            <a:extLst>
              <a:ext uri="{FF2B5EF4-FFF2-40B4-BE49-F238E27FC236}">
                <a16:creationId xmlns:a16="http://schemas.microsoft.com/office/drawing/2014/main" id="{746694EF-4D0D-E688-A170-E3B23F947E9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1487EE18-FD5D-D85D-0772-E5671011D6EC}"/>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8097423-AC32-90FC-2387-2BD2C7B0F43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293E8E1-69F1-9BA9-4E54-767374F2998E}"/>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76534DAF-3447-0483-EC6D-F2B4FEDB2B0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E354140-1BCF-998E-B4D0-2058453C1957}"/>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BFF58AC-84F4-B197-319B-B7D934A300E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1">
            <a:extLst>
              <a:ext uri="{FF2B5EF4-FFF2-40B4-BE49-F238E27FC236}">
                <a16:creationId xmlns:a16="http://schemas.microsoft.com/office/drawing/2014/main" id="{848D33A6-77C6-2559-B0FB-94768AA00F09}"/>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 OFC and L ACC gamma bursts rising together (amplitude correlation): cue − baseline was higher on Precon4 than on Precon1.</a:t>
            </a:r>
          </a:p>
        </p:txBody>
      </p:sp>
      <p:sp>
        <p:nvSpPr>
          <p:cNvPr id="12" name="!!N92">
            <a:extLst>
              <a:ext uri="{FF2B5EF4-FFF2-40B4-BE49-F238E27FC236}">
                <a16:creationId xmlns:a16="http://schemas.microsoft.com/office/drawing/2014/main" id="{E8EA2654-7CD4-3420-3E5F-E8C5719550D7}"/>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0.001 (8 rats). Shuffles P = 0.020. FP P = 0.016. Both second opinions agree: a stronger lead.</a:t>
            </a:r>
          </a:p>
        </p:txBody>
      </p:sp>
      <p:sp>
        <p:nvSpPr>
          <p:cNvPr id="13" name="!!N89">
            <a:extLst>
              <a:ext uri="{FF2B5EF4-FFF2-40B4-BE49-F238E27FC236}">
                <a16:creationId xmlns:a16="http://schemas.microsoft.com/office/drawing/2014/main" id="{D249FD1A-D221-B2F4-9F00-5D0506B12741}"/>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L ACC predicting L RSC (Granger L ACC → L RSC): cue − baseline was higher on Precon4 than on Precon1.</a:t>
            </a:r>
          </a:p>
        </p:txBody>
      </p:sp>
      <p:sp>
        <p:nvSpPr>
          <p:cNvPr id="14" name="!!N90">
            <a:extLst>
              <a:ext uri="{FF2B5EF4-FFF2-40B4-BE49-F238E27FC236}">
                <a16:creationId xmlns:a16="http://schemas.microsoft.com/office/drawing/2014/main" id="{BCFDB39F-2A03-0B2A-0479-FB945E45E44C}"/>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0.030 (7 rats). Shuffles P = 0.008. FP P = 0.040. Both second opinions agree: a stronger lead.</a:t>
            </a:r>
          </a:p>
        </p:txBody>
      </p:sp>
      <p:sp>
        <p:nvSpPr>
          <p:cNvPr id="15" name="!!T-BG">
            <a:extLst>
              <a:ext uri="{FF2B5EF4-FFF2-40B4-BE49-F238E27FC236}">
                <a16:creationId xmlns:a16="http://schemas.microsoft.com/office/drawing/2014/main" id="{B9DA4879-160D-C391-30AC-AFEBE70AD38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428D1A8-A50F-C86F-A813-F32A70D1F7B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2.13 · L OFC – L ACC · Bursts rise together</a:t>
            </a:r>
          </a:p>
        </p:txBody>
      </p:sp>
    </p:spTree>
    <p:extLst>
      <p:ext uri="{BB962C8B-B14F-4D97-AF65-F5344CB8AC3E}">
        <p14:creationId xmlns:p14="http://schemas.microsoft.com/office/powerpoint/2010/main" val="30728286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0A44296-0A49-B9E4-7E46-8AC59FC57C8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3">
            <a:extLst>
              <a:ext uri="{FF2B5EF4-FFF2-40B4-BE49-F238E27FC236}">
                <a16:creationId xmlns:a16="http://schemas.microsoft.com/office/drawing/2014/main" id="{0DB68228-976C-104E-6AEB-91425BAC08F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C364DDD4-218D-6FB6-B272-5FBCC75F5452}"/>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44ADEF2-0203-E174-5FE8-C8534BDC2668}"/>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2EC71772-62BB-3D12-564A-D297F898C51C}"/>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95CC33E-08DA-9425-87DE-3C9D34AD5115}"/>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5F7E999-3F31-D3C7-1ED3-7D653CAC085C}"/>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C6EA698F-A3EB-AC44-4A53-4AC54F666671}"/>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A0345F6F-8B4C-FD92-8E96-AFEF8DC25D1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91">
            <a:extLst>
              <a:ext uri="{FF2B5EF4-FFF2-40B4-BE49-F238E27FC236}">
                <a16:creationId xmlns:a16="http://schemas.microsoft.com/office/drawing/2014/main" id="{86789BB3-2935-4481-E7D7-E96E47A5BE16}"/>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L OFC and L ACC gamma bursts rising together (amplitude correlation): cue − baseline was higher on Precon4 than on Precon1.</a:t>
            </a:r>
          </a:p>
        </p:txBody>
      </p:sp>
      <p:sp>
        <p:nvSpPr>
          <p:cNvPr id="13" name="!!N92">
            <a:extLst>
              <a:ext uri="{FF2B5EF4-FFF2-40B4-BE49-F238E27FC236}">
                <a16:creationId xmlns:a16="http://schemas.microsoft.com/office/drawing/2014/main" id="{FE7B4D27-4694-1651-9091-D83BCC1FDF2E}"/>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0.001 (8 rats). Shuffles P = 0.020. FP P = 0.016. Both second opinions agree: a stronger lead.</a:t>
            </a:r>
          </a:p>
        </p:txBody>
      </p:sp>
      <p:sp>
        <p:nvSpPr>
          <p:cNvPr id="14" name="!!N93">
            <a:extLst>
              <a:ext uri="{FF2B5EF4-FFF2-40B4-BE49-F238E27FC236}">
                <a16:creationId xmlns:a16="http://schemas.microsoft.com/office/drawing/2014/main" id="{FD09E628-DA25-A7AB-AB20-254EB09F0E96}"/>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5" name="!!T-BG">
            <a:extLst>
              <a:ext uri="{FF2B5EF4-FFF2-40B4-BE49-F238E27FC236}">
                <a16:creationId xmlns:a16="http://schemas.microsoft.com/office/drawing/2014/main" id="{543F4F9D-6F1B-678F-26CF-C65854D09D8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90F301B1-3364-CF08-26F8-1DD6D64BC73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2.13 · L OFC – L ACC · Bursts rise together</a:t>
            </a:r>
          </a:p>
        </p:txBody>
      </p:sp>
    </p:spTree>
    <p:extLst>
      <p:ext uri="{BB962C8B-B14F-4D97-AF65-F5344CB8AC3E}">
        <p14:creationId xmlns:p14="http://schemas.microsoft.com/office/powerpoint/2010/main" val="19352832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D36A517-44CE-D5AE-41A1-91210429E5B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A6CDE659-14D1-01FA-29DA-603E53F1271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48786" y="-2572884"/>
            <a:ext cx="7158123" cy="8059099"/>
          </a:xfrm>
          <a:prstGeom prst="rect">
            <a:avLst/>
          </a:prstGeom>
          <a:ln w="9525">
            <a:solidFill>
              <a:srgbClr val="B0B0B0"/>
            </a:solidFill>
          </a:ln>
        </p:spPr>
      </p:pic>
      <p:sp>
        <p:nvSpPr>
          <p:cNvPr id="5" name="!!D1">
            <a:extLst>
              <a:ext uri="{FF2B5EF4-FFF2-40B4-BE49-F238E27FC236}">
                <a16:creationId xmlns:a16="http://schemas.microsoft.com/office/drawing/2014/main" id="{867A4EA6-DC0F-FB39-5EE3-84E64E22A6DD}"/>
              </a:ext>
            </a:extLst>
          </p:cNvPr>
          <p:cNvSpPr/>
          <p:nvPr/>
        </p:nvSpPr>
        <p:spPr>
          <a:xfrm>
            <a:off x="0" y="685800"/>
            <a:ext cx="7670800" cy="17627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3728BE96-3FDF-FB93-5697-B2E439132A18}"/>
              </a:ext>
            </a:extLst>
          </p:cNvPr>
          <p:cNvSpPr/>
          <p:nvPr/>
        </p:nvSpPr>
        <p:spPr>
          <a:xfrm>
            <a:off x="0" y="5120620"/>
            <a:ext cx="7670800" cy="17373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DED6775-CED4-BD35-5515-A408AD117A9A}"/>
              </a:ext>
            </a:extLst>
          </p:cNvPr>
          <p:cNvSpPr/>
          <p:nvPr/>
        </p:nvSpPr>
        <p:spPr>
          <a:xfrm>
            <a:off x="0" y="2448580"/>
            <a:ext cx="2625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DC3E1C4-7C82-4B66-B2C1-493D1ED459D9}"/>
              </a:ext>
            </a:extLst>
          </p:cNvPr>
          <p:cNvSpPr/>
          <p:nvPr/>
        </p:nvSpPr>
        <p:spPr>
          <a:xfrm>
            <a:off x="7433691" y="2448580"/>
            <a:ext cx="2371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1C5C608-2764-458B-C658-530E72A5610B}"/>
              </a:ext>
            </a:extLst>
          </p:cNvPr>
          <p:cNvSpPr/>
          <p:nvPr/>
        </p:nvSpPr>
        <p:spPr>
          <a:xfrm>
            <a:off x="1031246"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CA8D0D00-67B0-D636-0EC9-34151AA0EE6A}"/>
              </a:ext>
            </a:extLst>
          </p:cNvPr>
          <p:cNvSpPr/>
          <p:nvPr/>
        </p:nvSpPr>
        <p:spPr>
          <a:xfrm>
            <a:off x="5413019"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CE0243C8-86CB-0051-F865-2298B23A6A6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93">
            <a:extLst>
              <a:ext uri="{FF2B5EF4-FFF2-40B4-BE49-F238E27FC236}">
                <a16:creationId xmlns:a16="http://schemas.microsoft.com/office/drawing/2014/main" id="{B5625BB7-4DF4-090C-CD14-0F35DD75A700}"/>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3" name="!!N94">
            <a:extLst>
              <a:ext uri="{FF2B5EF4-FFF2-40B4-BE49-F238E27FC236}">
                <a16:creationId xmlns:a16="http://schemas.microsoft.com/office/drawing/2014/main" id="{E3EBC90F-55B7-456D-3C14-0DBB3EF95BE4}"/>
              </a:ext>
            </a:extLst>
          </p:cNvPr>
          <p:cNvSpPr/>
          <p:nvPr/>
        </p:nvSpPr>
        <p:spPr>
          <a:xfrm>
            <a:off x="12573000" y="1937004"/>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rats agreed on that swing: Figure 1, increases P = 0.012, ups and downs together P = 0.023. Neither the trial shuffle (P = 0.187) nor FP (P = 0.199) confirms Figure 1.</a:t>
            </a:r>
          </a:p>
        </p:txBody>
      </p:sp>
      <p:sp>
        <p:nvSpPr>
          <p:cNvPr id="14" name="!!N91">
            <a:extLst>
              <a:ext uri="{FF2B5EF4-FFF2-40B4-BE49-F238E27FC236}">
                <a16:creationId xmlns:a16="http://schemas.microsoft.com/office/drawing/2014/main" id="{23D7B56D-7E94-7D60-EA04-F92475CE432D}"/>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L OFC and L ACC gamma bursts rising together (amplitude correlation): cue − baseline was higher on Precon4 than on Precon1.</a:t>
            </a:r>
          </a:p>
        </p:txBody>
      </p:sp>
      <p:sp>
        <p:nvSpPr>
          <p:cNvPr id="15" name="!!N92">
            <a:extLst>
              <a:ext uri="{FF2B5EF4-FFF2-40B4-BE49-F238E27FC236}">
                <a16:creationId xmlns:a16="http://schemas.microsoft.com/office/drawing/2014/main" id="{E3E9A544-1415-B763-7963-CBC22F75A9C6}"/>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t-test P = 0.001 (8 rats). Shuffles P = 0.020. FP P = 0.016. Both second opinions agree: a stronger lead.</a:t>
            </a:r>
          </a:p>
        </p:txBody>
      </p:sp>
      <p:sp>
        <p:nvSpPr>
          <p:cNvPr id="16" name="!!T-BG">
            <a:extLst>
              <a:ext uri="{FF2B5EF4-FFF2-40B4-BE49-F238E27FC236}">
                <a16:creationId xmlns:a16="http://schemas.microsoft.com/office/drawing/2014/main" id="{3EB731F8-C334-24FE-43DF-2CFE4F76BB6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C4183386-55B4-F036-13F0-834BFDFD0F3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14593797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2C29218-BB2E-EA4A-6B17-38DFE9A4076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
            <a:extLst>
              <a:ext uri="{FF2B5EF4-FFF2-40B4-BE49-F238E27FC236}">
                <a16:creationId xmlns:a16="http://schemas.microsoft.com/office/drawing/2014/main" id="{5ECAEB11-1B7B-A097-5DCB-265AF4C7910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48786" y="-2572884"/>
            <a:ext cx="7158123" cy="8059099"/>
          </a:xfrm>
          <a:prstGeom prst="rect">
            <a:avLst/>
          </a:prstGeom>
          <a:ln w="9525">
            <a:solidFill>
              <a:srgbClr val="B0B0B0"/>
            </a:solidFill>
          </a:ln>
        </p:spPr>
      </p:pic>
      <p:sp>
        <p:nvSpPr>
          <p:cNvPr id="5" name="!!D1">
            <a:extLst>
              <a:ext uri="{FF2B5EF4-FFF2-40B4-BE49-F238E27FC236}">
                <a16:creationId xmlns:a16="http://schemas.microsoft.com/office/drawing/2014/main" id="{48C15136-D689-B932-4675-B00401076345}"/>
              </a:ext>
            </a:extLst>
          </p:cNvPr>
          <p:cNvSpPr/>
          <p:nvPr/>
        </p:nvSpPr>
        <p:spPr>
          <a:xfrm>
            <a:off x="0" y="685800"/>
            <a:ext cx="7670800" cy="17627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CA577DB-DCF2-7204-06EA-B9877AED8316}"/>
              </a:ext>
            </a:extLst>
          </p:cNvPr>
          <p:cNvSpPr/>
          <p:nvPr/>
        </p:nvSpPr>
        <p:spPr>
          <a:xfrm>
            <a:off x="0" y="5120620"/>
            <a:ext cx="7670800" cy="17373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8771231-65E6-85E7-AFBF-DE61A4198EA0}"/>
              </a:ext>
            </a:extLst>
          </p:cNvPr>
          <p:cNvSpPr/>
          <p:nvPr/>
        </p:nvSpPr>
        <p:spPr>
          <a:xfrm>
            <a:off x="0" y="2448580"/>
            <a:ext cx="2625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C3E465C-C23A-2564-F0B4-AD8273920924}"/>
              </a:ext>
            </a:extLst>
          </p:cNvPr>
          <p:cNvSpPr/>
          <p:nvPr/>
        </p:nvSpPr>
        <p:spPr>
          <a:xfrm>
            <a:off x="7433691" y="2448580"/>
            <a:ext cx="2371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22D5FF8-0B45-21A9-DB6E-8168DF283977}"/>
              </a:ext>
            </a:extLst>
          </p:cNvPr>
          <p:cNvSpPr/>
          <p:nvPr/>
        </p:nvSpPr>
        <p:spPr>
          <a:xfrm>
            <a:off x="1031246"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29D6234E-5B5C-24CD-94E5-EF24442736C6}"/>
              </a:ext>
            </a:extLst>
          </p:cNvPr>
          <p:cNvSpPr/>
          <p:nvPr/>
        </p:nvSpPr>
        <p:spPr>
          <a:xfrm>
            <a:off x="5413019"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BE1F3555-2D98-00C4-3C22-6B27BA425CF0}"/>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93">
            <a:extLst>
              <a:ext uri="{FF2B5EF4-FFF2-40B4-BE49-F238E27FC236}">
                <a16:creationId xmlns:a16="http://schemas.microsoft.com/office/drawing/2014/main" id="{2883846E-BDCD-BF5E-3C1A-C3D154DDBA01}"/>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3" name="!!N94">
            <a:extLst>
              <a:ext uri="{FF2B5EF4-FFF2-40B4-BE49-F238E27FC236}">
                <a16:creationId xmlns:a16="http://schemas.microsoft.com/office/drawing/2014/main" id="{541224D4-042E-86A5-0F9F-9D000D63C384}"/>
              </a:ext>
            </a:extLst>
          </p:cNvPr>
          <p:cNvSpPr/>
          <p:nvPr/>
        </p:nvSpPr>
        <p:spPr>
          <a:xfrm>
            <a:off x="7797800" y="1937004"/>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rats agreed on that swing: Figure 1, increases P = 0.012, ups and downs together P = 0.023. Neither the trial shuffle (P = 0.187) nor FP (P = 0.199) confirms Figure 1.</a:t>
            </a:r>
          </a:p>
        </p:txBody>
      </p:sp>
      <p:sp>
        <p:nvSpPr>
          <p:cNvPr id="14" name="!!N95">
            <a:extLst>
              <a:ext uri="{FF2B5EF4-FFF2-40B4-BE49-F238E27FC236}">
                <a16:creationId xmlns:a16="http://schemas.microsoft.com/office/drawing/2014/main" id="{070DED2C-AF9C-F221-A340-19CEE2B491C3}"/>
              </a:ext>
            </a:extLst>
          </p:cNvPr>
          <p:cNvSpPr/>
          <p:nvPr/>
        </p:nvSpPr>
        <p:spPr>
          <a:xfrm>
            <a:off x="12573000" y="303580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Figure 2 (cue 1): the increases pass every test (rats P = 0.027, trials P = 0.030, FP P = 0.037).</a:t>
            </a:r>
          </a:p>
        </p:txBody>
      </p:sp>
      <p:sp>
        <p:nvSpPr>
          <p:cNvPr id="15" name="!!T-BG">
            <a:extLst>
              <a:ext uri="{FF2B5EF4-FFF2-40B4-BE49-F238E27FC236}">
                <a16:creationId xmlns:a16="http://schemas.microsoft.com/office/drawing/2014/main" id="{61CF6BF1-8F04-2599-B299-CE6D6DD3C87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94EEA2E0-3710-A22E-2675-C13B447D7CA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16317660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D0BB1F5-77FC-9390-0F1E-B1BC692C270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BDA40E79-F1DD-B135-0C62-BF70D343801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48786" y="-2572884"/>
            <a:ext cx="7158123" cy="8059099"/>
          </a:xfrm>
          <a:prstGeom prst="rect">
            <a:avLst/>
          </a:prstGeom>
          <a:ln w="9525">
            <a:solidFill>
              <a:srgbClr val="B0B0B0"/>
            </a:solidFill>
          </a:ln>
        </p:spPr>
      </p:pic>
      <p:sp>
        <p:nvSpPr>
          <p:cNvPr id="5" name="!!D1">
            <a:extLst>
              <a:ext uri="{FF2B5EF4-FFF2-40B4-BE49-F238E27FC236}">
                <a16:creationId xmlns:a16="http://schemas.microsoft.com/office/drawing/2014/main" id="{C80971C6-C2F1-A186-910E-B8AB62A3D6EB}"/>
              </a:ext>
            </a:extLst>
          </p:cNvPr>
          <p:cNvSpPr/>
          <p:nvPr/>
        </p:nvSpPr>
        <p:spPr>
          <a:xfrm>
            <a:off x="0" y="685800"/>
            <a:ext cx="7670800" cy="17627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5559705-B303-E781-ABDF-754998A9B6B0}"/>
              </a:ext>
            </a:extLst>
          </p:cNvPr>
          <p:cNvSpPr/>
          <p:nvPr/>
        </p:nvSpPr>
        <p:spPr>
          <a:xfrm>
            <a:off x="0" y="5120620"/>
            <a:ext cx="7670800" cy="17373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586F970-8296-9558-B99D-A5D688E5031B}"/>
              </a:ext>
            </a:extLst>
          </p:cNvPr>
          <p:cNvSpPr/>
          <p:nvPr/>
        </p:nvSpPr>
        <p:spPr>
          <a:xfrm>
            <a:off x="0" y="2448580"/>
            <a:ext cx="2625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723DC57-120C-F090-F7BF-09F0A4CDB1C9}"/>
              </a:ext>
            </a:extLst>
          </p:cNvPr>
          <p:cNvSpPr/>
          <p:nvPr/>
        </p:nvSpPr>
        <p:spPr>
          <a:xfrm>
            <a:off x="7433691" y="2448580"/>
            <a:ext cx="2371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AA4AAB06-25EE-9D3B-E989-F7DE65AC78A5}"/>
              </a:ext>
            </a:extLst>
          </p:cNvPr>
          <p:cNvSpPr/>
          <p:nvPr/>
        </p:nvSpPr>
        <p:spPr>
          <a:xfrm>
            <a:off x="1031246"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E7786DF-28BA-78DA-2C2B-AEC5640EAB5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3">
            <a:extLst>
              <a:ext uri="{FF2B5EF4-FFF2-40B4-BE49-F238E27FC236}">
                <a16:creationId xmlns:a16="http://schemas.microsoft.com/office/drawing/2014/main" id="{8580D44A-0FA5-719F-A34E-F893CE9B53B4}"/>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2" name="!!N94">
            <a:extLst>
              <a:ext uri="{FF2B5EF4-FFF2-40B4-BE49-F238E27FC236}">
                <a16:creationId xmlns:a16="http://schemas.microsoft.com/office/drawing/2014/main" id="{ECBD367C-5A15-BB33-60BD-2683C3D7C2E4}"/>
              </a:ext>
            </a:extLst>
          </p:cNvPr>
          <p:cNvSpPr/>
          <p:nvPr/>
        </p:nvSpPr>
        <p:spPr>
          <a:xfrm>
            <a:off x="7797800" y="1937004"/>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rats agreed on that swing: Figure 1, increases P = 0.012, ups and downs together P = 0.023. Neither the trial shuffle (P = 0.187) nor FP (P = 0.199) confirms Figure 1.</a:t>
            </a:r>
          </a:p>
        </p:txBody>
      </p:sp>
      <p:sp>
        <p:nvSpPr>
          <p:cNvPr id="13" name="!!N95">
            <a:extLst>
              <a:ext uri="{FF2B5EF4-FFF2-40B4-BE49-F238E27FC236}">
                <a16:creationId xmlns:a16="http://schemas.microsoft.com/office/drawing/2014/main" id="{5E6CDB56-A0A5-6249-8789-E812C4E9EE73}"/>
              </a:ext>
            </a:extLst>
          </p:cNvPr>
          <p:cNvSpPr/>
          <p:nvPr/>
        </p:nvSpPr>
        <p:spPr>
          <a:xfrm>
            <a:off x="7797800" y="303580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Figure 2 (cue 1): the increases pass every test (rats P = 0.027, trials P = 0.030, FP P = 0.037).</a:t>
            </a:r>
          </a:p>
        </p:txBody>
      </p:sp>
      <p:sp>
        <p:nvSpPr>
          <p:cNvPr id="14" name="!!N96">
            <a:extLst>
              <a:ext uri="{FF2B5EF4-FFF2-40B4-BE49-F238E27FC236}">
                <a16:creationId xmlns:a16="http://schemas.microsoft.com/office/drawing/2014/main" id="{98BF80EB-D0B9-AEEF-BC8D-91B384314EE2}"/>
              </a:ext>
            </a:extLst>
          </p:cNvPr>
          <p:cNvSpPr/>
          <p:nvPr/>
        </p:nvSpPr>
        <p:spPr>
          <a:xfrm>
            <a:off x="12573000" y="83820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Of the 20 follow-up figures, 9 pass both second opinions (1.2, 1.3, 1.4, 2.1, 2.3, 2.4, 2.9, 2.12, 2.13) and 5 pass one (1.5, 2.2, 2.7, 2.10, 2.11). They were picked from 190 t-tests, 21 of which passed where about 10 would by chance.</a:t>
            </a:r>
          </a:p>
        </p:txBody>
      </p:sp>
      <p:sp>
        <p:nvSpPr>
          <p:cNvPr id="15" name="!!T-BG">
            <a:extLst>
              <a:ext uri="{FF2B5EF4-FFF2-40B4-BE49-F238E27FC236}">
                <a16:creationId xmlns:a16="http://schemas.microsoft.com/office/drawing/2014/main" id="{2B10E067-CED0-BD38-B432-C17D5119295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6D48A720-B7AC-A97F-23D1-92A0CFFBD43B}"/>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2689986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BC7582B-C27C-2EEA-B72C-436256B0760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27154310-E138-9CC3-502D-D43FB8B4DAE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C1F7A528-454A-39F8-6029-A828C1635E4C}"/>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4AA2144-DA19-BD44-C7A4-730ED94ECB2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61CA7BB-394E-0681-86B9-D1D5A588B6D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7CFC1E63-C31C-155C-0EC6-83DCDBB0FFB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B626F007-2A49-F6F5-A40D-F0EADCD3EF2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96">
            <a:extLst>
              <a:ext uri="{FF2B5EF4-FFF2-40B4-BE49-F238E27FC236}">
                <a16:creationId xmlns:a16="http://schemas.microsoft.com/office/drawing/2014/main" id="{48682DA7-4617-2B58-B041-EE77CA0ECA94}"/>
              </a:ext>
            </a:extLst>
          </p:cNvPr>
          <p:cNvSpPr/>
          <p:nvPr/>
        </p:nvSpPr>
        <p:spPr>
          <a:xfrm>
            <a:off x="7797800" y="83820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Of the 20 follow-up figures, 9 pass both second opinions (1.2, 1.3, 1.4, 2.1, 2.3, 2.4, 2.9, 2.12, 2.13) and 5 pass one (1.5, 2.2, 2.7, 2.10, 2.11). They were picked from 190 t-tests, 21 of which passed where about 10 would by chance.</a:t>
            </a:r>
          </a:p>
        </p:txBody>
      </p:sp>
      <p:sp>
        <p:nvSpPr>
          <p:cNvPr id="11" name="!!N97">
            <a:extLst>
              <a:ext uri="{FF2B5EF4-FFF2-40B4-BE49-F238E27FC236}">
                <a16:creationId xmlns:a16="http://schemas.microsoft.com/office/drawing/2014/main" id="{AEF35D05-446F-3EBA-5EE9-4661AF4ACC22}"/>
              </a:ext>
            </a:extLst>
          </p:cNvPr>
          <p:cNvSpPr/>
          <p:nvPr/>
        </p:nvSpPr>
        <p:spPr>
          <a:xfrm>
            <a:off x="12573000" y="212598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is the most physiological of the three yardsticks: it carries what these rats’ brains do with no cues, with every session’s own lost windows. A result it passes and the shuffle does not is still worth a second look.</a:t>
            </a:r>
          </a:p>
        </p:txBody>
      </p:sp>
      <p:sp>
        <p:nvSpPr>
          <p:cNvPr id="12" name="!!N93">
            <a:extLst>
              <a:ext uri="{FF2B5EF4-FFF2-40B4-BE49-F238E27FC236}">
                <a16:creationId xmlns:a16="http://schemas.microsoft.com/office/drawing/2014/main" id="{6066EA7B-B9A2-9602-F26B-BE834CDB8A0F}"/>
              </a:ext>
            </a:extLst>
          </p:cNvPr>
          <p:cNvSpPr/>
          <p:nvPr/>
        </p:nvSpPr>
        <p:spPr>
          <a:xfrm>
            <a:off x="125730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3" name="!!N94">
            <a:extLst>
              <a:ext uri="{FF2B5EF4-FFF2-40B4-BE49-F238E27FC236}">
                <a16:creationId xmlns:a16="http://schemas.microsoft.com/office/drawing/2014/main" id="{D8DD9D29-1D20-088D-0093-48788E136611}"/>
              </a:ext>
            </a:extLst>
          </p:cNvPr>
          <p:cNvSpPr/>
          <p:nvPr/>
        </p:nvSpPr>
        <p:spPr>
          <a:xfrm>
            <a:off x="12573000" y="1937004"/>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rats agreed on that swing: Figure 1, increases P = 0.012, ups and downs together P = 0.023. Neither the trial shuffle (P = 0.187) nor FP (P = 0.199) confirms Figure 1.</a:t>
            </a:r>
          </a:p>
        </p:txBody>
      </p:sp>
      <p:sp>
        <p:nvSpPr>
          <p:cNvPr id="14" name="!!N95">
            <a:extLst>
              <a:ext uri="{FF2B5EF4-FFF2-40B4-BE49-F238E27FC236}">
                <a16:creationId xmlns:a16="http://schemas.microsoft.com/office/drawing/2014/main" id="{9E5766A0-878C-79A9-A4FD-D4200EDABD8C}"/>
              </a:ext>
            </a:extLst>
          </p:cNvPr>
          <p:cNvSpPr/>
          <p:nvPr/>
        </p:nvSpPr>
        <p:spPr>
          <a:xfrm>
            <a:off x="12573000" y="303580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Figure 2 (cue 1): the increases pass every test (rats P = 0.027, trials P = 0.030, FP P = 0.037).</a:t>
            </a:r>
          </a:p>
        </p:txBody>
      </p:sp>
      <p:sp>
        <p:nvSpPr>
          <p:cNvPr id="15" name="!!T-BG">
            <a:extLst>
              <a:ext uri="{FF2B5EF4-FFF2-40B4-BE49-F238E27FC236}">
                <a16:creationId xmlns:a16="http://schemas.microsoft.com/office/drawing/2014/main" id="{D657FE93-579E-28A8-A51D-430DF00A4A8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06922DD7-57F7-3A09-E0E9-19DA1A3173E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33595294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6C73476-A690-005A-E87A-9581E07CC3A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8591863C-B784-E970-0512-9EB61751792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2C6F42C2-01A2-B06D-F83B-8EE9D4E8B0D3}"/>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E07C2B1-E346-D518-5238-DB5BB264598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D8B2B00-80EE-92AD-02FA-A6AF0963523A}"/>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D3B8D04-1879-BC86-19CE-73D88BFBC94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6EBDF27E-03AF-DBAE-928B-120697378C70}"/>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96">
            <a:extLst>
              <a:ext uri="{FF2B5EF4-FFF2-40B4-BE49-F238E27FC236}">
                <a16:creationId xmlns:a16="http://schemas.microsoft.com/office/drawing/2014/main" id="{4EF31C3B-D851-9FE7-22E0-FF894A3A661B}"/>
              </a:ext>
            </a:extLst>
          </p:cNvPr>
          <p:cNvSpPr/>
          <p:nvPr/>
        </p:nvSpPr>
        <p:spPr>
          <a:xfrm>
            <a:off x="7797800" y="838200"/>
            <a:ext cx="4241800" cy="117348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Of the 20 follow-up figures, 9 pass both second opinions (1.2, 1.3, 1.4, 2.1, 2.3, 2.4, 2.9, 2.12, 2.13) and 5 pass one (1.5, 2.2, 2.7, 2.10, 2.11). They were picked from 190 t-tests, 21 of which passed where about 10 would by chance.</a:t>
            </a:r>
          </a:p>
        </p:txBody>
      </p:sp>
      <p:sp>
        <p:nvSpPr>
          <p:cNvPr id="11" name="!!N97">
            <a:extLst>
              <a:ext uri="{FF2B5EF4-FFF2-40B4-BE49-F238E27FC236}">
                <a16:creationId xmlns:a16="http://schemas.microsoft.com/office/drawing/2014/main" id="{19ED29C6-98C0-2536-0E07-3401B9075007}"/>
              </a:ext>
            </a:extLst>
          </p:cNvPr>
          <p:cNvSpPr/>
          <p:nvPr/>
        </p:nvSpPr>
        <p:spPr>
          <a:xfrm>
            <a:off x="7797800" y="212598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is the most physiological of the three yardsticks: it carries what these rats’ brains do with no cues, with every session’s own lost windows. A result it passes and the shuffle does not is still worth a second look.</a:t>
            </a:r>
          </a:p>
        </p:txBody>
      </p:sp>
      <p:sp>
        <p:nvSpPr>
          <p:cNvPr id="12" name="!!N98">
            <a:extLst>
              <a:ext uri="{FF2B5EF4-FFF2-40B4-BE49-F238E27FC236}">
                <a16:creationId xmlns:a16="http://schemas.microsoft.com/office/drawing/2014/main" id="{64F3BF22-E22A-EF83-11FA-9F56AF39277F}"/>
              </a:ext>
            </a:extLst>
          </p:cNvPr>
          <p:cNvSpPr/>
          <p:nvPr/>
        </p:nvSpPr>
        <p:spPr>
          <a:xfrm>
            <a:off x="12573000" y="322478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tests, and the rings re-test the data that lit the light. All of this is leads to test again, not findings yet.</a:t>
            </a:r>
          </a:p>
        </p:txBody>
      </p:sp>
      <p:sp>
        <p:nvSpPr>
          <p:cNvPr id="13" name="!!T-BG">
            <a:extLst>
              <a:ext uri="{FF2B5EF4-FFF2-40B4-BE49-F238E27FC236}">
                <a16:creationId xmlns:a16="http://schemas.microsoft.com/office/drawing/2014/main" id="{06FFD14C-0AF7-A4B1-CFE1-4ED1F38144F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68C6FDD6-5CA9-82EA-DBA8-C8C533F8362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26740112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B5B1835-7472-FDC5-45F2-6BD678192FF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5C782946-AAE6-CF12-8D3D-400D63E1899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5DF34A9A-810F-FF34-F4AB-352826772BC9}"/>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1EDE26E-2D35-93F7-8DC5-2FBF736AE22F}"/>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232C942A-5F37-C1F9-38BC-DE007E933FA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8550D0F-B821-20FE-D74A-1615157D058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9166868A-2D02-A95E-8C0C-A44CF69D9C5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96">
            <a:extLst>
              <a:ext uri="{FF2B5EF4-FFF2-40B4-BE49-F238E27FC236}">
                <a16:creationId xmlns:a16="http://schemas.microsoft.com/office/drawing/2014/main" id="{3E2B62B1-9212-DA27-7AB0-3D839DE62B19}"/>
              </a:ext>
            </a:extLst>
          </p:cNvPr>
          <p:cNvSpPr/>
          <p:nvPr/>
        </p:nvSpPr>
        <p:spPr>
          <a:xfrm>
            <a:off x="7797800" y="838200"/>
            <a:ext cx="4241800" cy="117348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Of the 20 follow-up figures, 9 pass both second opinions (1.2, 1.3, 1.4, 2.1, 2.3, 2.4, 2.9, 2.12, 2.13) and 5 pass one (1.5, 2.2, 2.7, 2.10, 2.11). They were picked from 190 t-tests, 21 of which passed where about 10 would by chance.</a:t>
            </a:r>
          </a:p>
        </p:txBody>
      </p:sp>
      <p:sp>
        <p:nvSpPr>
          <p:cNvPr id="11" name="!!N97">
            <a:extLst>
              <a:ext uri="{FF2B5EF4-FFF2-40B4-BE49-F238E27FC236}">
                <a16:creationId xmlns:a16="http://schemas.microsoft.com/office/drawing/2014/main" id="{E3EEB140-0449-B2BF-2CED-2776BB25EF85}"/>
              </a:ext>
            </a:extLst>
          </p:cNvPr>
          <p:cNvSpPr/>
          <p:nvPr/>
        </p:nvSpPr>
        <p:spPr>
          <a:xfrm>
            <a:off x="7797800" y="212598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FP is the most physiological of the three yardsticks: it carries what these rats’ brains do with no cues, with every session’s own lost windows. A result it passes and the shuffle does not is still worth a second look.</a:t>
            </a:r>
          </a:p>
        </p:txBody>
      </p:sp>
      <p:sp>
        <p:nvSpPr>
          <p:cNvPr id="12" name="!!N98">
            <a:extLst>
              <a:ext uri="{FF2B5EF4-FFF2-40B4-BE49-F238E27FC236}">
                <a16:creationId xmlns:a16="http://schemas.microsoft.com/office/drawing/2014/main" id="{1E08704B-A6BE-6797-49D3-EBD9EE77C9E5}"/>
              </a:ext>
            </a:extLst>
          </p:cNvPr>
          <p:cNvSpPr/>
          <p:nvPr/>
        </p:nvSpPr>
        <p:spPr>
          <a:xfrm>
            <a:off x="7797800" y="322478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tests, and the rings re-test the data that lit the light. All of this is leads to test again, not findings yet.</a:t>
            </a:r>
          </a:p>
        </p:txBody>
      </p:sp>
      <p:sp>
        <p:nvSpPr>
          <p:cNvPr id="13" name="!!N99">
            <a:extLst>
              <a:ext uri="{FF2B5EF4-FFF2-40B4-BE49-F238E27FC236}">
                <a16:creationId xmlns:a16="http://schemas.microsoft.com/office/drawing/2014/main" id="{C2564FA3-9D78-E62F-6F69-9E117B79E04A}"/>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Everything is in Jarvis: tab 9 has each figure as PDF, SVG and PNG with its legend; tab 8 has the SPSS files to recreate the lights.</a:t>
            </a:r>
          </a:p>
        </p:txBody>
      </p:sp>
      <p:sp>
        <p:nvSpPr>
          <p:cNvPr id="14" name="!!T-BG">
            <a:extLst>
              <a:ext uri="{FF2B5EF4-FFF2-40B4-BE49-F238E27FC236}">
                <a16:creationId xmlns:a16="http://schemas.microsoft.com/office/drawing/2014/main" id="{BCF2BA8B-07B3-141B-72F9-EF8624086AF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3BF4DFF0-E35A-5B6B-E13D-F12FCB2DA66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1633567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597CD11-859E-A2B9-EB3A-AED7E5163E5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61C7BC4D-EA82-7346-526A-0050BF91C3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1D584B56-4717-2F81-978D-2016CCAD6C57}"/>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70F8684-ED62-F71A-2C3D-516F0031EE83}"/>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5EE3283-3DE6-E4F3-E0AD-7F2E40289ED4}"/>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7AB163C5-93EB-4179-92A0-A620F2032EC5}"/>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2B52272E-A6DA-EEDD-D16F-8A23E2897CA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99">
            <a:extLst>
              <a:ext uri="{FF2B5EF4-FFF2-40B4-BE49-F238E27FC236}">
                <a16:creationId xmlns:a16="http://schemas.microsoft.com/office/drawing/2014/main" id="{C674D61B-8C71-D7A8-507D-9E378063E288}"/>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Everything is in Jarvis: tab 9 has each figure as PDF, SVG and PNG with its legend; tab 8 has the SPSS files to recreate the lights.</a:t>
            </a:r>
          </a:p>
        </p:txBody>
      </p:sp>
      <p:sp>
        <p:nvSpPr>
          <p:cNvPr id="11" name="!!N96">
            <a:extLst>
              <a:ext uri="{FF2B5EF4-FFF2-40B4-BE49-F238E27FC236}">
                <a16:creationId xmlns:a16="http://schemas.microsoft.com/office/drawing/2014/main" id="{044D779C-EEFD-9079-05D8-1306C36D0624}"/>
              </a:ext>
            </a:extLst>
          </p:cNvPr>
          <p:cNvSpPr/>
          <p:nvPr/>
        </p:nvSpPr>
        <p:spPr>
          <a:xfrm>
            <a:off x="12573000" y="838200"/>
            <a:ext cx="4241800" cy="117348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Of the 20 follow-up figures, 9 pass both second opinions (1.2, 1.3, 1.4, 2.1, 2.3, 2.4, 2.9, 2.12, 2.13) and 5 pass one (1.5, 2.2, 2.7, 2.10, 2.11). They were picked from 190 t-tests, 21 of which passed where about 10 would by chance.</a:t>
            </a:r>
          </a:p>
        </p:txBody>
      </p:sp>
      <p:sp>
        <p:nvSpPr>
          <p:cNvPr id="12" name="!!N97">
            <a:extLst>
              <a:ext uri="{FF2B5EF4-FFF2-40B4-BE49-F238E27FC236}">
                <a16:creationId xmlns:a16="http://schemas.microsoft.com/office/drawing/2014/main" id="{E7138A3A-9B44-196D-EAC6-BF15CCCBCEA8}"/>
              </a:ext>
            </a:extLst>
          </p:cNvPr>
          <p:cNvSpPr/>
          <p:nvPr/>
        </p:nvSpPr>
        <p:spPr>
          <a:xfrm>
            <a:off x="12573000" y="212598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FP is the most physiological of the three yardsticks: it carries what these rats’ brains do with no cues, with every session’s own lost windows. A result it passes and the shuffle does not is still worth a second look.</a:t>
            </a:r>
          </a:p>
        </p:txBody>
      </p:sp>
      <p:sp>
        <p:nvSpPr>
          <p:cNvPr id="13" name="!!N98">
            <a:extLst>
              <a:ext uri="{FF2B5EF4-FFF2-40B4-BE49-F238E27FC236}">
                <a16:creationId xmlns:a16="http://schemas.microsoft.com/office/drawing/2014/main" id="{90DC3881-C8AC-6909-36A3-94E48F9F4959}"/>
              </a:ext>
            </a:extLst>
          </p:cNvPr>
          <p:cNvSpPr/>
          <p:nvPr/>
        </p:nvSpPr>
        <p:spPr>
          <a:xfrm>
            <a:off x="12573000" y="322478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tests, and the rings re-test the data that lit the light. All of this is leads to test again, not findings yet.</a:t>
            </a:r>
          </a:p>
        </p:txBody>
      </p:sp>
      <p:sp>
        <p:nvSpPr>
          <p:cNvPr id="14" name="!!T-BG">
            <a:extLst>
              <a:ext uri="{FF2B5EF4-FFF2-40B4-BE49-F238E27FC236}">
                <a16:creationId xmlns:a16="http://schemas.microsoft.com/office/drawing/2014/main" id="{D5E03BFC-3748-4E1C-E202-3B317DB50F2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52B1C132-C6B2-A613-9776-E403228E66F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9135064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19434</Words>
  <Application>Microsoft Office PowerPoint</Application>
  <PresentationFormat>Custom</PresentationFormat>
  <Paragraphs>600</Paragraphs>
  <Slides>102</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102</vt:i4>
      </vt:variant>
    </vt:vector>
  </HeadingPairs>
  <TitlesOfParts>
    <vt:vector size="10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Shahriar Tafti</dc:creator>
  <cp:lastModifiedBy>Shahriar Tafti</cp:lastModifiedBy>
  <cp:revision>1</cp:revision>
  <dcterms:created xsi:type="dcterms:W3CDTF">2026-10-23T15:50:05Z</dcterms:created>
  <dcterms:modified xsi:type="dcterms:W3CDTF">2026-10-23T15:50:05Z</dcterms:modified>
</cp:coreProperties>
</file>